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57670E-80CC-21E0-37A9-A912B40E1B17}" name="Schleinitz, Jules" initials="SJ" userId="S::jul@caltech.edu::95914fd0-5308-46ae-bb57-a92f3c5aa6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6F1"/>
    <a:srgbClr val="454545"/>
    <a:srgbClr val="9F9F9F"/>
    <a:srgbClr val="9C9C9C"/>
    <a:srgbClr val="6B6B6B"/>
    <a:srgbClr val="B0B0B0"/>
    <a:srgbClr val="969696"/>
    <a:srgbClr val="545454"/>
    <a:srgbClr val="D1D1D1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61"/>
    <p:restoredTop sz="63151"/>
  </p:normalViewPr>
  <p:slideViewPr>
    <p:cSldViewPr snapToGrid="0">
      <p:cViewPr varScale="1">
        <p:scale>
          <a:sx n="77" d="100"/>
          <a:sy n="77" d="100"/>
        </p:scale>
        <p:origin x="19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35AC-7727-EC43-B70F-1C84BD04C1D7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B1D49-D9AB-6D4C-A0A7-DB8D98134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6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Kickoff. Fifteen minutes, no more — they should be writing by the end of it.</a:t>
            </a:r>
          </a:p>
          <a:p>
            <a:endParaRPr/>
          </a:p>
          <a:p>
            <a:r>
              <a:t>Say the honest framing up front: for the last two weeks somebody handed you the</a:t>
            </a:r>
          </a:p>
          <a:p>
            <a:r>
              <a:t>question, the data, and the split. That is the one part of machine learning that</a:t>
            </a:r>
          </a:p>
          <a:p>
            <a:r>
              <a:t>does not transfer to your own work. Today you do that part yourself.</a:t>
            </a:r>
          </a:p>
          <a:p>
            <a:endParaRPr/>
          </a:p>
          <a:p>
            <a:r>
              <a:t>Two deliverables, both small. Half a page of reflection, and a project brief</a:t>
            </a:r>
          </a:p>
          <a:p>
            <a:r>
              <a:t>that fits on one sheet. The brief is the real work; the five-minute talk is just</a:t>
            </a:r>
          </a:p>
          <a:p>
            <a:r>
              <a:t>the brief read out loud.</a:t>
            </a:r>
          </a:p>
          <a:p>
            <a:endParaRPr/>
          </a:p>
          <a:p>
            <a:r>
              <a:t>Point at the spine: four questions, in this order. The order matters. Every bad</a:t>
            </a:r>
          </a:p>
          <a:p>
            <a:r>
              <a:t>ML project I have seen skipped straight from step 1 to writing code.</a:t>
            </a:r>
          </a:p>
          <a:p>
            <a:endParaRPr/>
          </a:p>
          <a:p>
            <a:r>
              <a:t>Tell them the worksheet is on the table / on the site, and that they should have</a:t>
            </a:r>
          </a:p>
          <a:p>
            <a:r>
              <a:t>step 1 written before the coffee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both boxes out, then stop talking about deliverables. Do not spend the</a:t>
            </a:r>
          </a:p>
          <a:p>
            <a:r>
              <a:t>kickoff on logistics.</a:t>
            </a:r>
          </a:p>
          <a:p>
            <a:endParaRPr/>
          </a:p>
          <a:p>
            <a:r>
              <a:t>On the half-page: it is reflection, not a summary of the lectures. I do not want</a:t>
            </a:r>
          </a:p>
          <a:p>
            <a:r>
              <a:t>"we learned about SHAP." I want "the interpretability lecture changed how I will</a:t>
            </a:r>
          </a:p>
          <a:p>
            <a:r>
              <a:t>report my ligand model, because right now I report a single R-squared on a random</a:t>
            </a:r>
          </a:p>
          <a:p>
            <a:r>
              <a:t>split and that number is meaningless for my case."</a:t>
            </a:r>
          </a:p>
          <a:p>
            <a:endParaRPr/>
          </a:p>
          <a:p>
            <a:r>
              <a:t>On the brief: one page, five headings, matches the worksheet exactly. If they</a:t>
            </a:r>
          </a:p>
          <a:p>
            <a:r>
              <a:t>fill in the worksheet honestly they have already written the brief.</a:t>
            </a:r>
          </a:p>
          <a:p>
            <a:endParaRPr/>
          </a:p>
          <a:p>
            <a:r>
              <a:t>The talk is five slides, five minutes, hard stop. I will cut them off, and say so</a:t>
            </a:r>
          </a:p>
          <a:p>
            <a:r>
              <a:t>now so it is not a surprise.</a:t>
            </a:r>
          </a:p>
          <a:p>
            <a:endParaRPr/>
          </a:p>
          <a:p>
            <a:r>
              <a:t>Emphasise the last line — a well-framed project with no results beats a</a:t>
            </a:r>
          </a:p>
          <a:p>
            <a:r>
              <a:t>mysteriously good number every time. They will not believe you. Say it anyway,</a:t>
            </a:r>
          </a:p>
          <a:p>
            <a:r>
              <a:t>and then actually grade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Make them physically write it. Pens down on laptops. Ninety seconds.</a:t>
            </a:r>
          </a:p>
          <a:p>
            <a:endParaRPr dirty="0"/>
          </a:p>
          <a:p>
            <a:r>
              <a:rPr dirty="0"/>
              <a:t>The blanks are load-bearing:</a:t>
            </a:r>
          </a:p>
          <a:p>
            <a:r>
              <a:rPr dirty="0"/>
              <a:t>  - the VERB decides the model class and the metric. Predict is regression.</a:t>
            </a:r>
          </a:p>
          <a:p>
            <a:r>
              <a:rPr dirty="0"/>
              <a:t>    Rank is a ranking metric, not RMSE. Generate needs a decoder and an oracle.</a:t>
            </a:r>
          </a:p>
          <a:p>
            <a:r>
              <a:rPr dirty="0"/>
              <a:t>    Explain may not need a predictive model at all.</a:t>
            </a:r>
          </a:p>
          <a:p>
            <a:r>
              <a:rPr dirty="0"/>
              <a:t>  - "for" fixes the domain, which fixes the split.</a:t>
            </a:r>
          </a:p>
          <a:p>
            <a:r>
              <a:rPr dirty="0"/>
              <a:t>  - "so that" is the deployment story. If they cannot finish it, the project has</a:t>
            </a:r>
          </a:p>
          <a:p>
            <a:r>
              <a:rPr dirty="0"/>
              <a:t>    no consumer and it will die.</a:t>
            </a:r>
          </a:p>
          <a:p>
            <a:r>
              <a:rPr dirty="0"/>
              <a:t>  - "instead of" is the baseline. This is the blank everybody skips and it is</a:t>
            </a:r>
          </a:p>
          <a:p>
            <a:r>
              <a:rPr dirty="0"/>
              <a:t>    the most important one. Instead of what? Instead of screening all 400?</a:t>
            </a:r>
          </a:p>
          <a:p>
            <a:r>
              <a:rPr dirty="0"/>
              <a:t>    Instead of chemical intuition? That is the number you have to beat.</a:t>
            </a:r>
          </a:p>
          <a:p>
            <a:endParaRPr dirty="0"/>
          </a:p>
          <a:p>
            <a:r>
              <a:rPr dirty="0"/>
              <a:t>Two examples to read out if the room is quiet:</a:t>
            </a:r>
          </a:p>
          <a:p>
            <a:r>
              <a:rPr dirty="0"/>
              <a:t>  "I want to RANK 8,000 commercial amines for coupling yield, so that I can pick</a:t>
            </a:r>
          </a:p>
          <a:p>
            <a:r>
              <a:rPr dirty="0"/>
              <a:t>   96 for a plate instead of picking the 96 my advisor </a:t>
            </a:r>
            <a:r>
              <a:rPr dirty="0" err="1"/>
              <a:t>recognises</a:t>
            </a:r>
            <a:r>
              <a:rPr dirty="0"/>
              <a:t>."</a:t>
            </a:r>
          </a:p>
          <a:p>
            <a:r>
              <a:rPr dirty="0"/>
              <a:t>  "I want to PREDICT band gap for 12,000 hypothetical perovskites, so that I can</a:t>
            </a:r>
          </a:p>
          <a:p>
            <a:r>
              <a:rPr dirty="0"/>
              <a:t>   send 20 to DFT instead of running DFT on all of them."</a:t>
            </a:r>
          </a:p>
          <a:p>
            <a:endParaRPr dirty="0"/>
          </a:p>
          <a:p>
            <a:r>
              <a:rPr dirty="0"/>
              <a:t>If somebody's sentence needs an 'and', they have two projects. Make them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Entering: 1 · A question worth answering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column is what people say in the first five minutes. Right column is the</a:t>
            </a:r>
          </a:p>
          <a:p>
            <a:r>
              <a:t>same interest after ten minutes of thinking. Nothing on the left is stupid — it</a:t>
            </a:r>
          </a:p>
          <a:p>
            <a:r>
              <a:t>is just not yet a question you can be wrong about.</a:t>
            </a:r>
          </a:p>
          <a:p>
            <a:endParaRPr/>
          </a:p>
          <a:p>
            <a:r>
              <a:t>The test to give them, out loud, and repeat it later:</a:t>
            </a:r>
          </a:p>
          <a:p>
            <a:r>
              <a:t>  "What result would make you change your mind?"</a:t>
            </a:r>
          </a:p>
          <a:p>
            <a:r>
              <a:t>If there is no such result, it is a topic, not a question.</a:t>
            </a:r>
          </a:p>
          <a:p>
            <a:endParaRPr/>
          </a:p>
          <a:p>
            <a:r>
              <a:t>Walk the rows and let them notice the pattern themselves before you name it. The</a:t>
            </a:r>
          </a:p>
          <a:p>
            <a:r>
              <a:t>pattern is: the right-hand column names (i) a quantity, (ii) a population, and</a:t>
            </a:r>
          </a:p>
          <a:p>
            <a:r>
              <a:t>(iii) a decision that changes. Say that once, at the end, not the start.</a:t>
            </a:r>
          </a:p>
          <a:p>
            <a:endParaRPr/>
          </a:p>
          <a:p>
            <a:r>
              <a:t>Row 3 is the one that stings for computational people. "Can ML replace DFT" is a</a:t>
            </a:r>
          </a:p>
          <a:p>
            <a:r>
              <a:t>slogan. "Can a model trained on 2,000 GFN2 geometries reproduce DFT barriers to</a:t>
            </a:r>
          </a:p>
          <a:p>
            <a:r>
              <a:t>1 kcal/mol for MY substrate class" is a Thursday.</a:t>
            </a:r>
          </a:p>
          <a:p>
            <a:endParaRPr/>
          </a:p>
          <a:p>
            <a:r>
              <a:t>Do not let anyone leave this slide with a left-column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Entering: 2 · The data you actually have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Five columns. Make them fill every cell, including the ones they do not like.</a:t>
            </a:r>
          </a:p>
          <a:p>
            <a:endParaRPr dirty="0"/>
          </a:p>
          <a:p>
            <a:r>
              <a:rPr dirty="0"/>
              <a:t>Column by column:</a:t>
            </a:r>
          </a:p>
          <a:p>
            <a:r>
              <a:rPr dirty="0"/>
              <a:t>  N — the real number, not the number of rows in the file. Deduplicate first.</a:t>
            </a:r>
          </a:p>
          <a:p>
            <a:r>
              <a:rPr dirty="0"/>
              <a:t>      Half the "1,200 point" datasets in this room are 400 compounds measured</a:t>
            </a:r>
          </a:p>
          <a:p>
            <a:r>
              <a:rPr dirty="0"/>
              <a:t>      three times.</a:t>
            </a:r>
          </a:p>
          <a:p>
            <a:r>
              <a:rPr dirty="0"/>
              <a:t>  label + error — if they cannot state the reproducibility of their own assay,</a:t>
            </a:r>
          </a:p>
          <a:p>
            <a:r>
              <a:rPr dirty="0"/>
              <a:t>      that is their first task this afternoon. A model cannot be more precise</a:t>
            </a:r>
          </a:p>
          <a:p>
            <a:r>
              <a:rPr dirty="0"/>
              <a:t>      than the measurement. If the assay is ±0.4 log units, an RMSE of 0.3 is</a:t>
            </a:r>
          </a:p>
          <a:p>
            <a:r>
              <a:rPr dirty="0"/>
              <a:t>      not excellent, it is a red flag for leakage.</a:t>
            </a:r>
          </a:p>
          <a:p>
            <a:r>
              <a:rPr dirty="0"/>
              <a:t>  negatives — the killer. Raccuglia 2016 is the canonical example: the failed</a:t>
            </a:r>
          </a:p>
          <a:p>
            <a:r>
              <a:rPr dirty="0"/>
              <a:t>      reactions were sitting in lab notebooks, unrecorded, and they were the</a:t>
            </a:r>
          </a:p>
          <a:p>
            <a:r>
              <a:rPr dirty="0"/>
              <a:t>      most informative points in the set. Almost nobody in this room has their</a:t>
            </a:r>
          </a:p>
          <a:p>
            <a:r>
              <a:rPr dirty="0"/>
              <a:t>      negatives in machine-readable form. That is often the whole project.</a:t>
            </a:r>
          </a:p>
          <a:p>
            <a:r>
              <a:rPr dirty="0"/>
              <a:t>  cost per new point — hours and dollars, honestly. This number decides step 4</a:t>
            </a:r>
          </a:p>
          <a:p>
            <a:r>
              <a:rPr dirty="0"/>
              <a:t>      more than anything else. If a point costs 20 minutes, active learning is</a:t>
            </a:r>
          </a:p>
          <a:p>
            <a:r>
              <a:rPr dirty="0"/>
              <a:t>      a luxury; if it costs three days, it is the entire strategy.</a:t>
            </a:r>
          </a:p>
          <a:p>
            <a:endParaRPr dirty="0"/>
          </a:p>
          <a:p>
            <a:r>
              <a:rPr dirty="0"/>
              <a:t>The example rows are deliberately different subfields so nobody feels excluded.</a:t>
            </a:r>
          </a:p>
          <a:p>
            <a:endParaRPr dirty="0"/>
          </a:p>
          <a:p>
            <a:r>
              <a:rPr dirty="0"/>
              <a:t>Reference: Raccuglia et al., Nature 2016, 533, 73–76.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Short slide, big idea, ninety seconds.</a:t>
            </a:r>
          </a:p>
          <a:p>
            <a:endParaRPr/>
          </a:p>
          <a:p>
            <a:r>
              <a:t>Draw the eye to the strip: those are replicate measurements of the SAME sample.</a:t>
            </a:r>
          </a:p>
          <a:p>
            <a:r>
              <a:t>The spread is the noise floor. No model — no architecture, no amount of data —</a:t>
            </a:r>
          </a:p>
          <a:p>
            <a:r>
              <a:t>gets below it, because the label itself does not carry that information.</a:t>
            </a:r>
          </a:p>
          <a:p>
            <a:endParaRPr/>
          </a:p>
          <a:p>
            <a:r>
              <a:t>Two consequences they must write down:</a:t>
            </a:r>
          </a:p>
          <a:p>
            <a:r>
              <a:t>  1. The floor is the target. Report it next to your RMSE, always. "RMSE 0.42,</a:t>
            </a:r>
          </a:p>
          <a:p>
            <a:r>
              <a:t>     assay reproducibility 0.38" is an honest and finished sentence. "RMSE 0.42"</a:t>
            </a:r>
          </a:p>
          <a:p>
            <a:r>
              <a:t>     alone is not.</a:t>
            </a:r>
          </a:p>
          <a:p>
            <a:r>
              <a:t>  2. If your test error is meaningfully BELOW the floor, you have leakage. Not</a:t>
            </a:r>
          </a:p>
          <a:p>
            <a:r>
              <a:t>     talent. Duplicate structures across the split, a descriptor that encodes the</a:t>
            </a:r>
          </a:p>
          <a:p>
            <a:r>
              <a:t>     batch, or the same compound under two names. Go and look.</a:t>
            </a:r>
          </a:p>
          <a:p>
            <a:endParaRPr/>
          </a:p>
          <a:p>
            <a:r>
              <a:t>Ask: who here knows the reproducibility of their own primary measurement? Count</a:t>
            </a:r>
          </a:p>
          <a:p>
            <a:r>
              <a:t>hands. It is usually two or three. That is the point of the slide.</a:t>
            </a:r>
          </a:p>
          <a:p>
            <a:endParaRPr/>
          </a:p>
          <a:p>
            <a:r>
              <a:t>Kapoor &amp; Narayanan 2023 catalogue leakage across 17 fields — worth naming so</a:t>
            </a:r>
          </a:p>
          <a:p>
            <a:r>
              <a:t>they know this is not a chemistry-specific embarrassment.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Entering: 3 · What the model is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exists because half of all project briefs answer step 3 with "to</a:t>
            </a:r>
          </a:p>
          <a:p>
            <a:r>
              <a:t>predict the property well", which is not a job.</a:t>
            </a:r>
          </a:p>
          <a:p>
            <a:endParaRPr/>
          </a:p>
          <a:p>
            <a:r>
              <a:t>The job determines the metric, and the metric determines everything downstream.</a:t>
            </a:r>
          </a:p>
          <a:p>
            <a:r>
              <a:t>Walk the table by column 3 — the metric — because that is the surprise.</a:t>
            </a:r>
          </a:p>
          <a:p>
            <a:endParaRPr/>
          </a:p>
          <a:p>
            <a:r>
              <a:t>Filter: you are allowed to be badly wrong about good compounds as long as you</a:t>
            </a:r>
          </a:p>
          <a:p>
            <a:r>
              <a:t>never throw one away. Recall at a fixed budget. RMSE is irrelevant.</a:t>
            </a:r>
          </a:p>
          <a:p>
            <a:endParaRPr/>
          </a:p>
          <a:p>
            <a:r>
              <a:t>Ranker: you care about the order of the top 5 %. Enrichment factor, precision@k,</a:t>
            </a:r>
          </a:p>
          <a:p>
            <a:r>
              <a:t>top-k regret. A model with worse RMSE can be a strictly better ranker.</a:t>
            </a:r>
          </a:p>
          <a:p>
            <a:endParaRPr/>
          </a:p>
          <a:p>
            <a:r>
              <a:t>Interpolator: the surrogate is the deliverable — an MLIP, a pKa predictor. Now</a:t>
            </a:r>
          </a:p>
          <a:p>
            <a:r>
              <a:t>RMSE across the whole domain is genuinely the right thing, and this is the case</a:t>
            </a:r>
          </a:p>
          <a:p>
            <a:r>
              <a:t>where active learning beats Bayesian optimisation (that was Wednesday).</a:t>
            </a:r>
          </a:p>
          <a:p>
            <a:endParaRPr/>
          </a:p>
          <a:p>
            <a:r>
              <a:t>Generator: your metric is not a loss at all. It is validity, novelty, and the</a:t>
            </a:r>
          </a:p>
          <a:p>
            <a:r>
              <a:t>oracle score of what you propose. And you need the oracle before you need the</a:t>
            </a:r>
          </a:p>
          <a:p>
            <a:r>
              <a:t>generator.</a:t>
            </a:r>
          </a:p>
          <a:p>
            <a:endParaRPr/>
          </a:p>
          <a:p>
            <a:r>
              <a:t>Explainer: you may not need a predictive model at all. Sometimes the honest</a:t>
            </a:r>
          </a:p>
          <a:p>
            <a:r>
              <a:t>answer is a designed experiment and a linear model with four terms, and the</a:t>
            </a:r>
          </a:p>
          <a:p>
            <a:r>
              <a:t>room should hear a lecturer say that out loud.</a:t>
            </a:r>
          </a:p>
          <a:p>
            <a:endParaRPr/>
          </a:p>
          <a:p>
            <a:r>
              <a:t>Ask each person to point at their row before the coffee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Entering: 4 · Enough data, or 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centre of the whole session. Give it five minutes and let it be</a:t>
            </a:r>
          </a:p>
          <a:p>
            <a:r>
              <a:t>quiet.</a:t>
            </a:r>
          </a:p>
          <a:p>
            <a:endParaRPr/>
          </a:p>
          <a:p>
            <a:r>
              <a:t>The question is NOT "do I have a lot of data". It is "can the data I have</a:t>
            </a:r>
          </a:p>
          <a:p>
            <a:r>
              <a:t>answer the question I asked" — and that depends on the question, so it can only</a:t>
            </a:r>
          </a:p>
          <a:p>
            <a:r>
              <a:t>be asked after steps 1 to 3. That is why the order matters.</a:t>
            </a:r>
          </a:p>
          <a:p>
            <a:endParaRPr/>
          </a:p>
          <a:p>
            <a:r>
              <a:t>The yes branch is not the easy branch. If the answer is yes, the entire</a:t>
            </a:r>
          </a:p>
          <a:p>
            <a:r>
              <a:t>intellectual content of your project moves into the split. You are making a</a:t>
            </a:r>
          </a:p>
          <a:p>
            <a:r>
              <a:t>claim about deployment, and the split is that claim written down. Get it wrong</a:t>
            </a:r>
          </a:p>
          <a:p>
            <a:r>
              <a:t>and you will produce a number that is both excellent and meaningless.</a:t>
            </a:r>
          </a:p>
          <a:p>
            <a:endParaRPr/>
          </a:p>
          <a:p>
            <a:r>
              <a:t>The no branch is not failure. It is the more common branch in experimental</a:t>
            </a:r>
          </a:p>
          <a:p>
            <a:r>
              <a:t>chemistry and it is a perfectly good hackathon project — designing the</a:t>
            </a:r>
          </a:p>
          <a:p>
            <a:r>
              <a:t>acquisition is real work, and you have had four lectures on how to do it (DOE,</a:t>
            </a:r>
          </a:p>
          <a:p>
            <a:r>
              <a:t>active learning, Bayesian optimisation, few-shot).</a:t>
            </a:r>
          </a:p>
          <a:p>
            <a:endParaRPr/>
          </a:p>
          <a:p>
            <a:r>
              <a:t>The trap in the middle: "I'll just start training and see." That is how you</a:t>
            </a:r>
          </a:p>
          <a:p>
            <a:r>
              <a:t>spend three afternoons discovering your split was random when your deployment</a:t>
            </a:r>
          </a:p>
          <a:p>
            <a:r>
              <a:t>is prospective.</a:t>
            </a:r>
          </a:p>
          <a:p>
            <a:endParaRPr/>
          </a:p>
          <a:p>
            <a:r>
              <a:t>Ask for a show of hands on each branch before you turn the page. It tells you</a:t>
            </a:r>
          </a:p>
          <a:p>
            <a:r>
              <a:t>how to staff the afternoons.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column 3 aloud, not column 1. The name of the split is trivia; the claim it</a:t>
            </a:r>
          </a:p>
          <a:p>
            <a:r>
              <a:t>makes is the science.</a:t>
            </a:r>
          </a:p>
          <a:p>
            <a:endParaRPr/>
          </a:p>
          <a:p>
            <a:r>
              <a:t>Random split claims: the compounds I will meet tomorrow are drawn from the same</a:t>
            </a:r>
          </a:p>
          <a:p>
            <a:r>
              <a:t>distribution as the ones I already have. For a fixed library that is sometimes</a:t>
            </a:r>
          </a:p>
          <a:p>
            <a:r>
              <a:t>true. For a live medicinal chemistry series it is essentially never true, and</a:t>
            </a:r>
          </a:p>
          <a:p>
            <a:r>
              <a:t>that is Sheridan's whole point — time-split correlates with prospective</a:t>
            </a:r>
          </a:p>
          <a:p>
            <a:r>
              <a:t>performance, random split does not.</a:t>
            </a:r>
          </a:p>
          <a:p>
            <a:endParaRPr/>
          </a:p>
          <a:p>
            <a:r>
              <a:t>Scaffold split (MoleculeNet popularised it) claims: I will be shown new</a:t>
            </a:r>
          </a:p>
          <a:p>
            <a:r>
              <a:t>chemotypes. Almost always the honest claim in drug design.</a:t>
            </a:r>
          </a:p>
          <a:p>
            <a:endParaRPr/>
          </a:p>
          <a:p>
            <a:r>
              <a:t>Cluster / leave-one-group-out is the materials analogue — held-out linkers,</a:t>
            </a:r>
          </a:p>
          <a:p>
            <a:r>
              <a:t>held-out space groups, held-out elements.</a:t>
            </a:r>
          </a:p>
          <a:p>
            <a:endParaRPr/>
          </a:p>
          <a:p>
            <a:r>
              <a:t>Leave-one-substrate-class-out is the organic analogue, and it is brutal, which</a:t>
            </a:r>
          </a:p>
          <a:p>
            <a:r>
              <a:t>is the point. Chuang and Keiser showed a C–N coupling model that looked strong</a:t>
            </a:r>
          </a:p>
          <a:p>
            <a:r>
              <a:t>was not clearly beating trivial controls — random one-hot features did</a:t>
            </a:r>
          </a:p>
          <a:p>
            <a:r>
              <a:t>comparably. Doyle and co-workers responded; read both, and note that the fix in</a:t>
            </a:r>
          </a:p>
          <a:p>
            <a:r>
              <a:t>both directions is the same: run the dumb control, and split the way you deploy.</a:t>
            </a:r>
          </a:p>
          <a:p>
            <a:endParaRPr/>
          </a:p>
          <a:p>
            <a:r>
              <a:t>Practical instruction: pick your split BEFORE you look at a single score, write</a:t>
            </a:r>
          </a:p>
          <a:p>
            <a:r>
              <a:t>it in the brief, and do not change it afterwards. If you change it, say so on</a:t>
            </a:r>
          </a:p>
          <a:p>
            <a:r>
              <a:t>your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strategies, and the choice is driven by one number from the inventory</a:t>
            </a:r>
          </a:p>
          <a:p>
            <a:r>
              <a:t>slide: what a new point costs.</a:t>
            </a:r>
          </a:p>
          <a:p>
            <a:endParaRPr/>
          </a:p>
          <a:p>
            <a:r>
              <a:t>Cheap and parallel (a plate, a GPU queue): design of experiments. Factorial or</a:t>
            </a:r>
          </a:p>
          <a:p>
            <a:r>
              <a:t>D-optimal, then a response surface. Anna covered this Tuesday. You do not need</a:t>
            </a:r>
          </a:p>
          <a:p>
            <a:r>
              <a:t>a neural network to plan 24 wells.</a:t>
            </a:r>
          </a:p>
          <a:p>
            <a:endParaRPr/>
          </a:p>
          <a:p>
            <a:r>
              <a:t>Expensive and sequential, and you want a good MODEL: active learning. Query</a:t>
            </a:r>
          </a:p>
          <a:p>
            <a:r>
              <a:t>where the model is uncertain. Wednesday's lecture. Note the batch problem — the</a:t>
            </a:r>
          </a:p>
          <a:p>
            <a:r>
              <a:t>top-96 by uncertainty is a terrible plate because they are all the same</a:t>
            </a:r>
          </a:p>
          <a:p>
            <a:r>
              <a:t>compound in disguise.</a:t>
            </a:r>
          </a:p>
          <a:p>
            <a:endParaRPr/>
          </a:p>
          <a:p>
            <a:r>
              <a:t>Expensive and sequential, and you want the BEST POINT: Bayesian optimisation.</a:t>
            </a:r>
          </a:p>
          <a:p>
            <a:r>
              <a:t>Tuesday. Different objective, same loop.</a:t>
            </a:r>
          </a:p>
          <a:p>
            <a:endParaRPr/>
          </a:p>
          <a:p>
            <a:r>
              <a:t>Data exists but not in a table: literature extraction. RAG plus an LLM over PDFs</a:t>
            </a:r>
          </a:p>
          <a:p>
            <a:r>
              <a:t>and SI. This is an unglamorous, high-yield hackathon project and several of you</a:t>
            </a:r>
          </a:p>
          <a:p>
            <a:r>
              <a:t>should do it — but budget time for validation, because extraction error is</a:t>
            </a:r>
          </a:p>
          <a:p>
            <a:r>
              <a:t>silent and it will poison everything downstream.</a:t>
            </a:r>
          </a:p>
          <a:p>
            <a:endParaRPr/>
          </a:p>
          <a:p>
            <a:r>
              <a:t>Fifth option, on the strip in grey and say it plainly: borrow a pretrained model</a:t>
            </a:r>
          </a:p>
          <a:p>
            <a:r>
              <a:t>and fine-tune on your 200 points. Often the correct answer and it takes an</a:t>
            </a:r>
          </a:p>
          <a:p>
            <a:r>
              <a:t>afternoon.</a:t>
            </a:r>
          </a:p>
          <a:p>
            <a:endParaRPr/>
          </a:p>
          <a:p>
            <a:r>
              <a:t>Whatever they pick, the deliverable for the flash talk is the same: the FIRST 24</a:t>
            </a:r>
          </a:p>
          <a:p>
            <a:r>
              <a:t>experiments, named. Not a strategy in the abstract — the actual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minutes. This is the slide that saves people from embarrassment in week</a:t>
            </a:r>
          </a:p>
          <a:p>
            <a:r>
              <a:t>four of a PhD project.</a:t>
            </a:r>
          </a:p>
          <a:p>
            <a:endParaRPr/>
          </a:p>
          <a:p>
            <a:r>
              <a:t>Baseline 0 — predict the mean. Free. If your model does not beat it, stop.</a:t>
            </a:r>
          </a:p>
          <a:p>
            <a:r>
              <a:t>Astonishingly often it does not, on small noisy sets.</a:t>
            </a:r>
          </a:p>
          <a:p>
            <a:endParaRPr/>
          </a:p>
          <a:p>
            <a:r>
              <a:t>Baseline 1 — one descriptor and a straight line. cLogP for permeability, Hammett</a:t>
            </a:r>
          </a:p>
          <a:p>
            <a:r>
              <a:t>sigma for a rate, tolerance factor for a perovskite. Every field has one. Your</a:t>
            </a:r>
          </a:p>
          <a:p>
            <a:r>
              <a:t>neural network has to beat the number a chemist could compute in Excel, or you</a:t>
            </a:r>
          </a:p>
          <a:p>
            <a:r>
              <a:t>should report the Excel.</a:t>
            </a:r>
          </a:p>
          <a:p>
            <a:endParaRPr/>
          </a:p>
          <a:p>
            <a:r>
              <a:t>Baseline 2 — the human. Whatever your group does now, quantified. This is the</a:t>
            </a:r>
          </a:p>
          <a:p>
            <a:r>
              <a:t>one nobody runs, and it is the one that determines whether the model gets used.</a:t>
            </a:r>
          </a:p>
          <a:p>
            <a:endParaRPr/>
          </a:p>
          <a:p>
            <a:r>
              <a:t>Baseline 3, for anyone doing selection or design — random selection at the same</a:t>
            </a:r>
          </a:p>
          <a:p>
            <a:r>
              <a:t>budget. Wallach and Heifets showed how much of apparent ligand-classification</a:t>
            </a:r>
          </a:p>
          <a:p>
            <a:r>
              <a:t>performance is memorisation of benchmark structure rather than generalisation;</a:t>
            </a:r>
          </a:p>
          <a:p>
            <a:r>
              <a:t>the random control is what exposes that.</a:t>
            </a:r>
          </a:p>
          <a:p>
            <a:endParaRPr/>
          </a:p>
          <a:p>
            <a:r>
              <a:t>Instruction for the brief: the baseline goes in the brief, in writing, BEFORE</a:t>
            </a:r>
          </a:p>
          <a:p>
            <a:r>
              <a:t>the results. And the flash talk must show it. A bar chart with one bar is not a</a:t>
            </a:r>
          </a:p>
          <a:p>
            <a:r>
              <a:t>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these out. Put them up, say "one of these is closest to you, find</a:t>
            </a:r>
          </a:p>
          <a:p>
            <a:r>
              <a:t>it", and give them ninety seconds of silence.</a:t>
            </a:r>
          </a:p>
          <a:p>
            <a:endParaRPr/>
          </a:p>
          <a:p>
            <a:r>
              <a:t>They are deliberately unequal in ambition. The organic one has a clean split and</a:t>
            </a:r>
          </a:p>
          <a:p>
            <a:r>
              <a:t>could produce a result by Friday. The materials one is honest that it is a</a:t>
            </a:r>
          </a:p>
          <a:p>
            <a:r>
              <a:t>transfer problem. The drug design one has only 340 points and says so — and its</a:t>
            </a:r>
          </a:p>
          <a:p>
            <a:r>
              <a:t>project is therefore mostly about the split. The computational one is the only</a:t>
            </a:r>
          </a:p>
          <a:p>
            <a:r>
              <a:t>one on the acquisition branch, and its deliverable is a list of 200 geometries,</a:t>
            </a:r>
          </a:p>
          <a:p>
            <a:r>
              <a:t>not a model.</a:t>
            </a:r>
          </a:p>
          <a:p>
            <a:endParaRPr/>
          </a:p>
          <a:p>
            <a:r>
              <a:t>That asymmetry is the message: a brief is not a promise of a result, it is a</a:t>
            </a:r>
          </a:p>
          <a:p>
            <a:r>
              <a:t>statement of what you would learn either way.</a:t>
            </a:r>
          </a:p>
          <a:p>
            <a:endParaRPr/>
          </a:p>
          <a:p>
            <a:r>
              <a:t>Point out that each one names its baseline in the last line. That is not</a:t>
            </a:r>
          </a:p>
          <a:p>
            <a:r>
              <a:t>decoration; it is the reason each is gradeable.</a:t>
            </a:r>
          </a:p>
          <a:p>
            <a:endParaRPr/>
          </a:p>
          <a:p>
            <a:r>
              <a:t>The full versions, with the data inventory filled in, are in the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them fast. They are a checklist, not a lecture. The worksheet repeats them</a:t>
            </a:r>
          </a:p>
          <a:p>
            <a:r>
              <a:t>as tick-boxes on the last page and I want to see ticks.</a:t>
            </a:r>
          </a:p>
          <a:p>
            <a:endParaRPr/>
          </a:p>
          <a:p>
            <a:r>
              <a:t>1. Duplicates across the split. Same compound, two names, two salts, two</a:t>
            </a:r>
          </a:p>
          <a:p>
            <a:r>
              <a:t>   tautomers. Deduplicate on InChIKey or canonical SMILES before splitting, not</a:t>
            </a:r>
          </a:p>
          <a:p>
            <a:r>
              <a:t>   after. This is the single most common cause of a suspiciously good number.</a:t>
            </a:r>
          </a:p>
          <a:p>
            <a:r>
              <a:t>2. Tuning on the test set. Every time you look at test performance and change</a:t>
            </a:r>
          </a:p>
          <a:p>
            <a:r>
              <a:t>   something, you have spent a little of it. Keep a validation set. Touch the</a:t>
            </a:r>
          </a:p>
          <a:p>
            <a:r>
              <a:t>   test set once.</a:t>
            </a:r>
          </a:p>
          <a:p>
            <a:r>
              <a:t>3. Descriptors that leak. Batch, date, plate position, sample ID, anything that</a:t>
            </a:r>
          </a:p>
          <a:p>
            <a:r>
              <a:t>   correlates with the label for a non-chemical reason. If molecular weight is</a:t>
            </a:r>
          </a:p>
          <a:p>
            <a:r>
              <a:t>   your top SHAP feature, ask why.</a:t>
            </a:r>
          </a:p>
          <a:p>
            <a:r>
              <a:t>4. Extrapolating and calling it prediction. Report where your test points sit</a:t>
            </a:r>
          </a:p>
          <a:p>
            <a:r>
              <a:t>   relative to the training distribution. A confident prediction outside the</a:t>
            </a:r>
          </a:p>
          <a:p>
            <a:r>
              <a:t>   hull is a guess with a decimal point.</a:t>
            </a:r>
          </a:p>
          <a:p>
            <a:r>
              <a:t>5. Metric mismatch. Optimising RMSE when you needed enrichment. Back to slide</a:t>
            </a:r>
          </a:p>
          <a:p>
            <a:r>
              <a:t>   ten.</a:t>
            </a:r>
          </a:p>
          <a:p>
            <a:r>
              <a:t>6. No baseline. Covered. Still happens.</a:t>
            </a:r>
          </a:p>
          <a:p>
            <a:endParaRPr/>
          </a:p>
          <a:p>
            <a:r>
              <a:t>Artrith et al. 2021 is two pages long, is free, and says most of this better</a:t>
            </a:r>
          </a:p>
          <a:p>
            <a:r>
              <a:t>than I just did. Tell them to read it tonight; several 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Entering: 5 · The flash talk, and what done looks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Adjust the labels to the real room times before you present — the shape is what</a:t>
            </a:r>
          </a:p>
          <a:p>
            <a:r>
              <a:t>matters, not the exact clock.</a:t>
            </a:r>
          </a:p>
          <a:p>
            <a:endParaRPr/>
          </a:p>
          <a:p>
            <a:r>
              <a:t>The hard rule is the first one: nobody opens a notebook until the brief is</a:t>
            </a:r>
          </a:p>
          <a:p>
            <a:r>
              <a:t>written. Every year somebody ignores this, spends the first afternoon on</a:t>
            </a:r>
          </a:p>
          <a:p>
            <a:r>
              <a:t>environment setup and pandas, and gives a five-minute talk about a</a:t>
            </a:r>
          </a:p>
          <a:p>
            <a:r>
              <a:t>FileNotFoundError.</a:t>
            </a:r>
          </a:p>
          <a:p>
            <a:endParaRPr/>
          </a:p>
          <a:p>
            <a:r>
              <a:t>Kickoff + framing: the worksheet, and me and the TAs circulating. You get one</a:t>
            </a:r>
          </a:p>
          <a:p>
            <a:r>
              <a:t>five-minute conversation each, and I will be blunt in it. That is the most</a:t>
            </a:r>
          </a:p>
          <a:p>
            <a:r>
              <a:t>valuable thing on this timeline.</a:t>
            </a:r>
          </a:p>
          <a:p>
            <a:endParaRPr/>
          </a:p>
          <a:p>
            <a:r>
              <a:t>Afternoon 1 is data and split ONLY. No models. If you have a model by the end of</a:t>
            </a:r>
          </a:p>
          <a:p>
            <a:r>
              <a:t>afternoon 1 you have skipped something.</a:t>
            </a:r>
          </a:p>
          <a:p>
            <a:r>
              <a:t>Afternoon 2 is the baseline and the first model.</a:t>
            </a:r>
          </a:p>
          <a:p>
            <a:r>
              <a:t>Afternoon 3 is the honest evaluation and the slides — and slides means slides,</a:t>
            </a:r>
          </a:p>
          <a:p>
            <a:r>
              <a:t>starting at the coffee break, not at 17:50.</a:t>
            </a:r>
          </a:p>
          <a:p>
            <a:endParaRPr/>
          </a:p>
          <a:p>
            <a:r>
              <a:t>Flash talks: five minutes, five slides, I will cut you off mid-sentence and</a:t>
            </a:r>
          </a:p>
          <a:p>
            <a:r>
              <a:t>everybody will find that funny except the person it happens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Prescriptive on purpose. It removes the "how should I structure this" anxiety</a:t>
            </a:r>
          </a:p>
          <a:p>
            <a:r>
              <a:t>and it makes the talks comparable, which makes the discussion afterwards</a:t>
            </a:r>
          </a:p>
          <a:p>
            <a:r>
              <a:t>possible.</a:t>
            </a:r>
          </a:p>
          <a:p>
            <a:endParaRPr/>
          </a:p>
          <a:p>
            <a:r>
              <a:t>One slide each, and the timings are real:</a:t>
            </a:r>
          </a:p>
          <a:p>
            <a:r>
              <a:t>  1. The sentence. Literally the sentence from the worksheet, on the slide, in</a:t>
            </a:r>
          </a:p>
          <a:p>
            <a:r>
              <a:t>     large type. 45 seconds.</a:t>
            </a:r>
          </a:p>
          <a:p>
            <a:r>
              <a:t>  2. The data. N, the label, its error, and whether you have negatives. One</a:t>
            </a:r>
          </a:p>
          <a:p>
            <a:r>
              <a:t>     table. 45 seconds.</a:t>
            </a:r>
          </a:p>
          <a:p>
            <a:r>
              <a:t>  3. The split, or the first 24 experiments — depending on which branch you took</a:t>
            </a:r>
          </a:p>
          <a:p>
            <a:r>
              <a:t>     at the fork. This is your intellectual contribution. 90 seconds.</a:t>
            </a:r>
          </a:p>
          <a:p>
            <a:r>
              <a:t>  4. Baseline versus you. Two bars minimum. If you have no model yet, show the</a:t>
            </a:r>
          </a:p>
          <a:p>
            <a:r>
              <a:t>     baseline alone and say what you would need to beat it. That is a legitimate</a:t>
            </a:r>
          </a:p>
          <a:p>
            <a:r>
              <a:t>     slide 4 and I will defend it. 90 seconds.</a:t>
            </a:r>
          </a:p>
          <a:p>
            <a:r>
              <a:t>  5. What would change your mind, and what you would do with three more weeks.</a:t>
            </a:r>
          </a:p>
          <a:p>
            <a:r>
              <a:t>     30 seconds.</a:t>
            </a:r>
          </a:p>
          <a:p>
            <a:endParaRPr/>
          </a:p>
          <a:p>
            <a:r>
              <a:t>Explicit permission, and say it warmly: "it did not work, and here is the</a:t>
            </a:r>
          </a:p>
          <a:p>
            <a:r>
              <a:t>diagnosis" is a strong talk. Every experienced person in the room knows that.</a:t>
            </a:r>
          </a:p>
          <a:p>
            <a:r>
              <a:t>The students do not yet believe it.</a:t>
            </a:r>
          </a:p>
          <a:p>
            <a:endParaRPr/>
          </a:p>
          <a:p>
            <a:r>
              <a:t>Ban list: no outline slide, no history of machine learning, no architecture</a:t>
            </a:r>
          </a:p>
          <a:p>
            <a:r>
              <a:t>diagram of a network you did not modify.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this and then get out of the way.</a:t>
            </a:r>
          </a:p>
          <a:p>
            <a:endParaRPr/>
          </a:p>
          <a:p>
            <a:r>
              <a:t>Three tiers, all passing. Say that clearly: all three of these are a pass. The</a:t>
            </a:r>
          </a:p>
          <a:p>
            <a:r>
              <a:t>point is to remove the incentive to fake a result on Friday morning.</a:t>
            </a:r>
          </a:p>
          <a:p>
            <a:endParaRPr/>
          </a:p>
          <a:p>
            <a:r>
              <a:t>Tier 1 — a brief and a baseline. Genuinely fine for three afternoons if the</a:t>
            </a:r>
          </a:p>
          <a:p>
            <a:r>
              <a:t>brief is sharp and the baseline is honestly measured. Most people land here and</a:t>
            </a:r>
          </a:p>
          <a:p>
            <a:r>
              <a:t>should not apologise for it.</a:t>
            </a:r>
          </a:p>
          <a:p>
            <a:endParaRPr/>
          </a:p>
          <a:p>
            <a:r>
              <a:t>Tier 2 — plus one model on the split you designed. Good outcome.</a:t>
            </a:r>
          </a:p>
          <a:p>
            <a:endParaRPr/>
          </a:p>
          <a:p>
            <a:r>
              <a:t>Tier 3 — plus the diagnosis of why it did or did not work. Rare in three</a:t>
            </a:r>
          </a:p>
          <a:p>
            <a:r>
              <a:t>afternoons, and the only tier that is actually publishable-shaped.</a:t>
            </a:r>
          </a:p>
          <a:p>
            <a:endParaRPr/>
          </a:p>
          <a:p>
            <a:r>
              <a:t>The line at the bottom is the one to say last and then stop: the thing you are</a:t>
            </a:r>
          </a:p>
          <a:p>
            <a:r>
              <a:t>practising this week is not fitting models. It is deciding what is worth</a:t>
            </a:r>
          </a:p>
          <a:p>
            <a:r>
              <a:t>fitting. That skill is the part that survives contact with your own research,</a:t>
            </a:r>
          </a:p>
          <a:p>
            <a:r>
              <a:t>and it is the only part nobody can hand you.</a:t>
            </a:r>
          </a:p>
          <a:p>
            <a:endParaRPr/>
          </a:p>
          <a:p>
            <a:r>
              <a:t>Then: worksheets are on the table, TAs are circulating, step 1 written before</a:t>
            </a:r>
          </a:p>
          <a:p>
            <a:r>
              <a:t>the coffee break.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FCFE-30EA-15C2-0079-CE50B057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BCADC-8577-51CC-4FFC-BFAE04D98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71E36-766F-27F9-934F-42CA4EF8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6339-2319-9405-5169-0E1AD01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EE86-1EA0-452C-1FDF-12394A03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8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BD33-4213-E577-B6E8-AD845ED6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018D-C286-CF14-EB8F-74FAC087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B41-F21B-FE25-EEA1-91FEDB01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35A8-2A44-4925-E6F2-FB2DC50A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11F9-59D8-00C5-BBDC-B5E10B1D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5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01A0-EEE7-4CE8-86EB-6B668C83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FDC73-D696-3AB6-59AE-14C9B9C4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7F559-1384-FB6E-4197-6959805E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BD67-6739-D45F-6AD7-1131E3E2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F6FB-9889-7539-0F3A-27661D1C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4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C13D-EE92-D1C8-42C3-D9D502AC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D61BD-5137-CA14-767E-DD95B4888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69210-EE0D-D7C0-53BE-9DF1BF282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D91EB-E133-C8EF-6965-51CAF69F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C8067-8D45-18D8-B318-CE442E3D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EC5D3-51E5-62FD-4869-4B329DE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D919-B29D-3F0A-AFA2-3CE5ABEB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C8F1-B8D9-96C9-42FD-A11CE397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1CD45-EDB7-32B2-7A43-CB149B18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26979-DEFA-6291-2B1B-F02D3241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6046F-BF91-EA7C-A63E-E6A9BBDEA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9EA03-587B-93E1-F15C-A9F86D1F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E48CA-DAF8-7420-9F13-C8574E61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382CD-D4DA-DACB-D27D-1E2A786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478-7586-DAD0-BBAC-9C50EF2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DAAA4-4012-8CB9-750B-AA355607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D9A9-FAE9-187D-66D8-CF50C61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2B7-7364-8FFC-4934-C4DC6F77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00C1E-3393-ADC2-C850-585C4F4E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AA1D-1CAA-7DE7-80BE-08E99110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6C34-2ED5-AA80-B028-9B03C125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D578-5F56-3E94-CC1B-0A51EA2F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D991-13BF-348D-F9DA-EC5B1C00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6D522-9CFA-C907-3B26-95022DAFA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BBC84-2ED7-4308-263A-1542129F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E1AF-B534-32E7-5217-13BF5C4C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C9D2-9869-6D45-6BA5-0998E02E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0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FFE4-B64F-1071-4B8D-24548C54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7446C-C381-ADE6-BCF2-84D7659A7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C11A1-E8D9-F82C-99E2-1137493CB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2BE3-526B-3449-C080-B55F9D9E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63DBE-F065-4FDB-E3ED-A9FB5C5F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CE51-E186-B11C-5FC3-6B32A68B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E236-F7BC-E54A-E355-875C14D2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7A2AB-EF55-75CD-2713-84DFC0D16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E04C-0D94-10F9-28B1-C11E964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08AAA-3F74-6592-9D94-4F1891B3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D591-D272-CEB0-9C06-DFA79A16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9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2C35C-21AB-B0E1-47A6-FBB660E61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8866-F016-7611-08A1-862A6ADA2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830B-991D-CF25-D982-3B8A8CB0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3DF2-14AC-0994-0929-F147638F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D98ED-BD7A-DBA9-3FA8-660610FF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15FB3-293F-DCCE-0700-A95124D6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1CD0-7472-1733-B23F-23C2B9F13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5EEE-F8D1-E777-F538-DD71D31A7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C5ABB-601C-F448-8A76-D4082F0C0AA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F20B-855C-D3FC-9254-CC3C9F7B7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F2E7-9883-FC25-4D8C-3F305CC3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Frame your own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417320" y="2788920"/>
            <a:ext cx="1417320" cy="1417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3000" b="0" i="0">
                <a:solidFill>
                  <a:srgbClr val="123830"/>
                </a:solidFill>
                <a:latin typeface="Avenir Boo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70832"/>
            <a:ext cx="20574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venir Book"/>
              </a:rPr>
              <a:t>the 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3502152"/>
            <a:ext cx="960120" cy="0"/>
          </a:xfrm>
          <a:prstGeom prst="line">
            <a:avLst/>
          </a:prstGeom>
          <a:ln w="19050">
            <a:solidFill>
              <a:srgbClr val="1238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069080" y="2788920"/>
            <a:ext cx="1417320" cy="1417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3000" b="0" i="0">
                <a:solidFill>
                  <a:srgbClr val="123830"/>
                </a:solidFill>
                <a:latin typeface="Avenir 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4370832"/>
            <a:ext cx="20574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venir Book"/>
              </a:rPr>
              <a:t>the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3502152"/>
            <a:ext cx="960120" cy="0"/>
          </a:xfrm>
          <a:prstGeom prst="line">
            <a:avLst/>
          </a:prstGeom>
          <a:ln w="19050">
            <a:solidFill>
              <a:srgbClr val="1238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20840" y="2788920"/>
            <a:ext cx="1417320" cy="1417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3000" b="0" i="0">
                <a:solidFill>
                  <a:srgbClr val="123830"/>
                </a:solidFill>
                <a:latin typeface="Avenir 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70832"/>
            <a:ext cx="20574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venir Book"/>
              </a:rPr>
              <a:t>the purpose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3502152"/>
            <a:ext cx="960120" cy="0"/>
          </a:xfrm>
          <a:prstGeom prst="line">
            <a:avLst/>
          </a:prstGeom>
          <a:ln w="19050">
            <a:solidFill>
              <a:srgbClr val="1238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72600" y="2788920"/>
            <a:ext cx="1417320" cy="1417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3000" b="0" i="0">
                <a:solidFill>
                  <a:srgbClr val="123830"/>
                </a:solidFill>
                <a:latin typeface="Avenir 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370832"/>
            <a:ext cx="205740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777777"/>
                </a:solidFill>
                <a:latin typeface="Avenir Book"/>
              </a:rPr>
              <a:t>enough?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057400"/>
            <a:ext cx="1078992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0" i="1">
                <a:solidFill>
                  <a:srgbClr val="2E6FBA"/>
                </a:solidFill>
                <a:latin typeface="Avenir Book"/>
              </a:rPr>
              <a:t>four questions, in this order, before a single line of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30368"/>
            <a:ext cx="1078992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777777"/>
                </a:solidFill>
                <a:latin typeface="Avenir Book"/>
              </a:rPr>
              <a:t>AI4ChemicalSciences BootCamp 2026  ·  hackathon kickoff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Two things leave this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463040"/>
            <a:ext cx="5257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4434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E6FBA"/>
                </a:solidFill>
                <a:latin typeface="Avenir Book"/>
              </a:rPr>
              <a:t>a ·  Half a page</a:t>
            </a:r>
          </a:p>
          <a:p>
            <a:pPr>
              <a:spcAft>
                <a:spcPts val="600"/>
              </a:spcAft>
            </a:pPr>
            <a:endParaRPr sz="2200" b="1" i="0">
              <a:solidFill>
                <a:srgbClr val="2E6FBA"/>
              </a:solidFill>
              <a:latin typeface="Avenir Book"/>
            </a:endParaRPr>
          </a:p>
          <a:p>
            <a:r>
              <a:rPr sz="1600" b="0" i="0">
                <a:solidFill>
                  <a:srgbClr val="123830"/>
                </a:solidFill>
                <a:latin typeface="Avenir Book"/>
              </a:rPr>
              <a:t>what you learned  ·  how it lands in your own research</a:t>
            </a:r>
          </a:p>
          <a:p>
            <a:endParaRPr sz="1600" b="0" i="0">
              <a:solidFill>
                <a:srgbClr val="123830"/>
              </a:solidFill>
              <a:latin typeface="Avenir Book"/>
            </a:endParaRPr>
          </a:p>
          <a:p>
            <a:r>
              <a:rPr sz="1400" b="0" i="1">
                <a:solidFill>
                  <a:srgbClr val="777777"/>
                </a:solidFill>
                <a:latin typeface="Avenir Book"/>
              </a:rPr>
              <a:t>reflection, not a lecture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25780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434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B8A98"/>
                </a:solidFill>
                <a:latin typeface="Avenir Book"/>
              </a:rPr>
              <a:t>b ·  One-page project brief</a:t>
            </a:r>
          </a:p>
          <a:p>
            <a:pPr>
              <a:spcAft>
                <a:spcPts val="600"/>
              </a:spcAft>
            </a:pPr>
            <a:endParaRPr sz="2200" b="1" i="0">
              <a:solidFill>
                <a:srgbClr val="1B8A98"/>
              </a:solidFill>
              <a:latin typeface="Avenir Book"/>
            </a:endParaRPr>
          </a:p>
          <a:p>
            <a:r>
              <a:rPr sz="1600" b="0" i="0">
                <a:solidFill>
                  <a:srgbClr val="123830"/>
                </a:solidFill>
                <a:latin typeface="Avenir Book"/>
              </a:rPr>
              <a:t>your problem, framed  ·  five headings  ·  the worksheet, filled in</a:t>
            </a:r>
          </a:p>
          <a:p>
            <a:endParaRPr sz="1600" b="0" i="0">
              <a:solidFill>
                <a:srgbClr val="123830"/>
              </a:solidFill>
              <a:latin typeface="Avenir Book"/>
            </a:endParaRPr>
          </a:p>
          <a:p>
            <a:r>
              <a:rPr sz="1400" b="0" i="1">
                <a:solidFill>
                  <a:srgbClr val="777777"/>
                </a:solidFill>
                <a:latin typeface="Avenir Book"/>
              </a:rPr>
              <a:t>+ 5 slides, 5 minutes, hard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10744200" cy="868680"/>
          </a:xfrm>
          <a:prstGeom prst="roundRect">
            <a:avLst>
              <a:gd name="adj" fmla="val 9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700" b="1" i="0">
                <a:solidFill>
                  <a:srgbClr val="123830"/>
                </a:solidFill>
                <a:latin typeface="Avenir Book"/>
              </a:rPr>
              <a:t>A well-framed question with no results is a pass.</a:t>
            </a:r>
          </a:p>
          <a:p>
            <a:pPr algn="ctr"/>
            <a:r>
              <a:rPr sz="1700" b="1" i="0">
                <a:solidFill>
                  <a:srgbClr val="123830"/>
                </a:solidFill>
                <a:latin typeface="Avenir Book"/>
              </a:rPr>
              <a:t>A good number you cannot explain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Before any code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16002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123830"/>
                </a:solidFill>
                <a:latin typeface="Avenir Book"/>
              </a:rPr>
              <a:t>I want to </a:t>
            </a:r>
            <a:r>
              <a:rPr sz="2400" b="1" i="0">
                <a:solidFill>
                  <a:srgbClr val="E0A526"/>
                </a:solidFill>
                <a:latin typeface="Avenir Book"/>
              </a:rPr>
              <a:t>predict · rank · generate ·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123830"/>
                </a:solidFill>
                <a:latin typeface="Avenir Book"/>
              </a:rPr>
              <a:t>_________________________  for  _________________________ 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123830"/>
                </a:solidFill>
                <a:latin typeface="Avenir Book"/>
              </a:rPr>
              <a:t>so that I can  _________________________________________ 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 i="0">
                <a:solidFill>
                  <a:srgbClr val="123830"/>
                </a:solidFill>
                <a:latin typeface="Avenir Book"/>
              </a:rPr>
              <a:t>instead of  </a:t>
            </a:r>
            <a:r>
              <a:rPr sz="2400" b="0" i="0">
                <a:solidFill>
                  <a:srgbClr val="C00000"/>
                </a:solidFill>
                <a:latin typeface="Avenir Book"/>
              </a:rPr>
              <a:t>____________________________________________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691640"/>
            <a:ext cx="877824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23830"/>
                </a:solidFill>
                <a:latin typeface="Avenir Book"/>
              </a:rPr>
              <a:t>1 · A question worth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50008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2 · The data you actually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08376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3 · What the model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66744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4 · Enough data, or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25112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5 · The flash talk, and what done looks like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The same interest, twice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234440"/>
            <a:ext cx="512064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Avenir Book"/>
              </a:rPr>
              <a:t>What people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52120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2E6FBA"/>
                </a:solidFill>
                <a:latin typeface="Avenir Book"/>
              </a:rPr>
              <a:t>What you can be wrong about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1572768"/>
            <a:ext cx="10789920" cy="0"/>
          </a:xfrm>
          <a:prstGeom prst="lin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173736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8A98"/>
                </a:solidFill>
                <a:latin typeface="Avenir Book"/>
              </a:rPr>
              <a:t>drug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3736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Avenir Book"/>
              </a:rPr>
              <a:t>“Can ML help my series?”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23830"/>
                </a:solidFill>
                <a:latin typeface="Avenir Book"/>
              </a:rPr>
              <a:t>Can a model trained on our 340 measured analogues rank the next 40 for hERG better than cLogP alone?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8A98"/>
                </a:solidFill>
                <a:latin typeface="Avenir Book"/>
              </a:rPr>
              <a:t>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8892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Avenir Book"/>
              </a:rPr>
              <a:t>“I want to use ML for MOFs.”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889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23830"/>
                </a:solidFill>
                <a:latin typeface="Avenir Book"/>
              </a:rPr>
              <a:t>Can we predict CO₂ uptake at 1 bar within 0.4 mmol/g for MOFs built from linkers absent from the training set?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8A98"/>
                </a:solidFill>
                <a:latin typeface="Avenir Book"/>
              </a:rPr>
              <a:t>organic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4048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Avenir Book"/>
              </a:rPr>
              <a:t>“ML for reaction optimisation.”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4048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23830"/>
                </a:solidFill>
                <a:latin typeface="Avenir Book"/>
              </a:rPr>
              <a:t>Does a model on our 310 C–N couplings pick a better 24-well plate than our current screening panel?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B8A98"/>
                </a:solidFill>
                <a:latin typeface="Avenir Book"/>
              </a:rPr>
              <a:t>computational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92040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Avenir Book"/>
              </a:rPr>
              <a:t>“Can ML replace DFT?”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89204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123830"/>
                </a:solidFill>
                <a:latin typeface="Avenir Book"/>
              </a:rPr>
              <a:t>Can a </a:t>
            </a:r>
            <a:r>
              <a:rPr sz="1400" b="0" i="0" dirty="0" err="1">
                <a:solidFill>
                  <a:srgbClr val="123830"/>
                </a:solidFill>
                <a:latin typeface="Avenir Book"/>
              </a:rPr>
              <a:t>Δ</a:t>
            </a:r>
            <a:r>
              <a:rPr sz="1400" b="0" i="0" dirty="0">
                <a:solidFill>
                  <a:srgbClr val="123830"/>
                </a:solidFill>
                <a:latin typeface="Avenir Book"/>
              </a:rPr>
              <a:t>-model on 2,000 GFN2 geometries reproduce DFT barriers to 1 kcal/mol for our substrate class?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691640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1 · A question worth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50008"/>
            <a:ext cx="877824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23830"/>
                </a:solidFill>
                <a:latin typeface="Avenir Book"/>
              </a:rPr>
              <a:t>2 · The data you actually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08376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3 · What the model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66744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4 · Enough data, or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25112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5 · The flash talk, and what done looks like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Data </a:t>
            </a:r>
            <a:r>
              <a:rPr sz="2800" dirty="0">
                <a:solidFill>
                  <a:srgbClr val="123830"/>
                </a:solidFill>
                <a:latin typeface="Avenir Book"/>
              </a:rPr>
              <a:t>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429401"/>
              </p:ext>
            </p:extLst>
          </p:nvPr>
        </p:nvGraphicFramePr>
        <p:xfrm>
          <a:off x="685800" y="2240276"/>
          <a:ext cx="1078992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23830"/>
                          </a:solidFill>
                          <a:latin typeface="Avenir Book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23830"/>
                          </a:solidFill>
                          <a:latin typeface="Avenir Book"/>
                        </a:rPr>
                        <a:t>N (deduplicated)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23830"/>
                          </a:solidFill>
                          <a:latin typeface="Avenir Book"/>
                        </a:rPr>
                        <a:t>label + its error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23830"/>
                          </a:solidFill>
                          <a:latin typeface="Avenir Book"/>
                        </a:rPr>
                        <a:t>negatives recorded?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23830"/>
                          </a:solidFill>
                          <a:latin typeface="Avenir Book"/>
                        </a:rPr>
                        <a:t>cost per new point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our notebooks, 5 people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310 C–N couplings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HPLC yield, ± 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C00000"/>
                          </a:solidFill>
                          <a:latin typeface="Avenir Book"/>
                        </a:rPr>
                        <a:t>partial — “no product”, no conditions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3 h, $40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in-house assay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340 analogues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hERG IC₅₀, ± 0.4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E6FBA"/>
                          </a:solidFill>
                          <a:latin typeface="Avenir Book"/>
                        </a:rPr>
                        <a:t>yes, inactives kept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1 week, $600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CoRE MOF + our 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12,000 + 60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GCMC uptake / measured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77777"/>
                          </a:solidFill>
                          <a:latin typeface="Avenir Book"/>
                        </a:rPr>
                        <a:t>n/a — continuous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4 h GPU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____________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____________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____________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23830"/>
                          </a:solidFill>
                          <a:latin typeface="Avenir Book"/>
                        </a:rPr>
                        <a:t>____________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23830"/>
                          </a:solidFill>
                          <a:latin typeface="Avenir Book"/>
                        </a:rPr>
                        <a:t>____________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Quantification of the Noise in your Data?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3261360" y="3643468"/>
            <a:ext cx="5669280" cy="0"/>
          </a:xfrm>
          <a:prstGeom prst="line">
            <a:avLst/>
          </a:prstGeom>
          <a:ln w="12700">
            <a:solidFill>
              <a:srgbClr val="1238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07414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72928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29365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63792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410570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38795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15490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8598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60186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79442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86947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32586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68101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26325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69208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63632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49453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10743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40347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750941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21115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062162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79961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22668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23516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86494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08737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61830" y="3581517"/>
            <a:ext cx="91440" cy="91440"/>
          </a:xfrm>
          <a:prstGeom prst="ellipse">
            <a:avLst/>
          </a:prstGeom>
          <a:solidFill>
            <a:srgbClr val="2E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798320" y="3524596"/>
            <a:ext cx="137160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77777"/>
                </a:solidFill>
                <a:latin typeface="Avenir Book"/>
              </a:rPr>
              <a:t>28 replicates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1360" y="3917788"/>
            <a:ext cx="566928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777777"/>
                </a:solidFill>
                <a:latin typeface="Avenir Book"/>
              </a:rPr>
              <a:t>spread of the measurement  →  the noise floor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5372" y="3433156"/>
            <a:ext cx="2721254" cy="475488"/>
          </a:xfrm>
          <a:prstGeom prst="rect">
            <a:avLst/>
          </a:prstGeom>
          <a:noFill/>
          <a:ln w="15875">
            <a:solidFill>
              <a:srgbClr val="E0A5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691640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1 · A question worth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50008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2 · The data you actually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08376"/>
            <a:ext cx="877824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23830"/>
                </a:solidFill>
                <a:latin typeface="Avenir Book"/>
              </a:rPr>
              <a:t>3 · What the model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66744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4 · Enough data, or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25112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5 · The flash talk, and what done looks like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Defining Model Function/Objective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990941"/>
              </p:ext>
            </p:extLst>
          </p:nvPr>
        </p:nvGraphicFramePr>
        <p:xfrm>
          <a:off x="685800" y="1886987"/>
          <a:ext cx="1078992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123830"/>
                          </a:solidFill>
                          <a:latin typeface="Avenir Book"/>
                        </a:rPr>
                        <a:t>The function</a:t>
                      </a:r>
                      <a:endParaRPr sz="1300" b="1" i="0" dirty="0">
                        <a:solidFill>
                          <a:srgbClr val="123830"/>
                        </a:solidFill>
                        <a:latin typeface="Avenir Book"/>
                      </a:endParaRP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123830"/>
                          </a:solidFill>
                          <a:latin typeface="Avenir Book"/>
                        </a:rPr>
                        <a:t>The objective</a:t>
                      </a:r>
                      <a:endParaRPr sz="1300" b="1" i="0" dirty="0">
                        <a:solidFill>
                          <a:srgbClr val="123830"/>
                        </a:solidFill>
                        <a:latin typeface="Avenir Book"/>
                      </a:endParaRP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123830"/>
                          </a:solidFill>
                          <a:latin typeface="Avenir Book"/>
                        </a:rPr>
                        <a:t>The metric</a:t>
                      </a:r>
                      <a:endParaRPr sz="1300" b="1" i="0" dirty="0">
                        <a:solidFill>
                          <a:srgbClr val="123830"/>
                        </a:solidFill>
                        <a:latin typeface="Avenir Book"/>
                      </a:endParaRP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123830"/>
                          </a:solidFill>
                          <a:latin typeface="Avenir Book"/>
                        </a:rPr>
                        <a:t>The users</a:t>
                      </a:r>
                      <a:endParaRPr sz="1300" b="1" i="0" dirty="0">
                        <a:solidFill>
                          <a:srgbClr val="123830"/>
                        </a:solidFill>
                        <a:latin typeface="Avenir Book"/>
                      </a:endParaRP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filter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a shortlist, nothing discarded wrongly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recall @ budget  (not RMSE)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you, next 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ranker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an ordering of the top few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enrichment · precision@k · top-k regret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the person picking the 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interpolator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the model itself, accurate everywhere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RMSE across the whole domain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everyone, for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generator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candidate structures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validity · novelty · oracle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a synthetic chemist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explainer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a mechanism-shaped hypothesis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23830"/>
                          </a:solidFill>
                          <a:latin typeface="Avenir Book"/>
                        </a:rPr>
                        <a:t>does the follow-up experiment work?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>
                          <a:solidFill>
                            <a:srgbClr val="123830"/>
                          </a:solidFill>
                          <a:latin typeface="Avenir Book"/>
                        </a:rPr>
                        <a:t>your next paper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691640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1 · A question worth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50008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2 · The data you actually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08376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3 · What the model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66744"/>
            <a:ext cx="877824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>
                <a:solidFill>
                  <a:srgbClr val="123830"/>
                </a:solidFill>
                <a:latin typeface="Avenir Book"/>
              </a:rPr>
              <a:t>4 · Enough data, or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25112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5 · The flash talk, and what done looks like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Can existing data answer my question?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>
            <a:off x="4272742" y="1901951"/>
            <a:ext cx="1371600" cy="1024129"/>
          </a:xfrm>
          <a:prstGeom prst="line">
            <a:avLst/>
          </a:prstGeom>
          <a:ln w="22225">
            <a:solidFill>
              <a:srgbClr val="2E6FB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4956" y="1894262"/>
            <a:ext cx="1371600" cy="1024129"/>
          </a:xfrm>
          <a:prstGeom prst="line">
            <a:avLst/>
          </a:prstGeom>
          <a:ln w="22225">
            <a:solidFill>
              <a:srgbClr val="E0A5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19204" y="1976349"/>
            <a:ext cx="12801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E6FBA"/>
                </a:solidFill>
                <a:latin typeface="Avenir Book"/>
              </a:rPr>
              <a:t>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12963"/>
            <a:ext cx="12801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E0A526"/>
                </a:solidFill>
                <a:latin typeface="Avenir Book"/>
              </a:rP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 dirty="0">
                <a:solidFill>
                  <a:srgbClr val="2E6FBA"/>
                </a:solidFill>
                <a:latin typeface="Avenir Book"/>
              </a:rPr>
              <a:t>Design the split.</a:t>
            </a:r>
          </a:p>
          <a:p>
            <a:pPr>
              <a:spcAft>
                <a:spcPts val="800"/>
              </a:spcAft>
            </a:pPr>
            <a:r>
              <a:rPr sz="1500" b="0" i="0" dirty="0">
                <a:solidFill>
                  <a:srgbClr val="123830"/>
                </a:solidFill>
                <a:latin typeface="Avenir Book"/>
              </a:rPr>
              <a:t>What held-out set would mimic the way this model is actually going to be used?</a:t>
            </a:r>
          </a:p>
          <a:p>
            <a:r>
              <a:rPr sz="1400" b="0" i="1" dirty="0">
                <a:solidFill>
                  <a:srgbClr val="777777"/>
                </a:solidFill>
                <a:latin typeface="Avenir Book"/>
              </a:rPr>
              <a:t>The split IS the scientific claim. Nothing else in the project is as consequential.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92608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E0A526"/>
                </a:solidFill>
                <a:latin typeface="Avenir Book"/>
              </a:rPr>
              <a:t>Design the acquisition.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123830"/>
                </a:solidFill>
                <a:latin typeface="Avenir Book"/>
              </a:rPr>
              <a:t>What is the cheapest set of new measurements that would make the question answerable?</a:t>
            </a:r>
          </a:p>
          <a:p>
            <a:r>
              <a:rPr sz="1400" b="0" i="1">
                <a:solidFill>
                  <a:srgbClr val="777777"/>
                </a:solidFill>
                <a:latin typeface="Avenir Book"/>
              </a:rPr>
              <a:t>This is a real project, not a consolation prize — and you have had four lectures on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dirty="0">
                <a:solidFill>
                  <a:srgbClr val="123830"/>
                </a:solidFill>
                <a:latin typeface="Avenir Book"/>
              </a:rPr>
              <a:t>Yes — then </a:t>
            </a:r>
            <a:r>
              <a:rPr lang="en-US" sz="2800" dirty="0">
                <a:solidFill>
                  <a:srgbClr val="123830"/>
                </a:solidFill>
                <a:latin typeface="Avenir Book"/>
              </a:rPr>
              <a:t>test set design is the main question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20930"/>
              </p:ext>
            </p:extLst>
          </p:nvPr>
        </p:nvGraphicFramePr>
        <p:xfrm>
          <a:off x="685800" y="1591885"/>
          <a:ext cx="1078992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3830"/>
                          </a:solidFill>
                          <a:latin typeface="Avenir Book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3830"/>
                          </a:solidFill>
                          <a:latin typeface="Avenir Book"/>
                        </a:rPr>
                        <a:t>held out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3830"/>
                          </a:solidFill>
                          <a:latin typeface="Avenir Book"/>
                        </a:rPr>
                        <a:t>the claim you are making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3830"/>
                          </a:solidFill>
                          <a:latin typeface="Avenir Book"/>
                        </a:rPr>
                        <a:t>typical home</a:t>
                      </a:r>
                    </a:p>
                  </a:txBody>
                  <a:tcPr marL="73152" marR="73152" marT="27432" marB="27432" anchor="ctr">
                    <a:solidFill>
                      <a:srgbClr val="EA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random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random 20 %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tomorrow’s samples look like today’s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fixed library, screening triage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scaffold / cluster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whole chemotypes or clusters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I will be shown new chemotypes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drug design, virtual libraries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time / prospective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everything after a 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I will predict the future of this project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any live campaign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leave-one-group-out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a linker, element, substrate class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I will generalise to a class I never measured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materials, methodology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leave-one-lab-out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a whole instrument or operator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someone else will reproduce this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3830"/>
                          </a:solidFill>
                          <a:latin typeface="Avenir Book"/>
                        </a:rPr>
                        <a:t>assay-heavy 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066605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600" b="1" i="0">
                <a:solidFill>
                  <a:srgbClr val="123830"/>
                </a:solidFill>
                <a:latin typeface="Avenir Book"/>
              </a:rPr>
              <a:t>Choose the split before you see a single score. Write it in the brief. Do not change it afterwards.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No — then designing the data is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325880"/>
            <a:ext cx="25877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72768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E0A526"/>
                </a:solidFill>
                <a:latin typeface="Avenir Book"/>
              </a:rPr>
              <a:t>design of experiments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use when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23830"/>
                </a:solidFill>
                <a:latin typeface="Avenir Book"/>
              </a:rPr>
              <a:t>cheap · parallel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what you do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factorial, D-optimal,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response surface</a:t>
            </a:r>
          </a:p>
          <a:p>
            <a:endParaRPr sz="1300" b="0" i="0">
              <a:solidFill>
                <a:srgbClr val="123830"/>
              </a:solidFill>
              <a:latin typeface="Avenir Book"/>
            </a:endParaRPr>
          </a:p>
          <a:p>
            <a:r>
              <a:rPr sz="1100" b="0" i="1">
                <a:solidFill>
                  <a:srgbClr val="777777"/>
                </a:solidFill>
                <a:latin typeface="Avenir Book"/>
              </a:rPr>
              <a:t>Tue — Schmidt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25880"/>
            <a:ext cx="25877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572768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6FBA"/>
                </a:solidFill>
                <a:latin typeface="Avenir Book"/>
              </a:rPr>
              <a:t>active learning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use when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23830"/>
                </a:solidFill>
                <a:latin typeface="Avenir Book"/>
              </a:rPr>
              <a:t>expensive · you want a model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what you do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query where the model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is uncertain</a:t>
            </a:r>
          </a:p>
          <a:p>
            <a:endParaRPr sz="1300" b="0" i="0">
              <a:solidFill>
                <a:srgbClr val="123830"/>
              </a:solidFill>
              <a:latin typeface="Avenir Book"/>
            </a:endParaRPr>
          </a:p>
          <a:p>
            <a:r>
              <a:rPr sz="1100" b="0" i="1">
                <a:solidFill>
                  <a:srgbClr val="777777"/>
                </a:solidFill>
                <a:latin typeface="Avenir Book"/>
              </a:rPr>
              <a:t>Wed — Schleinitz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25880"/>
            <a:ext cx="25877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572768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8A98"/>
                </a:solidFill>
                <a:latin typeface="Avenir Book"/>
              </a:rPr>
              <a:t>Bayesian optimisation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use when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23830"/>
                </a:solidFill>
                <a:latin typeface="Avenir Book"/>
              </a:rPr>
              <a:t>expensive · you want the best point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what you do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surrogate + acquisition,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EI / UCB</a:t>
            </a:r>
          </a:p>
          <a:p>
            <a:endParaRPr sz="1300" b="0" i="0">
              <a:solidFill>
                <a:srgbClr val="123830"/>
              </a:solidFill>
              <a:latin typeface="Avenir Book"/>
            </a:endParaRPr>
          </a:p>
          <a:p>
            <a:r>
              <a:rPr sz="1100" b="0" i="1">
                <a:solidFill>
                  <a:srgbClr val="777777"/>
                </a:solidFill>
                <a:latin typeface="Avenir Book"/>
              </a:rPr>
              <a:t>Tue — Schleinitz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325880"/>
            <a:ext cx="25877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8" y="1572768"/>
            <a:ext cx="21945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00000"/>
                </a:solidFill>
                <a:latin typeface="Avenir Book"/>
              </a:rPr>
              <a:t>literature extraction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use when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23830"/>
                </a:solidFill>
                <a:latin typeface="Avenir Book"/>
              </a:rPr>
              <a:t>the data exists, just not in a table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777777"/>
                </a:solidFill>
                <a:latin typeface="Avenir Book"/>
              </a:rPr>
              <a:t>what you do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RAG over PDFs and SI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+ hard validation</a:t>
            </a:r>
          </a:p>
          <a:p>
            <a:endParaRPr sz="1300" b="0" i="0">
              <a:solidFill>
                <a:srgbClr val="123830"/>
              </a:solidFill>
              <a:latin typeface="Avenir Book"/>
            </a:endParaRPr>
          </a:p>
          <a:p>
            <a:r>
              <a:rPr sz="1100" b="0" i="1">
                <a:solidFill>
                  <a:srgbClr val="777777"/>
                </a:solidFill>
                <a:latin typeface="Avenir Book"/>
              </a:rPr>
              <a:t>Thu W1 — Wahler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26280"/>
            <a:ext cx="10789920" cy="45720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400" b="0" i="1">
                <a:solidFill>
                  <a:srgbClr val="777777"/>
                </a:solidFill>
                <a:latin typeface="Avenir Book"/>
              </a:rPr>
              <a:t>…and the fifth option: borrow a pretrained model and fine-tune on the 200 points you have. Often correct. Takes an afternoon.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20640"/>
            <a:ext cx="107899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600" b="1" i="0">
                <a:solidFill>
                  <a:srgbClr val="123830"/>
                </a:solidFill>
                <a:latin typeface="Avenir Book"/>
              </a:rPr>
              <a:t>Whichever you pick, the deliverable is the same: name the first 24 experiments. Not a strategy — the list.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Defining baselines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777777"/>
                </a:solidFill>
                <a:latin typeface="Avenir Book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35608"/>
            <a:ext cx="35204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777777"/>
                </a:solidFill>
                <a:latin typeface="Avenir Book"/>
              </a:rPr>
              <a:t>predict the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83080"/>
            <a:ext cx="352044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6355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if you cannot beat it, stop and say so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221992"/>
            <a:ext cx="1078992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5800" y="242316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2E6FBA"/>
                </a:solidFill>
                <a:latin typeface="Avenir Boo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41448"/>
            <a:ext cx="35204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2E6FBA"/>
                </a:solidFill>
                <a:latin typeface="Avenir Book"/>
              </a:rPr>
              <a:t>one descriptor + a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352044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cLogP · Hammett σ · tolerance 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6355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beat the number a chemist computes in Excel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227832"/>
            <a:ext cx="1078992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85800" y="34290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1B8A98"/>
                </a:solidFill>
                <a:latin typeface="Avenir 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47288"/>
            <a:ext cx="35204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B8A98"/>
                </a:solidFill>
                <a:latin typeface="Avenir Book"/>
              </a:rPr>
              <a:t>the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94760"/>
            <a:ext cx="352044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what your group does right now, quantified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74720"/>
            <a:ext cx="6355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the only baseline that decides adoption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233672"/>
            <a:ext cx="1078992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85800" y="443484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C00000"/>
                </a:solidFill>
                <a:latin typeface="Avenir Boo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53128"/>
            <a:ext cx="35204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random, at the same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00600"/>
            <a:ext cx="352044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for any project that selects or designs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480560"/>
            <a:ext cx="6355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this is the control that exposes memorisation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239512"/>
            <a:ext cx="10789920" cy="0"/>
          </a:xfrm>
          <a:prstGeom prst="line">
            <a:avLst/>
          </a:prstGeom>
          <a:ln w="63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4592" y="6053328"/>
            <a:ext cx="11795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rgbClr val="777777"/>
                </a:solidFill>
                <a:latin typeface="Avenir Book"/>
              </a:rPr>
              <a:t>Wallach, I.; </a:t>
            </a:r>
            <a:r>
              <a:rPr sz="1100" b="0" i="1" dirty="0" err="1">
                <a:solidFill>
                  <a:srgbClr val="777777"/>
                </a:solidFill>
                <a:latin typeface="Avenir Book"/>
              </a:rPr>
              <a:t>Heifets</a:t>
            </a:r>
            <a:r>
              <a:rPr sz="1100" b="0" i="1" dirty="0">
                <a:solidFill>
                  <a:srgbClr val="777777"/>
                </a:solidFill>
                <a:latin typeface="Avenir Book"/>
              </a:rPr>
              <a:t>, A. J. Chem. Inf. Model. 2018, 58, 916–932.  DOI: 10.1021/acs.jcim.7b00403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Four briefs that would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587752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44752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E6FBA"/>
                </a:solidFill>
                <a:latin typeface="Avenir Book"/>
              </a:rPr>
              <a:t>drug design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question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rank 40 new analogues for hERG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data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340 in-house IC₅₀, ± 0.4 log,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inactives kept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job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ranker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step 4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yes → scaffold split,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hold out 3 chemotypes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baseline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23830"/>
                </a:solidFill>
                <a:latin typeface="Avenir Book"/>
              </a:rPr>
              <a:t>beat cLogP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34440"/>
            <a:ext cx="2587752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444752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B8A98"/>
                </a:solidFill>
                <a:latin typeface="Avenir Book"/>
              </a:rPr>
              <a:t>materials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question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CO₂ uptake for MOFs with unseen linkers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data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CoRE MOF GCMC (12k)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+ 60 measured in-house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job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interpolator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step 4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yes → leave-linker-out,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then transfer to the 60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baseline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23830"/>
                </a:solidFill>
                <a:latin typeface="Avenir Book"/>
              </a:rPr>
              <a:t>beat gravimetric surface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2587752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444752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E0A526"/>
                </a:solidFill>
                <a:latin typeface="Avenir Book"/>
              </a:rPr>
              <a:t>organic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question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pick a better 24-well plate for C–N coupling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data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310 couplings, ± 5 % yield;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failures being recovered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job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ranker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step 4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yes → leave-substrate-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class-out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baseline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23830"/>
                </a:solidFill>
                <a:latin typeface="Avenir Book"/>
              </a:rPr>
              <a:t>beat our standard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234440"/>
            <a:ext cx="2587752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8" y="1444752"/>
            <a:ext cx="21945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00000"/>
                </a:solidFill>
                <a:latin typeface="Avenir Book"/>
              </a:rPr>
              <a:t>computational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question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Δ-learn DFT barriers from GFN2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data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2,000 GFN2 geometries;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40 DFT barriers so far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job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interpolator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step 4</a:t>
            </a:r>
          </a:p>
          <a:p>
            <a:r>
              <a:rPr sz="1200" b="0" i="0">
                <a:solidFill>
                  <a:srgbClr val="123830"/>
                </a:solidFill>
                <a:latin typeface="Avenir Book"/>
              </a:rPr>
              <a:t>no → active learning,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123830"/>
                </a:solidFill>
                <a:latin typeface="Avenir Book"/>
              </a:rPr>
              <a:t>200 more DFT points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777777"/>
                </a:solidFill>
                <a:latin typeface="Avenir Book"/>
              </a:rPr>
              <a:t>baseline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123830"/>
                </a:solidFill>
                <a:latin typeface="Avenir Book"/>
              </a:rPr>
              <a:t>beat plain GFN2 barriers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Six ways this goes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325880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duplicates across the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353312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same compound, two names, two salts, two tautomers — deduplicate on InChIKey BEFORE splitting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tuning on the test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066544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every look costs you a little of it; keep a validation set, touch the test set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52344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descriptors that 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79776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batch, date, plate position, sample ID — if MW is your top SHAP feature, ask 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5576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65576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extrapolation dressed as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493008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report where the test points sit relative to training; outside the hull it is a guess with a decimal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78808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78808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metric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2062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optimising RMSE when the job needed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4572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Avenir Book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402336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no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919472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still, somehow, the most common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" y="6053328"/>
            <a:ext cx="11795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Avenir Book"/>
              </a:rPr>
              <a:t>Artrith, N. et al. Best practices in machine learning for chemistry. Nat. Chem. 2021, 13, 505–508.  DOI: 10.1038/s41557-021-00716-z  ·  two pages, free, read it tonight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691640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1 · A question worth answering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50008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2 · The data you actually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08376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3 · What the model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666744"/>
            <a:ext cx="877824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777777"/>
                </a:solidFill>
                <a:latin typeface="Avenir Book"/>
              </a:rPr>
              <a:t>4 · Enough data, or not?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25112"/>
            <a:ext cx="877824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1" i="0" dirty="0">
                <a:solidFill>
                  <a:srgbClr val="123830"/>
                </a:solidFill>
                <a:latin typeface="Avenir Book"/>
              </a:rPr>
              <a:t>5 · </a:t>
            </a:r>
            <a:r>
              <a:rPr lang="en-US" sz="1900" b="1" dirty="0">
                <a:solidFill>
                  <a:srgbClr val="123830"/>
                </a:solidFill>
                <a:latin typeface="Avenir Book"/>
              </a:rPr>
              <a:t>Flash talks or peer-reviewed ? </a:t>
            </a:r>
            <a:endParaRPr sz="1900" b="1" i="0" dirty="0">
              <a:solidFill>
                <a:srgbClr val="123830"/>
              </a:solidFill>
              <a:latin typeface="Avenir 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Next Hackathon Sessions</a:t>
            </a:r>
            <a:endParaRPr sz="28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2549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this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549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23830"/>
                </a:solidFill>
                <a:latin typeface="Avenir Book"/>
              </a:rPr>
              <a:t>kickoff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4901" y="3871139"/>
            <a:ext cx="100872" cy="0"/>
          </a:xfrm>
          <a:prstGeom prst="line">
            <a:avLst/>
          </a:prstGeom>
          <a:ln w="127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4773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worksheet + one 5-min</a:t>
            </a:r>
          </a:p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conversation with a 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4773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2E6FBA"/>
                </a:solidFill>
                <a:latin typeface="Avenir Book"/>
              </a:rPr>
              <a:t>framing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27125" y="3871139"/>
            <a:ext cx="100872" cy="0"/>
          </a:xfrm>
          <a:prstGeom prst="line">
            <a:avLst/>
          </a:prstGeom>
          <a:ln w="127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36997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data and split only.</a:t>
            </a:r>
          </a:p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no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6997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B8A98"/>
                </a:solidFill>
                <a:latin typeface="Avenir Book"/>
              </a:rPr>
              <a:t>afternoon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19349" y="3871139"/>
            <a:ext cx="100872" cy="0"/>
          </a:xfrm>
          <a:prstGeom prst="line">
            <a:avLst/>
          </a:prstGeom>
          <a:ln w="127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29221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baseline, then</a:t>
            </a:r>
          </a:p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your first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9221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E0A526"/>
                </a:solidFill>
                <a:latin typeface="Avenir Book"/>
              </a:rPr>
              <a:t>afternoon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11573" y="3871139"/>
            <a:ext cx="100872" cy="0"/>
          </a:xfrm>
          <a:prstGeom prst="line">
            <a:avLst/>
          </a:prstGeom>
          <a:ln w="127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21445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honest evaluation,</a:t>
            </a:r>
          </a:p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then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1445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venir Book"/>
              </a:rPr>
              <a:t>afternoon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3797" y="3871139"/>
            <a:ext cx="100872" cy="0"/>
          </a:xfrm>
          <a:prstGeom prst="line">
            <a:avLst/>
          </a:prstGeom>
          <a:ln w="127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13669" y="3185339"/>
            <a:ext cx="167335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5 slides · 5 minutes</a:t>
            </a:r>
          </a:p>
          <a:p>
            <a:pPr algn="ctr"/>
            <a:r>
              <a:rPr sz="1200" b="0" i="0">
                <a:solidFill>
                  <a:srgbClr val="123830"/>
                </a:solidFill>
                <a:latin typeface="Avenir Book"/>
              </a:rPr>
              <a:t>hard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3669" y="2801291"/>
            <a:ext cx="1673352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23830"/>
                </a:solidFill>
                <a:latin typeface="Avenir Book"/>
              </a:rPr>
              <a:t>flash talks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Five slides. Five minutes. In this order.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132588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2E6FBA"/>
                </a:solidFill>
                <a:latin typeface="Avenir Boo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44168"/>
            <a:ext cx="49377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23830"/>
                </a:solidFill>
                <a:latin typeface="Avenir Book"/>
              </a:rPr>
              <a:t>the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73352"/>
            <a:ext cx="493776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verbatim from your worksheet, in large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435608"/>
            <a:ext cx="13258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2E6FBA"/>
                </a:solidFill>
                <a:latin typeface="Avenir Book"/>
              </a:rPr>
              <a:t>45 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3055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1B8A98"/>
                </a:solidFill>
                <a:latin typeface="Avenir Boo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49377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23830"/>
                </a:solidFill>
                <a:latin typeface="Avenir Book"/>
              </a:rPr>
              <a:t>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78024"/>
            <a:ext cx="493776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N · label · error · negatives — one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40280"/>
            <a:ext cx="13258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1B8A98"/>
                </a:solidFill>
                <a:latin typeface="Avenir Book"/>
              </a:rPr>
              <a:t>45 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935224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E0A526"/>
                </a:solidFill>
                <a:latin typeface="Avenir 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53512"/>
            <a:ext cx="49377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23830"/>
                </a:solidFill>
                <a:latin typeface="Avenir Book"/>
              </a:rPr>
              <a:t>the split, or the first 24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82696"/>
            <a:ext cx="493776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your actual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044952"/>
            <a:ext cx="13258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E0A526"/>
                </a:solidFill>
                <a:latin typeface="Avenir Book"/>
              </a:rPr>
              <a:t>90 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3989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C00000"/>
                </a:solidFill>
                <a:latin typeface="Avenir Boo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58184"/>
            <a:ext cx="49377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23830"/>
                </a:solidFill>
                <a:latin typeface="Avenir Book"/>
              </a:rPr>
              <a:t>baseline vs.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87368"/>
            <a:ext cx="493776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two bars minimum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849624"/>
            <a:ext cx="13258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C00000"/>
                </a:solidFill>
                <a:latin typeface="Avenir Book"/>
              </a:rPr>
              <a:t>90 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44568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0" i="0">
                <a:solidFill>
                  <a:srgbClr val="777777"/>
                </a:solidFill>
                <a:latin typeface="Avenir Book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62856"/>
            <a:ext cx="493776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23830"/>
                </a:solidFill>
                <a:latin typeface="Avenir Book"/>
              </a:rPr>
              <a:t>what would change your mind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92040"/>
            <a:ext cx="493776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Avenir Book"/>
              </a:rPr>
              <a:t>and what three more weeks would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654296"/>
            <a:ext cx="132588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777777"/>
                </a:solidFill>
                <a:latin typeface="Avenir Book"/>
              </a:rPr>
              <a:t>30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40680"/>
            <a:ext cx="10652760" cy="45720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500" b="1" i="0">
                <a:solidFill>
                  <a:srgbClr val="123830"/>
                </a:solidFill>
                <a:latin typeface="Avenir Book"/>
              </a:rPr>
              <a:t>“It did not work, and here is the diagnosis” is a strong talk. No outline slide. No history of ML.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35915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>
                <a:solidFill>
                  <a:srgbClr val="123830"/>
                </a:solidFill>
                <a:latin typeface="Avenir Book"/>
              </a:rPr>
              <a:t>What done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1969" cy="457199"/>
          </a:xfrm>
          <a:prstGeom prst="rect">
            <a:avLst/>
          </a:prstGeom>
          <a:solidFill>
            <a:srgbClr val="FB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800">
                <a:solidFill>
                  <a:srgbClr val="123830"/>
                </a:solidFill>
                <a:latin typeface="Avenir Book"/>
              </a:rPr>
              <a:t>AI4ChemicalSciences BootCamp 2026 </a:t>
            </a:r>
          </a:p>
        </p:txBody>
      </p:sp>
      <p:pic>
        <p:nvPicPr>
          <p:cNvPr id="4" name="Picture 3" descr="caltech-new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600200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Avenir Book"/>
              </a:rPr>
              <a:t>tier 1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E6FBA"/>
                </a:solidFill>
                <a:latin typeface="Avenir Book"/>
              </a:rPr>
              <a:t>a brief and a baseline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sharp question, honest data inventory,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baseline measured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B8A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Avenir Book"/>
              </a:rPr>
              <a:t>tier 2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B8A98"/>
                </a:solidFill>
                <a:latin typeface="Avenir Book"/>
              </a:rPr>
              <a:t>+ one model on your own split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and a number you are willing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to defend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45643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77777"/>
                </a:solidFill>
                <a:latin typeface="Avenir Book"/>
              </a:rPr>
              <a:t>tier 3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E0A526"/>
                </a:solidFill>
                <a:latin typeface="Avenir Book"/>
              </a:rPr>
              <a:t>+ the diagnosis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why it worked, or why it did not</a:t>
            </a:r>
          </a:p>
          <a:p>
            <a:r>
              <a:rPr sz="1300" b="0" i="0">
                <a:solidFill>
                  <a:srgbClr val="123830"/>
                </a:solidFill>
                <a:latin typeface="Avenir Book"/>
              </a:rPr>
              <a:t>— rare in three afternoons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652760" cy="285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1">
                <a:solidFill>
                  <a:srgbClr val="777777"/>
                </a:solidFill>
                <a:latin typeface="Avenir Book"/>
              </a:rPr>
              <a:t>all three are a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10652760" cy="1143000"/>
          </a:xfrm>
          <a:prstGeom prst="roundRect">
            <a:avLst>
              <a:gd name="adj" fmla="val 5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800" b="1" i="0">
                <a:solidFill>
                  <a:srgbClr val="123830"/>
                </a:solidFill>
                <a:latin typeface="Avenir Book"/>
              </a:rPr>
              <a:t>You are not practising how to fit a model.</a:t>
            </a:r>
          </a:p>
          <a:p>
            <a:pPr algn="ctr"/>
            <a:r>
              <a:rPr sz="1800" b="1" i="0">
                <a:solidFill>
                  <a:srgbClr val="123830"/>
                </a:solidFill>
                <a:latin typeface="Avenir Book"/>
              </a:rPr>
              <a:t>You are practising how to decide what is worth fitting —</a:t>
            </a:r>
          </a:p>
          <a:p>
            <a:pPr algn="ctr"/>
            <a:r>
              <a:rPr sz="1800" b="1" i="0">
                <a:solidFill>
                  <a:srgbClr val="123830"/>
                </a:solidFill>
                <a:latin typeface="Avenir Book"/>
              </a:rPr>
              <a:t>and that is the only part of this week nobody can hand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19113</TotalTime>
  <Words>5379</Words>
  <Application>Microsoft Macintosh PowerPoint</Application>
  <PresentationFormat>Widescreen</PresentationFormat>
  <Paragraphs>703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Schleinitz, Jules</dc:creator>
  <cp:lastModifiedBy>Schleinitz, Jules</cp:lastModifiedBy>
  <cp:revision>95</cp:revision>
  <dcterms:created xsi:type="dcterms:W3CDTF">2026-07-17T19:13:41Z</dcterms:created>
  <dcterms:modified xsi:type="dcterms:W3CDTF">2026-08-19T06:09:05Z</dcterms:modified>
</cp:coreProperties>
</file>