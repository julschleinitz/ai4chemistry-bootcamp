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602"/>
    <p:restoredTop sz="94658"/>
  </p:normalViewPr>
  <p:slideViewPr>
    <p:cSldViewPr snapToGrid="0">
      <p:cViewPr>
        <p:scale>
          <a:sx n="79" d="100"/>
          <a:sy n="79" d="100"/>
        </p:scale>
        <p:origin x="240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5DCDC-0AFE-B43F-4146-525978DCC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F51C80-FDC8-CDC0-E4C3-2061DB70A9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DC98D-FD03-7323-E1FE-57C83BE6B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BD227-87D5-184D-BCC1-44952D45E751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F71CE-865D-96D6-E23B-963AD0C3F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F3B00-290C-569D-574A-B7257022D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8AED-E344-FC4A-9C50-D87DAA1E3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3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325E1-25E9-9E90-27D6-F3D54D283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A1737-4314-AD4D-9D75-F7C6DB082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DE291-79E7-888F-3798-01C484250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BD227-87D5-184D-BCC1-44952D45E751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AE1B8-1972-6F3E-B2A4-36CCA5E6B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DC2B3-3D26-35A6-B40E-9A00724DF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8AED-E344-FC4A-9C50-D87DAA1E3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610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837CC-6437-8032-726B-517AB50A8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900537-5A81-3DB0-91C3-708AD6FB2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83251-E3BB-9FEC-573B-B9A1EC624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BD227-87D5-184D-BCC1-44952D45E751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C4C23-6E1A-82DE-406D-6C5DBA8AB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89911-8820-3F31-A04D-14A0FBB93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8AED-E344-FC4A-9C50-D87DAA1E3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226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CCF76-906E-E700-50E0-634C55180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39601-9F53-580F-4B89-FF8EF3BC01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AF6F76-DABD-784C-1CB0-5709C08D9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F93F39-4F83-755D-098F-0EB588FEF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BD227-87D5-184D-BCC1-44952D45E751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8B2EB-2254-FACC-EA4C-F0925E948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93A03-6AAC-6541-D7C4-541FB541C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8AED-E344-FC4A-9C50-D87DAA1E3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179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6C0F7-A980-AB32-1DEB-89FDF68D9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3EA94-3BAB-E3EF-C43C-B9A97815F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84F0F8-382C-AE8A-35FE-087C1D6D3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2A896-4462-0E33-E0CA-FC0E2FD5C4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45DB03-6573-F23C-4532-A2213E7B2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5AC021-C42B-3BD4-DD23-C9341B060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BD227-87D5-184D-BCC1-44952D45E751}" type="datetimeFigureOut">
              <a:rPr lang="en-US" smtClean="0"/>
              <a:t>8/14/26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AAD1AF-F75E-75F3-58A3-6F7A62EC4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1D17CC-E1D7-FAA2-0C57-C139183A1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8AED-E344-FC4A-9C50-D87DAA1E3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286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836AF-671B-B9CB-89D3-1DFFF7F97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644584-8156-14A0-DF74-398B42B7F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BD227-87D5-184D-BCC1-44952D45E751}" type="datetimeFigureOut">
              <a:rPr lang="en-US" smtClean="0"/>
              <a:t>8/14/26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767B8E-7FC9-376F-CBBF-539BFD9BD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24682-DB0C-558D-CFDC-54A115496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8AED-E344-FC4A-9C50-D87DAA1E3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619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6E78D2-D6A4-E4E5-86D4-8BE4A7EDB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BD227-87D5-184D-BCC1-44952D45E751}" type="datetimeFigureOut">
              <a:rPr lang="en-US" smtClean="0"/>
              <a:t>8/14/26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E27E21-BD9F-64C0-D596-D311F10EF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2DB690-04F3-0B29-94E2-AAAC7AD54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8AED-E344-FC4A-9C50-D87DAA1E3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403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141F4-2E95-D43D-1343-C7B4224D0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EBCCD-2537-57E0-596E-05150D2BD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6AE890-5D8E-DA3F-7BE3-738C0B5CB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B1D094-DC78-793B-7E03-6A22C5E1A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BD227-87D5-184D-BCC1-44952D45E751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00C895-BE9C-9B45-D77F-A64E4EB52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0FBC-14E2-8A93-0E79-D1A7B03AF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8AED-E344-FC4A-9C50-D87DAA1E3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240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B6C2E-A0F8-7545-2500-2396F87E6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0E8985-C562-589B-8278-D5E41A5F2A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5E9108-238E-B416-8706-64772067A2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F25AD0-0089-7C45-0F5B-3A3260EEA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BD227-87D5-184D-BCC1-44952D45E751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86B44-CB6B-C049-E153-C11A772E1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59227D-AD5F-9058-A5F8-D860494C8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8AED-E344-FC4A-9C50-D87DAA1E3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398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51983-9A37-050D-50F6-EC6FBAEC8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7A44AE-4CB7-6853-9DE6-034D40790C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2CDAE-74FD-12AF-5071-1DEF4AB59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BD227-87D5-184D-BCC1-44952D45E751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7FF48-544E-ED9E-6A51-47C7DABC9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7ED5E-E55C-A6BD-D7C8-7409867DC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8AED-E344-FC4A-9C50-D87DAA1E3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810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A78BFE-F55C-7904-54DE-E57AF521EA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F0F6AF-5355-123B-CB3D-3F32A4A50F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4624F-3F4C-A0E3-9583-02D5D9BEA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BD227-87D5-184D-BCC1-44952D45E751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75040-C261-FEAF-3B89-6B6764A93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EEB49-6DEF-023E-571D-C0B01BFB2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3C8AED-E344-FC4A-9C50-D87DAA1E3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846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668716-26D8-8D1C-EA6D-ECA5064CC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B8E9C9-D5D0-934C-CCBF-4DFE36E2C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7B2F8-4722-E596-626D-001A7CF78B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1BD227-87D5-184D-BCC1-44952D45E751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96ED8-350E-517B-B478-FF12C75D8B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C23D7-E536-10E9-8F3C-A602EA0262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3C8AED-E344-FC4A-9C50-D87DAA1E3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73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EB59D-5BEB-F37B-7AF6-FD6E09DC30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Predicting ADMET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7B4E2E-B237-0C3B-C227-8ADC1DCA2C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one-day hackathon on drug discovery data!</a:t>
            </a:r>
          </a:p>
        </p:txBody>
      </p:sp>
    </p:spTree>
    <p:extLst>
      <p:ext uri="{BB962C8B-B14F-4D97-AF65-F5344CB8AC3E}">
        <p14:creationId xmlns:p14="http://schemas.microsoft.com/office/powerpoint/2010/main" val="3794215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1F379-2592-5A0C-00AF-B83768F8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119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are ADMET properties?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EFE54-234B-CDC1-43F7-F2143CAFF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25672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= Absorption (into the blood)</a:t>
            </a:r>
          </a:p>
          <a:p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 = Distribution (where does it go, does it get bound?)</a:t>
            </a:r>
          </a:p>
          <a:p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 = Metabolism (how fast does it get destroyed?)</a:t>
            </a:r>
          </a:p>
          <a:p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 = Excretion (clearance out of the body)</a:t>
            </a:r>
          </a:p>
          <a:p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 = Toxicity (does it get metabolized into something harmful?)</a:t>
            </a:r>
          </a:p>
          <a:p>
            <a:endParaRPr lang="en-US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en-US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indent="0">
              <a:buNone/>
            </a:pPr>
            <a:r>
              <a:rPr lang="en-US" sz="2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Succesful</a:t>
            </a: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drug candidates are not just potent (i.e., bind to the target protein favorably); they also must have favorable ADMET properties.</a:t>
            </a:r>
          </a:p>
        </p:txBody>
      </p:sp>
    </p:spTree>
    <p:extLst>
      <p:ext uri="{BB962C8B-B14F-4D97-AF65-F5344CB8AC3E}">
        <p14:creationId xmlns:p14="http://schemas.microsoft.com/office/powerpoint/2010/main" val="3587135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29615-1011-7A55-F144-E41DF4439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3">
            <a:extLst>
              <a:ext uri="{FF2B5EF4-FFF2-40B4-BE49-F238E27FC236}">
                <a16:creationId xmlns:a16="http://schemas.microsoft.com/office/drawing/2014/main" id="{49FC244C-5226-E0AB-CE9D-55675DF2CF21}"/>
              </a:ext>
            </a:extLst>
          </p:cNvPr>
          <p:cNvSpPr/>
          <p:nvPr/>
        </p:nvSpPr>
        <p:spPr>
          <a:xfrm>
            <a:off x="518160" y="3804421"/>
            <a:ext cx="6858000" cy="868680"/>
          </a:xfrm>
          <a:prstGeom prst="roundRect">
            <a:avLst>
              <a:gd name="adj" fmla="val 10526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D77C5C-EF5E-B4D7-B0C2-7DB80A398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119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79D70-4749-D794-443B-1C2ECDB27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6910"/>
            <a:ext cx="10515600" cy="4533814"/>
          </a:xfrm>
        </p:spPr>
        <p:txBody>
          <a:bodyPr>
            <a:normAutofit/>
          </a:bodyPr>
          <a:lstStyle/>
          <a:p>
            <a:r>
              <a:rPr lang="en-US" sz="2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OpenADMET</a:t>
            </a: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ran a challenge to </a:t>
            </a:r>
            <a:r>
              <a:rPr lang="en-US" sz="2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predct</a:t>
            </a: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the ADMET properties of a drug-discovery campaign from Expansion Therapeutics</a:t>
            </a:r>
          </a:p>
          <a:p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Drugs were targeting myotonic dystrophy, ALS, dementia</a:t>
            </a:r>
          </a:p>
          <a:p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Train on the start of the campaign, test on the end of the campaign</a:t>
            </a:r>
          </a:p>
          <a:p>
            <a:endParaRPr lang="en-US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A0B50AA3-5432-C443-F9C5-A4A3C9BA999D}"/>
              </a:ext>
            </a:extLst>
          </p:cNvPr>
          <p:cNvSpPr/>
          <p:nvPr/>
        </p:nvSpPr>
        <p:spPr>
          <a:xfrm>
            <a:off x="7467600" y="3786687"/>
            <a:ext cx="3840480" cy="868680"/>
          </a:xfrm>
          <a:prstGeom prst="roundRect">
            <a:avLst>
              <a:gd name="adj" fmla="val 10526"/>
            </a:avLst>
          </a:prstGeom>
          <a:solidFill>
            <a:srgbClr val="E8743B"/>
          </a:solidFill>
          <a:ln w="12700">
            <a:solidFill>
              <a:srgbClr val="E87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6259D6C9-9AB8-BAA4-D160-5FA089AE45AA}"/>
              </a:ext>
            </a:extLst>
          </p:cNvPr>
          <p:cNvSpPr/>
          <p:nvPr/>
        </p:nvSpPr>
        <p:spPr>
          <a:xfrm>
            <a:off x="518160" y="3786687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TRAIN — 5,326 molecules</a:t>
            </a:r>
            <a:endParaRPr lang="en-US" sz="170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8136C695-CBB0-5797-D9D1-B75A9C5CE901}"/>
              </a:ext>
            </a:extLst>
          </p:cNvPr>
          <p:cNvSpPr/>
          <p:nvPr/>
        </p:nvSpPr>
        <p:spPr>
          <a:xfrm>
            <a:off x="518160" y="4765095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compound ID  E-0001321</a:t>
            </a:r>
            <a:endParaRPr lang="en-US" sz="12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F2AEB0A6-3D99-F80E-8417-32751C2EABB5}"/>
              </a:ext>
            </a:extLst>
          </p:cNvPr>
          <p:cNvSpPr/>
          <p:nvPr/>
        </p:nvSpPr>
        <p:spPr>
          <a:xfrm>
            <a:off x="4953000" y="4765095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E-0020100  |  E-0020101</a:t>
            </a:r>
            <a:endParaRPr lang="en-US" sz="120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F67C7E64-FF8A-F782-58F5-277E25D19EE2}"/>
              </a:ext>
            </a:extLst>
          </p:cNvPr>
          <p:cNvSpPr/>
          <p:nvPr/>
        </p:nvSpPr>
        <p:spPr>
          <a:xfrm>
            <a:off x="9342120" y="4765095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E-0027239</a:t>
            </a:r>
            <a:endParaRPr lang="en-US" sz="12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9979A3B8-4053-590D-6ECA-CD671479294C}"/>
              </a:ext>
            </a:extLst>
          </p:cNvPr>
          <p:cNvSpPr/>
          <p:nvPr/>
        </p:nvSpPr>
        <p:spPr>
          <a:xfrm>
            <a:off x="7952306" y="3804421"/>
            <a:ext cx="287106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TEST — 2,282 molecules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538903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41D6F-2556-E7FE-2DF2-4A9CCE612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7">
            <a:extLst>
              <a:ext uri="{FF2B5EF4-FFF2-40B4-BE49-F238E27FC236}">
                <a16:creationId xmlns:a16="http://schemas.microsoft.com/office/drawing/2014/main" id="{AFFD9BF3-D215-C351-9861-69D655691DC9}"/>
              </a:ext>
            </a:extLst>
          </p:cNvPr>
          <p:cNvSpPr/>
          <p:nvPr/>
        </p:nvSpPr>
        <p:spPr>
          <a:xfrm>
            <a:off x="679938" y="2844498"/>
            <a:ext cx="2606040" cy="1331316"/>
          </a:xfrm>
          <a:prstGeom prst="roundRect">
            <a:avLst>
              <a:gd name="adj" fmla="val 695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CA8F1C-F9A8-DBE0-845C-7B3742ED1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119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Your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8F29A-CC40-4CBC-BAFD-DD7C7251F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6910"/>
            <a:ext cx="10515600" cy="4533814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Predict the following properties accurately (and accurately estimate how good you are)</a:t>
            </a:r>
          </a:p>
          <a:p>
            <a:endParaRPr lang="en-US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5A18C5E9-AE2F-95C3-4584-F95DA3D9BBC7}"/>
              </a:ext>
            </a:extLst>
          </p:cNvPr>
          <p:cNvSpPr/>
          <p:nvPr/>
        </p:nvSpPr>
        <p:spPr>
          <a:xfrm>
            <a:off x="679938" y="24237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2E7C7B"/>
                </a:solidFill>
                <a:latin typeface="Calibri" pitchFamily="34" charset="0"/>
                <a:ea typeface="Helvetica Neue" panose="02000503000000020004" pitchFamily="2" charset="0"/>
                <a:cs typeface="Calibri" pitchFamily="34" charset="-120"/>
              </a:rPr>
              <a:t>Physicochemical</a:t>
            </a:r>
            <a:endParaRPr lang="en-US" sz="24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F9314257-F007-23D9-6355-8B9B60C260BE}"/>
              </a:ext>
            </a:extLst>
          </p:cNvPr>
          <p:cNvSpPr/>
          <p:nvPr/>
        </p:nvSpPr>
        <p:spPr>
          <a:xfrm>
            <a:off x="862818" y="289923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C49"/>
                </a:solidFill>
                <a:latin typeface="Calibri" pitchFamily="34" charset="0"/>
                <a:ea typeface="Helvetica Neue" panose="02000503000000020004" pitchFamily="2" charset="0"/>
                <a:cs typeface="Calibri" pitchFamily="34" charset="-120"/>
              </a:rPr>
              <a:t>LogD</a:t>
            </a:r>
            <a:endParaRPr lang="en-US" sz="24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E138BF6F-14E9-577E-CF9D-A69E7A54AF8D}"/>
              </a:ext>
            </a:extLst>
          </p:cNvPr>
          <p:cNvSpPr/>
          <p:nvPr/>
        </p:nvSpPr>
        <p:spPr>
          <a:xfrm>
            <a:off x="862818" y="337684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2400" dirty="0">
                <a:solidFill>
                  <a:srgbClr val="6B8A94"/>
                </a:solidFill>
                <a:latin typeface="Calibri" pitchFamily="34" charset="0"/>
                <a:ea typeface="Helvetica Neue" panose="02000503000000020004" pitchFamily="2" charset="0"/>
                <a:cs typeface="Calibri" pitchFamily="34" charset="-120"/>
              </a:rPr>
              <a:t>lipophilicity at pH 7.4</a:t>
            </a:r>
            <a:endParaRPr lang="en-US" sz="24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453CFA0F-C886-F062-4DE3-FEBB6C2FFDCB}"/>
              </a:ext>
            </a:extLst>
          </p:cNvPr>
          <p:cNvSpPr/>
          <p:nvPr/>
        </p:nvSpPr>
        <p:spPr>
          <a:xfrm>
            <a:off x="862818" y="38685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7C7B"/>
                </a:solidFill>
                <a:latin typeface="Calibri" pitchFamily="34" charset="0"/>
                <a:ea typeface="Helvetica Neue" panose="02000503000000020004" pitchFamily="2" charset="0"/>
                <a:cs typeface="Calibri" pitchFamily="34" charset="-120"/>
              </a:rPr>
              <a:t>5,039 measured</a:t>
            </a:r>
            <a:endParaRPr lang="en-US" sz="2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5948AF2F-788A-74A9-06C0-7E64F5CB4917}"/>
              </a:ext>
            </a:extLst>
          </p:cNvPr>
          <p:cNvSpPr/>
          <p:nvPr/>
        </p:nvSpPr>
        <p:spPr>
          <a:xfrm>
            <a:off x="679938" y="4344545"/>
            <a:ext cx="2606040" cy="1331316"/>
          </a:xfrm>
          <a:prstGeom prst="roundRect">
            <a:avLst>
              <a:gd name="adj" fmla="val 695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C924B77A-5AE4-E055-387B-B845CAD6524C}"/>
              </a:ext>
            </a:extLst>
          </p:cNvPr>
          <p:cNvSpPr/>
          <p:nvPr/>
        </p:nvSpPr>
        <p:spPr>
          <a:xfrm>
            <a:off x="862818" y="4454273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C49"/>
                </a:solidFill>
                <a:latin typeface="Calibri" pitchFamily="34" charset="0"/>
                <a:ea typeface="Helvetica Neue" panose="02000503000000020004" pitchFamily="2" charset="0"/>
                <a:cs typeface="Calibri" pitchFamily="34" charset="-120"/>
              </a:rPr>
              <a:t>KSOL</a:t>
            </a:r>
            <a:endParaRPr lang="en-US" sz="24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A933F149-3802-480E-938E-2DC90F85FE49}"/>
              </a:ext>
            </a:extLst>
          </p:cNvPr>
          <p:cNvSpPr/>
          <p:nvPr/>
        </p:nvSpPr>
        <p:spPr>
          <a:xfrm>
            <a:off x="862818" y="4746881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B8A94"/>
                </a:solidFill>
                <a:latin typeface="Calibri" pitchFamily="34" charset="0"/>
                <a:ea typeface="Helvetica Neue" panose="02000503000000020004" pitchFamily="2" charset="0"/>
                <a:cs typeface="Calibri" pitchFamily="34" charset="-120"/>
              </a:rPr>
              <a:t>kinetic solubility</a:t>
            </a:r>
            <a:endParaRPr lang="en-US" sz="240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1850AA99-D268-3AA4-56B6-0B66BCD557F8}"/>
              </a:ext>
            </a:extLst>
          </p:cNvPr>
          <p:cNvSpPr/>
          <p:nvPr/>
        </p:nvSpPr>
        <p:spPr>
          <a:xfrm>
            <a:off x="862818" y="5295507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7C7B"/>
                </a:solidFill>
                <a:latin typeface="Calibri" pitchFamily="34" charset="0"/>
                <a:ea typeface="Helvetica Neue" panose="02000503000000020004" pitchFamily="2" charset="0"/>
                <a:cs typeface="Calibri" pitchFamily="34" charset="-120"/>
              </a:rPr>
              <a:t>5,128 measured</a:t>
            </a:r>
            <a:endParaRPr lang="en-US" sz="2400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43BF6021-5506-F2C6-8D7D-C55E7447B8D4}"/>
              </a:ext>
            </a:extLst>
          </p:cNvPr>
          <p:cNvSpPr/>
          <p:nvPr/>
        </p:nvSpPr>
        <p:spPr>
          <a:xfrm>
            <a:off x="3468858" y="24237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E8743B"/>
                </a:solidFill>
                <a:latin typeface="Calibri" pitchFamily="34" charset="0"/>
                <a:ea typeface="Helvetica Neue" panose="02000503000000020004" pitchFamily="2" charset="0"/>
                <a:cs typeface="Calibri" pitchFamily="34" charset="-120"/>
              </a:rPr>
              <a:t>Metabolism</a:t>
            </a:r>
            <a:endParaRPr lang="en-US" sz="2400" dirty="0"/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D4965BB4-3012-7640-A872-A9162324F10F}"/>
              </a:ext>
            </a:extLst>
          </p:cNvPr>
          <p:cNvSpPr/>
          <p:nvPr/>
        </p:nvSpPr>
        <p:spPr>
          <a:xfrm>
            <a:off x="3468858" y="2846797"/>
            <a:ext cx="2606040" cy="1311885"/>
          </a:xfrm>
          <a:prstGeom prst="roundRect">
            <a:avLst>
              <a:gd name="adj" fmla="val 695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CDBD45BF-BFC8-CE39-9115-3962C54E2279}"/>
              </a:ext>
            </a:extLst>
          </p:cNvPr>
          <p:cNvSpPr/>
          <p:nvPr/>
        </p:nvSpPr>
        <p:spPr>
          <a:xfrm>
            <a:off x="3651738" y="289923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C49"/>
                </a:solidFill>
                <a:latin typeface="Calibri" pitchFamily="34" charset="0"/>
                <a:ea typeface="Helvetica Neue" panose="02000503000000020004" pitchFamily="2" charset="0"/>
                <a:cs typeface="Calibri" pitchFamily="34" charset="-120"/>
              </a:rPr>
              <a:t>HLM CLint</a:t>
            </a:r>
            <a:endParaRPr lang="en-US" sz="2400" dirty="0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7BA69274-F44D-3F58-1D1A-12CEEC51FD01}"/>
              </a:ext>
            </a:extLst>
          </p:cNvPr>
          <p:cNvSpPr/>
          <p:nvPr/>
        </p:nvSpPr>
        <p:spPr>
          <a:xfrm>
            <a:off x="3651738" y="331986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2400" dirty="0">
                <a:solidFill>
                  <a:srgbClr val="6B8A94"/>
                </a:solidFill>
                <a:latin typeface="Calibri" pitchFamily="34" charset="0"/>
                <a:ea typeface="Helvetica Neue" panose="02000503000000020004" pitchFamily="2" charset="0"/>
                <a:cs typeface="Calibri" pitchFamily="34" charset="-120"/>
              </a:rPr>
              <a:t>human liver clearance</a:t>
            </a:r>
            <a:endParaRPr lang="en-US" sz="2400" dirty="0"/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126375AC-BE9F-FC83-2FC0-0B79675AF267}"/>
              </a:ext>
            </a:extLst>
          </p:cNvPr>
          <p:cNvSpPr/>
          <p:nvPr/>
        </p:nvSpPr>
        <p:spPr>
          <a:xfrm>
            <a:off x="3651738" y="3786439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743B"/>
                </a:solidFill>
                <a:latin typeface="Calibri" pitchFamily="34" charset="0"/>
                <a:ea typeface="Helvetica Neue" panose="02000503000000020004" pitchFamily="2" charset="0"/>
                <a:cs typeface="Calibri" pitchFamily="34" charset="-120"/>
              </a:rPr>
              <a:t>3,759 measured</a:t>
            </a:r>
            <a:endParaRPr lang="en-US" sz="2400" dirty="0"/>
          </a:p>
        </p:txBody>
      </p:sp>
      <p:sp>
        <p:nvSpPr>
          <p:cNvPr id="25" name="Shape 16">
            <a:extLst>
              <a:ext uri="{FF2B5EF4-FFF2-40B4-BE49-F238E27FC236}">
                <a16:creationId xmlns:a16="http://schemas.microsoft.com/office/drawing/2014/main" id="{A76E313B-0EFD-61B1-768C-7CDE08E27528}"/>
              </a:ext>
            </a:extLst>
          </p:cNvPr>
          <p:cNvSpPr/>
          <p:nvPr/>
        </p:nvSpPr>
        <p:spPr>
          <a:xfrm>
            <a:off x="3468858" y="4311983"/>
            <a:ext cx="2606040" cy="1363877"/>
          </a:xfrm>
          <a:prstGeom prst="roundRect">
            <a:avLst>
              <a:gd name="adj" fmla="val 695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D60DED49-E914-973B-EC27-29CE9EF62391}"/>
              </a:ext>
            </a:extLst>
          </p:cNvPr>
          <p:cNvSpPr/>
          <p:nvPr/>
        </p:nvSpPr>
        <p:spPr>
          <a:xfrm>
            <a:off x="3651738" y="436084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C49"/>
                </a:solidFill>
                <a:latin typeface="Calibri" pitchFamily="34" charset="0"/>
                <a:ea typeface="Helvetica Neue" panose="02000503000000020004" pitchFamily="2" charset="0"/>
                <a:cs typeface="Calibri" pitchFamily="34" charset="-120"/>
              </a:rPr>
              <a:t>MLM CLint</a:t>
            </a:r>
            <a:endParaRPr lang="en-US" sz="2400" dirty="0"/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2FA96912-64D8-02AA-AA93-C7AF757DA7A2}"/>
              </a:ext>
            </a:extLst>
          </p:cNvPr>
          <p:cNvSpPr/>
          <p:nvPr/>
        </p:nvSpPr>
        <p:spPr>
          <a:xfrm>
            <a:off x="3651738" y="478174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2400" dirty="0">
                <a:solidFill>
                  <a:srgbClr val="6B8A94"/>
                </a:solidFill>
                <a:latin typeface="Calibri" pitchFamily="34" charset="0"/>
                <a:ea typeface="Helvetica Neue" panose="02000503000000020004" pitchFamily="2" charset="0"/>
                <a:cs typeface="Calibri" pitchFamily="34" charset="-120"/>
              </a:rPr>
              <a:t>mouse liver clearance</a:t>
            </a:r>
            <a:endParaRPr lang="en-US" sz="2400" dirty="0"/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DE3E0725-6DC0-2382-A910-A29E97937BB1}"/>
              </a:ext>
            </a:extLst>
          </p:cNvPr>
          <p:cNvSpPr/>
          <p:nvPr/>
        </p:nvSpPr>
        <p:spPr>
          <a:xfrm>
            <a:off x="3651738" y="5322675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743B"/>
                </a:solidFill>
                <a:latin typeface="Calibri" pitchFamily="34" charset="0"/>
                <a:ea typeface="Helvetica Neue" panose="02000503000000020004" pitchFamily="2" charset="0"/>
                <a:cs typeface="Calibri" pitchFamily="34" charset="-120"/>
              </a:rPr>
              <a:t>4,522 measured</a:t>
            </a:r>
            <a:endParaRPr lang="en-US" sz="2400" dirty="0"/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FC3F078-C119-036E-33B0-549EA80D92C4}"/>
              </a:ext>
            </a:extLst>
          </p:cNvPr>
          <p:cNvSpPr/>
          <p:nvPr/>
        </p:nvSpPr>
        <p:spPr>
          <a:xfrm>
            <a:off x="6257778" y="24237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2E7C7B"/>
                </a:solidFill>
                <a:latin typeface="Calibri" pitchFamily="34" charset="0"/>
                <a:ea typeface="Helvetica Neue" panose="02000503000000020004" pitchFamily="2" charset="0"/>
                <a:cs typeface="Calibri" pitchFamily="34" charset="-120"/>
              </a:rPr>
              <a:t>Permeability</a:t>
            </a:r>
            <a:endParaRPr lang="en-US" sz="2400" dirty="0"/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A5B0F508-F41A-F416-BB65-D82BAA2B1A29}"/>
              </a:ext>
            </a:extLst>
          </p:cNvPr>
          <p:cNvSpPr/>
          <p:nvPr/>
        </p:nvSpPr>
        <p:spPr>
          <a:xfrm>
            <a:off x="6257778" y="2851064"/>
            <a:ext cx="2606040" cy="1273468"/>
          </a:xfrm>
          <a:prstGeom prst="roundRect">
            <a:avLst>
              <a:gd name="adj" fmla="val 695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8936A53D-0476-35B2-B471-9BA751234285}"/>
              </a:ext>
            </a:extLst>
          </p:cNvPr>
          <p:cNvSpPr/>
          <p:nvPr/>
        </p:nvSpPr>
        <p:spPr>
          <a:xfrm>
            <a:off x="6440658" y="289923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C49"/>
                </a:solidFill>
                <a:latin typeface="Calibri" pitchFamily="34" charset="0"/>
                <a:ea typeface="Helvetica Neue" panose="02000503000000020004" pitchFamily="2" charset="0"/>
                <a:cs typeface="Calibri" pitchFamily="34" charset="-120"/>
              </a:rPr>
              <a:t>Caco-2 Papp</a:t>
            </a:r>
            <a:endParaRPr lang="en-US" sz="2400" dirty="0"/>
          </a:p>
        </p:txBody>
      </p:sp>
      <p:sp>
        <p:nvSpPr>
          <p:cNvPr id="32" name="Text 23">
            <a:extLst>
              <a:ext uri="{FF2B5EF4-FFF2-40B4-BE49-F238E27FC236}">
                <a16:creationId xmlns:a16="http://schemas.microsoft.com/office/drawing/2014/main" id="{233D0FB5-BE0A-F50C-F317-714A45BEA520}"/>
              </a:ext>
            </a:extLst>
          </p:cNvPr>
          <p:cNvSpPr/>
          <p:nvPr/>
        </p:nvSpPr>
        <p:spPr>
          <a:xfrm>
            <a:off x="6440658" y="3313217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2400" dirty="0">
                <a:solidFill>
                  <a:srgbClr val="6B8A94"/>
                </a:solidFill>
                <a:latin typeface="Calibri" pitchFamily="34" charset="0"/>
                <a:ea typeface="Helvetica Neue" panose="02000503000000020004" pitchFamily="2" charset="0"/>
                <a:cs typeface="Calibri" pitchFamily="34" charset="-120"/>
              </a:rPr>
              <a:t>passive permeability</a:t>
            </a:r>
            <a:endParaRPr lang="en-US" sz="2400" dirty="0"/>
          </a:p>
        </p:txBody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BE24D563-008F-BD21-DD21-E1CD524A0B11}"/>
              </a:ext>
            </a:extLst>
          </p:cNvPr>
          <p:cNvSpPr/>
          <p:nvPr/>
        </p:nvSpPr>
        <p:spPr>
          <a:xfrm>
            <a:off x="6440658" y="37953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7C7B"/>
                </a:solidFill>
                <a:latin typeface="Calibri" pitchFamily="34" charset="0"/>
                <a:ea typeface="Helvetica Neue" panose="02000503000000020004" pitchFamily="2" charset="0"/>
                <a:cs typeface="Calibri" pitchFamily="34" charset="-120"/>
              </a:rPr>
              <a:t>2,157 measured</a:t>
            </a:r>
            <a:endParaRPr lang="en-US" sz="2400" dirty="0"/>
          </a:p>
        </p:txBody>
      </p:sp>
      <p:sp>
        <p:nvSpPr>
          <p:cNvPr id="34" name="Shape 25">
            <a:extLst>
              <a:ext uri="{FF2B5EF4-FFF2-40B4-BE49-F238E27FC236}">
                <a16:creationId xmlns:a16="http://schemas.microsoft.com/office/drawing/2014/main" id="{B51717F3-88EB-2333-24AE-09B260C411E0}"/>
              </a:ext>
            </a:extLst>
          </p:cNvPr>
          <p:cNvSpPr/>
          <p:nvPr/>
        </p:nvSpPr>
        <p:spPr>
          <a:xfrm>
            <a:off x="6257778" y="4311982"/>
            <a:ext cx="2606040" cy="1363877"/>
          </a:xfrm>
          <a:prstGeom prst="roundRect">
            <a:avLst>
              <a:gd name="adj" fmla="val 695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5" name="Text 26">
            <a:extLst>
              <a:ext uri="{FF2B5EF4-FFF2-40B4-BE49-F238E27FC236}">
                <a16:creationId xmlns:a16="http://schemas.microsoft.com/office/drawing/2014/main" id="{666A9ED1-894F-BCEC-7E9E-F7C8896B3527}"/>
              </a:ext>
            </a:extLst>
          </p:cNvPr>
          <p:cNvSpPr/>
          <p:nvPr/>
        </p:nvSpPr>
        <p:spPr>
          <a:xfrm>
            <a:off x="6440658" y="43759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C49"/>
                </a:solidFill>
                <a:latin typeface="Calibri" pitchFamily="34" charset="0"/>
                <a:ea typeface="Helvetica Neue" panose="02000503000000020004" pitchFamily="2" charset="0"/>
                <a:cs typeface="Calibri" pitchFamily="34" charset="-120"/>
              </a:rPr>
              <a:t>Caco-2 Efflux</a:t>
            </a:r>
            <a:endParaRPr lang="en-US" sz="2400" dirty="0"/>
          </a:p>
        </p:txBody>
      </p:sp>
      <p:sp>
        <p:nvSpPr>
          <p:cNvPr id="36" name="Text 27">
            <a:extLst>
              <a:ext uri="{FF2B5EF4-FFF2-40B4-BE49-F238E27FC236}">
                <a16:creationId xmlns:a16="http://schemas.microsoft.com/office/drawing/2014/main" id="{C494065E-82E6-0CCF-934E-84E8A6C6598B}"/>
              </a:ext>
            </a:extLst>
          </p:cNvPr>
          <p:cNvSpPr/>
          <p:nvPr/>
        </p:nvSpPr>
        <p:spPr>
          <a:xfrm>
            <a:off x="6440658" y="4809279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2400" dirty="0">
                <a:solidFill>
                  <a:srgbClr val="6B8A94"/>
                </a:solidFill>
                <a:latin typeface="Calibri" pitchFamily="34" charset="0"/>
                <a:ea typeface="Helvetica Neue" panose="02000503000000020004" pitchFamily="2" charset="0"/>
                <a:cs typeface="Calibri" pitchFamily="34" charset="-120"/>
              </a:rPr>
              <a:t>actively pumped back out</a:t>
            </a:r>
            <a:endParaRPr lang="en-US" sz="2400" dirty="0"/>
          </a:p>
        </p:txBody>
      </p:sp>
      <p:sp>
        <p:nvSpPr>
          <p:cNvPr id="37" name="Text 28">
            <a:extLst>
              <a:ext uri="{FF2B5EF4-FFF2-40B4-BE49-F238E27FC236}">
                <a16:creationId xmlns:a16="http://schemas.microsoft.com/office/drawing/2014/main" id="{781E5E99-32E8-2935-1617-20B2CC00907D}"/>
              </a:ext>
            </a:extLst>
          </p:cNvPr>
          <p:cNvSpPr/>
          <p:nvPr/>
        </p:nvSpPr>
        <p:spPr>
          <a:xfrm>
            <a:off x="6440658" y="5330765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7C7B"/>
                </a:solidFill>
                <a:latin typeface="Calibri" pitchFamily="34" charset="0"/>
                <a:ea typeface="Helvetica Neue" panose="02000503000000020004" pitchFamily="2" charset="0"/>
                <a:cs typeface="Calibri" pitchFamily="34" charset="-120"/>
              </a:rPr>
              <a:t>2,161 measured</a:t>
            </a:r>
            <a:endParaRPr lang="en-US" sz="2400" dirty="0"/>
          </a:p>
        </p:txBody>
      </p:sp>
      <p:sp>
        <p:nvSpPr>
          <p:cNvPr id="38" name="Text 29">
            <a:extLst>
              <a:ext uri="{FF2B5EF4-FFF2-40B4-BE49-F238E27FC236}">
                <a16:creationId xmlns:a16="http://schemas.microsoft.com/office/drawing/2014/main" id="{3DE6AC4A-CAA4-3D15-5421-866E2DA95087}"/>
              </a:ext>
            </a:extLst>
          </p:cNvPr>
          <p:cNvSpPr/>
          <p:nvPr/>
        </p:nvSpPr>
        <p:spPr>
          <a:xfrm>
            <a:off x="9046698" y="24237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E8743B"/>
                </a:solidFill>
                <a:latin typeface="Calibri" pitchFamily="34" charset="0"/>
                <a:ea typeface="Helvetica Neue" panose="02000503000000020004" pitchFamily="2" charset="0"/>
                <a:cs typeface="Calibri" pitchFamily="34" charset="-120"/>
              </a:rPr>
              <a:t>Protein binding</a:t>
            </a:r>
            <a:endParaRPr lang="en-US" sz="2400" dirty="0"/>
          </a:p>
        </p:txBody>
      </p:sp>
      <p:sp>
        <p:nvSpPr>
          <p:cNvPr id="39" name="Shape 30">
            <a:extLst>
              <a:ext uri="{FF2B5EF4-FFF2-40B4-BE49-F238E27FC236}">
                <a16:creationId xmlns:a16="http://schemas.microsoft.com/office/drawing/2014/main" id="{C9381873-6F94-655C-4BC8-B270D9878E88}"/>
              </a:ext>
            </a:extLst>
          </p:cNvPr>
          <p:cNvSpPr/>
          <p:nvPr/>
        </p:nvSpPr>
        <p:spPr>
          <a:xfrm>
            <a:off x="9046698" y="2789508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0" name="Text 31">
            <a:extLst>
              <a:ext uri="{FF2B5EF4-FFF2-40B4-BE49-F238E27FC236}">
                <a16:creationId xmlns:a16="http://schemas.microsoft.com/office/drawing/2014/main" id="{D9E42F0E-F60D-1F24-FDF3-850BDB916ED2}"/>
              </a:ext>
            </a:extLst>
          </p:cNvPr>
          <p:cNvSpPr/>
          <p:nvPr/>
        </p:nvSpPr>
        <p:spPr>
          <a:xfrm>
            <a:off x="9229578" y="289923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C49"/>
                </a:solidFill>
                <a:latin typeface="Calibri" pitchFamily="34" charset="0"/>
                <a:ea typeface="Helvetica Neue" panose="02000503000000020004" pitchFamily="2" charset="0"/>
                <a:cs typeface="Calibri" pitchFamily="34" charset="-120"/>
              </a:rPr>
              <a:t>MPPB</a:t>
            </a:r>
            <a:endParaRPr lang="en-US" sz="2400"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4F4DDE81-2895-1684-0CE7-571E8C3F5497}"/>
              </a:ext>
            </a:extLst>
          </p:cNvPr>
          <p:cNvSpPr/>
          <p:nvPr/>
        </p:nvSpPr>
        <p:spPr>
          <a:xfrm>
            <a:off x="9229578" y="319184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B8A94"/>
                </a:solidFill>
                <a:latin typeface="Calibri" pitchFamily="34" charset="0"/>
                <a:ea typeface="Helvetica Neue" panose="02000503000000020004" pitchFamily="2" charset="0"/>
                <a:cs typeface="Calibri" pitchFamily="34" charset="-120"/>
              </a:rPr>
              <a:t>mouse plasma</a:t>
            </a:r>
            <a:endParaRPr lang="en-US" sz="2400" dirty="0"/>
          </a:p>
        </p:txBody>
      </p:sp>
      <p:sp>
        <p:nvSpPr>
          <p:cNvPr id="42" name="Text 33">
            <a:extLst>
              <a:ext uri="{FF2B5EF4-FFF2-40B4-BE49-F238E27FC236}">
                <a16:creationId xmlns:a16="http://schemas.microsoft.com/office/drawing/2014/main" id="{2C7D1DD5-9F16-0115-0E62-AB13BD06ABE7}"/>
              </a:ext>
            </a:extLst>
          </p:cNvPr>
          <p:cNvSpPr/>
          <p:nvPr/>
        </p:nvSpPr>
        <p:spPr>
          <a:xfrm>
            <a:off x="9229578" y="350274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743B"/>
                </a:solidFill>
                <a:latin typeface="Calibri" pitchFamily="34" charset="0"/>
                <a:ea typeface="Helvetica Neue" panose="02000503000000020004" pitchFamily="2" charset="0"/>
                <a:cs typeface="Calibri" pitchFamily="34" charset="-120"/>
              </a:rPr>
              <a:t>1,302 measured</a:t>
            </a:r>
            <a:endParaRPr lang="en-US" sz="2400" dirty="0"/>
          </a:p>
        </p:txBody>
      </p:sp>
      <p:sp>
        <p:nvSpPr>
          <p:cNvPr id="43" name="Shape 34">
            <a:extLst>
              <a:ext uri="{FF2B5EF4-FFF2-40B4-BE49-F238E27FC236}">
                <a16:creationId xmlns:a16="http://schemas.microsoft.com/office/drawing/2014/main" id="{1ACF1CD9-B18E-EF46-AA45-C2BC1A2199DA}"/>
              </a:ext>
            </a:extLst>
          </p:cNvPr>
          <p:cNvSpPr/>
          <p:nvPr/>
        </p:nvSpPr>
        <p:spPr>
          <a:xfrm>
            <a:off x="9046698" y="3996516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4" name="Text 35">
            <a:extLst>
              <a:ext uri="{FF2B5EF4-FFF2-40B4-BE49-F238E27FC236}">
                <a16:creationId xmlns:a16="http://schemas.microsoft.com/office/drawing/2014/main" id="{0A005339-5A4A-00A7-D279-6F549AFFF6B6}"/>
              </a:ext>
            </a:extLst>
          </p:cNvPr>
          <p:cNvSpPr/>
          <p:nvPr/>
        </p:nvSpPr>
        <p:spPr>
          <a:xfrm>
            <a:off x="9229578" y="410624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C49"/>
                </a:solidFill>
                <a:latin typeface="Calibri" pitchFamily="34" charset="0"/>
                <a:ea typeface="Helvetica Neue" panose="02000503000000020004" pitchFamily="2" charset="0"/>
                <a:cs typeface="Calibri" pitchFamily="34" charset="-120"/>
              </a:rPr>
              <a:t>MBPB</a:t>
            </a:r>
            <a:endParaRPr lang="en-US" sz="2400" dirty="0"/>
          </a:p>
        </p:txBody>
      </p:sp>
      <p:sp>
        <p:nvSpPr>
          <p:cNvPr id="45" name="Text 36">
            <a:extLst>
              <a:ext uri="{FF2B5EF4-FFF2-40B4-BE49-F238E27FC236}">
                <a16:creationId xmlns:a16="http://schemas.microsoft.com/office/drawing/2014/main" id="{CD35D9A7-1B23-4AA6-0B16-DF64CBC8C99A}"/>
              </a:ext>
            </a:extLst>
          </p:cNvPr>
          <p:cNvSpPr/>
          <p:nvPr/>
        </p:nvSpPr>
        <p:spPr>
          <a:xfrm>
            <a:off x="9229578" y="439885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B8A94"/>
                </a:solidFill>
                <a:latin typeface="Calibri" pitchFamily="34" charset="0"/>
                <a:ea typeface="Helvetica Neue" panose="02000503000000020004" pitchFamily="2" charset="0"/>
                <a:cs typeface="Calibri" pitchFamily="34" charset="-120"/>
              </a:rPr>
              <a:t>mouse brain</a:t>
            </a:r>
            <a:endParaRPr lang="en-US" sz="2400" dirty="0"/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584AD6BA-8C76-47FF-8648-3C5AEF81CA87}"/>
              </a:ext>
            </a:extLst>
          </p:cNvPr>
          <p:cNvSpPr/>
          <p:nvPr/>
        </p:nvSpPr>
        <p:spPr>
          <a:xfrm>
            <a:off x="9229578" y="47097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743B"/>
                </a:solidFill>
                <a:latin typeface="Calibri" pitchFamily="34" charset="0"/>
                <a:ea typeface="Helvetica Neue" panose="02000503000000020004" pitchFamily="2" charset="0"/>
                <a:cs typeface="Calibri" pitchFamily="34" charset="-120"/>
              </a:rPr>
              <a:t>975 measured</a:t>
            </a:r>
            <a:endParaRPr lang="en-US" sz="2400" dirty="0"/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F1994D1F-0217-6971-4F94-1767E74D46E0}"/>
              </a:ext>
            </a:extLst>
          </p:cNvPr>
          <p:cNvSpPr/>
          <p:nvPr/>
        </p:nvSpPr>
        <p:spPr>
          <a:xfrm>
            <a:off x="9046698" y="5203524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33DE25A1-C2E6-5870-FDBB-D8D15DD6E0FA}"/>
              </a:ext>
            </a:extLst>
          </p:cNvPr>
          <p:cNvSpPr/>
          <p:nvPr/>
        </p:nvSpPr>
        <p:spPr>
          <a:xfrm>
            <a:off x="9229578" y="53132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C49"/>
                </a:solidFill>
                <a:latin typeface="Calibri" pitchFamily="34" charset="0"/>
                <a:ea typeface="Helvetica Neue" panose="02000503000000020004" pitchFamily="2" charset="0"/>
                <a:cs typeface="Calibri" pitchFamily="34" charset="-120"/>
              </a:rPr>
              <a:t>MGMB</a:t>
            </a:r>
            <a:endParaRPr lang="en-US" sz="2400" dirty="0"/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03CA16DB-C8DB-9E12-EFE0-420AFA8EA70D}"/>
              </a:ext>
            </a:extLst>
          </p:cNvPr>
          <p:cNvSpPr/>
          <p:nvPr/>
        </p:nvSpPr>
        <p:spPr>
          <a:xfrm>
            <a:off x="9229578" y="560586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B8A94"/>
                </a:solidFill>
                <a:latin typeface="Calibri" pitchFamily="34" charset="0"/>
                <a:ea typeface="Helvetica Neue" panose="02000503000000020004" pitchFamily="2" charset="0"/>
                <a:cs typeface="Calibri" pitchFamily="34" charset="-120"/>
              </a:rPr>
              <a:t>mouse muscle</a:t>
            </a:r>
            <a:endParaRPr lang="en-US" sz="2400" dirty="0"/>
          </a:p>
        </p:txBody>
      </p:sp>
      <p:sp>
        <p:nvSpPr>
          <p:cNvPr id="50" name="Text 41">
            <a:extLst>
              <a:ext uri="{FF2B5EF4-FFF2-40B4-BE49-F238E27FC236}">
                <a16:creationId xmlns:a16="http://schemas.microsoft.com/office/drawing/2014/main" id="{1B7868F2-D821-5608-A1CD-9FA511008D0D}"/>
              </a:ext>
            </a:extLst>
          </p:cNvPr>
          <p:cNvSpPr/>
          <p:nvPr/>
        </p:nvSpPr>
        <p:spPr>
          <a:xfrm>
            <a:off x="9229578" y="591675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743B"/>
                </a:solidFill>
                <a:latin typeface="Calibri" pitchFamily="34" charset="0"/>
                <a:ea typeface="Helvetica Neue" panose="02000503000000020004" pitchFamily="2" charset="0"/>
                <a:cs typeface="Calibri" pitchFamily="34" charset="-120"/>
              </a:rPr>
              <a:t>222 measured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98920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68BE5-5831-24B8-5848-BCBE589EE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FCB5A-00D5-E27B-CCC2-4D97C11CA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119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leaderboards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D22C8DD-DBED-D95A-CD37-5889E1BE3094}"/>
              </a:ext>
            </a:extLst>
          </p:cNvPr>
          <p:cNvSpPr/>
          <p:nvPr/>
        </p:nvSpPr>
        <p:spPr>
          <a:xfrm>
            <a:off x="1732037" y="1308058"/>
            <a:ext cx="808892" cy="8088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B049A4-17A2-BB14-499C-F6AD63CD9BA6}"/>
              </a:ext>
            </a:extLst>
          </p:cNvPr>
          <p:cNvSpPr txBox="1"/>
          <p:nvPr/>
        </p:nvSpPr>
        <p:spPr>
          <a:xfrm>
            <a:off x="2716849" y="1389338"/>
            <a:ext cx="22509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Accuracy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79613F5-8629-544C-17AB-D2BFB8849ABE}"/>
              </a:ext>
            </a:extLst>
          </p:cNvPr>
          <p:cNvSpPr/>
          <p:nvPr/>
        </p:nvSpPr>
        <p:spPr>
          <a:xfrm>
            <a:off x="6321447" y="1276489"/>
            <a:ext cx="808892" cy="80889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AF3782-F638-20D9-98EC-D29011E10C97}"/>
              </a:ext>
            </a:extLst>
          </p:cNvPr>
          <p:cNvSpPr txBox="1"/>
          <p:nvPr/>
        </p:nvSpPr>
        <p:spPr>
          <a:xfrm>
            <a:off x="7306259" y="1357769"/>
            <a:ext cx="25907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Calibration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7E88B87-7595-93DA-B68D-9DF474186EEC}"/>
              </a:ext>
            </a:extLst>
          </p:cNvPr>
          <p:cNvSpPr txBox="1">
            <a:spLocks/>
          </p:cNvSpPr>
          <p:nvPr/>
        </p:nvSpPr>
        <p:spPr>
          <a:xfrm>
            <a:off x="1984000" y="2343743"/>
            <a:ext cx="3716634" cy="21735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Metrics on the blinded test set</a:t>
            </a:r>
          </a:p>
          <a:p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Averaged across all endpoints, or for individual ones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2F9AA23-2073-4DB2-1C54-34F327BF8242}"/>
              </a:ext>
            </a:extLst>
          </p:cNvPr>
          <p:cNvSpPr txBox="1">
            <a:spLocks/>
          </p:cNvSpPr>
          <p:nvPr/>
        </p:nvSpPr>
        <p:spPr>
          <a:xfrm>
            <a:off x="6743329" y="2342246"/>
            <a:ext cx="3716634" cy="21735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close your predicted accuracy was to your actual accuracy</a:t>
            </a:r>
          </a:p>
          <a:p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Can you estimate your accuracy well?</a:t>
            </a:r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B115718E-86F1-6ECA-D5AC-FD36A3854823}"/>
              </a:ext>
            </a:extLst>
          </p:cNvPr>
          <p:cNvSpPr txBox="1">
            <a:spLocks/>
          </p:cNvSpPr>
          <p:nvPr/>
        </p:nvSpPr>
        <p:spPr>
          <a:xfrm>
            <a:off x="1732037" y="5733197"/>
            <a:ext cx="8522306" cy="1124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You get 10 submissions to the leaderboard, so having a good validation split may become important! </a:t>
            </a:r>
          </a:p>
        </p:txBody>
      </p:sp>
    </p:spTree>
    <p:extLst>
      <p:ext uri="{BB962C8B-B14F-4D97-AF65-F5344CB8AC3E}">
        <p14:creationId xmlns:p14="http://schemas.microsoft.com/office/powerpoint/2010/main" val="3274412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5CF4E-A652-57D8-FAD8-94ADD46EE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844BD-3183-FBBC-C624-76F10C4EB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0715" y="1941286"/>
            <a:ext cx="9144000" cy="2387600"/>
          </a:xfrm>
        </p:spPr>
        <p:txBody>
          <a:bodyPr/>
          <a:lstStyle/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Let’s make a first submission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70BE37-CEA2-7DA3-ACCB-ECAE3320A7B2}"/>
              </a:ext>
            </a:extLst>
          </p:cNvPr>
          <p:cNvSpPr txBox="1"/>
          <p:nvPr/>
        </p:nvSpPr>
        <p:spPr>
          <a:xfrm>
            <a:off x="3827193" y="1618120"/>
            <a:ext cx="38731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Make your teams!</a:t>
            </a:r>
          </a:p>
        </p:txBody>
      </p:sp>
    </p:spTree>
    <p:extLst>
      <p:ext uri="{BB962C8B-B14F-4D97-AF65-F5344CB8AC3E}">
        <p14:creationId xmlns:p14="http://schemas.microsoft.com/office/powerpoint/2010/main" val="2919453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E8E2E-1FC2-5A5D-BEAD-4343082DB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2F977-170C-48C1-0EA3-EF37D991B9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43198"/>
            <a:ext cx="9144000" cy="1044349"/>
          </a:xfrm>
        </p:spPr>
        <p:txBody>
          <a:bodyPr/>
          <a:lstStyle/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Planning...</a:t>
            </a:r>
          </a:p>
        </p:txBody>
      </p:sp>
    </p:spTree>
    <p:extLst>
      <p:ext uri="{BB962C8B-B14F-4D97-AF65-F5344CB8AC3E}">
        <p14:creationId xmlns:p14="http://schemas.microsoft.com/office/powerpoint/2010/main" val="232211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F88AA-9167-3447-AE37-5F5CC94EC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8E97E-CCF4-BD6B-0E49-9904166E9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119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Questions to frame your brainstorming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AB41CC6-7CBE-D767-9CA3-22B5FE7509D6}"/>
              </a:ext>
            </a:extLst>
          </p:cNvPr>
          <p:cNvSpPr txBox="1">
            <a:spLocks/>
          </p:cNvSpPr>
          <p:nvPr/>
        </p:nvSpPr>
        <p:spPr>
          <a:xfrm>
            <a:off x="838200" y="1157521"/>
            <a:ext cx="10804071" cy="5537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Do you think better molecular </a:t>
            </a:r>
            <a:r>
              <a:rPr lang="en-US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representations</a:t>
            </a: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or better model </a:t>
            </a:r>
            <a:r>
              <a:rPr lang="en-US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architectures</a:t>
            </a: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will be more important for accuracy?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</a:t>
            </a:r>
            <a:r>
              <a:rPr lang="en-US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validation split </a:t>
            </a: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will capture what’s hard about the test set? Is it better to be optimistic in your estimate or pessimistic? </a:t>
            </a:r>
          </a:p>
          <a:p>
            <a:pPr>
              <a:lnSpc>
                <a:spcPct val="120000"/>
              </a:lnSpc>
            </a:pPr>
            <a:r>
              <a:rPr lang="en-US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Is 5000 datapoints enough? </a:t>
            </a: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approaches might you use to address data scarcity? 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Some endpoints have a lot of data, some not much at all. </a:t>
            </a:r>
            <a:r>
              <a:rPr lang="en-US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How can you address the null values?</a:t>
            </a: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89568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67E62-8BFC-5C2E-563A-7C13260A5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9CBEB-879D-CCEB-BE55-E3456E2A7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119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Some starting points:</a:t>
            </a:r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D5303AA5-F036-ECB4-DA50-6AED7EC224AB}"/>
              </a:ext>
            </a:extLst>
          </p:cNvPr>
          <p:cNvSpPr/>
          <p:nvPr/>
        </p:nvSpPr>
        <p:spPr>
          <a:xfrm>
            <a:off x="1463709" y="1391255"/>
            <a:ext cx="2879692" cy="2037745"/>
          </a:xfrm>
          <a:prstGeom prst="roundRect">
            <a:avLst>
              <a:gd name="adj" fmla="val 695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4B1700-A13F-2941-E0CF-0AC7A5DA65B9}"/>
              </a:ext>
            </a:extLst>
          </p:cNvPr>
          <p:cNvSpPr txBox="1"/>
          <p:nvPr/>
        </p:nvSpPr>
        <p:spPr>
          <a:xfrm>
            <a:off x="2004573" y="1601611"/>
            <a:ext cx="18624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Validation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60FC7D3-630B-1FDA-3AEF-415101D375EF}"/>
              </a:ext>
            </a:extLst>
          </p:cNvPr>
          <p:cNvSpPr txBox="1">
            <a:spLocks/>
          </p:cNvSpPr>
          <p:nvPr/>
        </p:nvSpPr>
        <p:spPr>
          <a:xfrm>
            <a:off x="1878976" y="2124831"/>
            <a:ext cx="2049157" cy="8566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Design your own split!</a:t>
            </a:r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E5D9A29E-E6C5-33FD-BAB9-B7D59D50C0F0}"/>
              </a:ext>
            </a:extLst>
          </p:cNvPr>
          <p:cNvSpPr/>
          <p:nvPr/>
        </p:nvSpPr>
        <p:spPr>
          <a:xfrm>
            <a:off x="4689838" y="1391255"/>
            <a:ext cx="2879692" cy="2037745"/>
          </a:xfrm>
          <a:prstGeom prst="roundRect">
            <a:avLst>
              <a:gd name="adj" fmla="val 695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0A6C1E-51FE-F2A9-E43C-0F3D22D79283}"/>
              </a:ext>
            </a:extLst>
          </p:cNvPr>
          <p:cNvSpPr txBox="1"/>
          <p:nvPr/>
        </p:nvSpPr>
        <p:spPr>
          <a:xfrm>
            <a:off x="5036275" y="1634268"/>
            <a:ext cx="2186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Descriptors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C635407-5193-772B-A45F-1B2F87A0CC2B}"/>
              </a:ext>
            </a:extLst>
          </p:cNvPr>
          <p:cNvSpPr txBox="1">
            <a:spLocks/>
          </p:cNvSpPr>
          <p:nvPr/>
        </p:nvSpPr>
        <p:spPr>
          <a:xfrm>
            <a:off x="4689838" y="2157488"/>
            <a:ext cx="2727681" cy="1157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Vary molecular representations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86F39534-BA9D-196D-71EE-6CC32DC47AAA}"/>
              </a:ext>
            </a:extLst>
          </p:cNvPr>
          <p:cNvSpPr/>
          <p:nvPr/>
        </p:nvSpPr>
        <p:spPr>
          <a:xfrm>
            <a:off x="7830367" y="1391255"/>
            <a:ext cx="2879692" cy="2037745"/>
          </a:xfrm>
          <a:prstGeom prst="roundRect">
            <a:avLst>
              <a:gd name="adj" fmla="val 695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827077-65D0-1B64-4A3A-4F66780F520C}"/>
              </a:ext>
            </a:extLst>
          </p:cNvPr>
          <p:cNvSpPr txBox="1"/>
          <p:nvPr/>
        </p:nvSpPr>
        <p:spPr>
          <a:xfrm>
            <a:off x="8176804" y="1634268"/>
            <a:ext cx="20681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Pretraining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82F80C0-64BA-9C3F-D21A-61CE8F77F73C}"/>
              </a:ext>
            </a:extLst>
          </p:cNvPr>
          <p:cNvSpPr txBox="1">
            <a:spLocks/>
          </p:cNvSpPr>
          <p:nvPr/>
        </p:nvSpPr>
        <p:spPr>
          <a:xfrm>
            <a:off x="7830367" y="2157488"/>
            <a:ext cx="2727681" cy="1157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Chemeleon</a:t>
            </a:r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</a:t>
            </a:r>
            <a:r>
              <a:rPr lang="en-US" sz="2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TabPFN</a:t>
            </a:r>
            <a:endParaRPr lang="en-US" sz="2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F8A03A18-CA69-C2F1-3728-12859DCC68C8}"/>
              </a:ext>
            </a:extLst>
          </p:cNvPr>
          <p:cNvSpPr/>
          <p:nvPr/>
        </p:nvSpPr>
        <p:spPr>
          <a:xfrm>
            <a:off x="1463709" y="3788230"/>
            <a:ext cx="2879692" cy="2037745"/>
          </a:xfrm>
          <a:prstGeom prst="roundRect">
            <a:avLst>
              <a:gd name="adj" fmla="val 695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089216-DDC6-048F-D686-D73B3DB8F71F}"/>
              </a:ext>
            </a:extLst>
          </p:cNvPr>
          <p:cNvSpPr txBox="1"/>
          <p:nvPr/>
        </p:nvSpPr>
        <p:spPr>
          <a:xfrm>
            <a:off x="2051605" y="4062691"/>
            <a:ext cx="17684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Multitask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518DCE14-AD77-0D55-999E-E180FD4597C5}"/>
              </a:ext>
            </a:extLst>
          </p:cNvPr>
          <p:cNvSpPr txBox="1">
            <a:spLocks/>
          </p:cNvSpPr>
          <p:nvPr/>
        </p:nvSpPr>
        <p:spPr>
          <a:xfrm>
            <a:off x="1463709" y="4554463"/>
            <a:ext cx="2727681" cy="1157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GNNs + combining outputs together</a:t>
            </a: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D8810C99-B267-FEF5-9347-9872C1DB4EFD}"/>
              </a:ext>
            </a:extLst>
          </p:cNvPr>
          <p:cNvSpPr/>
          <p:nvPr/>
        </p:nvSpPr>
        <p:spPr>
          <a:xfrm>
            <a:off x="4689838" y="3802140"/>
            <a:ext cx="2879692" cy="2037745"/>
          </a:xfrm>
          <a:prstGeom prst="roundRect">
            <a:avLst>
              <a:gd name="adj" fmla="val 695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26EB78-252F-D673-6C9C-9D6660A982A3}"/>
              </a:ext>
            </a:extLst>
          </p:cNvPr>
          <p:cNvSpPr txBox="1"/>
          <p:nvPr/>
        </p:nvSpPr>
        <p:spPr>
          <a:xfrm>
            <a:off x="4875942" y="4013907"/>
            <a:ext cx="25074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External Data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E6A2EFFA-1076-338C-780D-E8A586E8C992}"/>
              </a:ext>
            </a:extLst>
          </p:cNvPr>
          <p:cNvSpPr txBox="1">
            <a:spLocks/>
          </p:cNvSpPr>
          <p:nvPr/>
        </p:nvSpPr>
        <p:spPr>
          <a:xfrm>
            <a:off x="4689838" y="4568373"/>
            <a:ext cx="2727681" cy="1157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Integrating outside datasets</a:t>
            </a:r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95E579EE-622B-45AF-59FE-211B534483A3}"/>
              </a:ext>
            </a:extLst>
          </p:cNvPr>
          <p:cNvSpPr/>
          <p:nvPr/>
        </p:nvSpPr>
        <p:spPr>
          <a:xfrm>
            <a:off x="7915967" y="3788230"/>
            <a:ext cx="2879692" cy="2037745"/>
          </a:xfrm>
          <a:prstGeom prst="roundRect">
            <a:avLst>
              <a:gd name="adj" fmla="val 695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DBF876-1563-7EA3-E0C9-568797B5F7B7}"/>
              </a:ext>
            </a:extLst>
          </p:cNvPr>
          <p:cNvSpPr txBox="1"/>
          <p:nvPr/>
        </p:nvSpPr>
        <p:spPr>
          <a:xfrm>
            <a:off x="8491457" y="4013907"/>
            <a:ext cx="2066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Ensembles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7CBD97FA-7EA8-E220-DA0A-84E85709EBA0}"/>
              </a:ext>
            </a:extLst>
          </p:cNvPr>
          <p:cNvSpPr txBox="1">
            <a:spLocks/>
          </p:cNvSpPr>
          <p:nvPr/>
        </p:nvSpPr>
        <p:spPr>
          <a:xfrm>
            <a:off x="7915967" y="4554463"/>
            <a:ext cx="2727681" cy="1157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Using multiple model predictions</a:t>
            </a:r>
          </a:p>
        </p:txBody>
      </p:sp>
    </p:spTree>
    <p:extLst>
      <p:ext uri="{BB962C8B-B14F-4D97-AF65-F5344CB8AC3E}">
        <p14:creationId xmlns:p14="http://schemas.microsoft.com/office/powerpoint/2010/main" val="64967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414</Words>
  <Application>Microsoft Macintosh PowerPoint</Application>
  <PresentationFormat>Widescreen</PresentationFormat>
  <Paragraphs>84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Courier New</vt:lpstr>
      <vt:lpstr>Helvetica Neue</vt:lpstr>
      <vt:lpstr>Office Theme</vt:lpstr>
      <vt:lpstr>Predicting ADMET </vt:lpstr>
      <vt:lpstr>What are ADMET properties?</vt:lpstr>
      <vt:lpstr>Your data</vt:lpstr>
      <vt:lpstr>Your goal</vt:lpstr>
      <vt:lpstr>The leaderboards</vt:lpstr>
      <vt:lpstr>Let’s make a first submission</vt:lpstr>
      <vt:lpstr>Planning...</vt:lpstr>
      <vt:lpstr>Questions to frame your brainstorming</vt:lpstr>
      <vt:lpstr>Some starting points: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Anjali Gurajapu</dc:creator>
  <cp:lastModifiedBy>Anjali Gurajapu</cp:lastModifiedBy>
  <cp:revision>1</cp:revision>
  <dcterms:created xsi:type="dcterms:W3CDTF">2026-08-14T11:25:47Z</dcterms:created>
  <dcterms:modified xsi:type="dcterms:W3CDTF">2026-08-14T11:58:52Z</dcterms:modified>
</cp:coreProperties>
</file>