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306" r:id="rId3"/>
    <p:sldId id="287" r:id="rId4"/>
    <p:sldId id="288" r:id="rId5"/>
    <p:sldId id="289" r:id="rId6"/>
    <p:sldId id="290" r:id="rId7"/>
    <p:sldId id="307" r:id="rId8"/>
    <p:sldId id="265" r:id="rId9"/>
    <p:sldId id="295" r:id="rId10"/>
    <p:sldId id="266" r:id="rId11"/>
    <p:sldId id="267" r:id="rId12"/>
    <p:sldId id="296" r:id="rId13"/>
    <p:sldId id="268" r:id="rId14"/>
    <p:sldId id="291" r:id="rId15"/>
    <p:sldId id="258" r:id="rId16"/>
    <p:sldId id="300" r:id="rId17"/>
    <p:sldId id="259" r:id="rId18"/>
    <p:sldId id="260" r:id="rId19"/>
    <p:sldId id="261" r:id="rId20"/>
    <p:sldId id="303" r:id="rId21"/>
    <p:sldId id="304" r:id="rId22"/>
    <p:sldId id="271" r:id="rId23"/>
    <p:sldId id="273" r:id="rId24"/>
    <p:sldId id="274" r:id="rId25"/>
    <p:sldId id="308" r:id="rId26"/>
    <p:sldId id="278" r:id="rId27"/>
    <p:sldId id="272" r:id="rId28"/>
    <p:sldId id="309" r:id="rId29"/>
    <p:sldId id="280" r:id="rId30"/>
    <p:sldId id="281" r:id="rId31"/>
    <p:sldId id="310" r:id="rId32"/>
    <p:sldId id="275" r:id="rId33"/>
    <p:sldId id="282" r:id="rId34"/>
    <p:sldId id="311" r:id="rId35"/>
    <p:sldId id="28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6AB"/>
    <a:srgbClr val="E0A03D"/>
    <a:srgbClr val="B15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459"/>
    <p:restoredTop sz="94641"/>
  </p:normalViewPr>
  <p:slideViewPr>
    <p:cSldViewPr snapToGrid="0" snapToObjects="1">
      <p:cViewPr>
        <p:scale>
          <a:sx n="118" d="100"/>
          <a:sy n="118" d="100"/>
        </p:scale>
        <p:origin x="1040" y="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FF6E1E">
                <a:alpha val="50196"/>
              </a:srgbClr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00000"/>
                    </a:solidFill>
                    <a:latin typeface="Avenir Book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Organic / Inorganic</c:v>
                </c:pt>
                <c:pt idx="1">
                  <c:v>Physical / Electrochemistry</c:v>
                </c:pt>
                <c:pt idx="2">
                  <c:v>Computational / Theoretical</c:v>
                </c:pt>
                <c:pt idx="3">
                  <c:v>ChemE / Materials / Atmospheric</c:v>
                </c:pt>
                <c:pt idx="4">
                  <c:v>Biochem / Drug Discovery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EDA-6A43-9E78-09AA11AE63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00000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6D9F1"/>
            </a:solidFill>
            <a:ln>
              <a:solidFill>
                <a:srgbClr val="333333">
                  <a:alpha val="50000"/>
                </a:srgbClr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00000"/>
                    </a:solidFill>
                    <a:latin typeface="Avenir Book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Beginner</c:v>
                </c:pt>
                <c:pt idx="1">
                  <c:v>Proficient</c:v>
                </c:pt>
                <c:pt idx="2">
                  <c:v>Expert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33333">
                        <a:alpha val="50000"/>
                      </a:srgb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52A-8342-B5D6-BF22CF3996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00000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6E1E">
                <a:alpha val="50196"/>
              </a:srgbClr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00000"/>
                    </a:solidFill>
                    <a:latin typeface="Avenir Book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RDKit</c:v>
                </c:pt>
                <c:pt idx="1">
                  <c:v>scikit-learn</c:v>
                </c:pt>
                <c:pt idx="2">
                  <c:v>PyTorch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12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C5E-EF42-8B8B-FDF5FFC11B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00000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6D9F1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0F62-4340-B91E-49765F23886A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0F62-4340-B91E-49765F23886A}"/>
              </c:ext>
            </c:extLst>
          </c:dPt>
          <c:dPt>
            <c:idx val="2"/>
            <c:invertIfNegative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0F62-4340-B91E-49765F23886A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0F62-4340-B91E-49765F23886A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0F62-4340-B91E-49765F23886A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00000"/>
                    </a:solidFill>
                    <a:latin typeface="Avenir Book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Claude</c:v>
                </c:pt>
                <c:pt idx="1">
                  <c:v>Codex</c:v>
                </c:pt>
                <c:pt idx="2">
                  <c:v>No assistant</c:v>
                </c:pt>
                <c:pt idx="3">
                  <c:v>Gemini</c:v>
                </c:pt>
                <c:pt idx="4">
                  <c:v>Copilot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0F62-4340-B91E-49765F23886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00000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5EDDF-E01B-B64F-8B9E-6221607DF886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9EC2F-39BC-E547-8AB4-81457C39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63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9EC2F-39BC-E547-8AB4-81457C398F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3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9EC2F-39BC-E547-8AB4-81457C398F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27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9EC2F-39BC-E547-8AB4-81457C398F5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20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9EC2F-39BC-E547-8AB4-81457C398F5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48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9EC2F-39BC-E547-8AB4-81457C398F5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17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9EC2F-39BC-E547-8AB4-81457C398F5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58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F68D6-1F7C-5451-74A2-8A3705E9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00B81-CEDA-BAA4-915E-42E4497E1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32FEA-6F81-F6BF-CCB8-0039ADE9E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8E08-0FC6-E6EF-20D5-E1DA172D8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9EC2F-39BC-E547-8AB4-81457C398F5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6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ai-timelin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hyperlink" Target="https://ourworldindata.org/how-much-energy-do-data-centers-and-artificial-intelligence-use" TargetMode="External"/><Relationship Id="rId4" Type="http://schemas.openxmlformats.org/officeDocument/2006/relationships/hyperlink" Target="https://ourworldindata.org/artificial-intelligence" TargetMode="Externa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jpeg"/><Relationship Id="rId3" Type="http://schemas.openxmlformats.org/officeDocument/2006/relationships/image" Target="../media/image1.png"/><Relationship Id="rId7" Type="http://schemas.openxmlformats.org/officeDocument/2006/relationships/image" Target="../media/image12.jpeg"/><Relationship Id="rId12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hyperlink" Target="mailto:jul@caltech.edu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0000"/>
                </a:solidFill>
                <a:latin typeface="Avenir Book"/>
              </a:rPr>
              <a:t>AI4Chemical Sciences Bootcamp —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554480"/>
            <a:ext cx="9692640" cy="28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i="0" dirty="0">
                <a:solidFill>
                  <a:srgbClr val="595959"/>
                </a:solidFill>
                <a:latin typeface="Avenir Book"/>
              </a:rPr>
              <a:t>An introduction to AI for the Chemical Sciences — </a:t>
            </a:r>
            <a:r>
              <a:rPr lang="en-US" sz="1600" dirty="0">
                <a:solidFill>
                  <a:srgbClr val="595959"/>
                </a:solidFill>
                <a:latin typeface="Avenir Book"/>
              </a:rPr>
              <a:t>Bootcamp overview</a:t>
            </a:r>
            <a:endParaRPr sz="1600" b="0" i="0" dirty="0">
              <a:solidFill>
                <a:srgbClr val="595959"/>
              </a:solidFill>
              <a:latin typeface="Avenir Boo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000000"/>
                </a:solidFill>
                <a:latin typeface="Avenir Book"/>
              </a:rPr>
              <a:t>J. Schleinitz  ·  Monday, August 10, 2026  ·  RSC 275, Caltech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CD16A7-E8E9-C33E-09A4-2576CDEDC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909" y="2195814"/>
            <a:ext cx="3089876" cy="308987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EAE1F-D961-4C35-2AB4-432D1962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465220-72F1-22D4-2178-EF606BB61021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Morning Agenda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607287-97E6-EB25-F134-1A8378B8A2E3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3C004C55-628A-7264-A5E0-093B037F1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C3A5FF-3348-7870-A9F2-FA4225F73AF3}"/>
              </a:ext>
            </a:extLst>
          </p:cNvPr>
          <p:cNvSpPr txBox="1"/>
          <p:nvPr/>
        </p:nvSpPr>
        <p:spPr>
          <a:xfrm>
            <a:off x="2396676" y="2644170"/>
            <a:ext cx="69292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Tx/>
              <a:buAutoNum type="romanUcPeriod"/>
            </a:pPr>
            <a:r>
              <a:rPr lang="en-US" sz="2400" b="1" dirty="0">
                <a:latin typeface="Aptos" panose="020B0004020202020204" pitchFamily="34" charset="0"/>
              </a:rPr>
              <a:t>AI &amp; ML today</a:t>
            </a:r>
          </a:p>
          <a:p>
            <a:pPr marL="514350" indent="-514350"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Bootcamp Overview</a:t>
            </a:r>
          </a:p>
          <a:p>
            <a:pPr marL="514350" indent="-514350"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Bootcamp Objectives &amp; Roadmap</a:t>
            </a:r>
          </a:p>
          <a:p>
            <a:pPr marL="514350" indent="-514350"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303413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644C-1AA2-233E-0D1E-A85FC3FC8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619304-956E-EC4F-2C9E-FCEEDB395DC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AB509-F91F-44AD-53FE-866C4CB19B63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Artificial Intelligence – Definition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7D13E-B952-C002-D106-2FE0DD742E3A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E54CDA49-698C-5570-584F-2D35E7608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D78E2E-64E3-1CF9-D4D4-05961823D634}"/>
              </a:ext>
            </a:extLst>
          </p:cNvPr>
          <p:cNvSpPr txBox="1"/>
          <p:nvPr/>
        </p:nvSpPr>
        <p:spPr>
          <a:xfrm>
            <a:off x="822960" y="1554480"/>
            <a:ext cx="9875520" cy="285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i="0" dirty="0">
                <a:solidFill>
                  <a:srgbClr val="000000"/>
                </a:solidFill>
                <a:latin typeface="Avenir Book"/>
              </a:rPr>
              <a:t>AI is the capability of computational systems to perform tasks typically associated with human intelligence, such as:</a:t>
            </a:r>
          </a:p>
          <a:p>
            <a:pPr>
              <a:spcAft>
                <a:spcPts val="400"/>
              </a:spcAft>
            </a:pPr>
            <a:endParaRPr lang="en-US" i="0" dirty="0">
              <a:solidFill>
                <a:srgbClr val="000000"/>
              </a:solidFill>
              <a:latin typeface="Avenir Book"/>
            </a:endParaRPr>
          </a:p>
          <a:p>
            <a:pPr marL="1657350" lvl="3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latin typeface="Avenir Book"/>
              </a:rPr>
              <a:t>Learning</a:t>
            </a:r>
          </a:p>
          <a:p>
            <a:pPr marL="1657350" lvl="3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latin typeface="Avenir Book"/>
              </a:rPr>
              <a:t>Reasoning</a:t>
            </a:r>
          </a:p>
          <a:p>
            <a:pPr marL="1657350" lvl="3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Planning</a:t>
            </a:r>
          </a:p>
          <a:p>
            <a:pPr marL="1657350" lvl="3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P</a:t>
            </a:r>
            <a:r>
              <a:rPr lang="en-US" i="0" dirty="0">
                <a:solidFill>
                  <a:srgbClr val="000000"/>
                </a:solidFill>
                <a:latin typeface="Avenir Book"/>
              </a:rPr>
              <a:t>erception </a:t>
            </a:r>
            <a:endParaRPr lang="en-US" dirty="0">
              <a:solidFill>
                <a:srgbClr val="000000"/>
              </a:solidFill>
              <a:latin typeface="Avenir Book"/>
            </a:endParaRPr>
          </a:p>
          <a:p>
            <a:pPr marL="1657350" lvl="3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Communication</a:t>
            </a:r>
          </a:p>
          <a:p>
            <a:pPr marL="1657350" lvl="3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latin typeface="Avenir Book"/>
              </a:rPr>
              <a:t>…</a:t>
            </a:r>
            <a:endParaRPr i="0" dirty="0">
              <a:solidFill>
                <a:srgbClr val="000000"/>
              </a:solidFill>
              <a:latin typeface="Avenir Boo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3AEA0D-CC74-8A86-66A2-81E62F68A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60720" y="2283184"/>
            <a:ext cx="3559286" cy="3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6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94A6-AFFC-A160-B14E-20EDA2BA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A618E4-6EE1-A4FD-380C-5D9C30F08843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Artificial Intelligence Forecasts?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9C107-EB71-2585-3912-25A93BA9D4F2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C22198EE-2F1C-7210-4635-B2FA382A1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2880D7-4DFE-3018-E56D-C003B610DA8D}"/>
              </a:ext>
            </a:extLst>
          </p:cNvPr>
          <p:cNvSpPr txBox="1"/>
          <p:nvPr/>
        </p:nvSpPr>
        <p:spPr>
          <a:xfrm>
            <a:off x="-153" y="615702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https://ourworldindata.org/ai-timelines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C6F0BA-AB2F-95A5-8EC2-FD363EDCB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82" y="1482352"/>
            <a:ext cx="11826929" cy="404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5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2FD2E-E5B5-3CCB-DE14-63A74405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48CBB23-E911-C1CB-2B65-2F98D3578CD5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Artificial Intelligence and Society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5E5C2-2D32-06BD-F167-A5E478B5BB6C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4B6FE942-511A-52CF-F093-771F451C2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0B9731-64A0-03C2-9920-7269DF4CC79C}"/>
              </a:ext>
            </a:extLst>
          </p:cNvPr>
          <p:cNvSpPr txBox="1"/>
          <p:nvPr/>
        </p:nvSpPr>
        <p:spPr>
          <a:xfrm>
            <a:off x="-153" y="598285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https://ourworldindata.org/artificial-intelligence</a:t>
            </a:r>
            <a:endParaRPr lang="en-US" sz="1100" dirty="0"/>
          </a:p>
          <a:p>
            <a:r>
              <a:rPr lang="en-US" sz="1100" dirty="0">
                <a:hlinkClick r:id="rId5"/>
              </a:rPr>
              <a:t>https://ourworldindata.org/how-much-energy-do-data-centers-and-artificial-intelligence-use</a:t>
            </a:r>
            <a:endParaRPr lang="en-US" sz="11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92D97CF-EBA1-1BEC-F23F-7A1095DB2EB5}"/>
              </a:ext>
            </a:extLst>
          </p:cNvPr>
          <p:cNvGrpSpPr/>
          <p:nvPr/>
        </p:nvGrpSpPr>
        <p:grpSpPr>
          <a:xfrm>
            <a:off x="335287" y="1810386"/>
            <a:ext cx="3723445" cy="3086629"/>
            <a:chOff x="335287" y="1810386"/>
            <a:chExt cx="3723445" cy="3086629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FFB131B-C386-FDEF-B771-912582DA86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5287" y="2266639"/>
              <a:ext cx="3723445" cy="263037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4455AF-A1D7-9B03-BEBA-1D990000EF4E}"/>
                </a:ext>
              </a:extLst>
            </p:cNvPr>
            <p:cNvSpPr txBox="1"/>
            <p:nvPr/>
          </p:nvSpPr>
          <p:spPr>
            <a:xfrm>
              <a:off x="1239568" y="1810386"/>
              <a:ext cx="1914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" panose="020B0004020202020204" pitchFamily="34" charset="0"/>
                </a:rPr>
                <a:t>Economic growth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C8766B-932B-2FAE-567D-CB1004CE1168}"/>
              </a:ext>
            </a:extLst>
          </p:cNvPr>
          <p:cNvGrpSpPr/>
          <p:nvPr/>
        </p:nvGrpSpPr>
        <p:grpSpPr>
          <a:xfrm>
            <a:off x="4168253" y="1810386"/>
            <a:ext cx="3723446" cy="3086630"/>
            <a:chOff x="4168253" y="1810386"/>
            <a:chExt cx="3723446" cy="308663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CB6B5124-B158-51E4-0716-6D55B2801F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68253" y="2266639"/>
              <a:ext cx="3723446" cy="263037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3AA78E-C496-64BD-0D7C-7DCAA73055EE}"/>
                </a:ext>
              </a:extLst>
            </p:cNvPr>
            <p:cNvSpPr txBox="1"/>
            <p:nvPr/>
          </p:nvSpPr>
          <p:spPr>
            <a:xfrm>
              <a:off x="4898192" y="1810386"/>
              <a:ext cx="22635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" panose="020B0004020202020204" pitchFamily="34" charset="0"/>
                </a:rPr>
                <a:t>Energy Consumption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E879088-CC42-E078-6FC7-1FA56470F48B}"/>
              </a:ext>
            </a:extLst>
          </p:cNvPr>
          <p:cNvGrpSpPr/>
          <p:nvPr/>
        </p:nvGrpSpPr>
        <p:grpSpPr>
          <a:xfrm>
            <a:off x="7790002" y="1810386"/>
            <a:ext cx="4186467" cy="3086629"/>
            <a:chOff x="7790002" y="1810386"/>
            <a:chExt cx="4186467" cy="3086629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79B5D85-8E80-E080-6162-C90CFD839F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21513" y="2266639"/>
              <a:ext cx="3723445" cy="263037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48A3C0-D498-A305-993A-4F9586E0E236}"/>
                </a:ext>
              </a:extLst>
            </p:cNvPr>
            <p:cNvSpPr txBox="1"/>
            <p:nvPr/>
          </p:nvSpPr>
          <p:spPr>
            <a:xfrm>
              <a:off x="7790002" y="1810386"/>
              <a:ext cx="41864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" panose="020B0004020202020204" pitchFamily="34" charset="0"/>
                </a:rPr>
                <a:t>Benchmark against human performance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1591B4E-12A7-F1B4-9E75-E02203E8320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4953" t="601" r="-18306" b="-601"/>
          <a:stretch>
            <a:fillRect/>
          </a:stretch>
        </p:blipFill>
        <p:spPr>
          <a:xfrm>
            <a:off x="4148042" y="2243039"/>
            <a:ext cx="3723446" cy="259911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57654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893B-D8F3-09D3-7503-56ED870C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08C281-A2AC-3DF3-CBE2-7F604C1D3A00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Artificial Intelligence &amp; Machine learning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894609-5774-8D35-E316-84A3E2C10664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F8BA5C62-C1BE-8CFF-D68E-B11B6C0DE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14E4E5-2242-AF14-BA03-ECE0D7CF19F7}"/>
              </a:ext>
            </a:extLst>
          </p:cNvPr>
          <p:cNvSpPr/>
          <p:nvPr/>
        </p:nvSpPr>
        <p:spPr>
          <a:xfrm>
            <a:off x="371856" y="1200440"/>
            <a:ext cx="7370064" cy="3745632"/>
          </a:xfrm>
          <a:prstGeom prst="roundRect">
            <a:avLst>
              <a:gd name="adj" fmla="val 3031"/>
            </a:avLst>
          </a:prstGeom>
          <a:solidFill>
            <a:schemeClr val="accent6">
              <a:lumMod val="20000"/>
              <a:lumOff val="80000"/>
              <a:alpha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B62AD-AD99-EC02-85FC-5E52AC31C965}"/>
              </a:ext>
            </a:extLst>
          </p:cNvPr>
          <p:cNvSpPr txBox="1"/>
          <p:nvPr/>
        </p:nvSpPr>
        <p:spPr>
          <a:xfrm>
            <a:off x="3006024" y="1462259"/>
            <a:ext cx="221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Artificial Intelligence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875083-F920-9858-49A6-A03311C37CE8}"/>
              </a:ext>
            </a:extLst>
          </p:cNvPr>
          <p:cNvGrpSpPr/>
          <p:nvPr/>
        </p:nvGrpSpPr>
        <p:grpSpPr>
          <a:xfrm>
            <a:off x="978408" y="2832072"/>
            <a:ext cx="6156960" cy="1906181"/>
            <a:chOff x="978408" y="2832072"/>
            <a:chExt cx="6156960" cy="1906181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2C8284E-01D1-669B-3144-645592ECC36B}"/>
                </a:ext>
              </a:extLst>
            </p:cNvPr>
            <p:cNvSpPr/>
            <p:nvPr/>
          </p:nvSpPr>
          <p:spPr>
            <a:xfrm>
              <a:off x="978408" y="2832072"/>
              <a:ext cx="6156960" cy="1906181"/>
            </a:xfrm>
            <a:prstGeom prst="roundRect">
              <a:avLst>
                <a:gd name="adj" fmla="val 3031"/>
              </a:avLst>
            </a:prstGeom>
            <a:solidFill>
              <a:schemeClr val="accent6">
                <a:lumMod val="40000"/>
                <a:lumOff val="60000"/>
                <a:alpha val="5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AFF7A2-B119-9C3C-1D97-F56BC12B99FC}"/>
                </a:ext>
              </a:extLst>
            </p:cNvPr>
            <p:cNvSpPr txBox="1"/>
            <p:nvPr/>
          </p:nvSpPr>
          <p:spPr>
            <a:xfrm>
              <a:off x="3124582" y="2941144"/>
              <a:ext cx="1946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" panose="020B0004020202020204" pitchFamily="34" charset="0"/>
                </a:rPr>
                <a:t>Machine Learning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06F70B-E626-7D4F-1503-A3A352883CDA}"/>
              </a:ext>
            </a:extLst>
          </p:cNvPr>
          <p:cNvGrpSpPr/>
          <p:nvPr/>
        </p:nvGrpSpPr>
        <p:grpSpPr>
          <a:xfrm>
            <a:off x="5583077" y="1890277"/>
            <a:ext cx="6156960" cy="2960412"/>
            <a:chOff x="5826917" y="1985660"/>
            <a:chExt cx="6156960" cy="2960412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F02E9CE-5C06-5758-858E-C87C6147901C}"/>
                </a:ext>
              </a:extLst>
            </p:cNvPr>
            <p:cNvSpPr/>
            <p:nvPr/>
          </p:nvSpPr>
          <p:spPr>
            <a:xfrm>
              <a:off x="5826917" y="1985660"/>
              <a:ext cx="6156960" cy="2960412"/>
            </a:xfrm>
            <a:prstGeom prst="roundRect">
              <a:avLst>
                <a:gd name="adj" fmla="val 3031"/>
              </a:avLst>
            </a:prstGeom>
            <a:solidFill>
              <a:schemeClr val="bg1">
                <a:lumMod val="85000"/>
                <a:alpha val="5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414388-F910-CF2C-251B-2A243B5D5EE3}"/>
                </a:ext>
              </a:extLst>
            </p:cNvPr>
            <p:cNvSpPr txBox="1"/>
            <p:nvPr/>
          </p:nvSpPr>
          <p:spPr>
            <a:xfrm>
              <a:off x="8130827" y="3320216"/>
              <a:ext cx="15071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" panose="020B0004020202020204" pitchFamily="34" charset="0"/>
                </a:rPr>
                <a:t>Data Science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EA3CBC0-4959-D35E-E223-655726966A1E}"/>
              </a:ext>
            </a:extLst>
          </p:cNvPr>
          <p:cNvGrpSpPr/>
          <p:nvPr/>
        </p:nvGrpSpPr>
        <p:grpSpPr>
          <a:xfrm>
            <a:off x="3458380" y="4316579"/>
            <a:ext cx="6156960" cy="1906182"/>
            <a:chOff x="3458380" y="4316579"/>
            <a:chExt cx="6156960" cy="1906182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AF617B4A-8F24-ED5B-4225-CFD3AF6930C5}"/>
                </a:ext>
              </a:extLst>
            </p:cNvPr>
            <p:cNvSpPr/>
            <p:nvPr/>
          </p:nvSpPr>
          <p:spPr>
            <a:xfrm>
              <a:off x="3458380" y="4316579"/>
              <a:ext cx="6156960" cy="1906182"/>
            </a:xfrm>
            <a:prstGeom prst="roundRect">
              <a:avLst>
                <a:gd name="adj" fmla="val 3031"/>
              </a:avLst>
            </a:prstGeom>
            <a:solidFill>
              <a:schemeClr val="accent1">
                <a:lumMod val="20000"/>
                <a:lumOff val="80000"/>
                <a:alpha val="5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F08DE81-EFDF-BE0B-C6B6-14737C195B89}"/>
                </a:ext>
              </a:extLst>
            </p:cNvPr>
            <p:cNvSpPr txBox="1"/>
            <p:nvPr/>
          </p:nvSpPr>
          <p:spPr>
            <a:xfrm>
              <a:off x="5484200" y="5164700"/>
              <a:ext cx="2105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" panose="020B0004020202020204" pitchFamily="34" charset="0"/>
                </a:rPr>
                <a:t>Chemical Sciences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887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57365-27A3-78DF-5DB1-741B5781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0B9E0-4C04-5785-2C4F-2833D928DAA0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Morning Agenda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CC567-3326-7863-4DA9-07ED2383F9A5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E12444BE-C54E-7260-2FCB-BBAE3925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3F1243-15B1-016B-48D4-911B12CD5C02}"/>
              </a:ext>
            </a:extLst>
          </p:cNvPr>
          <p:cNvSpPr txBox="1"/>
          <p:nvPr/>
        </p:nvSpPr>
        <p:spPr>
          <a:xfrm>
            <a:off x="2396676" y="2644170"/>
            <a:ext cx="69292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Tx/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AI &amp; ML today</a:t>
            </a:r>
          </a:p>
          <a:p>
            <a:pPr marL="514350" indent="-514350">
              <a:buAutoNum type="romanUcPeriod"/>
            </a:pPr>
            <a:r>
              <a:rPr lang="en-US" sz="2400" b="1" dirty="0">
                <a:latin typeface="Aptos" panose="020B0004020202020204" pitchFamily="34" charset="0"/>
              </a:rPr>
              <a:t>Bootcamp Overview</a:t>
            </a:r>
          </a:p>
          <a:p>
            <a:pPr marL="514350" indent="-514350"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Bootcamp Objectives &amp; Roadmap</a:t>
            </a:r>
          </a:p>
          <a:p>
            <a:pPr marL="514350" indent="-514350"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180457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Bootcamp Team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21AAA6-185A-8C3C-6EA8-E4B46C1BCB57}"/>
              </a:ext>
            </a:extLst>
          </p:cNvPr>
          <p:cNvSpPr/>
          <p:nvPr/>
        </p:nvSpPr>
        <p:spPr>
          <a:xfrm>
            <a:off x="822960" y="1417320"/>
            <a:ext cx="10104120" cy="777240"/>
          </a:xfrm>
          <a:prstGeom prst="roundRect">
            <a:avLst>
              <a:gd name="adj" fmla="val 6000"/>
            </a:avLst>
          </a:prstGeom>
          <a:solidFill>
            <a:srgbClr val="E8E8E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E5A87-67F0-F113-3767-30E87716B8A8}"/>
              </a:ext>
            </a:extLst>
          </p:cNvPr>
          <p:cNvSpPr txBox="1"/>
          <p:nvPr/>
        </p:nvSpPr>
        <p:spPr>
          <a:xfrm>
            <a:off x="1097280" y="15361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Avenir Book"/>
              </a:rPr>
              <a:t>J. SCHLEINITZ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B83C2E-391F-76ED-320C-4AEAB2CF49FA}"/>
              </a:ext>
            </a:extLst>
          </p:cNvPr>
          <p:cNvSpPr txBox="1"/>
          <p:nvPr/>
        </p:nvSpPr>
        <p:spPr>
          <a:xfrm>
            <a:off x="1097280" y="1856231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595959"/>
                </a:solidFill>
                <a:latin typeface="Avenir Book"/>
              </a:rPr>
              <a:t>Bootcamp lead &amp; organizer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AF71D3B-6DC4-4B58-8B1F-06BFDD7295EB}"/>
              </a:ext>
            </a:extLst>
          </p:cNvPr>
          <p:cNvSpPr/>
          <p:nvPr/>
        </p:nvSpPr>
        <p:spPr>
          <a:xfrm>
            <a:off x="822960" y="242316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2987E-9F18-2367-E158-FCD131FE8E93}"/>
              </a:ext>
            </a:extLst>
          </p:cNvPr>
          <p:cNvSpPr txBox="1"/>
          <p:nvPr/>
        </p:nvSpPr>
        <p:spPr>
          <a:xfrm>
            <a:off x="1005840" y="325101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S. WAHLER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2E870-9C6A-53F7-46AF-7A39629D12A3}"/>
              </a:ext>
            </a:extLst>
          </p:cNvPr>
          <p:cNvSpPr txBox="1"/>
          <p:nvPr/>
        </p:nvSpPr>
        <p:spPr>
          <a:xfrm>
            <a:off x="1005840" y="3708216"/>
            <a:ext cx="1463040" cy="317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 dirty="0">
                <a:solidFill>
                  <a:srgbClr val="595959"/>
                </a:solidFill>
                <a:latin typeface="Avenir Book"/>
              </a:rPr>
              <a:t>Supervised Learning · LLM Assistants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71A800-C05C-8518-E873-E469D521BC89}"/>
              </a:ext>
            </a:extLst>
          </p:cNvPr>
          <p:cNvSpPr/>
          <p:nvPr/>
        </p:nvSpPr>
        <p:spPr>
          <a:xfrm>
            <a:off x="2891790" y="242316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677BBE-E529-E845-B2E5-2C5B8A125455}"/>
              </a:ext>
            </a:extLst>
          </p:cNvPr>
          <p:cNvSpPr txBox="1"/>
          <p:nvPr/>
        </p:nvSpPr>
        <p:spPr>
          <a:xfrm>
            <a:off x="3074670" y="325101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M. MURPHY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5A00FC-B1A0-399A-16A3-D084B543C8CA}"/>
              </a:ext>
            </a:extLst>
          </p:cNvPr>
          <p:cNvSpPr txBox="1"/>
          <p:nvPr/>
        </p:nvSpPr>
        <p:spPr>
          <a:xfrm>
            <a:off x="3074670" y="3708216"/>
            <a:ext cx="1463040" cy="317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Avenir Book"/>
              </a:rPr>
              <a:t>MLIPs &amp; Graph Neural Networks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730070A-A518-C16F-3159-F8107C3B8E63}"/>
              </a:ext>
            </a:extLst>
          </p:cNvPr>
          <p:cNvSpPr/>
          <p:nvPr/>
        </p:nvSpPr>
        <p:spPr>
          <a:xfrm>
            <a:off x="4960620" y="242316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168E65-E882-EA45-1FD4-D998417D0A62}"/>
              </a:ext>
            </a:extLst>
          </p:cNvPr>
          <p:cNvSpPr txBox="1"/>
          <p:nvPr/>
        </p:nvSpPr>
        <p:spPr>
          <a:xfrm>
            <a:off x="5143500" y="325101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C. LIU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D3C795-D0AC-1FA4-4F7A-C5707AC274BD}"/>
              </a:ext>
            </a:extLst>
          </p:cNvPr>
          <p:cNvSpPr txBox="1"/>
          <p:nvPr/>
        </p:nvSpPr>
        <p:spPr>
          <a:xfrm>
            <a:off x="5143500" y="3708216"/>
            <a:ext cx="1463040" cy="317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 dirty="0">
                <a:solidFill>
                  <a:srgbClr val="595959"/>
                </a:solidFill>
                <a:latin typeface="Avenir Book"/>
              </a:rPr>
              <a:t>Diffusion</a:t>
            </a:r>
            <a:r>
              <a:rPr lang="en-US" sz="950" b="0" i="0" dirty="0">
                <a:solidFill>
                  <a:srgbClr val="595959"/>
                </a:solidFill>
                <a:latin typeface="Avenir Book"/>
              </a:rPr>
              <a:t> &amp;</a:t>
            </a:r>
            <a:r>
              <a:rPr sz="950" b="0" i="0" dirty="0">
                <a:solidFill>
                  <a:srgbClr val="595959"/>
                </a:solidFill>
                <a:latin typeface="Avenir Book"/>
              </a:rPr>
              <a:t> Generative Models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AD7ACFA-1CF1-BE6B-7B08-5F02C5A266AC}"/>
              </a:ext>
            </a:extLst>
          </p:cNvPr>
          <p:cNvSpPr/>
          <p:nvPr/>
        </p:nvSpPr>
        <p:spPr>
          <a:xfrm>
            <a:off x="7029450" y="242316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C59493-41E5-C553-2289-2F9F5D8898CB}"/>
              </a:ext>
            </a:extLst>
          </p:cNvPr>
          <p:cNvSpPr txBox="1"/>
          <p:nvPr/>
        </p:nvSpPr>
        <p:spPr>
          <a:xfrm>
            <a:off x="7212330" y="325101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M. YUSOV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937080-0577-03A1-56B0-A76FAD769BDB}"/>
              </a:ext>
            </a:extLst>
          </p:cNvPr>
          <p:cNvSpPr txBox="1"/>
          <p:nvPr/>
        </p:nvSpPr>
        <p:spPr>
          <a:xfrm>
            <a:off x="7212330" y="3708216"/>
            <a:ext cx="1463040" cy="156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 dirty="0">
                <a:solidFill>
                  <a:srgbClr val="595959"/>
                </a:solidFill>
                <a:latin typeface="Avenir Book"/>
              </a:rPr>
              <a:t>Model Interpretability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41F8103-18A6-9180-E024-782CDB8D44D4}"/>
              </a:ext>
            </a:extLst>
          </p:cNvPr>
          <p:cNvSpPr/>
          <p:nvPr/>
        </p:nvSpPr>
        <p:spPr>
          <a:xfrm>
            <a:off x="9098280" y="242316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B4CF25-BB87-22F5-28B1-B752ECCA6B7D}"/>
              </a:ext>
            </a:extLst>
          </p:cNvPr>
          <p:cNvSpPr txBox="1"/>
          <p:nvPr/>
        </p:nvSpPr>
        <p:spPr>
          <a:xfrm>
            <a:off x="9281160" y="325101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A. SCHMIDT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9C5F82-870C-84D4-BE2A-24D484EEC158}"/>
              </a:ext>
            </a:extLst>
          </p:cNvPr>
          <p:cNvSpPr txBox="1"/>
          <p:nvPr/>
        </p:nvSpPr>
        <p:spPr>
          <a:xfrm>
            <a:off x="9281160" y="3708216"/>
            <a:ext cx="1463040" cy="317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 dirty="0">
                <a:solidFill>
                  <a:srgbClr val="595959"/>
                </a:solidFill>
                <a:latin typeface="Avenir Book"/>
              </a:rPr>
              <a:t>Design of Experiments · Data Stewardship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1164F6D-5C26-DED7-F8FF-E9865353CA75}"/>
              </a:ext>
            </a:extLst>
          </p:cNvPr>
          <p:cNvSpPr/>
          <p:nvPr/>
        </p:nvSpPr>
        <p:spPr>
          <a:xfrm>
            <a:off x="822960" y="429768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211A2-FB34-05C0-AF89-D19CB39B2505}"/>
              </a:ext>
            </a:extLst>
          </p:cNvPr>
          <p:cNvSpPr txBox="1"/>
          <p:nvPr/>
        </p:nvSpPr>
        <p:spPr>
          <a:xfrm>
            <a:off x="1005840" y="512553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lang="en-US" sz="1250" b="1" dirty="0">
                <a:solidFill>
                  <a:srgbClr val="000000"/>
                </a:solidFill>
                <a:latin typeface="Avenir Book"/>
              </a:rPr>
              <a:t>B. REINER</a:t>
            </a:r>
            <a:endParaRPr sz="1250" b="1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43B4FB-4E12-628E-512C-1F6140EE05E4}"/>
              </a:ext>
            </a:extLst>
          </p:cNvPr>
          <p:cNvSpPr txBox="1"/>
          <p:nvPr/>
        </p:nvSpPr>
        <p:spPr>
          <a:xfrm>
            <a:off x="1005840" y="5582736"/>
            <a:ext cx="1463040" cy="156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 dirty="0">
                <a:solidFill>
                  <a:srgbClr val="595959"/>
                </a:solidFill>
                <a:latin typeface="Avenir Book"/>
              </a:rPr>
              <a:t>Agentic AI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5C635D9-2691-2733-01B4-24354ED5EDF9}"/>
              </a:ext>
            </a:extLst>
          </p:cNvPr>
          <p:cNvSpPr/>
          <p:nvPr/>
        </p:nvSpPr>
        <p:spPr>
          <a:xfrm>
            <a:off x="2891790" y="429768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CDDC46-3B19-A03B-725B-181166428C6A}"/>
              </a:ext>
            </a:extLst>
          </p:cNvPr>
          <p:cNvSpPr txBox="1"/>
          <p:nvPr/>
        </p:nvSpPr>
        <p:spPr>
          <a:xfrm>
            <a:off x="3074670" y="512553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A. GURAJAPU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147E81-30FF-4906-D81A-72808E7692C8}"/>
              </a:ext>
            </a:extLst>
          </p:cNvPr>
          <p:cNvSpPr txBox="1"/>
          <p:nvPr/>
        </p:nvSpPr>
        <p:spPr>
          <a:xfrm>
            <a:off x="3074670" y="5582736"/>
            <a:ext cx="1463040" cy="317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 dirty="0">
                <a:solidFill>
                  <a:srgbClr val="595959"/>
                </a:solidFill>
                <a:latin typeface="Avenir Book"/>
              </a:rPr>
              <a:t>Hackathon Facilitation</a:t>
            </a:r>
            <a:r>
              <a:rPr lang="en-US" sz="950" b="0" i="0" dirty="0">
                <a:solidFill>
                  <a:srgbClr val="595959"/>
                </a:solidFill>
                <a:latin typeface="Avenir Book"/>
              </a:rPr>
              <a:t>, MLIPs</a:t>
            </a:r>
            <a:endParaRPr sz="950" b="0" i="0" dirty="0">
              <a:solidFill>
                <a:srgbClr val="595959"/>
              </a:solidFill>
              <a:latin typeface="Avenir Book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E976055-B4EE-FB81-668D-B21F986F2860}"/>
              </a:ext>
            </a:extLst>
          </p:cNvPr>
          <p:cNvSpPr/>
          <p:nvPr/>
        </p:nvSpPr>
        <p:spPr>
          <a:xfrm>
            <a:off x="4960620" y="429768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6490AF-E18A-018C-01AA-31F9038E5923}"/>
              </a:ext>
            </a:extLst>
          </p:cNvPr>
          <p:cNvSpPr txBox="1"/>
          <p:nvPr/>
        </p:nvSpPr>
        <p:spPr>
          <a:xfrm>
            <a:off x="5143500" y="512553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H. JUNG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2E6B35-346C-B5C7-9914-9991D8E22177}"/>
              </a:ext>
            </a:extLst>
          </p:cNvPr>
          <p:cNvSpPr txBox="1"/>
          <p:nvPr/>
        </p:nvSpPr>
        <p:spPr>
          <a:xfrm>
            <a:off x="5143500" y="5582736"/>
            <a:ext cx="1463040" cy="156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Avenir Book"/>
              </a:rPr>
              <a:t>Tutorials Preparation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E84D34A-037B-6C01-8F3E-228C3E3E1A01}"/>
              </a:ext>
            </a:extLst>
          </p:cNvPr>
          <p:cNvSpPr/>
          <p:nvPr/>
        </p:nvSpPr>
        <p:spPr>
          <a:xfrm>
            <a:off x="7029450" y="429768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6EDB4F-AD60-FBA1-E6C6-676D8F731985}"/>
              </a:ext>
            </a:extLst>
          </p:cNvPr>
          <p:cNvSpPr txBox="1"/>
          <p:nvPr/>
        </p:nvSpPr>
        <p:spPr>
          <a:xfrm>
            <a:off x="7212330" y="512553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R. FOX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6DC441-F555-35C7-53B9-C3C1CC32F020}"/>
              </a:ext>
            </a:extLst>
          </p:cNvPr>
          <p:cNvSpPr txBox="1"/>
          <p:nvPr/>
        </p:nvSpPr>
        <p:spPr>
          <a:xfrm>
            <a:off x="7212330" y="5582736"/>
            <a:ext cx="1463040" cy="156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 dirty="0">
                <a:solidFill>
                  <a:srgbClr val="595959"/>
                </a:solidFill>
                <a:latin typeface="Avenir Book"/>
              </a:rPr>
              <a:t>Logistics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9B7430F-4A80-7BAE-459D-9A484EB755E7}"/>
              </a:ext>
            </a:extLst>
          </p:cNvPr>
          <p:cNvSpPr/>
          <p:nvPr/>
        </p:nvSpPr>
        <p:spPr>
          <a:xfrm>
            <a:off x="9098280" y="4297680"/>
            <a:ext cx="1828800" cy="16916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C2CC92-DC21-3E12-7D96-FC646365C6E8}"/>
              </a:ext>
            </a:extLst>
          </p:cNvPr>
          <p:cNvSpPr txBox="1"/>
          <p:nvPr/>
        </p:nvSpPr>
        <p:spPr>
          <a:xfrm>
            <a:off x="9281160" y="5125536"/>
            <a:ext cx="1463040" cy="45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endParaRPr lang="en-US" sz="1250" b="1" i="0" dirty="0">
              <a:solidFill>
                <a:srgbClr val="000000"/>
              </a:solidFill>
              <a:latin typeface="Avenir Book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000000"/>
                </a:solidFill>
                <a:latin typeface="Avenir Book"/>
              </a:rPr>
              <a:t>T. KANO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EEA39E-A724-BAA5-5321-205D21228FBB}"/>
              </a:ext>
            </a:extLst>
          </p:cNvPr>
          <p:cNvSpPr txBox="1"/>
          <p:nvPr/>
        </p:nvSpPr>
        <p:spPr>
          <a:xfrm>
            <a:off x="9281160" y="5582736"/>
            <a:ext cx="1463040" cy="156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Avenir Book"/>
              </a:rPr>
              <a:t>Logistics</a:t>
            </a:r>
          </a:p>
        </p:txBody>
      </p:sp>
      <p:pic>
        <p:nvPicPr>
          <p:cNvPr id="53" name="Picture 52" descr="Sabrina WAHLER | CEO and Founder | Research profile">
            <a:extLst>
              <a:ext uri="{FF2B5EF4-FFF2-40B4-BE49-F238E27FC236}">
                <a16:creationId xmlns:a16="http://schemas.microsoft.com/office/drawing/2014/main" id="{1F848365-D124-1A2E-E02B-E0101CC8A39D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18609" t="1625" r="19195" b="36179"/>
          <a:stretch>
            <a:fillRect/>
          </a:stretch>
        </p:blipFill>
        <p:spPr>
          <a:xfrm>
            <a:off x="1342388" y="2572117"/>
            <a:ext cx="822960" cy="822960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6A099A4-313D-4B07-F105-2BFA6E4EBF0C}"/>
              </a:ext>
            </a:extLst>
          </p:cNvPr>
          <p:cNvPicPr>
            <a:picLocks/>
          </p:cNvPicPr>
          <p:nvPr/>
        </p:nvPicPr>
        <p:blipFill>
          <a:blip r:embed="rId5"/>
          <a:srcRect l="23255" t="4280" r="26567" b="39686"/>
          <a:stretch>
            <a:fillRect/>
          </a:stretch>
        </p:blipFill>
        <p:spPr>
          <a:xfrm>
            <a:off x="3474720" y="2572117"/>
            <a:ext cx="744458" cy="822960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8748854-9D39-8644-AD56-F207FF897F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743" t="11716" r="19547" b="19041"/>
          <a:stretch>
            <a:fillRect/>
          </a:stretch>
        </p:blipFill>
        <p:spPr>
          <a:xfrm>
            <a:off x="5463540" y="2568917"/>
            <a:ext cx="822960" cy="829361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8C171FB-A225-7156-D083-0FBA65E184E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740" b="21912"/>
          <a:stretch>
            <a:fillRect/>
          </a:stretch>
        </p:blipFill>
        <p:spPr>
          <a:xfrm>
            <a:off x="7471769" y="2572117"/>
            <a:ext cx="909081" cy="822960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227370-1433-E482-C05B-29A6507E6A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122" r="9080" b="17946"/>
          <a:stretch>
            <a:fillRect/>
          </a:stretch>
        </p:blipFill>
        <p:spPr>
          <a:xfrm>
            <a:off x="9601200" y="2555116"/>
            <a:ext cx="822960" cy="856962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C4BCC8A-617F-5A15-E356-66BD603983A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0424" t="2049" r="13347" b="34852"/>
          <a:stretch>
            <a:fillRect/>
          </a:stretch>
        </p:blipFill>
        <p:spPr>
          <a:xfrm>
            <a:off x="1284171" y="4482942"/>
            <a:ext cx="822960" cy="784081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D89C028-C024-FBE2-2217-402F9560E74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212" t="20506" r="25872" b="13111"/>
          <a:stretch>
            <a:fillRect/>
          </a:stretch>
        </p:blipFill>
        <p:spPr>
          <a:xfrm rot="16200000">
            <a:off x="3394359" y="4440890"/>
            <a:ext cx="822960" cy="868185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7BB9292-E7D4-AA95-0702-0AEF0604C69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6722" t="7800" r="14237" b="26911"/>
          <a:stretch>
            <a:fillRect/>
          </a:stretch>
        </p:blipFill>
        <p:spPr>
          <a:xfrm>
            <a:off x="5426374" y="4485872"/>
            <a:ext cx="822960" cy="778221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11AA53A-0C3E-2993-6249-7F19C7720D5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9395" t="7163" r="20605" b="45487"/>
          <a:stretch>
            <a:fillRect/>
          </a:stretch>
        </p:blipFill>
        <p:spPr>
          <a:xfrm>
            <a:off x="7471769" y="4485310"/>
            <a:ext cx="822960" cy="779345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98888ED-9FC4-E215-C2AA-292BBC7B374F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9982" t="471" r="7803" b="16952"/>
          <a:stretch>
            <a:fillRect/>
          </a:stretch>
        </p:blipFill>
        <p:spPr>
          <a:xfrm>
            <a:off x="9601200" y="4461687"/>
            <a:ext cx="822960" cy="826591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EC45B-CBDF-388D-B059-91518590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CBC4B0-E8AA-349B-FC40-FB1F0930869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3FA3EE-31A7-4483-13C6-0B446676B7D6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Attendance to the bootcamp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5EC09D-B7C3-A803-3457-872117AE5C4F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7B9F207C-8CAB-789F-0E8B-1FF1A3520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9575AAB-0E3D-6DDD-758F-6EBF46CC9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874908"/>
              </p:ext>
            </p:extLst>
          </p:nvPr>
        </p:nvGraphicFramePr>
        <p:xfrm>
          <a:off x="822960" y="1600200"/>
          <a:ext cx="99669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2A49AA-2536-9DFB-27F4-351E3128364D}"/>
              </a:ext>
            </a:extLst>
          </p:cNvPr>
          <p:cNvSpPr txBox="1"/>
          <p:nvPr/>
        </p:nvSpPr>
        <p:spPr>
          <a:xfrm>
            <a:off x="822960" y="5760720"/>
            <a:ext cx="9966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150" b="0" i="1" dirty="0">
                <a:solidFill>
                  <a:srgbClr val="595959"/>
                </a:solidFill>
                <a:latin typeface="Avenir Book"/>
              </a:rPr>
              <a:t>Classification done by Claude based on your responses to the Questionnaire</a:t>
            </a:r>
            <a:endParaRPr sz="1150" b="0" i="1" dirty="0">
              <a:solidFill>
                <a:srgbClr val="595959"/>
              </a:solidFill>
              <a:latin typeface="Avenir Book"/>
            </a:endParaRPr>
          </a:p>
        </p:txBody>
      </p:sp>
      <p:pic>
        <p:nvPicPr>
          <p:cNvPr id="6" name="Picture 5" descr="Division of Chemistry and Chemical Engineering">
            <a:extLst>
              <a:ext uri="{FF2B5EF4-FFF2-40B4-BE49-F238E27FC236}">
                <a16:creationId xmlns:a16="http://schemas.microsoft.com/office/drawing/2014/main" id="{DB362716-AB82-C043-AE09-D0B138490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960" y="1813560"/>
            <a:ext cx="1092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36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Coding Experience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Avenir Book"/>
              </a:rPr>
              <a:t>Python experience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962341"/>
              </p:ext>
            </p:extLst>
          </p:nvPr>
        </p:nvGraphicFramePr>
        <p:xfrm>
          <a:off x="822960" y="1920240"/>
          <a:ext cx="47548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1508760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000000"/>
                </a:solidFill>
                <a:latin typeface="Avenir Book"/>
              </a:rPr>
              <a:t>Familiar</a:t>
            </a:r>
            <a:r>
              <a:rPr lang="en-US" sz="1400" b="1" i="0" dirty="0">
                <a:solidFill>
                  <a:srgbClr val="000000"/>
                </a:solidFill>
                <a:latin typeface="Avenir Book"/>
              </a:rPr>
              <a:t>ity</a:t>
            </a:r>
            <a:r>
              <a:rPr sz="1400" b="1" i="0" dirty="0">
                <a:solidFill>
                  <a:srgbClr val="000000"/>
                </a:solidFill>
                <a:latin typeface="Avenir Book"/>
              </a:rPr>
              <a:t> with </a:t>
            </a:r>
            <a:r>
              <a:rPr lang="en-US" sz="1400" b="1" i="0" dirty="0">
                <a:solidFill>
                  <a:srgbClr val="000000"/>
                </a:solidFill>
                <a:latin typeface="Avenir Book"/>
              </a:rPr>
              <a:t>chemistry/ML </a:t>
            </a:r>
            <a:r>
              <a:rPr sz="1400" b="1" i="0" dirty="0">
                <a:solidFill>
                  <a:srgbClr val="000000"/>
                </a:solidFill>
                <a:latin typeface="Avenir Book"/>
              </a:rPr>
              <a:t>tools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026097"/>
              </p:ext>
            </p:extLst>
          </p:nvPr>
        </p:nvGraphicFramePr>
        <p:xfrm>
          <a:off x="6035040" y="192024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760720"/>
            <a:ext cx="9966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150" b="0" i="1" dirty="0">
                <a:solidFill>
                  <a:srgbClr val="595959"/>
                </a:solidFill>
                <a:latin typeface="Avenir Book"/>
              </a:rPr>
              <a:t>Based on Bootcamp Questionnaire</a:t>
            </a:r>
            <a:endParaRPr sz="1150" b="0" i="1" dirty="0">
              <a:solidFill>
                <a:srgbClr val="595959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LLM</a:t>
            </a:r>
            <a:r>
              <a:rPr sz="2800" b="0" i="0" dirty="0">
                <a:solidFill>
                  <a:srgbClr val="000000"/>
                </a:solidFill>
                <a:latin typeface="Avenir Book"/>
              </a:rPr>
              <a:t> assistant</a:t>
            </a: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 usage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303935"/>
              </p:ext>
            </p:extLst>
          </p:nvPr>
        </p:nvGraphicFramePr>
        <p:xfrm>
          <a:off x="822960" y="1600200"/>
          <a:ext cx="6675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737360"/>
            <a:ext cx="3063240" cy="301752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2011680"/>
            <a:ext cx="256032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800" b="1" i="0" dirty="0">
                <a:solidFill>
                  <a:schemeClr val="tx2">
                    <a:lumMod val="40000"/>
                    <a:lumOff val="60000"/>
                  </a:schemeClr>
                </a:solidFill>
                <a:latin typeface="Avenir Book"/>
              </a:rPr>
              <a:t>~80%</a:t>
            </a:r>
            <a:endParaRPr sz="3800" b="1" i="0" dirty="0">
              <a:solidFill>
                <a:schemeClr val="tx2">
                  <a:lumMod val="40000"/>
                  <a:lumOff val="60000"/>
                </a:schemeClr>
              </a:solidFill>
              <a:latin typeface="Avenir 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92440" y="3017520"/>
            <a:ext cx="2560320" cy="1078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 i="0" dirty="0">
                <a:solidFill>
                  <a:srgbClr val="000000"/>
                </a:solidFill>
                <a:latin typeface="Avenir Book"/>
              </a:rPr>
              <a:t>already use an AI coding assistant day to day.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1" dirty="0">
                <a:solidFill>
                  <a:srgbClr val="595959"/>
                </a:solidFill>
                <a:latin typeface="Avenir Book"/>
              </a:rPr>
              <a:t>We will discuss how to use them efficiently</a:t>
            </a:r>
            <a:endParaRPr sz="1200" b="0" i="1" dirty="0">
              <a:solidFill>
                <a:srgbClr val="595959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79E79-C077-611C-F47F-F6C47E2F32BE}"/>
              </a:ext>
            </a:extLst>
          </p:cNvPr>
          <p:cNvSpPr txBox="1"/>
          <p:nvPr/>
        </p:nvSpPr>
        <p:spPr>
          <a:xfrm>
            <a:off x="822960" y="5760720"/>
            <a:ext cx="9966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150" b="0" i="1" dirty="0">
                <a:solidFill>
                  <a:srgbClr val="595959"/>
                </a:solidFill>
                <a:latin typeface="Avenir Book"/>
              </a:rPr>
              <a:t>Based on responses to the Questionnaire</a:t>
            </a:r>
            <a:endParaRPr sz="1150" b="0" i="1" dirty="0">
              <a:solidFill>
                <a:srgbClr val="595959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A14E-F101-4802-C0BD-1BBEA4ED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1C559D-7E83-80BB-B4F4-C47CC164B7A2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Morning Agenda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DCD7B5-29A5-9D81-22D3-FB192C36C284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EF76570F-BCA6-CF6C-9963-085D24F9B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A5B87C-035C-830E-094A-A529C803AD54}"/>
              </a:ext>
            </a:extLst>
          </p:cNvPr>
          <p:cNvSpPr txBox="1"/>
          <p:nvPr/>
        </p:nvSpPr>
        <p:spPr>
          <a:xfrm>
            <a:off x="2396676" y="2644170"/>
            <a:ext cx="69292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Tx/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AI &amp; ML today</a:t>
            </a:r>
          </a:p>
          <a:p>
            <a:pPr marL="514350" indent="-514350">
              <a:buFontTx/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Bootcamp Overview</a:t>
            </a:r>
          </a:p>
          <a:p>
            <a:pPr marL="514350" indent="-514350">
              <a:buAutoNum type="romanUcPeriod"/>
            </a:pPr>
            <a:r>
              <a:rPr lang="en-US" sz="2400" b="1" dirty="0">
                <a:latin typeface="Aptos" panose="020B0004020202020204" pitchFamily="34" charset="0"/>
              </a:rPr>
              <a:t>Bootcamp Objectives &amp;</a:t>
            </a:r>
            <a:r>
              <a:rPr lang="en-US" sz="2400" dirty="0">
                <a:latin typeface="Aptos" panose="020B0004020202020204" pitchFamily="34" charset="0"/>
              </a:rPr>
              <a:t> </a:t>
            </a:r>
            <a:r>
              <a:rPr lang="en-US" sz="2400" b="1" dirty="0">
                <a:latin typeface="Aptos" panose="020B0004020202020204" pitchFamily="34" charset="0"/>
              </a:rPr>
              <a:t>Roadmap</a:t>
            </a:r>
          </a:p>
          <a:p>
            <a:pPr marL="514350" indent="-514350"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3181613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Your expectations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600200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019088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1" dirty="0">
                <a:solidFill>
                  <a:srgbClr val="000000"/>
                </a:solidFill>
                <a:latin typeface="Avenir Book"/>
              </a:rPr>
              <a:t>“Automate the literature review &amp; summarization”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00200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19088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1" dirty="0">
                <a:solidFill>
                  <a:srgbClr val="000000"/>
                </a:solidFill>
                <a:latin typeface="Avenir Book"/>
              </a:rPr>
              <a:t>“Machine-learned interatomic potentials (MLIPs) for MD”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62656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381544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1" dirty="0">
                <a:solidFill>
                  <a:srgbClr val="000000"/>
                </a:solidFill>
                <a:latin typeface="Avenir Book"/>
              </a:rPr>
              <a:t>“Ligand design &amp; reaction-yield optimization”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962656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381544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1" dirty="0">
                <a:solidFill>
                  <a:srgbClr val="000000"/>
                </a:solidFill>
                <a:latin typeface="Avenir Book"/>
              </a:rPr>
              <a:t>“Understand the “back-end” — which algorithm, why, how it's validated”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25112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4744000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1" dirty="0">
                <a:solidFill>
                  <a:srgbClr val="000000"/>
                </a:solidFill>
                <a:latin typeface="Avenir Book"/>
              </a:rPr>
              <a:t>“Docking, virtual screening &amp; binding-pose prediction”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325112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744000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i="1">
                <a:solidFill>
                  <a:srgbClr val="000000"/>
                </a:solidFill>
                <a:latin typeface="Avenir Book"/>
              </a:rPr>
              <a:t>“Multi-agent workflows / model selection guidance”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8ACA98-39D9-62E7-C473-63D7525B4EA8}"/>
              </a:ext>
            </a:extLst>
          </p:cNvPr>
          <p:cNvSpPr txBox="1"/>
          <p:nvPr/>
        </p:nvSpPr>
        <p:spPr>
          <a:xfrm>
            <a:off x="822960" y="5760720"/>
            <a:ext cx="9966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150" b="0" i="1" dirty="0">
                <a:solidFill>
                  <a:srgbClr val="595959"/>
                </a:solidFill>
                <a:latin typeface="Avenir Book"/>
              </a:rPr>
              <a:t>Based on Bootcamp Questionnaire</a:t>
            </a:r>
            <a:endParaRPr sz="1150" b="0" i="1" dirty="0">
              <a:solidFill>
                <a:srgbClr val="595959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A7B9-B803-BD5F-F488-71742575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E751C9-22D0-C7B4-E5CC-02783AFD33FA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AI – ML – Data Science and Chemical Sciences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F619D0-06CE-A8FE-51FD-501FA6B30979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AFDD3EAD-F8D2-2492-B140-6FAC78D19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0E8527-1B1A-8374-2D1D-AF2EBFA5B29A}"/>
              </a:ext>
            </a:extLst>
          </p:cNvPr>
          <p:cNvSpPr/>
          <p:nvPr/>
        </p:nvSpPr>
        <p:spPr>
          <a:xfrm>
            <a:off x="371856" y="1200440"/>
            <a:ext cx="7370064" cy="3745632"/>
          </a:xfrm>
          <a:prstGeom prst="roundRect">
            <a:avLst>
              <a:gd name="adj" fmla="val 3031"/>
            </a:avLst>
          </a:prstGeom>
          <a:solidFill>
            <a:schemeClr val="accent6">
              <a:lumMod val="20000"/>
              <a:lumOff val="80000"/>
              <a:alpha val="52000"/>
            </a:schemeClr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B379D6-C3F3-4468-08C9-6D840BA6AAC3}"/>
              </a:ext>
            </a:extLst>
          </p:cNvPr>
          <p:cNvSpPr/>
          <p:nvPr/>
        </p:nvSpPr>
        <p:spPr>
          <a:xfrm>
            <a:off x="6239165" y="2291745"/>
            <a:ext cx="5744711" cy="3960707"/>
          </a:xfrm>
          <a:prstGeom prst="roundRect">
            <a:avLst>
              <a:gd name="adj" fmla="val 3031"/>
            </a:avLst>
          </a:prstGeom>
          <a:solidFill>
            <a:schemeClr val="bg1">
              <a:lumMod val="85000"/>
              <a:alpha val="52000"/>
            </a:schemeClr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CBDBF-5A06-3719-2679-D7E22A4B3029}"/>
              </a:ext>
            </a:extLst>
          </p:cNvPr>
          <p:cNvSpPr txBox="1"/>
          <p:nvPr/>
        </p:nvSpPr>
        <p:spPr>
          <a:xfrm>
            <a:off x="3006024" y="1462259"/>
            <a:ext cx="221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Artificial Intelligence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559943-F15D-FCA4-C2A8-017337B0620C}"/>
              </a:ext>
            </a:extLst>
          </p:cNvPr>
          <p:cNvGrpSpPr/>
          <p:nvPr/>
        </p:nvGrpSpPr>
        <p:grpSpPr>
          <a:xfrm>
            <a:off x="2719448" y="2026280"/>
            <a:ext cx="4892989" cy="2711975"/>
            <a:chOff x="2719448" y="2026280"/>
            <a:chExt cx="4892989" cy="2711975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2CFF33E-9656-6E8F-54FF-160738FDDA8D}"/>
                </a:ext>
              </a:extLst>
            </p:cNvPr>
            <p:cNvSpPr/>
            <p:nvPr/>
          </p:nvSpPr>
          <p:spPr>
            <a:xfrm>
              <a:off x="2719448" y="2026280"/>
              <a:ext cx="4892989" cy="2711975"/>
            </a:xfrm>
            <a:prstGeom prst="roundRect">
              <a:avLst>
                <a:gd name="adj" fmla="val 3031"/>
              </a:avLst>
            </a:prstGeom>
            <a:solidFill>
              <a:schemeClr val="accent6">
                <a:lumMod val="40000"/>
                <a:lumOff val="60000"/>
                <a:alpha val="52000"/>
              </a:schemeClr>
            </a:solidFill>
            <a:ln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ADA08D-2366-AF33-E341-ED8E7BFDBA2A}"/>
                </a:ext>
              </a:extLst>
            </p:cNvPr>
            <p:cNvSpPr txBox="1"/>
            <p:nvPr/>
          </p:nvSpPr>
          <p:spPr>
            <a:xfrm>
              <a:off x="4099106" y="2300115"/>
              <a:ext cx="1946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" panose="020B0004020202020204" pitchFamily="34" charset="0"/>
                </a:rPr>
                <a:t>Machine Learning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DDC5426-3F65-E077-7F9A-04D1E8E04387}"/>
              </a:ext>
            </a:extLst>
          </p:cNvPr>
          <p:cNvSpPr txBox="1"/>
          <p:nvPr/>
        </p:nvSpPr>
        <p:spPr>
          <a:xfrm>
            <a:off x="8585514" y="4087432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Data Science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D25FB4-D90A-9F50-48EE-FF82935D1FEF}"/>
              </a:ext>
            </a:extLst>
          </p:cNvPr>
          <p:cNvSpPr/>
          <p:nvPr/>
        </p:nvSpPr>
        <p:spPr>
          <a:xfrm>
            <a:off x="838200" y="3429000"/>
            <a:ext cx="6774237" cy="2823453"/>
          </a:xfrm>
          <a:prstGeom prst="roundRect">
            <a:avLst>
              <a:gd name="adj" fmla="val 3031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5073CB-F25D-DD45-E757-45364F7F990C}"/>
              </a:ext>
            </a:extLst>
          </p:cNvPr>
          <p:cNvSpPr txBox="1"/>
          <p:nvPr/>
        </p:nvSpPr>
        <p:spPr>
          <a:xfrm>
            <a:off x="3172658" y="5229930"/>
            <a:ext cx="2105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Chemical Sciences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EA9C6-8712-28AA-3A9F-D7BFAD39DC3F}"/>
              </a:ext>
            </a:extLst>
          </p:cNvPr>
          <p:cNvSpPr txBox="1"/>
          <p:nvPr/>
        </p:nvSpPr>
        <p:spPr>
          <a:xfrm>
            <a:off x="-126769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E1CAB3-2352-CAB8-20DB-1A4FFCE0E671}"/>
              </a:ext>
            </a:extLst>
          </p:cNvPr>
          <p:cNvGrpSpPr/>
          <p:nvPr/>
        </p:nvGrpSpPr>
        <p:grpSpPr>
          <a:xfrm>
            <a:off x="488126" y="2122619"/>
            <a:ext cx="3520538" cy="867330"/>
            <a:chOff x="488126" y="2122619"/>
            <a:chExt cx="3520538" cy="867330"/>
          </a:xfrm>
        </p:grpSpPr>
        <p:pic>
          <p:nvPicPr>
            <p:cNvPr id="28" name="Picture 27" descr="AI Bootcamp">
              <a:extLst>
                <a:ext uri="{FF2B5EF4-FFF2-40B4-BE49-F238E27FC236}">
                  <a16:creationId xmlns:a16="http://schemas.microsoft.com/office/drawing/2014/main" id="{9C96D763-9259-1A75-6BB6-E1331F7AC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126" y="2122619"/>
              <a:ext cx="2775455" cy="86733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1485F7E-0C8F-7FD1-B806-EF0E01682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54023" y="2227513"/>
              <a:ext cx="654641" cy="654641"/>
            </a:xfrm>
            <a:prstGeom prst="rect">
              <a:avLst/>
            </a:prstGeom>
            <a:ln>
              <a:noFill/>
            </a:ln>
            <a:effectLst>
              <a:softEdge rad="41687"/>
            </a:effec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401FFE-3C44-1D62-B7F8-1158515CE295}"/>
              </a:ext>
            </a:extLst>
          </p:cNvPr>
          <p:cNvGrpSpPr/>
          <p:nvPr/>
        </p:nvGrpSpPr>
        <p:grpSpPr>
          <a:xfrm>
            <a:off x="1242003" y="3536795"/>
            <a:ext cx="6213239" cy="1201460"/>
            <a:chOff x="1242003" y="3536795"/>
            <a:chExt cx="6213239" cy="1201460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F0F12491-5063-6D01-C61B-38CF1FB18E68}"/>
                </a:ext>
              </a:extLst>
            </p:cNvPr>
            <p:cNvSpPr/>
            <p:nvPr/>
          </p:nvSpPr>
          <p:spPr>
            <a:xfrm>
              <a:off x="1242003" y="3536795"/>
              <a:ext cx="6213239" cy="1201460"/>
            </a:xfrm>
            <a:prstGeom prst="roundRect">
              <a:avLst>
                <a:gd name="adj" fmla="val 2331"/>
              </a:avLst>
            </a:prstGeom>
            <a:solidFill>
              <a:schemeClr val="bg1">
                <a:alpha val="51288"/>
              </a:schemeClr>
            </a:solidFill>
            <a:ln w="476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AI4ChemicalSciences BOOTCAMP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61830A7-61CA-B88A-0B1A-2646E3AAE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2271" y="3772539"/>
              <a:ext cx="705997" cy="705997"/>
            </a:xfrm>
            <a:prstGeom prst="rect">
              <a:avLst/>
            </a:prstGeom>
            <a:ln>
              <a:noFill/>
            </a:ln>
            <a:effectLst>
              <a:softEdge rad="38100"/>
            </a:effectLst>
          </p:spPr>
        </p:pic>
      </p:grpSp>
    </p:spTree>
    <p:extLst>
      <p:ext uri="{BB962C8B-B14F-4D97-AF65-F5344CB8AC3E}">
        <p14:creationId xmlns:p14="http://schemas.microsoft.com/office/powerpoint/2010/main" val="15771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Building Machine Learning Models</a:t>
            </a: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 – What’s needed?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EA729FD-3965-A604-0F9F-1C13C2A09FE2}"/>
              </a:ext>
            </a:extLst>
          </p:cNvPr>
          <p:cNvSpPr txBox="1"/>
          <p:nvPr/>
        </p:nvSpPr>
        <p:spPr>
          <a:xfrm>
            <a:off x="3532122" y="5801623"/>
            <a:ext cx="5423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Models = understanding or black box for optimization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74FD8C6-7B5E-973E-6F32-C4BFC6428932}"/>
              </a:ext>
            </a:extLst>
          </p:cNvPr>
          <p:cNvSpPr/>
          <p:nvPr/>
        </p:nvSpPr>
        <p:spPr>
          <a:xfrm>
            <a:off x="82296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EE506D-F72D-47B8-0E98-17C9356DDBA7}"/>
              </a:ext>
            </a:extLst>
          </p:cNvPr>
          <p:cNvSpPr txBox="1"/>
          <p:nvPr/>
        </p:nvSpPr>
        <p:spPr>
          <a:xfrm>
            <a:off x="114300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E86AB"/>
                </a:solidFill>
                <a:latin typeface="Avenir Book"/>
              </a:rPr>
              <a:t>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E9DB4D-A3DD-45A1-4892-0B8CC9087121}"/>
              </a:ext>
            </a:extLst>
          </p:cNvPr>
          <p:cNvSpPr txBox="1"/>
          <p:nvPr/>
        </p:nvSpPr>
        <p:spPr>
          <a:xfrm>
            <a:off x="114300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Avenir Book"/>
              </a:rPr>
              <a:t>The measurements and observations that ground everything a model learns.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AC8C372-0F06-7AB1-C9B2-02CF3EDD666A}"/>
              </a:ext>
            </a:extLst>
          </p:cNvPr>
          <p:cNvSpPr/>
          <p:nvPr/>
        </p:nvSpPr>
        <p:spPr>
          <a:xfrm>
            <a:off x="438912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587E0F-5332-763F-BEEE-BB506B381FD9}"/>
              </a:ext>
            </a:extLst>
          </p:cNvPr>
          <p:cNvSpPr txBox="1"/>
          <p:nvPr/>
        </p:nvSpPr>
        <p:spPr>
          <a:xfrm>
            <a:off x="470916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B15E6C"/>
                </a:solidFill>
                <a:latin typeface="Avenir Book"/>
              </a:rPr>
              <a:t>REPRESENTATIONS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DA795C-B8C0-4CCE-7197-4419B320D1DE}"/>
              </a:ext>
            </a:extLst>
          </p:cNvPr>
          <p:cNvSpPr txBox="1"/>
          <p:nvPr/>
        </p:nvSpPr>
        <p:spPr>
          <a:xfrm>
            <a:off x="470916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 dirty="0">
                <a:solidFill>
                  <a:srgbClr val="000000"/>
                </a:solidFill>
                <a:latin typeface="Avenir Book"/>
              </a:rPr>
              <a:t>How a molecule or reaction becomes numbers a model can actually use.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0FC76EA-7F75-93BA-4507-9243FC5F09E0}"/>
              </a:ext>
            </a:extLst>
          </p:cNvPr>
          <p:cNvSpPr/>
          <p:nvPr/>
        </p:nvSpPr>
        <p:spPr>
          <a:xfrm>
            <a:off x="795528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01D731-9910-1BCA-EDFC-A9372C13FBA5}"/>
              </a:ext>
            </a:extLst>
          </p:cNvPr>
          <p:cNvSpPr txBox="1"/>
          <p:nvPr/>
        </p:nvSpPr>
        <p:spPr>
          <a:xfrm>
            <a:off x="827532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09F3E"/>
                </a:solidFill>
                <a:latin typeface="Avenir Book"/>
              </a:rPr>
              <a:t>ALGORITHMS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5DEFBF-9EBE-E088-B1B3-6042F3ABA56A}"/>
              </a:ext>
            </a:extLst>
          </p:cNvPr>
          <p:cNvSpPr txBox="1"/>
          <p:nvPr/>
        </p:nvSpPr>
        <p:spPr>
          <a:xfrm>
            <a:off x="827532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Avenir Book"/>
              </a:rPr>
              <a:t>How we learn patterns from those numbers — and trust what comes out.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4D83477-F6E1-1F1F-CE0D-55D5AA8DEE3B}"/>
              </a:ext>
            </a:extLst>
          </p:cNvPr>
          <p:cNvGrpSpPr/>
          <p:nvPr/>
        </p:nvGrpSpPr>
        <p:grpSpPr>
          <a:xfrm>
            <a:off x="1143000" y="4232885"/>
            <a:ext cx="7589520" cy="457200"/>
            <a:chOff x="1128443" y="5035933"/>
            <a:chExt cx="7589520" cy="457200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3C4B0614-ADBE-D9EF-0FE7-847A5BF3FB8A}"/>
                </a:ext>
              </a:extLst>
            </p:cNvPr>
            <p:cNvSpPr/>
            <p:nvPr/>
          </p:nvSpPr>
          <p:spPr>
            <a:xfrm>
              <a:off x="112844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B626E3D5-A2C2-40A8-B552-5CDA4F3CC723}"/>
                </a:ext>
              </a:extLst>
            </p:cNvPr>
            <p:cNvSpPr/>
            <p:nvPr/>
          </p:nvSpPr>
          <p:spPr>
            <a:xfrm>
              <a:off x="826076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95C05176-BB9B-3D0B-A988-B7F9E9FE86D3}"/>
                </a:ext>
              </a:extLst>
            </p:cNvPr>
            <p:cNvSpPr/>
            <p:nvPr/>
          </p:nvSpPr>
          <p:spPr>
            <a:xfrm>
              <a:off x="469460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7886-4DF2-FA25-F970-FDE7975E3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C9F445-C88F-1D6A-B223-45DAC8674656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AI4Chemical Sciences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D47B34-22DF-EA33-F2F1-4076E9407305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D3064ACD-E456-278F-A00D-BDAB0ADA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20CA54-9A35-766A-419A-A07532D5CFA4}"/>
              </a:ext>
            </a:extLst>
          </p:cNvPr>
          <p:cNvSpPr/>
          <p:nvPr/>
        </p:nvSpPr>
        <p:spPr>
          <a:xfrm>
            <a:off x="4389120" y="1142873"/>
            <a:ext cx="3246120" cy="934974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Agents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E0761-8458-FDCE-AD27-D3831C9094C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46020" y="1584960"/>
            <a:ext cx="1943100" cy="932484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2ACD8E-0C16-2753-80CF-81D0720B9E4B}"/>
              </a:ext>
            </a:extLst>
          </p:cNvPr>
          <p:cNvCxnSpPr>
            <a:cxnSpLocks/>
            <a:endCxn id="6" idx="3"/>
          </p:cNvCxnSpPr>
          <p:nvPr/>
        </p:nvCxnSpPr>
        <p:spPr>
          <a:xfrm rot="16200000" flipV="1">
            <a:off x="8153248" y="1092352"/>
            <a:ext cx="907084" cy="1943100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B10AB8-D559-E4BC-AEB8-FEF5062BE337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6012180" y="2077847"/>
            <a:ext cx="0" cy="43959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5144164-7828-A4C2-BFFD-FBB63CFA3170}"/>
              </a:ext>
            </a:extLst>
          </p:cNvPr>
          <p:cNvSpPr/>
          <p:nvPr/>
        </p:nvSpPr>
        <p:spPr>
          <a:xfrm>
            <a:off x="82296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A04442-CACB-9913-D9B2-5FAC1251797E}"/>
              </a:ext>
            </a:extLst>
          </p:cNvPr>
          <p:cNvSpPr txBox="1"/>
          <p:nvPr/>
        </p:nvSpPr>
        <p:spPr>
          <a:xfrm>
            <a:off x="114300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E86AB"/>
                </a:solidFill>
                <a:latin typeface="Avenir Book"/>
              </a:rPr>
              <a:t>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343245-6979-E0BC-A9EF-319DEC201E3F}"/>
              </a:ext>
            </a:extLst>
          </p:cNvPr>
          <p:cNvSpPr txBox="1"/>
          <p:nvPr/>
        </p:nvSpPr>
        <p:spPr>
          <a:xfrm>
            <a:off x="114300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Avenir Book"/>
              </a:rPr>
              <a:t>The measurements and observations that ground everything a model learns.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1BCD5A-CEA5-7B63-2FA1-E414D22F6B32}"/>
              </a:ext>
            </a:extLst>
          </p:cNvPr>
          <p:cNvSpPr/>
          <p:nvPr/>
        </p:nvSpPr>
        <p:spPr>
          <a:xfrm>
            <a:off x="438912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CAE97B-C226-5D7B-272A-154C652C8760}"/>
              </a:ext>
            </a:extLst>
          </p:cNvPr>
          <p:cNvSpPr txBox="1"/>
          <p:nvPr/>
        </p:nvSpPr>
        <p:spPr>
          <a:xfrm>
            <a:off x="470916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B15E6C"/>
                </a:solidFill>
                <a:latin typeface="Avenir Book"/>
              </a:rPr>
              <a:t>REPRESENTATIONS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007228-9522-69C5-EC8F-856DAB412419}"/>
              </a:ext>
            </a:extLst>
          </p:cNvPr>
          <p:cNvSpPr txBox="1"/>
          <p:nvPr/>
        </p:nvSpPr>
        <p:spPr>
          <a:xfrm>
            <a:off x="470916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 dirty="0">
                <a:solidFill>
                  <a:srgbClr val="000000"/>
                </a:solidFill>
                <a:latin typeface="Avenir Book"/>
              </a:rPr>
              <a:t>How a molecule or reaction becomes numbers a model can actually use.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44CC78C-D94D-ED0B-E54D-BFE3063819B3}"/>
              </a:ext>
            </a:extLst>
          </p:cNvPr>
          <p:cNvSpPr/>
          <p:nvPr/>
        </p:nvSpPr>
        <p:spPr>
          <a:xfrm>
            <a:off x="795528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74D707-BB16-E5A0-D711-1C18B9833EA0}"/>
              </a:ext>
            </a:extLst>
          </p:cNvPr>
          <p:cNvSpPr txBox="1"/>
          <p:nvPr/>
        </p:nvSpPr>
        <p:spPr>
          <a:xfrm>
            <a:off x="827532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09F3E"/>
                </a:solidFill>
                <a:latin typeface="Avenir Book"/>
              </a:rPr>
              <a:t>ALGORITHMS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517EE7-418C-8980-58BA-98293CAFFC35}"/>
              </a:ext>
            </a:extLst>
          </p:cNvPr>
          <p:cNvSpPr txBox="1"/>
          <p:nvPr/>
        </p:nvSpPr>
        <p:spPr>
          <a:xfrm>
            <a:off x="827532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Avenir Book"/>
              </a:rPr>
              <a:t>How we learn patterns from those numbers — and trust what comes out.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2B2F081-3B55-1E1C-689D-030081BAB57C}"/>
              </a:ext>
            </a:extLst>
          </p:cNvPr>
          <p:cNvGrpSpPr/>
          <p:nvPr/>
        </p:nvGrpSpPr>
        <p:grpSpPr>
          <a:xfrm>
            <a:off x="1143000" y="4232885"/>
            <a:ext cx="7589520" cy="457200"/>
            <a:chOff x="1128443" y="5035933"/>
            <a:chExt cx="7589520" cy="457200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B1DF4990-4CF1-1E36-704C-B59FD4895793}"/>
                </a:ext>
              </a:extLst>
            </p:cNvPr>
            <p:cNvSpPr/>
            <p:nvPr/>
          </p:nvSpPr>
          <p:spPr>
            <a:xfrm>
              <a:off x="112844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3A3CE3A-330C-0C1B-B60B-903925E44851}"/>
                </a:ext>
              </a:extLst>
            </p:cNvPr>
            <p:cNvSpPr/>
            <p:nvPr/>
          </p:nvSpPr>
          <p:spPr>
            <a:xfrm>
              <a:off x="826076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7464B7C2-0220-6DCC-CC84-2D798115436B}"/>
                </a:ext>
              </a:extLst>
            </p:cNvPr>
            <p:cNvSpPr/>
            <p:nvPr/>
          </p:nvSpPr>
          <p:spPr>
            <a:xfrm>
              <a:off x="469460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4B82C83-F9FC-CBD7-A545-93DC2445A6C6}"/>
              </a:ext>
            </a:extLst>
          </p:cNvPr>
          <p:cNvSpPr txBox="1"/>
          <p:nvPr/>
        </p:nvSpPr>
        <p:spPr>
          <a:xfrm>
            <a:off x="2881882" y="5801623"/>
            <a:ext cx="6814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Agents can help accelerate the integration, they still need guidance</a:t>
            </a:r>
          </a:p>
        </p:txBody>
      </p:sp>
    </p:spTree>
    <p:extLst>
      <p:ext uri="{BB962C8B-B14F-4D97-AF65-F5344CB8AC3E}">
        <p14:creationId xmlns:p14="http://schemas.microsoft.com/office/powerpoint/2010/main" val="2424030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Scientific </a:t>
            </a:r>
            <a:r>
              <a:rPr sz="2800" b="0" i="0" dirty="0">
                <a:solidFill>
                  <a:srgbClr val="000000"/>
                </a:solidFill>
                <a:latin typeface="Avenir Book"/>
              </a:rPr>
              <a:t>Data</a:t>
            </a: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:</a:t>
            </a:r>
            <a:r>
              <a:rPr lang="en-US" sz="2800" dirty="0">
                <a:solidFill>
                  <a:srgbClr val="000000"/>
                </a:solidFill>
                <a:latin typeface="Avenir Book"/>
              </a:rPr>
              <a:t> A</a:t>
            </a:r>
            <a:r>
              <a:rPr sz="2800" b="0" i="0" dirty="0">
                <a:solidFill>
                  <a:srgbClr val="000000"/>
                </a:solidFill>
                <a:latin typeface="Avenir Book"/>
              </a:rPr>
              <a:t>cquisition </a:t>
            </a: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Bottleneck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22960" y="1737360"/>
            <a:ext cx="146304" cy="14630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691640"/>
            <a:ext cx="9784080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000000"/>
                </a:solidFill>
                <a:latin typeface="Avenir Book"/>
              </a:rPr>
              <a:t>Chemical data is expensive and slow to generate </a:t>
            </a:r>
            <a:r>
              <a:rPr lang="en-US" sz="1500" b="0" i="0" dirty="0">
                <a:solidFill>
                  <a:srgbClr val="000000"/>
                </a:solidFill>
                <a:latin typeface="Avenir Book"/>
              </a:rPr>
              <a:t>especially for wet lab experiments</a:t>
            </a:r>
            <a:endParaRPr sz="15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22960" y="2542032"/>
            <a:ext cx="146304" cy="14630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496312"/>
            <a:ext cx="9784080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000000"/>
                </a:solidFill>
                <a:latin typeface="Avenir Book"/>
              </a:rPr>
              <a:t>Datasets are small 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compared to vision or language: hundreds to thousands of points, not billions.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346704"/>
            <a:ext cx="146304" cy="14630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300984"/>
            <a:ext cx="9784080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000000"/>
                </a:solidFill>
                <a:latin typeface="Avenir Book"/>
              </a:rPr>
              <a:t>Negative results and failed reactions are rarely recorded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 — a strong, systematic reporting bias.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151376"/>
            <a:ext cx="146304" cy="14630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105656"/>
            <a:ext cx="9784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Noise from instruments, batch effects, and inconsistent protocols across labs and instruments.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956048"/>
            <a:ext cx="146304" cy="14630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910328"/>
            <a:ext cx="9784080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Data is scattered across papers, ELNs, and proprietary silos — </a:t>
            </a:r>
            <a:r>
              <a:rPr sz="1500" b="1" i="0" dirty="0">
                <a:solidFill>
                  <a:srgbClr val="000000"/>
                </a:solidFill>
                <a:latin typeface="Avenir Book"/>
              </a:rPr>
              <a:t>rarely FAIR or ML-ready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29666F6-B590-32EB-4F8F-9EAE8F34FB90}"/>
              </a:ext>
            </a:extLst>
          </p:cNvPr>
          <p:cNvSpPr/>
          <p:nvPr/>
        </p:nvSpPr>
        <p:spPr>
          <a:xfrm>
            <a:off x="11455400" y="218567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Machine Readable </a:t>
            </a:r>
            <a:r>
              <a:rPr sz="2800" b="0" i="0" dirty="0">
                <a:solidFill>
                  <a:srgbClr val="000000"/>
                </a:solidFill>
                <a:latin typeface="Avenir Book"/>
              </a:rPr>
              <a:t>Representations</a:t>
            </a: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 for Chemical Sciences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22960" y="1828800"/>
            <a:ext cx="146304" cy="146304"/>
          </a:xfrm>
          <a:prstGeom prst="ellipse">
            <a:avLst/>
          </a:prstGeom>
          <a:solidFill>
            <a:srgbClr val="B15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783080"/>
            <a:ext cx="9784080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000000"/>
                </a:solidFill>
                <a:latin typeface="Avenir Book"/>
              </a:rPr>
              <a:t>Molecules aren't naturally vectors 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— there is no single canonical coordinate system for them.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43200"/>
            <a:ext cx="146304" cy="146304"/>
          </a:xfrm>
          <a:prstGeom prst="ellipse">
            <a:avLst/>
          </a:prstGeom>
          <a:solidFill>
            <a:srgbClr val="B15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One molecule, many encodings: SMILES, InChI, SELFIES, fingerprints, 3D graphs — each keeps different information and hides different blind spots.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57600"/>
            <a:ext cx="146304" cy="146304"/>
          </a:xfrm>
          <a:prstGeom prst="ellipse">
            <a:avLst/>
          </a:prstGeom>
          <a:solidFill>
            <a:srgbClr val="B15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Symmetries matter: permutation of atoms, rotation/translation in 3D, stereochemistry, </a:t>
            </a:r>
            <a:r>
              <a:rPr sz="1500" b="0" i="0" dirty="0" err="1">
                <a:solidFill>
                  <a:srgbClr val="000000"/>
                </a:solidFill>
                <a:latin typeface="Avenir Book"/>
              </a:rPr>
              <a:t>tautomers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572000"/>
            <a:ext cx="146304" cy="146304"/>
          </a:xfrm>
          <a:prstGeom prst="ellipse">
            <a:avLst/>
          </a:prstGeom>
          <a:solidFill>
            <a:srgbClr val="B15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52628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A representation that throws away the wrong information caps your model before training even starts.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B5D05EB-CED0-3320-C29E-4A434F49B3EC}"/>
              </a:ext>
            </a:extLst>
          </p:cNvPr>
          <p:cNvSpPr/>
          <p:nvPr/>
        </p:nvSpPr>
        <p:spPr>
          <a:xfrm>
            <a:off x="11455400" y="218567"/>
            <a:ext cx="457200" cy="457200"/>
          </a:xfrm>
          <a:prstGeom prst="roundRect">
            <a:avLst>
              <a:gd name="adj" fmla="val 6000"/>
            </a:avLst>
          </a:prstGeom>
          <a:solidFill>
            <a:srgbClr val="B15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 dirty="0">
                <a:solidFill>
                  <a:srgbClr val="000000"/>
                </a:solidFill>
                <a:latin typeface="Avenir Book"/>
              </a:rPr>
              <a:t>Algorithms: choosing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22960" y="1828800"/>
            <a:ext cx="146304" cy="14630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783080"/>
            <a:ext cx="9784080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Which </a:t>
            </a:r>
            <a:r>
              <a:rPr lang="en-US" sz="1500" i="0" dirty="0">
                <a:solidFill>
                  <a:srgbClr val="000000"/>
                </a:solidFill>
                <a:latin typeface="Avenir Book"/>
              </a:rPr>
              <a:t>model</a:t>
            </a:r>
            <a:r>
              <a:rPr lang="en-US" sz="1500" b="1" i="0" dirty="0">
                <a:solidFill>
                  <a:srgbClr val="000000"/>
                </a:solidFill>
                <a:latin typeface="Avenir Book"/>
              </a:rPr>
              <a:t> 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fits your data: a linear model, a random forest, a graph neural net, a transformer?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43200"/>
            <a:ext cx="146304" cy="14630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9784080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en-US" sz="1500" b="0" i="0" dirty="0">
                <a:solidFill>
                  <a:srgbClr val="000000"/>
                </a:solidFill>
                <a:latin typeface="Avenir Book"/>
              </a:rPr>
              <a:t>Which model fits your task: extrapolation, interpretability…?</a:t>
            </a:r>
            <a:endParaRPr sz="15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3657600"/>
            <a:ext cx="146304" cy="14630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9784080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000000"/>
                </a:solidFill>
                <a:latin typeface="Avenir Book"/>
              </a:rPr>
              <a:t>What model to use to rely on predicted uncertainty?</a:t>
            </a:r>
            <a:endParaRPr sz="15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563560E-40D9-27BE-4FC2-9C1CD05311D7}"/>
              </a:ext>
            </a:extLst>
          </p:cNvPr>
          <p:cNvSpPr/>
          <p:nvPr/>
        </p:nvSpPr>
        <p:spPr>
          <a:xfrm>
            <a:off x="11455400" y="218567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559B5-8321-0982-58DC-316B499A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570D5A-C2C9-E035-F16F-A1A5B23EB32D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AI4Chemical Sciences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05F03-CCE6-C805-5396-8B5F6F15B245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985D77FA-5B74-FD60-55FE-580EF352C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3CE9493-9DED-BF27-32DF-ACB1E48FDB9D}"/>
              </a:ext>
            </a:extLst>
          </p:cNvPr>
          <p:cNvSpPr/>
          <p:nvPr/>
        </p:nvSpPr>
        <p:spPr>
          <a:xfrm>
            <a:off x="4389120" y="1142873"/>
            <a:ext cx="3246120" cy="934974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Agents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700AA1-72DC-C51E-B040-7CB51CCC7A6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46020" y="1584960"/>
            <a:ext cx="1943100" cy="932484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BFF119-1516-186C-F2E6-0D5F10CC94C3}"/>
              </a:ext>
            </a:extLst>
          </p:cNvPr>
          <p:cNvCxnSpPr>
            <a:cxnSpLocks/>
            <a:endCxn id="6" idx="3"/>
          </p:cNvCxnSpPr>
          <p:nvPr/>
        </p:nvCxnSpPr>
        <p:spPr>
          <a:xfrm rot="16200000" flipV="1">
            <a:off x="8153248" y="1092352"/>
            <a:ext cx="907084" cy="1943100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41B325-B5AD-9965-DC47-C1464B75DB9A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6012180" y="2077847"/>
            <a:ext cx="0" cy="43959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DD9C6AC-710E-99A9-995B-26553F678610}"/>
              </a:ext>
            </a:extLst>
          </p:cNvPr>
          <p:cNvSpPr/>
          <p:nvPr/>
        </p:nvSpPr>
        <p:spPr>
          <a:xfrm>
            <a:off x="82296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5B68DA-86E6-CC97-4420-4ACE91139342}"/>
              </a:ext>
            </a:extLst>
          </p:cNvPr>
          <p:cNvSpPr txBox="1"/>
          <p:nvPr/>
        </p:nvSpPr>
        <p:spPr>
          <a:xfrm>
            <a:off x="114300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E86AB"/>
                </a:solidFill>
                <a:latin typeface="Avenir Book"/>
              </a:rPr>
              <a:t>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82FA62-3C1B-5059-3171-638B866159A9}"/>
              </a:ext>
            </a:extLst>
          </p:cNvPr>
          <p:cNvSpPr txBox="1"/>
          <p:nvPr/>
        </p:nvSpPr>
        <p:spPr>
          <a:xfrm>
            <a:off x="114300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Avenir Book"/>
              </a:rPr>
              <a:t>The measurements and observations that ground everything a model learns.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E7552A8-4098-AB75-42B3-A500C6871A7C}"/>
              </a:ext>
            </a:extLst>
          </p:cNvPr>
          <p:cNvSpPr/>
          <p:nvPr/>
        </p:nvSpPr>
        <p:spPr>
          <a:xfrm>
            <a:off x="438912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651994-765D-820C-8928-ED45643D1629}"/>
              </a:ext>
            </a:extLst>
          </p:cNvPr>
          <p:cNvSpPr txBox="1"/>
          <p:nvPr/>
        </p:nvSpPr>
        <p:spPr>
          <a:xfrm>
            <a:off x="470916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B15E6C"/>
                </a:solidFill>
                <a:latin typeface="Avenir Book"/>
              </a:rPr>
              <a:t>REPRESENTATIONS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AED2A3-2258-3EC4-8A08-7F7FFDCFE715}"/>
              </a:ext>
            </a:extLst>
          </p:cNvPr>
          <p:cNvSpPr txBox="1"/>
          <p:nvPr/>
        </p:nvSpPr>
        <p:spPr>
          <a:xfrm>
            <a:off x="470916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 dirty="0">
                <a:solidFill>
                  <a:srgbClr val="000000"/>
                </a:solidFill>
                <a:latin typeface="Avenir Book"/>
              </a:rPr>
              <a:t>How a molecule or reaction becomes numbers a model can actually use.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171B80B-9CAF-4BC6-023A-4C7DBC985830}"/>
              </a:ext>
            </a:extLst>
          </p:cNvPr>
          <p:cNvSpPr/>
          <p:nvPr/>
        </p:nvSpPr>
        <p:spPr>
          <a:xfrm>
            <a:off x="795528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1945FD-EEAC-4127-1536-8B5AB5E7A1EC}"/>
              </a:ext>
            </a:extLst>
          </p:cNvPr>
          <p:cNvSpPr txBox="1"/>
          <p:nvPr/>
        </p:nvSpPr>
        <p:spPr>
          <a:xfrm>
            <a:off x="827532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09F3E"/>
                </a:solidFill>
                <a:latin typeface="Avenir Book"/>
              </a:rPr>
              <a:t>ALGORITHMS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40D583-DCF1-C47B-0DDE-97A3967C44B3}"/>
              </a:ext>
            </a:extLst>
          </p:cNvPr>
          <p:cNvSpPr txBox="1"/>
          <p:nvPr/>
        </p:nvSpPr>
        <p:spPr>
          <a:xfrm>
            <a:off x="8275320" y="324104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000000"/>
                </a:solidFill>
                <a:latin typeface="Avenir Book"/>
              </a:rPr>
              <a:t>How we learn patterns from those numbers — and trust what comes out.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C6BCDF4-BD97-58B0-465D-D8FEF47C3723}"/>
              </a:ext>
            </a:extLst>
          </p:cNvPr>
          <p:cNvGrpSpPr/>
          <p:nvPr/>
        </p:nvGrpSpPr>
        <p:grpSpPr>
          <a:xfrm>
            <a:off x="1143000" y="4232885"/>
            <a:ext cx="7589520" cy="457200"/>
            <a:chOff x="1128443" y="5035933"/>
            <a:chExt cx="7589520" cy="457200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E9E78874-29C9-1B1B-71B3-AD0E3E196949}"/>
                </a:ext>
              </a:extLst>
            </p:cNvPr>
            <p:cNvSpPr/>
            <p:nvPr/>
          </p:nvSpPr>
          <p:spPr>
            <a:xfrm>
              <a:off x="112844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C289C7A-1E0D-34AE-FF30-2049CF2E7C01}"/>
                </a:ext>
              </a:extLst>
            </p:cNvPr>
            <p:cNvSpPr/>
            <p:nvPr/>
          </p:nvSpPr>
          <p:spPr>
            <a:xfrm>
              <a:off x="826076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B6CE0893-3BC6-2764-4E7A-A63FC62AEAA9}"/>
                </a:ext>
              </a:extLst>
            </p:cNvPr>
            <p:cNvSpPr/>
            <p:nvPr/>
          </p:nvSpPr>
          <p:spPr>
            <a:xfrm>
              <a:off x="469460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76559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AC8B-4F27-73CC-B246-576E9012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E0B1BB-169D-A0C8-41AE-7CF8BEBAFB59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AI4Chemical Sciences: Learning Objectives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BADA7C-D0A8-DC2F-E2DF-C79B2425F963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C86ABDD0-1F3B-DA56-3996-4E72F8A27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E8B37E6-DC9D-4229-8BD2-FEB81767A83E}"/>
              </a:ext>
            </a:extLst>
          </p:cNvPr>
          <p:cNvSpPr/>
          <p:nvPr/>
        </p:nvSpPr>
        <p:spPr>
          <a:xfrm>
            <a:off x="4389120" y="1142873"/>
            <a:ext cx="3246120" cy="934974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Agents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09CEC2-B854-0554-5A72-55B892CE1376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46020" y="1584960"/>
            <a:ext cx="1943100" cy="932484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DA9C55-0A90-17B4-0BDA-8D5EC7EEADBB}"/>
              </a:ext>
            </a:extLst>
          </p:cNvPr>
          <p:cNvCxnSpPr>
            <a:cxnSpLocks/>
            <a:endCxn id="6" idx="3"/>
          </p:cNvCxnSpPr>
          <p:nvPr/>
        </p:nvCxnSpPr>
        <p:spPr>
          <a:xfrm rot="16200000" flipV="1">
            <a:off x="8153248" y="1092352"/>
            <a:ext cx="907084" cy="1943100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AE78914-C148-2E8A-C48C-FC81ED4DB894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6012180" y="2077847"/>
            <a:ext cx="0" cy="43959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FE7487E-9FD3-1EAD-F789-40B6C51CA8B7}"/>
              </a:ext>
            </a:extLst>
          </p:cNvPr>
          <p:cNvSpPr/>
          <p:nvPr/>
        </p:nvSpPr>
        <p:spPr>
          <a:xfrm>
            <a:off x="82296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7A7D35-76CF-7535-ADD8-34C3839D3BC5}"/>
              </a:ext>
            </a:extLst>
          </p:cNvPr>
          <p:cNvSpPr txBox="1"/>
          <p:nvPr/>
        </p:nvSpPr>
        <p:spPr>
          <a:xfrm>
            <a:off x="114300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E86AB"/>
                </a:solidFill>
                <a:latin typeface="Avenir Book"/>
              </a:rPr>
              <a:t>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515DBC-A865-089B-3ABB-3355E27F56D9}"/>
              </a:ext>
            </a:extLst>
          </p:cNvPr>
          <p:cNvSpPr txBox="1"/>
          <p:nvPr/>
        </p:nvSpPr>
        <p:spPr>
          <a:xfrm>
            <a:off x="1143000" y="3241040"/>
            <a:ext cx="2606040" cy="1064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595959"/>
                </a:solidFill>
                <a:latin typeface="Avenir Book"/>
              </a:rPr>
              <a:t>Dataset bias / distribution shift between benchmark and your real chemistry?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 dirty="0">
                <a:solidFill>
                  <a:srgbClr val="000000"/>
                </a:solidFill>
                <a:latin typeface="Avenir Book"/>
              </a:rPr>
              <a:t>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061161F-06C7-2F51-4D1C-BBB7DAF758BE}"/>
              </a:ext>
            </a:extLst>
          </p:cNvPr>
          <p:cNvSpPr/>
          <p:nvPr/>
        </p:nvSpPr>
        <p:spPr>
          <a:xfrm>
            <a:off x="438912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02C488-4B5D-886A-C376-8EB53B15A6FC}"/>
              </a:ext>
            </a:extLst>
          </p:cNvPr>
          <p:cNvSpPr txBox="1"/>
          <p:nvPr/>
        </p:nvSpPr>
        <p:spPr>
          <a:xfrm>
            <a:off x="470916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B15E6C"/>
                </a:solidFill>
                <a:latin typeface="Avenir Book"/>
              </a:rPr>
              <a:t>REPRESENTATIONS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B9E22E-8BAE-8FF9-7B2A-DE5E056DEB58}"/>
              </a:ext>
            </a:extLst>
          </p:cNvPr>
          <p:cNvSpPr txBox="1"/>
          <p:nvPr/>
        </p:nvSpPr>
        <p:spPr>
          <a:xfrm>
            <a:off x="4709160" y="3241040"/>
            <a:ext cx="2606040" cy="1116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595959"/>
                </a:solidFill>
                <a:latin typeface="Avenir Book"/>
              </a:rPr>
              <a:t>What is the information in may representation? 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595959"/>
                </a:solidFill>
                <a:latin typeface="Avenir Book"/>
              </a:rPr>
              <a:t>Domain of applicability?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endParaRPr sz="135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029BEF6-C77A-5CBF-24B0-634130305729}"/>
              </a:ext>
            </a:extLst>
          </p:cNvPr>
          <p:cNvSpPr/>
          <p:nvPr/>
        </p:nvSpPr>
        <p:spPr>
          <a:xfrm>
            <a:off x="7955280" y="2547924"/>
            <a:ext cx="3246120" cy="2389836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B5B05A-9257-C1FC-7F73-D8FBF2588714}"/>
              </a:ext>
            </a:extLst>
          </p:cNvPr>
          <p:cNvSpPr txBox="1"/>
          <p:nvPr/>
        </p:nvSpPr>
        <p:spPr>
          <a:xfrm>
            <a:off x="8275320" y="27381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09F3E"/>
                </a:solidFill>
                <a:latin typeface="Avenir Book"/>
              </a:rPr>
              <a:t>ALGORITHMS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94D762-CF70-14AF-A0F2-EC35A640FF23}"/>
              </a:ext>
            </a:extLst>
          </p:cNvPr>
          <p:cNvSpPr txBox="1"/>
          <p:nvPr/>
        </p:nvSpPr>
        <p:spPr>
          <a:xfrm>
            <a:off x="8275320" y="3241040"/>
            <a:ext cx="2606040" cy="866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595959"/>
                </a:solidFill>
                <a:latin typeface="Avenir Book"/>
              </a:rPr>
              <a:t>Which algorithms to use?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595959"/>
                </a:solidFill>
                <a:latin typeface="Avenir Book"/>
              </a:rPr>
              <a:t>Can we interpret the model?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400" dirty="0">
                <a:solidFill>
                  <a:srgbClr val="595959"/>
                </a:solidFill>
                <a:latin typeface="Avenir Book"/>
              </a:rPr>
              <a:t>Is model uncertainty reliable?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76AEE5-E524-BB8D-4F9E-B02405BA0547}"/>
              </a:ext>
            </a:extLst>
          </p:cNvPr>
          <p:cNvGrpSpPr/>
          <p:nvPr/>
        </p:nvGrpSpPr>
        <p:grpSpPr>
          <a:xfrm>
            <a:off x="1143000" y="4232885"/>
            <a:ext cx="7589520" cy="457200"/>
            <a:chOff x="1128443" y="5035933"/>
            <a:chExt cx="7589520" cy="457200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28DB9744-D0A4-D44A-64B0-4E15404A4463}"/>
                </a:ext>
              </a:extLst>
            </p:cNvPr>
            <p:cNvSpPr/>
            <p:nvPr/>
          </p:nvSpPr>
          <p:spPr>
            <a:xfrm>
              <a:off x="112844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46B4179C-A42F-710F-A8AA-B3AB78279B8D}"/>
                </a:ext>
              </a:extLst>
            </p:cNvPr>
            <p:cNvSpPr/>
            <p:nvPr/>
          </p:nvSpPr>
          <p:spPr>
            <a:xfrm>
              <a:off x="826076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28F53054-F750-5F8D-FB1D-99F0C96BE505}"/>
                </a:ext>
              </a:extLst>
            </p:cNvPr>
            <p:cNvSpPr/>
            <p:nvPr/>
          </p:nvSpPr>
          <p:spPr>
            <a:xfrm>
              <a:off x="4694603" y="5035933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19817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Bootcamp Roadmap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691640"/>
            <a:ext cx="4892040" cy="416052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6E1E"/>
                </a:solidFill>
                <a:latin typeface="Avenir Book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5000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venir Book"/>
              </a:rPr>
              <a:t>Aug 10 –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4160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 dirty="0">
                <a:solidFill>
                  <a:srgbClr val="000000"/>
                </a:solidFill>
                <a:latin typeface="Avenir Book"/>
              </a:rPr>
              <a:t>Foundations of ML &amp; Representations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4160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 dirty="0">
                <a:solidFill>
                  <a:srgbClr val="000000"/>
                </a:solidFill>
                <a:latin typeface="Avenir Book"/>
              </a:rPr>
              <a:t>Supervised learning, neural networks, molecular representations, GNNs / MLIPs, LLM assistants, generative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91640"/>
            <a:ext cx="4892040" cy="416052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6E1E"/>
                </a:solidFill>
                <a:latin typeface="Avenir Book"/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000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venir Book"/>
              </a:rPr>
              <a:t>Aug 17 –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4160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Avenir Book"/>
              </a:rPr>
              <a:t>Dataset Design &amp; 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4160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Avenir Book"/>
              </a:rPr>
              <a:t>Interpretability, design of experiments, Bayesian optimization, active learning, data stewardship, transformers, agentic AI.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13B9FF-D3CB-8B11-2336-C9816CDC584B}"/>
              </a:ext>
            </a:extLst>
          </p:cNvPr>
          <p:cNvGrpSpPr/>
          <p:nvPr/>
        </p:nvGrpSpPr>
        <p:grpSpPr>
          <a:xfrm>
            <a:off x="3943100" y="1965960"/>
            <a:ext cx="1487420" cy="457200"/>
            <a:chOff x="7278624" y="3391966"/>
            <a:chExt cx="1487420" cy="457200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365BA70-6D2A-F6FE-A79A-76F768C30823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005541F7-78E7-5197-0679-7AA99394DA9A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7BE7FC6-B1A4-E8CD-9A1C-CFA15E9174E0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E5B2D5-242B-ADD8-C5C9-341AF29EF33F}"/>
              </a:ext>
            </a:extLst>
          </p:cNvPr>
          <p:cNvGrpSpPr/>
          <p:nvPr/>
        </p:nvGrpSpPr>
        <p:grpSpPr>
          <a:xfrm>
            <a:off x="9145020" y="1965960"/>
            <a:ext cx="1487420" cy="457200"/>
            <a:chOff x="7278624" y="3391966"/>
            <a:chExt cx="1487420" cy="457200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67A570B1-95DA-88C3-BB41-74BCC41D4D97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C6DEFED-333A-F358-D87E-95F6281BCEC2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C4A51768-8DD4-7CBB-5955-F6A1DC8D5B95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 dirty="0">
                <a:solidFill>
                  <a:srgbClr val="000000"/>
                </a:solidFill>
                <a:latin typeface="Avenir Book"/>
              </a:rPr>
              <a:t>Week 1 — Foundations of ML &amp; Representations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Intro &amp; Logistics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43400"/>
            <a:ext cx="1645920" cy="373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Evolution of Molecular Representations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98648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98648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Supervised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40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343400"/>
            <a:ext cx="1645920" cy="373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Neural Networks &amp; Deep Learning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4336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974336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74336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WED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MLIPs — </a:t>
            </a:r>
            <a:r>
              <a:rPr lang="en-US" sz="1100" b="1" i="0" dirty="0">
                <a:solidFill>
                  <a:srgbClr val="000000"/>
                </a:solidFill>
                <a:latin typeface="Avenir Book"/>
              </a:rPr>
              <a:t>GNNs</a:t>
            </a:r>
            <a:endParaRPr sz="1100" b="1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138928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38928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34340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Learned Representations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50024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050024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0024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4616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4616" y="2377440"/>
            <a:ext cx="1645920" cy="373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LLMs as Chemistry Assistants — RAG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14616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14616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616" y="434340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Generative Models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25712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9125712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25712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FRI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Hackathon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90304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EDE5172-51D0-7388-F3CB-129E7D5D2ED9}"/>
              </a:ext>
            </a:extLst>
          </p:cNvPr>
          <p:cNvGrpSpPr/>
          <p:nvPr/>
        </p:nvGrpSpPr>
        <p:grpSpPr>
          <a:xfrm>
            <a:off x="7318250" y="5163742"/>
            <a:ext cx="1487420" cy="457200"/>
            <a:chOff x="7278624" y="3391966"/>
            <a:chExt cx="1487420" cy="457200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7A8592CF-C8FA-1D2D-4A88-8923E290C049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9E279FA2-AA62-D10A-7609-3340090D38C3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8873845D-D585-4126-19FC-6B1B55869234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100FC4-6F0C-C948-A421-F1346AAE462C}"/>
              </a:ext>
            </a:extLst>
          </p:cNvPr>
          <p:cNvGrpSpPr/>
          <p:nvPr/>
        </p:nvGrpSpPr>
        <p:grpSpPr>
          <a:xfrm>
            <a:off x="9394623" y="5163742"/>
            <a:ext cx="1487420" cy="457200"/>
            <a:chOff x="7278624" y="3391966"/>
            <a:chExt cx="1487420" cy="457200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32C159BD-6511-CC81-48BD-37275013D87F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078B2264-CB1B-73C1-AFB9-A3E1B68B3A41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A7B21C1E-EB04-88B5-8B0F-15A3C24E1A20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ABD5D7B-68C5-8A36-E430-CFB34ED10F3F}"/>
              </a:ext>
            </a:extLst>
          </p:cNvPr>
          <p:cNvGrpSpPr/>
          <p:nvPr/>
        </p:nvGrpSpPr>
        <p:grpSpPr>
          <a:xfrm>
            <a:off x="3165502" y="5163742"/>
            <a:ext cx="1487420" cy="457200"/>
            <a:chOff x="7278624" y="3391966"/>
            <a:chExt cx="1487420" cy="457200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BA82BE58-6129-356F-61F7-24EDC4439A06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CE5B5FA7-075D-768A-871F-4A869329CBB4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77D0D2A7-7335-2B3B-10BD-BF8F95D29F02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B372BA4-6674-16BE-3337-583BD714CCBA}"/>
              </a:ext>
            </a:extLst>
          </p:cNvPr>
          <p:cNvGrpSpPr/>
          <p:nvPr/>
        </p:nvGrpSpPr>
        <p:grpSpPr>
          <a:xfrm>
            <a:off x="5241876" y="5163742"/>
            <a:ext cx="1487420" cy="457200"/>
            <a:chOff x="7278624" y="3391966"/>
            <a:chExt cx="1487420" cy="45720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DC8D9CDE-CD11-DE79-5FFC-256EC77188A3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58CD3FC5-ED28-EF97-9871-FECC01105FB2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FCA99BF4-85CC-1FAA-A4ED-E7BEB9FB236A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31BE180-0714-A953-D89D-0EF58A70F29E}"/>
              </a:ext>
            </a:extLst>
          </p:cNvPr>
          <p:cNvGrpSpPr/>
          <p:nvPr/>
        </p:nvGrpSpPr>
        <p:grpSpPr>
          <a:xfrm>
            <a:off x="1089128" y="5163742"/>
            <a:ext cx="1487420" cy="457200"/>
            <a:chOff x="7278624" y="3391966"/>
            <a:chExt cx="1487420" cy="457200"/>
          </a:xfrm>
        </p:grpSpPr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81AB65EC-1429-EFCA-B09D-F549830231AC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7B67C9F8-CDA2-CBDA-8651-51EB5E3DCBCF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D515CFFB-0172-51BD-204F-9FF75D309AC0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B590D90-3CAD-ACF4-B4BB-F87172BDA8B8}"/>
              </a:ext>
            </a:extLst>
          </p:cNvPr>
          <p:cNvGrpSpPr/>
          <p:nvPr/>
        </p:nvGrpSpPr>
        <p:grpSpPr>
          <a:xfrm>
            <a:off x="7318250" y="2999281"/>
            <a:ext cx="1487420" cy="457200"/>
            <a:chOff x="7278624" y="3391966"/>
            <a:chExt cx="1487420" cy="457200"/>
          </a:xfrm>
        </p:grpSpPr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B5754052-8F37-6152-BE46-B6E3A93B2927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7596D406-D710-1F82-1DCD-C033C693B0A8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7BF8E766-D4EB-A3CD-E6F8-A7B69965B2D9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3D7601C-3BAE-E342-95AD-71B57A0EB7E1}"/>
              </a:ext>
            </a:extLst>
          </p:cNvPr>
          <p:cNvGrpSpPr/>
          <p:nvPr/>
        </p:nvGrpSpPr>
        <p:grpSpPr>
          <a:xfrm>
            <a:off x="9394623" y="2999281"/>
            <a:ext cx="1487420" cy="457200"/>
            <a:chOff x="7278624" y="3391966"/>
            <a:chExt cx="1487420" cy="457200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6F87C72E-08F7-FE8E-1440-6A5885CD92EF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3BF3CBFA-9F42-7A18-3E78-00A3CED11A80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96BCA3CA-D7C4-B1FF-97B6-162FB606FE80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3597775-FAE5-BD58-343C-0364F5DDF1B4}"/>
              </a:ext>
            </a:extLst>
          </p:cNvPr>
          <p:cNvGrpSpPr/>
          <p:nvPr/>
        </p:nvGrpSpPr>
        <p:grpSpPr>
          <a:xfrm>
            <a:off x="3165502" y="2999281"/>
            <a:ext cx="1487420" cy="457200"/>
            <a:chOff x="7278624" y="3391966"/>
            <a:chExt cx="1487420" cy="457200"/>
          </a:xfrm>
        </p:grpSpPr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2C649D3A-0F79-3C5C-BA00-F28EB3DB1C55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C45459B7-7D67-CDF9-156F-ABDD8D6AE598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BABE95DD-851D-C7BC-2C24-728B2C4D8739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B5D7130-836D-E19C-0A51-883ABC93679D}"/>
              </a:ext>
            </a:extLst>
          </p:cNvPr>
          <p:cNvGrpSpPr/>
          <p:nvPr/>
        </p:nvGrpSpPr>
        <p:grpSpPr>
          <a:xfrm>
            <a:off x="5241876" y="2999281"/>
            <a:ext cx="1487420" cy="457200"/>
            <a:chOff x="7278624" y="3391966"/>
            <a:chExt cx="1487420" cy="457200"/>
          </a:xfrm>
        </p:grpSpPr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24397EC2-35A7-6754-5AB3-897D6AD46FD4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4ADE9893-672D-894D-AEB4-8E07B3826A36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FD57E900-84C8-A64D-3208-50AA3961F484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FFAE5B2-AA78-16C2-77EB-B88B01293DA7}"/>
              </a:ext>
            </a:extLst>
          </p:cNvPr>
          <p:cNvGrpSpPr/>
          <p:nvPr/>
        </p:nvGrpSpPr>
        <p:grpSpPr>
          <a:xfrm>
            <a:off x="1089128" y="2999281"/>
            <a:ext cx="1487420" cy="457200"/>
            <a:chOff x="7278624" y="3391966"/>
            <a:chExt cx="1487420" cy="457200"/>
          </a:xfrm>
        </p:grpSpPr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1C335ED6-7A59-3061-E0EB-924FE213C2D4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ED5655EB-937E-306E-3D5B-0BD0AD19D0E2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A886A7B7-729C-B264-0E6D-325A9B5916A5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2DD6935-4070-BC64-C71D-072BD0649CBB}"/>
              </a:ext>
            </a:extLst>
          </p:cNvPr>
          <p:cNvGrpSpPr/>
          <p:nvPr/>
        </p:nvGrpSpPr>
        <p:grpSpPr>
          <a:xfrm>
            <a:off x="10424843" y="242316"/>
            <a:ext cx="1487420" cy="457200"/>
            <a:chOff x="7278624" y="3391966"/>
            <a:chExt cx="1487420" cy="457200"/>
          </a:xfrm>
        </p:grpSpPr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FAD6806C-3846-0713-92AB-5995935A599C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5151E45E-5768-712A-FC35-0B9A7F67BAF9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C3FEED23-7B58-5CC6-944E-C5BDE78292E2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0846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0000"/>
                </a:solidFill>
                <a:latin typeface="Avenir Book"/>
              </a:rPr>
              <a:t>Week 2 — Dataset Design &amp;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Model Interpretability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4340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Data Stewardship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98648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98648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Design of Experiments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40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4336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974336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74336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WED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0497" y="4373207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Bayesian Optimization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38928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9220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Active Learning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50024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050024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0024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4616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4616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Agentic AI for Chemistry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14616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14616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4896" y="5202936"/>
            <a:ext cx="1645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 dirty="0">
                <a:solidFill>
                  <a:srgbClr val="000000"/>
                </a:solidFill>
                <a:latin typeface="Avenir Book"/>
              </a:rPr>
              <a:t>AI Readiness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25712" y="1508760"/>
            <a:ext cx="1975104" cy="47091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125712" y="150876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25712" y="1563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FRI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2130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9:00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1873" y="4370832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Hackathon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90304" y="3959352"/>
            <a:ext cx="16459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90304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95959"/>
                </a:solidFill>
                <a:latin typeface="Avenir Book"/>
              </a:rPr>
              <a:t>13:30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4343400"/>
            <a:ext cx="164592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000000"/>
                </a:solidFill>
                <a:latin typeface="Avenir Book"/>
              </a:rPr>
              <a:t>AI Readiness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 Wrap-up &amp; Perspectives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4370832"/>
            <a:ext cx="1645920" cy="56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Transformers — text-based representations, tokenization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29762D-B3AC-311B-BEEE-3460B3D42524}"/>
              </a:ext>
            </a:extLst>
          </p:cNvPr>
          <p:cNvSpPr txBox="1"/>
          <p:nvPr/>
        </p:nvSpPr>
        <p:spPr>
          <a:xfrm>
            <a:off x="9290304" y="2377440"/>
            <a:ext cx="164592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 dirty="0">
                <a:solidFill>
                  <a:srgbClr val="000000"/>
                </a:solidFill>
                <a:latin typeface="Avenir Book"/>
              </a:rPr>
              <a:t>Hackathon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38E6AF4-C343-E890-4C5E-BE104717739D}"/>
              </a:ext>
            </a:extLst>
          </p:cNvPr>
          <p:cNvGrpSpPr/>
          <p:nvPr/>
        </p:nvGrpSpPr>
        <p:grpSpPr>
          <a:xfrm>
            <a:off x="7293181" y="2944518"/>
            <a:ext cx="1487420" cy="457200"/>
            <a:chOff x="7278624" y="3391966"/>
            <a:chExt cx="1487420" cy="457200"/>
          </a:xfrm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0BA87113-1B67-C766-2D8D-FAD2F1BD902E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31C65CDB-2387-8368-7A91-8D8FE1013FC1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55598CAB-F207-0C0A-A0A7-45BF4C7CF5D1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14BBF60-9F56-F168-5F20-4F2E5182D267}"/>
              </a:ext>
            </a:extLst>
          </p:cNvPr>
          <p:cNvGrpSpPr/>
          <p:nvPr/>
        </p:nvGrpSpPr>
        <p:grpSpPr>
          <a:xfrm>
            <a:off x="9369554" y="2944518"/>
            <a:ext cx="1487420" cy="457200"/>
            <a:chOff x="7278624" y="3391966"/>
            <a:chExt cx="1487420" cy="457200"/>
          </a:xfrm>
        </p:grpSpPr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971258D-B52A-714E-926D-8F7AFEAA8D7B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642AEA2C-677C-3EDB-02B1-6542608B9AE1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863579C3-CD0C-234A-D514-E5C4202ECA18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5B025DD-5B9B-4FF9-B7AE-0D75C50990AE}"/>
              </a:ext>
            </a:extLst>
          </p:cNvPr>
          <p:cNvGrpSpPr/>
          <p:nvPr/>
        </p:nvGrpSpPr>
        <p:grpSpPr>
          <a:xfrm>
            <a:off x="3140433" y="2944518"/>
            <a:ext cx="1487420" cy="457200"/>
            <a:chOff x="7278624" y="3391966"/>
            <a:chExt cx="1487420" cy="457200"/>
          </a:xfrm>
        </p:grpSpPr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499D0027-ACC8-281D-40B7-F92EFE0B0A74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E7BBB801-1C43-65CC-8180-4E82E96B9785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769586FC-C840-67C7-10C8-214B76B2604E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902DBFE-01A8-1693-8C2F-C0A97B050C50}"/>
              </a:ext>
            </a:extLst>
          </p:cNvPr>
          <p:cNvGrpSpPr/>
          <p:nvPr/>
        </p:nvGrpSpPr>
        <p:grpSpPr>
          <a:xfrm>
            <a:off x="5216807" y="2944518"/>
            <a:ext cx="1487420" cy="457200"/>
            <a:chOff x="7278624" y="3391966"/>
            <a:chExt cx="1487420" cy="457200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77186EE7-A5EE-6D7D-4FA1-9E7C0E70E1D1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50AC88C3-E32F-7918-27E1-5B97AB87FEB0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089A4E71-3BA1-56F1-8B91-3CFC1CA89FDA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753E348-15CD-329B-0445-CD3DFF6DA519}"/>
              </a:ext>
            </a:extLst>
          </p:cNvPr>
          <p:cNvGrpSpPr/>
          <p:nvPr/>
        </p:nvGrpSpPr>
        <p:grpSpPr>
          <a:xfrm>
            <a:off x="1064059" y="2944518"/>
            <a:ext cx="1487420" cy="457200"/>
            <a:chOff x="7278624" y="3391966"/>
            <a:chExt cx="1487420" cy="457200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70831605-30CB-25E1-5F13-BF15FA26A916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F9945171-DAF4-D4F7-A73D-7138E979DD2C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A8D87F19-0EEF-235A-DEB1-021039F46066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BFBB25A-27D7-61AA-8E1E-CA770C198897}"/>
              </a:ext>
            </a:extLst>
          </p:cNvPr>
          <p:cNvGrpSpPr/>
          <p:nvPr/>
        </p:nvGrpSpPr>
        <p:grpSpPr>
          <a:xfrm>
            <a:off x="7318250" y="5285662"/>
            <a:ext cx="1487420" cy="457200"/>
            <a:chOff x="7278624" y="3391966"/>
            <a:chExt cx="1487420" cy="457200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90C74EBF-A967-5ABD-2442-38CBB005C78D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5CE6359C-4724-A748-9168-7F9128B92A9B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080269D5-02B4-1742-E905-12A1EE3C6751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6A1BF5-5AC4-9A80-6A5A-C07ADEFE452B}"/>
              </a:ext>
            </a:extLst>
          </p:cNvPr>
          <p:cNvGrpSpPr/>
          <p:nvPr/>
        </p:nvGrpSpPr>
        <p:grpSpPr>
          <a:xfrm>
            <a:off x="9394623" y="5285662"/>
            <a:ext cx="1487420" cy="457200"/>
            <a:chOff x="7278624" y="3391966"/>
            <a:chExt cx="1487420" cy="4572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C61A3836-DC99-F436-B45F-05E340A553D4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820022D3-72BE-591E-D6E6-A09A4C3AFCFF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4A666D1A-533B-8ECF-DC55-624339944E35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4E7A680-5A5E-2429-C824-1779A3A8460D}"/>
              </a:ext>
            </a:extLst>
          </p:cNvPr>
          <p:cNvGrpSpPr/>
          <p:nvPr/>
        </p:nvGrpSpPr>
        <p:grpSpPr>
          <a:xfrm>
            <a:off x="3165502" y="5285662"/>
            <a:ext cx="1487420" cy="457200"/>
            <a:chOff x="7278624" y="3391966"/>
            <a:chExt cx="1487420" cy="457200"/>
          </a:xfrm>
        </p:grpSpPr>
        <p:sp>
          <p:nvSpPr>
            <p:cNvPr id="91" name="Rounded Rectangle 90">
              <a:extLst>
                <a:ext uri="{FF2B5EF4-FFF2-40B4-BE49-F238E27FC236}">
                  <a16:creationId xmlns:a16="http://schemas.microsoft.com/office/drawing/2014/main" id="{F31489CD-3372-4ECF-D1CB-954441F78D6B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3211AB6D-4AD8-925F-2D16-9B3B101523A4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45C1F35B-2DE9-2310-7CB3-52A45E0557CC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2077FBC-00CE-A658-BB1B-D67BCEEBCC86}"/>
              </a:ext>
            </a:extLst>
          </p:cNvPr>
          <p:cNvGrpSpPr/>
          <p:nvPr/>
        </p:nvGrpSpPr>
        <p:grpSpPr>
          <a:xfrm>
            <a:off x="5241876" y="5285662"/>
            <a:ext cx="1487420" cy="457200"/>
            <a:chOff x="7278624" y="3391966"/>
            <a:chExt cx="1487420" cy="457200"/>
          </a:xfrm>
        </p:grpSpPr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84113938-075E-6D47-A1DE-4E1183694FE0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CCD31F9A-49F3-64F6-E46F-C0357ACC4717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73D42D54-8F07-3261-608E-5C0B864A0D31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F64C5DA-349B-5CC5-FC62-D64CB0E93D84}"/>
              </a:ext>
            </a:extLst>
          </p:cNvPr>
          <p:cNvGrpSpPr/>
          <p:nvPr/>
        </p:nvGrpSpPr>
        <p:grpSpPr>
          <a:xfrm>
            <a:off x="1089128" y="5285662"/>
            <a:ext cx="1487420" cy="457200"/>
            <a:chOff x="7278624" y="3391966"/>
            <a:chExt cx="1487420" cy="457200"/>
          </a:xfrm>
        </p:grpSpPr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548B33BF-A8F9-3D29-FA17-0F3BED187559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745D2148-7836-8C9E-16EB-21208029EECB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FED716A0-A2CF-319B-E53F-5F57AB0AE54F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D804982-5C29-A9B0-ADD3-5AC15245F75F}"/>
              </a:ext>
            </a:extLst>
          </p:cNvPr>
          <p:cNvGrpSpPr/>
          <p:nvPr/>
        </p:nvGrpSpPr>
        <p:grpSpPr>
          <a:xfrm>
            <a:off x="10503741" y="233551"/>
            <a:ext cx="1487420" cy="457200"/>
            <a:chOff x="7278624" y="3391966"/>
            <a:chExt cx="1487420" cy="457200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9FD3E50C-A2E2-081B-21CD-C298D93AD8CA}"/>
                </a:ext>
              </a:extLst>
            </p:cNvPr>
            <p:cNvSpPr/>
            <p:nvPr/>
          </p:nvSpPr>
          <p:spPr>
            <a:xfrm>
              <a:off x="727862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2E8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E4094C92-D453-850A-A6B0-F92FAE870052}"/>
                </a:ext>
              </a:extLst>
            </p:cNvPr>
            <p:cNvSpPr/>
            <p:nvPr/>
          </p:nvSpPr>
          <p:spPr>
            <a:xfrm>
              <a:off x="830884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E09F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A6E87420-F4E9-F2BC-28E6-CBD1506A4BB0}"/>
                </a:ext>
              </a:extLst>
            </p:cNvPr>
            <p:cNvSpPr/>
            <p:nvPr/>
          </p:nvSpPr>
          <p:spPr>
            <a:xfrm>
              <a:off x="7793734" y="3391966"/>
              <a:ext cx="457200" cy="457200"/>
            </a:xfrm>
            <a:prstGeom prst="roundRect">
              <a:avLst>
                <a:gd name="adj" fmla="val 6000"/>
              </a:avLst>
            </a:prstGeom>
            <a:solidFill>
              <a:srgbClr val="B15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44394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C97DA-33EA-59FD-B183-9B3F6668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051712-2FD8-8873-0161-C9DF586FB805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Bootcamp Objectives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05F321-024D-FEB5-094B-0C4B0BC39D9F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74DB0196-440F-961E-F622-6A0BA2649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1069F9-F577-6774-5FE6-951BB1716C31}"/>
              </a:ext>
            </a:extLst>
          </p:cNvPr>
          <p:cNvSpPr txBox="1"/>
          <p:nvPr/>
        </p:nvSpPr>
        <p:spPr>
          <a:xfrm>
            <a:off x="822960" y="1828800"/>
            <a:ext cx="9875520" cy="1983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1" i="0" dirty="0">
                <a:solidFill>
                  <a:srgbClr val="000000"/>
                </a:solidFill>
                <a:latin typeface="Avenir Book"/>
              </a:rPr>
              <a:t>Goal for the two weeks: </a:t>
            </a:r>
            <a:endParaRPr lang="en-US" sz="1800" b="1" i="0" dirty="0">
              <a:solidFill>
                <a:srgbClr val="000000"/>
              </a:solidFill>
              <a:latin typeface="Avenir Book"/>
            </a:endParaRPr>
          </a:p>
          <a:p>
            <a:pPr marL="285750" indent="-285750" algn="l">
              <a:lnSpc>
                <a:spcPct val="130000"/>
              </a:lnSpc>
              <a:spcAft>
                <a:spcPts val="400"/>
              </a:spcAft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Basic l</a:t>
            </a:r>
            <a:r>
              <a:rPr sz="1800" i="0" dirty="0">
                <a:solidFill>
                  <a:srgbClr val="000000"/>
                </a:solidFill>
                <a:latin typeface="Avenir Book"/>
              </a:rPr>
              <a:t>iteracy across data, representations, and algorithms</a:t>
            </a:r>
            <a:endParaRPr lang="en-US" sz="1800" i="0" dirty="0">
              <a:solidFill>
                <a:srgbClr val="000000"/>
              </a:solidFill>
              <a:latin typeface="Avenir Book"/>
            </a:endParaRPr>
          </a:p>
          <a:p>
            <a:pPr marL="285750" indent="-285750" algn="l">
              <a:lnSpc>
                <a:spcPct val="130000"/>
              </a:lnSpc>
              <a:spcAft>
                <a:spcPts val="400"/>
              </a:spcAft>
              <a:buFontTx/>
              <a:buChar char="-"/>
            </a:pPr>
            <a:r>
              <a:rPr lang="en-US" sz="1800" i="0" dirty="0">
                <a:solidFill>
                  <a:srgbClr val="000000"/>
                </a:solidFill>
                <a:latin typeface="Avenir Book"/>
              </a:rPr>
              <a:t>Basics of when to start/not start an AI/ML project.</a:t>
            </a:r>
          </a:p>
          <a:p>
            <a:pPr marL="285750" indent="-285750" algn="l">
              <a:lnSpc>
                <a:spcPct val="130000"/>
              </a:lnSpc>
              <a:spcAft>
                <a:spcPts val="400"/>
              </a:spcAft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Basics of how to get started coding wise.</a:t>
            </a:r>
          </a:p>
          <a:p>
            <a:pPr marL="285750" indent="-285750">
              <a:lnSpc>
                <a:spcPct val="130000"/>
              </a:lnSpc>
              <a:spcAft>
                <a:spcPts val="400"/>
              </a:spcAft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Build a network of chemists interested in AI4Science.</a:t>
            </a:r>
          </a:p>
        </p:txBody>
      </p:sp>
    </p:spTree>
    <p:extLst>
      <p:ext uri="{BB962C8B-B14F-4D97-AF65-F5344CB8AC3E}">
        <p14:creationId xmlns:p14="http://schemas.microsoft.com/office/powerpoint/2010/main" val="2974967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 dirty="0">
                <a:solidFill>
                  <a:srgbClr val="000000"/>
                </a:solidFill>
                <a:latin typeface="Avenir Book"/>
              </a:rPr>
              <a:t>Tutorials </a:t>
            </a: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objectives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1828800"/>
            <a:ext cx="146304" cy="146304"/>
          </a:xfrm>
          <a:prstGeom prst="ellipse">
            <a:avLst/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9784080" cy="2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 i="0" dirty="0">
                <a:solidFill>
                  <a:srgbClr val="000000"/>
                </a:solidFill>
                <a:latin typeface="Avenir Book"/>
              </a:rPr>
              <a:t>Reproducible pipelines</a:t>
            </a:r>
            <a:r>
              <a:rPr sz="1550" b="0" i="0" dirty="0">
                <a:solidFill>
                  <a:srgbClr val="000000"/>
                </a:solidFill>
                <a:latin typeface="Avenir Book"/>
              </a:rPr>
              <a:t>: fixed seeds, versioned data splits, logged hyperparameters.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43200"/>
            <a:ext cx="146304" cy="146304"/>
          </a:xfrm>
          <a:prstGeom prst="ellipse">
            <a:avLst/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9784080" cy="2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550" dirty="0">
                <a:solidFill>
                  <a:srgbClr val="000000"/>
                </a:solidFill>
                <a:latin typeface="Avenir Book"/>
              </a:rPr>
              <a:t>D</a:t>
            </a:r>
            <a:r>
              <a:rPr sz="1550" i="0" dirty="0">
                <a:solidFill>
                  <a:srgbClr val="000000"/>
                </a:solidFill>
                <a:latin typeface="Avenir Book"/>
              </a:rPr>
              <a:t>efine </a:t>
            </a:r>
            <a:r>
              <a:rPr sz="1550" b="1" i="0" dirty="0">
                <a:solidFill>
                  <a:srgbClr val="000000"/>
                </a:solidFill>
                <a:latin typeface="Avenir Book"/>
              </a:rPr>
              <a:t>baseline</a:t>
            </a:r>
            <a:r>
              <a:rPr lang="en-US" sz="1550" b="1" i="0" dirty="0">
                <a:solidFill>
                  <a:srgbClr val="000000"/>
                </a:solidFill>
                <a:latin typeface="Avenir Book"/>
              </a:rPr>
              <a:t>s.</a:t>
            </a:r>
            <a:endParaRPr sz="155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3657600"/>
            <a:ext cx="146304" cy="146304"/>
          </a:xfrm>
          <a:prstGeom prst="ellipse">
            <a:avLst/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784080" cy="2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 i="0" dirty="0">
                <a:solidFill>
                  <a:srgbClr val="000000"/>
                </a:solidFill>
                <a:latin typeface="Avenir Book"/>
              </a:rPr>
              <a:t>Code architecture that separates data, features, model, and evaluation</a:t>
            </a:r>
            <a:r>
              <a:rPr lang="en-US" sz="1550" b="0" i="0" dirty="0">
                <a:solidFill>
                  <a:srgbClr val="000000"/>
                </a:solidFill>
                <a:latin typeface="Avenir Book"/>
              </a:rPr>
              <a:t>: </a:t>
            </a:r>
            <a:r>
              <a:rPr sz="1550" b="0" i="0" dirty="0">
                <a:solidFill>
                  <a:srgbClr val="000000"/>
                </a:solidFill>
                <a:latin typeface="Avenir Book"/>
              </a:rPr>
              <a:t>test</a:t>
            </a:r>
            <a:r>
              <a:rPr lang="en-US" sz="1550" b="0" i="0" dirty="0">
                <a:solidFill>
                  <a:srgbClr val="000000"/>
                </a:solidFill>
                <a:latin typeface="Avenir Book"/>
              </a:rPr>
              <a:t> components independently.</a:t>
            </a:r>
            <a:endParaRPr sz="155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22960" y="4572000"/>
            <a:ext cx="146304" cy="146304"/>
          </a:xfrm>
          <a:prstGeom prst="ellipse">
            <a:avLst/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8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 dirty="0">
                <a:solidFill>
                  <a:srgbClr val="000000"/>
                </a:solidFill>
                <a:latin typeface="Avenir Book"/>
              </a:rPr>
              <a:t>Readable code today is </a:t>
            </a:r>
            <a:r>
              <a:rPr sz="1550" b="0" i="0" dirty="0" err="1">
                <a:solidFill>
                  <a:srgbClr val="000000"/>
                </a:solidFill>
                <a:latin typeface="Avenir Book"/>
              </a:rPr>
              <a:t>debuggable</a:t>
            </a:r>
            <a:r>
              <a:rPr sz="1550" b="0" i="0" dirty="0">
                <a:solidFill>
                  <a:srgbClr val="000000"/>
                </a:solidFill>
                <a:latin typeface="Avenir Book"/>
              </a:rPr>
              <a:t> code tomorrow — including code an agent wrote for you.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Lecture are paired with Tutorial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920240"/>
            <a:ext cx="2286000" cy="2377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6E1E"/>
                </a:solidFill>
                <a:latin typeface="Avenir Book"/>
              </a:rPr>
              <a:t>9:00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33472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 dirty="0">
                <a:solidFill>
                  <a:srgbClr val="000000"/>
                </a:solidFill>
                <a:latin typeface="Avenir Book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599507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 dirty="0">
                <a:solidFill>
                  <a:srgbClr val="595959"/>
                </a:solidFill>
                <a:latin typeface="Avenir Book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920240"/>
            <a:ext cx="2286000" cy="2377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21024" y="217627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6E1E"/>
                </a:solidFill>
                <a:latin typeface="Avenir Book"/>
              </a:rPr>
              <a:t>10:45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633472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Avenir Book"/>
              </a:rPr>
              <a:t>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599507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venir Book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07024" y="1920240"/>
            <a:ext cx="2286000" cy="2377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63056" y="217627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6E1E"/>
                </a:solidFill>
                <a:latin typeface="Avenir Book"/>
              </a:rPr>
              <a:t>13:30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633472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Avenir Book"/>
              </a:rPr>
              <a:t>Lecture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599507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venir Book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49056" y="1920240"/>
            <a:ext cx="2286000" cy="23774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05088" y="2176272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6E1E"/>
                </a:solidFill>
                <a:latin typeface="Avenir Book"/>
              </a:rPr>
              <a:t>15:15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633472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Avenir Book"/>
              </a:rPr>
              <a:t>Tutorial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venir Book"/>
              </a:rPr>
              <a:t>Coffee 10:30–10:45 · Lunch 12:15–13:30 · Coffee 15:00–15:15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120640"/>
            <a:ext cx="10104120" cy="86868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417312"/>
            <a:ext cx="9601200" cy="22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 dirty="0">
                <a:solidFill>
                  <a:srgbClr val="000000"/>
                </a:solidFill>
                <a:latin typeface="Avenir Book"/>
              </a:rPr>
              <a:t>Fridays are full Hackathon days — apply the week's concepts to a real chemistry challenge</a:t>
            </a:r>
            <a:r>
              <a:rPr lang="en-US" sz="1300" dirty="0">
                <a:solidFill>
                  <a:srgbClr val="000000"/>
                </a:solidFill>
                <a:latin typeface="Avenir Book"/>
              </a:rPr>
              <a:t> </a:t>
            </a:r>
            <a:r>
              <a:rPr sz="1300" b="0" i="0" dirty="0">
                <a:solidFill>
                  <a:srgbClr val="000000"/>
                </a:solidFill>
                <a:latin typeface="Avenir Book"/>
              </a:rPr>
              <a:t>with a presentation at the end.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CF870-B18F-373B-6303-7B966EC5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25E124-D4D9-5272-4062-9C34FFE7A514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Bootcamp Objectives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C9D0EB-0282-C9F4-D3DC-D25DE549B9DE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CDED32A3-789B-3CB4-9A16-DA612CC5D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2A671A-0ED2-37BC-DAB5-F90790C61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233188"/>
            <a:ext cx="5039360" cy="2748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11E6E1-3B98-B05D-E55F-CE8B7B93707F}"/>
              </a:ext>
            </a:extLst>
          </p:cNvPr>
          <p:cNvSpPr txBox="1"/>
          <p:nvPr/>
        </p:nvSpPr>
        <p:spPr>
          <a:xfrm>
            <a:off x="822960" y="1828800"/>
            <a:ext cx="9875520" cy="1983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1" i="0" dirty="0">
                <a:solidFill>
                  <a:srgbClr val="000000"/>
                </a:solidFill>
                <a:latin typeface="Avenir Book"/>
              </a:rPr>
              <a:t>Goal for the two weeks: </a:t>
            </a:r>
            <a:endParaRPr lang="en-US" sz="1800" b="1" i="0" dirty="0">
              <a:solidFill>
                <a:srgbClr val="000000"/>
              </a:solidFill>
              <a:latin typeface="Avenir Book"/>
            </a:endParaRPr>
          </a:p>
          <a:p>
            <a:pPr marL="285750" indent="-285750" algn="l">
              <a:lnSpc>
                <a:spcPct val="130000"/>
              </a:lnSpc>
              <a:spcAft>
                <a:spcPts val="400"/>
              </a:spcAft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Basic l</a:t>
            </a:r>
            <a:r>
              <a:rPr sz="1800" i="0" dirty="0">
                <a:solidFill>
                  <a:srgbClr val="000000"/>
                </a:solidFill>
                <a:latin typeface="Avenir Book"/>
              </a:rPr>
              <a:t>iteracy across data, representations, and algorithms</a:t>
            </a:r>
            <a:endParaRPr lang="en-US" sz="1800" i="0" dirty="0">
              <a:solidFill>
                <a:srgbClr val="000000"/>
              </a:solidFill>
              <a:latin typeface="Avenir Book"/>
            </a:endParaRPr>
          </a:p>
          <a:p>
            <a:pPr marL="285750" indent="-285750" algn="l">
              <a:lnSpc>
                <a:spcPct val="130000"/>
              </a:lnSpc>
              <a:spcAft>
                <a:spcPts val="400"/>
              </a:spcAft>
              <a:buFontTx/>
              <a:buChar char="-"/>
            </a:pPr>
            <a:r>
              <a:rPr lang="en-US" sz="1800" i="0" dirty="0">
                <a:solidFill>
                  <a:srgbClr val="000000"/>
                </a:solidFill>
                <a:latin typeface="Avenir Book"/>
              </a:rPr>
              <a:t>Basics of when to start/not start an AI/ML project.</a:t>
            </a:r>
          </a:p>
          <a:p>
            <a:pPr marL="285750" indent="-285750" algn="l">
              <a:lnSpc>
                <a:spcPct val="130000"/>
              </a:lnSpc>
              <a:spcAft>
                <a:spcPts val="400"/>
              </a:spcAft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Basics of how to get started coding wise.</a:t>
            </a:r>
          </a:p>
          <a:p>
            <a:pPr marL="285750" indent="-285750">
              <a:lnSpc>
                <a:spcPct val="130000"/>
              </a:lnSpc>
              <a:spcAft>
                <a:spcPts val="400"/>
              </a:spcAft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venir Book"/>
              </a:rPr>
              <a:t>Build a network of chemists interested in AI4Science.</a:t>
            </a:r>
          </a:p>
        </p:txBody>
      </p:sp>
    </p:spTree>
    <p:extLst>
      <p:ext uri="{BB962C8B-B14F-4D97-AF65-F5344CB8AC3E}">
        <p14:creationId xmlns:p14="http://schemas.microsoft.com/office/powerpoint/2010/main" val="313987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0000"/>
                </a:solidFill>
                <a:latin typeface="Avenir Book"/>
              </a:rPr>
              <a:t>Coding agents are getting stronger,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389" y="1593668"/>
            <a:ext cx="3246120" cy="30632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9997" y="1886276"/>
            <a:ext cx="2660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6E1E"/>
                </a:solidFill>
                <a:latin typeface="Avenir Book"/>
              </a:rPr>
              <a:t>↑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9997" y="2462348"/>
            <a:ext cx="266090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Avenir Book"/>
              </a:rPr>
              <a:t>Agents now scaffold pipelines, debug, and write whole tutorials' worth of code in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549" y="1593668"/>
            <a:ext cx="3246120" cy="30632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157" y="1886276"/>
            <a:ext cx="2660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6E1E"/>
                </a:solidFill>
                <a:latin typeface="Avenir Book"/>
              </a:rPr>
              <a:t>↑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157" y="2462348"/>
            <a:ext cx="266090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Avenir Book"/>
              </a:rPr>
              <a:t>That capability is not free — token and compute cost scale with how much you let an agent run unsupervised.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9709" y="1593668"/>
            <a:ext cx="3246120" cy="306324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317" y="1886276"/>
            <a:ext cx="2660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6E1E"/>
                </a:solidFill>
                <a:latin typeface="Avenir Book"/>
              </a:rPr>
              <a:t>↑ Need for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317" y="2462348"/>
            <a:ext cx="266090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 dirty="0">
                <a:solidFill>
                  <a:srgbClr val="000000"/>
                </a:solidFill>
                <a:latin typeface="Avenir Book"/>
              </a:rPr>
              <a:t>More power means you need to specify intent precisely and monitor what actually got done.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389" y="4931228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1709" y="5193793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1" i="0" dirty="0">
                <a:solidFill>
                  <a:srgbClr val="FF6E1E"/>
                </a:solidFill>
                <a:latin typeface="Avenir Book"/>
              </a:rPr>
              <a:t>~80%</a:t>
            </a:r>
            <a:endParaRPr sz="2800" b="1" i="0" dirty="0">
              <a:solidFill>
                <a:srgbClr val="FF6E1E"/>
              </a:solidFill>
              <a:latin typeface="Avenir Book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20589" y="5132396"/>
            <a:ext cx="7040880" cy="520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 dirty="0">
                <a:solidFill>
                  <a:srgbClr val="000000"/>
                </a:solidFill>
                <a:latin typeface="Avenir Book"/>
              </a:rPr>
              <a:t>of you already reach for Claude, Codex, Gemini or Copilot</a:t>
            </a:r>
            <a:r>
              <a:rPr lang="en-US" sz="1300" b="0" i="0" dirty="0">
                <a:solidFill>
                  <a:srgbClr val="000000"/>
                </a:solidFill>
                <a:latin typeface="Avenir Book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dirty="0">
                <a:solidFill>
                  <a:srgbClr val="000000"/>
                </a:solidFill>
                <a:latin typeface="Avenir Book"/>
              </a:rPr>
              <a:t>H</a:t>
            </a:r>
            <a:r>
              <a:rPr sz="1300" b="0" i="0" dirty="0">
                <a:solidFill>
                  <a:srgbClr val="000000"/>
                </a:solidFill>
                <a:latin typeface="Avenir Book"/>
              </a:rPr>
              <a:t>ow to direct them well</a:t>
            </a:r>
            <a:r>
              <a:rPr lang="en-US" sz="1300" b="0" i="0" dirty="0">
                <a:solidFill>
                  <a:srgbClr val="000000"/>
                </a:solidFill>
                <a:latin typeface="Avenir Book"/>
              </a:rPr>
              <a:t>? How to keep track of what they produce?</a:t>
            </a:r>
            <a:endParaRPr sz="1300" b="0" i="0" dirty="0">
              <a:solidFill>
                <a:srgbClr val="000000"/>
              </a:solidFill>
              <a:latin typeface="Avenir Book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ECD785-9CFC-8153-7880-7D10CCA93C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58" t="7124" r="35585"/>
          <a:stretch>
            <a:fillRect/>
          </a:stretch>
        </p:blipFill>
        <p:spPr>
          <a:xfrm>
            <a:off x="1151709" y="3170403"/>
            <a:ext cx="1406434" cy="134797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0000"/>
                </a:solidFill>
                <a:latin typeface="Avenir Book"/>
              </a:rPr>
              <a:t>Going faster without losing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1828800"/>
            <a:ext cx="146304" cy="146304"/>
          </a:xfrm>
          <a:prstGeom prst="ellipse">
            <a:avLst/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Thursday, Week 2 — Agentic AI for Chemistry: </a:t>
            </a:r>
            <a:r>
              <a:rPr sz="1500" b="0" i="0" dirty="0" err="1">
                <a:solidFill>
                  <a:srgbClr val="000000"/>
                </a:solidFill>
                <a:latin typeface="Avenir Book"/>
              </a:rPr>
              <a:t>ReAct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, </a:t>
            </a:r>
            <a:r>
              <a:rPr sz="1500" b="0" i="0" dirty="0" err="1">
                <a:solidFill>
                  <a:srgbClr val="000000"/>
                </a:solidFill>
                <a:latin typeface="Avenir Book"/>
              </a:rPr>
              <a:t>Coscientist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, multi-agent workflows, self-driving labs.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43200"/>
            <a:ext cx="146304" cy="146304"/>
          </a:xfrm>
          <a:prstGeom prst="ellipse">
            <a:avLst/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9784080" cy="2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500" dirty="0">
                <a:solidFill>
                  <a:srgbClr val="000000"/>
                </a:solidFill>
                <a:latin typeface="Avenir Book"/>
              </a:rPr>
              <a:t>B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uild a Chemistry </a:t>
            </a:r>
            <a:r>
              <a:rPr sz="1500" b="0" i="0" dirty="0" err="1">
                <a:solidFill>
                  <a:srgbClr val="000000"/>
                </a:solidFill>
                <a:latin typeface="Avenir Book"/>
              </a:rPr>
              <a:t>ReAct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 agent with PubChem lookup, </a:t>
            </a:r>
            <a:r>
              <a:rPr sz="1500" b="0" i="0" dirty="0" err="1">
                <a:solidFill>
                  <a:srgbClr val="000000"/>
                </a:solidFill>
                <a:latin typeface="Avenir Book"/>
              </a:rPr>
              <a:t>RDKit</a:t>
            </a:r>
            <a:r>
              <a:rPr sz="1500" b="0" i="0" dirty="0">
                <a:solidFill>
                  <a:srgbClr val="000000"/>
                </a:solidFill>
                <a:latin typeface="Avenir Book"/>
              </a:rPr>
              <a:t> tools, and a BO surrogate, with guardrails.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657600"/>
            <a:ext cx="146304" cy="146304"/>
          </a:xfrm>
          <a:prstGeom prst="ellipse">
            <a:avLst/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Every hackathon: use agents deliberately — know what “good” output looks like before you delegate to one.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72000"/>
            <a:ext cx="146304" cy="146304"/>
          </a:xfrm>
          <a:prstGeom prst="ellipse">
            <a:avLst/>
          </a:prstGeom>
          <a:solidFill>
            <a:srgbClr val="FF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8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 dirty="0">
                <a:solidFill>
                  <a:srgbClr val="000000"/>
                </a:solidFill>
                <a:latin typeface="Avenir Book"/>
              </a:rPr>
              <a:t>Ground rule for the two weeks: review the diff, don't just trust the green checkmark.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DD8CC-0D65-F2E4-5C97-2F3B97A0C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4AE4FD-11DA-99B4-0298-1683F033CDD5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Avenir Book"/>
              </a:rPr>
              <a:t>Morning Agenda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021BB-FF05-6D58-1710-F4AE4426E668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07288884-F373-DCD6-473A-514023827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63056F-2C8A-5B9E-0170-ECAE566E5EDD}"/>
              </a:ext>
            </a:extLst>
          </p:cNvPr>
          <p:cNvSpPr txBox="1"/>
          <p:nvPr/>
        </p:nvSpPr>
        <p:spPr>
          <a:xfrm>
            <a:off x="2396676" y="2644170"/>
            <a:ext cx="69292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Tx/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AI &amp; ML today</a:t>
            </a:r>
          </a:p>
          <a:p>
            <a:pPr marL="514350" indent="-514350">
              <a:buFontTx/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Bootcamp Overview</a:t>
            </a:r>
          </a:p>
          <a:p>
            <a:pPr marL="514350" indent="-514350">
              <a:buAutoNum type="romanUcPeriod"/>
            </a:pPr>
            <a:r>
              <a:rPr lang="en-US" sz="2400" b="1" dirty="0">
                <a:latin typeface="Aptos" panose="020B0004020202020204" pitchFamily="34" charset="0"/>
              </a:rPr>
              <a:t>Bootcamp Objectives &amp;</a:t>
            </a:r>
            <a:r>
              <a:rPr lang="en-US" sz="2400" dirty="0">
                <a:latin typeface="Aptos" panose="020B0004020202020204" pitchFamily="34" charset="0"/>
              </a:rPr>
              <a:t> </a:t>
            </a:r>
            <a:r>
              <a:rPr lang="en-US" sz="2400" b="1" dirty="0">
                <a:latin typeface="Aptos" panose="020B0004020202020204" pitchFamily="34" charset="0"/>
              </a:rPr>
              <a:t>Roadmap</a:t>
            </a:r>
          </a:p>
          <a:p>
            <a:pPr marL="514350" indent="-514350">
              <a:buAutoNum type="romanUcPeriod"/>
            </a:pPr>
            <a:r>
              <a:rPr lang="en-US" sz="2400" dirty="0">
                <a:latin typeface="Aptos" panose="020B0004020202020204" pitchFamily="34" charset="0"/>
              </a:rPr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1674039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0000"/>
                </a:solidFill>
                <a:latin typeface="Avenir Book"/>
              </a:rPr>
              <a:t>Where to find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9600" y="1105408"/>
            <a:ext cx="5242560" cy="238760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2368" y="1416558"/>
            <a:ext cx="4306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000000"/>
                </a:solidFill>
                <a:latin typeface="Avenir Book"/>
              </a:rPr>
              <a:t>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368" y="2901431"/>
            <a:ext cx="4306824" cy="399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 dirty="0">
                <a:solidFill>
                  <a:srgbClr val="595959"/>
                </a:solidFill>
                <a:latin typeface="Avenir Book"/>
              </a:rPr>
              <a:t>The live day-by-day plan — this page. Subject to small changes as the bootcamp goes.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05408"/>
            <a:ext cx="5242560" cy="238760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1381887"/>
            <a:ext cx="4306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Avenir Book"/>
              </a:rPr>
              <a:t>Lectures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901431"/>
            <a:ext cx="430682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 dirty="0">
                <a:solidFill>
                  <a:srgbClr val="595959"/>
                </a:solidFill>
                <a:latin typeface="Avenir Book"/>
              </a:rPr>
              <a:t>Slides &amp; notes for every lecture, linked directly from the schedule.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3816096"/>
            <a:ext cx="5242560" cy="238760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368" y="4133317"/>
            <a:ext cx="4306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000000"/>
                </a:solidFill>
                <a:latin typeface="Avenir Book"/>
              </a:rPr>
              <a:t>Tutorials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368" y="5608701"/>
            <a:ext cx="430682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 dirty="0">
                <a:solidFill>
                  <a:srgbClr val="595959"/>
                </a:solidFill>
                <a:latin typeface="Avenir Book"/>
              </a:rPr>
              <a:t>Every hands-on notebook — the same ones you'll open each session.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16096"/>
            <a:ext cx="5242560" cy="238760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3888" y="4133088"/>
            <a:ext cx="4306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000000"/>
                </a:solidFill>
                <a:latin typeface="Avenir Book"/>
              </a:rPr>
              <a:t>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5547360"/>
            <a:ext cx="430682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 dirty="0">
                <a:solidFill>
                  <a:srgbClr val="595959"/>
                </a:solidFill>
                <a:latin typeface="Avenir Book"/>
              </a:rPr>
              <a:t>Curated courses, papers &amp; tools by topic — from ML fundamentals to self-driving labs.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0E5823-144D-C59D-8EE8-7E3A7DD2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796" y="1381829"/>
            <a:ext cx="1388060" cy="13880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Claude and </a:t>
            </a:r>
            <a:r>
              <a:rPr lang="en-US" sz="2800" b="0" i="0" dirty="0" err="1">
                <a:solidFill>
                  <a:srgbClr val="000000"/>
                </a:solidFill>
                <a:latin typeface="Avenir Book"/>
              </a:rPr>
              <a:t>Colab</a:t>
            </a: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 Licenses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437640"/>
            <a:ext cx="10464800" cy="160020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657096"/>
            <a:ext cx="4306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FF6E1E"/>
                </a:solidFill>
                <a:latin typeface="Avenir Book"/>
              </a:rPr>
              <a:t>Claude Pro</a:t>
            </a:r>
            <a:endParaRPr sz="1800" b="1" i="0" dirty="0">
              <a:solidFill>
                <a:srgbClr val="FF6E1E"/>
              </a:solidFill>
              <a:latin typeface="Avenir Boo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" y="2096008"/>
            <a:ext cx="68498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1" i="0" dirty="0">
                <a:solidFill>
                  <a:srgbClr val="000000"/>
                </a:solidFill>
                <a:latin typeface="Avenir Book"/>
              </a:rPr>
              <a:t>If you don’t have access, send me an email at </a:t>
            </a:r>
            <a:r>
              <a:rPr lang="en-US" sz="1300" b="1" i="0" dirty="0">
                <a:solidFill>
                  <a:srgbClr val="000000"/>
                </a:solidFill>
                <a:latin typeface="Avenir Book"/>
                <a:hlinkClick r:id="rId4"/>
              </a:rPr>
              <a:t>jul@caltech.edu</a:t>
            </a:r>
            <a:r>
              <a:rPr lang="en-US" sz="1300" b="1" i="0" dirty="0">
                <a:solidFill>
                  <a:srgbClr val="000000"/>
                </a:solidFill>
                <a:latin typeface="Avenir Book"/>
              </a:rPr>
              <a:t> now</a:t>
            </a:r>
            <a:endParaRPr sz="1300" b="1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1D28193-E226-08C7-82C8-65CF3A99D2FA}"/>
              </a:ext>
            </a:extLst>
          </p:cNvPr>
          <p:cNvSpPr/>
          <p:nvPr/>
        </p:nvSpPr>
        <p:spPr>
          <a:xfrm>
            <a:off x="822960" y="3266440"/>
            <a:ext cx="10464800" cy="274828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C75A22-1C7A-339C-3A2C-DC53E843E39A}"/>
              </a:ext>
            </a:extLst>
          </p:cNvPr>
          <p:cNvSpPr txBox="1"/>
          <p:nvPr/>
        </p:nvSpPr>
        <p:spPr>
          <a:xfrm>
            <a:off x="1115568" y="3485896"/>
            <a:ext cx="4306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800" b="1" i="0" dirty="0" err="1">
                <a:solidFill>
                  <a:srgbClr val="FF6E1E"/>
                </a:solidFill>
                <a:latin typeface="Avenir Book"/>
              </a:rPr>
              <a:t>Colab</a:t>
            </a:r>
            <a:r>
              <a:rPr lang="en-US" sz="1800" b="1" i="0" dirty="0">
                <a:solidFill>
                  <a:srgbClr val="FF6E1E"/>
                </a:solidFill>
                <a:latin typeface="Avenir Book"/>
              </a:rPr>
              <a:t> Pro</a:t>
            </a:r>
            <a:endParaRPr sz="1800" b="1" i="0" dirty="0">
              <a:solidFill>
                <a:srgbClr val="FF6E1E"/>
              </a:solidFill>
              <a:latin typeface="Avenir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6B77AB-D8CF-471A-FB59-9C93C08211D6}"/>
              </a:ext>
            </a:extLst>
          </p:cNvPr>
          <p:cNvSpPr txBox="1"/>
          <p:nvPr/>
        </p:nvSpPr>
        <p:spPr>
          <a:xfrm>
            <a:off x="1115568" y="3924808"/>
            <a:ext cx="655523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1" i="0" dirty="0">
                <a:solidFill>
                  <a:srgbClr val="000000"/>
                </a:solidFill>
                <a:latin typeface="Avenir Book"/>
              </a:rPr>
              <a:t>If you don’t have access go to this web page using the QR code, select 100 compute units and raise your hand, Tomomi will help for the </a:t>
            </a:r>
            <a:r>
              <a:rPr lang="en-US" sz="1300" b="1" i="0" dirty="0" err="1">
                <a:solidFill>
                  <a:srgbClr val="000000"/>
                </a:solidFill>
                <a:latin typeface="Avenir Book"/>
              </a:rPr>
              <a:t>paiment</a:t>
            </a:r>
            <a:endParaRPr sz="1300" b="1" i="0" dirty="0">
              <a:solidFill>
                <a:srgbClr val="000000"/>
              </a:solidFill>
              <a:latin typeface="Avenir Book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BCBF473-6394-0CC8-5F1C-D196F6B89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452" y="4421263"/>
            <a:ext cx="1423144" cy="1423144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EAEC365-26E3-5029-44B3-53945E016D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835"/>
          <a:stretch>
            <a:fillRect/>
          </a:stretch>
        </p:blipFill>
        <p:spPr>
          <a:xfrm>
            <a:off x="8011549" y="3415657"/>
            <a:ext cx="2763520" cy="2462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56B2D-15F0-54EF-2E0A-B7566EC2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3EBFB8-B16B-1E67-7A75-DCC3C52BA589}"/>
              </a:ext>
            </a:extLst>
          </p:cNvPr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Checking </a:t>
            </a:r>
            <a:r>
              <a:rPr lang="en-US" sz="2800" b="0" i="0" dirty="0" err="1">
                <a:solidFill>
                  <a:srgbClr val="000000"/>
                </a:solidFill>
                <a:latin typeface="Avenir Book"/>
              </a:rPr>
              <a:t>Colab</a:t>
            </a:r>
            <a:r>
              <a:rPr lang="en-US" sz="2800" b="0" i="0" dirty="0">
                <a:solidFill>
                  <a:srgbClr val="000000"/>
                </a:solidFill>
                <a:latin typeface="Avenir Book"/>
              </a:rPr>
              <a:t> Interface</a:t>
            </a:r>
            <a:endParaRPr sz="2800" b="0" i="0" dirty="0">
              <a:solidFill>
                <a:srgbClr val="000000"/>
              </a:solidFill>
              <a:latin typeface="Avenir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1FB8A-DB99-8984-FF78-41F076B47BC2}"/>
              </a:ext>
            </a:extLst>
          </p:cNvPr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>
            <a:extLst>
              <a:ext uri="{FF2B5EF4-FFF2-40B4-BE49-F238E27FC236}">
                <a16:creationId xmlns:a16="http://schemas.microsoft.com/office/drawing/2014/main" id="{3DFE5528-E3E7-FD05-6AB5-DFA4DF27D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AE94EE-8512-92D5-2AE7-D2FD6DE24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00" y="1430350"/>
            <a:ext cx="9724903" cy="44929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074198-B84E-11A3-4150-7562BDF8B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0140" y="2219960"/>
            <a:ext cx="1663700" cy="1663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4604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497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0000"/>
                </a:solidFill>
                <a:latin typeface="Avenir Book"/>
              </a:rPr>
              <a:t>Let's meet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18630"/>
            <a:ext cx="12191695" cy="4572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5" name="Picture 4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2979"/>
            <a:ext cx="1554480" cy="37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92024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000000"/>
                </a:solidFill>
                <a:latin typeface="Avenir Book"/>
              </a:rPr>
              <a:t>Next up, 10:45 — round-table introductions: your research background and what you're hoping to get out of these two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venir Book"/>
              </a:rPr>
              <a:t>J. Schleinitz · jul@caltech.edu · AI4Chemical Sciences Bootcamp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1625</Words>
  <Application>Microsoft Macintosh PowerPoint</Application>
  <PresentationFormat>Widescreen</PresentationFormat>
  <Paragraphs>322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Avenir Book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Schleinitz, Jules</cp:lastModifiedBy>
  <cp:revision>34</cp:revision>
  <dcterms:created xsi:type="dcterms:W3CDTF">2013-01-27T09:14:16Z</dcterms:created>
  <dcterms:modified xsi:type="dcterms:W3CDTF">2026-08-05T23:52:06Z</dcterms:modified>
  <cp:category/>
</cp:coreProperties>
</file>