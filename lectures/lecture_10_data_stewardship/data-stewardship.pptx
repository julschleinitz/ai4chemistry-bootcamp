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heme/themeOverride1.xml" ContentType="application/vnd.openxmlformats-officedocument.themeOverride+xml"/>
  <Override PartName="/ppt/tags/tag1.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313" r:id="rId2"/>
    <p:sldId id="256" r:id="rId3"/>
    <p:sldId id="258" r:id="rId4"/>
    <p:sldId id="259" r:id="rId5"/>
    <p:sldId id="260" r:id="rId6"/>
    <p:sldId id="261" r:id="rId7"/>
    <p:sldId id="263" r:id="rId8"/>
    <p:sldId id="264" r:id="rId9"/>
    <p:sldId id="2146847322" r:id="rId10"/>
    <p:sldId id="2146847332" r:id="rId11"/>
    <p:sldId id="2146847323" r:id="rId12"/>
    <p:sldId id="2146847324" r:id="rId13"/>
    <p:sldId id="2146847325" r:id="rId14"/>
    <p:sldId id="268" r:id="rId15"/>
    <p:sldId id="269" r:id="rId16"/>
    <p:sldId id="2146847334" r:id="rId17"/>
    <p:sldId id="270" r:id="rId18"/>
    <p:sldId id="272" r:id="rId19"/>
    <p:sldId id="276" r:id="rId20"/>
    <p:sldId id="2146847282" r:id="rId21"/>
    <p:sldId id="459" r:id="rId22"/>
    <p:sldId id="2146847234" r:id="rId23"/>
    <p:sldId id="2146847250" r:id="rId24"/>
    <p:sldId id="2146847252" r:id="rId25"/>
    <p:sldId id="2146847335" r:id="rId26"/>
    <p:sldId id="2146847336" r:id="rId27"/>
    <p:sldId id="2146847259" r:id="rId28"/>
    <p:sldId id="281" r:id="rId29"/>
    <p:sldId id="265" r:id="rId30"/>
    <p:sldId id="282" r:id="rId31"/>
    <p:sldId id="419" r:id="rId32"/>
    <p:sldId id="284" r:id="rId33"/>
    <p:sldId id="285" r:id="rId34"/>
    <p:sldId id="288" r:id="rId35"/>
    <p:sldId id="287" r:id="rId36"/>
    <p:sldId id="291" r:id="rId37"/>
    <p:sldId id="292" r:id="rId38"/>
    <p:sldId id="295"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516" autoAdjust="0"/>
  </p:normalViewPr>
  <p:slideViewPr>
    <p:cSldViewPr snapToGrid="0" snapToObjects="1">
      <p:cViewPr varScale="1">
        <p:scale>
          <a:sx n="114" d="100"/>
          <a:sy n="114" d="100"/>
        </p:scale>
        <p:origin x="66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68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AD09BE-DDAD-489E-92B4-91DD985A3F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53714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5-second beat. Move quickly to content.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833A-7BF2-4AAC-1E1E-DA0E47FCB7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4D234-E732-B3FE-F178-80524D29BD9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3CABF9D-2D33-9AFB-B4B5-C39B40D0F5E2}"/>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54B11C3-8199-B33C-623A-372FD658F6E1}"/>
              </a:ext>
            </a:extLst>
          </p:cNvPr>
          <p:cNvSpPr>
            <a:spLocks noGrp="1"/>
          </p:cNvSpPr>
          <p:nvPr>
            <p:ph type="sldNum" sz="quarter" idx="5"/>
          </p:nvPr>
        </p:nvSpPr>
        <p:spPr/>
      </p:sp>
    </p:spTree>
    <p:extLst>
      <p:ext uri="{BB962C8B-B14F-4D97-AF65-F5344CB8AC3E}">
        <p14:creationId xmlns:p14="http://schemas.microsoft.com/office/powerpoint/2010/main" val="22311491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7E5D8-C165-4BB0-4784-38DD666DFF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65EA4-1692-CED2-C308-3068FCF15F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ECC9EF-5201-1E19-7F99-134F25498F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9726691-2A51-5271-34BE-F9B24DDA3F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AD09BE-DDAD-489E-92B4-91DD985A3F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3860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1F7DF-E6FB-8B6C-24A9-F271504A8E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F7A066-4486-D108-76C6-4F3485C511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C939A1-512C-8861-E0DF-6B82DACBFC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FD53CF-EBA4-ECFB-1433-99AFA4192A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AD09BE-DDAD-489E-92B4-91DD985A3F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92962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F6289-440E-BE67-A68B-BB72D574F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4F74C-95E3-2C7C-12E0-347B04EEC3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6A8CD9-15B9-7DAB-3739-BC1AC56EDF3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B99860-6101-9958-DE84-D3AE28C29E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AD09BE-DDAD-489E-92B4-91DD985A3F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20354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6ED91-9D1E-7A94-EFFB-06C5E69944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D442F8-A0D2-63DC-ADD6-7A7A9E36ED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81EF6-6FC7-BAB9-1302-112B8BF27E60}"/>
              </a:ext>
            </a:extLst>
          </p:cNvPr>
          <p:cNvSpPr>
            <a:spLocks noGrp="1"/>
          </p:cNvSpPr>
          <p:nvPr>
            <p:ph type="body" idx="1"/>
          </p:nvPr>
        </p:nvSpPr>
        <p:spPr/>
        <p:txBody>
          <a:bodyPr/>
          <a:lstStyle/>
          <a:p>
            <a:r>
              <a:rPr lang="en-US"/>
              <a:t>A, C, F</a:t>
            </a:r>
          </a:p>
        </p:txBody>
      </p:sp>
      <p:sp>
        <p:nvSpPr>
          <p:cNvPr id="4" name="Slide Number Placeholder 3">
            <a:extLst>
              <a:ext uri="{FF2B5EF4-FFF2-40B4-BE49-F238E27FC236}">
                <a16:creationId xmlns:a16="http://schemas.microsoft.com/office/drawing/2014/main" id="{1D0E5A50-61BA-9EED-23E9-5E880F4AEC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06DAD1-D7AC-4FF6-AEC1-95DA3C60A7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56948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92F33-6661-D237-4DB8-E3B256986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4675B-8857-2CFC-17AD-9AA328C1F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757A8-39C5-F96B-94BF-DA4F767E109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C65879-2316-D12D-29CA-4F1AC10410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AD09BE-DDAD-489E-92B4-91DD985A3F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05311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915E6-6401-ABEF-B365-1F7F26F622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2013D-3067-1F35-82B9-C2634B8E04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6D9E43-7A1F-0801-D2EB-F13CE54094B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0F73F34-2FEF-9528-5A96-30D00383AD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AD09BE-DDAD-489E-92B4-91DD985A3F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97710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0100F-30D4-E62A-ACAD-EFD00C86D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273291-4C7A-3A0B-BDFE-8F4CE2F274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F4597-236F-DDD2-F78E-08BD5263A55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CC5D25-7EB4-0A60-4001-6B7BFDAC3F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AD09BE-DDAD-489E-92B4-91DD985A3F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05415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E179B-BCFD-1FF0-0E2E-76738B5101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6741E-1275-7609-1EDA-9EF9DC195E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4040EA-CA72-5D71-0165-D4DDC35452D3}"/>
              </a:ext>
            </a:extLst>
          </p:cNvPr>
          <p:cNvSpPr>
            <a:spLocks noGrp="1"/>
          </p:cNvSpPr>
          <p:nvPr>
            <p:ph type="body" idx="1"/>
          </p:nvPr>
        </p:nvSpPr>
        <p:spPr/>
        <p:txBody>
          <a:bodyPr/>
          <a:lstStyle/>
          <a:p>
            <a:r>
              <a:rPr lang="en-US"/>
              <a:t>B</a:t>
            </a:r>
          </a:p>
        </p:txBody>
      </p:sp>
      <p:sp>
        <p:nvSpPr>
          <p:cNvPr id="4" name="Slide Number Placeholder 3">
            <a:extLst>
              <a:ext uri="{FF2B5EF4-FFF2-40B4-BE49-F238E27FC236}">
                <a16:creationId xmlns:a16="http://schemas.microsoft.com/office/drawing/2014/main" id="{AFC29B22-BF3D-336C-BCEB-EFBB252A9C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906DAD1-D7AC-4FF6-AEC1-95DA3C60A70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4239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AD09BE-DDAD-489E-92B4-91DD985A3F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35167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Logo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87C33A6-FF4C-AB42-9E2A-013F4F02C8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10968"/>
            <a:ext cx="12192000" cy="541867"/>
          </a:xfrm>
          <a:prstGeom prst="rect">
            <a:avLst/>
          </a:prstGeom>
        </p:spPr>
      </p:pic>
      <p:sp>
        <p:nvSpPr>
          <p:cNvPr id="18" name="Content Placeholder 2">
            <a:extLst>
              <a:ext uri="{FF2B5EF4-FFF2-40B4-BE49-F238E27FC236}">
                <a16:creationId xmlns:a16="http://schemas.microsoft.com/office/drawing/2014/main" id="{2CB978F2-E9DC-43A6-A84F-48F54FD5547E}"/>
              </a:ext>
            </a:extLst>
          </p:cNvPr>
          <p:cNvSpPr>
            <a:spLocks noGrp="1"/>
          </p:cNvSpPr>
          <p:nvPr>
            <p:ph idx="1"/>
          </p:nvPr>
        </p:nvSpPr>
        <p:spPr>
          <a:xfrm>
            <a:off x="541867" y="889000"/>
            <a:ext cx="11106151" cy="5283200"/>
          </a:xfrm>
          <a:prstGeom prst="rect">
            <a:avLst/>
          </a:prstGeom>
        </p:spPr>
        <p:txBody>
          <a:bodyPr lIns="45720" rIns="45720">
            <a:noAutofit/>
          </a:bodyPr>
          <a:lstStyle>
            <a:lvl1pPr marL="304792" indent="-304792">
              <a:buClr>
                <a:srgbClr val="E80032"/>
              </a:buClr>
              <a:buFont typeface="Wingdings" panose="05000000000000000000" pitchFamily="2" charset="2"/>
              <a:buChar char="§"/>
              <a:defRPr sz="2133">
                <a:solidFill>
                  <a:schemeClr val="tx1">
                    <a:lumMod val="75000"/>
                    <a:lumOff val="25000"/>
                  </a:schemeClr>
                </a:solidFill>
                <a:latin typeface="Arial" panose="020B0604020202020204" pitchFamily="34" charset="0"/>
                <a:cs typeface="Arial" panose="020B0604020202020204" pitchFamily="34" charset="0"/>
              </a:defRPr>
            </a:lvl1pPr>
            <a:lvl2pPr marL="609585" indent="-304792">
              <a:buClr>
                <a:srgbClr val="E80032"/>
              </a:buClr>
              <a:buSzPct val="80000"/>
              <a:buFont typeface="Wingdings" panose="05000000000000000000" pitchFamily="2" charset="2"/>
              <a:buChar char="Ø"/>
              <a:defRPr sz="1867">
                <a:solidFill>
                  <a:schemeClr val="tx1">
                    <a:lumMod val="75000"/>
                    <a:lumOff val="25000"/>
                  </a:schemeClr>
                </a:solidFill>
                <a:latin typeface="Arial" panose="020B0604020202020204" pitchFamily="34" charset="0"/>
                <a:cs typeface="Arial" panose="020B0604020202020204" pitchFamily="34" charset="0"/>
              </a:defRPr>
            </a:lvl2pPr>
            <a:lvl3pPr marL="914377" indent="-304792">
              <a:buClr>
                <a:srgbClr val="E80032"/>
              </a:buClr>
              <a:buSzPct val="80000"/>
              <a:buFont typeface="Wingdings" panose="05000000000000000000" pitchFamily="2" charset="2"/>
              <a:buChar char="ü"/>
              <a:defRPr sz="1733">
                <a:solidFill>
                  <a:schemeClr val="tx1">
                    <a:lumMod val="75000"/>
                    <a:lumOff val="25000"/>
                  </a:schemeClr>
                </a:solidFill>
                <a:latin typeface="Arial" panose="020B0604020202020204" pitchFamily="34" charset="0"/>
                <a:cs typeface="Arial" panose="020B0604020202020204" pitchFamily="34" charset="0"/>
              </a:defRPr>
            </a:lvl3pPr>
            <a:lvl4pPr>
              <a:defRPr sz="2400"/>
            </a:lvl4pPr>
            <a:lvl5pPr>
              <a:defRPr sz="2400"/>
            </a:lvl5pPr>
          </a:lstStyle>
          <a:p>
            <a:pPr lvl="0"/>
            <a:r>
              <a:rPr lang="en-US"/>
              <a:t>Click to 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004B87FB-ADA9-46D4-8FB7-72CF7CAC96B1}"/>
              </a:ext>
            </a:extLst>
          </p:cNvPr>
          <p:cNvSpPr>
            <a:spLocks noGrp="1"/>
          </p:cNvSpPr>
          <p:nvPr>
            <p:ph type="title"/>
          </p:nvPr>
        </p:nvSpPr>
        <p:spPr>
          <a:xfrm>
            <a:off x="541297" y="123735"/>
            <a:ext cx="11106912" cy="560832"/>
          </a:xfrm>
          <a:prstGeom prst="rect">
            <a:avLst/>
          </a:prstGeom>
        </p:spPr>
        <p:txBody>
          <a:bodyPr lIns="45720" rIns="45720" anchor="ctr"/>
          <a:lstStyle>
            <a:lvl1pPr>
              <a:defRPr lang="en-US" sz="2667" cap="small" baseline="0" dirty="0">
                <a:solidFill>
                  <a:schemeClr val="tx1">
                    <a:lumMod val="75000"/>
                    <a:lumOff val="25000"/>
                  </a:schemeClr>
                </a:solidFill>
                <a:latin typeface="Arial" panose="020B0604020202020204" pitchFamily="34" charset="0"/>
                <a:cs typeface="Arial" panose="020B0604020202020204" pitchFamily="34" charset="0"/>
              </a:defRPr>
            </a:lvl1pPr>
          </a:lstStyle>
          <a:p>
            <a:pPr marL="0" lvl="0"/>
            <a:r>
              <a:rPr lang="en-US"/>
              <a:t>Click to edit Master title style</a:t>
            </a:r>
            <a:endParaRPr lang="en-US" dirty="0"/>
          </a:p>
        </p:txBody>
      </p:sp>
      <p:sp>
        <p:nvSpPr>
          <p:cNvPr id="13" name="Slide Number Placeholder 3">
            <a:extLst>
              <a:ext uri="{FF2B5EF4-FFF2-40B4-BE49-F238E27FC236}">
                <a16:creationId xmlns:a16="http://schemas.microsoft.com/office/drawing/2014/main" id="{81DE34CD-E61D-4FA8-ACC1-67A1F24A3A4D}"/>
              </a:ext>
            </a:extLst>
          </p:cNvPr>
          <p:cNvSpPr>
            <a:spLocks noGrp="1"/>
          </p:cNvSpPr>
          <p:nvPr>
            <p:ph type="sldNum" sz="quarter" idx="11"/>
          </p:nvPr>
        </p:nvSpPr>
        <p:spPr>
          <a:xfrm>
            <a:off x="11019266" y="6487075"/>
            <a:ext cx="624551" cy="365760"/>
          </a:xfrm>
          <a:prstGeom prst="rect">
            <a:avLst/>
          </a:prstGeom>
          <a:noFill/>
        </p:spPr>
        <p:txBody>
          <a:bodyPr anchor="ctr"/>
          <a:lstStyle>
            <a:lvl1pPr algn="r">
              <a:defRPr sz="1200" b="1">
                <a:solidFill>
                  <a:schemeClr val="tx1">
                    <a:lumMod val="60000"/>
                    <a:lumOff val="40000"/>
                  </a:schemeClr>
                </a:solidFill>
                <a:latin typeface="Arial" panose="020B0604020202020204" pitchFamily="34" charset="0"/>
                <a:cs typeface="Arial" panose="020B0604020202020204" pitchFamily="34" charset="0"/>
              </a:defRPr>
            </a:lvl1pPr>
          </a:lstStyle>
          <a:p>
            <a:fld id="{B6D1532F-61F1-B941-ACDF-6BC65E0B4055}" type="slidenum">
              <a:rPr lang="en-US" smtClean="0"/>
              <a:pPr/>
              <a:t>‹#›</a:t>
            </a:fld>
            <a:endParaRPr lang="en-US" dirty="0"/>
          </a:p>
        </p:txBody>
      </p:sp>
      <p:sp>
        <p:nvSpPr>
          <p:cNvPr id="16" name="Footer Placeholder 2">
            <a:extLst>
              <a:ext uri="{FF2B5EF4-FFF2-40B4-BE49-F238E27FC236}">
                <a16:creationId xmlns:a16="http://schemas.microsoft.com/office/drawing/2014/main" id="{D2B22BB1-91BE-41E5-AFBB-E2ECEFA427AD}"/>
              </a:ext>
            </a:extLst>
          </p:cNvPr>
          <p:cNvSpPr>
            <a:spLocks noGrp="1"/>
          </p:cNvSpPr>
          <p:nvPr>
            <p:ph type="ftr" sz="quarter" idx="10"/>
          </p:nvPr>
        </p:nvSpPr>
        <p:spPr>
          <a:xfrm>
            <a:off x="539748" y="6487075"/>
            <a:ext cx="4023360" cy="365760"/>
          </a:xfrm>
          <a:prstGeom prst="rect">
            <a:avLst/>
          </a:prstGeom>
        </p:spPr>
        <p:txBody>
          <a:bodyPr lIns="45720" rIns="45720" anchor="ctr"/>
          <a:lstStyle>
            <a:lvl1pPr algn="l">
              <a:defRPr sz="1200">
                <a:solidFill>
                  <a:schemeClr val="tx1">
                    <a:lumMod val="60000"/>
                    <a:lumOff val="40000"/>
                  </a:schemeClr>
                </a:solidFill>
                <a:latin typeface="Arial" panose="020B0604020202020204" pitchFamily="34" charset="0"/>
                <a:cs typeface="Arial" panose="020B0604020202020204" pitchFamily="34" charset="0"/>
              </a:defRPr>
            </a:lvl1pPr>
          </a:lstStyle>
          <a:p>
            <a:endParaRPr lang="en-US" dirty="0"/>
          </a:p>
        </p:txBody>
      </p:sp>
      <p:sp>
        <p:nvSpPr>
          <p:cNvPr id="17" name="Date Placeholder 4">
            <a:extLst>
              <a:ext uri="{FF2B5EF4-FFF2-40B4-BE49-F238E27FC236}">
                <a16:creationId xmlns:a16="http://schemas.microsoft.com/office/drawing/2014/main" id="{C6C6C2DB-CFEA-471E-8F61-D8C09093D1B3}"/>
              </a:ext>
            </a:extLst>
          </p:cNvPr>
          <p:cNvSpPr>
            <a:spLocks noGrp="1"/>
          </p:cNvSpPr>
          <p:nvPr>
            <p:ph type="dt" sz="half" idx="12"/>
          </p:nvPr>
        </p:nvSpPr>
        <p:spPr>
          <a:xfrm>
            <a:off x="7821084" y="6487075"/>
            <a:ext cx="3101421" cy="365760"/>
          </a:xfrm>
          <a:prstGeom prst="rect">
            <a:avLst/>
          </a:prstGeom>
        </p:spPr>
        <p:txBody>
          <a:bodyPr anchor="ctr"/>
          <a:lstStyle>
            <a:lvl1pPr algn="r">
              <a:defRPr sz="1200">
                <a:solidFill>
                  <a:schemeClr val="tx1">
                    <a:lumMod val="60000"/>
                    <a:lumOff val="40000"/>
                  </a:schemeClr>
                </a:solidFill>
                <a:latin typeface="Arial" panose="020B0604020202020204" pitchFamily="34" charset="0"/>
                <a:cs typeface="Arial" panose="020B0604020202020204" pitchFamily="34" charset="0"/>
              </a:defRPr>
            </a:lvl1pPr>
          </a:lstStyle>
          <a:p>
            <a:endParaRPr lang="en-US" dirty="0"/>
          </a:p>
        </p:txBody>
      </p:sp>
      <p:cxnSp>
        <p:nvCxnSpPr>
          <p:cNvPr id="14" name="Straight Connector 13">
            <a:extLst>
              <a:ext uri="{FF2B5EF4-FFF2-40B4-BE49-F238E27FC236}">
                <a16:creationId xmlns:a16="http://schemas.microsoft.com/office/drawing/2014/main" id="{7C3528CD-D474-4F88-8270-2988B637097F}"/>
              </a:ext>
            </a:extLst>
          </p:cNvPr>
          <p:cNvCxnSpPr>
            <a:cxnSpLocks/>
          </p:cNvCxnSpPr>
          <p:nvPr userDrawn="1"/>
        </p:nvCxnSpPr>
        <p:spPr>
          <a:xfrm>
            <a:off x="541865" y="700988"/>
            <a:ext cx="11106912"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5110330"/>
      </p:ext>
    </p:extLst>
  </p:cSld>
  <p:clrMapOvr>
    <a:masterClrMapping/>
  </p:clrMapOvr>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ext-1 column">
    <p:spTree>
      <p:nvGrpSpPr>
        <p:cNvPr id="1" name=""/>
        <p:cNvGrpSpPr/>
        <p:nvPr/>
      </p:nvGrpSpPr>
      <p:grpSpPr>
        <a:xfrm>
          <a:off x="0" y="0"/>
          <a:ext cx="0" cy="0"/>
          <a:chOff x="0" y="0"/>
          <a:chExt cx="0" cy="0"/>
        </a:xfrm>
      </p:grpSpPr>
      <p:sp>
        <p:nvSpPr>
          <p:cNvPr id="21" name="Slide Number Placeholder 3">
            <a:extLst>
              <a:ext uri="{FF2B5EF4-FFF2-40B4-BE49-F238E27FC236}">
                <a16:creationId xmlns:a16="http://schemas.microsoft.com/office/drawing/2014/main" id="{81DE34CD-E61D-4FA8-ACC1-67A1F24A3A4D}"/>
              </a:ext>
            </a:extLst>
          </p:cNvPr>
          <p:cNvSpPr>
            <a:spLocks noGrp="1"/>
          </p:cNvSpPr>
          <p:nvPr>
            <p:ph type="sldNum" sz="quarter" idx="11"/>
          </p:nvPr>
        </p:nvSpPr>
        <p:spPr>
          <a:xfrm>
            <a:off x="11019266" y="6289880"/>
            <a:ext cx="624551" cy="568120"/>
          </a:xfrm>
          <a:prstGeom prst="rect">
            <a:avLst/>
          </a:prstGeom>
          <a:noFill/>
        </p:spPr>
        <p:txBody>
          <a:bodyPr anchor="ctr"/>
          <a:lstStyle>
            <a:lvl1pPr algn="r">
              <a:defRPr sz="1200" b="1">
                <a:solidFill>
                  <a:schemeClr val="tx1">
                    <a:lumMod val="60000"/>
                    <a:lumOff val="40000"/>
                  </a:schemeClr>
                </a:solidFill>
                <a:latin typeface="Arial" panose="020B0604020202020204" pitchFamily="34" charset="0"/>
                <a:cs typeface="Arial" panose="020B0604020202020204" pitchFamily="34" charset="0"/>
              </a:defRPr>
            </a:lvl1pPr>
          </a:lstStyle>
          <a:p>
            <a:fld id="{B6D1532F-61F1-B941-ACDF-6BC65E0B4055}" type="slidenum">
              <a:rPr lang="en-US" smtClean="0"/>
              <a:pPr/>
              <a:t>‹#›</a:t>
            </a:fld>
            <a:endParaRPr lang="en-US"/>
          </a:p>
        </p:txBody>
      </p:sp>
      <p:sp>
        <p:nvSpPr>
          <p:cNvPr id="22" name="Date Placeholder 4">
            <a:extLst>
              <a:ext uri="{FF2B5EF4-FFF2-40B4-BE49-F238E27FC236}">
                <a16:creationId xmlns:a16="http://schemas.microsoft.com/office/drawing/2014/main" id="{C6C6C2DB-CFEA-471E-8F61-D8C09093D1B3}"/>
              </a:ext>
            </a:extLst>
          </p:cNvPr>
          <p:cNvSpPr>
            <a:spLocks noGrp="1"/>
          </p:cNvSpPr>
          <p:nvPr>
            <p:ph type="dt" sz="half" idx="12"/>
          </p:nvPr>
        </p:nvSpPr>
        <p:spPr>
          <a:xfrm>
            <a:off x="7821084" y="6289880"/>
            <a:ext cx="3101421" cy="568120"/>
          </a:xfrm>
          <a:prstGeom prst="rect">
            <a:avLst/>
          </a:prstGeom>
        </p:spPr>
        <p:txBody>
          <a:bodyPr anchor="ctr"/>
          <a:lstStyle>
            <a:lvl1pPr algn="r">
              <a:defRPr sz="1200">
                <a:solidFill>
                  <a:schemeClr val="tx1">
                    <a:lumMod val="60000"/>
                    <a:lumOff val="40000"/>
                  </a:schemeClr>
                </a:solidFill>
                <a:latin typeface="Arial" panose="020B0604020202020204" pitchFamily="34" charset="0"/>
                <a:cs typeface="Arial" panose="020B0604020202020204" pitchFamily="34" charset="0"/>
              </a:defRPr>
            </a:lvl1pPr>
          </a:lstStyle>
          <a:p>
            <a:endParaRPr lang="en-US"/>
          </a:p>
        </p:txBody>
      </p:sp>
      <p:sp>
        <p:nvSpPr>
          <p:cNvPr id="11" name="Rectangle 10">
            <a:extLst>
              <a:ext uri="{FF2B5EF4-FFF2-40B4-BE49-F238E27FC236}">
                <a16:creationId xmlns:a16="http://schemas.microsoft.com/office/drawing/2014/main" id="{6A862C1E-A2D1-4E41-AA16-A93D6214A27C}"/>
              </a:ext>
            </a:extLst>
          </p:cNvPr>
          <p:cNvSpPr/>
          <p:nvPr userDrawn="1"/>
        </p:nvSpPr>
        <p:spPr>
          <a:xfrm>
            <a:off x="6107613" y="1"/>
            <a:ext cx="6084388" cy="380164"/>
          </a:xfrm>
          <a:prstGeom prst="rect">
            <a:avLst/>
          </a:prstGeom>
          <a:solidFill>
            <a:srgbClr val="E3E6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Title 10">
            <a:extLst>
              <a:ext uri="{FF2B5EF4-FFF2-40B4-BE49-F238E27FC236}">
                <a16:creationId xmlns:a16="http://schemas.microsoft.com/office/drawing/2014/main" id="{F6A5FF92-11D1-2843-A4C7-A3348478831F}"/>
              </a:ext>
            </a:extLst>
          </p:cNvPr>
          <p:cNvSpPr>
            <a:spLocks noGrp="1"/>
          </p:cNvSpPr>
          <p:nvPr>
            <p:ph type="title"/>
          </p:nvPr>
        </p:nvSpPr>
        <p:spPr>
          <a:xfrm>
            <a:off x="508253" y="663173"/>
            <a:ext cx="8903015" cy="1068352"/>
          </a:xfrm>
          <a:prstGeom prst="rect">
            <a:avLst/>
          </a:prstGeom>
        </p:spPr>
        <p:txBody>
          <a:bodyPr/>
          <a:lstStyle/>
          <a:p>
            <a:r>
              <a:rPr lang="en-US"/>
              <a:t>Click to edit Master title style</a:t>
            </a:r>
          </a:p>
        </p:txBody>
      </p:sp>
      <p:sp>
        <p:nvSpPr>
          <p:cNvPr id="13" name="Text Placeholder 6">
            <a:extLst>
              <a:ext uri="{FF2B5EF4-FFF2-40B4-BE49-F238E27FC236}">
                <a16:creationId xmlns:a16="http://schemas.microsoft.com/office/drawing/2014/main" id="{53A313C1-41F3-E24A-9004-F00D19CCA2A9}"/>
              </a:ext>
            </a:extLst>
          </p:cNvPr>
          <p:cNvSpPr>
            <a:spLocks noGrp="1"/>
          </p:cNvSpPr>
          <p:nvPr>
            <p:ph type="body" sz="quarter" idx="13"/>
          </p:nvPr>
        </p:nvSpPr>
        <p:spPr>
          <a:xfrm>
            <a:off x="503621" y="1833126"/>
            <a:ext cx="11140196" cy="4320932"/>
          </a:xfrm>
          <a:prstGeom prst="rect">
            <a:avLst/>
          </a:prstGeom>
        </p:spPr>
        <p:txBody>
          <a:bodyPr>
            <a:noAutofit/>
          </a:bodyPr>
          <a:lstStyle>
            <a:lvl1pPr>
              <a:defRPr>
                <a:solidFill>
                  <a:schemeClr val="tx1"/>
                </a:soli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6" name="Picture 15">
            <a:extLst>
              <a:ext uri="{FF2B5EF4-FFF2-40B4-BE49-F238E27FC236}">
                <a16:creationId xmlns:a16="http://schemas.microsoft.com/office/drawing/2014/main" id="{FE12E189-7E93-3C43-8F36-B94CE94534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503621" y="6255657"/>
            <a:ext cx="1157500" cy="399392"/>
          </a:xfrm>
          <a:prstGeom prst="rect">
            <a:avLst/>
          </a:prstGeom>
        </p:spPr>
      </p:pic>
      <p:pic>
        <p:nvPicPr>
          <p:cNvPr id="14" name="Picture 13">
            <a:extLst>
              <a:ext uri="{FF2B5EF4-FFF2-40B4-BE49-F238E27FC236}">
                <a16:creationId xmlns:a16="http://schemas.microsoft.com/office/drawing/2014/main" id="{E2D073B4-D916-6444-BBE8-059A7656FA4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9965" t="24874" r="39940" b="69299"/>
          <a:stretch/>
        </p:blipFill>
        <p:spPr>
          <a:xfrm rot="10800000">
            <a:off x="1" y="1953"/>
            <a:ext cx="6107612" cy="399392"/>
          </a:xfrm>
          <a:prstGeom prst="rect">
            <a:avLst/>
          </a:prstGeom>
        </p:spPr>
      </p:pic>
    </p:spTree>
    <p:extLst>
      <p:ext uri="{BB962C8B-B14F-4D97-AF65-F5344CB8AC3E}">
        <p14:creationId xmlns:p14="http://schemas.microsoft.com/office/powerpoint/2010/main" val="3439501784"/>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11080376" cy="64872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209116"/>
            <a:ext cx="11080376" cy="491704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DCBCD6E6-E764-3910-1CF1-9810E42F878C}"/>
              </a:ext>
            </a:extLst>
          </p:cNvPr>
          <p:cNvSpPr txBox="1"/>
          <p:nvPr userDrawn="1">
            <p:extLst>
              <p:ext uri="{1162E1C5-73C7-4A58-AE30-91384D911F3F}">
                <p184:classification xmlns:p184="http://schemas.microsoft.com/office/powerpoint/2018/4/main" val="ftr"/>
              </p:ext>
            </p:extLst>
          </p:nvPr>
        </p:nvSpPr>
        <p:spPr>
          <a:xfrm>
            <a:off x="5614162" y="6642100"/>
            <a:ext cx="989013"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General Business</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457200" rtl="0" eaLnBrk="1" latinLnBrk="0" hangingPunct="1">
        <a:spcBef>
          <a:spcPct val="0"/>
        </a:spcBef>
        <a:buNone/>
        <a:defRPr sz="3200" b="1" kern="1200">
          <a:solidFill>
            <a:schemeClr val="tx2"/>
          </a:solidFill>
          <a:latin typeface="Cambria" panose="02040503050406030204" pitchFamily="18" charset="0"/>
          <a:ea typeface="Cambria" panose="02040503050406030204" pitchFamily="18" charset="0"/>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routledge.com/The-Digital-Transformation-of-Product-Formulation-Concepts-Challenges-and-Applications-for-Accelerated-Innovation/Schmidt-Wallace/p/book/9781003385974"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slideLayout" Target="../slideLayouts/slideLayout2.xml"/><Relationship Id="rId7" Type="http://schemas.microsoft.com/office/2007/relationships/hdphoto" Target="../media/hdphoto1.wdp"/><Relationship Id="rId2" Type="http://schemas.openxmlformats.org/officeDocument/2006/relationships/tags" Target="../tags/tag1.xml"/><Relationship Id="rId1" Type="http://schemas.openxmlformats.org/officeDocument/2006/relationships/themeOverride" Target="../theme/themeOverride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16.xml"/><Relationship Id="rId9"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www.nature.com/articles/sdata201618"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https://www.jstatsoft.org/article/view/v059i10/"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hyperlink" Target="https://www.nature.com/articles/sdata201618" TargetMode="External"/><Relationship Id="rId4" Type="http://schemas.openxmlformats.org/officeDocument/2006/relationships/hyperlink" Target="https://www.tandfonline.com/doi/full/10.1080/00031305.2017.137598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89000"/>
            <a:ext cx="11734800" cy="5283200"/>
          </a:xfrm>
        </p:spPr>
        <p:txBody>
          <a:bodyPr/>
          <a:lstStyle/>
          <a:p>
            <a:pPr>
              <a:spcBef>
                <a:spcPts val="0"/>
              </a:spcBef>
            </a:pPr>
            <a:r>
              <a:rPr lang="en-US" sz="2400" dirty="0">
                <a:latin typeface="Aptos" panose="020B0004020202020204" pitchFamily="34" charset="0"/>
              </a:rPr>
              <a:t>Education </a:t>
            </a:r>
          </a:p>
          <a:p>
            <a:pPr lvl="1">
              <a:spcBef>
                <a:spcPts val="0"/>
              </a:spcBef>
            </a:pPr>
            <a:r>
              <a:rPr lang="en-US" sz="2000" dirty="0">
                <a:latin typeface="Aptos" panose="020B0004020202020204" pitchFamily="34" charset="0"/>
              </a:rPr>
              <a:t>BS Chemical Engineering, University of Illinois at Urbana-Champaign, 2009</a:t>
            </a:r>
          </a:p>
          <a:p>
            <a:pPr lvl="1">
              <a:spcBef>
                <a:spcPts val="0"/>
              </a:spcBef>
            </a:pPr>
            <a:r>
              <a:rPr lang="en-US" sz="2000" dirty="0">
                <a:latin typeface="Aptos" panose="020B0004020202020204" pitchFamily="34" charset="0"/>
              </a:rPr>
              <a:t>MS Predictive Analytics, Northwestern University, 2016</a:t>
            </a:r>
          </a:p>
          <a:p>
            <a:pPr>
              <a:spcBef>
                <a:spcPts val="0"/>
              </a:spcBef>
            </a:pPr>
            <a:endParaRPr lang="en-US" sz="1600" dirty="0">
              <a:latin typeface="Aptos" panose="020B0004020202020204" pitchFamily="34" charset="0"/>
            </a:endParaRPr>
          </a:p>
          <a:p>
            <a:pPr>
              <a:spcBef>
                <a:spcPts val="0"/>
              </a:spcBef>
            </a:pPr>
            <a:r>
              <a:rPr lang="en-US" sz="2400" dirty="0">
                <a:latin typeface="Aptos" panose="020B0004020202020204" pitchFamily="34" charset="0"/>
              </a:rPr>
              <a:t>Career @ Dow</a:t>
            </a:r>
          </a:p>
          <a:p>
            <a:pPr lvl="1">
              <a:spcBef>
                <a:spcPts val="600"/>
              </a:spcBef>
            </a:pPr>
            <a:r>
              <a:rPr lang="en-US" sz="2000" b="1" dirty="0">
                <a:latin typeface="Aptos" panose="020B0004020202020204" pitchFamily="34" charset="0"/>
              </a:rPr>
              <a:t>Product Development Intern</a:t>
            </a:r>
            <a:r>
              <a:rPr lang="en-US" sz="2000" dirty="0">
                <a:latin typeface="Aptos" panose="020B0004020202020204" pitchFamily="34" charset="0"/>
              </a:rPr>
              <a:t>, Copolymers group, Dow Corning, summer 2008</a:t>
            </a:r>
          </a:p>
          <a:p>
            <a:pPr lvl="1">
              <a:spcBef>
                <a:spcPts val="600"/>
              </a:spcBef>
            </a:pPr>
            <a:r>
              <a:rPr lang="en-US" sz="2000" b="1" dirty="0">
                <a:latin typeface="Aptos" panose="020B0004020202020204" pitchFamily="34" charset="0"/>
              </a:rPr>
              <a:t>Process R&amp;D Engineer</a:t>
            </a:r>
            <a:r>
              <a:rPr lang="en-US" sz="2000" dirty="0">
                <a:latin typeface="Aptos" panose="020B0004020202020204" pitchFamily="34" charset="0"/>
              </a:rPr>
              <a:t>, Copolymers group, Dow Corning, 2009 – 2012</a:t>
            </a:r>
          </a:p>
          <a:p>
            <a:pPr lvl="1">
              <a:spcBef>
                <a:spcPts val="600"/>
              </a:spcBef>
            </a:pPr>
            <a:r>
              <a:rPr lang="en-US" sz="2000" b="1" dirty="0">
                <a:latin typeface="Aptos" panose="020B0004020202020204" pitchFamily="34" charset="0"/>
              </a:rPr>
              <a:t>High Throughput Research Engineer</a:t>
            </a:r>
            <a:r>
              <a:rPr lang="en-US" sz="2000" dirty="0">
                <a:latin typeface="Aptos" panose="020B0004020202020204" pitchFamily="34" charset="0"/>
              </a:rPr>
              <a:t>, Dow Corning/Dow, 2012 – 2017</a:t>
            </a:r>
          </a:p>
          <a:p>
            <a:pPr lvl="1">
              <a:spcBef>
                <a:spcPts val="600"/>
              </a:spcBef>
            </a:pPr>
            <a:r>
              <a:rPr lang="en-US" sz="2000" b="1" dirty="0">
                <a:latin typeface="Aptos" panose="020B0004020202020204" pitchFamily="34" charset="0"/>
              </a:rPr>
              <a:t>Data Scientist</a:t>
            </a:r>
            <a:r>
              <a:rPr lang="en-US" sz="2000" dirty="0">
                <a:latin typeface="Aptos" panose="020B0004020202020204" pitchFamily="34" charset="0"/>
              </a:rPr>
              <a:t>, Manufacturing Chemometrics and AI, Dow, 2017 – 2021</a:t>
            </a:r>
          </a:p>
          <a:p>
            <a:pPr lvl="1">
              <a:spcBef>
                <a:spcPts val="600"/>
              </a:spcBef>
            </a:pPr>
            <a:r>
              <a:rPr lang="en-US" sz="2000" b="1" dirty="0">
                <a:latin typeface="Aptos" panose="020B0004020202020204" pitchFamily="34" charset="0"/>
              </a:rPr>
              <a:t>Senior Data Scientist</a:t>
            </a:r>
            <a:r>
              <a:rPr lang="en-US" sz="2000" dirty="0">
                <a:latin typeface="Aptos" panose="020B0004020202020204" pitchFamily="34" charset="0"/>
              </a:rPr>
              <a:t>, Information Research, Dow, 2021 – present </a:t>
            </a:r>
          </a:p>
          <a:p>
            <a:pPr lvl="2">
              <a:spcBef>
                <a:spcPts val="0"/>
              </a:spcBef>
            </a:pPr>
            <a:r>
              <a:rPr lang="en-US" sz="1800" dirty="0">
                <a:latin typeface="Aptos" panose="020B0004020202020204" pitchFamily="34" charset="0"/>
              </a:rPr>
              <a:t>Research: Formulation modeling and inverse design</a:t>
            </a:r>
          </a:p>
          <a:p>
            <a:pPr lvl="3">
              <a:spcBef>
                <a:spcPts val="0"/>
              </a:spcBef>
            </a:pPr>
            <a:r>
              <a:rPr lang="en-US" sz="1800" dirty="0">
                <a:latin typeface="Aptos" panose="020B0004020202020204" pitchFamily="34" charset="0"/>
                <a:cs typeface="Arial" panose="020B0604020202020204" pitchFamily="34" charset="0"/>
                <a:hlinkClick r:id="rId3"/>
              </a:rPr>
              <a:t>The Digital Transformation of Product Formulation: Concepts, Challenge</a:t>
            </a:r>
            <a:endParaRPr lang="en-US" sz="1800" dirty="0">
              <a:latin typeface="Aptos" panose="020B0004020202020204" pitchFamily="34" charset="0"/>
              <a:cs typeface="Arial" panose="020B0604020202020204" pitchFamily="34" charset="0"/>
            </a:endParaRPr>
          </a:p>
          <a:p>
            <a:pPr lvl="2">
              <a:spcBef>
                <a:spcPts val="0"/>
              </a:spcBef>
            </a:pPr>
            <a:r>
              <a:rPr lang="en-US" sz="1800" dirty="0">
                <a:latin typeface="Aptos" panose="020B0004020202020204" pitchFamily="34" charset="0"/>
              </a:rPr>
              <a:t>Model Deployment and MLOps Strategy Development</a:t>
            </a:r>
          </a:p>
          <a:p>
            <a:pPr lvl="2">
              <a:spcBef>
                <a:spcPts val="0"/>
              </a:spcBef>
            </a:pPr>
            <a:r>
              <a:rPr lang="en-US" sz="1800" dirty="0">
                <a:latin typeface="Aptos" panose="020B0004020202020204" pitchFamily="34" charset="0"/>
              </a:rPr>
              <a:t>Citizen Data Science and Digital Transformation</a:t>
            </a:r>
          </a:p>
          <a:p>
            <a:pPr lvl="2">
              <a:spcBef>
                <a:spcPts val="0"/>
              </a:spcBef>
            </a:pPr>
            <a:r>
              <a:rPr lang="en-US" sz="1800" dirty="0">
                <a:latin typeface="Aptos" panose="020B0004020202020204" pitchFamily="34" charset="0"/>
              </a:rPr>
              <a:t>GenAI and agentic research</a:t>
            </a:r>
          </a:p>
          <a:p>
            <a:pPr lvl="2">
              <a:spcBef>
                <a:spcPts val="0"/>
              </a:spcBef>
            </a:pPr>
            <a:endParaRPr lang="en-US" sz="1800" dirty="0">
              <a:latin typeface="Aptos" panose="020B0004020202020204" pitchFamily="34" charset="0"/>
            </a:endParaRPr>
          </a:p>
        </p:txBody>
      </p:sp>
      <p:sp>
        <p:nvSpPr>
          <p:cNvPr id="3" name="Title 2"/>
          <p:cNvSpPr>
            <a:spLocks noGrp="1"/>
          </p:cNvSpPr>
          <p:nvPr>
            <p:ph type="title"/>
          </p:nvPr>
        </p:nvSpPr>
        <p:spPr/>
        <p:txBody>
          <a:bodyPr>
            <a:normAutofit fontScale="90000"/>
          </a:bodyPr>
          <a:lstStyle/>
          <a:p>
            <a:r>
              <a:rPr lang="pt-PT" sz="3200" b="1" dirty="0"/>
              <a:t>Alix Schmidt</a:t>
            </a:r>
            <a:endParaRPr lang="en-US" sz="3200" b="1" dirty="0"/>
          </a:p>
        </p:txBody>
      </p:sp>
      <p:sp>
        <p:nvSpPr>
          <p:cNvPr id="4" name="Slide Number Placeholder 3"/>
          <p:cNvSpPr>
            <a:spLocks noGrp="1"/>
          </p:cNvSpPr>
          <p:nvPr>
            <p:ph type="sldNum" sz="quarter" idx="11"/>
          </p:nvPr>
        </p:nvSpPr>
        <p:spPr/>
        <p:txBody>
          <a:bodyPr/>
          <a:lstStyle/>
          <a:p>
            <a:pPr defTabSz="1219170"/>
            <a:fld id="{B6D1532F-61F1-B941-ACDF-6BC65E0B4055}" type="slidenum">
              <a:rPr lang="en-US">
                <a:solidFill>
                  <a:srgbClr val="415364">
                    <a:lumMod val="60000"/>
                    <a:lumOff val="40000"/>
                  </a:srgbClr>
                </a:solidFill>
              </a:rPr>
              <a:pPr defTabSz="1219170"/>
              <a:t>1</a:t>
            </a:fld>
            <a:endParaRPr lang="en-US" dirty="0">
              <a:solidFill>
                <a:srgbClr val="415364">
                  <a:lumMod val="60000"/>
                  <a:lumOff val="40000"/>
                </a:srgbClr>
              </a:solidFill>
            </a:endParaRPr>
          </a:p>
        </p:txBody>
      </p:sp>
      <p:pic>
        <p:nvPicPr>
          <p:cNvPr id="7" name="Picture 4" descr="New and Newly Promoted Faculty | Astronomy at Illinoi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72471" y="838183"/>
            <a:ext cx="1478772" cy="69689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https://public.boxcloud.com/api/2.0/internal_files/208390551891/versions/220381477971/representations/png_paged_2048x2048/content/1.png?access_token=1!-7Y7lG0OQUHUSvKKTRHxxYPzU_0WK6dFcPKtIlON0V2iFwx7jpnHqsTG8BAb-oVk3rmW0eBMKlA_dDaai0G0nWmExsC99l0soIb68FwwG6Matxw8GN09XwrHmje8YiuJU4rmqVMo2CmMBri-To8qdT2H3hYF-l81T2xEuDgiVWYgMatCitBcRx8MTE3t-GNNvyin21l_XWn8WMZil1vz5nWSkOua-z5HXmfyrultDvRYCyfjCLDGGEDDT3_aEE1lLha-jmFgx3cFNas0rTXK13e5QgpkgAeS4f0SxzlmfUMiLK8zm98Vj1oqVZfSgsxUHGhJEwlq-fnOZpe8Bt2RfjrgQKBl3tvDxZ3GjT6sMWT_OqdaXiHQJ0FDWDdv-MkxB8V6PgJTIdXM8Xiti-eSwsXU8qqdukm5Jjmfmvdpo-kTTmh5J1qXrT77KVxFpc-AddSSbt7wMtll6vBqXd6B6Q5yPaK24oSDUgO78ESifWbFbUfpCf-bLKSw7o5v1dbvWHcLzxc5OUo5tgDoQl1jZPUWLSuJvNAVFaxdtt4q3BiHm08KlJkHMoPohjFEoEV9rQ..&amp;shared_link=https%3A%2F%2Fnorthwestern.app.box.com%2Fs%2Fxb8umuu4q88joqs73zhs0f5y632m2yjn&amp;box_client_name=box-content-preview&amp;box_client_version=2.46.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947045" y="1688692"/>
            <a:ext cx="2119299" cy="669524"/>
          </a:xfrm>
          <a:prstGeom prst="rect">
            <a:avLst/>
          </a:prstGeom>
          <a:noFill/>
          <a:extLst>
            <a:ext uri="{909E8E84-426E-40DD-AFC4-6F175D3DCCD1}">
              <a14:hiddenFill xmlns:a14="http://schemas.microsoft.com/office/drawing/2010/main">
                <a:solidFill>
                  <a:srgbClr val="FFFFFF"/>
                </a:solidFill>
              </a14:hiddenFill>
            </a:ext>
          </a:extLst>
        </p:spPr>
      </p:pic>
      <p:sp>
        <p:nvSpPr>
          <p:cNvPr id="11" name="Footer Placeholder 10"/>
          <p:cNvSpPr>
            <a:spLocks noGrp="1"/>
          </p:cNvSpPr>
          <p:nvPr>
            <p:ph type="ftr" sz="quarter" idx="10"/>
          </p:nvPr>
        </p:nvSpPr>
        <p:spPr/>
        <p:txBody>
          <a:bodyPr/>
          <a:lstStyle/>
          <a:p>
            <a:pPr defTabSz="1219170"/>
            <a:endParaRPr lang="en-US" dirty="0">
              <a:solidFill>
                <a:srgbClr val="415364">
                  <a:lumMod val="60000"/>
                  <a:lumOff val="40000"/>
                </a:srgbClr>
              </a:solidFill>
            </a:endParaRPr>
          </a:p>
        </p:txBody>
      </p:sp>
      <p:pic>
        <p:nvPicPr>
          <p:cNvPr id="10" name="Picture 9">
            <a:extLst>
              <a:ext uri="{FF2B5EF4-FFF2-40B4-BE49-F238E27FC236}">
                <a16:creationId xmlns:a16="http://schemas.microsoft.com/office/drawing/2014/main" id="{EB1EE841-FCCD-6225-FBE9-ADBB79FF729B}"/>
              </a:ext>
            </a:extLst>
          </p:cNvPr>
          <p:cNvPicPr>
            <a:picLocks noChangeAspect="1"/>
          </p:cNvPicPr>
          <p:nvPr/>
        </p:nvPicPr>
        <p:blipFill>
          <a:blip r:embed="rId6"/>
          <a:stretch>
            <a:fillRect/>
          </a:stretch>
        </p:blipFill>
        <p:spPr>
          <a:xfrm>
            <a:off x="9514680" y="3243633"/>
            <a:ext cx="2422395" cy="2928567"/>
          </a:xfrm>
          <a:prstGeom prst="rect">
            <a:avLst/>
          </a:prstGeom>
        </p:spPr>
      </p:pic>
    </p:spTree>
    <p:extLst>
      <p:ext uri="{BB962C8B-B14F-4D97-AF65-F5344CB8AC3E}">
        <p14:creationId xmlns:p14="http://schemas.microsoft.com/office/powerpoint/2010/main" val="908742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194560"/>
            <a:ext cx="11155680" cy="1463040"/>
          </a:xfrm>
          <a:prstGeom prst="rect">
            <a:avLst/>
          </a:prstGeom>
          <a:noFill/>
        </p:spPr>
        <p:txBody>
          <a:bodyPr wrap="square" lIns="45720" rIns="45720" anchor="t">
            <a:spAutoFit/>
          </a:bodyPr>
          <a:lstStyle/>
          <a:p>
            <a:pPr algn="l"/>
            <a:r>
              <a:rPr sz="5400" b="1" i="0" dirty="0">
                <a:solidFill>
                  <a:srgbClr val="FFFFFF"/>
                </a:solidFill>
                <a:latin typeface="Cambria"/>
              </a:rPr>
              <a:t>Data Stewardship</a:t>
            </a:r>
          </a:p>
        </p:txBody>
      </p:sp>
      <p:sp>
        <p:nvSpPr>
          <p:cNvPr id="4" name="TextBox 3"/>
          <p:cNvSpPr txBox="1"/>
          <p:nvPr/>
        </p:nvSpPr>
        <p:spPr>
          <a:xfrm>
            <a:off x="548640" y="3657600"/>
            <a:ext cx="11155680" cy="461665"/>
          </a:xfrm>
          <a:prstGeom prst="rect">
            <a:avLst/>
          </a:prstGeom>
          <a:noFill/>
        </p:spPr>
        <p:txBody>
          <a:bodyPr wrap="square" lIns="45720" rIns="45720" anchor="t">
            <a:spAutoFit/>
          </a:bodyPr>
          <a:lstStyle/>
          <a:p>
            <a:pPr algn="l"/>
            <a:r>
              <a:rPr sz="2400" b="0" i="0" dirty="0">
                <a:solidFill>
                  <a:srgbClr val="B5BDC8"/>
                </a:solidFill>
                <a:latin typeface="Calibri"/>
              </a:rPr>
              <a:t>Preserving the data you generate so it keeps paying off after your project ends</a:t>
            </a:r>
          </a:p>
        </p:txBody>
      </p:sp>
      <p:sp>
        <p:nvSpPr>
          <p:cNvPr id="5" name="TextBox 4"/>
          <p:cNvSpPr txBox="1"/>
          <p:nvPr/>
        </p:nvSpPr>
        <p:spPr>
          <a:xfrm>
            <a:off x="548640" y="4721870"/>
            <a:ext cx="11155680" cy="1908215"/>
          </a:xfrm>
          <a:prstGeom prst="rect">
            <a:avLst/>
          </a:prstGeom>
          <a:noFill/>
        </p:spPr>
        <p:txBody>
          <a:bodyPr wrap="square" lIns="45720" rIns="45720" anchor="t">
            <a:spAutoFit/>
          </a:bodyPr>
          <a:lstStyle/>
          <a:p>
            <a:pPr algn="l"/>
            <a:r>
              <a:rPr lang="en-US" sz="2000" b="1" dirty="0">
                <a:solidFill>
                  <a:srgbClr val="B5BDC8"/>
                </a:solidFill>
                <a:latin typeface="Calibri"/>
              </a:rPr>
              <a:t>Alix Schmidt,</a:t>
            </a:r>
            <a:r>
              <a:rPr sz="2000" b="1" i="0" dirty="0">
                <a:solidFill>
                  <a:srgbClr val="B5BDC8"/>
                </a:solidFill>
                <a:latin typeface="Calibri"/>
              </a:rPr>
              <a:t> Dow  ·  </a:t>
            </a:r>
            <a:r>
              <a:rPr lang="en-US" sz="2000" b="1" i="0" dirty="0">
                <a:solidFill>
                  <a:srgbClr val="B5BDC8"/>
                </a:solidFill>
                <a:latin typeface="Calibri"/>
              </a:rPr>
              <a:t>Presenter</a:t>
            </a:r>
          </a:p>
          <a:p>
            <a:pPr algn="l"/>
            <a:r>
              <a:rPr lang="en-US" sz="1400" dirty="0">
                <a:solidFill>
                  <a:srgbClr val="B5BDC8"/>
                </a:solidFill>
                <a:latin typeface="Calibri"/>
              </a:rPr>
              <a:t>With content contributions from Peter Margl, Matt Benedict</a:t>
            </a:r>
          </a:p>
          <a:p>
            <a:pPr algn="l"/>
            <a:r>
              <a:rPr lang="en-US" sz="1400" b="0" i="0" dirty="0">
                <a:solidFill>
                  <a:srgbClr val="B5BDC8"/>
                </a:solidFill>
                <a:latin typeface="Calibri"/>
              </a:rPr>
              <a:t>Created using Claude Code</a:t>
            </a:r>
          </a:p>
          <a:p>
            <a:pPr algn="l"/>
            <a:endParaRPr lang="en-US" sz="1400" dirty="0">
              <a:solidFill>
                <a:srgbClr val="B5BDC8"/>
              </a:solidFill>
              <a:latin typeface="Calibri"/>
            </a:endParaRPr>
          </a:p>
          <a:p>
            <a:pPr algn="l"/>
            <a:endParaRPr lang="en-US" sz="1400" dirty="0">
              <a:solidFill>
                <a:srgbClr val="B5BDC8"/>
              </a:solidFill>
              <a:latin typeface="Calibri"/>
            </a:endParaRPr>
          </a:p>
          <a:p>
            <a:pPr algn="l"/>
            <a:endParaRPr lang="en-US" sz="1400" b="0" i="0" dirty="0">
              <a:solidFill>
                <a:srgbClr val="B5BDC8"/>
              </a:solidFill>
              <a:latin typeface="Calibri"/>
            </a:endParaRPr>
          </a:p>
          <a:p>
            <a:pPr algn="l"/>
            <a:endParaRPr lang="en-US" sz="1400" b="0" i="0" dirty="0">
              <a:solidFill>
                <a:srgbClr val="B5BDC8"/>
              </a:solidFill>
              <a:latin typeface="Calibri"/>
            </a:endParaRPr>
          </a:p>
          <a:p>
            <a:pPr algn="l"/>
            <a:r>
              <a:rPr sz="1400" b="0" i="0" dirty="0">
                <a:solidFill>
                  <a:srgbClr val="B5BDC8"/>
                </a:solidFill>
                <a:latin typeface="Calibri"/>
              </a:rPr>
              <a:t>Caltech AI-in-Chemistry Bootcamp · August 18,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Key ideas for good data stewardship</a:t>
            </a:r>
            <a:endParaRPr sz="3200" b="1" i="0" dirty="0">
              <a:solidFill>
                <a:srgbClr val="1E2761"/>
              </a:solidFill>
              <a:latin typeface="Cambria"/>
            </a:endParaRPr>
          </a:p>
        </p:txBody>
      </p:sp>
      <p:sp>
        <p:nvSpPr>
          <p:cNvPr id="3" name="Rounded Rectangle 2"/>
          <p:cNvSpPr/>
          <p:nvPr/>
        </p:nvSpPr>
        <p:spPr>
          <a:xfrm>
            <a:off x="54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TextBox 4"/>
          <p:cNvSpPr txBox="1"/>
          <p:nvPr/>
        </p:nvSpPr>
        <p:spPr>
          <a:xfrm>
            <a:off x="731520" y="1666548"/>
            <a:ext cx="3169920" cy="461665"/>
          </a:xfrm>
          <a:prstGeom prst="rect">
            <a:avLst/>
          </a:prstGeom>
          <a:noFill/>
        </p:spPr>
        <p:txBody>
          <a:bodyPr wrap="square" lIns="45720" rIns="45720" anchor="ctr">
            <a:spAutoFit/>
          </a:bodyPr>
          <a:lstStyle/>
          <a:p>
            <a:pPr algn="l"/>
            <a:r>
              <a:rPr sz="2400" b="1" i="0">
                <a:solidFill>
                  <a:srgbClr val="FFFFFF"/>
                </a:solidFill>
                <a:latin typeface="Cambria"/>
              </a:rPr>
              <a:t>1. Structure</a:t>
            </a:r>
          </a:p>
        </p:txBody>
      </p:sp>
      <p:sp>
        <p:nvSpPr>
          <p:cNvPr id="6" name="TextBox 5"/>
          <p:cNvSpPr txBox="1"/>
          <p:nvPr/>
        </p:nvSpPr>
        <p:spPr>
          <a:xfrm>
            <a:off x="777240" y="2423160"/>
            <a:ext cx="3078480" cy="1323439"/>
          </a:xfrm>
          <a:prstGeom prst="rect">
            <a:avLst/>
          </a:prstGeom>
          <a:noFill/>
        </p:spPr>
        <p:txBody>
          <a:bodyPr wrap="square" lIns="45720" rIns="45720" anchor="t">
            <a:spAutoFit/>
          </a:bodyPr>
          <a:lstStyle/>
          <a:p>
            <a:pPr algn="l"/>
            <a:r>
              <a:rPr sz="2000" b="0" i="0" dirty="0">
                <a:solidFill>
                  <a:srgbClr val="2C3E50"/>
                </a:solidFill>
                <a:latin typeface="Calibri"/>
              </a:rPr>
              <a:t>What separates data a computer can read from data that needs an afternoon of cleaning. </a:t>
            </a:r>
          </a:p>
        </p:txBody>
      </p:sp>
      <p:sp>
        <p:nvSpPr>
          <p:cNvPr id="7" name="TextBox 6"/>
          <p:cNvSpPr txBox="1"/>
          <p:nvPr/>
        </p:nvSpPr>
        <p:spPr>
          <a:xfrm>
            <a:off x="777240" y="5943600"/>
            <a:ext cx="3078480" cy="338554"/>
          </a:xfrm>
          <a:prstGeom prst="rect">
            <a:avLst/>
          </a:prstGeom>
          <a:noFill/>
        </p:spPr>
        <p:txBody>
          <a:bodyPr wrap="square" lIns="45720" rIns="45720" anchor="t">
            <a:spAutoFit/>
          </a:bodyPr>
          <a:lstStyle/>
          <a:p>
            <a:pPr algn="l"/>
            <a:r>
              <a:rPr sz="1600" b="1" i="1">
                <a:solidFill>
                  <a:srgbClr val="E67E22"/>
                </a:solidFill>
                <a:latin typeface="Calibri"/>
              </a:rPr>
              <a:t>Rectangular, tidy, typed</a:t>
            </a:r>
          </a:p>
        </p:txBody>
      </p:sp>
      <p:sp>
        <p:nvSpPr>
          <p:cNvPr id="8" name="Rounded Rectangle 7"/>
          <p:cNvSpPr/>
          <p:nvPr/>
        </p:nvSpPr>
        <p:spPr>
          <a:xfrm>
            <a:off x="435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35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4541520" y="1666548"/>
            <a:ext cx="3169920" cy="461665"/>
          </a:xfrm>
          <a:prstGeom prst="rect">
            <a:avLst/>
          </a:prstGeom>
          <a:noFill/>
        </p:spPr>
        <p:txBody>
          <a:bodyPr wrap="square" lIns="45720" rIns="45720" anchor="ctr">
            <a:spAutoFit/>
          </a:bodyPr>
          <a:lstStyle/>
          <a:p>
            <a:pPr algn="l"/>
            <a:r>
              <a:rPr sz="2400" b="1" i="0">
                <a:solidFill>
                  <a:srgbClr val="FFFFFF"/>
                </a:solidFill>
                <a:latin typeface="Cambria"/>
              </a:rPr>
              <a:t>2. Identity</a:t>
            </a:r>
          </a:p>
        </p:txBody>
      </p:sp>
      <p:sp>
        <p:nvSpPr>
          <p:cNvPr id="11" name="TextBox 10"/>
          <p:cNvSpPr txBox="1"/>
          <p:nvPr/>
        </p:nvSpPr>
        <p:spPr>
          <a:xfrm>
            <a:off x="4587240" y="2423160"/>
            <a:ext cx="3078480" cy="1631216"/>
          </a:xfrm>
          <a:prstGeom prst="rect">
            <a:avLst/>
          </a:prstGeom>
          <a:noFill/>
        </p:spPr>
        <p:txBody>
          <a:bodyPr wrap="square" lIns="45720" rIns="45720" anchor="t">
            <a:spAutoFit/>
          </a:bodyPr>
          <a:lstStyle/>
          <a:p>
            <a:pPr algn="l"/>
            <a:r>
              <a:rPr sz="2000" b="0" i="0" dirty="0">
                <a:solidFill>
                  <a:srgbClr val="2C3E50"/>
                </a:solidFill>
                <a:latin typeface="Calibri"/>
              </a:rPr>
              <a:t>How a value in one row points at an entity outside the row, and </a:t>
            </a:r>
            <a:r>
              <a:rPr lang="en-US" sz="2000" b="0" i="0" dirty="0">
                <a:solidFill>
                  <a:srgbClr val="2C3E50"/>
                </a:solidFill>
                <a:latin typeface="Calibri"/>
              </a:rPr>
              <a:t>how this forms the basis for advanced analysis.</a:t>
            </a:r>
            <a:endParaRPr sz="2000" b="0" i="0" dirty="0">
              <a:solidFill>
                <a:srgbClr val="2C3E50"/>
              </a:solidFill>
              <a:latin typeface="Calibri"/>
            </a:endParaRPr>
          </a:p>
        </p:txBody>
      </p:sp>
      <p:sp>
        <p:nvSpPr>
          <p:cNvPr id="12" name="TextBox 11"/>
          <p:cNvSpPr txBox="1"/>
          <p:nvPr/>
        </p:nvSpPr>
        <p:spPr>
          <a:xfrm>
            <a:off x="4587240" y="5943600"/>
            <a:ext cx="3078480" cy="338554"/>
          </a:xfrm>
          <a:prstGeom prst="rect">
            <a:avLst/>
          </a:prstGeom>
          <a:noFill/>
        </p:spPr>
        <p:txBody>
          <a:bodyPr wrap="square" lIns="45720" rIns="45720" anchor="t">
            <a:spAutoFit/>
          </a:bodyPr>
          <a:lstStyle/>
          <a:p>
            <a:pPr algn="l"/>
            <a:r>
              <a:rPr sz="1600" b="1" i="1">
                <a:solidFill>
                  <a:srgbClr val="E67E22"/>
                </a:solidFill>
                <a:latin typeface="Calibri"/>
              </a:rPr>
              <a:t>IDs, join keys, canonical forms</a:t>
            </a:r>
          </a:p>
        </p:txBody>
      </p:sp>
      <p:sp>
        <p:nvSpPr>
          <p:cNvPr id="13" name="Rounded Rectangle 12"/>
          <p:cNvSpPr/>
          <p:nvPr/>
        </p:nvSpPr>
        <p:spPr>
          <a:xfrm>
            <a:off x="816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16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8351520" y="1666548"/>
            <a:ext cx="3169920" cy="461665"/>
          </a:xfrm>
          <a:prstGeom prst="rect">
            <a:avLst/>
          </a:prstGeom>
          <a:noFill/>
        </p:spPr>
        <p:txBody>
          <a:bodyPr wrap="square" lIns="45720" rIns="45720" anchor="ctr">
            <a:spAutoFit/>
          </a:bodyPr>
          <a:lstStyle/>
          <a:p>
            <a:pPr algn="l"/>
            <a:r>
              <a:rPr sz="2400" b="1" i="0">
                <a:solidFill>
                  <a:srgbClr val="FFFFFF"/>
                </a:solidFill>
                <a:latin typeface="Cambria"/>
              </a:rPr>
              <a:t>3. Packaging</a:t>
            </a:r>
          </a:p>
        </p:txBody>
      </p:sp>
      <p:sp>
        <p:nvSpPr>
          <p:cNvPr id="16" name="TextBox 15"/>
          <p:cNvSpPr txBox="1"/>
          <p:nvPr/>
        </p:nvSpPr>
        <p:spPr>
          <a:xfrm>
            <a:off x="8397240" y="2423160"/>
            <a:ext cx="3078480" cy="1938992"/>
          </a:xfrm>
          <a:prstGeom prst="rect">
            <a:avLst/>
          </a:prstGeom>
          <a:noFill/>
        </p:spPr>
        <p:txBody>
          <a:bodyPr wrap="square" lIns="45720" rIns="45720" anchor="t">
            <a:spAutoFit/>
          </a:bodyPr>
          <a:lstStyle/>
          <a:p>
            <a:pPr algn="l"/>
            <a:r>
              <a:rPr sz="2000" b="0" i="0" dirty="0">
                <a:solidFill>
                  <a:srgbClr val="2C3E50"/>
                </a:solidFill>
                <a:latin typeface="Calibri"/>
              </a:rPr>
              <a:t>What turns a folder of files into a thing a stranger can use</a:t>
            </a:r>
            <a:r>
              <a:rPr lang="en-US" sz="2000" b="0" i="0" dirty="0">
                <a:solidFill>
                  <a:srgbClr val="2C3E50"/>
                </a:solidFill>
                <a:latin typeface="Calibri"/>
              </a:rPr>
              <a:t>:</a:t>
            </a:r>
            <a:r>
              <a:rPr sz="2000" b="0" i="0" dirty="0">
                <a:solidFill>
                  <a:srgbClr val="2C3E50"/>
                </a:solidFill>
                <a:latin typeface="Calibri"/>
              </a:rPr>
              <a:t> a dataset with a dictionary, provenance metadata, and the code that produced it.</a:t>
            </a:r>
          </a:p>
        </p:txBody>
      </p:sp>
      <p:sp>
        <p:nvSpPr>
          <p:cNvPr id="17" name="TextBox 16"/>
          <p:cNvSpPr txBox="1"/>
          <p:nvPr/>
        </p:nvSpPr>
        <p:spPr>
          <a:xfrm>
            <a:off x="8397240" y="5943600"/>
            <a:ext cx="3078480" cy="338554"/>
          </a:xfrm>
          <a:prstGeom prst="rect">
            <a:avLst/>
          </a:prstGeom>
          <a:noFill/>
        </p:spPr>
        <p:txBody>
          <a:bodyPr wrap="square" lIns="45720" rIns="45720" anchor="t">
            <a:spAutoFit/>
          </a:bodyPr>
          <a:lstStyle/>
          <a:p>
            <a:pPr algn="l"/>
            <a:r>
              <a:rPr sz="1600" b="1" i="1">
                <a:solidFill>
                  <a:srgbClr val="E67E22"/>
                </a:solidFill>
                <a:latin typeface="Calibri"/>
              </a:rPr>
              <a:t>Data + code + docs = one asset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0"/>
            <a:ext cx="11155680" cy="338554"/>
          </a:xfrm>
          <a:prstGeom prst="rect">
            <a:avLst/>
          </a:prstGeom>
          <a:noFill/>
        </p:spPr>
        <p:txBody>
          <a:bodyPr wrap="square" lIns="45720" rIns="45720" anchor="t">
            <a:spAutoFit/>
          </a:bodyPr>
          <a:lstStyle/>
          <a:p>
            <a:pPr algn="l"/>
            <a:r>
              <a:rPr sz="1600" b="1" i="0" dirty="0">
                <a:solidFill>
                  <a:srgbClr val="E67E22"/>
                </a:solidFill>
                <a:latin typeface="Calibri"/>
              </a:rPr>
              <a:t>PART 1 </a:t>
            </a:r>
          </a:p>
        </p:txBody>
      </p:sp>
      <p:sp>
        <p:nvSpPr>
          <p:cNvPr id="4" name="TextBox 3"/>
          <p:cNvSpPr txBox="1"/>
          <p:nvPr/>
        </p:nvSpPr>
        <p:spPr>
          <a:xfrm>
            <a:off x="548640" y="3108960"/>
            <a:ext cx="11155680" cy="1463040"/>
          </a:xfrm>
          <a:prstGeom prst="rect">
            <a:avLst/>
          </a:prstGeom>
          <a:noFill/>
        </p:spPr>
        <p:txBody>
          <a:bodyPr wrap="square" lIns="45720" rIns="45720" anchor="t">
            <a:spAutoFit/>
          </a:bodyPr>
          <a:lstStyle/>
          <a:p>
            <a:pPr algn="l"/>
            <a:r>
              <a:rPr sz="4400" b="1" i="0">
                <a:solidFill>
                  <a:srgbClr val="FFFFFF"/>
                </a:solidFill>
                <a:latin typeface="Cambria"/>
              </a:rPr>
              <a:t>Why do we care about re-usable data?</a:t>
            </a:r>
          </a:p>
        </p:txBody>
      </p:sp>
      <p:sp>
        <p:nvSpPr>
          <p:cNvPr id="5" name="TextBox 4"/>
          <p:cNvSpPr txBox="1"/>
          <p:nvPr/>
        </p:nvSpPr>
        <p:spPr>
          <a:xfrm>
            <a:off x="548640" y="4572000"/>
            <a:ext cx="11155680" cy="461665"/>
          </a:xfrm>
          <a:prstGeom prst="rect">
            <a:avLst/>
          </a:prstGeom>
          <a:noFill/>
        </p:spPr>
        <p:txBody>
          <a:bodyPr wrap="square" lIns="45720" rIns="45720" anchor="t">
            <a:spAutoFit/>
          </a:bodyPr>
          <a:lstStyle/>
          <a:p>
            <a:pPr algn="l"/>
            <a:r>
              <a:rPr sz="2400" b="0" i="0" dirty="0">
                <a:solidFill>
                  <a:srgbClr val="B5BDC8"/>
                </a:solidFill>
                <a:latin typeface="Calibri"/>
              </a:rPr>
              <a:t>An industry perspective on what makes a dataset valuable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11155680" cy="365760"/>
          </a:xfrm>
          <a:prstGeom prst="rect">
            <a:avLst/>
          </a:prstGeom>
          <a:noFill/>
        </p:spPr>
        <p:txBody>
          <a:bodyPr wrap="square" lIns="45720" rIns="45720" anchor="t">
            <a:spAutoFit/>
          </a:bodyPr>
          <a:lstStyle/>
          <a:p>
            <a:pPr algn="l"/>
            <a:r>
              <a:rPr sz="1300" b="1" i="0">
                <a:solidFill>
                  <a:srgbClr val="E67E22"/>
                </a:solidFill>
                <a:latin typeface="Calibri"/>
              </a:rPr>
              <a:t>DEFINITION</a:t>
            </a:r>
          </a:p>
        </p:txBody>
      </p:sp>
      <p:sp>
        <p:nvSpPr>
          <p:cNvPr id="3" name="TextBox 2"/>
          <p:cNvSpPr txBox="1"/>
          <p:nvPr/>
        </p:nvSpPr>
        <p:spPr>
          <a:xfrm>
            <a:off x="548640" y="914400"/>
            <a:ext cx="11155680" cy="1188720"/>
          </a:xfrm>
          <a:prstGeom prst="rect">
            <a:avLst/>
          </a:prstGeom>
          <a:noFill/>
        </p:spPr>
        <p:txBody>
          <a:bodyPr wrap="square" lIns="45720" rIns="45720" anchor="t">
            <a:spAutoFit/>
          </a:bodyPr>
          <a:lstStyle/>
          <a:p>
            <a:pPr algn="l"/>
            <a:r>
              <a:rPr sz="4800" b="1" i="0">
                <a:solidFill>
                  <a:srgbClr val="1E2761"/>
                </a:solidFill>
                <a:latin typeface="Cambria"/>
              </a:rPr>
              <a:t>Data stewardship</a:t>
            </a:r>
          </a:p>
        </p:txBody>
      </p:sp>
      <p:sp>
        <p:nvSpPr>
          <p:cNvPr id="4" name="Rectangle 3"/>
          <p:cNvSpPr/>
          <p:nvPr/>
        </p:nvSpPr>
        <p:spPr>
          <a:xfrm>
            <a:off x="548640" y="2103120"/>
            <a:ext cx="128016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423160"/>
            <a:ext cx="6480810" cy="1815882"/>
          </a:xfrm>
          <a:prstGeom prst="rect">
            <a:avLst/>
          </a:prstGeom>
          <a:noFill/>
        </p:spPr>
        <p:txBody>
          <a:bodyPr wrap="square" lIns="45720" rIns="45720" anchor="t">
            <a:spAutoFit/>
          </a:bodyPr>
          <a:lstStyle/>
          <a:p>
            <a:pPr algn="l"/>
            <a:r>
              <a:rPr sz="2800" b="0" i="0" dirty="0">
                <a:solidFill>
                  <a:srgbClr val="2C3E50"/>
                </a:solidFill>
                <a:latin typeface="Calibri"/>
              </a:rPr>
              <a:t>A skill set for </a:t>
            </a:r>
            <a:r>
              <a:rPr sz="2800" b="1" i="0" dirty="0">
                <a:solidFill>
                  <a:srgbClr val="2C3E50"/>
                </a:solidFill>
                <a:latin typeface="Calibri"/>
              </a:rPr>
              <a:t>creating, handling, and maintaining structured data </a:t>
            </a:r>
            <a:r>
              <a:rPr sz="2800" b="0" i="0" dirty="0">
                <a:solidFill>
                  <a:srgbClr val="2C3E50"/>
                </a:solidFill>
                <a:latin typeface="Calibri"/>
              </a:rPr>
              <a:t>so it can be used for transparent, collaborative research decisions based on rigorous analyses.</a:t>
            </a:r>
          </a:p>
        </p:txBody>
      </p:sp>
      <p:sp>
        <p:nvSpPr>
          <p:cNvPr id="6" name="Rounded Rectangle 5"/>
          <p:cNvSpPr/>
          <p:nvPr/>
        </p:nvSpPr>
        <p:spPr>
          <a:xfrm>
            <a:off x="548640" y="4937760"/>
            <a:ext cx="11155680" cy="1463040"/>
          </a:xfrm>
          <a:prstGeom prst="roundRect">
            <a:avLst>
              <a:gd name="adj" fmla="val 4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 name="TextBox 6"/>
          <p:cNvSpPr txBox="1"/>
          <p:nvPr/>
        </p:nvSpPr>
        <p:spPr>
          <a:xfrm>
            <a:off x="822960" y="5074920"/>
            <a:ext cx="2743200" cy="338554"/>
          </a:xfrm>
          <a:prstGeom prst="rect">
            <a:avLst/>
          </a:prstGeom>
          <a:noFill/>
        </p:spPr>
        <p:txBody>
          <a:bodyPr wrap="square" lIns="45720" rIns="45720" anchor="t">
            <a:spAutoFit/>
          </a:bodyPr>
          <a:lstStyle/>
          <a:p>
            <a:pPr algn="l"/>
            <a:r>
              <a:rPr sz="1600" b="1" i="0">
                <a:solidFill>
                  <a:srgbClr val="E67E22"/>
                </a:solidFill>
                <a:latin typeface="Calibri"/>
              </a:rPr>
              <a:t>FOR EXAMPLE</a:t>
            </a:r>
          </a:p>
        </p:txBody>
      </p:sp>
      <p:sp>
        <p:nvSpPr>
          <p:cNvPr id="8" name="TextBox 7"/>
          <p:cNvSpPr txBox="1"/>
          <p:nvPr/>
        </p:nvSpPr>
        <p:spPr>
          <a:xfrm>
            <a:off x="822960" y="5440680"/>
            <a:ext cx="10698480" cy="707886"/>
          </a:xfrm>
          <a:prstGeom prst="rect">
            <a:avLst/>
          </a:prstGeom>
          <a:noFill/>
        </p:spPr>
        <p:txBody>
          <a:bodyPr wrap="square" lIns="45720" rIns="45720" anchor="t">
            <a:spAutoFit/>
          </a:bodyPr>
          <a:lstStyle/>
          <a:p>
            <a:pPr algn="l"/>
            <a:r>
              <a:rPr sz="2000" b="0" i="1" dirty="0">
                <a:solidFill>
                  <a:srgbClr val="2C3E50"/>
                </a:solidFill>
                <a:latin typeface="Calibri"/>
              </a:rPr>
              <a:t>In practice: the discipline that turns 'the data I collected for my project' into 'the data the next three projects will build on.'</a:t>
            </a:r>
          </a:p>
        </p:txBody>
      </p:sp>
      <p:grpSp>
        <p:nvGrpSpPr>
          <p:cNvPr id="23" name="Group 22">
            <a:extLst>
              <a:ext uri="{FF2B5EF4-FFF2-40B4-BE49-F238E27FC236}">
                <a16:creationId xmlns:a16="http://schemas.microsoft.com/office/drawing/2014/main" id="{ECD9D650-11C7-069F-E083-370F7477BCB8}"/>
              </a:ext>
            </a:extLst>
          </p:cNvPr>
          <p:cNvGrpSpPr/>
          <p:nvPr/>
        </p:nvGrpSpPr>
        <p:grpSpPr>
          <a:xfrm>
            <a:off x="7601620" y="1236568"/>
            <a:ext cx="3539971" cy="3130540"/>
            <a:chOff x="1488556" y="2156458"/>
            <a:chExt cx="3539971" cy="3130540"/>
          </a:xfrm>
        </p:grpSpPr>
        <p:grpSp>
          <p:nvGrpSpPr>
            <p:cNvPr id="24" name="Group 23">
              <a:extLst>
                <a:ext uri="{FF2B5EF4-FFF2-40B4-BE49-F238E27FC236}">
                  <a16:creationId xmlns:a16="http://schemas.microsoft.com/office/drawing/2014/main" id="{2ED04864-169E-7744-CAC4-5FFD44A1D16A}"/>
                </a:ext>
              </a:extLst>
            </p:cNvPr>
            <p:cNvGrpSpPr/>
            <p:nvPr/>
          </p:nvGrpSpPr>
          <p:grpSpPr>
            <a:xfrm>
              <a:off x="1488556" y="4336330"/>
              <a:ext cx="3539971" cy="950668"/>
              <a:chOff x="0" y="2350188"/>
              <a:chExt cx="3539971" cy="783396"/>
            </a:xfrm>
          </p:grpSpPr>
          <p:sp>
            <p:nvSpPr>
              <p:cNvPr id="32" name="Trapezoid 31">
                <a:extLst>
                  <a:ext uri="{FF2B5EF4-FFF2-40B4-BE49-F238E27FC236}">
                    <a16:creationId xmlns:a16="http://schemas.microsoft.com/office/drawing/2014/main" id="{7ACFCD0A-DE05-612F-C89D-047ADFAED4BF}"/>
                  </a:ext>
                </a:extLst>
              </p:cNvPr>
              <p:cNvSpPr/>
              <p:nvPr/>
            </p:nvSpPr>
            <p:spPr>
              <a:xfrm>
                <a:off x="0" y="2350188"/>
                <a:ext cx="3539971" cy="783396"/>
              </a:xfrm>
              <a:prstGeom prst="trapezoid">
                <a:avLst>
                  <a:gd name="adj" fmla="val 56484"/>
                </a:avLst>
              </a:prstGeom>
              <a:solidFill>
                <a:schemeClr val="tx2"/>
              </a:solidFill>
              <a:ln w="12700" cap="flat" cmpd="sng" algn="ctr">
                <a:solidFill>
                  <a:schemeClr val="tx2"/>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415364"/>
                  </a:solidFill>
                  <a:effectLst/>
                  <a:uLnTx/>
                  <a:uFillTx/>
                  <a:latin typeface="Arial" panose="020B0604020202020204"/>
                </a:endParaRPr>
              </a:p>
            </p:txBody>
          </p:sp>
          <p:sp>
            <p:nvSpPr>
              <p:cNvPr id="33" name="Trapezoid 4">
                <a:extLst>
                  <a:ext uri="{FF2B5EF4-FFF2-40B4-BE49-F238E27FC236}">
                    <a16:creationId xmlns:a16="http://schemas.microsoft.com/office/drawing/2014/main" id="{1735D016-E9A2-A63B-AAFC-3731239B78C2}"/>
                  </a:ext>
                </a:extLst>
              </p:cNvPr>
              <p:cNvSpPr txBox="1"/>
              <p:nvPr/>
            </p:nvSpPr>
            <p:spPr>
              <a:xfrm>
                <a:off x="619494" y="2350188"/>
                <a:ext cx="2300981" cy="783396"/>
              </a:xfrm>
              <a:prstGeom prst="rect">
                <a:avLst/>
              </a:prstGeom>
              <a:noFill/>
              <a:ln>
                <a:noFill/>
              </a:ln>
              <a:effectLst/>
            </p:spPr>
            <p:txBody>
              <a:bodyPr spcFirstLastPara="0" vert="horz" wrap="square" lIns="0" tIns="0" rIns="0" bIns="0" numCol="1" spcCol="1270" anchor="ctr" anchorCtr="0">
                <a:noAutofit/>
              </a:bodyPr>
              <a:lstStyle/>
              <a:p>
                <a:pPr marL="0" marR="0" lvl="0" indent="0" algn="ctr" defTabSz="1066800" eaLnBrk="1" fontAlgn="auto" latinLnBrk="0" hangingPunct="1">
                  <a:lnSpc>
                    <a:spcPct val="90000"/>
                  </a:lnSpc>
                  <a:spcBef>
                    <a:spcPct val="0"/>
                  </a:spcBef>
                  <a:spcAft>
                    <a:spcPct val="35000"/>
                  </a:spcAft>
                  <a:buClrTx/>
                  <a:buSzTx/>
                  <a:buFontTx/>
                  <a:buNone/>
                  <a:tabLst/>
                  <a:defRPr/>
                </a:pPr>
                <a:r>
                  <a:rPr kumimoji="0" lang="en-US" sz="2400" b="0" i="0" u="none" strike="noStrike" kern="0" cap="none" spc="0" normalizeH="0" baseline="0" noProof="0">
                    <a:ln>
                      <a:noFill/>
                    </a:ln>
                    <a:solidFill>
                      <a:prstClr val="white"/>
                    </a:solidFill>
                    <a:effectLst/>
                    <a:uLnTx/>
                    <a:uFillTx/>
                  </a:rPr>
                  <a:t>Collection</a:t>
                </a:r>
              </a:p>
            </p:txBody>
          </p:sp>
        </p:grpSp>
        <p:grpSp>
          <p:nvGrpSpPr>
            <p:cNvPr id="25" name="Group 24">
              <a:extLst>
                <a:ext uri="{FF2B5EF4-FFF2-40B4-BE49-F238E27FC236}">
                  <a16:creationId xmlns:a16="http://schemas.microsoft.com/office/drawing/2014/main" id="{0A828D6A-8BA7-11FA-D9A9-F14B6EDDDC0B}"/>
                </a:ext>
              </a:extLst>
            </p:cNvPr>
            <p:cNvGrpSpPr/>
            <p:nvPr/>
          </p:nvGrpSpPr>
          <p:grpSpPr>
            <a:xfrm>
              <a:off x="2024009" y="3326700"/>
              <a:ext cx="2465798" cy="991646"/>
              <a:chOff x="884992" y="783396"/>
              <a:chExt cx="1769985" cy="783396"/>
            </a:xfrm>
          </p:grpSpPr>
          <p:sp>
            <p:nvSpPr>
              <p:cNvPr id="30" name="Trapezoid 29">
                <a:extLst>
                  <a:ext uri="{FF2B5EF4-FFF2-40B4-BE49-F238E27FC236}">
                    <a16:creationId xmlns:a16="http://schemas.microsoft.com/office/drawing/2014/main" id="{68AFF9A8-FB75-DB8B-2522-44573800C7B6}"/>
                  </a:ext>
                </a:extLst>
              </p:cNvPr>
              <p:cNvSpPr/>
              <p:nvPr/>
            </p:nvSpPr>
            <p:spPr>
              <a:xfrm>
                <a:off x="884992" y="783396"/>
                <a:ext cx="1769985" cy="783396"/>
              </a:xfrm>
              <a:prstGeom prst="trapezoid">
                <a:avLst>
                  <a:gd name="adj" fmla="val 56484"/>
                </a:avLst>
              </a:prstGeom>
              <a:noFill/>
              <a:ln w="22225" cap="flat" cmpd="sng" algn="ctr">
                <a:solidFill>
                  <a:schemeClr val="tx2"/>
                </a:solidFill>
                <a:prstDash val="solid"/>
                <a:miter lim="800000"/>
              </a:ln>
              <a:effectLst/>
            </p:spPr>
            <p:txBody>
              <a:bodyPr/>
              <a:lstStyle/>
              <a:p>
                <a:pPr defTabSz="914400"/>
                <a:endParaRPr lang="en-US" kern="0">
                  <a:solidFill>
                    <a:srgbClr val="415364"/>
                  </a:solidFill>
                  <a:latin typeface="Arial" panose="020B0604020202020204"/>
                </a:endParaRPr>
              </a:p>
            </p:txBody>
          </p:sp>
          <p:sp>
            <p:nvSpPr>
              <p:cNvPr id="31" name="Trapezoid 4">
                <a:extLst>
                  <a:ext uri="{FF2B5EF4-FFF2-40B4-BE49-F238E27FC236}">
                    <a16:creationId xmlns:a16="http://schemas.microsoft.com/office/drawing/2014/main" id="{00062306-2F37-F6DE-45B3-CA5EA93416C6}"/>
                  </a:ext>
                </a:extLst>
              </p:cNvPr>
              <p:cNvSpPr txBox="1"/>
              <p:nvPr/>
            </p:nvSpPr>
            <p:spPr>
              <a:xfrm>
                <a:off x="1194740" y="783396"/>
                <a:ext cx="1150490" cy="783396"/>
              </a:xfrm>
              <a:prstGeom prst="rect">
                <a:avLst/>
              </a:prstGeom>
              <a:noFill/>
              <a:ln>
                <a:noFill/>
              </a:ln>
              <a:effectLst/>
            </p:spPr>
            <p:txBody>
              <a:bodyPr spcFirstLastPara="0" vert="horz" wrap="square" lIns="30480" tIns="30480" rIns="30480" bIns="30480" numCol="1" spcCol="1270" anchor="ctr" anchorCtr="0">
                <a:noAutofit/>
              </a:bodyPr>
              <a:lstStyle/>
              <a:p>
                <a:pPr marL="0" marR="0" lvl="0" indent="0" algn="ctr" defTabSz="1066800" eaLnBrk="1" fontAlgn="auto" latinLnBrk="0" hangingPunct="1">
                  <a:lnSpc>
                    <a:spcPct val="90000"/>
                  </a:lnSpc>
                  <a:spcBef>
                    <a:spcPct val="0"/>
                  </a:spcBef>
                  <a:spcAft>
                    <a:spcPct val="35000"/>
                  </a:spcAft>
                  <a:buClrTx/>
                  <a:buSzTx/>
                  <a:buFontTx/>
                  <a:buNone/>
                  <a:tabLst/>
                  <a:defRPr/>
                </a:pPr>
                <a:r>
                  <a:rPr kumimoji="0" lang="en-US" sz="2400" b="0" i="0" u="none" strike="noStrike" kern="0" cap="none" spc="0" normalizeH="0" baseline="0" noProof="0" dirty="0">
                    <a:ln>
                      <a:noFill/>
                    </a:ln>
                    <a:effectLst/>
                    <a:uLnTx/>
                    <a:uFillTx/>
                  </a:rPr>
                  <a:t>Analysis</a:t>
                </a:r>
              </a:p>
            </p:txBody>
          </p:sp>
        </p:grpSp>
        <p:sp>
          <p:nvSpPr>
            <p:cNvPr id="26" name="Trapezoid 25">
              <a:extLst>
                <a:ext uri="{FF2B5EF4-FFF2-40B4-BE49-F238E27FC236}">
                  <a16:creationId xmlns:a16="http://schemas.microsoft.com/office/drawing/2014/main" id="{A82B7365-EDF4-0D99-A103-9CD419BEBDB0}"/>
                </a:ext>
              </a:extLst>
            </p:cNvPr>
            <p:cNvSpPr/>
            <p:nvPr/>
          </p:nvSpPr>
          <p:spPr>
            <a:xfrm>
              <a:off x="2607653" y="2156458"/>
              <a:ext cx="1298509" cy="1149441"/>
            </a:xfrm>
            <a:prstGeom prst="trapezoid">
              <a:avLst>
                <a:gd name="adj" fmla="val 56484"/>
              </a:avLst>
            </a:prstGeom>
            <a:noFill/>
            <a:ln w="22225" cap="flat" cmpd="sng" algn="ctr">
              <a:solidFill>
                <a:schemeClr val="tx2"/>
              </a:solidFill>
              <a:prstDash val="solid"/>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415364"/>
                </a:solidFill>
                <a:effectLst/>
                <a:uLnTx/>
                <a:uFillTx/>
                <a:latin typeface="Arial" panose="020B0604020202020204"/>
              </a:endParaRPr>
            </a:p>
          </p:txBody>
        </p:sp>
        <p:grpSp>
          <p:nvGrpSpPr>
            <p:cNvPr id="27" name="Group 26">
              <a:extLst>
                <a:ext uri="{FF2B5EF4-FFF2-40B4-BE49-F238E27FC236}">
                  <a16:creationId xmlns:a16="http://schemas.microsoft.com/office/drawing/2014/main" id="{AE6293A0-24EF-E22C-45FD-BE2DE340FDD8}"/>
                </a:ext>
              </a:extLst>
            </p:cNvPr>
            <p:cNvGrpSpPr/>
            <p:nvPr/>
          </p:nvGrpSpPr>
          <p:grpSpPr>
            <a:xfrm>
              <a:off x="2607653" y="2339607"/>
              <a:ext cx="1242648" cy="783396"/>
              <a:chOff x="5417063" y="678683"/>
              <a:chExt cx="1242648" cy="783396"/>
            </a:xfrm>
          </p:grpSpPr>
          <p:sp>
            <p:nvSpPr>
              <p:cNvPr id="28" name="Trapezoid 4">
                <a:extLst>
                  <a:ext uri="{FF2B5EF4-FFF2-40B4-BE49-F238E27FC236}">
                    <a16:creationId xmlns:a16="http://schemas.microsoft.com/office/drawing/2014/main" id="{B443EEF8-3E65-6703-3F3D-18DE25318D73}"/>
                  </a:ext>
                </a:extLst>
              </p:cNvPr>
              <p:cNvSpPr txBox="1"/>
              <p:nvPr/>
            </p:nvSpPr>
            <p:spPr>
              <a:xfrm>
                <a:off x="5655306" y="678683"/>
                <a:ext cx="884992" cy="783396"/>
              </a:xfrm>
              <a:prstGeom prst="rect">
                <a:avLst/>
              </a:prstGeom>
              <a:noFill/>
              <a:ln>
                <a:noFill/>
              </a:ln>
              <a:effectLst/>
            </p:spPr>
            <p:txBody>
              <a:bodyPr spcFirstLastPara="0" vert="horz" wrap="square" lIns="30480" tIns="30480" rIns="30480" bIns="0" numCol="1" spcCol="1270" anchor="b" anchorCtr="0">
                <a:noAutofit/>
              </a:bodyPr>
              <a:lstStyle/>
              <a:p>
                <a:pPr marL="0" marR="0" lvl="0" indent="0" algn="ctr" defTabSz="1066800" eaLnBrk="1" fontAlgn="auto" latinLnBrk="0" hangingPunct="1">
                  <a:lnSpc>
                    <a:spcPct val="90000"/>
                  </a:lnSpc>
                  <a:spcBef>
                    <a:spcPct val="0"/>
                  </a:spcBef>
                  <a:spcAft>
                    <a:spcPct val="35000"/>
                  </a:spcAft>
                  <a:buClrTx/>
                  <a:buSzTx/>
                  <a:buFontTx/>
                  <a:buNone/>
                  <a:tabLst/>
                  <a:defRPr/>
                </a:pPr>
                <a:endParaRPr kumimoji="0" lang="en-US" sz="2400" b="0" i="0" u="none" strike="noStrike" kern="0" cap="none" spc="0" normalizeH="0" baseline="0" noProof="0">
                  <a:ln>
                    <a:noFill/>
                  </a:ln>
                  <a:solidFill>
                    <a:prstClr val="black"/>
                  </a:solidFill>
                  <a:effectLst/>
                  <a:uLnTx/>
                  <a:uFillTx/>
                </a:endParaRPr>
              </a:p>
            </p:txBody>
          </p:sp>
          <p:sp>
            <p:nvSpPr>
              <p:cNvPr id="29" name="TextBox 28">
                <a:extLst>
                  <a:ext uri="{FF2B5EF4-FFF2-40B4-BE49-F238E27FC236}">
                    <a16:creationId xmlns:a16="http://schemas.microsoft.com/office/drawing/2014/main" id="{BC3B8001-C082-340B-6328-E66F35D24931}"/>
                  </a:ext>
                </a:extLst>
              </p:cNvPr>
              <p:cNvSpPr txBox="1"/>
              <p:nvPr/>
            </p:nvSpPr>
            <p:spPr>
              <a:xfrm>
                <a:off x="5417063" y="861030"/>
                <a:ext cx="1242648" cy="461665"/>
              </a:xfrm>
              <a:prstGeom prst="rect">
                <a:avLst/>
              </a:prstGeom>
              <a:solidFill>
                <a:sysClr val="window" lastClr="FFFFFF"/>
              </a:solid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prstClr val="black"/>
                    </a:solidFill>
                    <a:effectLst/>
                    <a:uLnTx/>
                    <a:uFillTx/>
                  </a:rPr>
                  <a:t>Decision</a:t>
                </a:r>
              </a:p>
            </p:txBody>
          </p:sp>
        </p:grpSp>
      </p:grpSp>
      <p:pic>
        <p:nvPicPr>
          <p:cNvPr id="34" name="Graphic 33" descr="Test tubes outline">
            <a:extLst>
              <a:ext uri="{FF2B5EF4-FFF2-40B4-BE49-F238E27FC236}">
                <a16:creationId xmlns:a16="http://schemas.microsoft.com/office/drawing/2014/main" id="{F613F091-B5FE-0762-005F-B6B9E7A2235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36465" y="3406692"/>
            <a:ext cx="914400" cy="914400"/>
          </a:xfrm>
          <a:prstGeom prst="rect">
            <a:avLst/>
          </a:prstGeom>
        </p:spPr>
      </p:pic>
      <p:pic>
        <p:nvPicPr>
          <p:cNvPr id="35" name="Graphic 34" descr="Statistics outline">
            <a:extLst>
              <a:ext uri="{FF2B5EF4-FFF2-40B4-BE49-F238E27FC236}">
                <a16:creationId xmlns:a16="http://schemas.microsoft.com/office/drawing/2014/main" id="{7CEA9DCE-A233-5B1B-DD78-EFE3B7345BD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014545" y="2372369"/>
            <a:ext cx="914400" cy="914400"/>
          </a:xfrm>
          <a:prstGeom prst="rect">
            <a:avLst/>
          </a:prstGeom>
        </p:spPr>
      </p:pic>
      <p:pic>
        <p:nvPicPr>
          <p:cNvPr id="36" name="Graphic 35" descr="Good Idea outline">
            <a:extLst>
              <a:ext uri="{FF2B5EF4-FFF2-40B4-BE49-F238E27FC236}">
                <a16:creationId xmlns:a16="http://schemas.microsoft.com/office/drawing/2014/main" id="{E3E0F66A-5871-8044-328D-CDB6850DB70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14545" y="1328299"/>
            <a:ext cx="914400" cy="914400"/>
          </a:xfrm>
          <a:prstGeom prst="rect">
            <a:avLst/>
          </a:prstGeom>
        </p:spPr>
      </p:pic>
      <p:sp>
        <p:nvSpPr>
          <p:cNvPr id="37" name="Arrow: Right 36">
            <a:extLst>
              <a:ext uri="{FF2B5EF4-FFF2-40B4-BE49-F238E27FC236}">
                <a16:creationId xmlns:a16="http://schemas.microsoft.com/office/drawing/2014/main" id="{D7A53A0D-EAD0-7A3D-884A-3DD4A54C20A6}"/>
              </a:ext>
            </a:extLst>
          </p:cNvPr>
          <p:cNvSpPr/>
          <p:nvPr/>
        </p:nvSpPr>
        <p:spPr>
          <a:xfrm>
            <a:off x="7311841" y="3627783"/>
            <a:ext cx="1273754" cy="447260"/>
          </a:xfrm>
          <a:prstGeom prs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Why data stewardship matters</a:t>
            </a:r>
            <a:endParaRPr sz="3200" b="1" i="0" dirty="0">
              <a:solidFill>
                <a:srgbClr val="1E2761"/>
              </a:solidFill>
              <a:latin typeface="Cambria"/>
            </a:endParaRPr>
          </a:p>
        </p:txBody>
      </p:sp>
      <p:sp>
        <p:nvSpPr>
          <p:cNvPr id="3" name="TextBox 2"/>
          <p:cNvSpPr txBox="1"/>
          <p:nvPr/>
        </p:nvSpPr>
        <p:spPr>
          <a:xfrm>
            <a:off x="548640" y="1371600"/>
            <a:ext cx="5486400" cy="461665"/>
          </a:xfrm>
          <a:prstGeom prst="rect">
            <a:avLst/>
          </a:prstGeom>
          <a:noFill/>
        </p:spPr>
        <p:txBody>
          <a:bodyPr wrap="square" lIns="45720" rIns="45720" anchor="t">
            <a:spAutoFit/>
          </a:bodyPr>
          <a:lstStyle/>
          <a:p>
            <a:pPr algn="l"/>
            <a:r>
              <a:rPr sz="2400" b="1" i="0">
                <a:solidFill>
                  <a:srgbClr val="1E2761"/>
                </a:solidFill>
                <a:latin typeface="Cambria"/>
              </a:rPr>
              <a:t>A PhD project</a:t>
            </a:r>
          </a:p>
        </p:txBody>
      </p:sp>
      <p:sp>
        <p:nvSpPr>
          <p:cNvPr id="4" name="TextBox 3"/>
          <p:cNvSpPr txBox="1"/>
          <p:nvPr/>
        </p:nvSpPr>
        <p:spPr>
          <a:xfrm>
            <a:off x="6309360" y="1371600"/>
            <a:ext cx="5486400" cy="461665"/>
          </a:xfrm>
          <a:prstGeom prst="rect">
            <a:avLst/>
          </a:prstGeom>
          <a:noFill/>
        </p:spPr>
        <p:txBody>
          <a:bodyPr wrap="square" lIns="45720" rIns="45720" anchor="t">
            <a:spAutoFit/>
          </a:bodyPr>
          <a:lstStyle/>
          <a:p>
            <a:pPr algn="l"/>
            <a:r>
              <a:rPr sz="2400" b="1" i="0">
                <a:solidFill>
                  <a:srgbClr val="1E2761"/>
                </a:solidFill>
                <a:latin typeface="Cambria"/>
              </a:rPr>
              <a:t>An industry R&amp;D project</a:t>
            </a:r>
          </a:p>
        </p:txBody>
      </p:sp>
      <p:sp>
        <p:nvSpPr>
          <p:cNvPr id="5" name="TextBox 4"/>
          <p:cNvSpPr txBox="1"/>
          <p:nvPr/>
        </p:nvSpPr>
        <p:spPr>
          <a:xfrm>
            <a:off x="548640" y="2011680"/>
            <a:ext cx="5486400" cy="4334520"/>
          </a:xfrm>
          <a:prstGeom prst="rect">
            <a:avLst/>
          </a:prstGeom>
          <a:noFill/>
        </p:spPr>
        <p:txBody>
          <a:bodyPr wrap="square">
            <a:spAutoFit/>
          </a:bodyPr>
          <a:lstStyle/>
          <a:p>
            <a:pPr algn="l">
              <a:spcAft>
                <a:spcPts val="800"/>
              </a:spcAft>
            </a:pPr>
            <a:r>
              <a:rPr sz="2000" b="1" dirty="0">
                <a:solidFill>
                  <a:srgbClr val="2C3E50"/>
                </a:solidFill>
                <a:latin typeface="Calibri"/>
              </a:rPr>
              <a:t>•  Starts with you</a:t>
            </a:r>
          </a:p>
          <a:p>
            <a:pPr algn="l">
              <a:spcAft>
                <a:spcPts val="1000"/>
              </a:spcAft>
            </a:pPr>
            <a:r>
              <a:rPr b="0" dirty="0">
                <a:solidFill>
                  <a:srgbClr val="4A5B6E"/>
                </a:solidFill>
                <a:latin typeface="Calibri"/>
              </a:rPr>
              <a:t>     you frame the question, you generate the data, you own the interpretation</a:t>
            </a:r>
          </a:p>
          <a:p>
            <a:pPr algn="l">
              <a:spcAft>
                <a:spcPts val="800"/>
              </a:spcAft>
            </a:pPr>
            <a:r>
              <a:rPr sz="2000" b="1" dirty="0">
                <a:solidFill>
                  <a:srgbClr val="2C3E50"/>
                </a:solidFill>
                <a:latin typeface="Calibri"/>
              </a:rPr>
              <a:t>•  Ends with you</a:t>
            </a:r>
          </a:p>
          <a:p>
            <a:pPr algn="l">
              <a:spcAft>
                <a:spcPts val="1000"/>
              </a:spcAft>
            </a:pPr>
            <a:r>
              <a:rPr b="0" dirty="0">
                <a:solidFill>
                  <a:srgbClr val="4A5B6E"/>
                </a:solidFill>
                <a:latin typeface="Calibri"/>
              </a:rPr>
              <a:t>     when the thesis ships, the dataset stops being touched</a:t>
            </a:r>
            <a:r>
              <a:rPr lang="en-US" b="0" dirty="0">
                <a:solidFill>
                  <a:srgbClr val="4A5B6E"/>
                </a:solidFill>
                <a:latin typeface="Calibri"/>
              </a:rPr>
              <a:t>,</a:t>
            </a:r>
            <a:r>
              <a:rPr b="0" dirty="0">
                <a:solidFill>
                  <a:srgbClr val="4A5B6E"/>
                </a:solidFill>
                <a:latin typeface="Calibri"/>
              </a:rPr>
              <a:t> often within months</a:t>
            </a:r>
          </a:p>
          <a:p>
            <a:pPr algn="l">
              <a:spcAft>
                <a:spcPts val="800"/>
              </a:spcAft>
            </a:pPr>
            <a:r>
              <a:rPr sz="2000" b="1" dirty="0">
                <a:solidFill>
                  <a:srgbClr val="2C3E50"/>
                </a:solidFill>
                <a:latin typeface="Calibri"/>
              </a:rPr>
              <a:t>•  </a:t>
            </a:r>
            <a:r>
              <a:rPr lang="en-US" sz="2000" b="1" dirty="0">
                <a:solidFill>
                  <a:srgbClr val="2C3E50"/>
                </a:solidFill>
                <a:latin typeface="Calibri"/>
              </a:rPr>
              <a:t>H</a:t>
            </a:r>
            <a:r>
              <a:rPr sz="2000" b="1" dirty="0">
                <a:solidFill>
                  <a:srgbClr val="2C3E50"/>
                </a:solidFill>
                <a:latin typeface="Calibri"/>
              </a:rPr>
              <a:t>alf-life </a:t>
            </a:r>
            <a:r>
              <a:rPr lang="en-US" sz="2000" b="1" dirty="0">
                <a:solidFill>
                  <a:srgbClr val="2C3E50"/>
                </a:solidFill>
                <a:latin typeface="Calibri"/>
              </a:rPr>
              <a:t>is </a:t>
            </a:r>
            <a:r>
              <a:rPr sz="2000" b="1" dirty="0">
                <a:solidFill>
                  <a:srgbClr val="2C3E50"/>
                </a:solidFill>
                <a:latin typeface="Calibri"/>
              </a:rPr>
              <a:t>short</a:t>
            </a:r>
          </a:p>
          <a:p>
            <a:pPr algn="l">
              <a:spcAft>
                <a:spcPts val="1000"/>
              </a:spcAft>
            </a:pPr>
            <a:r>
              <a:rPr b="0" dirty="0">
                <a:solidFill>
                  <a:srgbClr val="4A5B6E"/>
                </a:solidFill>
                <a:latin typeface="Calibri"/>
              </a:rPr>
              <a:t>     very few people ever revisit the raw numbers after the defense</a:t>
            </a:r>
          </a:p>
          <a:p>
            <a:pPr algn="l">
              <a:spcAft>
                <a:spcPts val="800"/>
              </a:spcAft>
            </a:pPr>
            <a:r>
              <a:rPr sz="2000" b="1" dirty="0">
                <a:solidFill>
                  <a:srgbClr val="2C3E50"/>
                </a:solidFill>
                <a:latin typeface="Calibri"/>
              </a:rPr>
              <a:t>•  Reproducibility is a courtesy</a:t>
            </a:r>
          </a:p>
          <a:p>
            <a:pPr algn="l">
              <a:spcAft>
                <a:spcPts val="1000"/>
              </a:spcAft>
            </a:pPr>
            <a:r>
              <a:rPr b="0" dirty="0">
                <a:solidFill>
                  <a:srgbClr val="4A5B6E"/>
                </a:solidFill>
                <a:latin typeface="Calibri"/>
              </a:rPr>
              <a:t>     not usually a requirement of anyone else's downstream work</a:t>
            </a:r>
          </a:p>
        </p:txBody>
      </p:sp>
      <p:sp>
        <p:nvSpPr>
          <p:cNvPr id="6" name="TextBox 5"/>
          <p:cNvSpPr txBox="1"/>
          <p:nvPr/>
        </p:nvSpPr>
        <p:spPr>
          <a:xfrm>
            <a:off x="6309360" y="2011680"/>
            <a:ext cx="5486400" cy="4334520"/>
          </a:xfrm>
          <a:prstGeom prst="rect">
            <a:avLst/>
          </a:prstGeom>
          <a:noFill/>
        </p:spPr>
        <p:txBody>
          <a:bodyPr wrap="square">
            <a:spAutoFit/>
          </a:bodyPr>
          <a:lstStyle/>
          <a:p>
            <a:pPr algn="l">
              <a:spcAft>
                <a:spcPts val="800"/>
              </a:spcAft>
            </a:pPr>
            <a:r>
              <a:rPr sz="2000" b="1" dirty="0">
                <a:solidFill>
                  <a:srgbClr val="2C3E50"/>
                </a:solidFill>
                <a:latin typeface="Calibri"/>
              </a:rPr>
              <a:t>•  Joins the pile</a:t>
            </a:r>
          </a:p>
          <a:p>
            <a:pPr algn="l">
              <a:spcAft>
                <a:spcPts val="1000"/>
              </a:spcAft>
            </a:pPr>
            <a:r>
              <a:rPr b="0" dirty="0">
                <a:solidFill>
                  <a:srgbClr val="4A5B6E"/>
                </a:solidFill>
                <a:latin typeface="Calibri"/>
              </a:rPr>
              <a:t>     every dataset compounds into institutional knowledge</a:t>
            </a:r>
          </a:p>
          <a:p>
            <a:pPr algn="l">
              <a:spcAft>
                <a:spcPts val="800"/>
              </a:spcAft>
            </a:pPr>
            <a:r>
              <a:rPr sz="2000" b="1" dirty="0">
                <a:solidFill>
                  <a:srgbClr val="2C3E50"/>
                </a:solidFill>
                <a:latin typeface="Calibri"/>
              </a:rPr>
              <a:t>•  Outlives the project</a:t>
            </a:r>
          </a:p>
          <a:p>
            <a:pPr algn="l">
              <a:spcAft>
                <a:spcPts val="1000"/>
              </a:spcAft>
            </a:pPr>
            <a:r>
              <a:rPr b="0" dirty="0">
                <a:solidFill>
                  <a:srgbClr val="4A5B6E"/>
                </a:solidFill>
                <a:latin typeface="Calibri"/>
              </a:rPr>
              <a:t>     the next project reads yours as its starting point, sometimes years later</a:t>
            </a:r>
          </a:p>
          <a:p>
            <a:pPr algn="l">
              <a:spcAft>
                <a:spcPts val="800"/>
              </a:spcAft>
            </a:pPr>
            <a:r>
              <a:rPr sz="2000" b="1" dirty="0">
                <a:solidFill>
                  <a:srgbClr val="2C3E50"/>
                </a:solidFill>
                <a:latin typeface="Calibri"/>
              </a:rPr>
              <a:t>•  Half-life measured in years</a:t>
            </a:r>
          </a:p>
          <a:p>
            <a:pPr algn="l">
              <a:spcAft>
                <a:spcPts val="1000"/>
              </a:spcAft>
            </a:pPr>
            <a:r>
              <a:rPr b="0" dirty="0">
                <a:solidFill>
                  <a:srgbClr val="4A5B6E"/>
                </a:solidFill>
                <a:latin typeface="Calibri"/>
              </a:rPr>
              <a:t>     long enough that people, tools, and file formats all turn over</a:t>
            </a:r>
          </a:p>
          <a:p>
            <a:pPr algn="l">
              <a:spcAft>
                <a:spcPts val="800"/>
              </a:spcAft>
            </a:pPr>
            <a:r>
              <a:rPr sz="2000" b="1" dirty="0">
                <a:solidFill>
                  <a:srgbClr val="2C3E50"/>
                </a:solidFill>
                <a:latin typeface="Calibri"/>
              </a:rPr>
              <a:t>•  Reproducibility is a job</a:t>
            </a:r>
          </a:p>
          <a:p>
            <a:pPr algn="l">
              <a:spcAft>
                <a:spcPts val="1000"/>
              </a:spcAft>
            </a:pPr>
            <a:r>
              <a:rPr b="0" dirty="0">
                <a:solidFill>
                  <a:srgbClr val="4A5B6E"/>
                </a:solidFill>
                <a:latin typeface="Calibri"/>
              </a:rPr>
              <a:t>     someone else will need to re-run your analysis and get the same number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155680" cy="457200"/>
          </a:xfrm>
          <a:prstGeom prst="rect">
            <a:avLst/>
          </a:prstGeom>
          <a:noFill/>
        </p:spPr>
        <p:txBody>
          <a:bodyPr wrap="square" lIns="45720" rIns="45720" anchor="t">
            <a:spAutoFit/>
          </a:bodyPr>
          <a:lstStyle/>
          <a:p>
            <a:pPr algn="ctr"/>
            <a:r>
              <a:rPr sz="1400" b="1" i="0">
                <a:solidFill>
                  <a:srgbClr val="E67E22"/>
                </a:solidFill>
                <a:latin typeface="Calibri"/>
              </a:rPr>
              <a:t>TAKE A MOMENT</a:t>
            </a:r>
          </a:p>
        </p:txBody>
      </p:sp>
      <p:sp>
        <p:nvSpPr>
          <p:cNvPr id="4" name="TextBox 3"/>
          <p:cNvSpPr txBox="1"/>
          <p:nvPr/>
        </p:nvSpPr>
        <p:spPr>
          <a:xfrm>
            <a:off x="1371600" y="2194560"/>
            <a:ext cx="9418320" cy="2743200"/>
          </a:xfrm>
          <a:prstGeom prst="rect">
            <a:avLst/>
          </a:prstGeom>
          <a:noFill/>
        </p:spPr>
        <p:txBody>
          <a:bodyPr wrap="square" lIns="45720" rIns="45720" anchor="ctr">
            <a:spAutoFit/>
          </a:bodyPr>
          <a:lstStyle/>
          <a:p>
            <a:pPr algn="ctr"/>
            <a:r>
              <a:rPr sz="4000" b="1" i="0">
                <a:solidFill>
                  <a:srgbClr val="1E2761"/>
                </a:solidFill>
                <a:latin typeface="Cambria"/>
              </a:rPr>
              <a:t>Have you ever inherited someone's data and been able to fully reproduce their analysis in under one hour?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1077218"/>
          </a:xfrm>
          <a:prstGeom prst="rect">
            <a:avLst/>
          </a:prstGeom>
          <a:noFill/>
        </p:spPr>
        <p:txBody>
          <a:bodyPr wrap="square" lIns="45720" rIns="45720" anchor="t">
            <a:spAutoFit/>
          </a:bodyPr>
          <a:lstStyle/>
          <a:p>
            <a:pPr algn="l"/>
            <a:r>
              <a:rPr sz="3200" b="1" i="0" dirty="0">
                <a:solidFill>
                  <a:srgbClr val="1E2761"/>
                </a:solidFill>
                <a:latin typeface="Cambria"/>
              </a:rPr>
              <a:t>Well-structured data supports four </a:t>
            </a:r>
            <a:r>
              <a:rPr lang="en-US" sz="3200" b="1" i="0" dirty="0">
                <a:solidFill>
                  <a:srgbClr val="1E2761"/>
                </a:solidFill>
                <a:latin typeface="Cambria"/>
              </a:rPr>
              <a:t>key principles of scientific research</a:t>
            </a:r>
            <a:r>
              <a:rPr sz="3200" b="1" i="0" dirty="0">
                <a:solidFill>
                  <a:srgbClr val="1E2761"/>
                </a:solidFill>
                <a:latin typeface="Cambria"/>
              </a:rPr>
              <a:t> at once</a:t>
            </a:r>
          </a:p>
        </p:txBody>
      </p:sp>
      <p:sp>
        <p:nvSpPr>
          <p:cNvPr id="7" name="Rectangle 6">
            <a:extLst>
              <a:ext uri="{FF2B5EF4-FFF2-40B4-BE49-F238E27FC236}">
                <a16:creationId xmlns:a16="http://schemas.microsoft.com/office/drawing/2014/main" id="{41432F05-0EC5-A027-BA7E-052F0EA7A018}"/>
              </a:ext>
            </a:extLst>
          </p:cNvPr>
          <p:cNvSpPr/>
          <p:nvPr/>
        </p:nvSpPr>
        <p:spPr>
          <a:xfrm>
            <a:off x="548640" y="2511956"/>
            <a:ext cx="2176085" cy="576267"/>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a:solidFill>
                  <a:schemeClr val="tx2"/>
                </a:solidFill>
              </a:rPr>
              <a:t>Fidelity</a:t>
            </a:r>
          </a:p>
        </p:txBody>
      </p:sp>
      <p:sp>
        <p:nvSpPr>
          <p:cNvPr id="9" name="Rectangle 8">
            <a:extLst>
              <a:ext uri="{FF2B5EF4-FFF2-40B4-BE49-F238E27FC236}">
                <a16:creationId xmlns:a16="http://schemas.microsoft.com/office/drawing/2014/main" id="{C9C3233C-1E17-49EB-C8EA-341EDE477DBD}"/>
              </a:ext>
            </a:extLst>
          </p:cNvPr>
          <p:cNvSpPr/>
          <p:nvPr/>
        </p:nvSpPr>
        <p:spPr>
          <a:xfrm>
            <a:off x="3513897" y="2511956"/>
            <a:ext cx="2145263" cy="576267"/>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a:solidFill>
                  <a:schemeClr val="tx2"/>
                </a:solidFill>
              </a:rPr>
              <a:t>Transparency</a:t>
            </a:r>
          </a:p>
        </p:txBody>
      </p:sp>
      <p:sp>
        <p:nvSpPr>
          <p:cNvPr id="11" name="TextBox 10">
            <a:extLst>
              <a:ext uri="{FF2B5EF4-FFF2-40B4-BE49-F238E27FC236}">
                <a16:creationId xmlns:a16="http://schemas.microsoft.com/office/drawing/2014/main" id="{912690AC-2C8F-DDFE-65A1-9A1856C2FD9E}"/>
              </a:ext>
            </a:extLst>
          </p:cNvPr>
          <p:cNvSpPr txBox="1"/>
          <p:nvPr/>
        </p:nvSpPr>
        <p:spPr>
          <a:xfrm>
            <a:off x="548640" y="3305387"/>
            <a:ext cx="2328124" cy="1301352"/>
          </a:xfrm>
          <a:prstGeom prst="rect">
            <a:avLst/>
          </a:prstGeom>
          <a:noFill/>
        </p:spPr>
        <p:txBody>
          <a:bodyPr wrap="square" lIns="45720" rIns="45720" rtlCol="0">
            <a:noAutofit/>
          </a:bodyPr>
          <a:lstStyle/>
          <a:p>
            <a:r>
              <a:rPr lang="en-US" sz="2200" dirty="0"/>
              <a:t>Structured data supports data fidelity, which means it is </a:t>
            </a:r>
            <a:r>
              <a:rPr lang="en-US" sz="2200" b="1" dirty="0"/>
              <a:t>easy to avoid or detect errors </a:t>
            </a:r>
            <a:r>
              <a:rPr lang="en-US" sz="2200" dirty="0"/>
              <a:t>during the process of noting or storing data</a:t>
            </a:r>
          </a:p>
        </p:txBody>
      </p:sp>
      <p:sp>
        <p:nvSpPr>
          <p:cNvPr id="13" name="TextBox 12">
            <a:extLst>
              <a:ext uri="{FF2B5EF4-FFF2-40B4-BE49-F238E27FC236}">
                <a16:creationId xmlns:a16="http://schemas.microsoft.com/office/drawing/2014/main" id="{77F19372-4EBB-383F-8A40-68259BF0ECED}"/>
              </a:ext>
            </a:extLst>
          </p:cNvPr>
          <p:cNvSpPr txBox="1"/>
          <p:nvPr/>
        </p:nvSpPr>
        <p:spPr>
          <a:xfrm>
            <a:off x="6448332" y="3305387"/>
            <a:ext cx="2145263" cy="2139916"/>
          </a:xfrm>
          <a:prstGeom prst="rect">
            <a:avLst/>
          </a:prstGeom>
          <a:noFill/>
        </p:spPr>
        <p:txBody>
          <a:bodyPr wrap="square" lIns="45720" rIns="45720" rtlCol="0">
            <a:noAutofit/>
          </a:bodyPr>
          <a:lstStyle/>
          <a:p>
            <a:r>
              <a:rPr lang="en-US" sz="2200" dirty="0"/>
              <a:t>Structured data makes it easy for your colleagues to understand and </a:t>
            </a:r>
            <a:r>
              <a:rPr lang="en-US" sz="2200" b="1" dirty="0"/>
              <a:t>reproduce your results</a:t>
            </a:r>
          </a:p>
        </p:txBody>
      </p:sp>
      <p:sp>
        <p:nvSpPr>
          <p:cNvPr id="15" name="TextBox 14">
            <a:extLst>
              <a:ext uri="{FF2B5EF4-FFF2-40B4-BE49-F238E27FC236}">
                <a16:creationId xmlns:a16="http://schemas.microsoft.com/office/drawing/2014/main" id="{5F9A9F5D-5F26-D90A-2D6E-8B0546838FFD}"/>
              </a:ext>
            </a:extLst>
          </p:cNvPr>
          <p:cNvSpPr txBox="1"/>
          <p:nvPr/>
        </p:nvSpPr>
        <p:spPr>
          <a:xfrm>
            <a:off x="3513897" y="3305387"/>
            <a:ext cx="2475937" cy="2047449"/>
          </a:xfrm>
          <a:prstGeom prst="rect">
            <a:avLst/>
          </a:prstGeom>
          <a:noFill/>
        </p:spPr>
        <p:txBody>
          <a:bodyPr wrap="square" lIns="45720" rIns="45720" rtlCol="0">
            <a:noAutofit/>
          </a:bodyPr>
          <a:lstStyle/>
          <a:p>
            <a:r>
              <a:rPr lang="en-US" sz="2200" dirty="0"/>
              <a:t>Structured data fosters collaboration because it is </a:t>
            </a:r>
            <a:r>
              <a:rPr lang="en-US" sz="2200" b="1" dirty="0"/>
              <a:t>easily understandable</a:t>
            </a:r>
          </a:p>
        </p:txBody>
      </p:sp>
      <p:sp>
        <p:nvSpPr>
          <p:cNvPr id="17" name="Rectangle 16">
            <a:extLst>
              <a:ext uri="{FF2B5EF4-FFF2-40B4-BE49-F238E27FC236}">
                <a16:creationId xmlns:a16="http://schemas.microsoft.com/office/drawing/2014/main" id="{32671212-A427-49D0-E504-EA0C41E0CE43}"/>
              </a:ext>
            </a:extLst>
          </p:cNvPr>
          <p:cNvSpPr/>
          <p:nvPr/>
        </p:nvSpPr>
        <p:spPr>
          <a:xfrm>
            <a:off x="6448332" y="2511956"/>
            <a:ext cx="2145263" cy="576267"/>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Reproducibility</a:t>
            </a:r>
          </a:p>
        </p:txBody>
      </p:sp>
      <p:sp>
        <p:nvSpPr>
          <p:cNvPr id="18" name="TextBox 17">
            <a:extLst>
              <a:ext uri="{FF2B5EF4-FFF2-40B4-BE49-F238E27FC236}">
                <a16:creationId xmlns:a16="http://schemas.microsoft.com/office/drawing/2014/main" id="{100AC841-0729-00FB-6B8F-56AF9680518D}"/>
              </a:ext>
            </a:extLst>
          </p:cNvPr>
          <p:cNvSpPr txBox="1"/>
          <p:nvPr/>
        </p:nvSpPr>
        <p:spPr>
          <a:xfrm>
            <a:off x="9382766" y="3305387"/>
            <a:ext cx="2321554" cy="2139916"/>
          </a:xfrm>
          <a:prstGeom prst="rect">
            <a:avLst/>
          </a:prstGeom>
          <a:noFill/>
        </p:spPr>
        <p:txBody>
          <a:bodyPr wrap="square" lIns="45720" rIns="45720" rtlCol="0">
            <a:noAutofit/>
          </a:bodyPr>
          <a:lstStyle/>
          <a:p>
            <a:r>
              <a:rPr lang="en-US" sz="2200" dirty="0"/>
              <a:t>Transparency and reproducibility along with </a:t>
            </a:r>
            <a:r>
              <a:rPr lang="en-US" sz="2200" b="1" dirty="0"/>
              <a:t>good documentation </a:t>
            </a:r>
            <a:r>
              <a:rPr lang="en-US" sz="2200" dirty="0"/>
              <a:t>make collaboration on project data easy</a:t>
            </a:r>
          </a:p>
        </p:txBody>
      </p:sp>
      <p:sp>
        <p:nvSpPr>
          <p:cNvPr id="19" name="Rectangle 18">
            <a:extLst>
              <a:ext uri="{FF2B5EF4-FFF2-40B4-BE49-F238E27FC236}">
                <a16:creationId xmlns:a16="http://schemas.microsoft.com/office/drawing/2014/main" id="{2311EF35-96E1-92AE-BF9C-50F9C7B2FB28}"/>
              </a:ext>
            </a:extLst>
          </p:cNvPr>
          <p:cNvSpPr/>
          <p:nvPr/>
        </p:nvSpPr>
        <p:spPr>
          <a:xfrm>
            <a:off x="9382766" y="2511956"/>
            <a:ext cx="2145263" cy="576267"/>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a:r>
              <a:rPr lang="en-US" sz="2400" b="1" dirty="0">
                <a:solidFill>
                  <a:schemeClr val="tx2"/>
                </a:solidFill>
              </a:rPr>
              <a:t>Collaboration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D81FE82-3096-FEF9-F099-747AE0BE6189}"/>
              </a:ext>
            </a:extLst>
          </p:cNvPr>
          <p:cNvSpPr/>
          <p:nvPr/>
        </p:nvSpPr>
        <p:spPr>
          <a:xfrm>
            <a:off x="508253" y="6224530"/>
            <a:ext cx="1236325" cy="5969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TextBox 27">
            <a:extLst>
              <a:ext uri="{FF2B5EF4-FFF2-40B4-BE49-F238E27FC236}">
                <a16:creationId xmlns:a16="http://schemas.microsoft.com/office/drawing/2014/main" id="{5EF6B0E0-D685-81D6-BCD0-7CD354E3A454}"/>
              </a:ext>
            </a:extLst>
          </p:cNvPr>
          <p:cNvSpPr txBox="1"/>
          <p:nvPr/>
        </p:nvSpPr>
        <p:spPr>
          <a:xfrm>
            <a:off x="958855" y="5764884"/>
            <a:ext cx="9484555" cy="339183"/>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415364"/>
                </a:solidFill>
                <a:effectLst/>
                <a:uLnTx/>
                <a:uFillTx/>
                <a:latin typeface="Arial" panose="020B0604020202020204"/>
                <a:ea typeface="+mn-ea"/>
                <a:cs typeface="+mn-cs"/>
              </a:rPr>
              <a:t>Structured data					                	Unstructured data</a:t>
            </a:r>
          </a:p>
        </p:txBody>
      </p:sp>
      <p:pic>
        <p:nvPicPr>
          <p:cNvPr id="6" name="Picture 5">
            <a:extLst>
              <a:ext uri="{FF2B5EF4-FFF2-40B4-BE49-F238E27FC236}">
                <a16:creationId xmlns:a16="http://schemas.microsoft.com/office/drawing/2014/main" id="{04796B9B-D6BE-C160-893E-5A650645D1D7}"/>
              </a:ext>
            </a:extLst>
          </p:cNvPr>
          <p:cNvPicPr>
            <a:picLocks noChangeAspect="1"/>
          </p:cNvPicPr>
          <p:nvPr/>
        </p:nvPicPr>
        <p:blipFill>
          <a:blip r:embed="rId2"/>
          <a:stretch>
            <a:fillRect/>
          </a:stretch>
        </p:blipFill>
        <p:spPr>
          <a:xfrm>
            <a:off x="1134366" y="786063"/>
            <a:ext cx="8903016" cy="4978821"/>
          </a:xfrm>
          <a:prstGeom prst="rect">
            <a:avLst/>
          </a:prstGeom>
        </p:spPr>
      </p:pic>
      <p:sp>
        <p:nvSpPr>
          <p:cNvPr id="10" name="TextBox 9">
            <a:extLst>
              <a:ext uri="{FF2B5EF4-FFF2-40B4-BE49-F238E27FC236}">
                <a16:creationId xmlns:a16="http://schemas.microsoft.com/office/drawing/2014/main" id="{25BC9FC1-0020-9F61-3D5F-7B66931BF838}"/>
              </a:ext>
            </a:extLst>
          </p:cNvPr>
          <p:cNvSpPr txBox="1"/>
          <p:nvPr/>
        </p:nvSpPr>
        <p:spPr>
          <a:xfrm>
            <a:off x="1195475" y="6006300"/>
            <a:ext cx="9011314" cy="339183"/>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Arial" panose="020B0604020202020204"/>
                <a:ea typeface="+mn-ea"/>
                <a:cs typeface="+mn-cs"/>
              </a:rPr>
              <a:t>EASY				      HARD 			FORGET IT!</a:t>
            </a:r>
          </a:p>
        </p:txBody>
      </p:sp>
      <p:cxnSp>
        <p:nvCxnSpPr>
          <p:cNvPr id="13" name="Straight Arrow Connector 12">
            <a:extLst>
              <a:ext uri="{FF2B5EF4-FFF2-40B4-BE49-F238E27FC236}">
                <a16:creationId xmlns:a16="http://schemas.microsoft.com/office/drawing/2014/main" id="{FE8C1A15-0D29-413F-080A-4BAFE3000139}"/>
              </a:ext>
            </a:extLst>
          </p:cNvPr>
          <p:cNvCxnSpPr/>
          <p:nvPr/>
        </p:nvCxnSpPr>
        <p:spPr>
          <a:xfrm>
            <a:off x="2863515" y="5950153"/>
            <a:ext cx="529389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0005FF8C-4E3B-3253-84FF-2B8F9A9C0FE1}"/>
              </a:ext>
            </a:extLst>
          </p:cNvPr>
          <p:cNvSpPr txBox="1"/>
          <p:nvPr/>
        </p:nvSpPr>
        <p:spPr>
          <a:xfrm>
            <a:off x="508253" y="1637317"/>
            <a:ext cx="61802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415364"/>
                </a:solidFill>
                <a:effectLst/>
                <a:uLnTx/>
                <a:uFillTx/>
                <a:latin typeface="Arial" panose="020B0604020202020204"/>
                <a:ea typeface="+mn-ea"/>
                <a:cs typeface="+mn-cs"/>
              </a:rPr>
              <a:t>For instance, let’s look at how easy it is to get data out of a structured data file vs an unstructured data file…</a:t>
            </a:r>
          </a:p>
        </p:txBody>
      </p:sp>
      <p:sp>
        <p:nvSpPr>
          <p:cNvPr id="7" name="TextBox 6">
            <a:extLst>
              <a:ext uri="{FF2B5EF4-FFF2-40B4-BE49-F238E27FC236}">
                <a16:creationId xmlns:a16="http://schemas.microsoft.com/office/drawing/2014/main" id="{BB7A8FDB-B6AA-73B1-8B50-C0ECAD455D6E}"/>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dirty="0">
                <a:solidFill>
                  <a:srgbClr val="1E2761"/>
                </a:solidFill>
                <a:latin typeface="Cambria"/>
              </a:rPr>
              <a:t>Structured-ness affects ease of use</a:t>
            </a:r>
            <a:endParaRPr sz="3200" b="1" i="0" dirty="0">
              <a:solidFill>
                <a:srgbClr val="1E2761"/>
              </a:solidFill>
              <a:latin typeface="Cambria"/>
            </a:endParaRPr>
          </a:p>
        </p:txBody>
      </p:sp>
    </p:spTree>
    <p:extLst>
      <p:ext uri="{BB962C8B-B14F-4D97-AF65-F5344CB8AC3E}">
        <p14:creationId xmlns:p14="http://schemas.microsoft.com/office/powerpoint/2010/main" val="25046335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2FE181A-79B8-F2A8-522B-77CE6ECCF601}"/>
              </a:ext>
            </a:extLst>
          </p:cNvPr>
          <p:cNvSpPr/>
          <p:nvPr/>
        </p:nvSpPr>
        <p:spPr>
          <a:xfrm>
            <a:off x="508253" y="36513"/>
            <a:ext cx="10992897" cy="6129095"/>
          </a:xfrm>
          <a:custGeom>
            <a:avLst/>
            <a:gdLst>
              <a:gd name="csX0" fmla="*/ 0 w 10992897"/>
              <a:gd name="csY0" fmla="*/ 6129095 h 6129095"/>
              <a:gd name="csX1" fmla="*/ 248787 w 10992897"/>
              <a:gd name="csY1" fmla="*/ 6129095 h 6129095"/>
              <a:gd name="csX2" fmla="*/ 717431 w 10992897"/>
              <a:gd name="csY2" fmla="*/ 6129095 h 6129095"/>
              <a:gd name="csX3" fmla="*/ 1076147 w 10992897"/>
              <a:gd name="csY3" fmla="*/ 6129095 h 6129095"/>
              <a:gd name="csX4" fmla="*/ 1654720 w 10992897"/>
              <a:gd name="csY4" fmla="*/ 6129095 h 6129095"/>
              <a:gd name="csX5" fmla="*/ 2123365 w 10992897"/>
              <a:gd name="csY5" fmla="*/ 6129095 h 6129095"/>
              <a:gd name="csX6" fmla="*/ 2592009 w 10992897"/>
              <a:gd name="csY6" fmla="*/ 6129095 h 6129095"/>
              <a:gd name="csX7" fmla="*/ 2950725 w 10992897"/>
              <a:gd name="csY7" fmla="*/ 6129095 h 6129095"/>
              <a:gd name="csX8" fmla="*/ 3639227 w 10992897"/>
              <a:gd name="csY8" fmla="*/ 6129095 h 6129095"/>
              <a:gd name="csX9" fmla="*/ 3997943 w 10992897"/>
              <a:gd name="csY9" fmla="*/ 6129095 h 6129095"/>
              <a:gd name="csX10" fmla="*/ 4576517 w 10992897"/>
              <a:gd name="csY10" fmla="*/ 6129095 h 6129095"/>
              <a:gd name="csX11" fmla="*/ 5265019 w 10992897"/>
              <a:gd name="csY11" fmla="*/ 6129095 h 6129095"/>
              <a:gd name="csX12" fmla="*/ 5513806 w 10992897"/>
              <a:gd name="csY12" fmla="*/ 6129095 h 6129095"/>
              <a:gd name="csX13" fmla="*/ 6092379 w 10992897"/>
              <a:gd name="csY13" fmla="*/ 6129095 h 6129095"/>
              <a:gd name="csX14" fmla="*/ 6780882 w 10992897"/>
              <a:gd name="csY14" fmla="*/ 6129095 h 6129095"/>
              <a:gd name="csX15" fmla="*/ 7139597 w 10992897"/>
              <a:gd name="csY15" fmla="*/ 6129095 h 6129095"/>
              <a:gd name="csX16" fmla="*/ 7718171 w 10992897"/>
              <a:gd name="csY16" fmla="*/ 6129095 h 6129095"/>
              <a:gd name="csX17" fmla="*/ 8516602 w 10992897"/>
              <a:gd name="csY17" fmla="*/ 6129095 h 6129095"/>
              <a:gd name="csX18" fmla="*/ 8985247 w 10992897"/>
              <a:gd name="csY18" fmla="*/ 6129095 h 6129095"/>
              <a:gd name="csX19" fmla="*/ 9234033 w 10992897"/>
              <a:gd name="csY19" fmla="*/ 6129095 h 6129095"/>
              <a:gd name="csX20" fmla="*/ 10032465 w 10992897"/>
              <a:gd name="csY20" fmla="*/ 6129095 h 6129095"/>
              <a:gd name="csX21" fmla="*/ 10992897 w 10992897"/>
              <a:gd name="csY21" fmla="*/ 6129095 h 6129095"/>
              <a:gd name="csX22" fmla="*/ 10992897 w 10992897"/>
              <a:gd name="csY22" fmla="*/ 5694486 h 6129095"/>
              <a:gd name="csX23" fmla="*/ 10992897 w 10992897"/>
              <a:gd name="csY23" fmla="*/ 5198587 h 6129095"/>
              <a:gd name="csX24" fmla="*/ 10992897 w 10992897"/>
              <a:gd name="csY24" fmla="*/ 4641396 h 6129095"/>
              <a:gd name="csX25" fmla="*/ 10992897 w 10992897"/>
              <a:gd name="csY25" fmla="*/ 4268079 h 6129095"/>
              <a:gd name="csX26" fmla="*/ 10992897 w 10992897"/>
              <a:gd name="csY26" fmla="*/ 3710888 h 6129095"/>
              <a:gd name="csX27" fmla="*/ 10992897 w 10992897"/>
              <a:gd name="csY27" fmla="*/ 3276280 h 6129095"/>
              <a:gd name="csX28" fmla="*/ 10992897 w 10992897"/>
              <a:gd name="csY28" fmla="*/ 2719089 h 6129095"/>
              <a:gd name="csX29" fmla="*/ 10992897 w 10992897"/>
              <a:gd name="csY29" fmla="*/ 2345772 h 6129095"/>
              <a:gd name="csX30" fmla="*/ 10992897 w 10992897"/>
              <a:gd name="csY30" fmla="*/ 1727290 h 6129095"/>
              <a:gd name="csX31" fmla="*/ 10992897 w 10992897"/>
              <a:gd name="csY31" fmla="*/ 1108809 h 6129095"/>
              <a:gd name="csX32" fmla="*/ 10992897 w 10992897"/>
              <a:gd name="csY32" fmla="*/ 551619 h 6129095"/>
              <a:gd name="csX33" fmla="*/ 10992897 w 10992897"/>
              <a:gd name="csY33" fmla="*/ 0 h 6129095"/>
              <a:gd name="csX34" fmla="*/ 10783448 w 10992897"/>
              <a:gd name="csY34" fmla="*/ 365262 h 6129095"/>
              <a:gd name="csX35" fmla="*/ 10499765 w 10992897"/>
              <a:gd name="csY35" fmla="*/ 859984 h 6129095"/>
              <a:gd name="csX36" fmla="*/ 10216081 w 10992897"/>
              <a:gd name="csY36" fmla="*/ 1354706 h 6129095"/>
              <a:gd name="csX37" fmla="*/ 9988073 w 10992897"/>
              <a:gd name="csY37" fmla="*/ 1752334 h 6129095"/>
              <a:gd name="csX38" fmla="*/ 9778625 w 10992897"/>
              <a:gd name="csY38" fmla="*/ 2117596 h 6129095"/>
              <a:gd name="csX39" fmla="*/ 9569176 w 10992897"/>
              <a:gd name="csY39" fmla="*/ 2482858 h 6129095"/>
              <a:gd name="csX40" fmla="*/ 9137022 w 10992897"/>
              <a:gd name="csY40" fmla="*/ 3236500 h 6129095"/>
              <a:gd name="csX41" fmla="*/ 8733680 w 10992897"/>
              <a:gd name="csY41" fmla="*/ 3468881 h 6129095"/>
              <a:gd name="csX42" fmla="*/ 8300825 w 10992897"/>
              <a:gd name="csY42" fmla="*/ 3718266 h 6129095"/>
              <a:gd name="csX43" fmla="*/ 7897482 w 10992897"/>
              <a:gd name="csY43" fmla="*/ 3950648 h 6129095"/>
              <a:gd name="csX44" fmla="*/ 7464627 w 10992897"/>
              <a:gd name="csY44" fmla="*/ 4200033 h 6129095"/>
              <a:gd name="csX45" fmla="*/ 7061285 w 10992897"/>
              <a:gd name="csY45" fmla="*/ 4432414 h 6129095"/>
              <a:gd name="csX46" fmla="*/ 6185737 w 10992897"/>
              <a:gd name="csY46" fmla="*/ 4936852 h 6129095"/>
              <a:gd name="csX47" fmla="*/ 5719477 w 10992897"/>
              <a:gd name="csY47" fmla="*/ 5050080 h 6129095"/>
              <a:gd name="csX48" fmla="*/ 5282979 w 10992897"/>
              <a:gd name="csY48" fmla="*/ 5156081 h 6129095"/>
              <a:gd name="csX49" fmla="*/ 4816719 w 10992897"/>
              <a:gd name="csY49" fmla="*/ 5269309 h 6129095"/>
              <a:gd name="csX50" fmla="*/ 4261176 w 10992897"/>
              <a:gd name="csY50" fmla="*/ 5404219 h 6129095"/>
              <a:gd name="csX51" fmla="*/ 3794916 w 10992897"/>
              <a:gd name="csY51" fmla="*/ 5517447 h 6129095"/>
              <a:gd name="csX52" fmla="*/ 3209611 w 10992897"/>
              <a:gd name="csY52" fmla="*/ 5659584 h 6129095"/>
              <a:gd name="csX53" fmla="*/ 2738868 w 10992897"/>
              <a:gd name="csY53" fmla="*/ 5728446 h 6129095"/>
              <a:gd name="csX54" fmla="*/ 2300221 w 10992897"/>
              <a:gd name="csY54" fmla="*/ 5792612 h 6129095"/>
              <a:gd name="csX55" fmla="*/ 1829478 w 10992897"/>
              <a:gd name="csY55" fmla="*/ 5861474 h 6129095"/>
              <a:gd name="csX56" fmla="*/ 1294543 w 10992897"/>
              <a:gd name="csY56" fmla="*/ 5939726 h 6129095"/>
              <a:gd name="csX57" fmla="*/ 855896 w 10992897"/>
              <a:gd name="csY57" fmla="*/ 6003892 h 6129095"/>
              <a:gd name="csX58" fmla="*/ 0 w 10992897"/>
              <a:gd name="csY58" fmla="*/ 6129095 h 6129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Lst>
            <a:rect l="l" t="t" r="r" b="b"/>
            <a:pathLst>
              <a:path w="10992897" h="6129095" fill="none" extrusionOk="0">
                <a:moveTo>
                  <a:pt x="0" y="6129095"/>
                </a:moveTo>
                <a:cubicBezTo>
                  <a:pt x="86905" y="6113665"/>
                  <a:pt x="148714" y="6134731"/>
                  <a:pt x="248787" y="6129095"/>
                </a:cubicBezTo>
                <a:cubicBezTo>
                  <a:pt x="348860" y="6123459"/>
                  <a:pt x="560954" y="6152660"/>
                  <a:pt x="717431" y="6129095"/>
                </a:cubicBezTo>
                <a:cubicBezTo>
                  <a:pt x="873908" y="6105530"/>
                  <a:pt x="936261" y="6156920"/>
                  <a:pt x="1076147" y="6129095"/>
                </a:cubicBezTo>
                <a:cubicBezTo>
                  <a:pt x="1216033" y="6101270"/>
                  <a:pt x="1518755" y="6178459"/>
                  <a:pt x="1654720" y="6129095"/>
                </a:cubicBezTo>
                <a:cubicBezTo>
                  <a:pt x="1790685" y="6079731"/>
                  <a:pt x="1915620" y="6169178"/>
                  <a:pt x="2123365" y="6129095"/>
                </a:cubicBezTo>
                <a:cubicBezTo>
                  <a:pt x="2331110" y="6089012"/>
                  <a:pt x="2474360" y="6165915"/>
                  <a:pt x="2592009" y="6129095"/>
                </a:cubicBezTo>
                <a:cubicBezTo>
                  <a:pt x="2709658" y="6092275"/>
                  <a:pt x="2819468" y="6161994"/>
                  <a:pt x="2950725" y="6129095"/>
                </a:cubicBezTo>
                <a:cubicBezTo>
                  <a:pt x="3081982" y="6096196"/>
                  <a:pt x="3411513" y="6152387"/>
                  <a:pt x="3639227" y="6129095"/>
                </a:cubicBezTo>
                <a:cubicBezTo>
                  <a:pt x="3866941" y="6105803"/>
                  <a:pt x="3862989" y="6137602"/>
                  <a:pt x="3997943" y="6129095"/>
                </a:cubicBezTo>
                <a:cubicBezTo>
                  <a:pt x="4132897" y="6120588"/>
                  <a:pt x="4458049" y="6171758"/>
                  <a:pt x="4576517" y="6129095"/>
                </a:cubicBezTo>
                <a:cubicBezTo>
                  <a:pt x="4694985" y="6086432"/>
                  <a:pt x="5057550" y="6171664"/>
                  <a:pt x="5265019" y="6129095"/>
                </a:cubicBezTo>
                <a:cubicBezTo>
                  <a:pt x="5472488" y="6086526"/>
                  <a:pt x="5436179" y="6157184"/>
                  <a:pt x="5513806" y="6129095"/>
                </a:cubicBezTo>
                <a:cubicBezTo>
                  <a:pt x="5591433" y="6101006"/>
                  <a:pt x="5885898" y="6139252"/>
                  <a:pt x="6092379" y="6129095"/>
                </a:cubicBezTo>
                <a:cubicBezTo>
                  <a:pt x="6298860" y="6118938"/>
                  <a:pt x="6621763" y="6159152"/>
                  <a:pt x="6780882" y="6129095"/>
                </a:cubicBezTo>
                <a:cubicBezTo>
                  <a:pt x="6940001" y="6099038"/>
                  <a:pt x="6995701" y="6150018"/>
                  <a:pt x="7139597" y="6129095"/>
                </a:cubicBezTo>
                <a:cubicBezTo>
                  <a:pt x="7283494" y="6108172"/>
                  <a:pt x="7440548" y="6172772"/>
                  <a:pt x="7718171" y="6129095"/>
                </a:cubicBezTo>
                <a:cubicBezTo>
                  <a:pt x="7995794" y="6085418"/>
                  <a:pt x="8264136" y="6223169"/>
                  <a:pt x="8516602" y="6129095"/>
                </a:cubicBezTo>
                <a:cubicBezTo>
                  <a:pt x="8769068" y="6035021"/>
                  <a:pt x="8779028" y="6171664"/>
                  <a:pt x="8985247" y="6129095"/>
                </a:cubicBezTo>
                <a:cubicBezTo>
                  <a:pt x="9191467" y="6086526"/>
                  <a:pt x="9164677" y="6157325"/>
                  <a:pt x="9234033" y="6129095"/>
                </a:cubicBezTo>
                <a:cubicBezTo>
                  <a:pt x="9303389" y="6100865"/>
                  <a:pt x="9754936" y="6176189"/>
                  <a:pt x="10032465" y="6129095"/>
                </a:cubicBezTo>
                <a:cubicBezTo>
                  <a:pt x="10309994" y="6082001"/>
                  <a:pt x="10744714" y="6175845"/>
                  <a:pt x="10992897" y="6129095"/>
                </a:cubicBezTo>
                <a:cubicBezTo>
                  <a:pt x="10944447" y="5999930"/>
                  <a:pt x="11038730" y="5849963"/>
                  <a:pt x="10992897" y="5694486"/>
                </a:cubicBezTo>
                <a:cubicBezTo>
                  <a:pt x="10947064" y="5539009"/>
                  <a:pt x="11025786" y="5364621"/>
                  <a:pt x="10992897" y="5198587"/>
                </a:cubicBezTo>
                <a:cubicBezTo>
                  <a:pt x="10960008" y="5032553"/>
                  <a:pt x="11051333" y="4848648"/>
                  <a:pt x="10992897" y="4641396"/>
                </a:cubicBezTo>
                <a:cubicBezTo>
                  <a:pt x="10934461" y="4434144"/>
                  <a:pt x="11018892" y="4448755"/>
                  <a:pt x="10992897" y="4268079"/>
                </a:cubicBezTo>
                <a:cubicBezTo>
                  <a:pt x="10966902" y="4087403"/>
                  <a:pt x="11012756" y="3849047"/>
                  <a:pt x="10992897" y="3710888"/>
                </a:cubicBezTo>
                <a:cubicBezTo>
                  <a:pt x="10973038" y="3572729"/>
                  <a:pt x="11031891" y="3439542"/>
                  <a:pt x="10992897" y="3276280"/>
                </a:cubicBezTo>
                <a:cubicBezTo>
                  <a:pt x="10953903" y="3113018"/>
                  <a:pt x="11003534" y="2994785"/>
                  <a:pt x="10992897" y="2719089"/>
                </a:cubicBezTo>
                <a:cubicBezTo>
                  <a:pt x="10982260" y="2443393"/>
                  <a:pt x="11014545" y="2468259"/>
                  <a:pt x="10992897" y="2345772"/>
                </a:cubicBezTo>
                <a:cubicBezTo>
                  <a:pt x="10971249" y="2223285"/>
                  <a:pt x="11005507" y="1908926"/>
                  <a:pt x="10992897" y="1727290"/>
                </a:cubicBezTo>
                <a:cubicBezTo>
                  <a:pt x="10980287" y="1545654"/>
                  <a:pt x="11008364" y="1255968"/>
                  <a:pt x="10992897" y="1108809"/>
                </a:cubicBezTo>
                <a:cubicBezTo>
                  <a:pt x="10977430" y="961650"/>
                  <a:pt x="11051702" y="714608"/>
                  <a:pt x="10992897" y="551619"/>
                </a:cubicBezTo>
                <a:cubicBezTo>
                  <a:pt x="10934092" y="388630"/>
                  <a:pt x="11013391" y="125606"/>
                  <a:pt x="10992897" y="0"/>
                </a:cubicBezTo>
                <a:cubicBezTo>
                  <a:pt x="10943890" y="118488"/>
                  <a:pt x="10830896" y="209650"/>
                  <a:pt x="10783448" y="365262"/>
                </a:cubicBezTo>
                <a:cubicBezTo>
                  <a:pt x="10736001" y="520874"/>
                  <a:pt x="10568216" y="640383"/>
                  <a:pt x="10499765" y="859984"/>
                </a:cubicBezTo>
                <a:cubicBezTo>
                  <a:pt x="10431314" y="1079585"/>
                  <a:pt x="10280014" y="1233542"/>
                  <a:pt x="10216081" y="1354706"/>
                </a:cubicBezTo>
                <a:cubicBezTo>
                  <a:pt x="10152148" y="1475870"/>
                  <a:pt x="10025152" y="1643897"/>
                  <a:pt x="9988073" y="1752334"/>
                </a:cubicBezTo>
                <a:cubicBezTo>
                  <a:pt x="9950994" y="1860771"/>
                  <a:pt x="9827762" y="1931833"/>
                  <a:pt x="9778625" y="2117596"/>
                </a:cubicBezTo>
                <a:cubicBezTo>
                  <a:pt x="9729487" y="2303359"/>
                  <a:pt x="9581090" y="2364994"/>
                  <a:pt x="9569176" y="2482858"/>
                </a:cubicBezTo>
                <a:cubicBezTo>
                  <a:pt x="9557262" y="2600722"/>
                  <a:pt x="9214492" y="3028348"/>
                  <a:pt x="9137022" y="3236500"/>
                </a:cubicBezTo>
                <a:cubicBezTo>
                  <a:pt x="8946987" y="3363624"/>
                  <a:pt x="8911189" y="3317257"/>
                  <a:pt x="8733680" y="3468881"/>
                </a:cubicBezTo>
                <a:cubicBezTo>
                  <a:pt x="8556171" y="3620505"/>
                  <a:pt x="8392928" y="3638116"/>
                  <a:pt x="8300825" y="3718266"/>
                </a:cubicBezTo>
                <a:cubicBezTo>
                  <a:pt x="8208722" y="3798416"/>
                  <a:pt x="8033357" y="3831574"/>
                  <a:pt x="7897482" y="3950648"/>
                </a:cubicBezTo>
                <a:cubicBezTo>
                  <a:pt x="7761607" y="4069722"/>
                  <a:pt x="7651312" y="4072790"/>
                  <a:pt x="7464627" y="4200033"/>
                </a:cubicBezTo>
                <a:cubicBezTo>
                  <a:pt x="7277942" y="4327276"/>
                  <a:pt x="7178365" y="4321700"/>
                  <a:pt x="7061285" y="4432414"/>
                </a:cubicBezTo>
                <a:cubicBezTo>
                  <a:pt x="6944205" y="4543128"/>
                  <a:pt x="6401314" y="4792595"/>
                  <a:pt x="6185737" y="4936852"/>
                </a:cubicBezTo>
                <a:cubicBezTo>
                  <a:pt x="6096081" y="4979810"/>
                  <a:pt x="5865473" y="5006446"/>
                  <a:pt x="5719477" y="5050080"/>
                </a:cubicBezTo>
                <a:cubicBezTo>
                  <a:pt x="5573481" y="5093714"/>
                  <a:pt x="5485785" y="5095577"/>
                  <a:pt x="5282979" y="5156081"/>
                </a:cubicBezTo>
                <a:cubicBezTo>
                  <a:pt x="5080173" y="5216585"/>
                  <a:pt x="5037453" y="5197090"/>
                  <a:pt x="4816719" y="5269309"/>
                </a:cubicBezTo>
                <a:cubicBezTo>
                  <a:pt x="4595985" y="5341528"/>
                  <a:pt x="4399892" y="5317788"/>
                  <a:pt x="4261176" y="5404219"/>
                </a:cubicBezTo>
                <a:cubicBezTo>
                  <a:pt x="4122460" y="5490650"/>
                  <a:pt x="3937651" y="5437627"/>
                  <a:pt x="3794916" y="5517447"/>
                </a:cubicBezTo>
                <a:cubicBezTo>
                  <a:pt x="3652181" y="5597266"/>
                  <a:pt x="3357334" y="5561012"/>
                  <a:pt x="3209611" y="5659584"/>
                </a:cubicBezTo>
                <a:cubicBezTo>
                  <a:pt x="2987347" y="5735430"/>
                  <a:pt x="2859146" y="5663839"/>
                  <a:pt x="2738868" y="5728446"/>
                </a:cubicBezTo>
                <a:cubicBezTo>
                  <a:pt x="2618590" y="5793052"/>
                  <a:pt x="2426117" y="5772288"/>
                  <a:pt x="2300221" y="5792612"/>
                </a:cubicBezTo>
                <a:cubicBezTo>
                  <a:pt x="2174325" y="5812936"/>
                  <a:pt x="1931579" y="5843584"/>
                  <a:pt x="1829478" y="5861474"/>
                </a:cubicBezTo>
                <a:cubicBezTo>
                  <a:pt x="1727377" y="5879364"/>
                  <a:pt x="1546773" y="5850887"/>
                  <a:pt x="1294543" y="5939726"/>
                </a:cubicBezTo>
                <a:cubicBezTo>
                  <a:pt x="1042313" y="6028565"/>
                  <a:pt x="1037823" y="5950235"/>
                  <a:pt x="855896" y="6003892"/>
                </a:cubicBezTo>
                <a:cubicBezTo>
                  <a:pt x="673969" y="6057550"/>
                  <a:pt x="372366" y="5984777"/>
                  <a:pt x="0" y="6129095"/>
                </a:cubicBezTo>
                <a:close/>
              </a:path>
              <a:path w="10992897" h="6129095" stroke="0" extrusionOk="0">
                <a:moveTo>
                  <a:pt x="0" y="6129095"/>
                </a:moveTo>
                <a:cubicBezTo>
                  <a:pt x="172289" y="6104950"/>
                  <a:pt x="457581" y="6190487"/>
                  <a:pt x="688502" y="6129095"/>
                </a:cubicBezTo>
                <a:cubicBezTo>
                  <a:pt x="919423" y="6067703"/>
                  <a:pt x="1172849" y="6200165"/>
                  <a:pt x="1486934" y="6129095"/>
                </a:cubicBezTo>
                <a:cubicBezTo>
                  <a:pt x="1801019" y="6058025"/>
                  <a:pt x="1951964" y="6186975"/>
                  <a:pt x="2285365" y="6129095"/>
                </a:cubicBezTo>
                <a:cubicBezTo>
                  <a:pt x="2618766" y="6071215"/>
                  <a:pt x="2421182" y="6133863"/>
                  <a:pt x="2534152" y="6129095"/>
                </a:cubicBezTo>
                <a:cubicBezTo>
                  <a:pt x="2647122" y="6124327"/>
                  <a:pt x="2782198" y="6132331"/>
                  <a:pt x="2892868" y="6129095"/>
                </a:cubicBezTo>
                <a:cubicBezTo>
                  <a:pt x="3003538" y="6125859"/>
                  <a:pt x="3318442" y="6187586"/>
                  <a:pt x="3471441" y="6129095"/>
                </a:cubicBezTo>
                <a:cubicBezTo>
                  <a:pt x="3624440" y="6070604"/>
                  <a:pt x="3693419" y="6132356"/>
                  <a:pt x="3830157" y="6129095"/>
                </a:cubicBezTo>
                <a:cubicBezTo>
                  <a:pt x="3966895" y="6125834"/>
                  <a:pt x="4435117" y="6196321"/>
                  <a:pt x="4628588" y="6129095"/>
                </a:cubicBezTo>
                <a:cubicBezTo>
                  <a:pt x="4822059" y="6061869"/>
                  <a:pt x="4968774" y="6179213"/>
                  <a:pt x="5097233" y="6129095"/>
                </a:cubicBezTo>
                <a:cubicBezTo>
                  <a:pt x="5225693" y="6078977"/>
                  <a:pt x="5244573" y="6157860"/>
                  <a:pt x="5346019" y="6129095"/>
                </a:cubicBezTo>
                <a:cubicBezTo>
                  <a:pt x="5447465" y="6100330"/>
                  <a:pt x="5705712" y="6163674"/>
                  <a:pt x="5814664" y="6129095"/>
                </a:cubicBezTo>
                <a:cubicBezTo>
                  <a:pt x="5923617" y="6094516"/>
                  <a:pt x="5985423" y="6135640"/>
                  <a:pt x="6063451" y="6129095"/>
                </a:cubicBezTo>
                <a:cubicBezTo>
                  <a:pt x="6141479" y="6122550"/>
                  <a:pt x="6290149" y="6133808"/>
                  <a:pt x="6422166" y="6129095"/>
                </a:cubicBezTo>
                <a:cubicBezTo>
                  <a:pt x="6554183" y="6124382"/>
                  <a:pt x="6723327" y="6179047"/>
                  <a:pt x="7000740" y="6129095"/>
                </a:cubicBezTo>
                <a:cubicBezTo>
                  <a:pt x="7278153" y="6079143"/>
                  <a:pt x="7155995" y="6143665"/>
                  <a:pt x="7249526" y="6129095"/>
                </a:cubicBezTo>
                <a:cubicBezTo>
                  <a:pt x="7343057" y="6114525"/>
                  <a:pt x="7411753" y="6150783"/>
                  <a:pt x="7498313" y="6129095"/>
                </a:cubicBezTo>
                <a:cubicBezTo>
                  <a:pt x="7584873" y="6107407"/>
                  <a:pt x="7842949" y="6172731"/>
                  <a:pt x="7966957" y="6129095"/>
                </a:cubicBezTo>
                <a:cubicBezTo>
                  <a:pt x="8090965" y="6085459"/>
                  <a:pt x="8313211" y="6184319"/>
                  <a:pt x="8545531" y="6129095"/>
                </a:cubicBezTo>
                <a:cubicBezTo>
                  <a:pt x="8777851" y="6073871"/>
                  <a:pt x="8916505" y="6146234"/>
                  <a:pt x="9124105" y="6129095"/>
                </a:cubicBezTo>
                <a:cubicBezTo>
                  <a:pt x="9331705" y="6111956"/>
                  <a:pt x="9631617" y="6147550"/>
                  <a:pt x="9812607" y="6129095"/>
                </a:cubicBezTo>
                <a:cubicBezTo>
                  <a:pt x="9993597" y="6110640"/>
                  <a:pt x="9947801" y="6146058"/>
                  <a:pt x="10061394" y="6129095"/>
                </a:cubicBezTo>
                <a:cubicBezTo>
                  <a:pt x="10174987" y="6112132"/>
                  <a:pt x="10800966" y="6203985"/>
                  <a:pt x="10992897" y="6129095"/>
                </a:cubicBezTo>
                <a:cubicBezTo>
                  <a:pt x="10940367" y="5975772"/>
                  <a:pt x="11018297" y="5599046"/>
                  <a:pt x="10992897" y="5449323"/>
                </a:cubicBezTo>
                <a:cubicBezTo>
                  <a:pt x="10967497" y="5299600"/>
                  <a:pt x="11067971" y="5029038"/>
                  <a:pt x="10992897" y="4769550"/>
                </a:cubicBezTo>
                <a:cubicBezTo>
                  <a:pt x="10917823" y="4510062"/>
                  <a:pt x="11062163" y="4384294"/>
                  <a:pt x="10992897" y="4089778"/>
                </a:cubicBezTo>
                <a:cubicBezTo>
                  <a:pt x="10923631" y="3795262"/>
                  <a:pt x="11059338" y="3713963"/>
                  <a:pt x="10992897" y="3532587"/>
                </a:cubicBezTo>
                <a:cubicBezTo>
                  <a:pt x="10926456" y="3351211"/>
                  <a:pt x="11014143" y="3128107"/>
                  <a:pt x="10992897" y="2852815"/>
                </a:cubicBezTo>
                <a:cubicBezTo>
                  <a:pt x="10971651" y="2577523"/>
                  <a:pt x="11007939" y="2330785"/>
                  <a:pt x="10992897" y="2173043"/>
                </a:cubicBezTo>
                <a:cubicBezTo>
                  <a:pt x="10977855" y="2015301"/>
                  <a:pt x="11004948" y="1831837"/>
                  <a:pt x="10992897" y="1493270"/>
                </a:cubicBezTo>
                <a:cubicBezTo>
                  <a:pt x="10980846" y="1154703"/>
                  <a:pt x="11002799" y="1274606"/>
                  <a:pt x="10992897" y="1058662"/>
                </a:cubicBezTo>
                <a:cubicBezTo>
                  <a:pt x="10982995" y="842718"/>
                  <a:pt x="11053589" y="659160"/>
                  <a:pt x="10992897" y="501471"/>
                </a:cubicBezTo>
                <a:cubicBezTo>
                  <a:pt x="10932205" y="343782"/>
                  <a:pt x="11004511" y="224072"/>
                  <a:pt x="10992897" y="0"/>
                </a:cubicBezTo>
                <a:cubicBezTo>
                  <a:pt x="10947154" y="166144"/>
                  <a:pt x="10847736" y="230708"/>
                  <a:pt x="10727772" y="462357"/>
                </a:cubicBezTo>
                <a:cubicBezTo>
                  <a:pt x="10607808" y="694006"/>
                  <a:pt x="10523754" y="734746"/>
                  <a:pt x="10499765" y="859984"/>
                </a:cubicBezTo>
                <a:cubicBezTo>
                  <a:pt x="10475776" y="985222"/>
                  <a:pt x="10268385" y="1167713"/>
                  <a:pt x="10197522" y="1387071"/>
                </a:cubicBezTo>
                <a:cubicBezTo>
                  <a:pt x="10126660" y="1606429"/>
                  <a:pt x="10014166" y="1612690"/>
                  <a:pt x="9969515" y="1784699"/>
                </a:cubicBezTo>
                <a:cubicBezTo>
                  <a:pt x="9924864" y="1956708"/>
                  <a:pt x="9795549" y="1985588"/>
                  <a:pt x="9741507" y="2182326"/>
                </a:cubicBezTo>
                <a:cubicBezTo>
                  <a:pt x="9687466" y="2379064"/>
                  <a:pt x="9552542" y="2491056"/>
                  <a:pt x="9513500" y="2579953"/>
                </a:cubicBezTo>
                <a:cubicBezTo>
                  <a:pt x="9474458" y="2668850"/>
                  <a:pt x="9230115" y="3047659"/>
                  <a:pt x="9137022" y="3236500"/>
                </a:cubicBezTo>
                <a:cubicBezTo>
                  <a:pt x="9021749" y="3310552"/>
                  <a:pt x="8780326" y="3438675"/>
                  <a:pt x="8615628" y="3536896"/>
                </a:cubicBezTo>
                <a:cubicBezTo>
                  <a:pt x="8450930" y="3635117"/>
                  <a:pt x="8332230" y="3699647"/>
                  <a:pt x="8123747" y="3820288"/>
                </a:cubicBezTo>
                <a:cubicBezTo>
                  <a:pt x="7915264" y="3940929"/>
                  <a:pt x="7864606" y="3959208"/>
                  <a:pt x="7690892" y="4069672"/>
                </a:cubicBezTo>
                <a:cubicBezTo>
                  <a:pt x="7517178" y="4180136"/>
                  <a:pt x="7406791" y="4191449"/>
                  <a:pt x="7258037" y="4319057"/>
                </a:cubicBezTo>
                <a:cubicBezTo>
                  <a:pt x="7109283" y="4446665"/>
                  <a:pt x="6932368" y="4437097"/>
                  <a:pt x="6766156" y="4602449"/>
                </a:cubicBezTo>
                <a:cubicBezTo>
                  <a:pt x="6599944" y="4767801"/>
                  <a:pt x="6400155" y="4772574"/>
                  <a:pt x="6185737" y="4936852"/>
                </a:cubicBezTo>
                <a:cubicBezTo>
                  <a:pt x="6003352" y="5017525"/>
                  <a:pt x="5895267" y="4955794"/>
                  <a:pt x="5779000" y="5035625"/>
                </a:cubicBezTo>
                <a:cubicBezTo>
                  <a:pt x="5662733" y="5115457"/>
                  <a:pt x="5446052" y="5066697"/>
                  <a:pt x="5372263" y="5134399"/>
                </a:cubicBezTo>
                <a:cubicBezTo>
                  <a:pt x="5298474" y="5202101"/>
                  <a:pt x="5073904" y="5165242"/>
                  <a:pt x="4876242" y="5254854"/>
                </a:cubicBezTo>
                <a:cubicBezTo>
                  <a:pt x="4678580" y="5344466"/>
                  <a:pt x="4625446" y="5282967"/>
                  <a:pt x="4469504" y="5353627"/>
                </a:cubicBezTo>
                <a:cubicBezTo>
                  <a:pt x="4313562" y="5424287"/>
                  <a:pt x="4156294" y="5388079"/>
                  <a:pt x="4062767" y="5452401"/>
                </a:cubicBezTo>
                <a:cubicBezTo>
                  <a:pt x="3969240" y="5516723"/>
                  <a:pt x="3521933" y="5478898"/>
                  <a:pt x="3209611" y="5659584"/>
                </a:cubicBezTo>
                <a:cubicBezTo>
                  <a:pt x="3024877" y="5757936"/>
                  <a:pt x="2763313" y="5684050"/>
                  <a:pt x="2610484" y="5747226"/>
                </a:cubicBezTo>
                <a:cubicBezTo>
                  <a:pt x="2457655" y="5810402"/>
                  <a:pt x="2327950" y="5742802"/>
                  <a:pt x="2139741" y="5816088"/>
                </a:cubicBezTo>
                <a:cubicBezTo>
                  <a:pt x="1951532" y="5889374"/>
                  <a:pt x="1798989" y="5858970"/>
                  <a:pt x="1572709" y="5899035"/>
                </a:cubicBezTo>
                <a:cubicBezTo>
                  <a:pt x="1346429" y="5939100"/>
                  <a:pt x="1222249" y="5890859"/>
                  <a:pt x="973582" y="5986677"/>
                </a:cubicBezTo>
                <a:cubicBezTo>
                  <a:pt x="724915" y="6082495"/>
                  <a:pt x="593757" y="5988494"/>
                  <a:pt x="470743" y="6060233"/>
                </a:cubicBezTo>
                <a:cubicBezTo>
                  <a:pt x="347729" y="6131972"/>
                  <a:pt x="103926" y="6056744"/>
                  <a:pt x="0" y="6129095"/>
                </a:cubicBezTo>
                <a:close/>
              </a:path>
            </a:pathLst>
          </a:custGeom>
          <a:gradFill flip="none" rotWithShape="1">
            <a:gsLst>
              <a:gs pos="0">
                <a:srgbClr val="00B0F0"/>
              </a:gs>
              <a:gs pos="46000">
                <a:srgbClr val="FFFF00"/>
              </a:gs>
              <a:gs pos="23000">
                <a:srgbClr val="00B050"/>
              </a:gs>
              <a:gs pos="68000">
                <a:srgbClr val="FFC000"/>
              </a:gs>
              <a:gs pos="100000">
                <a:srgbClr val="C00000"/>
              </a:gs>
              <a:gs pos="86000">
                <a:srgbClr val="FF0000"/>
              </a:gs>
            </a:gsLst>
            <a:lin ang="0" scaled="1"/>
            <a:tileRect/>
          </a:gradFill>
          <a:ln>
            <a:solidFill>
              <a:schemeClr val="tx1"/>
            </a:solidFill>
            <a:extLst>
              <a:ext uri="{C807C97D-BFC1-408E-A445-0C87EB9F89A2}">
                <ask:lineSketchStyleProps xmlns:ask="http://schemas.microsoft.com/office/drawing/2018/sketchyshapes" sd="1903079504">
                  <a:custGeom>
                    <a:avLst/>
                    <a:gdLst>
                      <a:gd name="connsiteX0" fmla="*/ 0 w 10992897"/>
                      <a:gd name="connsiteY0" fmla="*/ 2713055 h 2713055"/>
                      <a:gd name="connsiteX1" fmla="*/ 10992897 w 10992897"/>
                      <a:gd name="connsiteY1" fmla="*/ 2713055 h 2713055"/>
                      <a:gd name="connsiteX2" fmla="*/ 10992897 w 10992897"/>
                      <a:gd name="connsiteY2" fmla="*/ 0 h 2713055"/>
                      <a:gd name="connsiteX3" fmla="*/ 9314822 w 10992897"/>
                      <a:gd name="connsiteY3" fmla="*/ 1085222 h 2713055"/>
                      <a:gd name="connsiteX4" fmla="*/ 6782637 w 10992897"/>
                      <a:gd name="connsiteY4" fmla="*/ 1868993 h 2713055"/>
                      <a:gd name="connsiteX5" fmla="*/ 3285811 w 10992897"/>
                      <a:gd name="connsiteY5" fmla="*/ 2502040 h 2713055"/>
                      <a:gd name="connsiteX6" fmla="*/ 0 w 10992897"/>
                      <a:gd name="connsiteY6" fmla="*/ 2713055 h 2713055"/>
                      <a:gd name="connsiteX0" fmla="*/ 0 w 10992897"/>
                      <a:gd name="connsiteY0" fmla="*/ 3641032 h 3641032"/>
                      <a:gd name="connsiteX1" fmla="*/ 10992897 w 10992897"/>
                      <a:gd name="connsiteY1" fmla="*/ 3641032 h 3641032"/>
                      <a:gd name="connsiteX2" fmla="*/ 10992897 w 10992897"/>
                      <a:gd name="connsiteY2" fmla="*/ 0 h 3641032"/>
                      <a:gd name="connsiteX3" fmla="*/ 9314822 w 10992897"/>
                      <a:gd name="connsiteY3" fmla="*/ 2013199 h 3641032"/>
                      <a:gd name="connsiteX4" fmla="*/ 6782637 w 10992897"/>
                      <a:gd name="connsiteY4" fmla="*/ 279697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62422 w 10992897"/>
                      <a:gd name="connsiteY3" fmla="*/ 2149001 h 3641032"/>
                      <a:gd name="connsiteX4" fmla="*/ 6782637 w 10992897"/>
                      <a:gd name="connsiteY4" fmla="*/ 279697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62422 w 10992897"/>
                      <a:gd name="connsiteY3" fmla="*/ 2149001 h 3641032"/>
                      <a:gd name="connsiteX4" fmla="*/ 6287337 w 10992897"/>
                      <a:gd name="connsiteY4" fmla="*/ 304594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62422 w 10992897"/>
                      <a:gd name="connsiteY3" fmla="*/ 2081101 h 3641032"/>
                      <a:gd name="connsiteX4" fmla="*/ 6287337 w 10992897"/>
                      <a:gd name="connsiteY4" fmla="*/ 304594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37022 w 10992897"/>
                      <a:gd name="connsiteY3" fmla="*/ 1922666 h 3641032"/>
                      <a:gd name="connsiteX4" fmla="*/ 6287337 w 10992897"/>
                      <a:gd name="connsiteY4" fmla="*/ 304594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37022 w 10992897"/>
                      <a:gd name="connsiteY3" fmla="*/ 1922666 h 3641032"/>
                      <a:gd name="connsiteX4" fmla="*/ 6185737 w 10992897"/>
                      <a:gd name="connsiteY4" fmla="*/ 2932772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37022 w 10992897"/>
                      <a:gd name="connsiteY3" fmla="*/ 1922666 h 3641032"/>
                      <a:gd name="connsiteX4" fmla="*/ 6185737 w 10992897"/>
                      <a:gd name="connsiteY4" fmla="*/ 2932772 h 3641032"/>
                      <a:gd name="connsiteX5" fmla="*/ 3209611 w 10992897"/>
                      <a:gd name="connsiteY5" fmla="*/ 3362116 h 3641032"/>
                      <a:gd name="connsiteX6" fmla="*/ 0 w 10992897"/>
                      <a:gd name="connsiteY6" fmla="*/ 3641032 h 3641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92897" h="3641032">
                        <a:moveTo>
                          <a:pt x="0" y="3641032"/>
                        </a:moveTo>
                        <a:lnTo>
                          <a:pt x="10992897" y="3641032"/>
                        </a:lnTo>
                        <a:lnTo>
                          <a:pt x="10992897" y="0"/>
                        </a:lnTo>
                        <a:lnTo>
                          <a:pt x="9137022" y="1922666"/>
                        </a:lnTo>
                        <a:lnTo>
                          <a:pt x="6185737" y="2932772"/>
                        </a:lnTo>
                        <a:lnTo>
                          <a:pt x="3209611" y="3362116"/>
                        </a:lnTo>
                        <a:lnTo>
                          <a:pt x="0" y="3641032"/>
                        </a:lnTo>
                        <a:close/>
                      </a:path>
                    </a:pathLst>
                  </a:cu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0" name="Callout: Line with Border and Accent Bar 19">
            <a:extLst>
              <a:ext uri="{FF2B5EF4-FFF2-40B4-BE49-F238E27FC236}">
                <a16:creationId xmlns:a16="http://schemas.microsoft.com/office/drawing/2014/main" id="{227BC446-6084-A187-70B4-22530AE63263}"/>
              </a:ext>
            </a:extLst>
          </p:cNvPr>
          <p:cNvSpPr/>
          <p:nvPr/>
        </p:nvSpPr>
        <p:spPr>
          <a:xfrm>
            <a:off x="1491172" y="4969261"/>
            <a:ext cx="1504163" cy="568120"/>
          </a:xfrm>
          <a:prstGeom prst="accentBorderCallout1">
            <a:avLst>
              <a:gd name="adj1" fmla="val 18750"/>
              <a:gd name="adj2" fmla="val -8333"/>
              <a:gd name="adj3" fmla="val 192976"/>
              <a:gd name="adj4" fmla="val -341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accent2"/>
                </a:solidFill>
              </a:rPr>
              <a:t>Excel, structured-rectangular</a:t>
            </a:r>
          </a:p>
        </p:txBody>
      </p:sp>
      <p:sp>
        <p:nvSpPr>
          <p:cNvPr id="28" name="TextBox 27">
            <a:extLst>
              <a:ext uri="{FF2B5EF4-FFF2-40B4-BE49-F238E27FC236}">
                <a16:creationId xmlns:a16="http://schemas.microsoft.com/office/drawing/2014/main" id="{5EF6B0E0-D685-81D6-BCD0-7CD354E3A454}"/>
              </a:ext>
            </a:extLst>
          </p:cNvPr>
          <p:cNvSpPr txBox="1"/>
          <p:nvPr/>
        </p:nvSpPr>
        <p:spPr>
          <a:xfrm>
            <a:off x="1744578" y="6139600"/>
            <a:ext cx="685800" cy="339183"/>
          </a:xfrm>
          <a:prstGeom prst="rect">
            <a:avLst/>
          </a:prstGeom>
          <a:noFill/>
        </p:spPr>
        <p:txBody>
          <a:bodyPr wrap="none" lIns="45720" rIns="45720" rtlCol="0">
            <a:noAutofit/>
          </a:bodyPr>
          <a:lstStyle/>
          <a:p>
            <a:r>
              <a:rPr lang="en-US" sz="2800" b="1"/>
              <a:t>EASY</a:t>
            </a:r>
          </a:p>
        </p:txBody>
      </p:sp>
      <p:sp>
        <p:nvSpPr>
          <p:cNvPr id="29" name="TextBox 28">
            <a:extLst>
              <a:ext uri="{FF2B5EF4-FFF2-40B4-BE49-F238E27FC236}">
                <a16:creationId xmlns:a16="http://schemas.microsoft.com/office/drawing/2014/main" id="{4CC4094D-6ADD-F7F3-2894-44AC780027E7}"/>
              </a:ext>
            </a:extLst>
          </p:cNvPr>
          <p:cNvSpPr txBox="1"/>
          <p:nvPr/>
        </p:nvSpPr>
        <p:spPr>
          <a:xfrm>
            <a:off x="6925521" y="6120288"/>
            <a:ext cx="685800" cy="339183"/>
          </a:xfrm>
          <a:prstGeom prst="rect">
            <a:avLst/>
          </a:prstGeom>
          <a:noFill/>
        </p:spPr>
        <p:txBody>
          <a:bodyPr wrap="none" lIns="45720" rIns="45720" rtlCol="0">
            <a:noAutofit/>
          </a:bodyPr>
          <a:lstStyle/>
          <a:p>
            <a:r>
              <a:rPr lang="en-US" sz="2800" b="1"/>
              <a:t>HARD</a:t>
            </a:r>
          </a:p>
        </p:txBody>
      </p:sp>
      <p:sp>
        <p:nvSpPr>
          <p:cNvPr id="30" name="TextBox 29">
            <a:extLst>
              <a:ext uri="{FF2B5EF4-FFF2-40B4-BE49-F238E27FC236}">
                <a16:creationId xmlns:a16="http://schemas.microsoft.com/office/drawing/2014/main" id="{3E11344A-6406-D729-C727-D61425623426}"/>
              </a:ext>
            </a:extLst>
          </p:cNvPr>
          <p:cNvSpPr txBox="1"/>
          <p:nvPr/>
        </p:nvSpPr>
        <p:spPr>
          <a:xfrm>
            <a:off x="9717057" y="6120288"/>
            <a:ext cx="1416165" cy="339183"/>
          </a:xfrm>
          <a:prstGeom prst="rect">
            <a:avLst/>
          </a:prstGeom>
          <a:noFill/>
        </p:spPr>
        <p:txBody>
          <a:bodyPr wrap="none" lIns="45720" rIns="45720" rtlCol="0">
            <a:noAutofit/>
          </a:bodyPr>
          <a:lstStyle/>
          <a:p>
            <a:r>
              <a:rPr lang="en-US" sz="2800" b="1"/>
              <a:t>FORGET IT</a:t>
            </a:r>
          </a:p>
        </p:txBody>
      </p:sp>
      <p:sp>
        <p:nvSpPr>
          <p:cNvPr id="8" name="TextBox 7">
            <a:extLst>
              <a:ext uri="{FF2B5EF4-FFF2-40B4-BE49-F238E27FC236}">
                <a16:creationId xmlns:a16="http://schemas.microsoft.com/office/drawing/2014/main" id="{3C04C60B-EDAF-01EF-8F1E-E1B68A2C8F6B}"/>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dirty="0">
                <a:solidFill>
                  <a:srgbClr val="1E2761"/>
                </a:solidFill>
                <a:latin typeface="Cambria"/>
              </a:rPr>
              <a:t>Structured-ness affects ease of use</a:t>
            </a:r>
            <a:endParaRPr sz="3200" b="1" i="0" dirty="0">
              <a:solidFill>
                <a:srgbClr val="1E2761"/>
              </a:solidFill>
              <a:latin typeface="Cambria"/>
            </a:endParaRPr>
          </a:p>
        </p:txBody>
      </p:sp>
      <p:pic>
        <p:nvPicPr>
          <p:cNvPr id="11" name="Picture 10">
            <a:extLst>
              <a:ext uri="{FF2B5EF4-FFF2-40B4-BE49-F238E27FC236}">
                <a16:creationId xmlns:a16="http://schemas.microsoft.com/office/drawing/2014/main" id="{F3D3BD60-BF6F-E3A3-559A-62A6334367BD}"/>
              </a:ext>
            </a:extLst>
          </p:cNvPr>
          <p:cNvPicPr>
            <a:picLocks noChangeAspect="1"/>
          </p:cNvPicPr>
          <p:nvPr/>
        </p:nvPicPr>
        <p:blipFill>
          <a:blip r:embed="rId2"/>
          <a:stretch>
            <a:fillRect/>
          </a:stretch>
        </p:blipFill>
        <p:spPr>
          <a:xfrm>
            <a:off x="690850" y="2327032"/>
            <a:ext cx="3932521" cy="2621681"/>
          </a:xfrm>
          <a:prstGeom prst="rect">
            <a:avLst/>
          </a:prstGeom>
        </p:spPr>
      </p:pic>
    </p:spTree>
    <p:extLst>
      <p:ext uri="{BB962C8B-B14F-4D97-AF65-F5344CB8AC3E}">
        <p14:creationId xmlns:p14="http://schemas.microsoft.com/office/powerpoint/2010/main" val="2808625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2FE181A-79B8-F2A8-522B-77CE6ECCF601}"/>
              </a:ext>
            </a:extLst>
          </p:cNvPr>
          <p:cNvSpPr/>
          <p:nvPr/>
        </p:nvSpPr>
        <p:spPr>
          <a:xfrm>
            <a:off x="508253" y="36513"/>
            <a:ext cx="10992897" cy="6129095"/>
          </a:xfrm>
          <a:custGeom>
            <a:avLst/>
            <a:gdLst>
              <a:gd name="csX0" fmla="*/ 0 w 10992897"/>
              <a:gd name="csY0" fmla="*/ 6129095 h 6129095"/>
              <a:gd name="csX1" fmla="*/ 248787 w 10992897"/>
              <a:gd name="csY1" fmla="*/ 6129095 h 6129095"/>
              <a:gd name="csX2" fmla="*/ 717431 w 10992897"/>
              <a:gd name="csY2" fmla="*/ 6129095 h 6129095"/>
              <a:gd name="csX3" fmla="*/ 1076147 w 10992897"/>
              <a:gd name="csY3" fmla="*/ 6129095 h 6129095"/>
              <a:gd name="csX4" fmla="*/ 1654720 w 10992897"/>
              <a:gd name="csY4" fmla="*/ 6129095 h 6129095"/>
              <a:gd name="csX5" fmla="*/ 2123365 w 10992897"/>
              <a:gd name="csY5" fmla="*/ 6129095 h 6129095"/>
              <a:gd name="csX6" fmla="*/ 2592009 w 10992897"/>
              <a:gd name="csY6" fmla="*/ 6129095 h 6129095"/>
              <a:gd name="csX7" fmla="*/ 2950725 w 10992897"/>
              <a:gd name="csY7" fmla="*/ 6129095 h 6129095"/>
              <a:gd name="csX8" fmla="*/ 3639227 w 10992897"/>
              <a:gd name="csY8" fmla="*/ 6129095 h 6129095"/>
              <a:gd name="csX9" fmla="*/ 3997943 w 10992897"/>
              <a:gd name="csY9" fmla="*/ 6129095 h 6129095"/>
              <a:gd name="csX10" fmla="*/ 4576517 w 10992897"/>
              <a:gd name="csY10" fmla="*/ 6129095 h 6129095"/>
              <a:gd name="csX11" fmla="*/ 5265019 w 10992897"/>
              <a:gd name="csY11" fmla="*/ 6129095 h 6129095"/>
              <a:gd name="csX12" fmla="*/ 5513806 w 10992897"/>
              <a:gd name="csY12" fmla="*/ 6129095 h 6129095"/>
              <a:gd name="csX13" fmla="*/ 6092379 w 10992897"/>
              <a:gd name="csY13" fmla="*/ 6129095 h 6129095"/>
              <a:gd name="csX14" fmla="*/ 6780882 w 10992897"/>
              <a:gd name="csY14" fmla="*/ 6129095 h 6129095"/>
              <a:gd name="csX15" fmla="*/ 7139597 w 10992897"/>
              <a:gd name="csY15" fmla="*/ 6129095 h 6129095"/>
              <a:gd name="csX16" fmla="*/ 7718171 w 10992897"/>
              <a:gd name="csY16" fmla="*/ 6129095 h 6129095"/>
              <a:gd name="csX17" fmla="*/ 8516602 w 10992897"/>
              <a:gd name="csY17" fmla="*/ 6129095 h 6129095"/>
              <a:gd name="csX18" fmla="*/ 8985247 w 10992897"/>
              <a:gd name="csY18" fmla="*/ 6129095 h 6129095"/>
              <a:gd name="csX19" fmla="*/ 9234033 w 10992897"/>
              <a:gd name="csY19" fmla="*/ 6129095 h 6129095"/>
              <a:gd name="csX20" fmla="*/ 10032465 w 10992897"/>
              <a:gd name="csY20" fmla="*/ 6129095 h 6129095"/>
              <a:gd name="csX21" fmla="*/ 10992897 w 10992897"/>
              <a:gd name="csY21" fmla="*/ 6129095 h 6129095"/>
              <a:gd name="csX22" fmla="*/ 10992897 w 10992897"/>
              <a:gd name="csY22" fmla="*/ 5694486 h 6129095"/>
              <a:gd name="csX23" fmla="*/ 10992897 w 10992897"/>
              <a:gd name="csY23" fmla="*/ 5198587 h 6129095"/>
              <a:gd name="csX24" fmla="*/ 10992897 w 10992897"/>
              <a:gd name="csY24" fmla="*/ 4641396 h 6129095"/>
              <a:gd name="csX25" fmla="*/ 10992897 w 10992897"/>
              <a:gd name="csY25" fmla="*/ 4268079 h 6129095"/>
              <a:gd name="csX26" fmla="*/ 10992897 w 10992897"/>
              <a:gd name="csY26" fmla="*/ 3710888 h 6129095"/>
              <a:gd name="csX27" fmla="*/ 10992897 w 10992897"/>
              <a:gd name="csY27" fmla="*/ 3276280 h 6129095"/>
              <a:gd name="csX28" fmla="*/ 10992897 w 10992897"/>
              <a:gd name="csY28" fmla="*/ 2719089 h 6129095"/>
              <a:gd name="csX29" fmla="*/ 10992897 w 10992897"/>
              <a:gd name="csY29" fmla="*/ 2345772 h 6129095"/>
              <a:gd name="csX30" fmla="*/ 10992897 w 10992897"/>
              <a:gd name="csY30" fmla="*/ 1727290 h 6129095"/>
              <a:gd name="csX31" fmla="*/ 10992897 w 10992897"/>
              <a:gd name="csY31" fmla="*/ 1108809 h 6129095"/>
              <a:gd name="csX32" fmla="*/ 10992897 w 10992897"/>
              <a:gd name="csY32" fmla="*/ 551619 h 6129095"/>
              <a:gd name="csX33" fmla="*/ 10992897 w 10992897"/>
              <a:gd name="csY33" fmla="*/ 0 h 6129095"/>
              <a:gd name="csX34" fmla="*/ 10783448 w 10992897"/>
              <a:gd name="csY34" fmla="*/ 365262 h 6129095"/>
              <a:gd name="csX35" fmla="*/ 10499765 w 10992897"/>
              <a:gd name="csY35" fmla="*/ 859984 h 6129095"/>
              <a:gd name="csX36" fmla="*/ 10216081 w 10992897"/>
              <a:gd name="csY36" fmla="*/ 1354706 h 6129095"/>
              <a:gd name="csX37" fmla="*/ 9988073 w 10992897"/>
              <a:gd name="csY37" fmla="*/ 1752334 h 6129095"/>
              <a:gd name="csX38" fmla="*/ 9778625 w 10992897"/>
              <a:gd name="csY38" fmla="*/ 2117596 h 6129095"/>
              <a:gd name="csX39" fmla="*/ 9569176 w 10992897"/>
              <a:gd name="csY39" fmla="*/ 2482858 h 6129095"/>
              <a:gd name="csX40" fmla="*/ 9137022 w 10992897"/>
              <a:gd name="csY40" fmla="*/ 3236500 h 6129095"/>
              <a:gd name="csX41" fmla="*/ 8733680 w 10992897"/>
              <a:gd name="csY41" fmla="*/ 3468881 h 6129095"/>
              <a:gd name="csX42" fmla="*/ 8300825 w 10992897"/>
              <a:gd name="csY42" fmla="*/ 3718266 h 6129095"/>
              <a:gd name="csX43" fmla="*/ 7897482 w 10992897"/>
              <a:gd name="csY43" fmla="*/ 3950648 h 6129095"/>
              <a:gd name="csX44" fmla="*/ 7464627 w 10992897"/>
              <a:gd name="csY44" fmla="*/ 4200033 h 6129095"/>
              <a:gd name="csX45" fmla="*/ 7061285 w 10992897"/>
              <a:gd name="csY45" fmla="*/ 4432414 h 6129095"/>
              <a:gd name="csX46" fmla="*/ 6185737 w 10992897"/>
              <a:gd name="csY46" fmla="*/ 4936852 h 6129095"/>
              <a:gd name="csX47" fmla="*/ 5719477 w 10992897"/>
              <a:gd name="csY47" fmla="*/ 5050080 h 6129095"/>
              <a:gd name="csX48" fmla="*/ 5282979 w 10992897"/>
              <a:gd name="csY48" fmla="*/ 5156081 h 6129095"/>
              <a:gd name="csX49" fmla="*/ 4816719 w 10992897"/>
              <a:gd name="csY49" fmla="*/ 5269309 h 6129095"/>
              <a:gd name="csX50" fmla="*/ 4261176 w 10992897"/>
              <a:gd name="csY50" fmla="*/ 5404219 h 6129095"/>
              <a:gd name="csX51" fmla="*/ 3794916 w 10992897"/>
              <a:gd name="csY51" fmla="*/ 5517447 h 6129095"/>
              <a:gd name="csX52" fmla="*/ 3209611 w 10992897"/>
              <a:gd name="csY52" fmla="*/ 5659584 h 6129095"/>
              <a:gd name="csX53" fmla="*/ 2738868 w 10992897"/>
              <a:gd name="csY53" fmla="*/ 5728446 h 6129095"/>
              <a:gd name="csX54" fmla="*/ 2300221 w 10992897"/>
              <a:gd name="csY54" fmla="*/ 5792612 h 6129095"/>
              <a:gd name="csX55" fmla="*/ 1829478 w 10992897"/>
              <a:gd name="csY55" fmla="*/ 5861474 h 6129095"/>
              <a:gd name="csX56" fmla="*/ 1294543 w 10992897"/>
              <a:gd name="csY56" fmla="*/ 5939726 h 6129095"/>
              <a:gd name="csX57" fmla="*/ 855896 w 10992897"/>
              <a:gd name="csY57" fmla="*/ 6003892 h 6129095"/>
              <a:gd name="csX58" fmla="*/ 0 w 10992897"/>
              <a:gd name="csY58" fmla="*/ 6129095 h 6129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Lst>
            <a:rect l="l" t="t" r="r" b="b"/>
            <a:pathLst>
              <a:path w="10992897" h="6129095" fill="none" extrusionOk="0">
                <a:moveTo>
                  <a:pt x="0" y="6129095"/>
                </a:moveTo>
                <a:cubicBezTo>
                  <a:pt x="86905" y="6113665"/>
                  <a:pt x="148714" y="6134731"/>
                  <a:pt x="248787" y="6129095"/>
                </a:cubicBezTo>
                <a:cubicBezTo>
                  <a:pt x="348860" y="6123459"/>
                  <a:pt x="560954" y="6152660"/>
                  <a:pt x="717431" y="6129095"/>
                </a:cubicBezTo>
                <a:cubicBezTo>
                  <a:pt x="873908" y="6105530"/>
                  <a:pt x="936261" y="6156920"/>
                  <a:pt x="1076147" y="6129095"/>
                </a:cubicBezTo>
                <a:cubicBezTo>
                  <a:pt x="1216033" y="6101270"/>
                  <a:pt x="1518755" y="6178459"/>
                  <a:pt x="1654720" y="6129095"/>
                </a:cubicBezTo>
                <a:cubicBezTo>
                  <a:pt x="1790685" y="6079731"/>
                  <a:pt x="1915620" y="6169178"/>
                  <a:pt x="2123365" y="6129095"/>
                </a:cubicBezTo>
                <a:cubicBezTo>
                  <a:pt x="2331110" y="6089012"/>
                  <a:pt x="2474360" y="6165915"/>
                  <a:pt x="2592009" y="6129095"/>
                </a:cubicBezTo>
                <a:cubicBezTo>
                  <a:pt x="2709658" y="6092275"/>
                  <a:pt x="2819468" y="6161994"/>
                  <a:pt x="2950725" y="6129095"/>
                </a:cubicBezTo>
                <a:cubicBezTo>
                  <a:pt x="3081982" y="6096196"/>
                  <a:pt x="3411513" y="6152387"/>
                  <a:pt x="3639227" y="6129095"/>
                </a:cubicBezTo>
                <a:cubicBezTo>
                  <a:pt x="3866941" y="6105803"/>
                  <a:pt x="3862989" y="6137602"/>
                  <a:pt x="3997943" y="6129095"/>
                </a:cubicBezTo>
                <a:cubicBezTo>
                  <a:pt x="4132897" y="6120588"/>
                  <a:pt x="4458049" y="6171758"/>
                  <a:pt x="4576517" y="6129095"/>
                </a:cubicBezTo>
                <a:cubicBezTo>
                  <a:pt x="4694985" y="6086432"/>
                  <a:pt x="5057550" y="6171664"/>
                  <a:pt x="5265019" y="6129095"/>
                </a:cubicBezTo>
                <a:cubicBezTo>
                  <a:pt x="5472488" y="6086526"/>
                  <a:pt x="5436179" y="6157184"/>
                  <a:pt x="5513806" y="6129095"/>
                </a:cubicBezTo>
                <a:cubicBezTo>
                  <a:pt x="5591433" y="6101006"/>
                  <a:pt x="5885898" y="6139252"/>
                  <a:pt x="6092379" y="6129095"/>
                </a:cubicBezTo>
                <a:cubicBezTo>
                  <a:pt x="6298860" y="6118938"/>
                  <a:pt x="6621763" y="6159152"/>
                  <a:pt x="6780882" y="6129095"/>
                </a:cubicBezTo>
                <a:cubicBezTo>
                  <a:pt x="6940001" y="6099038"/>
                  <a:pt x="6995701" y="6150018"/>
                  <a:pt x="7139597" y="6129095"/>
                </a:cubicBezTo>
                <a:cubicBezTo>
                  <a:pt x="7283494" y="6108172"/>
                  <a:pt x="7440548" y="6172772"/>
                  <a:pt x="7718171" y="6129095"/>
                </a:cubicBezTo>
                <a:cubicBezTo>
                  <a:pt x="7995794" y="6085418"/>
                  <a:pt x="8264136" y="6223169"/>
                  <a:pt x="8516602" y="6129095"/>
                </a:cubicBezTo>
                <a:cubicBezTo>
                  <a:pt x="8769068" y="6035021"/>
                  <a:pt x="8779028" y="6171664"/>
                  <a:pt x="8985247" y="6129095"/>
                </a:cubicBezTo>
                <a:cubicBezTo>
                  <a:pt x="9191467" y="6086526"/>
                  <a:pt x="9164677" y="6157325"/>
                  <a:pt x="9234033" y="6129095"/>
                </a:cubicBezTo>
                <a:cubicBezTo>
                  <a:pt x="9303389" y="6100865"/>
                  <a:pt x="9754936" y="6176189"/>
                  <a:pt x="10032465" y="6129095"/>
                </a:cubicBezTo>
                <a:cubicBezTo>
                  <a:pt x="10309994" y="6082001"/>
                  <a:pt x="10744714" y="6175845"/>
                  <a:pt x="10992897" y="6129095"/>
                </a:cubicBezTo>
                <a:cubicBezTo>
                  <a:pt x="10944447" y="5999930"/>
                  <a:pt x="11038730" y="5849963"/>
                  <a:pt x="10992897" y="5694486"/>
                </a:cubicBezTo>
                <a:cubicBezTo>
                  <a:pt x="10947064" y="5539009"/>
                  <a:pt x="11025786" y="5364621"/>
                  <a:pt x="10992897" y="5198587"/>
                </a:cubicBezTo>
                <a:cubicBezTo>
                  <a:pt x="10960008" y="5032553"/>
                  <a:pt x="11051333" y="4848648"/>
                  <a:pt x="10992897" y="4641396"/>
                </a:cubicBezTo>
                <a:cubicBezTo>
                  <a:pt x="10934461" y="4434144"/>
                  <a:pt x="11018892" y="4448755"/>
                  <a:pt x="10992897" y="4268079"/>
                </a:cubicBezTo>
                <a:cubicBezTo>
                  <a:pt x="10966902" y="4087403"/>
                  <a:pt x="11012756" y="3849047"/>
                  <a:pt x="10992897" y="3710888"/>
                </a:cubicBezTo>
                <a:cubicBezTo>
                  <a:pt x="10973038" y="3572729"/>
                  <a:pt x="11031891" y="3439542"/>
                  <a:pt x="10992897" y="3276280"/>
                </a:cubicBezTo>
                <a:cubicBezTo>
                  <a:pt x="10953903" y="3113018"/>
                  <a:pt x="11003534" y="2994785"/>
                  <a:pt x="10992897" y="2719089"/>
                </a:cubicBezTo>
                <a:cubicBezTo>
                  <a:pt x="10982260" y="2443393"/>
                  <a:pt x="11014545" y="2468259"/>
                  <a:pt x="10992897" y="2345772"/>
                </a:cubicBezTo>
                <a:cubicBezTo>
                  <a:pt x="10971249" y="2223285"/>
                  <a:pt x="11005507" y="1908926"/>
                  <a:pt x="10992897" y="1727290"/>
                </a:cubicBezTo>
                <a:cubicBezTo>
                  <a:pt x="10980287" y="1545654"/>
                  <a:pt x="11008364" y="1255968"/>
                  <a:pt x="10992897" y="1108809"/>
                </a:cubicBezTo>
                <a:cubicBezTo>
                  <a:pt x="10977430" y="961650"/>
                  <a:pt x="11051702" y="714608"/>
                  <a:pt x="10992897" y="551619"/>
                </a:cubicBezTo>
                <a:cubicBezTo>
                  <a:pt x="10934092" y="388630"/>
                  <a:pt x="11013391" y="125606"/>
                  <a:pt x="10992897" y="0"/>
                </a:cubicBezTo>
                <a:cubicBezTo>
                  <a:pt x="10943890" y="118488"/>
                  <a:pt x="10830896" y="209650"/>
                  <a:pt x="10783448" y="365262"/>
                </a:cubicBezTo>
                <a:cubicBezTo>
                  <a:pt x="10736001" y="520874"/>
                  <a:pt x="10568216" y="640383"/>
                  <a:pt x="10499765" y="859984"/>
                </a:cubicBezTo>
                <a:cubicBezTo>
                  <a:pt x="10431314" y="1079585"/>
                  <a:pt x="10280014" y="1233542"/>
                  <a:pt x="10216081" y="1354706"/>
                </a:cubicBezTo>
                <a:cubicBezTo>
                  <a:pt x="10152148" y="1475870"/>
                  <a:pt x="10025152" y="1643897"/>
                  <a:pt x="9988073" y="1752334"/>
                </a:cubicBezTo>
                <a:cubicBezTo>
                  <a:pt x="9950994" y="1860771"/>
                  <a:pt x="9827762" y="1931833"/>
                  <a:pt x="9778625" y="2117596"/>
                </a:cubicBezTo>
                <a:cubicBezTo>
                  <a:pt x="9729487" y="2303359"/>
                  <a:pt x="9581090" y="2364994"/>
                  <a:pt x="9569176" y="2482858"/>
                </a:cubicBezTo>
                <a:cubicBezTo>
                  <a:pt x="9557262" y="2600722"/>
                  <a:pt x="9214492" y="3028348"/>
                  <a:pt x="9137022" y="3236500"/>
                </a:cubicBezTo>
                <a:cubicBezTo>
                  <a:pt x="8946987" y="3363624"/>
                  <a:pt x="8911189" y="3317257"/>
                  <a:pt x="8733680" y="3468881"/>
                </a:cubicBezTo>
                <a:cubicBezTo>
                  <a:pt x="8556171" y="3620505"/>
                  <a:pt x="8392928" y="3638116"/>
                  <a:pt x="8300825" y="3718266"/>
                </a:cubicBezTo>
                <a:cubicBezTo>
                  <a:pt x="8208722" y="3798416"/>
                  <a:pt x="8033357" y="3831574"/>
                  <a:pt x="7897482" y="3950648"/>
                </a:cubicBezTo>
                <a:cubicBezTo>
                  <a:pt x="7761607" y="4069722"/>
                  <a:pt x="7651312" y="4072790"/>
                  <a:pt x="7464627" y="4200033"/>
                </a:cubicBezTo>
                <a:cubicBezTo>
                  <a:pt x="7277942" y="4327276"/>
                  <a:pt x="7178365" y="4321700"/>
                  <a:pt x="7061285" y="4432414"/>
                </a:cubicBezTo>
                <a:cubicBezTo>
                  <a:pt x="6944205" y="4543128"/>
                  <a:pt x="6401314" y="4792595"/>
                  <a:pt x="6185737" y="4936852"/>
                </a:cubicBezTo>
                <a:cubicBezTo>
                  <a:pt x="6096081" y="4979810"/>
                  <a:pt x="5865473" y="5006446"/>
                  <a:pt x="5719477" y="5050080"/>
                </a:cubicBezTo>
                <a:cubicBezTo>
                  <a:pt x="5573481" y="5093714"/>
                  <a:pt x="5485785" y="5095577"/>
                  <a:pt x="5282979" y="5156081"/>
                </a:cubicBezTo>
                <a:cubicBezTo>
                  <a:pt x="5080173" y="5216585"/>
                  <a:pt x="5037453" y="5197090"/>
                  <a:pt x="4816719" y="5269309"/>
                </a:cubicBezTo>
                <a:cubicBezTo>
                  <a:pt x="4595985" y="5341528"/>
                  <a:pt x="4399892" y="5317788"/>
                  <a:pt x="4261176" y="5404219"/>
                </a:cubicBezTo>
                <a:cubicBezTo>
                  <a:pt x="4122460" y="5490650"/>
                  <a:pt x="3937651" y="5437627"/>
                  <a:pt x="3794916" y="5517447"/>
                </a:cubicBezTo>
                <a:cubicBezTo>
                  <a:pt x="3652181" y="5597266"/>
                  <a:pt x="3357334" y="5561012"/>
                  <a:pt x="3209611" y="5659584"/>
                </a:cubicBezTo>
                <a:cubicBezTo>
                  <a:pt x="2987347" y="5735430"/>
                  <a:pt x="2859146" y="5663839"/>
                  <a:pt x="2738868" y="5728446"/>
                </a:cubicBezTo>
                <a:cubicBezTo>
                  <a:pt x="2618590" y="5793052"/>
                  <a:pt x="2426117" y="5772288"/>
                  <a:pt x="2300221" y="5792612"/>
                </a:cubicBezTo>
                <a:cubicBezTo>
                  <a:pt x="2174325" y="5812936"/>
                  <a:pt x="1931579" y="5843584"/>
                  <a:pt x="1829478" y="5861474"/>
                </a:cubicBezTo>
                <a:cubicBezTo>
                  <a:pt x="1727377" y="5879364"/>
                  <a:pt x="1546773" y="5850887"/>
                  <a:pt x="1294543" y="5939726"/>
                </a:cubicBezTo>
                <a:cubicBezTo>
                  <a:pt x="1042313" y="6028565"/>
                  <a:pt x="1037823" y="5950235"/>
                  <a:pt x="855896" y="6003892"/>
                </a:cubicBezTo>
                <a:cubicBezTo>
                  <a:pt x="673969" y="6057550"/>
                  <a:pt x="372366" y="5984777"/>
                  <a:pt x="0" y="6129095"/>
                </a:cubicBezTo>
                <a:close/>
              </a:path>
              <a:path w="10992897" h="6129095" stroke="0" extrusionOk="0">
                <a:moveTo>
                  <a:pt x="0" y="6129095"/>
                </a:moveTo>
                <a:cubicBezTo>
                  <a:pt x="172289" y="6104950"/>
                  <a:pt x="457581" y="6190487"/>
                  <a:pt x="688502" y="6129095"/>
                </a:cubicBezTo>
                <a:cubicBezTo>
                  <a:pt x="919423" y="6067703"/>
                  <a:pt x="1172849" y="6200165"/>
                  <a:pt x="1486934" y="6129095"/>
                </a:cubicBezTo>
                <a:cubicBezTo>
                  <a:pt x="1801019" y="6058025"/>
                  <a:pt x="1951964" y="6186975"/>
                  <a:pt x="2285365" y="6129095"/>
                </a:cubicBezTo>
                <a:cubicBezTo>
                  <a:pt x="2618766" y="6071215"/>
                  <a:pt x="2421182" y="6133863"/>
                  <a:pt x="2534152" y="6129095"/>
                </a:cubicBezTo>
                <a:cubicBezTo>
                  <a:pt x="2647122" y="6124327"/>
                  <a:pt x="2782198" y="6132331"/>
                  <a:pt x="2892868" y="6129095"/>
                </a:cubicBezTo>
                <a:cubicBezTo>
                  <a:pt x="3003538" y="6125859"/>
                  <a:pt x="3318442" y="6187586"/>
                  <a:pt x="3471441" y="6129095"/>
                </a:cubicBezTo>
                <a:cubicBezTo>
                  <a:pt x="3624440" y="6070604"/>
                  <a:pt x="3693419" y="6132356"/>
                  <a:pt x="3830157" y="6129095"/>
                </a:cubicBezTo>
                <a:cubicBezTo>
                  <a:pt x="3966895" y="6125834"/>
                  <a:pt x="4435117" y="6196321"/>
                  <a:pt x="4628588" y="6129095"/>
                </a:cubicBezTo>
                <a:cubicBezTo>
                  <a:pt x="4822059" y="6061869"/>
                  <a:pt x="4968774" y="6179213"/>
                  <a:pt x="5097233" y="6129095"/>
                </a:cubicBezTo>
                <a:cubicBezTo>
                  <a:pt x="5225693" y="6078977"/>
                  <a:pt x="5244573" y="6157860"/>
                  <a:pt x="5346019" y="6129095"/>
                </a:cubicBezTo>
                <a:cubicBezTo>
                  <a:pt x="5447465" y="6100330"/>
                  <a:pt x="5705712" y="6163674"/>
                  <a:pt x="5814664" y="6129095"/>
                </a:cubicBezTo>
                <a:cubicBezTo>
                  <a:pt x="5923617" y="6094516"/>
                  <a:pt x="5985423" y="6135640"/>
                  <a:pt x="6063451" y="6129095"/>
                </a:cubicBezTo>
                <a:cubicBezTo>
                  <a:pt x="6141479" y="6122550"/>
                  <a:pt x="6290149" y="6133808"/>
                  <a:pt x="6422166" y="6129095"/>
                </a:cubicBezTo>
                <a:cubicBezTo>
                  <a:pt x="6554183" y="6124382"/>
                  <a:pt x="6723327" y="6179047"/>
                  <a:pt x="7000740" y="6129095"/>
                </a:cubicBezTo>
                <a:cubicBezTo>
                  <a:pt x="7278153" y="6079143"/>
                  <a:pt x="7155995" y="6143665"/>
                  <a:pt x="7249526" y="6129095"/>
                </a:cubicBezTo>
                <a:cubicBezTo>
                  <a:pt x="7343057" y="6114525"/>
                  <a:pt x="7411753" y="6150783"/>
                  <a:pt x="7498313" y="6129095"/>
                </a:cubicBezTo>
                <a:cubicBezTo>
                  <a:pt x="7584873" y="6107407"/>
                  <a:pt x="7842949" y="6172731"/>
                  <a:pt x="7966957" y="6129095"/>
                </a:cubicBezTo>
                <a:cubicBezTo>
                  <a:pt x="8090965" y="6085459"/>
                  <a:pt x="8313211" y="6184319"/>
                  <a:pt x="8545531" y="6129095"/>
                </a:cubicBezTo>
                <a:cubicBezTo>
                  <a:pt x="8777851" y="6073871"/>
                  <a:pt x="8916505" y="6146234"/>
                  <a:pt x="9124105" y="6129095"/>
                </a:cubicBezTo>
                <a:cubicBezTo>
                  <a:pt x="9331705" y="6111956"/>
                  <a:pt x="9631617" y="6147550"/>
                  <a:pt x="9812607" y="6129095"/>
                </a:cubicBezTo>
                <a:cubicBezTo>
                  <a:pt x="9993597" y="6110640"/>
                  <a:pt x="9947801" y="6146058"/>
                  <a:pt x="10061394" y="6129095"/>
                </a:cubicBezTo>
                <a:cubicBezTo>
                  <a:pt x="10174987" y="6112132"/>
                  <a:pt x="10800966" y="6203985"/>
                  <a:pt x="10992897" y="6129095"/>
                </a:cubicBezTo>
                <a:cubicBezTo>
                  <a:pt x="10940367" y="5975772"/>
                  <a:pt x="11018297" y="5599046"/>
                  <a:pt x="10992897" y="5449323"/>
                </a:cubicBezTo>
                <a:cubicBezTo>
                  <a:pt x="10967497" y="5299600"/>
                  <a:pt x="11067971" y="5029038"/>
                  <a:pt x="10992897" y="4769550"/>
                </a:cubicBezTo>
                <a:cubicBezTo>
                  <a:pt x="10917823" y="4510062"/>
                  <a:pt x="11062163" y="4384294"/>
                  <a:pt x="10992897" y="4089778"/>
                </a:cubicBezTo>
                <a:cubicBezTo>
                  <a:pt x="10923631" y="3795262"/>
                  <a:pt x="11059338" y="3713963"/>
                  <a:pt x="10992897" y="3532587"/>
                </a:cubicBezTo>
                <a:cubicBezTo>
                  <a:pt x="10926456" y="3351211"/>
                  <a:pt x="11014143" y="3128107"/>
                  <a:pt x="10992897" y="2852815"/>
                </a:cubicBezTo>
                <a:cubicBezTo>
                  <a:pt x="10971651" y="2577523"/>
                  <a:pt x="11007939" y="2330785"/>
                  <a:pt x="10992897" y="2173043"/>
                </a:cubicBezTo>
                <a:cubicBezTo>
                  <a:pt x="10977855" y="2015301"/>
                  <a:pt x="11004948" y="1831837"/>
                  <a:pt x="10992897" y="1493270"/>
                </a:cubicBezTo>
                <a:cubicBezTo>
                  <a:pt x="10980846" y="1154703"/>
                  <a:pt x="11002799" y="1274606"/>
                  <a:pt x="10992897" y="1058662"/>
                </a:cubicBezTo>
                <a:cubicBezTo>
                  <a:pt x="10982995" y="842718"/>
                  <a:pt x="11053589" y="659160"/>
                  <a:pt x="10992897" y="501471"/>
                </a:cubicBezTo>
                <a:cubicBezTo>
                  <a:pt x="10932205" y="343782"/>
                  <a:pt x="11004511" y="224072"/>
                  <a:pt x="10992897" y="0"/>
                </a:cubicBezTo>
                <a:cubicBezTo>
                  <a:pt x="10947154" y="166144"/>
                  <a:pt x="10847736" y="230708"/>
                  <a:pt x="10727772" y="462357"/>
                </a:cubicBezTo>
                <a:cubicBezTo>
                  <a:pt x="10607808" y="694006"/>
                  <a:pt x="10523754" y="734746"/>
                  <a:pt x="10499765" y="859984"/>
                </a:cubicBezTo>
                <a:cubicBezTo>
                  <a:pt x="10475776" y="985222"/>
                  <a:pt x="10268385" y="1167713"/>
                  <a:pt x="10197522" y="1387071"/>
                </a:cubicBezTo>
                <a:cubicBezTo>
                  <a:pt x="10126660" y="1606429"/>
                  <a:pt x="10014166" y="1612690"/>
                  <a:pt x="9969515" y="1784699"/>
                </a:cubicBezTo>
                <a:cubicBezTo>
                  <a:pt x="9924864" y="1956708"/>
                  <a:pt x="9795549" y="1985588"/>
                  <a:pt x="9741507" y="2182326"/>
                </a:cubicBezTo>
                <a:cubicBezTo>
                  <a:pt x="9687466" y="2379064"/>
                  <a:pt x="9552542" y="2491056"/>
                  <a:pt x="9513500" y="2579953"/>
                </a:cubicBezTo>
                <a:cubicBezTo>
                  <a:pt x="9474458" y="2668850"/>
                  <a:pt x="9230115" y="3047659"/>
                  <a:pt x="9137022" y="3236500"/>
                </a:cubicBezTo>
                <a:cubicBezTo>
                  <a:pt x="9021749" y="3310552"/>
                  <a:pt x="8780326" y="3438675"/>
                  <a:pt x="8615628" y="3536896"/>
                </a:cubicBezTo>
                <a:cubicBezTo>
                  <a:pt x="8450930" y="3635117"/>
                  <a:pt x="8332230" y="3699647"/>
                  <a:pt x="8123747" y="3820288"/>
                </a:cubicBezTo>
                <a:cubicBezTo>
                  <a:pt x="7915264" y="3940929"/>
                  <a:pt x="7864606" y="3959208"/>
                  <a:pt x="7690892" y="4069672"/>
                </a:cubicBezTo>
                <a:cubicBezTo>
                  <a:pt x="7517178" y="4180136"/>
                  <a:pt x="7406791" y="4191449"/>
                  <a:pt x="7258037" y="4319057"/>
                </a:cubicBezTo>
                <a:cubicBezTo>
                  <a:pt x="7109283" y="4446665"/>
                  <a:pt x="6932368" y="4437097"/>
                  <a:pt x="6766156" y="4602449"/>
                </a:cubicBezTo>
                <a:cubicBezTo>
                  <a:pt x="6599944" y="4767801"/>
                  <a:pt x="6400155" y="4772574"/>
                  <a:pt x="6185737" y="4936852"/>
                </a:cubicBezTo>
                <a:cubicBezTo>
                  <a:pt x="6003352" y="5017525"/>
                  <a:pt x="5895267" y="4955794"/>
                  <a:pt x="5779000" y="5035625"/>
                </a:cubicBezTo>
                <a:cubicBezTo>
                  <a:pt x="5662733" y="5115457"/>
                  <a:pt x="5446052" y="5066697"/>
                  <a:pt x="5372263" y="5134399"/>
                </a:cubicBezTo>
                <a:cubicBezTo>
                  <a:pt x="5298474" y="5202101"/>
                  <a:pt x="5073904" y="5165242"/>
                  <a:pt x="4876242" y="5254854"/>
                </a:cubicBezTo>
                <a:cubicBezTo>
                  <a:pt x="4678580" y="5344466"/>
                  <a:pt x="4625446" y="5282967"/>
                  <a:pt x="4469504" y="5353627"/>
                </a:cubicBezTo>
                <a:cubicBezTo>
                  <a:pt x="4313562" y="5424287"/>
                  <a:pt x="4156294" y="5388079"/>
                  <a:pt x="4062767" y="5452401"/>
                </a:cubicBezTo>
                <a:cubicBezTo>
                  <a:pt x="3969240" y="5516723"/>
                  <a:pt x="3521933" y="5478898"/>
                  <a:pt x="3209611" y="5659584"/>
                </a:cubicBezTo>
                <a:cubicBezTo>
                  <a:pt x="3024877" y="5757936"/>
                  <a:pt x="2763313" y="5684050"/>
                  <a:pt x="2610484" y="5747226"/>
                </a:cubicBezTo>
                <a:cubicBezTo>
                  <a:pt x="2457655" y="5810402"/>
                  <a:pt x="2327950" y="5742802"/>
                  <a:pt x="2139741" y="5816088"/>
                </a:cubicBezTo>
                <a:cubicBezTo>
                  <a:pt x="1951532" y="5889374"/>
                  <a:pt x="1798989" y="5858970"/>
                  <a:pt x="1572709" y="5899035"/>
                </a:cubicBezTo>
                <a:cubicBezTo>
                  <a:pt x="1346429" y="5939100"/>
                  <a:pt x="1222249" y="5890859"/>
                  <a:pt x="973582" y="5986677"/>
                </a:cubicBezTo>
                <a:cubicBezTo>
                  <a:pt x="724915" y="6082495"/>
                  <a:pt x="593757" y="5988494"/>
                  <a:pt x="470743" y="6060233"/>
                </a:cubicBezTo>
                <a:cubicBezTo>
                  <a:pt x="347729" y="6131972"/>
                  <a:pt x="103926" y="6056744"/>
                  <a:pt x="0" y="6129095"/>
                </a:cubicBezTo>
                <a:close/>
              </a:path>
            </a:pathLst>
          </a:custGeom>
          <a:gradFill flip="none" rotWithShape="1">
            <a:gsLst>
              <a:gs pos="0">
                <a:srgbClr val="00B0F0"/>
              </a:gs>
              <a:gs pos="46000">
                <a:srgbClr val="FFFF00"/>
              </a:gs>
              <a:gs pos="23000">
                <a:srgbClr val="00B050"/>
              </a:gs>
              <a:gs pos="68000">
                <a:srgbClr val="FFC000"/>
              </a:gs>
              <a:gs pos="100000">
                <a:srgbClr val="C00000"/>
              </a:gs>
              <a:gs pos="86000">
                <a:srgbClr val="FF0000"/>
              </a:gs>
            </a:gsLst>
            <a:lin ang="0" scaled="1"/>
            <a:tileRect/>
          </a:gradFill>
          <a:ln>
            <a:solidFill>
              <a:schemeClr val="tx1"/>
            </a:solidFill>
            <a:extLst>
              <a:ext uri="{C807C97D-BFC1-408E-A445-0C87EB9F89A2}">
                <ask:lineSketchStyleProps xmlns:ask="http://schemas.microsoft.com/office/drawing/2018/sketchyshapes" sd="1903079504">
                  <a:custGeom>
                    <a:avLst/>
                    <a:gdLst>
                      <a:gd name="connsiteX0" fmla="*/ 0 w 10992897"/>
                      <a:gd name="connsiteY0" fmla="*/ 2713055 h 2713055"/>
                      <a:gd name="connsiteX1" fmla="*/ 10992897 w 10992897"/>
                      <a:gd name="connsiteY1" fmla="*/ 2713055 h 2713055"/>
                      <a:gd name="connsiteX2" fmla="*/ 10992897 w 10992897"/>
                      <a:gd name="connsiteY2" fmla="*/ 0 h 2713055"/>
                      <a:gd name="connsiteX3" fmla="*/ 9314822 w 10992897"/>
                      <a:gd name="connsiteY3" fmla="*/ 1085222 h 2713055"/>
                      <a:gd name="connsiteX4" fmla="*/ 6782637 w 10992897"/>
                      <a:gd name="connsiteY4" fmla="*/ 1868993 h 2713055"/>
                      <a:gd name="connsiteX5" fmla="*/ 3285811 w 10992897"/>
                      <a:gd name="connsiteY5" fmla="*/ 2502040 h 2713055"/>
                      <a:gd name="connsiteX6" fmla="*/ 0 w 10992897"/>
                      <a:gd name="connsiteY6" fmla="*/ 2713055 h 2713055"/>
                      <a:gd name="connsiteX0" fmla="*/ 0 w 10992897"/>
                      <a:gd name="connsiteY0" fmla="*/ 3641032 h 3641032"/>
                      <a:gd name="connsiteX1" fmla="*/ 10992897 w 10992897"/>
                      <a:gd name="connsiteY1" fmla="*/ 3641032 h 3641032"/>
                      <a:gd name="connsiteX2" fmla="*/ 10992897 w 10992897"/>
                      <a:gd name="connsiteY2" fmla="*/ 0 h 3641032"/>
                      <a:gd name="connsiteX3" fmla="*/ 9314822 w 10992897"/>
                      <a:gd name="connsiteY3" fmla="*/ 2013199 h 3641032"/>
                      <a:gd name="connsiteX4" fmla="*/ 6782637 w 10992897"/>
                      <a:gd name="connsiteY4" fmla="*/ 279697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62422 w 10992897"/>
                      <a:gd name="connsiteY3" fmla="*/ 2149001 h 3641032"/>
                      <a:gd name="connsiteX4" fmla="*/ 6782637 w 10992897"/>
                      <a:gd name="connsiteY4" fmla="*/ 279697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62422 w 10992897"/>
                      <a:gd name="connsiteY3" fmla="*/ 2149001 h 3641032"/>
                      <a:gd name="connsiteX4" fmla="*/ 6287337 w 10992897"/>
                      <a:gd name="connsiteY4" fmla="*/ 304594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62422 w 10992897"/>
                      <a:gd name="connsiteY3" fmla="*/ 2081101 h 3641032"/>
                      <a:gd name="connsiteX4" fmla="*/ 6287337 w 10992897"/>
                      <a:gd name="connsiteY4" fmla="*/ 304594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37022 w 10992897"/>
                      <a:gd name="connsiteY3" fmla="*/ 1922666 h 3641032"/>
                      <a:gd name="connsiteX4" fmla="*/ 6287337 w 10992897"/>
                      <a:gd name="connsiteY4" fmla="*/ 304594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37022 w 10992897"/>
                      <a:gd name="connsiteY3" fmla="*/ 1922666 h 3641032"/>
                      <a:gd name="connsiteX4" fmla="*/ 6185737 w 10992897"/>
                      <a:gd name="connsiteY4" fmla="*/ 2932772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37022 w 10992897"/>
                      <a:gd name="connsiteY3" fmla="*/ 1922666 h 3641032"/>
                      <a:gd name="connsiteX4" fmla="*/ 6185737 w 10992897"/>
                      <a:gd name="connsiteY4" fmla="*/ 2932772 h 3641032"/>
                      <a:gd name="connsiteX5" fmla="*/ 3209611 w 10992897"/>
                      <a:gd name="connsiteY5" fmla="*/ 3362116 h 3641032"/>
                      <a:gd name="connsiteX6" fmla="*/ 0 w 10992897"/>
                      <a:gd name="connsiteY6" fmla="*/ 3641032 h 3641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92897" h="3641032">
                        <a:moveTo>
                          <a:pt x="0" y="3641032"/>
                        </a:moveTo>
                        <a:lnTo>
                          <a:pt x="10992897" y="3641032"/>
                        </a:lnTo>
                        <a:lnTo>
                          <a:pt x="10992897" y="0"/>
                        </a:lnTo>
                        <a:lnTo>
                          <a:pt x="9137022" y="1922666"/>
                        </a:lnTo>
                        <a:lnTo>
                          <a:pt x="6185737" y="2932772"/>
                        </a:lnTo>
                        <a:lnTo>
                          <a:pt x="3209611" y="3362116"/>
                        </a:lnTo>
                        <a:lnTo>
                          <a:pt x="0" y="3641032"/>
                        </a:lnTo>
                        <a:close/>
                      </a:path>
                    </a:pathLst>
                  </a:cu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TextBox 10">
            <a:extLst>
              <a:ext uri="{FF2B5EF4-FFF2-40B4-BE49-F238E27FC236}">
                <a16:creationId xmlns:a16="http://schemas.microsoft.com/office/drawing/2014/main" id="{685A79BF-0F81-648B-7B5B-1D4F0DDC63A8}"/>
              </a:ext>
            </a:extLst>
          </p:cNvPr>
          <p:cNvSpPr txBox="1"/>
          <p:nvPr/>
        </p:nvSpPr>
        <p:spPr>
          <a:xfrm>
            <a:off x="242887" y="5472211"/>
            <a:ext cx="2565865" cy="263086"/>
          </a:xfrm>
          <a:prstGeom prst="rect">
            <a:avLst/>
          </a:prstGeom>
          <a:noFill/>
        </p:spPr>
        <p:txBody>
          <a:bodyPr wrap="none" lIns="45720" rIns="45720" rtlCol="0">
            <a:noAutofit/>
          </a:bodyPr>
          <a:lstStyle/>
          <a:p>
            <a:endParaRPr lang="en-US" sz="1400" b="1"/>
          </a:p>
        </p:txBody>
      </p:sp>
      <p:sp>
        <p:nvSpPr>
          <p:cNvPr id="20" name="Callout: Line with Border and Accent Bar 19">
            <a:extLst>
              <a:ext uri="{FF2B5EF4-FFF2-40B4-BE49-F238E27FC236}">
                <a16:creationId xmlns:a16="http://schemas.microsoft.com/office/drawing/2014/main" id="{227BC446-6084-A187-70B4-22530AE63263}"/>
              </a:ext>
            </a:extLst>
          </p:cNvPr>
          <p:cNvSpPr/>
          <p:nvPr/>
        </p:nvSpPr>
        <p:spPr>
          <a:xfrm>
            <a:off x="1491172" y="4969261"/>
            <a:ext cx="1504163" cy="568120"/>
          </a:xfrm>
          <a:prstGeom prst="accentBorderCallout1">
            <a:avLst>
              <a:gd name="adj1" fmla="val 18750"/>
              <a:gd name="adj2" fmla="val -8333"/>
              <a:gd name="adj3" fmla="val 192976"/>
              <a:gd name="adj4" fmla="val -341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accent2"/>
                </a:solidFill>
              </a:rPr>
              <a:t>Excel, structured-rectangular</a:t>
            </a:r>
          </a:p>
        </p:txBody>
      </p:sp>
      <p:sp>
        <p:nvSpPr>
          <p:cNvPr id="21" name="Callout: Line with Border and Accent Bar 20">
            <a:extLst>
              <a:ext uri="{FF2B5EF4-FFF2-40B4-BE49-F238E27FC236}">
                <a16:creationId xmlns:a16="http://schemas.microsoft.com/office/drawing/2014/main" id="{C0B23D24-407C-FBEE-267A-9D373B2B2F4C}"/>
              </a:ext>
            </a:extLst>
          </p:cNvPr>
          <p:cNvSpPr/>
          <p:nvPr/>
        </p:nvSpPr>
        <p:spPr>
          <a:xfrm>
            <a:off x="3778852" y="4508597"/>
            <a:ext cx="1597762" cy="568120"/>
          </a:xfrm>
          <a:prstGeom prst="accentBorderCallout1">
            <a:avLst>
              <a:gd name="adj1" fmla="val 65694"/>
              <a:gd name="adj2" fmla="val 106127"/>
              <a:gd name="adj3" fmla="val 172857"/>
              <a:gd name="adj4" fmla="val 12476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accent2"/>
                </a:solidFill>
              </a:rPr>
              <a:t>Plain-text, semi-structured</a:t>
            </a:r>
          </a:p>
        </p:txBody>
      </p:sp>
      <p:sp>
        <p:nvSpPr>
          <p:cNvPr id="4" name="TextBox 3">
            <a:extLst>
              <a:ext uri="{FF2B5EF4-FFF2-40B4-BE49-F238E27FC236}">
                <a16:creationId xmlns:a16="http://schemas.microsoft.com/office/drawing/2014/main" id="{8743B552-F6E9-7DDD-1353-F4989DCE8BA2}"/>
              </a:ext>
            </a:extLst>
          </p:cNvPr>
          <p:cNvSpPr txBox="1"/>
          <p:nvPr/>
        </p:nvSpPr>
        <p:spPr>
          <a:xfrm>
            <a:off x="1744578" y="6139600"/>
            <a:ext cx="685800" cy="339183"/>
          </a:xfrm>
          <a:prstGeom prst="rect">
            <a:avLst/>
          </a:prstGeom>
          <a:noFill/>
        </p:spPr>
        <p:txBody>
          <a:bodyPr wrap="none" lIns="45720" rIns="45720" rtlCol="0">
            <a:noAutofit/>
          </a:bodyPr>
          <a:lstStyle/>
          <a:p>
            <a:r>
              <a:rPr lang="en-US" sz="2800" b="1"/>
              <a:t>EASY</a:t>
            </a:r>
          </a:p>
        </p:txBody>
      </p:sp>
      <p:sp>
        <p:nvSpPr>
          <p:cNvPr id="5" name="TextBox 4">
            <a:extLst>
              <a:ext uri="{FF2B5EF4-FFF2-40B4-BE49-F238E27FC236}">
                <a16:creationId xmlns:a16="http://schemas.microsoft.com/office/drawing/2014/main" id="{D64A1298-343B-3E24-DA4B-5D6B376A8BAD}"/>
              </a:ext>
            </a:extLst>
          </p:cNvPr>
          <p:cNvSpPr txBox="1"/>
          <p:nvPr/>
        </p:nvSpPr>
        <p:spPr>
          <a:xfrm>
            <a:off x="6925521" y="6120288"/>
            <a:ext cx="685800" cy="339183"/>
          </a:xfrm>
          <a:prstGeom prst="rect">
            <a:avLst/>
          </a:prstGeom>
          <a:noFill/>
        </p:spPr>
        <p:txBody>
          <a:bodyPr wrap="none" lIns="45720" rIns="45720" rtlCol="0">
            <a:noAutofit/>
          </a:bodyPr>
          <a:lstStyle/>
          <a:p>
            <a:r>
              <a:rPr lang="en-US" sz="2800" b="1"/>
              <a:t>HARD</a:t>
            </a:r>
          </a:p>
        </p:txBody>
      </p:sp>
      <p:sp>
        <p:nvSpPr>
          <p:cNvPr id="6" name="TextBox 5">
            <a:extLst>
              <a:ext uri="{FF2B5EF4-FFF2-40B4-BE49-F238E27FC236}">
                <a16:creationId xmlns:a16="http://schemas.microsoft.com/office/drawing/2014/main" id="{3A784203-35E1-F3AC-1122-0596F54A0C47}"/>
              </a:ext>
            </a:extLst>
          </p:cNvPr>
          <p:cNvSpPr txBox="1"/>
          <p:nvPr/>
        </p:nvSpPr>
        <p:spPr>
          <a:xfrm>
            <a:off x="9717057" y="6120288"/>
            <a:ext cx="1416165" cy="339183"/>
          </a:xfrm>
          <a:prstGeom prst="rect">
            <a:avLst/>
          </a:prstGeom>
          <a:noFill/>
        </p:spPr>
        <p:txBody>
          <a:bodyPr wrap="none" lIns="45720" rIns="45720" rtlCol="0">
            <a:noAutofit/>
          </a:bodyPr>
          <a:lstStyle/>
          <a:p>
            <a:r>
              <a:rPr lang="en-US" sz="2800" b="1"/>
              <a:t>FORGET IT</a:t>
            </a:r>
          </a:p>
        </p:txBody>
      </p:sp>
      <p:sp>
        <p:nvSpPr>
          <p:cNvPr id="13" name="TextBox 12">
            <a:extLst>
              <a:ext uri="{FF2B5EF4-FFF2-40B4-BE49-F238E27FC236}">
                <a16:creationId xmlns:a16="http://schemas.microsoft.com/office/drawing/2014/main" id="{A1020E12-979A-8875-D9C9-E2E8FC281C85}"/>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dirty="0">
                <a:solidFill>
                  <a:srgbClr val="1E2761"/>
                </a:solidFill>
                <a:latin typeface="Cambria"/>
              </a:rPr>
              <a:t>Structured-ness affects ease of use</a:t>
            </a:r>
            <a:endParaRPr sz="3200" b="1" i="0" dirty="0">
              <a:solidFill>
                <a:srgbClr val="1E2761"/>
              </a:solidFill>
              <a:latin typeface="Cambria"/>
            </a:endParaRPr>
          </a:p>
        </p:txBody>
      </p:sp>
      <p:pic>
        <p:nvPicPr>
          <p:cNvPr id="17" name="Picture 16">
            <a:extLst>
              <a:ext uri="{FF2B5EF4-FFF2-40B4-BE49-F238E27FC236}">
                <a16:creationId xmlns:a16="http://schemas.microsoft.com/office/drawing/2014/main" id="{6689EAF7-0E89-5DF6-35C1-578151B65FF8}"/>
              </a:ext>
            </a:extLst>
          </p:cNvPr>
          <p:cNvPicPr>
            <a:picLocks noChangeAspect="1"/>
          </p:cNvPicPr>
          <p:nvPr/>
        </p:nvPicPr>
        <p:blipFill>
          <a:blip r:embed="rId2"/>
          <a:srcRect b="4981"/>
          <a:stretch>
            <a:fillRect/>
          </a:stretch>
        </p:blipFill>
        <p:spPr>
          <a:xfrm>
            <a:off x="1738338" y="1269508"/>
            <a:ext cx="5077050" cy="3216118"/>
          </a:xfrm>
          <a:prstGeom prst="rect">
            <a:avLst/>
          </a:prstGeom>
          <a:ln>
            <a:solidFill>
              <a:schemeClr val="tx2"/>
            </a:solidFill>
          </a:ln>
        </p:spPr>
      </p:pic>
    </p:spTree>
    <p:extLst>
      <p:ext uri="{BB962C8B-B14F-4D97-AF65-F5344CB8AC3E}">
        <p14:creationId xmlns:p14="http://schemas.microsoft.com/office/powerpoint/2010/main" val="1664469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2FE181A-79B8-F2A8-522B-77CE6ECCF601}"/>
              </a:ext>
            </a:extLst>
          </p:cNvPr>
          <p:cNvSpPr/>
          <p:nvPr/>
        </p:nvSpPr>
        <p:spPr>
          <a:xfrm>
            <a:off x="508253" y="36513"/>
            <a:ext cx="10992897" cy="6129095"/>
          </a:xfrm>
          <a:custGeom>
            <a:avLst/>
            <a:gdLst>
              <a:gd name="csX0" fmla="*/ 0 w 10992897"/>
              <a:gd name="csY0" fmla="*/ 6129095 h 6129095"/>
              <a:gd name="csX1" fmla="*/ 248787 w 10992897"/>
              <a:gd name="csY1" fmla="*/ 6129095 h 6129095"/>
              <a:gd name="csX2" fmla="*/ 717431 w 10992897"/>
              <a:gd name="csY2" fmla="*/ 6129095 h 6129095"/>
              <a:gd name="csX3" fmla="*/ 1076147 w 10992897"/>
              <a:gd name="csY3" fmla="*/ 6129095 h 6129095"/>
              <a:gd name="csX4" fmla="*/ 1654720 w 10992897"/>
              <a:gd name="csY4" fmla="*/ 6129095 h 6129095"/>
              <a:gd name="csX5" fmla="*/ 2123365 w 10992897"/>
              <a:gd name="csY5" fmla="*/ 6129095 h 6129095"/>
              <a:gd name="csX6" fmla="*/ 2592009 w 10992897"/>
              <a:gd name="csY6" fmla="*/ 6129095 h 6129095"/>
              <a:gd name="csX7" fmla="*/ 2950725 w 10992897"/>
              <a:gd name="csY7" fmla="*/ 6129095 h 6129095"/>
              <a:gd name="csX8" fmla="*/ 3639227 w 10992897"/>
              <a:gd name="csY8" fmla="*/ 6129095 h 6129095"/>
              <a:gd name="csX9" fmla="*/ 3997943 w 10992897"/>
              <a:gd name="csY9" fmla="*/ 6129095 h 6129095"/>
              <a:gd name="csX10" fmla="*/ 4576517 w 10992897"/>
              <a:gd name="csY10" fmla="*/ 6129095 h 6129095"/>
              <a:gd name="csX11" fmla="*/ 5265019 w 10992897"/>
              <a:gd name="csY11" fmla="*/ 6129095 h 6129095"/>
              <a:gd name="csX12" fmla="*/ 5513806 w 10992897"/>
              <a:gd name="csY12" fmla="*/ 6129095 h 6129095"/>
              <a:gd name="csX13" fmla="*/ 6092379 w 10992897"/>
              <a:gd name="csY13" fmla="*/ 6129095 h 6129095"/>
              <a:gd name="csX14" fmla="*/ 6780882 w 10992897"/>
              <a:gd name="csY14" fmla="*/ 6129095 h 6129095"/>
              <a:gd name="csX15" fmla="*/ 7139597 w 10992897"/>
              <a:gd name="csY15" fmla="*/ 6129095 h 6129095"/>
              <a:gd name="csX16" fmla="*/ 7718171 w 10992897"/>
              <a:gd name="csY16" fmla="*/ 6129095 h 6129095"/>
              <a:gd name="csX17" fmla="*/ 8516602 w 10992897"/>
              <a:gd name="csY17" fmla="*/ 6129095 h 6129095"/>
              <a:gd name="csX18" fmla="*/ 8985247 w 10992897"/>
              <a:gd name="csY18" fmla="*/ 6129095 h 6129095"/>
              <a:gd name="csX19" fmla="*/ 9234033 w 10992897"/>
              <a:gd name="csY19" fmla="*/ 6129095 h 6129095"/>
              <a:gd name="csX20" fmla="*/ 10032465 w 10992897"/>
              <a:gd name="csY20" fmla="*/ 6129095 h 6129095"/>
              <a:gd name="csX21" fmla="*/ 10992897 w 10992897"/>
              <a:gd name="csY21" fmla="*/ 6129095 h 6129095"/>
              <a:gd name="csX22" fmla="*/ 10992897 w 10992897"/>
              <a:gd name="csY22" fmla="*/ 5694486 h 6129095"/>
              <a:gd name="csX23" fmla="*/ 10992897 w 10992897"/>
              <a:gd name="csY23" fmla="*/ 5198587 h 6129095"/>
              <a:gd name="csX24" fmla="*/ 10992897 w 10992897"/>
              <a:gd name="csY24" fmla="*/ 4641396 h 6129095"/>
              <a:gd name="csX25" fmla="*/ 10992897 w 10992897"/>
              <a:gd name="csY25" fmla="*/ 4268079 h 6129095"/>
              <a:gd name="csX26" fmla="*/ 10992897 w 10992897"/>
              <a:gd name="csY26" fmla="*/ 3710888 h 6129095"/>
              <a:gd name="csX27" fmla="*/ 10992897 w 10992897"/>
              <a:gd name="csY27" fmla="*/ 3276280 h 6129095"/>
              <a:gd name="csX28" fmla="*/ 10992897 w 10992897"/>
              <a:gd name="csY28" fmla="*/ 2719089 h 6129095"/>
              <a:gd name="csX29" fmla="*/ 10992897 w 10992897"/>
              <a:gd name="csY29" fmla="*/ 2345772 h 6129095"/>
              <a:gd name="csX30" fmla="*/ 10992897 w 10992897"/>
              <a:gd name="csY30" fmla="*/ 1727290 h 6129095"/>
              <a:gd name="csX31" fmla="*/ 10992897 w 10992897"/>
              <a:gd name="csY31" fmla="*/ 1108809 h 6129095"/>
              <a:gd name="csX32" fmla="*/ 10992897 w 10992897"/>
              <a:gd name="csY32" fmla="*/ 551619 h 6129095"/>
              <a:gd name="csX33" fmla="*/ 10992897 w 10992897"/>
              <a:gd name="csY33" fmla="*/ 0 h 6129095"/>
              <a:gd name="csX34" fmla="*/ 10783448 w 10992897"/>
              <a:gd name="csY34" fmla="*/ 365262 h 6129095"/>
              <a:gd name="csX35" fmla="*/ 10499765 w 10992897"/>
              <a:gd name="csY35" fmla="*/ 859984 h 6129095"/>
              <a:gd name="csX36" fmla="*/ 10216081 w 10992897"/>
              <a:gd name="csY36" fmla="*/ 1354706 h 6129095"/>
              <a:gd name="csX37" fmla="*/ 9988073 w 10992897"/>
              <a:gd name="csY37" fmla="*/ 1752334 h 6129095"/>
              <a:gd name="csX38" fmla="*/ 9778625 w 10992897"/>
              <a:gd name="csY38" fmla="*/ 2117596 h 6129095"/>
              <a:gd name="csX39" fmla="*/ 9569176 w 10992897"/>
              <a:gd name="csY39" fmla="*/ 2482858 h 6129095"/>
              <a:gd name="csX40" fmla="*/ 9137022 w 10992897"/>
              <a:gd name="csY40" fmla="*/ 3236500 h 6129095"/>
              <a:gd name="csX41" fmla="*/ 8733680 w 10992897"/>
              <a:gd name="csY41" fmla="*/ 3468881 h 6129095"/>
              <a:gd name="csX42" fmla="*/ 8300825 w 10992897"/>
              <a:gd name="csY42" fmla="*/ 3718266 h 6129095"/>
              <a:gd name="csX43" fmla="*/ 7897482 w 10992897"/>
              <a:gd name="csY43" fmla="*/ 3950648 h 6129095"/>
              <a:gd name="csX44" fmla="*/ 7464627 w 10992897"/>
              <a:gd name="csY44" fmla="*/ 4200033 h 6129095"/>
              <a:gd name="csX45" fmla="*/ 7061285 w 10992897"/>
              <a:gd name="csY45" fmla="*/ 4432414 h 6129095"/>
              <a:gd name="csX46" fmla="*/ 6185737 w 10992897"/>
              <a:gd name="csY46" fmla="*/ 4936852 h 6129095"/>
              <a:gd name="csX47" fmla="*/ 5719477 w 10992897"/>
              <a:gd name="csY47" fmla="*/ 5050080 h 6129095"/>
              <a:gd name="csX48" fmla="*/ 5282979 w 10992897"/>
              <a:gd name="csY48" fmla="*/ 5156081 h 6129095"/>
              <a:gd name="csX49" fmla="*/ 4816719 w 10992897"/>
              <a:gd name="csY49" fmla="*/ 5269309 h 6129095"/>
              <a:gd name="csX50" fmla="*/ 4261176 w 10992897"/>
              <a:gd name="csY50" fmla="*/ 5404219 h 6129095"/>
              <a:gd name="csX51" fmla="*/ 3794916 w 10992897"/>
              <a:gd name="csY51" fmla="*/ 5517447 h 6129095"/>
              <a:gd name="csX52" fmla="*/ 3209611 w 10992897"/>
              <a:gd name="csY52" fmla="*/ 5659584 h 6129095"/>
              <a:gd name="csX53" fmla="*/ 2738868 w 10992897"/>
              <a:gd name="csY53" fmla="*/ 5728446 h 6129095"/>
              <a:gd name="csX54" fmla="*/ 2300221 w 10992897"/>
              <a:gd name="csY54" fmla="*/ 5792612 h 6129095"/>
              <a:gd name="csX55" fmla="*/ 1829478 w 10992897"/>
              <a:gd name="csY55" fmla="*/ 5861474 h 6129095"/>
              <a:gd name="csX56" fmla="*/ 1294543 w 10992897"/>
              <a:gd name="csY56" fmla="*/ 5939726 h 6129095"/>
              <a:gd name="csX57" fmla="*/ 855896 w 10992897"/>
              <a:gd name="csY57" fmla="*/ 6003892 h 6129095"/>
              <a:gd name="csX58" fmla="*/ 0 w 10992897"/>
              <a:gd name="csY58" fmla="*/ 6129095 h 6129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Lst>
            <a:rect l="l" t="t" r="r" b="b"/>
            <a:pathLst>
              <a:path w="10992897" h="6129095" fill="none" extrusionOk="0">
                <a:moveTo>
                  <a:pt x="0" y="6129095"/>
                </a:moveTo>
                <a:cubicBezTo>
                  <a:pt x="86905" y="6113665"/>
                  <a:pt x="148714" y="6134731"/>
                  <a:pt x="248787" y="6129095"/>
                </a:cubicBezTo>
                <a:cubicBezTo>
                  <a:pt x="348860" y="6123459"/>
                  <a:pt x="560954" y="6152660"/>
                  <a:pt x="717431" y="6129095"/>
                </a:cubicBezTo>
                <a:cubicBezTo>
                  <a:pt x="873908" y="6105530"/>
                  <a:pt x="936261" y="6156920"/>
                  <a:pt x="1076147" y="6129095"/>
                </a:cubicBezTo>
                <a:cubicBezTo>
                  <a:pt x="1216033" y="6101270"/>
                  <a:pt x="1518755" y="6178459"/>
                  <a:pt x="1654720" y="6129095"/>
                </a:cubicBezTo>
                <a:cubicBezTo>
                  <a:pt x="1790685" y="6079731"/>
                  <a:pt x="1915620" y="6169178"/>
                  <a:pt x="2123365" y="6129095"/>
                </a:cubicBezTo>
                <a:cubicBezTo>
                  <a:pt x="2331110" y="6089012"/>
                  <a:pt x="2474360" y="6165915"/>
                  <a:pt x="2592009" y="6129095"/>
                </a:cubicBezTo>
                <a:cubicBezTo>
                  <a:pt x="2709658" y="6092275"/>
                  <a:pt x="2819468" y="6161994"/>
                  <a:pt x="2950725" y="6129095"/>
                </a:cubicBezTo>
                <a:cubicBezTo>
                  <a:pt x="3081982" y="6096196"/>
                  <a:pt x="3411513" y="6152387"/>
                  <a:pt x="3639227" y="6129095"/>
                </a:cubicBezTo>
                <a:cubicBezTo>
                  <a:pt x="3866941" y="6105803"/>
                  <a:pt x="3862989" y="6137602"/>
                  <a:pt x="3997943" y="6129095"/>
                </a:cubicBezTo>
                <a:cubicBezTo>
                  <a:pt x="4132897" y="6120588"/>
                  <a:pt x="4458049" y="6171758"/>
                  <a:pt x="4576517" y="6129095"/>
                </a:cubicBezTo>
                <a:cubicBezTo>
                  <a:pt x="4694985" y="6086432"/>
                  <a:pt x="5057550" y="6171664"/>
                  <a:pt x="5265019" y="6129095"/>
                </a:cubicBezTo>
                <a:cubicBezTo>
                  <a:pt x="5472488" y="6086526"/>
                  <a:pt x="5436179" y="6157184"/>
                  <a:pt x="5513806" y="6129095"/>
                </a:cubicBezTo>
                <a:cubicBezTo>
                  <a:pt x="5591433" y="6101006"/>
                  <a:pt x="5885898" y="6139252"/>
                  <a:pt x="6092379" y="6129095"/>
                </a:cubicBezTo>
                <a:cubicBezTo>
                  <a:pt x="6298860" y="6118938"/>
                  <a:pt x="6621763" y="6159152"/>
                  <a:pt x="6780882" y="6129095"/>
                </a:cubicBezTo>
                <a:cubicBezTo>
                  <a:pt x="6940001" y="6099038"/>
                  <a:pt x="6995701" y="6150018"/>
                  <a:pt x="7139597" y="6129095"/>
                </a:cubicBezTo>
                <a:cubicBezTo>
                  <a:pt x="7283494" y="6108172"/>
                  <a:pt x="7440548" y="6172772"/>
                  <a:pt x="7718171" y="6129095"/>
                </a:cubicBezTo>
                <a:cubicBezTo>
                  <a:pt x="7995794" y="6085418"/>
                  <a:pt x="8264136" y="6223169"/>
                  <a:pt x="8516602" y="6129095"/>
                </a:cubicBezTo>
                <a:cubicBezTo>
                  <a:pt x="8769068" y="6035021"/>
                  <a:pt x="8779028" y="6171664"/>
                  <a:pt x="8985247" y="6129095"/>
                </a:cubicBezTo>
                <a:cubicBezTo>
                  <a:pt x="9191467" y="6086526"/>
                  <a:pt x="9164677" y="6157325"/>
                  <a:pt x="9234033" y="6129095"/>
                </a:cubicBezTo>
                <a:cubicBezTo>
                  <a:pt x="9303389" y="6100865"/>
                  <a:pt x="9754936" y="6176189"/>
                  <a:pt x="10032465" y="6129095"/>
                </a:cubicBezTo>
                <a:cubicBezTo>
                  <a:pt x="10309994" y="6082001"/>
                  <a:pt x="10744714" y="6175845"/>
                  <a:pt x="10992897" y="6129095"/>
                </a:cubicBezTo>
                <a:cubicBezTo>
                  <a:pt x="10944447" y="5999930"/>
                  <a:pt x="11038730" y="5849963"/>
                  <a:pt x="10992897" y="5694486"/>
                </a:cubicBezTo>
                <a:cubicBezTo>
                  <a:pt x="10947064" y="5539009"/>
                  <a:pt x="11025786" y="5364621"/>
                  <a:pt x="10992897" y="5198587"/>
                </a:cubicBezTo>
                <a:cubicBezTo>
                  <a:pt x="10960008" y="5032553"/>
                  <a:pt x="11051333" y="4848648"/>
                  <a:pt x="10992897" y="4641396"/>
                </a:cubicBezTo>
                <a:cubicBezTo>
                  <a:pt x="10934461" y="4434144"/>
                  <a:pt x="11018892" y="4448755"/>
                  <a:pt x="10992897" y="4268079"/>
                </a:cubicBezTo>
                <a:cubicBezTo>
                  <a:pt x="10966902" y="4087403"/>
                  <a:pt x="11012756" y="3849047"/>
                  <a:pt x="10992897" y="3710888"/>
                </a:cubicBezTo>
                <a:cubicBezTo>
                  <a:pt x="10973038" y="3572729"/>
                  <a:pt x="11031891" y="3439542"/>
                  <a:pt x="10992897" y="3276280"/>
                </a:cubicBezTo>
                <a:cubicBezTo>
                  <a:pt x="10953903" y="3113018"/>
                  <a:pt x="11003534" y="2994785"/>
                  <a:pt x="10992897" y="2719089"/>
                </a:cubicBezTo>
                <a:cubicBezTo>
                  <a:pt x="10982260" y="2443393"/>
                  <a:pt x="11014545" y="2468259"/>
                  <a:pt x="10992897" y="2345772"/>
                </a:cubicBezTo>
                <a:cubicBezTo>
                  <a:pt x="10971249" y="2223285"/>
                  <a:pt x="11005507" y="1908926"/>
                  <a:pt x="10992897" y="1727290"/>
                </a:cubicBezTo>
                <a:cubicBezTo>
                  <a:pt x="10980287" y="1545654"/>
                  <a:pt x="11008364" y="1255968"/>
                  <a:pt x="10992897" y="1108809"/>
                </a:cubicBezTo>
                <a:cubicBezTo>
                  <a:pt x="10977430" y="961650"/>
                  <a:pt x="11051702" y="714608"/>
                  <a:pt x="10992897" y="551619"/>
                </a:cubicBezTo>
                <a:cubicBezTo>
                  <a:pt x="10934092" y="388630"/>
                  <a:pt x="11013391" y="125606"/>
                  <a:pt x="10992897" y="0"/>
                </a:cubicBezTo>
                <a:cubicBezTo>
                  <a:pt x="10943890" y="118488"/>
                  <a:pt x="10830896" y="209650"/>
                  <a:pt x="10783448" y="365262"/>
                </a:cubicBezTo>
                <a:cubicBezTo>
                  <a:pt x="10736001" y="520874"/>
                  <a:pt x="10568216" y="640383"/>
                  <a:pt x="10499765" y="859984"/>
                </a:cubicBezTo>
                <a:cubicBezTo>
                  <a:pt x="10431314" y="1079585"/>
                  <a:pt x="10280014" y="1233542"/>
                  <a:pt x="10216081" y="1354706"/>
                </a:cubicBezTo>
                <a:cubicBezTo>
                  <a:pt x="10152148" y="1475870"/>
                  <a:pt x="10025152" y="1643897"/>
                  <a:pt x="9988073" y="1752334"/>
                </a:cubicBezTo>
                <a:cubicBezTo>
                  <a:pt x="9950994" y="1860771"/>
                  <a:pt x="9827762" y="1931833"/>
                  <a:pt x="9778625" y="2117596"/>
                </a:cubicBezTo>
                <a:cubicBezTo>
                  <a:pt x="9729487" y="2303359"/>
                  <a:pt x="9581090" y="2364994"/>
                  <a:pt x="9569176" y="2482858"/>
                </a:cubicBezTo>
                <a:cubicBezTo>
                  <a:pt x="9557262" y="2600722"/>
                  <a:pt x="9214492" y="3028348"/>
                  <a:pt x="9137022" y="3236500"/>
                </a:cubicBezTo>
                <a:cubicBezTo>
                  <a:pt x="8946987" y="3363624"/>
                  <a:pt x="8911189" y="3317257"/>
                  <a:pt x="8733680" y="3468881"/>
                </a:cubicBezTo>
                <a:cubicBezTo>
                  <a:pt x="8556171" y="3620505"/>
                  <a:pt x="8392928" y="3638116"/>
                  <a:pt x="8300825" y="3718266"/>
                </a:cubicBezTo>
                <a:cubicBezTo>
                  <a:pt x="8208722" y="3798416"/>
                  <a:pt x="8033357" y="3831574"/>
                  <a:pt x="7897482" y="3950648"/>
                </a:cubicBezTo>
                <a:cubicBezTo>
                  <a:pt x="7761607" y="4069722"/>
                  <a:pt x="7651312" y="4072790"/>
                  <a:pt x="7464627" y="4200033"/>
                </a:cubicBezTo>
                <a:cubicBezTo>
                  <a:pt x="7277942" y="4327276"/>
                  <a:pt x="7178365" y="4321700"/>
                  <a:pt x="7061285" y="4432414"/>
                </a:cubicBezTo>
                <a:cubicBezTo>
                  <a:pt x="6944205" y="4543128"/>
                  <a:pt x="6401314" y="4792595"/>
                  <a:pt x="6185737" y="4936852"/>
                </a:cubicBezTo>
                <a:cubicBezTo>
                  <a:pt x="6096081" y="4979810"/>
                  <a:pt x="5865473" y="5006446"/>
                  <a:pt x="5719477" y="5050080"/>
                </a:cubicBezTo>
                <a:cubicBezTo>
                  <a:pt x="5573481" y="5093714"/>
                  <a:pt x="5485785" y="5095577"/>
                  <a:pt x="5282979" y="5156081"/>
                </a:cubicBezTo>
                <a:cubicBezTo>
                  <a:pt x="5080173" y="5216585"/>
                  <a:pt x="5037453" y="5197090"/>
                  <a:pt x="4816719" y="5269309"/>
                </a:cubicBezTo>
                <a:cubicBezTo>
                  <a:pt x="4595985" y="5341528"/>
                  <a:pt x="4399892" y="5317788"/>
                  <a:pt x="4261176" y="5404219"/>
                </a:cubicBezTo>
                <a:cubicBezTo>
                  <a:pt x="4122460" y="5490650"/>
                  <a:pt x="3937651" y="5437627"/>
                  <a:pt x="3794916" y="5517447"/>
                </a:cubicBezTo>
                <a:cubicBezTo>
                  <a:pt x="3652181" y="5597266"/>
                  <a:pt x="3357334" y="5561012"/>
                  <a:pt x="3209611" y="5659584"/>
                </a:cubicBezTo>
                <a:cubicBezTo>
                  <a:pt x="2987347" y="5735430"/>
                  <a:pt x="2859146" y="5663839"/>
                  <a:pt x="2738868" y="5728446"/>
                </a:cubicBezTo>
                <a:cubicBezTo>
                  <a:pt x="2618590" y="5793052"/>
                  <a:pt x="2426117" y="5772288"/>
                  <a:pt x="2300221" y="5792612"/>
                </a:cubicBezTo>
                <a:cubicBezTo>
                  <a:pt x="2174325" y="5812936"/>
                  <a:pt x="1931579" y="5843584"/>
                  <a:pt x="1829478" y="5861474"/>
                </a:cubicBezTo>
                <a:cubicBezTo>
                  <a:pt x="1727377" y="5879364"/>
                  <a:pt x="1546773" y="5850887"/>
                  <a:pt x="1294543" y="5939726"/>
                </a:cubicBezTo>
                <a:cubicBezTo>
                  <a:pt x="1042313" y="6028565"/>
                  <a:pt x="1037823" y="5950235"/>
                  <a:pt x="855896" y="6003892"/>
                </a:cubicBezTo>
                <a:cubicBezTo>
                  <a:pt x="673969" y="6057550"/>
                  <a:pt x="372366" y="5984777"/>
                  <a:pt x="0" y="6129095"/>
                </a:cubicBezTo>
                <a:close/>
              </a:path>
              <a:path w="10992897" h="6129095" stroke="0" extrusionOk="0">
                <a:moveTo>
                  <a:pt x="0" y="6129095"/>
                </a:moveTo>
                <a:cubicBezTo>
                  <a:pt x="172289" y="6104950"/>
                  <a:pt x="457581" y="6190487"/>
                  <a:pt x="688502" y="6129095"/>
                </a:cubicBezTo>
                <a:cubicBezTo>
                  <a:pt x="919423" y="6067703"/>
                  <a:pt x="1172849" y="6200165"/>
                  <a:pt x="1486934" y="6129095"/>
                </a:cubicBezTo>
                <a:cubicBezTo>
                  <a:pt x="1801019" y="6058025"/>
                  <a:pt x="1951964" y="6186975"/>
                  <a:pt x="2285365" y="6129095"/>
                </a:cubicBezTo>
                <a:cubicBezTo>
                  <a:pt x="2618766" y="6071215"/>
                  <a:pt x="2421182" y="6133863"/>
                  <a:pt x="2534152" y="6129095"/>
                </a:cubicBezTo>
                <a:cubicBezTo>
                  <a:pt x="2647122" y="6124327"/>
                  <a:pt x="2782198" y="6132331"/>
                  <a:pt x="2892868" y="6129095"/>
                </a:cubicBezTo>
                <a:cubicBezTo>
                  <a:pt x="3003538" y="6125859"/>
                  <a:pt x="3318442" y="6187586"/>
                  <a:pt x="3471441" y="6129095"/>
                </a:cubicBezTo>
                <a:cubicBezTo>
                  <a:pt x="3624440" y="6070604"/>
                  <a:pt x="3693419" y="6132356"/>
                  <a:pt x="3830157" y="6129095"/>
                </a:cubicBezTo>
                <a:cubicBezTo>
                  <a:pt x="3966895" y="6125834"/>
                  <a:pt x="4435117" y="6196321"/>
                  <a:pt x="4628588" y="6129095"/>
                </a:cubicBezTo>
                <a:cubicBezTo>
                  <a:pt x="4822059" y="6061869"/>
                  <a:pt x="4968774" y="6179213"/>
                  <a:pt x="5097233" y="6129095"/>
                </a:cubicBezTo>
                <a:cubicBezTo>
                  <a:pt x="5225693" y="6078977"/>
                  <a:pt x="5244573" y="6157860"/>
                  <a:pt x="5346019" y="6129095"/>
                </a:cubicBezTo>
                <a:cubicBezTo>
                  <a:pt x="5447465" y="6100330"/>
                  <a:pt x="5705712" y="6163674"/>
                  <a:pt x="5814664" y="6129095"/>
                </a:cubicBezTo>
                <a:cubicBezTo>
                  <a:pt x="5923617" y="6094516"/>
                  <a:pt x="5985423" y="6135640"/>
                  <a:pt x="6063451" y="6129095"/>
                </a:cubicBezTo>
                <a:cubicBezTo>
                  <a:pt x="6141479" y="6122550"/>
                  <a:pt x="6290149" y="6133808"/>
                  <a:pt x="6422166" y="6129095"/>
                </a:cubicBezTo>
                <a:cubicBezTo>
                  <a:pt x="6554183" y="6124382"/>
                  <a:pt x="6723327" y="6179047"/>
                  <a:pt x="7000740" y="6129095"/>
                </a:cubicBezTo>
                <a:cubicBezTo>
                  <a:pt x="7278153" y="6079143"/>
                  <a:pt x="7155995" y="6143665"/>
                  <a:pt x="7249526" y="6129095"/>
                </a:cubicBezTo>
                <a:cubicBezTo>
                  <a:pt x="7343057" y="6114525"/>
                  <a:pt x="7411753" y="6150783"/>
                  <a:pt x="7498313" y="6129095"/>
                </a:cubicBezTo>
                <a:cubicBezTo>
                  <a:pt x="7584873" y="6107407"/>
                  <a:pt x="7842949" y="6172731"/>
                  <a:pt x="7966957" y="6129095"/>
                </a:cubicBezTo>
                <a:cubicBezTo>
                  <a:pt x="8090965" y="6085459"/>
                  <a:pt x="8313211" y="6184319"/>
                  <a:pt x="8545531" y="6129095"/>
                </a:cubicBezTo>
                <a:cubicBezTo>
                  <a:pt x="8777851" y="6073871"/>
                  <a:pt x="8916505" y="6146234"/>
                  <a:pt x="9124105" y="6129095"/>
                </a:cubicBezTo>
                <a:cubicBezTo>
                  <a:pt x="9331705" y="6111956"/>
                  <a:pt x="9631617" y="6147550"/>
                  <a:pt x="9812607" y="6129095"/>
                </a:cubicBezTo>
                <a:cubicBezTo>
                  <a:pt x="9993597" y="6110640"/>
                  <a:pt x="9947801" y="6146058"/>
                  <a:pt x="10061394" y="6129095"/>
                </a:cubicBezTo>
                <a:cubicBezTo>
                  <a:pt x="10174987" y="6112132"/>
                  <a:pt x="10800966" y="6203985"/>
                  <a:pt x="10992897" y="6129095"/>
                </a:cubicBezTo>
                <a:cubicBezTo>
                  <a:pt x="10940367" y="5975772"/>
                  <a:pt x="11018297" y="5599046"/>
                  <a:pt x="10992897" y="5449323"/>
                </a:cubicBezTo>
                <a:cubicBezTo>
                  <a:pt x="10967497" y="5299600"/>
                  <a:pt x="11067971" y="5029038"/>
                  <a:pt x="10992897" y="4769550"/>
                </a:cubicBezTo>
                <a:cubicBezTo>
                  <a:pt x="10917823" y="4510062"/>
                  <a:pt x="11062163" y="4384294"/>
                  <a:pt x="10992897" y="4089778"/>
                </a:cubicBezTo>
                <a:cubicBezTo>
                  <a:pt x="10923631" y="3795262"/>
                  <a:pt x="11059338" y="3713963"/>
                  <a:pt x="10992897" y="3532587"/>
                </a:cubicBezTo>
                <a:cubicBezTo>
                  <a:pt x="10926456" y="3351211"/>
                  <a:pt x="11014143" y="3128107"/>
                  <a:pt x="10992897" y="2852815"/>
                </a:cubicBezTo>
                <a:cubicBezTo>
                  <a:pt x="10971651" y="2577523"/>
                  <a:pt x="11007939" y="2330785"/>
                  <a:pt x="10992897" y="2173043"/>
                </a:cubicBezTo>
                <a:cubicBezTo>
                  <a:pt x="10977855" y="2015301"/>
                  <a:pt x="11004948" y="1831837"/>
                  <a:pt x="10992897" y="1493270"/>
                </a:cubicBezTo>
                <a:cubicBezTo>
                  <a:pt x="10980846" y="1154703"/>
                  <a:pt x="11002799" y="1274606"/>
                  <a:pt x="10992897" y="1058662"/>
                </a:cubicBezTo>
                <a:cubicBezTo>
                  <a:pt x="10982995" y="842718"/>
                  <a:pt x="11053589" y="659160"/>
                  <a:pt x="10992897" y="501471"/>
                </a:cubicBezTo>
                <a:cubicBezTo>
                  <a:pt x="10932205" y="343782"/>
                  <a:pt x="11004511" y="224072"/>
                  <a:pt x="10992897" y="0"/>
                </a:cubicBezTo>
                <a:cubicBezTo>
                  <a:pt x="10947154" y="166144"/>
                  <a:pt x="10847736" y="230708"/>
                  <a:pt x="10727772" y="462357"/>
                </a:cubicBezTo>
                <a:cubicBezTo>
                  <a:pt x="10607808" y="694006"/>
                  <a:pt x="10523754" y="734746"/>
                  <a:pt x="10499765" y="859984"/>
                </a:cubicBezTo>
                <a:cubicBezTo>
                  <a:pt x="10475776" y="985222"/>
                  <a:pt x="10268385" y="1167713"/>
                  <a:pt x="10197522" y="1387071"/>
                </a:cubicBezTo>
                <a:cubicBezTo>
                  <a:pt x="10126660" y="1606429"/>
                  <a:pt x="10014166" y="1612690"/>
                  <a:pt x="9969515" y="1784699"/>
                </a:cubicBezTo>
                <a:cubicBezTo>
                  <a:pt x="9924864" y="1956708"/>
                  <a:pt x="9795549" y="1985588"/>
                  <a:pt x="9741507" y="2182326"/>
                </a:cubicBezTo>
                <a:cubicBezTo>
                  <a:pt x="9687466" y="2379064"/>
                  <a:pt x="9552542" y="2491056"/>
                  <a:pt x="9513500" y="2579953"/>
                </a:cubicBezTo>
                <a:cubicBezTo>
                  <a:pt x="9474458" y="2668850"/>
                  <a:pt x="9230115" y="3047659"/>
                  <a:pt x="9137022" y="3236500"/>
                </a:cubicBezTo>
                <a:cubicBezTo>
                  <a:pt x="9021749" y="3310552"/>
                  <a:pt x="8780326" y="3438675"/>
                  <a:pt x="8615628" y="3536896"/>
                </a:cubicBezTo>
                <a:cubicBezTo>
                  <a:pt x="8450930" y="3635117"/>
                  <a:pt x="8332230" y="3699647"/>
                  <a:pt x="8123747" y="3820288"/>
                </a:cubicBezTo>
                <a:cubicBezTo>
                  <a:pt x="7915264" y="3940929"/>
                  <a:pt x="7864606" y="3959208"/>
                  <a:pt x="7690892" y="4069672"/>
                </a:cubicBezTo>
                <a:cubicBezTo>
                  <a:pt x="7517178" y="4180136"/>
                  <a:pt x="7406791" y="4191449"/>
                  <a:pt x="7258037" y="4319057"/>
                </a:cubicBezTo>
                <a:cubicBezTo>
                  <a:pt x="7109283" y="4446665"/>
                  <a:pt x="6932368" y="4437097"/>
                  <a:pt x="6766156" y="4602449"/>
                </a:cubicBezTo>
                <a:cubicBezTo>
                  <a:pt x="6599944" y="4767801"/>
                  <a:pt x="6400155" y="4772574"/>
                  <a:pt x="6185737" y="4936852"/>
                </a:cubicBezTo>
                <a:cubicBezTo>
                  <a:pt x="6003352" y="5017525"/>
                  <a:pt x="5895267" y="4955794"/>
                  <a:pt x="5779000" y="5035625"/>
                </a:cubicBezTo>
                <a:cubicBezTo>
                  <a:pt x="5662733" y="5115457"/>
                  <a:pt x="5446052" y="5066697"/>
                  <a:pt x="5372263" y="5134399"/>
                </a:cubicBezTo>
                <a:cubicBezTo>
                  <a:pt x="5298474" y="5202101"/>
                  <a:pt x="5073904" y="5165242"/>
                  <a:pt x="4876242" y="5254854"/>
                </a:cubicBezTo>
                <a:cubicBezTo>
                  <a:pt x="4678580" y="5344466"/>
                  <a:pt x="4625446" y="5282967"/>
                  <a:pt x="4469504" y="5353627"/>
                </a:cubicBezTo>
                <a:cubicBezTo>
                  <a:pt x="4313562" y="5424287"/>
                  <a:pt x="4156294" y="5388079"/>
                  <a:pt x="4062767" y="5452401"/>
                </a:cubicBezTo>
                <a:cubicBezTo>
                  <a:pt x="3969240" y="5516723"/>
                  <a:pt x="3521933" y="5478898"/>
                  <a:pt x="3209611" y="5659584"/>
                </a:cubicBezTo>
                <a:cubicBezTo>
                  <a:pt x="3024877" y="5757936"/>
                  <a:pt x="2763313" y="5684050"/>
                  <a:pt x="2610484" y="5747226"/>
                </a:cubicBezTo>
                <a:cubicBezTo>
                  <a:pt x="2457655" y="5810402"/>
                  <a:pt x="2327950" y="5742802"/>
                  <a:pt x="2139741" y="5816088"/>
                </a:cubicBezTo>
                <a:cubicBezTo>
                  <a:pt x="1951532" y="5889374"/>
                  <a:pt x="1798989" y="5858970"/>
                  <a:pt x="1572709" y="5899035"/>
                </a:cubicBezTo>
                <a:cubicBezTo>
                  <a:pt x="1346429" y="5939100"/>
                  <a:pt x="1222249" y="5890859"/>
                  <a:pt x="973582" y="5986677"/>
                </a:cubicBezTo>
                <a:cubicBezTo>
                  <a:pt x="724915" y="6082495"/>
                  <a:pt x="593757" y="5988494"/>
                  <a:pt x="470743" y="6060233"/>
                </a:cubicBezTo>
                <a:cubicBezTo>
                  <a:pt x="347729" y="6131972"/>
                  <a:pt x="103926" y="6056744"/>
                  <a:pt x="0" y="6129095"/>
                </a:cubicBezTo>
                <a:close/>
              </a:path>
            </a:pathLst>
          </a:custGeom>
          <a:gradFill flip="none" rotWithShape="1">
            <a:gsLst>
              <a:gs pos="0">
                <a:srgbClr val="00B0F0"/>
              </a:gs>
              <a:gs pos="46000">
                <a:srgbClr val="FFFF00"/>
              </a:gs>
              <a:gs pos="23000">
                <a:srgbClr val="00B050"/>
              </a:gs>
              <a:gs pos="68000">
                <a:srgbClr val="FFC000"/>
              </a:gs>
              <a:gs pos="100000">
                <a:srgbClr val="C00000"/>
              </a:gs>
              <a:gs pos="86000">
                <a:srgbClr val="FF0000"/>
              </a:gs>
            </a:gsLst>
            <a:lin ang="0" scaled="1"/>
            <a:tileRect/>
          </a:gradFill>
          <a:ln>
            <a:solidFill>
              <a:schemeClr val="tx1"/>
            </a:solidFill>
            <a:extLst>
              <a:ext uri="{C807C97D-BFC1-408E-A445-0C87EB9F89A2}">
                <ask:lineSketchStyleProps xmlns:ask="http://schemas.microsoft.com/office/drawing/2018/sketchyshapes" sd="1903079504">
                  <a:custGeom>
                    <a:avLst/>
                    <a:gdLst>
                      <a:gd name="connsiteX0" fmla="*/ 0 w 10992897"/>
                      <a:gd name="connsiteY0" fmla="*/ 2713055 h 2713055"/>
                      <a:gd name="connsiteX1" fmla="*/ 10992897 w 10992897"/>
                      <a:gd name="connsiteY1" fmla="*/ 2713055 h 2713055"/>
                      <a:gd name="connsiteX2" fmla="*/ 10992897 w 10992897"/>
                      <a:gd name="connsiteY2" fmla="*/ 0 h 2713055"/>
                      <a:gd name="connsiteX3" fmla="*/ 9314822 w 10992897"/>
                      <a:gd name="connsiteY3" fmla="*/ 1085222 h 2713055"/>
                      <a:gd name="connsiteX4" fmla="*/ 6782637 w 10992897"/>
                      <a:gd name="connsiteY4" fmla="*/ 1868993 h 2713055"/>
                      <a:gd name="connsiteX5" fmla="*/ 3285811 w 10992897"/>
                      <a:gd name="connsiteY5" fmla="*/ 2502040 h 2713055"/>
                      <a:gd name="connsiteX6" fmla="*/ 0 w 10992897"/>
                      <a:gd name="connsiteY6" fmla="*/ 2713055 h 2713055"/>
                      <a:gd name="connsiteX0" fmla="*/ 0 w 10992897"/>
                      <a:gd name="connsiteY0" fmla="*/ 3641032 h 3641032"/>
                      <a:gd name="connsiteX1" fmla="*/ 10992897 w 10992897"/>
                      <a:gd name="connsiteY1" fmla="*/ 3641032 h 3641032"/>
                      <a:gd name="connsiteX2" fmla="*/ 10992897 w 10992897"/>
                      <a:gd name="connsiteY2" fmla="*/ 0 h 3641032"/>
                      <a:gd name="connsiteX3" fmla="*/ 9314822 w 10992897"/>
                      <a:gd name="connsiteY3" fmla="*/ 2013199 h 3641032"/>
                      <a:gd name="connsiteX4" fmla="*/ 6782637 w 10992897"/>
                      <a:gd name="connsiteY4" fmla="*/ 279697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62422 w 10992897"/>
                      <a:gd name="connsiteY3" fmla="*/ 2149001 h 3641032"/>
                      <a:gd name="connsiteX4" fmla="*/ 6782637 w 10992897"/>
                      <a:gd name="connsiteY4" fmla="*/ 279697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62422 w 10992897"/>
                      <a:gd name="connsiteY3" fmla="*/ 2149001 h 3641032"/>
                      <a:gd name="connsiteX4" fmla="*/ 6287337 w 10992897"/>
                      <a:gd name="connsiteY4" fmla="*/ 304594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62422 w 10992897"/>
                      <a:gd name="connsiteY3" fmla="*/ 2081101 h 3641032"/>
                      <a:gd name="connsiteX4" fmla="*/ 6287337 w 10992897"/>
                      <a:gd name="connsiteY4" fmla="*/ 304594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37022 w 10992897"/>
                      <a:gd name="connsiteY3" fmla="*/ 1922666 h 3641032"/>
                      <a:gd name="connsiteX4" fmla="*/ 6287337 w 10992897"/>
                      <a:gd name="connsiteY4" fmla="*/ 304594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37022 w 10992897"/>
                      <a:gd name="connsiteY3" fmla="*/ 1922666 h 3641032"/>
                      <a:gd name="connsiteX4" fmla="*/ 6185737 w 10992897"/>
                      <a:gd name="connsiteY4" fmla="*/ 2932772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37022 w 10992897"/>
                      <a:gd name="connsiteY3" fmla="*/ 1922666 h 3641032"/>
                      <a:gd name="connsiteX4" fmla="*/ 6185737 w 10992897"/>
                      <a:gd name="connsiteY4" fmla="*/ 2932772 h 3641032"/>
                      <a:gd name="connsiteX5" fmla="*/ 3209611 w 10992897"/>
                      <a:gd name="connsiteY5" fmla="*/ 3362116 h 3641032"/>
                      <a:gd name="connsiteX6" fmla="*/ 0 w 10992897"/>
                      <a:gd name="connsiteY6" fmla="*/ 3641032 h 3641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92897" h="3641032">
                        <a:moveTo>
                          <a:pt x="0" y="3641032"/>
                        </a:moveTo>
                        <a:lnTo>
                          <a:pt x="10992897" y="3641032"/>
                        </a:lnTo>
                        <a:lnTo>
                          <a:pt x="10992897" y="0"/>
                        </a:lnTo>
                        <a:lnTo>
                          <a:pt x="9137022" y="1922666"/>
                        </a:lnTo>
                        <a:lnTo>
                          <a:pt x="6185737" y="2932772"/>
                        </a:lnTo>
                        <a:lnTo>
                          <a:pt x="3209611" y="3362116"/>
                        </a:lnTo>
                        <a:lnTo>
                          <a:pt x="0" y="3641032"/>
                        </a:lnTo>
                        <a:close/>
                      </a:path>
                    </a:pathLst>
                  </a:cu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TextBox 10">
            <a:extLst>
              <a:ext uri="{FF2B5EF4-FFF2-40B4-BE49-F238E27FC236}">
                <a16:creationId xmlns:a16="http://schemas.microsoft.com/office/drawing/2014/main" id="{685A79BF-0F81-648B-7B5B-1D4F0DDC63A8}"/>
              </a:ext>
            </a:extLst>
          </p:cNvPr>
          <p:cNvSpPr txBox="1"/>
          <p:nvPr/>
        </p:nvSpPr>
        <p:spPr>
          <a:xfrm>
            <a:off x="242887" y="5472211"/>
            <a:ext cx="2565865" cy="263086"/>
          </a:xfrm>
          <a:prstGeom prst="rect">
            <a:avLst/>
          </a:prstGeom>
          <a:noFill/>
        </p:spPr>
        <p:txBody>
          <a:bodyPr wrap="none" lIns="45720" rIns="45720" rtlCol="0">
            <a:noAutofit/>
          </a:bodyPr>
          <a:lstStyle/>
          <a:p>
            <a:endParaRPr lang="en-US" sz="1400" b="1"/>
          </a:p>
        </p:txBody>
      </p:sp>
      <p:pic>
        <p:nvPicPr>
          <p:cNvPr id="15" name="Picture 14">
            <a:extLst>
              <a:ext uri="{FF2B5EF4-FFF2-40B4-BE49-F238E27FC236}">
                <a16:creationId xmlns:a16="http://schemas.microsoft.com/office/drawing/2014/main" id="{7191DAB3-E371-F470-AF49-D90355579B91}"/>
              </a:ext>
            </a:extLst>
          </p:cNvPr>
          <p:cNvPicPr>
            <a:picLocks noChangeAspect="1"/>
          </p:cNvPicPr>
          <p:nvPr/>
        </p:nvPicPr>
        <p:blipFill>
          <a:blip r:embed="rId2"/>
          <a:stretch>
            <a:fillRect/>
          </a:stretch>
        </p:blipFill>
        <p:spPr>
          <a:xfrm>
            <a:off x="4673689" y="565484"/>
            <a:ext cx="3893162" cy="3880977"/>
          </a:xfrm>
          <a:prstGeom prst="rect">
            <a:avLst/>
          </a:prstGeom>
          <a:ln>
            <a:solidFill>
              <a:srgbClr val="FFC000"/>
            </a:solidFill>
          </a:ln>
        </p:spPr>
      </p:pic>
      <p:sp>
        <p:nvSpPr>
          <p:cNvPr id="20" name="Callout: Line with Border and Accent Bar 19">
            <a:extLst>
              <a:ext uri="{FF2B5EF4-FFF2-40B4-BE49-F238E27FC236}">
                <a16:creationId xmlns:a16="http://schemas.microsoft.com/office/drawing/2014/main" id="{227BC446-6084-A187-70B4-22530AE63263}"/>
              </a:ext>
            </a:extLst>
          </p:cNvPr>
          <p:cNvSpPr/>
          <p:nvPr/>
        </p:nvSpPr>
        <p:spPr>
          <a:xfrm>
            <a:off x="1491172" y="4969261"/>
            <a:ext cx="1504163" cy="568120"/>
          </a:xfrm>
          <a:prstGeom prst="accentBorderCallout1">
            <a:avLst>
              <a:gd name="adj1" fmla="val 18750"/>
              <a:gd name="adj2" fmla="val -8333"/>
              <a:gd name="adj3" fmla="val 192976"/>
              <a:gd name="adj4" fmla="val -341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accent2"/>
                </a:solidFill>
              </a:rPr>
              <a:t>Excel, structured-rectangular</a:t>
            </a:r>
          </a:p>
        </p:txBody>
      </p:sp>
      <p:sp>
        <p:nvSpPr>
          <p:cNvPr id="21" name="Callout: Line with Border and Accent Bar 20">
            <a:extLst>
              <a:ext uri="{FF2B5EF4-FFF2-40B4-BE49-F238E27FC236}">
                <a16:creationId xmlns:a16="http://schemas.microsoft.com/office/drawing/2014/main" id="{C0B23D24-407C-FBEE-267A-9D373B2B2F4C}"/>
              </a:ext>
            </a:extLst>
          </p:cNvPr>
          <p:cNvSpPr/>
          <p:nvPr/>
        </p:nvSpPr>
        <p:spPr>
          <a:xfrm>
            <a:off x="3778852" y="4508597"/>
            <a:ext cx="1597762" cy="568120"/>
          </a:xfrm>
          <a:prstGeom prst="accentBorderCallout1">
            <a:avLst>
              <a:gd name="adj1" fmla="val 65694"/>
              <a:gd name="adj2" fmla="val 106127"/>
              <a:gd name="adj3" fmla="val 172857"/>
              <a:gd name="adj4" fmla="val 12476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accent2"/>
                </a:solidFill>
              </a:rPr>
              <a:t>Plain-text, semi-structured</a:t>
            </a:r>
          </a:p>
        </p:txBody>
      </p:sp>
      <p:sp>
        <p:nvSpPr>
          <p:cNvPr id="22" name="Callout: Line with Border and Accent Bar 21">
            <a:extLst>
              <a:ext uri="{FF2B5EF4-FFF2-40B4-BE49-F238E27FC236}">
                <a16:creationId xmlns:a16="http://schemas.microsoft.com/office/drawing/2014/main" id="{2B258020-5D41-31BF-43CA-BABD97815120}"/>
              </a:ext>
            </a:extLst>
          </p:cNvPr>
          <p:cNvSpPr/>
          <p:nvPr/>
        </p:nvSpPr>
        <p:spPr>
          <a:xfrm>
            <a:off x="6004701" y="4470857"/>
            <a:ext cx="920820" cy="339183"/>
          </a:xfrm>
          <a:prstGeom prst="accentBorderCallout1">
            <a:avLst>
              <a:gd name="adj1" fmla="val 65694"/>
              <a:gd name="adj2" fmla="val 106127"/>
              <a:gd name="adj3" fmla="val 150391"/>
              <a:gd name="adj4" fmla="val 207518"/>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accent2"/>
                </a:solidFill>
              </a:rPr>
              <a:t>PDF text</a:t>
            </a:r>
          </a:p>
        </p:txBody>
      </p:sp>
      <p:sp>
        <p:nvSpPr>
          <p:cNvPr id="4" name="TextBox 3">
            <a:extLst>
              <a:ext uri="{FF2B5EF4-FFF2-40B4-BE49-F238E27FC236}">
                <a16:creationId xmlns:a16="http://schemas.microsoft.com/office/drawing/2014/main" id="{4D69B339-8C7F-2980-68F6-C139760C5FD9}"/>
              </a:ext>
            </a:extLst>
          </p:cNvPr>
          <p:cNvSpPr txBox="1"/>
          <p:nvPr/>
        </p:nvSpPr>
        <p:spPr>
          <a:xfrm>
            <a:off x="1744578" y="6139600"/>
            <a:ext cx="685800" cy="339183"/>
          </a:xfrm>
          <a:prstGeom prst="rect">
            <a:avLst/>
          </a:prstGeom>
          <a:noFill/>
        </p:spPr>
        <p:txBody>
          <a:bodyPr wrap="none" lIns="45720" rIns="45720" rtlCol="0">
            <a:noAutofit/>
          </a:bodyPr>
          <a:lstStyle/>
          <a:p>
            <a:r>
              <a:rPr lang="en-US" sz="2800" b="1"/>
              <a:t>EASY</a:t>
            </a:r>
          </a:p>
        </p:txBody>
      </p:sp>
      <p:sp>
        <p:nvSpPr>
          <p:cNvPr id="5" name="TextBox 4">
            <a:extLst>
              <a:ext uri="{FF2B5EF4-FFF2-40B4-BE49-F238E27FC236}">
                <a16:creationId xmlns:a16="http://schemas.microsoft.com/office/drawing/2014/main" id="{1D79DEF1-BD06-A7B8-2B44-815CDF1C6B68}"/>
              </a:ext>
            </a:extLst>
          </p:cNvPr>
          <p:cNvSpPr txBox="1"/>
          <p:nvPr/>
        </p:nvSpPr>
        <p:spPr>
          <a:xfrm>
            <a:off x="6925521" y="6120288"/>
            <a:ext cx="685800" cy="339183"/>
          </a:xfrm>
          <a:prstGeom prst="rect">
            <a:avLst/>
          </a:prstGeom>
          <a:noFill/>
        </p:spPr>
        <p:txBody>
          <a:bodyPr wrap="none" lIns="45720" rIns="45720" rtlCol="0">
            <a:noAutofit/>
          </a:bodyPr>
          <a:lstStyle/>
          <a:p>
            <a:r>
              <a:rPr lang="en-US" sz="2800" b="1"/>
              <a:t>HARD</a:t>
            </a:r>
          </a:p>
        </p:txBody>
      </p:sp>
      <p:sp>
        <p:nvSpPr>
          <p:cNvPr id="6" name="TextBox 5">
            <a:extLst>
              <a:ext uri="{FF2B5EF4-FFF2-40B4-BE49-F238E27FC236}">
                <a16:creationId xmlns:a16="http://schemas.microsoft.com/office/drawing/2014/main" id="{0F45EEFE-8B9B-7938-3821-08F726218D29}"/>
              </a:ext>
            </a:extLst>
          </p:cNvPr>
          <p:cNvSpPr txBox="1"/>
          <p:nvPr/>
        </p:nvSpPr>
        <p:spPr>
          <a:xfrm>
            <a:off x="9717057" y="6120288"/>
            <a:ext cx="1416165" cy="339183"/>
          </a:xfrm>
          <a:prstGeom prst="rect">
            <a:avLst/>
          </a:prstGeom>
          <a:noFill/>
        </p:spPr>
        <p:txBody>
          <a:bodyPr wrap="none" lIns="45720" rIns="45720" rtlCol="0">
            <a:noAutofit/>
          </a:bodyPr>
          <a:lstStyle/>
          <a:p>
            <a:r>
              <a:rPr lang="en-US" sz="2800" b="1"/>
              <a:t>FORGET IT</a:t>
            </a:r>
          </a:p>
        </p:txBody>
      </p:sp>
      <p:sp>
        <p:nvSpPr>
          <p:cNvPr id="12" name="Title 11">
            <a:extLst>
              <a:ext uri="{FF2B5EF4-FFF2-40B4-BE49-F238E27FC236}">
                <a16:creationId xmlns:a16="http://schemas.microsoft.com/office/drawing/2014/main" id="{59B166EC-D5B2-ACCC-D724-91BA2D36C542}"/>
              </a:ext>
            </a:extLst>
          </p:cNvPr>
          <p:cNvSpPr txBox="1">
            <a:spLocks noGrp="1"/>
          </p:cNvSpPr>
          <p:nvPr>
            <p:ph type="title"/>
          </p:nvPr>
        </p:nvSpPr>
        <p:spPr>
          <a:prstGeom prst="rect">
            <a:avLst/>
          </a:prstGeom>
          <a:noFill/>
        </p:spPr>
        <p:txBody>
          <a:bodyPr wrap="square" lIns="45720" rIns="45720" anchor="t">
            <a:spAutoFit/>
          </a:bodyPr>
          <a:lstStyle/>
          <a:p>
            <a:pPr algn="l"/>
            <a:r>
              <a:rPr lang="en-US" sz="3200" b="1" dirty="0">
                <a:solidFill>
                  <a:srgbClr val="1E2761"/>
                </a:solidFill>
                <a:latin typeface="Cambria"/>
              </a:rPr>
              <a:t>Structured-ness affects ease of use</a:t>
            </a:r>
            <a:endParaRPr sz="3200" b="1" i="0" dirty="0">
              <a:solidFill>
                <a:srgbClr val="1E2761"/>
              </a:solidFill>
              <a:latin typeface="Cambria"/>
            </a:endParaRPr>
          </a:p>
        </p:txBody>
      </p:sp>
    </p:spTree>
    <p:extLst>
      <p:ext uri="{BB962C8B-B14F-4D97-AF65-F5344CB8AC3E}">
        <p14:creationId xmlns:p14="http://schemas.microsoft.com/office/powerpoint/2010/main" val="3445817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2FE181A-79B8-F2A8-522B-77CE6ECCF601}"/>
              </a:ext>
            </a:extLst>
          </p:cNvPr>
          <p:cNvSpPr/>
          <p:nvPr/>
        </p:nvSpPr>
        <p:spPr>
          <a:xfrm>
            <a:off x="508253" y="36513"/>
            <a:ext cx="10992897" cy="6129095"/>
          </a:xfrm>
          <a:custGeom>
            <a:avLst/>
            <a:gdLst>
              <a:gd name="csX0" fmla="*/ 0 w 10992897"/>
              <a:gd name="csY0" fmla="*/ 6129095 h 6129095"/>
              <a:gd name="csX1" fmla="*/ 248787 w 10992897"/>
              <a:gd name="csY1" fmla="*/ 6129095 h 6129095"/>
              <a:gd name="csX2" fmla="*/ 717431 w 10992897"/>
              <a:gd name="csY2" fmla="*/ 6129095 h 6129095"/>
              <a:gd name="csX3" fmla="*/ 1076147 w 10992897"/>
              <a:gd name="csY3" fmla="*/ 6129095 h 6129095"/>
              <a:gd name="csX4" fmla="*/ 1654720 w 10992897"/>
              <a:gd name="csY4" fmla="*/ 6129095 h 6129095"/>
              <a:gd name="csX5" fmla="*/ 2123365 w 10992897"/>
              <a:gd name="csY5" fmla="*/ 6129095 h 6129095"/>
              <a:gd name="csX6" fmla="*/ 2592009 w 10992897"/>
              <a:gd name="csY6" fmla="*/ 6129095 h 6129095"/>
              <a:gd name="csX7" fmla="*/ 2950725 w 10992897"/>
              <a:gd name="csY7" fmla="*/ 6129095 h 6129095"/>
              <a:gd name="csX8" fmla="*/ 3639227 w 10992897"/>
              <a:gd name="csY8" fmla="*/ 6129095 h 6129095"/>
              <a:gd name="csX9" fmla="*/ 3997943 w 10992897"/>
              <a:gd name="csY9" fmla="*/ 6129095 h 6129095"/>
              <a:gd name="csX10" fmla="*/ 4576517 w 10992897"/>
              <a:gd name="csY10" fmla="*/ 6129095 h 6129095"/>
              <a:gd name="csX11" fmla="*/ 5265019 w 10992897"/>
              <a:gd name="csY11" fmla="*/ 6129095 h 6129095"/>
              <a:gd name="csX12" fmla="*/ 5513806 w 10992897"/>
              <a:gd name="csY12" fmla="*/ 6129095 h 6129095"/>
              <a:gd name="csX13" fmla="*/ 6092379 w 10992897"/>
              <a:gd name="csY13" fmla="*/ 6129095 h 6129095"/>
              <a:gd name="csX14" fmla="*/ 6780882 w 10992897"/>
              <a:gd name="csY14" fmla="*/ 6129095 h 6129095"/>
              <a:gd name="csX15" fmla="*/ 7139597 w 10992897"/>
              <a:gd name="csY15" fmla="*/ 6129095 h 6129095"/>
              <a:gd name="csX16" fmla="*/ 7718171 w 10992897"/>
              <a:gd name="csY16" fmla="*/ 6129095 h 6129095"/>
              <a:gd name="csX17" fmla="*/ 8516602 w 10992897"/>
              <a:gd name="csY17" fmla="*/ 6129095 h 6129095"/>
              <a:gd name="csX18" fmla="*/ 8985247 w 10992897"/>
              <a:gd name="csY18" fmla="*/ 6129095 h 6129095"/>
              <a:gd name="csX19" fmla="*/ 9234033 w 10992897"/>
              <a:gd name="csY19" fmla="*/ 6129095 h 6129095"/>
              <a:gd name="csX20" fmla="*/ 10032465 w 10992897"/>
              <a:gd name="csY20" fmla="*/ 6129095 h 6129095"/>
              <a:gd name="csX21" fmla="*/ 10992897 w 10992897"/>
              <a:gd name="csY21" fmla="*/ 6129095 h 6129095"/>
              <a:gd name="csX22" fmla="*/ 10992897 w 10992897"/>
              <a:gd name="csY22" fmla="*/ 5694486 h 6129095"/>
              <a:gd name="csX23" fmla="*/ 10992897 w 10992897"/>
              <a:gd name="csY23" fmla="*/ 5198587 h 6129095"/>
              <a:gd name="csX24" fmla="*/ 10992897 w 10992897"/>
              <a:gd name="csY24" fmla="*/ 4641396 h 6129095"/>
              <a:gd name="csX25" fmla="*/ 10992897 w 10992897"/>
              <a:gd name="csY25" fmla="*/ 4268079 h 6129095"/>
              <a:gd name="csX26" fmla="*/ 10992897 w 10992897"/>
              <a:gd name="csY26" fmla="*/ 3710888 h 6129095"/>
              <a:gd name="csX27" fmla="*/ 10992897 w 10992897"/>
              <a:gd name="csY27" fmla="*/ 3276280 h 6129095"/>
              <a:gd name="csX28" fmla="*/ 10992897 w 10992897"/>
              <a:gd name="csY28" fmla="*/ 2719089 h 6129095"/>
              <a:gd name="csX29" fmla="*/ 10992897 w 10992897"/>
              <a:gd name="csY29" fmla="*/ 2345772 h 6129095"/>
              <a:gd name="csX30" fmla="*/ 10992897 w 10992897"/>
              <a:gd name="csY30" fmla="*/ 1727290 h 6129095"/>
              <a:gd name="csX31" fmla="*/ 10992897 w 10992897"/>
              <a:gd name="csY31" fmla="*/ 1108809 h 6129095"/>
              <a:gd name="csX32" fmla="*/ 10992897 w 10992897"/>
              <a:gd name="csY32" fmla="*/ 551619 h 6129095"/>
              <a:gd name="csX33" fmla="*/ 10992897 w 10992897"/>
              <a:gd name="csY33" fmla="*/ 0 h 6129095"/>
              <a:gd name="csX34" fmla="*/ 10783448 w 10992897"/>
              <a:gd name="csY34" fmla="*/ 365262 h 6129095"/>
              <a:gd name="csX35" fmla="*/ 10499765 w 10992897"/>
              <a:gd name="csY35" fmla="*/ 859984 h 6129095"/>
              <a:gd name="csX36" fmla="*/ 10216081 w 10992897"/>
              <a:gd name="csY36" fmla="*/ 1354706 h 6129095"/>
              <a:gd name="csX37" fmla="*/ 9988073 w 10992897"/>
              <a:gd name="csY37" fmla="*/ 1752334 h 6129095"/>
              <a:gd name="csX38" fmla="*/ 9778625 w 10992897"/>
              <a:gd name="csY38" fmla="*/ 2117596 h 6129095"/>
              <a:gd name="csX39" fmla="*/ 9569176 w 10992897"/>
              <a:gd name="csY39" fmla="*/ 2482858 h 6129095"/>
              <a:gd name="csX40" fmla="*/ 9137022 w 10992897"/>
              <a:gd name="csY40" fmla="*/ 3236500 h 6129095"/>
              <a:gd name="csX41" fmla="*/ 8733680 w 10992897"/>
              <a:gd name="csY41" fmla="*/ 3468881 h 6129095"/>
              <a:gd name="csX42" fmla="*/ 8300825 w 10992897"/>
              <a:gd name="csY42" fmla="*/ 3718266 h 6129095"/>
              <a:gd name="csX43" fmla="*/ 7897482 w 10992897"/>
              <a:gd name="csY43" fmla="*/ 3950648 h 6129095"/>
              <a:gd name="csX44" fmla="*/ 7464627 w 10992897"/>
              <a:gd name="csY44" fmla="*/ 4200033 h 6129095"/>
              <a:gd name="csX45" fmla="*/ 7061285 w 10992897"/>
              <a:gd name="csY45" fmla="*/ 4432414 h 6129095"/>
              <a:gd name="csX46" fmla="*/ 6185737 w 10992897"/>
              <a:gd name="csY46" fmla="*/ 4936852 h 6129095"/>
              <a:gd name="csX47" fmla="*/ 5719477 w 10992897"/>
              <a:gd name="csY47" fmla="*/ 5050080 h 6129095"/>
              <a:gd name="csX48" fmla="*/ 5282979 w 10992897"/>
              <a:gd name="csY48" fmla="*/ 5156081 h 6129095"/>
              <a:gd name="csX49" fmla="*/ 4816719 w 10992897"/>
              <a:gd name="csY49" fmla="*/ 5269309 h 6129095"/>
              <a:gd name="csX50" fmla="*/ 4261176 w 10992897"/>
              <a:gd name="csY50" fmla="*/ 5404219 h 6129095"/>
              <a:gd name="csX51" fmla="*/ 3794916 w 10992897"/>
              <a:gd name="csY51" fmla="*/ 5517447 h 6129095"/>
              <a:gd name="csX52" fmla="*/ 3209611 w 10992897"/>
              <a:gd name="csY52" fmla="*/ 5659584 h 6129095"/>
              <a:gd name="csX53" fmla="*/ 2738868 w 10992897"/>
              <a:gd name="csY53" fmla="*/ 5728446 h 6129095"/>
              <a:gd name="csX54" fmla="*/ 2300221 w 10992897"/>
              <a:gd name="csY54" fmla="*/ 5792612 h 6129095"/>
              <a:gd name="csX55" fmla="*/ 1829478 w 10992897"/>
              <a:gd name="csY55" fmla="*/ 5861474 h 6129095"/>
              <a:gd name="csX56" fmla="*/ 1294543 w 10992897"/>
              <a:gd name="csY56" fmla="*/ 5939726 h 6129095"/>
              <a:gd name="csX57" fmla="*/ 855896 w 10992897"/>
              <a:gd name="csY57" fmla="*/ 6003892 h 6129095"/>
              <a:gd name="csX58" fmla="*/ 0 w 10992897"/>
              <a:gd name="csY58" fmla="*/ 6129095 h 61290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Lst>
            <a:rect l="l" t="t" r="r" b="b"/>
            <a:pathLst>
              <a:path w="10992897" h="6129095" fill="none" extrusionOk="0">
                <a:moveTo>
                  <a:pt x="0" y="6129095"/>
                </a:moveTo>
                <a:cubicBezTo>
                  <a:pt x="86905" y="6113665"/>
                  <a:pt x="148714" y="6134731"/>
                  <a:pt x="248787" y="6129095"/>
                </a:cubicBezTo>
                <a:cubicBezTo>
                  <a:pt x="348860" y="6123459"/>
                  <a:pt x="560954" y="6152660"/>
                  <a:pt x="717431" y="6129095"/>
                </a:cubicBezTo>
                <a:cubicBezTo>
                  <a:pt x="873908" y="6105530"/>
                  <a:pt x="936261" y="6156920"/>
                  <a:pt x="1076147" y="6129095"/>
                </a:cubicBezTo>
                <a:cubicBezTo>
                  <a:pt x="1216033" y="6101270"/>
                  <a:pt x="1518755" y="6178459"/>
                  <a:pt x="1654720" y="6129095"/>
                </a:cubicBezTo>
                <a:cubicBezTo>
                  <a:pt x="1790685" y="6079731"/>
                  <a:pt x="1915620" y="6169178"/>
                  <a:pt x="2123365" y="6129095"/>
                </a:cubicBezTo>
                <a:cubicBezTo>
                  <a:pt x="2331110" y="6089012"/>
                  <a:pt x="2474360" y="6165915"/>
                  <a:pt x="2592009" y="6129095"/>
                </a:cubicBezTo>
                <a:cubicBezTo>
                  <a:pt x="2709658" y="6092275"/>
                  <a:pt x="2819468" y="6161994"/>
                  <a:pt x="2950725" y="6129095"/>
                </a:cubicBezTo>
                <a:cubicBezTo>
                  <a:pt x="3081982" y="6096196"/>
                  <a:pt x="3411513" y="6152387"/>
                  <a:pt x="3639227" y="6129095"/>
                </a:cubicBezTo>
                <a:cubicBezTo>
                  <a:pt x="3866941" y="6105803"/>
                  <a:pt x="3862989" y="6137602"/>
                  <a:pt x="3997943" y="6129095"/>
                </a:cubicBezTo>
                <a:cubicBezTo>
                  <a:pt x="4132897" y="6120588"/>
                  <a:pt x="4458049" y="6171758"/>
                  <a:pt x="4576517" y="6129095"/>
                </a:cubicBezTo>
                <a:cubicBezTo>
                  <a:pt x="4694985" y="6086432"/>
                  <a:pt x="5057550" y="6171664"/>
                  <a:pt x="5265019" y="6129095"/>
                </a:cubicBezTo>
                <a:cubicBezTo>
                  <a:pt x="5472488" y="6086526"/>
                  <a:pt x="5436179" y="6157184"/>
                  <a:pt x="5513806" y="6129095"/>
                </a:cubicBezTo>
                <a:cubicBezTo>
                  <a:pt x="5591433" y="6101006"/>
                  <a:pt x="5885898" y="6139252"/>
                  <a:pt x="6092379" y="6129095"/>
                </a:cubicBezTo>
                <a:cubicBezTo>
                  <a:pt x="6298860" y="6118938"/>
                  <a:pt x="6621763" y="6159152"/>
                  <a:pt x="6780882" y="6129095"/>
                </a:cubicBezTo>
                <a:cubicBezTo>
                  <a:pt x="6940001" y="6099038"/>
                  <a:pt x="6995701" y="6150018"/>
                  <a:pt x="7139597" y="6129095"/>
                </a:cubicBezTo>
                <a:cubicBezTo>
                  <a:pt x="7283494" y="6108172"/>
                  <a:pt x="7440548" y="6172772"/>
                  <a:pt x="7718171" y="6129095"/>
                </a:cubicBezTo>
                <a:cubicBezTo>
                  <a:pt x="7995794" y="6085418"/>
                  <a:pt x="8264136" y="6223169"/>
                  <a:pt x="8516602" y="6129095"/>
                </a:cubicBezTo>
                <a:cubicBezTo>
                  <a:pt x="8769068" y="6035021"/>
                  <a:pt x="8779028" y="6171664"/>
                  <a:pt x="8985247" y="6129095"/>
                </a:cubicBezTo>
                <a:cubicBezTo>
                  <a:pt x="9191467" y="6086526"/>
                  <a:pt x="9164677" y="6157325"/>
                  <a:pt x="9234033" y="6129095"/>
                </a:cubicBezTo>
                <a:cubicBezTo>
                  <a:pt x="9303389" y="6100865"/>
                  <a:pt x="9754936" y="6176189"/>
                  <a:pt x="10032465" y="6129095"/>
                </a:cubicBezTo>
                <a:cubicBezTo>
                  <a:pt x="10309994" y="6082001"/>
                  <a:pt x="10744714" y="6175845"/>
                  <a:pt x="10992897" y="6129095"/>
                </a:cubicBezTo>
                <a:cubicBezTo>
                  <a:pt x="10944447" y="5999930"/>
                  <a:pt x="11038730" y="5849963"/>
                  <a:pt x="10992897" y="5694486"/>
                </a:cubicBezTo>
                <a:cubicBezTo>
                  <a:pt x="10947064" y="5539009"/>
                  <a:pt x="11025786" y="5364621"/>
                  <a:pt x="10992897" y="5198587"/>
                </a:cubicBezTo>
                <a:cubicBezTo>
                  <a:pt x="10960008" y="5032553"/>
                  <a:pt x="11051333" y="4848648"/>
                  <a:pt x="10992897" y="4641396"/>
                </a:cubicBezTo>
                <a:cubicBezTo>
                  <a:pt x="10934461" y="4434144"/>
                  <a:pt x="11018892" y="4448755"/>
                  <a:pt x="10992897" y="4268079"/>
                </a:cubicBezTo>
                <a:cubicBezTo>
                  <a:pt x="10966902" y="4087403"/>
                  <a:pt x="11012756" y="3849047"/>
                  <a:pt x="10992897" y="3710888"/>
                </a:cubicBezTo>
                <a:cubicBezTo>
                  <a:pt x="10973038" y="3572729"/>
                  <a:pt x="11031891" y="3439542"/>
                  <a:pt x="10992897" y="3276280"/>
                </a:cubicBezTo>
                <a:cubicBezTo>
                  <a:pt x="10953903" y="3113018"/>
                  <a:pt x="11003534" y="2994785"/>
                  <a:pt x="10992897" y="2719089"/>
                </a:cubicBezTo>
                <a:cubicBezTo>
                  <a:pt x="10982260" y="2443393"/>
                  <a:pt x="11014545" y="2468259"/>
                  <a:pt x="10992897" y="2345772"/>
                </a:cubicBezTo>
                <a:cubicBezTo>
                  <a:pt x="10971249" y="2223285"/>
                  <a:pt x="11005507" y="1908926"/>
                  <a:pt x="10992897" y="1727290"/>
                </a:cubicBezTo>
                <a:cubicBezTo>
                  <a:pt x="10980287" y="1545654"/>
                  <a:pt x="11008364" y="1255968"/>
                  <a:pt x="10992897" y="1108809"/>
                </a:cubicBezTo>
                <a:cubicBezTo>
                  <a:pt x="10977430" y="961650"/>
                  <a:pt x="11051702" y="714608"/>
                  <a:pt x="10992897" y="551619"/>
                </a:cubicBezTo>
                <a:cubicBezTo>
                  <a:pt x="10934092" y="388630"/>
                  <a:pt x="11013391" y="125606"/>
                  <a:pt x="10992897" y="0"/>
                </a:cubicBezTo>
                <a:cubicBezTo>
                  <a:pt x="10943890" y="118488"/>
                  <a:pt x="10830896" y="209650"/>
                  <a:pt x="10783448" y="365262"/>
                </a:cubicBezTo>
                <a:cubicBezTo>
                  <a:pt x="10736001" y="520874"/>
                  <a:pt x="10568216" y="640383"/>
                  <a:pt x="10499765" y="859984"/>
                </a:cubicBezTo>
                <a:cubicBezTo>
                  <a:pt x="10431314" y="1079585"/>
                  <a:pt x="10280014" y="1233542"/>
                  <a:pt x="10216081" y="1354706"/>
                </a:cubicBezTo>
                <a:cubicBezTo>
                  <a:pt x="10152148" y="1475870"/>
                  <a:pt x="10025152" y="1643897"/>
                  <a:pt x="9988073" y="1752334"/>
                </a:cubicBezTo>
                <a:cubicBezTo>
                  <a:pt x="9950994" y="1860771"/>
                  <a:pt x="9827762" y="1931833"/>
                  <a:pt x="9778625" y="2117596"/>
                </a:cubicBezTo>
                <a:cubicBezTo>
                  <a:pt x="9729487" y="2303359"/>
                  <a:pt x="9581090" y="2364994"/>
                  <a:pt x="9569176" y="2482858"/>
                </a:cubicBezTo>
                <a:cubicBezTo>
                  <a:pt x="9557262" y="2600722"/>
                  <a:pt x="9214492" y="3028348"/>
                  <a:pt x="9137022" y="3236500"/>
                </a:cubicBezTo>
                <a:cubicBezTo>
                  <a:pt x="8946987" y="3363624"/>
                  <a:pt x="8911189" y="3317257"/>
                  <a:pt x="8733680" y="3468881"/>
                </a:cubicBezTo>
                <a:cubicBezTo>
                  <a:pt x="8556171" y="3620505"/>
                  <a:pt x="8392928" y="3638116"/>
                  <a:pt x="8300825" y="3718266"/>
                </a:cubicBezTo>
                <a:cubicBezTo>
                  <a:pt x="8208722" y="3798416"/>
                  <a:pt x="8033357" y="3831574"/>
                  <a:pt x="7897482" y="3950648"/>
                </a:cubicBezTo>
                <a:cubicBezTo>
                  <a:pt x="7761607" y="4069722"/>
                  <a:pt x="7651312" y="4072790"/>
                  <a:pt x="7464627" y="4200033"/>
                </a:cubicBezTo>
                <a:cubicBezTo>
                  <a:pt x="7277942" y="4327276"/>
                  <a:pt x="7178365" y="4321700"/>
                  <a:pt x="7061285" y="4432414"/>
                </a:cubicBezTo>
                <a:cubicBezTo>
                  <a:pt x="6944205" y="4543128"/>
                  <a:pt x="6401314" y="4792595"/>
                  <a:pt x="6185737" y="4936852"/>
                </a:cubicBezTo>
                <a:cubicBezTo>
                  <a:pt x="6096081" y="4979810"/>
                  <a:pt x="5865473" y="5006446"/>
                  <a:pt x="5719477" y="5050080"/>
                </a:cubicBezTo>
                <a:cubicBezTo>
                  <a:pt x="5573481" y="5093714"/>
                  <a:pt x="5485785" y="5095577"/>
                  <a:pt x="5282979" y="5156081"/>
                </a:cubicBezTo>
                <a:cubicBezTo>
                  <a:pt x="5080173" y="5216585"/>
                  <a:pt x="5037453" y="5197090"/>
                  <a:pt x="4816719" y="5269309"/>
                </a:cubicBezTo>
                <a:cubicBezTo>
                  <a:pt x="4595985" y="5341528"/>
                  <a:pt x="4399892" y="5317788"/>
                  <a:pt x="4261176" y="5404219"/>
                </a:cubicBezTo>
                <a:cubicBezTo>
                  <a:pt x="4122460" y="5490650"/>
                  <a:pt x="3937651" y="5437627"/>
                  <a:pt x="3794916" y="5517447"/>
                </a:cubicBezTo>
                <a:cubicBezTo>
                  <a:pt x="3652181" y="5597266"/>
                  <a:pt x="3357334" y="5561012"/>
                  <a:pt x="3209611" y="5659584"/>
                </a:cubicBezTo>
                <a:cubicBezTo>
                  <a:pt x="2987347" y="5735430"/>
                  <a:pt x="2859146" y="5663839"/>
                  <a:pt x="2738868" y="5728446"/>
                </a:cubicBezTo>
                <a:cubicBezTo>
                  <a:pt x="2618590" y="5793052"/>
                  <a:pt x="2426117" y="5772288"/>
                  <a:pt x="2300221" y="5792612"/>
                </a:cubicBezTo>
                <a:cubicBezTo>
                  <a:pt x="2174325" y="5812936"/>
                  <a:pt x="1931579" y="5843584"/>
                  <a:pt x="1829478" y="5861474"/>
                </a:cubicBezTo>
                <a:cubicBezTo>
                  <a:pt x="1727377" y="5879364"/>
                  <a:pt x="1546773" y="5850887"/>
                  <a:pt x="1294543" y="5939726"/>
                </a:cubicBezTo>
                <a:cubicBezTo>
                  <a:pt x="1042313" y="6028565"/>
                  <a:pt x="1037823" y="5950235"/>
                  <a:pt x="855896" y="6003892"/>
                </a:cubicBezTo>
                <a:cubicBezTo>
                  <a:pt x="673969" y="6057550"/>
                  <a:pt x="372366" y="5984777"/>
                  <a:pt x="0" y="6129095"/>
                </a:cubicBezTo>
                <a:close/>
              </a:path>
              <a:path w="10992897" h="6129095" stroke="0" extrusionOk="0">
                <a:moveTo>
                  <a:pt x="0" y="6129095"/>
                </a:moveTo>
                <a:cubicBezTo>
                  <a:pt x="172289" y="6104950"/>
                  <a:pt x="457581" y="6190487"/>
                  <a:pt x="688502" y="6129095"/>
                </a:cubicBezTo>
                <a:cubicBezTo>
                  <a:pt x="919423" y="6067703"/>
                  <a:pt x="1172849" y="6200165"/>
                  <a:pt x="1486934" y="6129095"/>
                </a:cubicBezTo>
                <a:cubicBezTo>
                  <a:pt x="1801019" y="6058025"/>
                  <a:pt x="1951964" y="6186975"/>
                  <a:pt x="2285365" y="6129095"/>
                </a:cubicBezTo>
                <a:cubicBezTo>
                  <a:pt x="2618766" y="6071215"/>
                  <a:pt x="2421182" y="6133863"/>
                  <a:pt x="2534152" y="6129095"/>
                </a:cubicBezTo>
                <a:cubicBezTo>
                  <a:pt x="2647122" y="6124327"/>
                  <a:pt x="2782198" y="6132331"/>
                  <a:pt x="2892868" y="6129095"/>
                </a:cubicBezTo>
                <a:cubicBezTo>
                  <a:pt x="3003538" y="6125859"/>
                  <a:pt x="3318442" y="6187586"/>
                  <a:pt x="3471441" y="6129095"/>
                </a:cubicBezTo>
                <a:cubicBezTo>
                  <a:pt x="3624440" y="6070604"/>
                  <a:pt x="3693419" y="6132356"/>
                  <a:pt x="3830157" y="6129095"/>
                </a:cubicBezTo>
                <a:cubicBezTo>
                  <a:pt x="3966895" y="6125834"/>
                  <a:pt x="4435117" y="6196321"/>
                  <a:pt x="4628588" y="6129095"/>
                </a:cubicBezTo>
                <a:cubicBezTo>
                  <a:pt x="4822059" y="6061869"/>
                  <a:pt x="4968774" y="6179213"/>
                  <a:pt x="5097233" y="6129095"/>
                </a:cubicBezTo>
                <a:cubicBezTo>
                  <a:pt x="5225693" y="6078977"/>
                  <a:pt x="5244573" y="6157860"/>
                  <a:pt x="5346019" y="6129095"/>
                </a:cubicBezTo>
                <a:cubicBezTo>
                  <a:pt x="5447465" y="6100330"/>
                  <a:pt x="5705712" y="6163674"/>
                  <a:pt x="5814664" y="6129095"/>
                </a:cubicBezTo>
                <a:cubicBezTo>
                  <a:pt x="5923617" y="6094516"/>
                  <a:pt x="5985423" y="6135640"/>
                  <a:pt x="6063451" y="6129095"/>
                </a:cubicBezTo>
                <a:cubicBezTo>
                  <a:pt x="6141479" y="6122550"/>
                  <a:pt x="6290149" y="6133808"/>
                  <a:pt x="6422166" y="6129095"/>
                </a:cubicBezTo>
                <a:cubicBezTo>
                  <a:pt x="6554183" y="6124382"/>
                  <a:pt x="6723327" y="6179047"/>
                  <a:pt x="7000740" y="6129095"/>
                </a:cubicBezTo>
                <a:cubicBezTo>
                  <a:pt x="7278153" y="6079143"/>
                  <a:pt x="7155995" y="6143665"/>
                  <a:pt x="7249526" y="6129095"/>
                </a:cubicBezTo>
                <a:cubicBezTo>
                  <a:pt x="7343057" y="6114525"/>
                  <a:pt x="7411753" y="6150783"/>
                  <a:pt x="7498313" y="6129095"/>
                </a:cubicBezTo>
                <a:cubicBezTo>
                  <a:pt x="7584873" y="6107407"/>
                  <a:pt x="7842949" y="6172731"/>
                  <a:pt x="7966957" y="6129095"/>
                </a:cubicBezTo>
                <a:cubicBezTo>
                  <a:pt x="8090965" y="6085459"/>
                  <a:pt x="8313211" y="6184319"/>
                  <a:pt x="8545531" y="6129095"/>
                </a:cubicBezTo>
                <a:cubicBezTo>
                  <a:pt x="8777851" y="6073871"/>
                  <a:pt x="8916505" y="6146234"/>
                  <a:pt x="9124105" y="6129095"/>
                </a:cubicBezTo>
                <a:cubicBezTo>
                  <a:pt x="9331705" y="6111956"/>
                  <a:pt x="9631617" y="6147550"/>
                  <a:pt x="9812607" y="6129095"/>
                </a:cubicBezTo>
                <a:cubicBezTo>
                  <a:pt x="9993597" y="6110640"/>
                  <a:pt x="9947801" y="6146058"/>
                  <a:pt x="10061394" y="6129095"/>
                </a:cubicBezTo>
                <a:cubicBezTo>
                  <a:pt x="10174987" y="6112132"/>
                  <a:pt x="10800966" y="6203985"/>
                  <a:pt x="10992897" y="6129095"/>
                </a:cubicBezTo>
                <a:cubicBezTo>
                  <a:pt x="10940367" y="5975772"/>
                  <a:pt x="11018297" y="5599046"/>
                  <a:pt x="10992897" y="5449323"/>
                </a:cubicBezTo>
                <a:cubicBezTo>
                  <a:pt x="10967497" y="5299600"/>
                  <a:pt x="11067971" y="5029038"/>
                  <a:pt x="10992897" y="4769550"/>
                </a:cubicBezTo>
                <a:cubicBezTo>
                  <a:pt x="10917823" y="4510062"/>
                  <a:pt x="11062163" y="4384294"/>
                  <a:pt x="10992897" y="4089778"/>
                </a:cubicBezTo>
                <a:cubicBezTo>
                  <a:pt x="10923631" y="3795262"/>
                  <a:pt x="11059338" y="3713963"/>
                  <a:pt x="10992897" y="3532587"/>
                </a:cubicBezTo>
                <a:cubicBezTo>
                  <a:pt x="10926456" y="3351211"/>
                  <a:pt x="11014143" y="3128107"/>
                  <a:pt x="10992897" y="2852815"/>
                </a:cubicBezTo>
                <a:cubicBezTo>
                  <a:pt x="10971651" y="2577523"/>
                  <a:pt x="11007939" y="2330785"/>
                  <a:pt x="10992897" y="2173043"/>
                </a:cubicBezTo>
                <a:cubicBezTo>
                  <a:pt x="10977855" y="2015301"/>
                  <a:pt x="11004948" y="1831837"/>
                  <a:pt x="10992897" y="1493270"/>
                </a:cubicBezTo>
                <a:cubicBezTo>
                  <a:pt x="10980846" y="1154703"/>
                  <a:pt x="11002799" y="1274606"/>
                  <a:pt x="10992897" y="1058662"/>
                </a:cubicBezTo>
                <a:cubicBezTo>
                  <a:pt x="10982995" y="842718"/>
                  <a:pt x="11053589" y="659160"/>
                  <a:pt x="10992897" y="501471"/>
                </a:cubicBezTo>
                <a:cubicBezTo>
                  <a:pt x="10932205" y="343782"/>
                  <a:pt x="11004511" y="224072"/>
                  <a:pt x="10992897" y="0"/>
                </a:cubicBezTo>
                <a:cubicBezTo>
                  <a:pt x="10947154" y="166144"/>
                  <a:pt x="10847736" y="230708"/>
                  <a:pt x="10727772" y="462357"/>
                </a:cubicBezTo>
                <a:cubicBezTo>
                  <a:pt x="10607808" y="694006"/>
                  <a:pt x="10523754" y="734746"/>
                  <a:pt x="10499765" y="859984"/>
                </a:cubicBezTo>
                <a:cubicBezTo>
                  <a:pt x="10475776" y="985222"/>
                  <a:pt x="10268385" y="1167713"/>
                  <a:pt x="10197522" y="1387071"/>
                </a:cubicBezTo>
                <a:cubicBezTo>
                  <a:pt x="10126660" y="1606429"/>
                  <a:pt x="10014166" y="1612690"/>
                  <a:pt x="9969515" y="1784699"/>
                </a:cubicBezTo>
                <a:cubicBezTo>
                  <a:pt x="9924864" y="1956708"/>
                  <a:pt x="9795549" y="1985588"/>
                  <a:pt x="9741507" y="2182326"/>
                </a:cubicBezTo>
                <a:cubicBezTo>
                  <a:pt x="9687466" y="2379064"/>
                  <a:pt x="9552542" y="2491056"/>
                  <a:pt x="9513500" y="2579953"/>
                </a:cubicBezTo>
                <a:cubicBezTo>
                  <a:pt x="9474458" y="2668850"/>
                  <a:pt x="9230115" y="3047659"/>
                  <a:pt x="9137022" y="3236500"/>
                </a:cubicBezTo>
                <a:cubicBezTo>
                  <a:pt x="9021749" y="3310552"/>
                  <a:pt x="8780326" y="3438675"/>
                  <a:pt x="8615628" y="3536896"/>
                </a:cubicBezTo>
                <a:cubicBezTo>
                  <a:pt x="8450930" y="3635117"/>
                  <a:pt x="8332230" y="3699647"/>
                  <a:pt x="8123747" y="3820288"/>
                </a:cubicBezTo>
                <a:cubicBezTo>
                  <a:pt x="7915264" y="3940929"/>
                  <a:pt x="7864606" y="3959208"/>
                  <a:pt x="7690892" y="4069672"/>
                </a:cubicBezTo>
                <a:cubicBezTo>
                  <a:pt x="7517178" y="4180136"/>
                  <a:pt x="7406791" y="4191449"/>
                  <a:pt x="7258037" y="4319057"/>
                </a:cubicBezTo>
                <a:cubicBezTo>
                  <a:pt x="7109283" y="4446665"/>
                  <a:pt x="6932368" y="4437097"/>
                  <a:pt x="6766156" y="4602449"/>
                </a:cubicBezTo>
                <a:cubicBezTo>
                  <a:pt x="6599944" y="4767801"/>
                  <a:pt x="6400155" y="4772574"/>
                  <a:pt x="6185737" y="4936852"/>
                </a:cubicBezTo>
                <a:cubicBezTo>
                  <a:pt x="6003352" y="5017525"/>
                  <a:pt x="5895267" y="4955794"/>
                  <a:pt x="5779000" y="5035625"/>
                </a:cubicBezTo>
                <a:cubicBezTo>
                  <a:pt x="5662733" y="5115457"/>
                  <a:pt x="5446052" y="5066697"/>
                  <a:pt x="5372263" y="5134399"/>
                </a:cubicBezTo>
                <a:cubicBezTo>
                  <a:pt x="5298474" y="5202101"/>
                  <a:pt x="5073904" y="5165242"/>
                  <a:pt x="4876242" y="5254854"/>
                </a:cubicBezTo>
                <a:cubicBezTo>
                  <a:pt x="4678580" y="5344466"/>
                  <a:pt x="4625446" y="5282967"/>
                  <a:pt x="4469504" y="5353627"/>
                </a:cubicBezTo>
                <a:cubicBezTo>
                  <a:pt x="4313562" y="5424287"/>
                  <a:pt x="4156294" y="5388079"/>
                  <a:pt x="4062767" y="5452401"/>
                </a:cubicBezTo>
                <a:cubicBezTo>
                  <a:pt x="3969240" y="5516723"/>
                  <a:pt x="3521933" y="5478898"/>
                  <a:pt x="3209611" y="5659584"/>
                </a:cubicBezTo>
                <a:cubicBezTo>
                  <a:pt x="3024877" y="5757936"/>
                  <a:pt x="2763313" y="5684050"/>
                  <a:pt x="2610484" y="5747226"/>
                </a:cubicBezTo>
                <a:cubicBezTo>
                  <a:pt x="2457655" y="5810402"/>
                  <a:pt x="2327950" y="5742802"/>
                  <a:pt x="2139741" y="5816088"/>
                </a:cubicBezTo>
                <a:cubicBezTo>
                  <a:pt x="1951532" y="5889374"/>
                  <a:pt x="1798989" y="5858970"/>
                  <a:pt x="1572709" y="5899035"/>
                </a:cubicBezTo>
                <a:cubicBezTo>
                  <a:pt x="1346429" y="5939100"/>
                  <a:pt x="1222249" y="5890859"/>
                  <a:pt x="973582" y="5986677"/>
                </a:cubicBezTo>
                <a:cubicBezTo>
                  <a:pt x="724915" y="6082495"/>
                  <a:pt x="593757" y="5988494"/>
                  <a:pt x="470743" y="6060233"/>
                </a:cubicBezTo>
                <a:cubicBezTo>
                  <a:pt x="347729" y="6131972"/>
                  <a:pt x="103926" y="6056744"/>
                  <a:pt x="0" y="6129095"/>
                </a:cubicBezTo>
                <a:close/>
              </a:path>
            </a:pathLst>
          </a:custGeom>
          <a:gradFill flip="none" rotWithShape="1">
            <a:gsLst>
              <a:gs pos="0">
                <a:srgbClr val="00B0F0"/>
              </a:gs>
              <a:gs pos="46000">
                <a:srgbClr val="FFFF00"/>
              </a:gs>
              <a:gs pos="23000">
                <a:srgbClr val="00B050"/>
              </a:gs>
              <a:gs pos="68000">
                <a:srgbClr val="FFC000"/>
              </a:gs>
              <a:gs pos="100000">
                <a:srgbClr val="C00000"/>
              </a:gs>
              <a:gs pos="86000">
                <a:srgbClr val="FF0000"/>
              </a:gs>
            </a:gsLst>
            <a:lin ang="0" scaled="1"/>
            <a:tileRect/>
          </a:gradFill>
          <a:ln>
            <a:solidFill>
              <a:schemeClr val="tx1"/>
            </a:solidFill>
            <a:extLst>
              <a:ext uri="{C807C97D-BFC1-408E-A445-0C87EB9F89A2}">
                <ask:lineSketchStyleProps xmlns:ask="http://schemas.microsoft.com/office/drawing/2018/sketchyshapes" sd="1903079504">
                  <a:custGeom>
                    <a:avLst/>
                    <a:gdLst>
                      <a:gd name="connsiteX0" fmla="*/ 0 w 10992897"/>
                      <a:gd name="connsiteY0" fmla="*/ 2713055 h 2713055"/>
                      <a:gd name="connsiteX1" fmla="*/ 10992897 w 10992897"/>
                      <a:gd name="connsiteY1" fmla="*/ 2713055 h 2713055"/>
                      <a:gd name="connsiteX2" fmla="*/ 10992897 w 10992897"/>
                      <a:gd name="connsiteY2" fmla="*/ 0 h 2713055"/>
                      <a:gd name="connsiteX3" fmla="*/ 9314822 w 10992897"/>
                      <a:gd name="connsiteY3" fmla="*/ 1085222 h 2713055"/>
                      <a:gd name="connsiteX4" fmla="*/ 6782637 w 10992897"/>
                      <a:gd name="connsiteY4" fmla="*/ 1868993 h 2713055"/>
                      <a:gd name="connsiteX5" fmla="*/ 3285811 w 10992897"/>
                      <a:gd name="connsiteY5" fmla="*/ 2502040 h 2713055"/>
                      <a:gd name="connsiteX6" fmla="*/ 0 w 10992897"/>
                      <a:gd name="connsiteY6" fmla="*/ 2713055 h 2713055"/>
                      <a:gd name="connsiteX0" fmla="*/ 0 w 10992897"/>
                      <a:gd name="connsiteY0" fmla="*/ 3641032 h 3641032"/>
                      <a:gd name="connsiteX1" fmla="*/ 10992897 w 10992897"/>
                      <a:gd name="connsiteY1" fmla="*/ 3641032 h 3641032"/>
                      <a:gd name="connsiteX2" fmla="*/ 10992897 w 10992897"/>
                      <a:gd name="connsiteY2" fmla="*/ 0 h 3641032"/>
                      <a:gd name="connsiteX3" fmla="*/ 9314822 w 10992897"/>
                      <a:gd name="connsiteY3" fmla="*/ 2013199 h 3641032"/>
                      <a:gd name="connsiteX4" fmla="*/ 6782637 w 10992897"/>
                      <a:gd name="connsiteY4" fmla="*/ 279697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62422 w 10992897"/>
                      <a:gd name="connsiteY3" fmla="*/ 2149001 h 3641032"/>
                      <a:gd name="connsiteX4" fmla="*/ 6782637 w 10992897"/>
                      <a:gd name="connsiteY4" fmla="*/ 279697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62422 w 10992897"/>
                      <a:gd name="connsiteY3" fmla="*/ 2149001 h 3641032"/>
                      <a:gd name="connsiteX4" fmla="*/ 6287337 w 10992897"/>
                      <a:gd name="connsiteY4" fmla="*/ 304594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62422 w 10992897"/>
                      <a:gd name="connsiteY3" fmla="*/ 2081101 h 3641032"/>
                      <a:gd name="connsiteX4" fmla="*/ 6287337 w 10992897"/>
                      <a:gd name="connsiteY4" fmla="*/ 304594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37022 w 10992897"/>
                      <a:gd name="connsiteY3" fmla="*/ 1922666 h 3641032"/>
                      <a:gd name="connsiteX4" fmla="*/ 6287337 w 10992897"/>
                      <a:gd name="connsiteY4" fmla="*/ 3045940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37022 w 10992897"/>
                      <a:gd name="connsiteY3" fmla="*/ 1922666 h 3641032"/>
                      <a:gd name="connsiteX4" fmla="*/ 6185737 w 10992897"/>
                      <a:gd name="connsiteY4" fmla="*/ 2932772 h 3641032"/>
                      <a:gd name="connsiteX5" fmla="*/ 3285811 w 10992897"/>
                      <a:gd name="connsiteY5" fmla="*/ 3430017 h 3641032"/>
                      <a:gd name="connsiteX6" fmla="*/ 0 w 10992897"/>
                      <a:gd name="connsiteY6" fmla="*/ 3641032 h 3641032"/>
                      <a:gd name="connsiteX0" fmla="*/ 0 w 10992897"/>
                      <a:gd name="connsiteY0" fmla="*/ 3641032 h 3641032"/>
                      <a:gd name="connsiteX1" fmla="*/ 10992897 w 10992897"/>
                      <a:gd name="connsiteY1" fmla="*/ 3641032 h 3641032"/>
                      <a:gd name="connsiteX2" fmla="*/ 10992897 w 10992897"/>
                      <a:gd name="connsiteY2" fmla="*/ 0 h 3641032"/>
                      <a:gd name="connsiteX3" fmla="*/ 9137022 w 10992897"/>
                      <a:gd name="connsiteY3" fmla="*/ 1922666 h 3641032"/>
                      <a:gd name="connsiteX4" fmla="*/ 6185737 w 10992897"/>
                      <a:gd name="connsiteY4" fmla="*/ 2932772 h 3641032"/>
                      <a:gd name="connsiteX5" fmla="*/ 3209611 w 10992897"/>
                      <a:gd name="connsiteY5" fmla="*/ 3362116 h 3641032"/>
                      <a:gd name="connsiteX6" fmla="*/ 0 w 10992897"/>
                      <a:gd name="connsiteY6" fmla="*/ 3641032 h 3641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92897" h="3641032">
                        <a:moveTo>
                          <a:pt x="0" y="3641032"/>
                        </a:moveTo>
                        <a:lnTo>
                          <a:pt x="10992897" y="3641032"/>
                        </a:lnTo>
                        <a:lnTo>
                          <a:pt x="10992897" y="0"/>
                        </a:lnTo>
                        <a:lnTo>
                          <a:pt x="9137022" y="1922666"/>
                        </a:lnTo>
                        <a:lnTo>
                          <a:pt x="6185737" y="2932772"/>
                        </a:lnTo>
                        <a:lnTo>
                          <a:pt x="3209611" y="3362116"/>
                        </a:lnTo>
                        <a:lnTo>
                          <a:pt x="0" y="3641032"/>
                        </a:lnTo>
                        <a:close/>
                      </a:path>
                    </a:pathLst>
                  </a:cu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1" name="TextBox 10">
            <a:extLst>
              <a:ext uri="{FF2B5EF4-FFF2-40B4-BE49-F238E27FC236}">
                <a16:creationId xmlns:a16="http://schemas.microsoft.com/office/drawing/2014/main" id="{685A79BF-0F81-648B-7B5B-1D4F0DDC63A8}"/>
              </a:ext>
            </a:extLst>
          </p:cNvPr>
          <p:cNvSpPr txBox="1"/>
          <p:nvPr/>
        </p:nvSpPr>
        <p:spPr>
          <a:xfrm>
            <a:off x="242887" y="5472211"/>
            <a:ext cx="2565865" cy="263086"/>
          </a:xfrm>
          <a:prstGeom prst="rect">
            <a:avLst/>
          </a:prstGeom>
          <a:noFill/>
        </p:spPr>
        <p:txBody>
          <a:bodyPr wrap="none" lIns="45720" rIns="45720" rtlCol="0">
            <a:noAutofit/>
          </a:bodyPr>
          <a:lstStyle/>
          <a:p>
            <a:endParaRPr lang="en-US" sz="1400" b="1"/>
          </a:p>
        </p:txBody>
      </p:sp>
      <p:sp>
        <p:nvSpPr>
          <p:cNvPr id="20" name="Callout: Line with Border and Accent Bar 19">
            <a:extLst>
              <a:ext uri="{FF2B5EF4-FFF2-40B4-BE49-F238E27FC236}">
                <a16:creationId xmlns:a16="http://schemas.microsoft.com/office/drawing/2014/main" id="{227BC446-6084-A187-70B4-22530AE63263}"/>
              </a:ext>
            </a:extLst>
          </p:cNvPr>
          <p:cNvSpPr/>
          <p:nvPr/>
        </p:nvSpPr>
        <p:spPr>
          <a:xfrm>
            <a:off x="1491172" y="4969261"/>
            <a:ext cx="1504163" cy="568120"/>
          </a:xfrm>
          <a:prstGeom prst="accentBorderCallout1">
            <a:avLst>
              <a:gd name="adj1" fmla="val 18750"/>
              <a:gd name="adj2" fmla="val -8333"/>
              <a:gd name="adj3" fmla="val 192976"/>
              <a:gd name="adj4" fmla="val -341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accent2"/>
                </a:solidFill>
              </a:rPr>
              <a:t>Excel, structured-rectangular</a:t>
            </a:r>
          </a:p>
        </p:txBody>
      </p:sp>
      <p:sp>
        <p:nvSpPr>
          <p:cNvPr id="21" name="Callout: Line with Border and Accent Bar 20">
            <a:extLst>
              <a:ext uri="{FF2B5EF4-FFF2-40B4-BE49-F238E27FC236}">
                <a16:creationId xmlns:a16="http://schemas.microsoft.com/office/drawing/2014/main" id="{C0B23D24-407C-FBEE-267A-9D373B2B2F4C}"/>
              </a:ext>
            </a:extLst>
          </p:cNvPr>
          <p:cNvSpPr/>
          <p:nvPr/>
        </p:nvSpPr>
        <p:spPr>
          <a:xfrm>
            <a:off x="3778852" y="4508597"/>
            <a:ext cx="1597762" cy="568120"/>
          </a:xfrm>
          <a:prstGeom prst="accentBorderCallout1">
            <a:avLst>
              <a:gd name="adj1" fmla="val 65694"/>
              <a:gd name="adj2" fmla="val 106127"/>
              <a:gd name="adj3" fmla="val 172857"/>
              <a:gd name="adj4" fmla="val 124765"/>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accent2"/>
                </a:solidFill>
              </a:rPr>
              <a:t>Plain-text, semi-structured</a:t>
            </a:r>
          </a:p>
        </p:txBody>
      </p:sp>
      <p:sp>
        <p:nvSpPr>
          <p:cNvPr id="22" name="Callout: Line with Border and Accent Bar 21">
            <a:extLst>
              <a:ext uri="{FF2B5EF4-FFF2-40B4-BE49-F238E27FC236}">
                <a16:creationId xmlns:a16="http://schemas.microsoft.com/office/drawing/2014/main" id="{2B258020-5D41-31BF-43CA-BABD97815120}"/>
              </a:ext>
            </a:extLst>
          </p:cNvPr>
          <p:cNvSpPr/>
          <p:nvPr/>
        </p:nvSpPr>
        <p:spPr>
          <a:xfrm>
            <a:off x="6004701" y="4470857"/>
            <a:ext cx="920820" cy="339183"/>
          </a:xfrm>
          <a:prstGeom prst="accentBorderCallout1">
            <a:avLst>
              <a:gd name="adj1" fmla="val 65694"/>
              <a:gd name="adj2" fmla="val 106127"/>
              <a:gd name="adj3" fmla="val 150391"/>
              <a:gd name="adj4" fmla="val 207518"/>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accent2"/>
                </a:solidFill>
              </a:rPr>
              <a:t>PDF text</a:t>
            </a:r>
          </a:p>
        </p:txBody>
      </p:sp>
      <p:sp>
        <p:nvSpPr>
          <p:cNvPr id="23" name="Callout: Line with Border and Accent Bar 22">
            <a:extLst>
              <a:ext uri="{FF2B5EF4-FFF2-40B4-BE49-F238E27FC236}">
                <a16:creationId xmlns:a16="http://schemas.microsoft.com/office/drawing/2014/main" id="{7429AB34-D78D-7EB3-99C5-D6FF6824D150}"/>
              </a:ext>
            </a:extLst>
          </p:cNvPr>
          <p:cNvSpPr/>
          <p:nvPr/>
        </p:nvSpPr>
        <p:spPr>
          <a:xfrm>
            <a:off x="8574245" y="999710"/>
            <a:ext cx="1446228" cy="775995"/>
          </a:xfrm>
          <a:prstGeom prst="accentBorderCallout1">
            <a:avLst>
              <a:gd name="adj1" fmla="val 65694"/>
              <a:gd name="adj2" fmla="val 106127"/>
              <a:gd name="adj3" fmla="val 81880"/>
              <a:gd name="adj4" fmla="val 13799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solidFill>
                  <a:schemeClr val="accent2"/>
                </a:solidFill>
              </a:rPr>
              <a:t>mixed text &amp; graphics, PowerPoint or Excel</a:t>
            </a:r>
          </a:p>
        </p:txBody>
      </p:sp>
      <p:sp>
        <p:nvSpPr>
          <p:cNvPr id="4" name="TextBox 3">
            <a:extLst>
              <a:ext uri="{FF2B5EF4-FFF2-40B4-BE49-F238E27FC236}">
                <a16:creationId xmlns:a16="http://schemas.microsoft.com/office/drawing/2014/main" id="{EF8E06D5-76B4-D90C-F2F5-A4640912FE48}"/>
              </a:ext>
            </a:extLst>
          </p:cNvPr>
          <p:cNvSpPr txBox="1"/>
          <p:nvPr/>
        </p:nvSpPr>
        <p:spPr>
          <a:xfrm>
            <a:off x="1744578" y="6139600"/>
            <a:ext cx="685800" cy="339183"/>
          </a:xfrm>
          <a:prstGeom prst="rect">
            <a:avLst/>
          </a:prstGeom>
          <a:noFill/>
        </p:spPr>
        <p:txBody>
          <a:bodyPr wrap="none" lIns="45720" rIns="45720" rtlCol="0">
            <a:noAutofit/>
          </a:bodyPr>
          <a:lstStyle/>
          <a:p>
            <a:r>
              <a:rPr lang="en-US" sz="2800" b="1"/>
              <a:t>EASY</a:t>
            </a:r>
          </a:p>
        </p:txBody>
      </p:sp>
      <p:sp>
        <p:nvSpPr>
          <p:cNvPr id="5" name="TextBox 4">
            <a:extLst>
              <a:ext uri="{FF2B5EF4-FFF2-40B4-BE49-F238E27FC236}">
                <a16:creationId xmlns:a16="http://schemas.microsoft.com/office/drawing/2014/main" id="{5179F430-7C16-8D80-DB93-0BA24098967F}"/>
              </a:ext>
            </a:extLst>
          </p:cNvPr>
          <p:cNvSpPr txBox="1"/>
          <p:nvPr/>
        </p:nvSpPr>
        <p:spPr>
          <a:xfrm>
            <a:off x="6925521" y="6120288"/>
            <a:ext cx="685800" cy="339183"/>
          </a:xfrm>
          <a:prstGeom prst="rect">
            <a:avLst/>
          </a:prstGeom>
          <a:noFill/>
        </p:spPr>
        <p:txBody>
          <a:bodyPr wrap="none" lIns="45720" rIns="45720" rtlCol="0">
            <a:noAutofit/>
          </a:bodyPr>
          <a:lstStyle/>
          <a:p>
            <a:r>
              <a:rPr lang="en-US" sz="2800" b="1"/>
              <a:t>HARD</a:t>
            </a:r>
          </a:p>
        </p:txBody>
      </p:sp>
      <p:sp>
        <p:nvSpPr>
          <p:cNvPr id="6" name="TextBox 5">
            <a:extLst>
              <a:ext uri="{FF2B5EF4-FFF2-40B4-BE49-F238E27FC236}">
                <a16:creationId xmlns:a16="http://schemas.microsoft.com/office/drawing/2014/main" id="{5AB4D310-CEE9-3A8F-70B7-01C4E08F7975}"/>
              </a:ext>
            </a:extLst>
          </p:cNvPr>
          <p:cNvSpPr txBox="1"/>
          <p:nvPr/>
        </p:nvSpPr>
        <p:spPr>
          <a:xfrm>
            <a:off x="9717057" y="6120288"/>
            <a:ext cx="1416165" cy="339183"/>
          </a:xfrm>
          <a:prstGeom prst="rect">
            <a:avLst/>
          </a:prstGeom>
          <a:noFill/>
        </p:spPr>
        <p:txBody>
          <a:bodyPr wrap="none" lIns="45720" rIns="45720" rtlCol="0">
            <a:noAutofit/>
          </a:bodyPr>
          <a:lstStyle/>
          <a:p>
            <a:r>
              <a:rPr lang="en-US" sz="2800" b="1"/>
              <a:t>FORGET IT</a:t>
            </a:r>
          </a:p>
        </p:txBody>
      </p:sp>
      <p:sp>
        <p:nvSpPr>
          <p:cNvPr id="13" name="TextBox 12">
            <a:extLst>
              <a:ext uri="{FF2B5EF4-FFF2-40B4-BE49-F238E27FC236}">
                <a16:creationId xmlns:a16="http://schemas.microsoft.com/office/drawing/2014/main" id="{4DE0B331-309F-52A6-F6F3-EC12F55A1F73}"/>
              </a:ext>
            </a:extLst>
          </p:cNvPr>
          <p:cNvSpPr txBox="1"/>
          <p:nvPr/>
        </p:nvSpPr>
        <p:spPr>
          <a:xfrm>
            <a:off x="548640" y="365760"/>
            <a:ext cx="11155680" cy="584775"/>
          </a:xfrm>
          <a:prstGeom prst="rect">
            <a:avLst/>
          </a:prstGeom>
          <a:noFill/>
        </p:spPr>
        <p:txBody>
          <a:bodyPr wrap="square" lIns="45720" rIns="45720" anchor="t">
            <a:spAutoFit/>
          </a:bodyPr>
          <a:lstStyle/>
          <a:p>
            <a:pPr algn="l"/>
            <a:r>
              <a:rPr lang="en-US" sz="3200" b="1" dirty="0">
                <a:solidFill>
                  <a:srgbClr val="1E2761"/>
                </a:solidFill>
                <a:latin typeface="Cambria"/>
              </a:rPr>
              <a:t>Structured-ness affects ease of use</a:t>
            </a:r>
            <a:endParaRPr sz="3200" b="1" i="0" dirty="0">
              <a:solidFill>
                <a:srgbClr val="1E2761"/>
              </a:solidFill>
              <a:latin typeface="Cambria"/>
            </a:endParaRPr>
          </a:p>
        </p:txBody>
      </p:sp>
      <p:pic>
        <p:nvPicPr>
          <p:cNvPr id="15" name="Picture 14">
            <a:extLst>
              <a:ext uri="{FF2B5EF4-FFF2-40B4-BE49-F238E27FC236}">
                <a16:creationId xmlns:a16="http://schemas.microsoft.com/office/drawing/2014/main" id="{C8B18801-12C5-83A9-5682-9E386224552C}"/>
              </a:ext>
            </a:extLst>
          </p:cNvPr>
          <p:cNvPicPr>
            <a:picLocks noChangeAspect="1"/>
          </p:cNvPicPr>
          <p:nvPr/>
        </p:nvPicPr>
        <p:blipFill>
          <a:blip r:embed="rId2"/>
          <a:stretch>
            <a:fillRect/>
          </a:stretch>
        </p:blipFill>
        <p:spPr>
          <a:xfrm>
            <a:off x="6699401" y="1791722"/>
            <a:ext cx="4726376" cy="2658587"/>
          </a:xfrm>
          <a:prstGeom prst="rect">
            <a:avLst/>
          </a:prstGeom>
          <a:ln>
            <a:solidFill>
              <a:schemeClr val="tx2"/>
            </a:solidFill>
          </a:ln>
        </p:spPr>
      </p:pic>
    </p:spTree>
    <p:extLst>
      <p:ext uri="{BB962C8B-B14F-4D97-AF65-F5344CB8AC3E}">
        <p14:creationId xmlns:p14="http://schemas.microsoft.com/office/powerpoint/2010/main" val="286299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0"/>
            <a:ext cx="11155680" cy="338554"/>
          </a:xfrm>
          <a:prstGeom prst="rect">
            <a:avLst/>
          </a:prstGeom>
          <a:noFill/>
        </p:spPr>
        <p:txBody>
          <a:bodyPr wrap="square" lIns="45720" rIns="45720" anchor="t">
            <a:spAutoFit/>
          </a:bodyPr>
          <a:lstStyle/>
          <a:p>
            <a:pPr algn="l"/>
            <a:r>
              <a:rPr sz="1600" b="1" i="0" dirty="0">
                <a:solidFill>
                  <a:srgbClr val="E67E22"/>
                </a:solidFill>
                <a:latin typeface="Calibri"/>
              </a:rPr>
              <a:t>PART 2 </a:t>
            </a:r>
          </a:p>
        </p:txBody>
      </p:sp>
      <p:sp>
        <p:nvSpPr>
          <p:cNvPr id="4" name="TextBox 3"/>
          <p:cNvSpPr txBox="1"/>
          <p:nvPr/>
        </p:nvSpPr>
        <p:spPr>
          <a:xfrm>
            <a:off x="548640" y="3108960"/>
            <a:ext cx="11155680" cy="769441"/>
          </a:xfrm>
          <a:prstGeom prst="rect">
            <a:avLst/>
          </a:prstGeom>
          <a:noFill/>
        </p:spPr>
        <p:txBody>
          <a:bodyPr wrap="square" lIns="45720" rIns="45720" anchor="t">
            <a:spAutoFit/>
          </a:bodyPr>
          <a:lstStyle/>
          <a:p>
            <a:pPr algn="l"/>
            <a:r>
              <a:rPr lang="en-US" sz="4400" b="1" i="0" dirty="0">
                <a:solidFill>
                  <a:srgbClr val="FFFFFF"/>
                </a:solidFill>
                <a:latin typeface="Cambria"/>
              </a:rPr>
              <a:t>Guidelines for Tidy Data</a:t>
            </a:r>
            <a:endParaRPr sz="4400" b="1" i="0" dirty="0">
              <a:solidFill>
                <a:srgbClr val="FFFFFF"/>
              </a:solidFill>
              <a:latin typeface="Cambria"/>
            </a:endParaRPr>
          </a:p>
        </p:txBody>
      </p:sp>
      <p:sp>
        <p:nvSpPr>
          <p:cNvPr id="5" name="TextBox 4"/>
          <p:cNvSpPr txBox="1"/>
          <p:nvPr/>
        </p:nvSpPr>
        <p:spPr>
          <a:xfrm>
            <a:off x="548640" y="4572000"/>
            <a:ext cx="11155680" cy="400110"/>
          </a:xfrm>
          <a:prstGeom prst="rect">
            <a:avLst/>
          </a:prstGeom>
          <a:noFill/>
        </p:spPr>
        <p:txBody>
          <a:bodyPr wrap="square" lIns="45720" rIns="45720" anchor="t">
            <a:spAutoFit/>
          </a:bodyPr>
          <a:lstStyle/>
          <a:p>
            <a:pPr algn="l"/>
            <a:r>
              <a:rPr lang="en-US" sz="2000" b="0" i="0" dirty="0">
                <a:solidFill>
                  <a:srgbClr val="B5BDC8"/>
                </a:solidFill>
                <a:latin typeface="Calibri"/>
              </a:rPr>
              <a:t>Rules for </a:t>
            </a:r>
            <a:r>
              <a:rPr sz="2000" b="0" i="0" dirty="0">
                <a:solidFill>
                  <a:srgbClr val="B5BDC8"/>
                </a:solidFill>
                <a:latin typeface="Calibri"/>
              </a:rPr>
              <a:t>rectangular shapes, cells, types, identifiers, </a:t>
            </a:r>
            <a:r>
              <a:rPr lang="en-US" sz="2000" dirty="0">
                <a:solidFill>
                  <a:srgbClr val="B5BDC8"/>
                </a:solidFill>
                <a:latin typeface="Calibri"/>
              </a:rPr>
              <a:t>relationships</a:t>
            </a:r>
            <a:endParaRPr sz="2000" b="0" i="0" dirty="0">
              <a:solidFill>
                <a:srgbClr val="B5BDC8"/>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457200"/>
            <a:ext cx="11155680" cy="365760"/>
          </a:xfrm>
          <a:prstGeom prst="rect">
            <a:avLst/>
          </a:prstGeom>
          <a:noFill/>
        </p:spPr>
        <p:txBody>
          <a:bodyPr wrap="square" lIns="45720" rIns="45720" anchor="t">
            <a:spAutoFit/>
          </a:bodyPr>
          <a:lstStyle/>
          <a:p>
            <a:pPr algn="l"/>
            <a:r>
              <a:rPr sz="1300" b="1" i="0">
                <a:solidFill>
                  <a:srgbClr val="E67E22"/>
                </a:solidFill>
                <a:latin typeface="Calibri"/>
              </a:rPr>
              <a:t>THREE NAMES, ONE IDEA</a:t>
            </a:r>
          </a:p>
        </p:txBody>
      </p:sp>
      <p:sp>
        <p:nvSpPr>
          <p:cNvPr id="3" name="TextBox 2"/>
          <p:cNvSpPr txBox="1"/>
          <p:nvPr/>
        </p:nvSpPr>
        <p:spPr>
          <a:xfrm>
            <a:off x="548640" y="914400"/>
            <a:ext cx="11155680" cy="1188720"/>
          </a:xfrm>
          <a:prstGeom prst="rect">
            <a:avLst/>
          </a:prstGeom>
          <a:noFill/>
        </p:spPr>
        <p:txBody>
          <a:bodyPr wrap="square" lIns="45720" rIns="45720" anchor="t">
            <a:spAutoFit/>
          </a:bodyPr>
          <a:lstStyle/>
          <a:p>
            <a:pPr algn="l"/>
            <a:r>
              <a:rPr sz="4800" b="1" i="0">
                <a:solidFill>
                  <a:srgbClr val="1E2761"/>
                </a:solidFill>
                <a:latin typeface="Cambria"/>
              </a:rPr>
              <a:t>Rectangular · tidy · normalized</a:t>
            </a:r>
          </a:p>
        </p:txBody>
      </p:sp>
      <p:sp>
        <p:nvSpPr>
          <p:cNvPr id="4" name="Rectangle 3"/>
          <p:cNvSpPr/>
          <p:nvPr/>
        </p:nvSpPr>
        <p:spPr>
          <a:xfrm>
            <a:off x="548640" y="2103120"/>
            <a:ext cx="1280160" cy="54864"/>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548640" y="2468880"/>
            <a:ext cx="11155680" cy="1815882"/>
          </a:xfrm>
          <a:prstGeom prst="rect">
            <a:avLst/>
          </a:prstGeom>
          <a:noFill/>
        </p:spPr>
        <p:txBody>
          <a:bodyPr wrap="square" lIns="45720" rIns="45720" anchor="t">
            <a:spAutoFit/>
          </a:bodyPr>
          <a:lstStyle/>
          <a:p>
            <a:pPr algn="l"/>
            <a:r>
              <a:rPr sz="2800" b="0" i="0">
                <a:solidFill>
                  <a:srgbClr val="2C3E50"/>
                </a:solidFill>
                <a:latin typeface="Calibri"/>
              </a:rPr>
              <a:t>Three vocabularies for the same underlying discipline: one variable per column, one observation per row, one table per kind of entity. Rectangular is the shape. Tidy is the semantics. Normalized is the database term for splitting data across tables so no fact gets duplicated.</a:t>
            </a:r>
          </a:p>
        </p:txBody>
      </p:sp>
      <p:sp>
        <p:nvSpPr>
          <p:cNvPr id="6" name="Rounded Rectangle 5"/>
          <p:cNvSpPr/>
          <p:nvPr/>
        </p:nvSpPr>
        <p:spPr>
          <a:xfrm>
            <a:off x="548640" y="4937760"/>
            <a:ext cx="11155680" cy="1463040"/>
          </a:xfrm>
          <a:prstGeom prst="roundRect">
            <a:avLst>
              <a:gd name="adj" fmla="val 4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822960" y="5074920"/>
            <a:ext cx="2743200" cy="338554"/>
          </a:xfrm>
          <a:prstGeom prst="rect">
            <a:avLst/>
          </a:prstGeom>
          <a:noFill/>
        </p:spPr>
        <p:txBody>
          <a:bodyPr wrap="square" lIns="45720" rIns="45720" anchor="t">
            <a:spAutoFit/>
          </a:bodyPr>
          <a:lstStyle/>
          <a:p>
            <a:pPr algn="l"/>
            <a:r>
              <a:rPr sz="1600" b="1" i="0">
                <a:solidFill>
                  <a:srgbClr val="E67E22"/>
                </a:solidFill>
                <a:latin typeface="Calibri"/>
              </a:rPr>
              <a:t>FOR EXAMPLE</a:t>
            </a:r>
          </a:p>
        </p:txBody>
      </p:sp>
      <p:sp>
        <p:nvSpPr>
          <p:cNvPr id="8" name="TextBox 7"/>
          <p:cNvSpPr txBox="1"/>
          <p:nvPr/>
        </p:nvSpPr>
        <p:spPr>
          <a:xfrm>
            <a:off x="822960" y="5440680"/>
            <a:ext cx="10698480" cy="707886"/>
          </a:xfrm>
          <a:prstGeom prst="rect">
            <a:avLst/>
          </a:prstGeom>
          <a:noFill/>
        </p:spPr>
        <p:txBody>
          <a:bodyPr wrap="square" lIns="45720" rIns="45720" anchor="t">
            <a:spAutoFit/>
          </a:bodyPr>
          <a:lstStyle/>
          <a:p>
            <a:pPr algn="l"/>
            <a:r>
              <a:rPr sz="2000" b="0" i="1" dirty="0">
                <a:solidFill>
                  <a:srgbClr val="2C3E50"/>
                </a:solidFill>
                <a:latin typeface="Calibri"/>
              </a:rPr>
              <a:t>Reactions in one table, catalyst reference in another, solvent reference in a third. You link them by shared identifiers</a:t>
            </a:r>
            <a:r>
              <a:rPr lang="en-US" sz="2000" b="0" i="1" dirty="0">
                <a:solidFill>
                  <a:srgbClr val="2C3E50"/>
                </a:solidFill>
                <a:latin typeface="Calibri"/>
              </a:rPr>
              <a:t>, </a:t>
            </a:r>
            <a:r>
              <a:rPr sz="2000" b="0" i="1" dirty="0">
                <a:solidFill>
                  <a:srgbClr val="2C3E50"/>
                </a:solidFill>
                <a:latin typeface="Calibri"/>
              </a:rPr>
              <a:t>not by copying the catalyst's properties down every row of the reactions log.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FC4C6-5903-65F0-A310-1F3C457596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0630DD8-88C5-5C36-33EC-C0F06A1659F3}"/>
              </a:ext>
            </a:extLst>
          </p:cNvPr>
          <p:cNvSpPr txBox="1"/>
          <p:nvPr/>
        </p:nvSpPr>
        <p:spPr>
          <a:xfrm>
            <a:off x="548640" y="390418"/>
            <a:ext cx="11155680" cy="707886"/>
          </a:xfrm>
          <a:prstGeom prst="rect">
            <a:avLst/>
          </a:prstGeom>
          <a:noFill/>
        </p:spPr>
        <p:txBody>
          <a:bodyPr wrap="square" lIns="45720" rIns="45720" anchor="t">
            <a:spAutoFit/>
          </a:bodyPr>
          <a:lstStyle/>
          <a:p>
            <a:pPr algn="l"/>
            <a:r>
              <a:rPr lang="en-US" sz="4000" b="1" i="0" dirty="0">
                <a:solidFill>
                  <a:srgbClr val="1E2761"/>
                </a:solidFill>
                <a:latin typeface="Cambria"/>
              </a:rPr>
              <a:t>Meet the Engine Oil Dataset</a:t>
            </a:r>
            <a:endParaRPr sz="4000" b="1" i="0" dirty="0">
              <a:solidFill>
                <a:srgbClr val="1E2761"/>
              </a:solidFill>
              <a:latin typeface="Cambria"/>
            </a:endParaRPr>
          </a:p>
        </p:txBody>
      </p:sp>
      <p:sp>
        <p:nvSpPr>
          <p:cNvPr id="5" name="TextBox 4">
            <a:extLst>
              <a:ext uri="{FF2B5EF4-FFF2-40B4-BE49-F238E27FC236}">
                <a16:creationId xmlns:a16="http://schemas.microsoft.com/office/drawing/2014/main" id="{697C4EEA-CCA9-0799-F54C-BA537C293883}"/>
              </a:ext>
            </a:extLst>
          </p:cNvPr>
          <p:cNvSpPr txBox="1"/>
          <p:nvPr/>
        </p:nvSpPr>
        <p:spPr>
          <a:xfrm>
            <a:off x="548640" y="1762470"/>
            <a:ext cx="4691180" cy="3970318"/>
          </a:xfrm>
          <a:prstGeom prst="rect">
            <a:avLst/>
          </a:prstGeom>
          <a:noFill/>
        </p:spPr>
        <p:txBody>
          <a:bodyPr wrap="square" lIns="45720" rIns="45720" anchor="t">
            <a:spAutoFit/>
          </a:bodyPr>
          <a:lstStyle/>
          <a:p>
            <a:r>
              <a:rPr lang="en-US" sz="2800" dirty="0"/>
              <a:t>An employee at a company that makes formulated engine oils in multiple grades measures the viscosity of various oil grades coming off the production lines at various temperatures and records the data in a table. Each sample has a unique “sample number”. </a:t>
            </a:r>
          </a:p>
        </p:txBody>
      </p:sp>
      <p:graphicFrame>
        <p:nvGraphicFramePr>
          <p:cNvPr id="10" name="Table 7">
            <a:extLst>
              <a:ext uri="{FF2B5EF4-FFF2-40B4-BE49-F238E27FC236}">
                <a16:creationId xmlns:a16="http://schemas.microsoft.com/office/drawing/2014/main" id="{CF78C741-E7B9-7BD1-8CBA-1BE066B559AA}"/>
              </a:ext>
            </a:extLst>
          </p:cNvPr>
          <p:cNvGraphicFramePr>
            <a:graphicFrameLocks noGrp="1"/>
          </p:cNvGraphicFramePr>
          <p:nvPr>
            <p:extLst>
              <p:ext uri="{D42A27DB-BD31-4B8C-83A1-F6EECF244321}">
                <p14:modId xmlns:p14="http://schemas.microsoft.com/office/powerpoint/2010/main" val="3626929025"/>
              </p:ext>
            </p:extLst>
          </p:nvPr>
        </p:nvGraphicFramePr>
        <p:xfrm>
          <a:off x="5575858" y="1318558"/>
          <a:ext cx="6263320" cy="5120640"/>
        </p:xfrm>
        <a:graphic>
          <a:graphicData uri="http://schemas.openxmlformats.org/drawingml/2006/table">
            <a:tbl>
              <a:tblPr firstRow="1" bandRow="1">
                <a:tableStyleId>{5C22544A-7EE6-4342-B048-85BDC9FD1C3A}</a:tableStyleId>
              </a:tblPr>
              <a:tblGrid>
                <a:gridCol w="1753341">
                  <a:extLst>
                    <a:ext uri="{9D8B030D-6E8A-4147-A177-3AD203B41FA5}">
                      <a16:colId xmlns:a16="http://schemas.microsoft.com/office/drawing/2014/main" val="1619538324"/>
                    </a:ext>
                  </a:extLst>
                </a:gridCol>
                <a:gridCol w="1665669">
                  <a:extLst>
                    <a:ext uri="{9D8B030D-6E8A-4147-A177-3AD203B41FA5}">
                      <a16:colId xmlns:a16="http://schemas.microsoft.com/office/drawing/2014/main" val="2204580905"/>
                    </a:ext>
                  </a:extLst>
                </a:gridCol>
                <a:gridCol w="1422155">
                  <a:extLst>
                    <a:ext uri="{9D8B030D-6E8A-4147-A177-3AD203B41FA5}">
                      <a16:colId xmlns:a16="http://schemas.microsoft.com/office/drawing/2014/main" val="253053857"/>
                    </a:ext>
                  </a:extLst>
                </a:gridCol>
                <a:gridCol w="1422155">
                  <a:extLst>
                    <a:ext uri="{9D8B030D-6E8A-4147-A177-3AD203B41FA5}">
                      <a16:colId xmlns:a16="http://schemas.microsoft.com/office/drawing/2014/main" val="1733008077"/>
                    </a:ext>
                  </a:extLst>
                </a:gridCol>
              </a:tblGrid>
              <a:tr h="429963">
                <a:tc>
                  <a:txBody>
                    <a:bodyPr/>
                    <a:lstStyle/>
                    <a:p>
                      <a:r>
                        <a:rPr lang="en-US" sz="2000" dirty="0" err="1"/>
                        <a:t>sample_number</a:t>
                      </a:r>
                      <a:endParaRPr lang="en-US" sz="2000" dirty="0"/>
                    </a:p>
                  </a:txBody>
                  <a:tcPr marL="121920" marR="121920" marT="60960" marB="60960"/>
                </a:tc>
                <a:tc>
                  <a:txBody>
                    <a:bodyPr/>
                    <a:lstStyle/>
                    <a:p>
                      <a:r>
                        <a:rPr lang="en-US" sz="2000" dirty="0"/>
                        <a:t>temperature: </a:t>
                      </a:r>
                      <a:r>
                        <a:rPr lang="en-US" sz="2000" dirty="0" err="1"/>
                        <a:t>deg_c</a:t>
                      </a:r>
                      <a:endParaRPr lang="en-US" sz="2000" dirty="0"/>
                    </a:p>
                  </a:txBody>
                  <a:tcPr marL="121920" marR="121920" marT="60960" marB="60960"/>
                </a:tc>
                <a:tc>
                  <a:txBody>
                    <a:bodyPr/>
                    <a:lstStyle/>
                    <a:p>
                      <a:r>
                        <a:rPr lang="en-US" sz="2000" dirty="0"/>
                        <a:t>viscosity: cp</a:t>
                      </a:r>
                    </a:p>
                  </a:txBody>
                  <a:tcPr marL="121920" marR="121920" marT="60960" marB="60960"/>
                </a:tc>
                <a:tc>
                  <a:txBody>
                    <a:bodyPr/>
                    <a:lstStyle/>
                    <a:p>
                      <a:r>
                        <a:rPr lang="en-US" sz="2000" dirty="0"/>
                        <a:t>material: </a:t>
                      </a:r>
                      <a:r>
                        <a:rPr lang="en-US" sz="2000" dirty="0" err="1"/>
                        <a:t>sae_grade</a:t>
                      </a:r>
                      <a:endParaRPr lang="en-US" sz="2000" dirty="0"/>
                    </a:p>
                  </a:txBody>
                  <a:tcPr marL="81311" marR="81311" marT="40655" marB="40655"/>
                </a:tc>
                <a:extLst>
                  <a:ext uri="{0D108BD9-81ED-4DB2-BD59-A6C34878D82A}">
                    <a16:rowId xmlns:a16="http://schemas.microsoft.com/office/drawing/2014/main" val="1107157796"/>
                  </a:ext>
                </a:extLst>
              </a:tr>
              <a:tr h="353918">
                <a:tc>
                  <a:txBody>
                    <a:bodyPr/>
                    <a:lstStyle/>
                    <a:p>
                      <a:r>
                        <a:rPr lang="en-US" sz="1600"/>
                        <a:t>SAM-AB1234</a:t>
                      </a:r>
                    </a:p>
                  </a:txBody>
                  <a:tcPr marL="121920" marR="121920" marT="60960" marB="60960"/>
                </a:tc>
                <a:tc>
                  <a:txBody>
                    <a:bodyPr/>
                    <a:lstStyle/>
                    <a:p>
                      <a:r>
                        <a:rPr lang="en-US" sz="1600"/>
                        <a:t>20.0</a:t>
                      </a:r>
                    </a:p>
                  </a:txBody>
                  <a:tcPr marL="121920" marR="121920" marT="60960" marB="60960"/>
                </a:tc>
                <a:tc>
                  <a:txBody>
                    <a:bodyPr/>
                    <a:lstStyle/>
                    <a:p>
                      <a:r>
                        <a:rPr lang="en-US" sz="1600"/>
                        <a:t>286</a:t>
                      </a:r>
                    </a:p>
                  </a:txBody>
                  <a:tcPr marL="121920" marR="121920" marT="60960" marB="60960"/>
                </a:tc>
                <a:tc>
                  <a:txBody>
                    <a:bodyPr/>
                    <a:lstStyle/>
                    <a:p>
                      <a:r>
                        <a:rPr lang="en-US" sz="1600"/>
                        <a:t>15W-40</a:t>
                      </a:r>
                    </a:p>
                  </a:txBody>
                  <a:tcPr marL="81311" marR="81311" marT="40655" marB="40655"/>
                </a:tc>
                <a:extLst>
                  <a:ext uri="{0D108BD9-81ED-4DB2-BD59-A6C34878D82A}">
                    <a16:rowId xmlns:a16="http://schemas.microsoft.com/office/drawing/2014/main" val="1919681070"/>
                  </a:ext>
                </a:extLst>
              </a:tr>
              <a:tr h="353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SAM-AB1235</a:t>
                      </a:r>
                    </a:p>
                  </a:txBody>
                  <a:tcPr marL="121920" marR="121920" marT="60960" marB="60960"/>
                </a:tc>
                <a:tc>
                  <a:txBody>
                    <a:bodyPr/>
                    <a:lstStyle/>
                    <a:p>
                      <a:r>
                        <a:rPr lang="en-US" sz="1600"/>
                        <a:t>30.0</a:t>
                      </a:r>
                    </a:p>
                  </a:txBody>
                  <a:tcPr marL="121920" marR="121920" marT="60960" marB="60960"/>
                </a:tc>
                <a:tc>
                  <a:txBody>
                    <a:bodyPr/>
                    <a:lstStyle/>
                    <a:p>
                      <a:r>
                        <a:rPr lang="en-US" sz="1600"/>
                        <a:t>154</a:t>
                      </a:r>
                    </a:p>
                  </a:txBody>
                  <a:tcPr marL="121920" marR="121920" marT="60960" marB="60960"/>
                </a:tc>
                <a:tc>
                  <a:txBody>
                    <a:bodyPr/>
                    <a:lstStyle/>
                    <a:p>
                      <a:r>
                        <a:rPr lang="en-US" sz="1600"/>
                        <a:t>15W-40</a:t>
                      </a:r>
                    </a:p>
                  </a:txBody>
                  <a:tcPr marL="81311" marR="81311" marT="40655" marB="40655"/>
                </a:tc>
                <a:extLst>
                  <a:ext uri="{0D108BD9-81ED-4DB2-BD59-A6C34878D82A}">
                    <a16:rowId xmlns:a16="http://schemas.microsoft.com/office/drawing/2014/main" val="3264277782"/>
                  </a:ext>
                </a:extLst>
              </a:tr>
              <a:tr h="353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SAM-AB1236</a:t>
                      </a:r>
                    </a:p>
                  </a:txBody>
                  <a:tcPr marL="121920" marR="121920" marT="60960" marB="60960"/>
                </a:tc>
                <a:tc>
                  <a:txBody>
                    <a:bodyPr/>
                    <a:lstStyle/>
                    <a:p>
                      <a:r>
                        <a:rPr lang="en-US" sz="1600"/>
                        <a:t>20.0</a:t>
                      </a:r>
                    </a:p>
                  </a:txBody>
                  <a:tcPr marL="121920" marR="121920" marT="60960" marB="60960"/>
                </a:tc>
                <a:tc>
                  <a:txBody>
                    <a:bodyPr/>
                    <a:lstStyle/>
                    <a:p>
                      <a:r>
                        <a:rPr lang="en-US" sz="1600"/>
                        <a:t>210</a:t>
                      </a:r>
                    </a:p>
                  </a:txBody>
                  <a:tcPr marL="121920" marR="121920" marT="60960" marB="60960"/>
                </a:tc>
                <a:tc>
                  <a:txBody>
                    <a:bodyPr/>
                    <a:lstStyle/>
                    <a:p>
                      <a:r>
                        <a:rPr lang="en-US" sz="1600"/>
                        <a:t>10W-40</a:t>
                      </a:r>
                    </a:p>
                  </a:txBody>
                  <a:tcPr marL="81311" marR="81311" marT="40655" marB="40655"/>
                </a:tc>
                <a:extLst>
                  <a:ext uri="{0D108BD9-81ED-4DB2-BD59-A6C34878D82A}">
                    <a16:rowId xmlns:a16="http://schemas.microsoft.com/office/drawing/2014/main" val="3562596706"/>
                  </a:ext>
                </a:extLst>
              </a:tr>
              <a:tr h="353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SAM-AB1237</a:t>
                      </a:r>
                    </a:p>
                  </a:txBody>
                  <a:tcPr marL="121920" marR="121920" marT="60960" marB="60960"/>
                </a:tc>
                <a:tc>
                  <a:txBody>
                    <a:bodyPr/>
                    <a:lstStyle/>
                    <a:p>
                      <a:r>
                        <a:rPr lang="en-US" sz="1600"/>
                        <a:t>30.0</a:t>
                      </a:r>
                    </a:p>
                  </a:txBody>
                  <a:tcPr marL="121920" marR="121920" marT="60960" marB="60960"/>
                </a:tc>
                <a:tc>
                  <a:txBody>
                    <a:bodyPr/>
                    <a:lstStyle/>
                    <a:p>
                      <a:r>
                        <a:rPr lang="en-US" sz="1600"/>
                        <a:t>121</a:t>
                      </a:r>
                    </a:p>
                  </a:txBody>
                  <a:tcPr marL="121920" marR="121920" marT="60960" marB="60960"/>
                </a:tc>
                <a:tc>
                  <a:txBody>
                    <a:bodyPr/>
                    <a:lstStyle/>
                    <a:p>
                      <a:r>
                        <a:rPr lang="en-US" sz="1600"/>
                        <a:t>10W-40</a:t>
                      </a:r>
                    </a:p>
                  </a:txBody>
                  <a:tcPr marL="81311" marR="81311" marT="40655" marB="40655"/>
                </a:tc>
                <a:extLst>
                  <a:ext uri="{0D108BD9-81ED-4DB2-BD59-A6C34878D82A}">
                    <a16:rowId xmlns:a16="http://schemas.microsoft.com/office/drawing/2014/main" val="2810195785"/>
                  </a:ext>
                </a:extLst>
              </a:tr>
              <a:tr h="353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SAM-AB1238</a:t>
                      </a:r>
                    </a:p>
                  </a:txBody>
                  <a:tcPr marL="121920" marR="121920" marT="60960" marB="60960"/>
                </a:tc>
                <a:tc>
                  <a:txBody>
                    <a:bodyPr/>
                    <a:lstStyle/>
                    <a:p>
                      <a:r>
                        <a:rPr lang="en-US" sz="1600"/>
                        <a:t>20.0</a:t>
                      </a:r>
                    </a:p>
                  </a:txBody>
                  <a:tcPr marL="121920" marR="121920" marT="60960" marB="60960"/>
                </a:tc>
                <a:tc>
                  <a:txBody>
                    <a:bodyPr/>
                    <a:lstStyle/>
                    <a:p>
                      <a:r>
                        <a:rPr lang="en-US" sz="1600"/>
                        <a:t>382</a:t>
                      </a:r>
                    </a:p>
                  </a:txBody>
                  <a:tcPr marL="121920" marR="121920" marT="60960" marB="60960"/>
                </a:tc>
                <a:tc>
                  <a:txBody>
                    <a:bodyPr/>
                    <a:lstStyle/>
                    <a:p>
                      <a:r>
                        <a:rPr lang="en-US" sz="1600"/>
                        <a:t>10W-60</a:t>
                      </a:r>
                    </a:p>
                  </a:txBody>
                  <a:tcPr marL="81311" marR="81311" marT="40655" marB="40655"/>
                </a:tc>
                <a:extLst>
                  <a:ext uri="{0D108BD9-81ED-4DB2-BD59-A6C34878D82A}">
                    <a16:rowId xmlns:a16="http://schemas.microsoft.com/office/drawing/2014/main" val="162406719"/>
                  </a:ext>
                </a:extLst>
              </a:tr>
              <a:tr h="353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SAM-AB1241</a:t>
                      </a:r>
                    </a:p>
                  </a:txBody>
                  <a:tcPr marL="121920" marR="121920" marT="60960" marB="60960"/>
                </a:tc>
                <a:tc>
                  <a:txBody>
                    <a:bodyPr/>
                    <a:lstStyle/>
                    <a:p>
                      <a:r>
                        <a:rPr lang="en-US" sz="1600"/>
                        <a:t>30.0</a:t>
                      </a:r>
                    </a:p>
                  </a:txBody>
                  <a:tcPr marL="121920" marR="121920" marT="60960" marB="60960"/>
                </a:tc>
                <a:tc>
                  <a:txBody>
                    <a:bodyPr/>
                    <a:lstStyle/>
                    <a:p>
                      <a:r>
                        <a:rPr lang="en-US" sz="1600"/>
                        <a:t>221</a:t>
                      </a:r>
                    </a:p>
                  </a:txBody>
                  <a:tcPr marL="121920" marR="121920" marT="60960" marB="60960"/>
                </a:tc>
                <a:tc>
                  <a:txBody>
                    <a:bodyPr/>
                    <a:lstStyle/>
                    <a:p>
                      <a:r>
                        <a:rPr lang="en-US" sz="1600"/>
                        <a:t>10W-60</a:t>
                      </a:r>
                    </a:p>
                  </a:txBody>
                  <a:tcPr marL="81311" marR="81311" marT="40655" marB="40655"/>
                </a:tc>
                <a:extLst>
                  <a:ext uri="{0D108BD9-81ED-4DB2-BD59-A6C34878D82A}">
                    <a16:rowId xmlns:a16="http://schemas.microsoft.com/office/drawing/2014/main" val="2899885508"/>
                  </a:ext>
                </a:extLst>
              </a:tr>
              <a:tr h="353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SAM-AB1242</a:t>
                      </a:r>
                    </a:p>
                  </a:txBody>
                  <a:tcPr marL="121920" marR="121920" marT="60960" marB="60960"/>
                </a:tc>
                <a:tc>
                  <a:txBody>
                    <a:bodyPr/>
                    <a:lstStyle/>
                    <a:p>
                      <a:r>
                        <a:rPr lang="en-US" sz="1600"/>
                        <a:t>40.0</a:t>
                      </a:r>
                    </a:p>
                  </a:txBody>
                  <a:tcPr marL="121920" marR="121920" marT="60960" marB="60960"/>
                </a:tc>
                <a:tc>
                  <a:txBody>
                    <a:bodyPr/>
                    <a:lstStyle/>
                    <a:p>
                      <a:r>
                        <a:rPr lang="en-US" sz="1600"/>
                        <a:t>137</a:t>
                      </a:r>
                    </a:p>
                  </a:txBody>
                  <a:tcPr marL="121920" marR="121920" marT="60960" marB="60960"/>
                </a:tc>
                <a:tc>
                  <a:txBody>
                    <a:bodyPr/>
                    <a:lstStyle/>
                    <a:p>
                      <a:r>
                        <a:rPr lang="en-US" sz="1600"/>
                        <a:t>10W-60</a:t>
                      </a:r>
                    </a:p>
                  </a:txBody>
                  <a:tcPr marL="81311" marR="81311" marT="40655" marB="40655"/>
                </a:tc>
                <a:extLst>
                  <a:ext uri="{0D108BD9-81ED-4DB2-BD59-A6C34878D82A}">
                    <a16:rowId xmlns:a16="http://schemas.microsoft.com/office/drawing/2014/main" val="546025915"/>
                  </a:ext>
                </a:extLst>
              </a:tr>
              <a:tr h="353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SAM-AB1243</a:t>
                      </a:r>
                    </a:p>
                  </a:txBody>
                  <a:tcPr marL="121920" marR="121920" marT="60960" marB="60960"/>
                </a:tc>
                <a:tc>
                  <a:txBody>
                    <a:bodyPr/>
                    <a:lstStyle/>
                    <a:p>
                      <a:r>
                        <a:rPr lang="en-US" sz="1600"/>
                        <a:t>50.0</a:t>
                      </a:r>
                    </a:p>
                  </a:txBody>
                  <a:tcPr marL="121920" marR="121920" marT="60960" marB="60960"/>
                </a:tc>
                <a:tc>
                  <a:txBody>
                    <a:bodyPr/>
                    <a:lstStyle/>
                    <a:p>
                      <a:r>
                        <a:rPr lang="en-US" sz="1600"/>
                        <a:t>90</a:t>
                      </a:r>
                    </a:p>
                  </a:txBody>
                  <a:tcPr marL="121920" marR="121920" marT="60960" marB="60960"/>
                </a:tc>
                <a:tc>
                  <a:txBody>
                    <a:bodyPr/>
                    <a:lstStyle/>
                    <a:p>
                      <a:r>
                        <a:rPr lang="en-US" sz="1600"/>
                        <a:t>10W-60</a:t>
                      </a:r>
                    </a:p>
                  </a:txBody>
                  <a:tcPr marL="81311" marR="81311" marT="40655" marB="40655"/>
                </a:tc>
                <a:extLst>
                  <a:ext uri="{0D108BD9-81ED-4DB2-BD59-A6C34878D82A}">
                    <a16:rowId xmlns:a16="http://schemas.microsoft.com/office/drawing/2014/main" val="658559860"/>
                  </a:ext>
                </a:extLst>
              </a:tr>
              <a:tr h="353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SAM-AB1244</a:t>
                      </a:r>
                    </a:p>
                  </a:txBody>
                  <a:tcPr marL="121920" marR="121920" marT="60960" marB="60960"/>
                </a:tc>
                <a:tc>
                  <a:txBody>
                    <a:bodyPr/>
                    <a:lstStyle/>
                    <a:p>
                      <a:r>
                        <a:rPr lang="en-US" sz="1600"/>
                        <a:t>20.0</a:t>
                      </a:r>
                    </a:p>
                  </a:txBody>
                  <a:tcPr marL="121920" marR="121920" marT="60960" marB="60960"/>
                </a:tc>
                <a:tc>
                  <a:txBody>
                    <a:bodyPr/>
                    <a:lstStyle/>
                    <a:p>
                      <a:r>
                        <a:rPr lang="en-US" sz="1600"/>
                        <a:t>205</a:t>
                      </a:r>
                    </a:p>
                  </a:txBody>
                  <a:tcPr marL="121920" marR="121920" marT="60960" marB="60960"/>
                </a:tc>
                <a:tc>
                  <a:txBody>
                    <a:bodyPr/>
                    <a:lstStyle/>
                    <a:p>
                      <a:r>
                        <a:rPr lang="en-US" sz="1600"/>
                        <a:t>5W-40</a:t>
                      </a:r>
                    </a:p>
                  </a:txBody>
                  <a:tcPr marL="81311" marR="81311" marT="40655" marB="40655"/>
                </a:tc>
                <a:extLst>
                  <a:ext uri="{0D108BD9-81ED-4DB2-BD59-A6C34878D82A}">
                    <a16:rowId xmlns:a16="http://schemas.microsoft.com/office/drawing/2014/main" val="3976994312"/>
                  </a:ext>
                </a:extLst>
              </a:tr>
              <a:tr h="353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SAM-AB1245</a:t>
                      </a:r>
                    </a:p>
                  </a:txBody>
                  <a:tcPr marL="121920" marR="121920" marT="60960" marB="60960"/>
                </a:tc>
                <a:tc>
                  <a:txBody>
                    <a:bodyPr/>
                    <a:lstStyle/>
                    <a:p>
                      <a:r>
                        <a:rPr lang="en-US" sz="1600"/>
                        <a:t>30.0</a:t>
                      </a:r>
                    </a:p>
                  </a:txBody>
                  <a:tcPr marL="121920" marR="121920" marT="60960" marB="60960"/>
                </a:tc>
                <a:tc>
                  <a:txBody>
                    <a:bodyPr/>
                    <a:lstStyle/>
                    <a:p>
                      <a:r>
                        <a:rPr lang="en-US" sz="1600"/>
                        <a:t>121</a:t>
                      </a:r>
                    </a:p>
                  </a:txBody>
                  <a:tcPr marL="121920" marR="121920" marT="60960" marB="60960"/>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600"/>
                        <a:t>5W-40</a:t>
                      </a:r>
                    </a:p>
                  </a:txBody>
                  <a:tcPr marL="81311" marR="81311" marT="40655" marB="40655"/>
                </a:tc>
                <a:extLst>
                  <a:ext uri="{0D108BD9-81ED-4DB2-BD59-A6C34878D82A}">
                    <a16:rowId xmlns:a16="http://schemas.microsoft.com/office/drawing/2014/main" val="115979585"/>
                  </a:ext>
                </a:extLst>
              </a:tr>
              <a:tr h="353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SAM-AB1246</a:t>
                      </a:r>
                    </a:p>
                  </a:txBody>
                  <a:tcPr marL="121920" marR="121920" marT="60960" marB="60960"/>
                </a:tc>
                <a:tc>
                  <a:txBody>
                    <a:bodyPr/>
                    <a:lstStyle/>
                    <a:p>
                      <a:r>
                        <a:rPr lang="en-US" sz="1600"/>
                        <a:t>40.0</a:t>
                      </a:r>
                    </a:p>
                  </a:txBody>
                  <a:tcPr marL="121920" marR="121920" marT="60960" marB="60960"/>
                </a:tc>
                <a:tc>
                  <a:txBody>
                    <a:bodyPr/>
                    <a:lstStyle/>
                    <a:p>
                      <a:r>
                        <a:rPr lang="en-US" sz="1600"/>
                        <a:t>79</a:t>
                      </a:r>
                    </a:p>
                  </a:txBody>
                  <a:tcPr marL="121920" marR="121920" marT="60960" marB="60960"/>
                </a:tc>
                <a:tc>
                  <a:txBody>
                    <a:bodyPr/>
                    <a:lstStyle/>
                    <a:p>
                      <a:r>
                        <a:rPr lang="en-US" sz="1600"/>
                        <a:t>5W-40</a:t>
                      </a:r>
                    </a:p>
                  </a:txBody>
                  <a:tcPr marL="81311" marR="81311" marT="40655" marB="40655"/>
                </a:tc>
                <a:extLst>
                  <a:ext uri="{0D108BD9-81ED-4DB2-BD59-A6C34878D82A}">
                    <a16:rowId xmlns:a16="http://schemas.microsoft.com/office/drawing/2014/main" val="3218014707"/>
                  </a:ext>
                </a:extLst>
              </a:tr>
              <a:tr h="3539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SAM-AB1247</a:t>
                      </a:r>
                    </a:p>
                  </a:txBody>
                  <a:tcPr marL="121920" marR="121920" marT="60960" marB="60960"/>
                </a:tc>
                <a:tc>
                  <a:txBody>
                    <a:bodyPr/>
                    <a:lstStyle/>
                    <a:p>
                      <a:r>
                        <a:rPr lang="en-US" sz="1600"/>
                        <a:t>50.0</a:t>
                      </a:r>
                    </a:p>
                  </a:txBody>
                  <a:tcPr marL="121920" marR="121920" marT="60960" marB="60960"/>
                </a:tc>
                <a:tc>
                  <a:txBody>
                    <a:bodyPr/>
                    <a:lstStyle/>
                    <a:p>
                      <a:r>
                        <a:rPr lang="en-US" sz="1600"/>
                        <a:t>51</a:t>
                      </a:r>
                    </a:p>
                  </a:txBody>
                  <a:tcPr marL="121920" marR="121920" marT="60960" marB="60960"/>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600" dirty="0"/>
                        <a:t>5W-40</a:t>
                      </a:r>
                    </a:p>
                  </a:txBody>
                  <a:tcPr marL="81311" marR="81311" marT="40655" marB="40655"/>
                </a:tc>
                <a:extLst>
                  <a:ext uri="{0D108BD9-81ED-4DB2-BD59-A6C34878D82A}">
                    <a16:rowId xmlns:a16="http://schemas.microsoft.com/office/drawing/2014/main" val="1444246852"/>
                  </a:ext>
                </a:extLst>
              </a:tr>
            </a:tbl>
          </a:graphicData>
        </a:graphic>
      </p:graphicFrame>
    </p:spTree>
    <p:extLst>
      <p:ext uri="{BB962C8B-B14F-4D97-AF65-F5344CB8AC3E}">
        <p14:creationId xmlns:p14="http://schemas.microsoft.com/office/powerpoint/2010/main" val="2282609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Tidy data: rectangular shape</a:t>
            </a:r>
            <a:endParaRPr sz="3200" b="1" i="0" dirty="0">
              <a:solidFill>
                <a:srgbClr val="1E2761"/>
              </a:solidFill>
              <a:latin typeface="Cambria"/>
            </a:endParaRPr>
          </a:p>
        </p:txBody>
      </p:sp>
      <p:graphicFrame>
        <p:nvGraphicFramePr>
          <p:cNvPr id="82" name="Table 7">
            <a:extLst>
              <a:ext uri="{FF2B5EF4-FFF2-40B4-BE49-F238E27FC236}">
                <a16:creationId xmlns:a16="http://schemas.microsoft.com/office/drawing/2014/main" id="{3E00C7D4-4FD8-FC5B-71C2-B872C71240AF}"/>
              </a:ext>
            </a:extLst>
          </p:cNvPr>
          <p:cNvGraphicFramePr>
            <a:graphicFrameLocks noGrp="1"/>
          </p:cNvGraphicFramePr>
          <p:nvPr>
            <p:extLst>
              <p:ext uri="{D42A27DB-BD31-4B8C-83A1-F6EECF244321}">
                <p14:modId xmlns:p14="http://schemas.microsoft.com/office/powerpoint/2010/main" val="1345611039"/>
              </p:ext>
            </p:extLst>
          </p:nvPr>
        </p:nvGraphicFramePr>
        <p:xfrm>
          <a:off x="803964" y="1760310"/>
          <a:ext cx="6263320" cy="3525536"/>
        </p:xfrm>
        <a:graphic>
          <a:graphicData uri="http://schemas.openxmlformats.org/drawingml/2006/table">
            <a:tbl>
              <a:tblPr firstRow="1" bandRow="1"/>
              <a:tblGrid>
                <a:gridCol w="1753341">
                  <a:extLst>
                    <a:ext uri="{9D8B030D-6E8A-4147-A177-3AD203B41FA5}">
                      <a16:colId xmlns:a16="http://schemas.microsoft.com/office/drawing/2014/main" val="1619538324"/>
                    </a:ext>
                  </a:extLst>
                </a:gridCol>
                <a:gridCol w="1665669">
                  <a:extLst>
                    <a:ext uri="{9D8B030D-6E8A-4147-A177-3AD203B41FA5}">
                      <a16:colId xmlns:a16="http://schemas.microsoft.com/office/drawing/2014/main" val="2204580905"/>
                    </a:ext>
                  </a:extLst>
                </a:gridCol>
                <a:gridCol w="1422155">
                  <a:extLst>
                    <a:ext uri="{9D8B030D-6E8A-4147-A177-3AD203B41FA5}">
                      <a16:colId xmlns:a16="http://schemas.microsoft.com/office/drawing/2014/main" val="253053857"/>
                    </a:ext>
                  </a:extLst>
                </a:gridCol>
                <a:gridCol w="1422155">
                  <a:extLst>
                    <a:ext uri="{9D8B030D-6E8A-4147-A177-3AD203B41FA5}">
                      <a16:colId xmlns:a16="http://schemas.microsoft.com/office/drawing/2014/main" val="1733008077"/>
                    </a:ext>
                  </a:extLst>
                </a:gridCol>
              </a:tblGrid>
              <a:tr h="558818">
                <a:tc>
                  <a:txBody>
                    <a:bodyPr/>
                    <a:lstStyle>
                      <a:lvl1pPr marL="0" algn="l" defTabSz="457200" rtl="0" eaLnBrk="1" latinLnBrk="0" hangingPunct="1">
                        <a:defRPr sz="1800" b="1" kern="1200">
                          <a:solidFill>
                            <a:schemeClr val="lt1"/>
                          </a:solidFill>
                          <a:latin typeface="Arial" panose="020B0604020202020204"/>
                        </a:defRPr>
                      </a:lvl1pPr>
                      <a:lvl2pPr marL="457200" algn="l" defTabSz="457200" rtl="0" eaLnBrk="1" latinLnBrk="0" hangingPunct="1">
                        <a:defRPr sz="1800" b="1" kern="1200">
                          <a:solidFill>
                            <a:schemeClr val="lt1"/>
                          </a:solidFill>
                          <a:latin typeface="Arial" panose="020B0604020202020204"/>
                        </a:defRPr>
                      </a:lvl2pPr>
                      <a:lvl3pPr marL="914400" algn="l" defTabSz="457200" rtl="0" eaLnBrk="1" latinLnBrk="0" hangingPunct="1">
                        <a:defRPr sz="1800" b="1" kern="1200">
                          <a:solidFill>
                            <a:schemeClr val="lt1"/>
                          </a:solidFill>
                          <a:latin typeface="Arial" panose="020B0604020202020204"/>
                        </a:defRPr>
                      </a:lvl3pPr>
                      <a:lvl4pPr marL="1371600" algn="l" defTabSz="457200" rtl="0" eaLnBrk="1" latinLnBrk="0" hangingPunct="1">
                        <a:defRPr sz="1800" b="1" kern="1200">
                          <a:solidFill>
                            <a:schemeClr val="lt1"/>
                          </a:solidFill>
                          <a:latin typeface="Arial" panose="020B0604020202020204"/>
                        </a:defRPr>
                      </a:lvl4pPr>
                      <a:lvl5pPr marL="1828800" algn="l" defTabSz="457200" rtl="0" eaLnBrk="1" latinLnBrk="0" hangingPunct="1">
                        <a:defRPr sz="1800" b="1" kern="1200">
                          <a:solidFill>
                            <a:schemeClr val="lt1"/>
                          </a:solidFill>
                          <a:latin typeface="Arial" panose="020B0604020202020204"/>
                        </a:defRPr>
                      </a:lvl5pPr>
                      <a:lvl6pPr marL="2286000" algn="l" defTabSz="457200" rtl="0" eaLnBrk="1" latinLnBrk="0" hangingPunct="1">
                        <a:defRPr sz="1800" b="1" kern="1200">
                          <a:solidFill>
                            <a:schemeClr val="lt1"/>
                          </a:solidFill>
                          <a:latin typeface="Arial" panose="020B0604020202020204"/>
                        </a:defRPr>
                      </a:lvl6pPr>
                      <a:lvl7pPr marL="2743200" algn="l" defTabSz="457200" rtl="0" eaLnBrk="1" latinLnBrk="0" hangingPunct="1">
                        <a:defRPr sz="1800" b="1" kern="1200">
                          <a:solidFill>
                            <a:schemeClr val="lt1"/>
                          </a:solidFill>
                          <a:latin typeface="Arial" panose="020B0604020202020204"/>
                        </a:defRPr>
                      </a:lvl7pPr>
                      <a:lvl8pPr marL="3200400" algn="l" defTabSz="457200" rtl="0" eaLnBrk="1" latinLnBrk="0" hangingPunct="1">
                        <a:defRPr sz="1800" b="1" kern="1200">
                          <a:solidFill>
                            <a:schemeClr val="lt1"/>
                          </a:solidFill>
                          <a:latin typeface="Arial" panose="020B0604020202020204"/>
                        </a:defRPr>
                      </a:lvl8pPr>
                      <a:lvl9pPr marL="3657600" algn="l" defTabSz="457200" rtl="0" eaLnBrk="1" latinLnBrk="0" hangingPunct="1">
                        <a:defRPr sz="1800" b="1" kern="1200">
                          <a:solidFill>
                            <a:schemeClr val="lt1"/>
                          </a:solidFill>
                          <a:latin typeface="Arial" panose="020B0604020202020204"/>
                        </a:defRPr>
                      </a:lvl9pPr>
                    </a:lstStyle>
                    <a:p>
                      <a:r>
                        <a:rPr lang="en-US" sz="1400" err="1"/>
                        <a:t>sample_number</a:t>
                      </a:r>
                      <a:endParaRPr lang="en-US" sz="1400"/>
                    </a:p>
                  </a:txBody>
                  <a:tcPr marL="121920" marR="121920" marT="60960" marB="6096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29995"/>
                    </a:solidFill>
                  </a:tcPr>
                </a:tc>
                <a:tc>
                  <a:txBody>
                    <a:bodyPr/>
                    <a:lstStyle>
                      <a:lvl1pPr marL="0" algn="l" defTabSz="457200" rtl="0" eaLnBrk="1" latinLnBrk="0" hangingPunct="1">
                        <a:defRPr sz="1800" b="1" kern="1200">
                          <a:solidFill>
                            <a:schemeClr val="lt1"/>
                          </a:solidFill>
                          <a:latin typeface="Arial" panose="020B0604020202020204"/>
                        </a:defRPr>
                      </a:lvl1pPr>
                      <a:lvl2pPr marL="457200" algn="l" defTabSz="457200" rtl="0" eaLnBrk="1" latinLnBrk="0" hangingPunct="1">
                        <a:defRPr sz="1800" b="1" kern="1200">
                          <a:solidFill>
                            <a:schemeClr val="lt1"/>
                          </a:solidFill>
                          <a:latin typeface="Arial" panose="020B0604020202020204"/>
                        </a:defRPr>
                      </a:lvl2pPr>
                      <a:lvl3pPr marL="914400" algn="l" defTabSz="457200" rtl="0" eaLnBrk="1" latinLnBrk="0" hangingPunct="1">
                        <a:defRPr sz="1800" b="1" kern="1200">
                          <a:solidFill>
                            <a:schemeClr val="lt1"/>
                          </a:solidFill>
                          <a:latin typeface="Arial" panose="020B0604020202020204"/>
                        </a:defRPr>
                      </a:lvl3pPr>
                      <a:lvl4pPr marL="1371600" algn="l" defTabSz="457200" rtl="0" eaLnBrk="1" latinLnBrk="0" hangingPunct="1">
                        <a:defRPr sz="1800" b="1" kern="1200">
                          <a:solidFill>
                            <a:schemeClr val="lt1"/>
                          </a:solidFill>
                          <a:latin typeface="Arial" panose="020B0604020202020204"/>
                        </a:defRPr>
                      </a:lvl4pPr>
                      <a:lvl5pPr marL="1828800" algn="l" defTabSz="457200" rtl="0" eaLnBrk="1" latinLnBrk="0" hangingPunct="1">
                        <a:defRPr sz="1800" b="1" kern="1200">
                          <a:solidFill>
                            <a:schemeClr val="lt1"/>
                          </a:solidFill>
                          <a:latin typeface="Arial" panose="020B0604020202020204"/>
                        </a:defRPr>
                      </a:lvl5pPr>
                      <a:lvl6pPr marL="2286000" algn="l" defTabSz="457200" rtl="0" eaLnBrk="1" latinLnBrk="0" hangingPunct="1">
                        <a:defRPr sz="1800" b="1" kern="1200">
                          <a:solidFill>
                            <a:schemeClr val="lt1"/>
                          </a:solidFill>
                          <a:latin typeface="Arial" panose="020B0604020202020204"/>
                        </a:defRPr>
                      </a:lvl6pPr>
                      <a:lvl7pPr marL="2743200" algn="l" defTabSz="457200" rtl="0" eaLnBrk="1" latinLnBrk="0" hangingPunct="1">
                        <a:defRPr sz="1800" b="1" kern="1200">
                          <a:solidFill>
                            <a:schemeClr val="lt1"/>
                          </a:solidFill>
                          <a:latin typeface="Arial" panose="020B0604020202020204"/>
                        </a:defRPr>
                      </a:lvl7pPr>
                      <a:lvl8pPr marL="3200400" algn="l" defTabSz="457200" rtl="0" eaLnBrk="1" latinLnBrk="0" hangingPunct="1">
                        <a:defRPr sz="1800" b="1" kern="1200">
                          <a:solidFill>
                            <a:schemeClr val="lt1"/>
                          </a:solidFill>
                          <a:latin typeface="Arial" panose="020B0604020202020204"/>
                        </a:defRPr>
                      </a:lvl8pPr>
                      <a:lvl9pPr marL="3657600" algn="l" defTabSz="457200" rtl="0" eaLnBrk="1" latinLnBrk="0" hangingPunct="1">
                        <a:defRPr sz="1800" b="1" kern="1200">
                          <a:solidFill>
                            <a:schemeClr val="lt1"/>
                          </a:solidFill>
                          <a:latin typeface="Arial" panose="020B0604020202020204"/>
                        </a:defRPr>
                      </a:lvl9pPr>
                    </a:lstStyle>
                    <a:p>
                      <a:r>
                        <a:rPr lang="en-US" sz="1400"/>
                        <a:t>temperature: </a:t>
                      </a:r>
                      <a:r>
                        <a:rPr lang="en-US" sz="1400" err="1"/>
                        <a:t>deg_c</a:t>
                      </a:r>
                      <a:endParaRPr lang="en-US" sz="1400"/>
                    </a:p>
                  </a:txBody>
                  <a:tcPr marL="121920" marR="121920" marT="60960" marB="6096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29995"/>
                    </a:solidFill>
                  </a:tcPr>
                </a:tc>
                <a:tc>
                  <a:txBody>
                    <a:bodyPr/>
                    <a:lstStyle>
                      <a:lvl1pPr marL="0" algn="l" defTabSz="457200" rtl="0" eaLnBrk="1" latinLnBrk="0" hangingPunct="1">
                        <a:defRPr sz="1800" b="1" kern="1200">
                          <a:solidFill>
                            <a:schemeClr val="lt1"/>
                          </a:solidFill>
                          <a:latin typeface="Arial" panose="020B0604020202020204"/>
                        </a:defRPr>
                      </a:lvl1pPr>
                      <a:lvl2pPr marL="457200" algn="l" defTabSz="457200" rtl="0" eaLnBrk="1" latinLnBrk="0" hangingPunct="1">
                        <a:defRPr sz="1800" b="1" kern="1200">
                          <a:solidFill>
                            <a:schemeClr val="lt1"/>
                          </a:solidFill>
                          <a:latin typeface="Arial" panose="020B0604020202020204"/>
                        </a:defRPr>
                      </a:lvl2pPr>
                      <a:lvl3pPr marL="914400" algn="l" defTabSz="457200" rtl="0" eaLnBrk="1" latinLnBrk="0" hangingPunct="1">
                        <a:defRPr sz="1800" b="1" kern="1200">
                          <a:solidFill>
                            <a:schemeClr val="lt1"/>
                          </a:solidFill>
                          <a:latin typeface="Arial" panose="020B0604020202020204"/>
                        </a:defRPr>
                      </a:lvl3pPr>
                      <a:lvl4pPr marL="1371600" algn="l" defTabSz="457200" rtl="0" eaLnBrk="1" latinLnBrk="0" hangingPunct="1">
                        <a:defRPr sz="1800" b="1" kern="1200">
                          <a:solidFill>
                            <a:schemeClr val="lt1"/>
                          </a:solidFill>
                          <a:latin typeface="Arial" panose="020B0604020202020204"/>
                        </a:defRPr>
                      </a:lvl4pPr>
                      <a:lvl5pPr marL="1828800" algn="l" defTabSz="457200" rtl="0" eaLnBrk="1" latinLnBrk="0" hangingPunct="1">
                        <a:defRPr sz="1800" b="1" kern="1200">
                          <a:solidFill>
                            <a:schemeClr val="lt1"/>
                          </a:solidFill>
                          <a:latin typeface="Arial" panose="020B0604020202020204"/>
                        </a:defRPr>
                      </a:lvl5pPr>
                      <a:lvl6pPr marL="2286000" algn="l" defTabSz="457200" rtl="0" eaLnBrk="1" latinLnBrk="0" hangingPunct="1">
                        <a:defRPr sz="1800" b="1" kern="1200">
                          <a:solidFill>
                            <a:schemeClr val="lt1"/>
                          </a:solidFill>
                          <a:latin typeface="Arial" panose="020B0604020202020204"/>
                        </a:defRPr>
                      </a:lvl6pPr>
                      <a:lvl7pPr marL="2743200" algn="l" defTabSz="457200" rtl="0" eaLnBrk="1" latinLnBrk="0" hangingPunct="1">
                        <a:defRPr sz="1800" b="1" kern="1200">
                          <a:solidFill>
                            <a:schemeClr val="lt1"/>
                          </a:solidFill>
                          <a:latin typeface="Arial" panose="020B0604020202020204"/>
                        </a:defRPr>
                      </a:lvl7pPr>
                      <a:lvl8pPr marL="3200400" algn="l" defTabSz="457200" rtl="0" eaLnBrk="1" latinLnBrk="0" hangingPunct="1">
                        <a:defRPr sz="1800" b="1" kern="1200">
                          <a:solidFill>
                            <a:schemeClr val="lt1"/>
                          </a:solidFill>
                          <a:latin typeface="Arial" panose="020B0604020202020204"/>
                        </a:defRPr>
                      </a:lvl8pPr>
                      <a:lvl9pPr marL="3657600" algn="l" defTabSz="457200" rtl="0" eaLnBrk="1" latinLnBrk="0" hangingPunct="1">
                        <a:defRPr sz="1800" b="1" kern="1200">
                          <a:solidFill>
                            <a:schemeClr val="lt1"/>
                          </a:solidFill>
                          <a:latin typeface="Arial" panose="020B0604020202020204"/>
                        </a:defRPr>
                      </a:lvl9pPr>
                    </a:lstStyle>
                    <a:p>
                      <a:r>
                        <a:rPr lang="en-US" sz="1400"/>
                        <a:t>viscosity: cp</a:t>
                      </a:r>
                    </a:p>
                  </a:txBody>
                  <a:tcPr marL="121920" marR="121920" marT="60960" marB="60960">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29995"/>
                    </a:solidFill>
                  </a:tcPr>
                </a:tc>
                <a:tc>
                  <a:txBody>
                    <a:bodyPr/>
                    <a:lstStyle>
                      <a:lvl1pPr marL="0" algn="l" defTabSz="457200" rtl="0" eaLnBrk="1" latinLnBrk="0" hangingPunct="1">
                        <a:defRPr sz="1800" b="1" kern="1200">
                          <a:solidFill>
                            <a:schemeClr val="lt1"/>
                          </a:solidFill>
                          <a:latin typeface="Arial" panose="020B0604020202020204"/>
                        </a:defRPr>
                      </a:lvl1pPr>
                      <a:lvl2pPr marL="457200" algn="l" defTabSz="457200" rtl="0" eaLnBrk="1" latinLnBrk="0" hangingPunct="1">
                        <a:defRPr sz="1800" b="1" kern="1200">
                          <a:solidFill>
                            <a:schemeClr val="lt1"/>
                          </a:solidFill>
                          <a:latin typeface="Arial" panose="020B0604020202020204"/>
                        </a:defRPr>
                      </a:lvl2pPr>
                      <a:lvl3pPr marL="914400" algn="l" defTabSz="457200" rtl="0" eaLnBrk="1" latinLnBrk="0" hangingPunct="1">
                        <a:defRPr sz="1800" b="1" kern="1200">
                          <a:solidFill>
                            <a:schemeClr val="lt1"/>
                          </a:solidFill>
                          <a:latin typeface="Arial" panose="020B0604020202020204"/>
                        </a:defRPr>
                      </a:lvl3pPr>
                      <a:lvl4pPr marL="1371600" algn="l" defTabSz="457200" rtl="0" eaLnBrk="1" latinLnBrk="0" hangingPunct="1">
                        <a:defRPr sz="1800" b="1" kern="1200">
                          <a:solidFill>
                            <a:schemeClr val="lt1"/>
                          </a:solidFill>
                          <a:latin typeface="Arial" panose="020B0604020202020204"/>
                        </a:defRPr>
                      </a:lvl4pPr>
                      <a:lvl5pPr marL="1828800" algn="l" defTabSz="457200" rtl="0" eaLnBrk="1" latinLnBrk="0" hangingPunct="1">
                        <a:defRPr sz="1800" b="1" kern="1200">
                          <a:solidFill>
                            <a:schemeClr val="lt1"/>
                          </a:solidFill>
                          <a:latin typeface="Arial" panose="020B0604020202020204"/>
                        </a:defRPr>
                      </a:lvl5pPr>
                      <a:lvl6pPr marL="2286000" algn="l" defTabSz="457200" rtl="0" eaLnBrk="1" latinLnBrk="0" hangingPunct="1">
                        <a:defRPr sz="1800" b="1" kern="1200">
                          <a:solidFill>
                            <a:schemeClr val="lt1"/>
                          </a:solidFill>
                          <a:latin typeface="Arial" panose="020B0604020202020204"/>
                        </a:defRPr>
                      </a:lvl6pPr>
                      <a:lvl7pPr marL="2743200" algn="l" defTabSz="457200" rtl="0" eaLnBrk="1" latinLnBrk="0" hangingPunct="1">
                        <a:defRPr sz="1800" b="1" kern="1200">
                          <a:solidFill>
                            <a:schemeClr val="lt1"/>
                          </a:solidFill>
                          <a:latin typeface="Arial" panose="020B0604020202020204"/>
                        </a:defRPr>
                      </a:lvl7pPr>
                      <a:lvl8pPr marL="3200400" algn="l" defTabSz="457200" rtl="0" eaLnBrk="1" latinLnBrk="0" hangingPunct="1">
                        <a:defRPr sz="1800" b="1" kern="1200">
                          <a:solidFill>
                            <a:schemeClr val="lt1"/>
                          </a:solidFill>
                          <a:latin typeface="Arial" panose="020B0604020202020204"/>
                        </a:defRPr>
                      </a:lvl8pPr>
                      <a:lvl9pPr marL="3657600" algn="l" defTabSz="457200" rtl="0" eaLnBrk="1" latinLnBrk="0" hangingPunct="1">
                        <a:defRPr sz="1800" b="1" kern="1200">
                          <a:solidFill>
                            <a:schemeClr val="lt1"/>
                          </a:solidFill>
                          <a:latin typeface="Arial" panose="020B0604020202020204"/>
                        </a:defRPr>
                      </a:lvl9pPr>
                    </a:lstStyle>
                    <a:p>
                      <a:r>
                        <a:rPr lang="en-US" sz="1400"/>
                        <a:t>material: </a:t>
                      </a:r>
                      <a:r>
                        <a:rPr lang="en-US" sz="1400" err="1"/>
                        <a:t>sae_grade</a:t>
                      </a:r>
                      <a:endParaRPr lang="en-US" sz="1400"/>
                    </a:p>
                  </a:txBody>
                  <a:tcPr marL="81311" marR="81311" marT="40655" marB="40655">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829995"/>
                    </a:solidFill>
                  </a:tcPr>
                </a:tc>
                <a:extLst>
                  <a:ext uri="{0D108BD9-81ED-4DB2-BD59-A6C34878D82A}">
                    <a16:rowId xmlns:a16="http://schemas.microsoft.com/office/drawing/2014/main" val="1107157796"/>
                  </a:ext>
                </a:extLst>
              </a:tr>
              <a:tr h="494453">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SAM-AB1234</a:t>
                      </a:r>
                    </a:p>
                  </a:txBody>
                  <a:tcPr marL="121920" marR="121920" marT="60960" marB="6096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4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20.0</a:t>
                      </a:r>
                    </a:p>
                  </a:txBody>
                  <a:tcPr marL="121920" marR="121920" marT="60960" marB="6096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4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286</a:t>
                      </a:r>
                    </a:p>
                  </a:txBody>
                  <a:tcPr marL="121920" marR="121920" marT="60960" marB="6096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4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15W-40</a:t>
                      </a:r>
                    </a:p>
                  </a:txBody>
                  <a:tcPr marL="81311" marR="81311" marT="40655" marB="40655"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40000"/>
                      </a:srgbClr>
                    </a:solidFill>
                  </a:tcPr>
                </a:tc>
                <a:extLst>
                  <a:ext uri="{0D108BD9-81ED-4DB2-BD59-A6C34878D82A}">
                    <a16:rowId xmlns:a16="http://schemas.microsoft.com/office/drawing/2014/main" val="1919681070"/>
                  </a:ext>
                </a:extLst>
              </a:tr>
              <a:tr h="494453">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SAM-AB1235</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2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30.0</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2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154</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2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15W-40</a:t>
                      </a:r>
                    </a:p>
                  </a:txBody>
                  <a:tcPr marL="81311" marR="81311" marT="40655" marB="4065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20000"/>
                      </a:srgbClr>
                    </a:solidFill>
                  </a:tcPr>
                </a:tc>
                <a:extLst>
                  <a:ext uri="{0D108BD9-81ED-4DB2-BD59-A6C34878D82A}">
                    <a16:rowId xmlns:a16="http://schemas.microsoft.com/office/drawing/2014/main" val="3264277782"/>
                  </a:ext>
                </a:extLst>
              </a:tr>
              <a:tr h="494453">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SAM-AB1236</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4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20.0</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4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210</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4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10W-40</a:t>
                      </a:r>
                    </a:p>
                  </a:txBody>
                  <a:tcPr marL="81311" marR="81311" marT="40655" marB="4065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40000"/>
                      </a:srgbClr>
                    </a:solidFill>
                  </a:tcPr>
                </a:tc>
                <a:extLst>
                  <a:ext uri="{0D108BD9-81ED-4DB2-BD59-A6C34878D82A}">
                    <a16:rowId xmlns:a16="http://schemas.microsoft.com/office/drawing/2014/main" val="3562596706"/>
                  </a:ext>
                </a:extLst>
              </a:tr>
              <a:tr h="494453">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SAM-AB1237</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2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30.0</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2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121</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2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10W-40</a:t>
                      </a:r>
                    </a:p>
                  </a:txBody>
                  <a:tcPr marL="81311" marR="81311" marT="40655" marB="4065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20000"/>
                      </a:srgbClr>
                    </a:solidFill>
                  </a:tcPr>
                </a:tc>
                <a:extLst>
                  <a:ext uri="{0D108BD9-81ED-4DB2-BD59-A6C34878D82A}">
                    <a16:rowId xmlns:a16="http://schemas.microsoft.com/office/drawing/2014/main" val="2810195785"/>
                  </a:ext>
                </a:extLst>
              </a:tr>
              <a:tr h="494453">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SAM-AB1238</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4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20.0</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4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382</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4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10W-60</a:t>
                      </a:r>
                    </a:p>
                  </a:txBody>
                  <a:tcPr marL="81311" marR="81311" marT="40655" marB="4065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40000"/>
                      </a:srgbClr>
                    </a:solidFill>
                  </a:tcPr>
                </a:tc>
                <a:extLst>
                  <a:ext uri="{0D108BD9-81ED-4DB2-BD59-A6C34878D82A}">
                    <a16:rowId xmlns:a16="http://schemas.microsoft.com/office/drawing/2014/main" val="162406719"/>
                  </a:ext>
                </a:extLst>
              </a:tr>
              <a:tr h="494453">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a:t>SAM-AB1241</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2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30.0</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2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221</a:t>
                      </a:r>
                    </a:p>
                  </a:txBody>
                  <a:tcPr marL="121920" marR="121920" marT="60960" marB="6096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20000"/>
                      </a:srgbClr>
                    </a:solidFill>
                  </a:tcPr>
                </a:tc>
                <a:tc>
                  <a:txBody>
                    <a:bodyPr/>
                    <a:lstStyle>
                      <a:lvl1pPr marL="0" algn="l" defTabSz="457200" rtl="0" eaLnBrk="1" latinLnBrk="0" hangingPunct="1">
                        <a:defRPr sz="1800" kern="1200">
                          <a:solidFill>
                            <a:schemeClr val="dk1"/>
                          </a:solidFill>
                          <a:latin typeface="Arial" panose="020B0604020202020204"/>
                        </a:defRPr>
                      </a:lvl1pPr>
                      <a:lvl2pPr marL="457200" algn="l" defTabSz="457200" rtl="0" eaLnBrk="1" latinLnBrk="0" hangingPunct="1">
                        <a:defRPr sz="1800" kern="1200">
                          <a:solidFill>
                            <a:schemeClr val="dk1"/>
                          </a:solidFill>
                          <a:latin typeface="Arial" panose="020B0604020202020204"/>
                        </a:defRPr>
                      </a:lvl2pPr>
                      <a:lvl3pPr marL="914400" algn="l" defTabSz="457200" rtl="0" eaLnBrk="1" latinLnBrk="0" hangingPunct="1">
                        <a:defRPr sz="1800" kern="1200">
                          <a:solidFill>
                            <a:schemeClr val="dk1"/>
                          </a:solidFill>
                          <a:latin typeface="Arial" panose="020B0604020202020204"/>
                        </a:defRPr>
                      </a:lvl3pPr>
                      <a:lvl4pPr marL="1371600" algn="l" defTabSz="457200" rtl="0" eaLnBrk="1" latinLnBrk="0" hangingPunct="1">
                        <a:defRPr sz="1800" kern="1200">
                          <a:solidFill>
                            <a:schemeClr val="dk1"/>
                          </a:solidFill>
                          <a:latin typeface="Arial" panose="020B0604020202020204"/>
                        </a:defRPr>
                      </a:lvl4pPr>
                      <a:lvl5pPr marL="1828800" algn="l" defTabSz="457200" rtl="0" eaLnBrk="1" latinLnBrk="0" hangingPunct="1">
                        <a:defRPr sz="1800" kern="1200">
                          <a:solidFill>
                            <a:schemeClr val="dk1"/>
                          </a:solidFill>
                          <a:latin typeface="Arial" panose="020B0604020202020204"/>
                        </a:defRPr>
                      </a:lvl5pPr>
                      <a:lvl6pPr marL="2286000" algn="l" defTabSz="457200" rtl="0" eaLnBrk="1" latinLnBrk="0" hangingPunct="1">
                        <a:defRPr sz="1800" kern="1200">
                          <a:solidFill>
                            <a:schemeClr val="dk1"/>
                          </a:solidFill>
                          <a:latin typeface="Arial" panose="020B0604020202020204"/>
                        </a:defRPr>
                      </a:lvl6pPr>
                      <a:lvl7pPr marL="2743200" algn="l" defTabSz="457200" rtl="0" eaLnBrk="1" latinLnBrk="0" hangingPunct="1">
                        <a:defRPr sz="1800" kern="1200">
                          <a:solidFill>
                            <a:schemeClr val="dk1"/>
                          </a:solidFill>
                          <a:latin typeface="Arial" panose="020B0604020202020204"/>
                        </a:defRPr>
                      </a:lvl7pPr>
                      <a:lvl8pPr marL="3200400" algn="l" defTabSz="457200" rtl="0" eaLnBrk="1" latinLnBrk="0" hangingPunct="1">
                        <a:defRPr sz="1800" kern="1200">
                          <a:solidFill>
                            <a:schemeClr val="dk1"/>
                          </a:solidFill>
                          <a:latin typeface="Arial" panose="020B0604020202020204"/>
                        </a:defRPr>
                      </a:lvl8pPr>
                      <a:lvl9pPr marL="3657600" algn="l" defTabSz="457200" rtl="0" eaLnBrk="1" latinLnBrk="0" hangingPunct="1">
                        <a:defRPr sz="1800" kern="1200">
                          <a:solidFill>
                            <a:schemeClr val="dk1"/>
                          </a:solidFill>
                          <a:latin typeface="Arial" panose="020B0604020202020204"/>
                        </a:defRPr>
                      </a:lvl9pPr>
                    </a:lstStyle>
                    <a:p>
                      <a:pPr algn="ctr"/>
                      <a:r>
                        <a:rPr lang="en-US" sz="1600"/>
                        <a:t>10W-60</a:t>
                      </a:r>
                    </a:p>
                  </a:txBody>
                  <a:tcPr marL="81311" marR="81311" marT="40655" marB="40655"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829995">
                        <a:tint val="20000"/>
                      </a:srgbClr>
                    </a:solidFill>
                  </a:tcPr>
                </a:tc>
                <a:extLst>
                  <a:ext uri="{0D108BD9-81ED-4DB2-BD59-A6C34878D82A}">
                    <a16:rowId xmlns:a16="http://schemas.microsoft.com/office/drawing/2014/main" val="2899885508"/>
                  </a:ext>
                </a:extLst>
              </a:tr>
            </a:tbl>
          </a:graphicData>
        </a:graphic>
      </p:graphicFrame>
      <p:sp>
        <p:nvSpPr>
          <p:cNvPr id="83" name="TextBox 82">
            <a:extLst>
              <a:ext uri="{FF2B5EF4-FFF2-40B4-BE49-F238E27FC236}">
                <a16:creationId xmlns:a16="http://schemas.microsoft.com/office/drawing/2014/main" id="{1DE1FC5E-788D-364D-FD80-6E0A50D419DC}"/>
              </a:ext>
            </a:extLst>
          </p:cNvPr>
          <p:cNvSpPr txBox="1"/>
          <p:nvPr/>
        </p:nvSpPr>
        <p:spPr>
          <a:xfrm>
            <a:off x="7542995" y="2084082"/>
            <a:ext cx="4469393" cy="3046988"/>
          </a:xfrm>
          <a:prstGeom prst="rect">
            <a:avLst/>
          </a:prstGeom>
          <a:noFill/>
        </p:spPr>
        <p:txBody>
          <a:bodyPr wrap="square">
            <a:spAutoFit/>
          </a:bodyPr>
          <a:lstStyle/>
          <a:p>
            <a:pPr defTabSz="914400"/>
            <a:r>
              <a:rPr lang="en-US" sz="2400" dirty="0">
                <a:latin typeface="Arial" panose="020B0604020202020204" pitchFamily="34" charset="0"/>
              </a:rPr>
              <a:t>Rectangular data can be easily understood by humans as well as computers.</a:t>
            </a:r>
          </a:p>
          <a:p>
            <a:pPr defTabSz="914400"/>
            <a:endParaRPr lang="en-US" sz="2400" dirty="0">
              <a:latin typeface="Times New Roman" panose="02020603050405020304" pitchFamily="18" charset="0"/>
            </a:endParaRPr>
          </a:p>
          <a:p>
            <a:pPr defTabSz="914400"/>
            <a:r>
              <a:rPr lang="en-US" sz="2400" dirty="0">
                <a:latin typeface="Arial" panose="020B0604020202020204" pitchFamily="34" charset="0"/>
              </a:rPr>
              <a:t>Rectangular data is a </a:t>
            </a:r>
            <a:r>
              <a:rPr lang="en-US" sz="2400" b="1" dirty="0">
                <a:latin typeface="Arial" panose="020B0604020202020204" pitchFamily="34" charset="0"/>
              </a:rPr>
              <a:t>prerequisite for processing and analysis of the data by computers</a:t>
            </a:r>
            <a:endParaRPr lang="en-US" sz="2400" b="1" dirty="0">
              <a:latin typeface="Times New Roman" panose="02020603050405020304" pitchFamily="18" charset="0"/>
            </a:endParaRPr>
          </a:p>
        </p:txBody>
      </p:sp>
      <p:grpSp>
        <p:nvGrpSpPr>
          <p:cNvPr id="84" name="Group 83">
            <a:extLst>
              <a:ext uri="{FF2B5EF4-FFF2-40B4-BE49-F238E27FC236}">
                <a16:creationId xmlns:a16="http://schemas.microsoft.com/office/drawing/2014/main" id="{653C1369-0A5A-02E1-4B2D-B446144DF11B}"/>
              </a:ext>
            </a:extLst>
          </p:cNvPr>
          <p:cNvGrpSpPr/>
          <p:nvPr/>
        </p:nvGrpSpPr>
        <p:grpSpPr>
          <a:xfrm>
            <a:off x="2350965" y="2084082"/>
            <a:ext cx="3316864" cy="2233919"/>
            <a:chOff x="2350965" y="2084082"/>
            <a:chExt cx="3316864" cy="2233919"/>
          </a:xfrm>
        </p:grpSpPr>
        <p:cxnSp>
          <p:nvCxnSpPr>
            <p:cNvPr id="85" name="Straight Arrow Connector 84">
              <a:extLst>
                <a:ext uri="{FF2B5EF4-FFF2-40B4-BE49-F238E27FC236}">
                  <a16:creationId xmlns:a16="http://schemas.microsoft.com/office/drawing/2014/main" id="{CBC0ED36-8053-C098-EA84-02F8D812B08E}"/>
                </a:ext>
              </a:extLst>
            </p:cNvPr>
            <p:cNvCxnSpPr>
              <a:cxnSpLocks/>
            </p:cNvCxnSpPr>
            <p:nvPr/>
          </p:nvCxnSpPr>
          <p:spPr>
            <a:xfrm>
              <a:off x="4945742" y="2084082"/>
              <a:ext cx="0" cy="1742616"/>
            </a:xfrm>
            <a:prstGeom prst="straightConnector1">
              <a:avLst/>
            </a:prstGeom>
            <a:noFill/>
            <a:ln w="25400" cap="flat" cmpd="sng" algn="ctr">
              <a:solidFill>
                <a:srgbClr val="E80033"/>
              </a:solidFill>
              <a:prstDash val="solid"/>
              <a:tailEnd type="triangle" w="lg" len="lg"/>
            </a:ln>
            <a:effectLst/>
          </p:spPr>
        </p:cxnSp>
        <p:cxnSp>
          <p:nvCxnSpPr>
            <p:cNvPr id="86" name="Straight Arrow Connector 85">
              <a:extLst>
                <a:ext uri="{FF2B5EF4-FFF2-40B4-BE49-F238E27FC236}">
                  <a16:creationId xmlns:a16="http://schemas.microsoft.com/office/drawing/2014/main" id="{B4D1E1B5-464B-0ECB-F822-C219F0799A6B}"/>
                </a:ext>
              </a:extLst>
            </p:cNvPr>
            <p:cNvCxnSpPr>
              <a:cxnSpLocks/>
            </p:cNvCxnSpPr>
            <p:nvPr/>
          </p:nvCxnSpPr>
          <p:spPr>
            <a:xfrm>
              <a:off x="2350965" y="4070905"/>
              <a:ext cx="1858178" cy="0"/>
            </a:xfrm>
            <a:prstGeom prst="straightConnector1">
              <a:avLst/>
            </a:prstGeom>
            <a:noFill/>
            <a:ln w="25400" cap="flat" cmpd="sng" algn="ctr">
              <a:solidFill>
                <a:srgbClr val="E80033"/>
              </a:solidFill>
              <a:prstDash val="solid"/>
              <a:tailEnd type="triangle" w="lg" len="lg"/>
            </a:ln>
            <a:effectLst/>
          </p:spPr>
        </p:cxnSp>
        <p:sp>
          <p:nvSpPr>
            <p:cNvPr id="87" name="Rectangle 86">
              <a:extLst>
                <a:ext uri="{FF2B5EF4-FFF2-40B4-BE49-F238E27FC236}">
                  <a16:creationId xmlns:a16="http://schemas.microsoft.com/office/drawing/2014/main" id="{3CF6DA9C-7C7D-14A9-E3AE-F34AA1AEED42}"/>
                </a:ext>
              </a:extLst>
            </p:cNvPr>
            <p:cNvSpPr/>
            <p:nvPr/>
          </p:nvSpPr>
          <p:spPr>
            <a:xfrm>
              <a:off x="4209143" y="3826699"/>
              <a:ext cx="1458686" cy="491302"/>
            </a:xfrm>
            <a:prstGeom prst="rect">
              <a:avLst/>
            </a:prstGeom>
            <a:noFill/>
            <a:ln w="25400" cap="flat" cmpd="sng" algn="ctr">
              <a:solidFill>
                <a:srgbClr val="E80033"/>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FFFFFF"/>
                </a:solidFill>
                <a:effectLst/>
                <a:uLnTx/>
                <a:uFillTx/>
                <a:latin typeface="Arial" panose="020B0604020202020204"/>
                <a:ea typeface="+mn-ea"/>
                <a:cs typeface="+mn-cs"/>
              </a:endParaRPr>
            </a:p>
          </p:txBody>
        </p:sp>
        <p:cxnSp>
          <p:nvCxnSpPr>
            <p:cNvPr id="88" name="Straight Connector 87">
              <a:extLst>
                <a:ext uri="{FF2B5EF4-FFF2-40B4-BE49-F238E27FC236}">
                  <a16:creationId xmlns:a16="http://schemas.microsoft.com/office/drawing/2014/main" id="{02F1AF74-C6F3-846A-1583-E9868FEF7000}"/>
                </a:ext>
              </a:extLst>
            </p:cNvPr>
            <p:cNvCxnSpPr/>
            <p:nvPr/>
          </p:nvCxnSpPr>
          <p:spPr>
            <a:xfrm>
              <a:off x="4445791" y="2084082"/>
              <a:ext cx="970671" cy="0"/>
            </a:xfrm>
            <a:prstGeom prst="line">
              <a:avLst/>
            </a:prstGeom>
            <a:noFill/>
            <a:ln w="25400" cap="flat" cmpd="sng" algn="ctr">
              <a:solidFill>
                <a:srgbClr val="E80033"/>
              </a:solidFill>
              <a:prstDash val="solid"/>
            </a:ln>
            <a:effectLst/>
          </p:spPr>
        </p:cxnSp>
        <p:cxnSp>
          <p:nvCxnSpPr>
            <p:cNvPr id="89" name="Straight Connector 88">
              <a:extLst>
                <a:ext uri="{FF2B5EF4-FFF2-40B4-BE49-F238E27FC236}">
                  <a16:creationId xmlns:a16="http://schemas.microsoft.com/office/drawing/2014/main" id="{621A21B4-BC9B-B62E-AAEB-57C2B9BD7A64}"/>
                </a:ext>
              </a:extLst>
            </p:cNvPr>
            <p:cNvCxnSpPr>
              <a:cxnSpLocks/>
            </p:cNvCxnSpPr>
            <p:nvPr/>
          </p:nvCxnSpPr>
          <p:spPr>
            <a:xfrm>
              <a:off x="2350965" y="3857122"/>
              <a:ext cx="0" cy="431143"/>
            </a:xfrm>
            <a:prstGeom prst="line">
              <a:avLst/>
            </a:prstGeom>
            <a:noFill/>
            <a:ln w="25400" cap="flat" cmpd="sng" algn="ctr">
              <a:solidFill>
                <a:srgbClr val="E80033"/>
              </a:solidFill>
              <a:prstDash val="solid"/>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Tidy data: Cells</a:t>
            </a:r>
            <a:endParaRPr sz="3200" b="1" i="0" dirty="0">
              <a:solidFill>
                <a:srgbClr val="1E2761"/>
              </a:solidFill>
              <a:latin typeface="Cambria"/>
            </a:endParaRPr>
          </a:p>
        </p:txBody>
      </p:sp>
      <p:sp>
        <p:nvSpPr>
          <p:cNvPr id="3" name="Rectangle 2"/>
          <p:cNvSpPr/>
          <p:nvPr/>
        </p:nvSpPr>
        <p:spPr>
          <a:xfrm>
            <a:off x="548640" y="859095"/>
            <a:ext cx="5486400" cy="5486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859095"/>
            <a:ext cx="5212080" cy="548640"/>
          </a:xfrm>
          <a:prstGeom prst="rect">
            <a:avLst/>
          </a:prstGeom>
          <a:noFill/>
        </p:spPr>
        <p:txBody>
          <a:bodyPr wrap="square" lIns="45720" rIns="45720" anchor="ctr">
            <a:spAutoFit/>
          </a:bodyPr>
          <a:lstStyle/>
          <a:p>
            <a:pPr algn="l"/>
            <a:r>
              <a:rPr sz="2200" b="1" i="0">
                <a:solidFill>
                  <a:srgbClr val="FFFFFF"/>
                </a:solidFill>
                <a:latin typeface="Cambria"/>
              </a:rPr>
              <a:t>✓  Do</a:t>
            </a:r>
          </a:p>
        </p:txBody>
      </p:sp>
      <p:sp>
        <p:nvSpPr>
          <p:cNvPr id="5" name="Rectangle 4"/>
          <p:cNvSpPr/>
          <p:nvPr/>
        </p:nvSpPr>
        <p:spPr>
          <a:xfrm>
            <a:off x="548640" y="1416978"/>
            <a:ext cx="5486400" cy="2672137"/>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412701"/>
            <a:ext cx="365760" cy="461665"/>
          </a:xfrm>
          <a:prstGeom prst="rect">
            <a:avLst/>
          </a:prstGeom>
          <a:noFill/>
        </p:spPr>
        <p:txBody>
          <a:bodyPr wrap="square" lIns="45720" rIns="45720" anchor="t">
            <a:spAutoFit/>
          </a:bodyPr>
          <a:lstStyle/>
          <a:p>
            <a:pPr algn="l"/>
            <a:r>
              <a:rPr sz="2400" b="1" i="0">
                <a:solidFill>
                  <a:srgbClr val="2E7D32"/>
                </a:solidFill>
                <a:latin typeface="Cambria"/>
              </a:rPr>
              <a:t>+</a:t>
            </a:r>
          </a:p>
        </p:txBody>
      </p:sp>
      <p:sp>
        <p:nvSpPr>
          <p:cNvPr id="7" name="TextBox 6"/>
          <p:cNvSpPr txBox="1"/>
          <p:nvPr/>
        </p:nvSpPr>
        <p:spPr>
          <a:xfrm>
            <a:off x="1188720" y="1412701"/>
            <a:ext cx="4617720" cy="400110"/>
          </a:xfrm>
          <a:prstGeom prst="rect">
            <a:avLst/>
          </a:prstGeom>
          <a:noFill/>
        </p:spPr>
        <p:txBody>
          <a:bodyPr wrap="square" lIns="45720" rIns="45720" anchor="t">
            <a:spAutoFit/>
          </a:bodyPr>
          <a:lstStyle/>
          <a:p>
            <a:pPr algn="l"/>
            <a:r>
              <a:rPr sz="2000" b="1" i="0">
                <a:solidFill>
                  <a:srgbClr val="2C3E50"/>
                </a:solidFill>
                <a:latin typeface="Calibri"/>
              </a:rPr>
              <a:t>one row per measurement</a:t>
            </a:r>
          </a:p>
        </p:txBody>
      </p:sp>
      <p:sp>
        <p:nvSpPr>
          <p:cNvPr id="8" name="TextBox 7"/>
          <p:cNvSpPr txBox="1"/>
          <p:nvPr/>
        </p:nvSpPr>
        <p:spPr>
          <a:xfrm>
            <a:off x="1188720" y="1778461"/>
            <a:ext cx="4617720" cy="584775"/>
          </a:xfrm>
          <a:prstGeom prst="rect">
            <a:avLst/>
          </a:prstGeom>
          <a:noFill/>
        </p:spPr>
        <p:txBody>
          <a:bodyPr wrap="square" lIns="45720" rIns="45720" anchor="t">
            <a:spAutoFit/>
          </a:bodyPr>
          <a:lstStyle/>
          <a:p>
            <a:pPr algn="l"/>
            <a:r>
              <a:rPr sz="1600" b="0" i="0">
                <a:solidFill>
                  <a:srgbClr val="4A5B6E"/>
                </a:solidFill>
                <a:latin typeface="Calibri"/>
              </a:rPr>
              <a:t>no averages mixed in with individuals; no summary rows</a:t>
            </a:r>
          </a:p>
        </p:txBody>
      </p:sp>
      <p:sp>
        <p:nvSpPr>
          <p:cNvPr id="9" name="TextBox 8"/>
          <p:cNvSpPr txBox="1"/>
          <p:nvPr/>
        </p:nvSpPr>
        <p:spPr>
          <a:xfrm>
            <a:off x="777240" y="2353473"/>
            <a:ext cx="365760" cy="461665"/>
          </a:xfrm>
          <a:prstGeom prst="rect">
            <a:avLst/>
          </a:prstGeom>
          <a:noFill/>
        </p:spPr>
        <p:txBody>
          <a:bodyPr wrap="square" lIns="45720" rIns="45720" anchor="t">
            <a:spAutoFit/>
          </a:bodyPr>
          <a:lstStyle/>
          <a:p>
            <a:pPr algn="l"/>
            <a:r>
              <a:rPr sz="2400" b="1" i="0">
                <a:solidFill>
                  <a:srgbClr val="2E7D32"/>
                </a:solidFill>
                <a:latin typeface="Cambria"/>
              </a:rPr>
              <a:t>+</a:t>
            </a:r>
          </a:p>
        </p:txBody>
      </p:sp>
      <p:sp>
        <p:nvSpPr>
          <p:cNvPr id="10" name="TextBox 9"/>
          <p:cNvSpPr txBox="1"/>
          <p:nvPr/>
        </p:nvSpPr>
        <p:spPr>
          <a:xfrm>
            <a:off x="1188720" y="2353473"/>
            <a:ext cx="4617720" cy="400110"/>
          </a:xfrm>
          <a:prstGeom prst="rect">
            <a:avLst/>
          </a:prstGeom>
          <a:noFill/>
        </p:spPr>
        <p:txBody>
          <a:bodyPr wrap="square" lIns="45720" rIns="45720" anchor="t">
            <a:spAutoFit/>
          </a:bodyPr>
          <a:lstStyle/>
          <a:p>
            <a:pPr algn="l"/>
            <a:r>
              <a:rPr sz="2000" b="1" i="0">
                <a:solidFill>
                  <a:srgbClr val="2C3E50"/>
                </a:solidFill>
                <a:latin typeface="Calibri"/>
              </a:rPr>
              <a:t>empty cell for missing data</a:t>
            </a:r>
          </a:p>
        </p:txBody>
      </p:sp>
      <p:sp>
        <p:nvSpPr>
          <p:cNvPr id="11" name="TextBox 10"/>
          <p:cNvSpPr txBox="1"/>
          <p:nvPr/>
        </p:nvSpPr>
        <p:spPr>
          <a:xfrm>
            <a:off x="1188720" y="2719234"/>
            <a:ext cx="4617720" cy="338554"/>
          </a:xfrm>
          <a:prstGeom prst="rect">
            <a:avLst/>
          </a:prstGeom>
          <a:noFill/>
        </p:spPr>
        <p:txBody>
          <a:bodyPr wrap="square" lIns="45720" rIns="45720" anchor="t">
            <a:spAutoFit/>
          </a:bodyPr>
          <a:lstStyle/>
          <a:p>
            <a:pPr algn="l"/>
            <a:r>
              <a:rPr sz="1600" b="0" i="0" dirty="0">
                <a:solidFill>
                  <a:srgbClr val="4A5B6E"/>
                </a:solidFill>
                <a:latin typeface="Calibri"/>
              </a:rPr>
              <a:t>blank means missing</a:t>
            </a:r>
          </a:p>
        </p:txBody>
      </p:sp>
      <p:sp>
        <p:nvSpPr>
          <p:cNvPr id="12" name="TextBox 11"/>
          <p:cNvSpPr txBox="1"/>
          <p:nvPr/>
        </p:nvSpPr>
        <p:spPr>
          <a:xfrm>
            <a:off x="777240" y="3037386"/>
            <a:ext cx="365760" cy="461665"/>
          </a:xfrm>
          <a:prstGeom prst="rect">
            <a:avLst/>
          </a:prstGeom>
          <a:noFill/>
        </p:spPr>
        <p:txBody>
          <a:bodyPr wrap="square" lIns="45720" rIns="45720" anchor="t">
            <a:spAutoFit/>
          </a:bodyPr>
          <a:lstStyle/>
          <a:p>
            <a:pPr algn="l"/>
            <a:r>
              <a:rPr sz="2400" b="1" i="0">
                <a:solidFill>
                  <a:srgbClr val="2E7D32"/>
                </a:solidFill>
                <a:latin typeface="Cambria"/>
              </a:rPr>
              <a:t>+</a:t>
            </a:r>
          </a:p>
        </p:txBody>
      </p:sp>
      <p:sp>
        <p:nvSpPr>
          <p:cNvPr id="13" name="TextBox 12"/>
          <p:cNvSpPr txBox="1"/>
          <p:nvPr/>
        </p:nvSpPr>
        <p:spPr>
          <a:xfrm>
            <a:off x="1188720" y="3037386"/>
            <a:ext cx="4617720" cy="400110"/>
          </a:xfrm>
          <a:prstGeom prst="rect">
            <a:avLst/>
          </a:prstGeom>
          <a:noFill/>
        </p:spPr>
        <p:txBody>
          <a:bodyPr wrap="square" lIns="45720" rIns="45720" anchor="t">
            <a:spAutoFit/>
          </a:bodyPr>
          <a:lstStyle/>
          <a:p>
            <a:pPr algn="l"/>
            <a:r>
              <a:rPr sz="2000" b="1" i="0">
                <a:solidFill>
                  <a:srgbClr val="2C3E50"/>
                </a:solidFill>
                <a:latin typeface="Calibri"/>
              </a:rPr>
              <a:t>annotations get their own column</a:t>
            </a:r>
          </a:p>
        </p:txBody>
      </p:sp>
      <p:sp>
        <p:nvSpPr>
          <p:cNvPr id="14" name="TextBox 13"/>
          <p:cNvSpPr txBox="1"/>
          <p:nvPr/>
        </p:nvSpPr>
        <p:spPr>
          <a:xfrm>
            <a:off x="1188720" y="3403146"/>
            <a:ext cx="4328502" cy="584775"/>
          </a:xfrm>
          <a:prstGeom prst="rect">
            <a:avLst/>
          </a:prstGeom>
          <a:noFill/>
        </p:spPr>
        <p:txBody>
          <a:bodyPr wrap="square" lIns="45720" rIns="45720" anchor="t">
            <a:spAutoFit/>
          </a:bodyPr>
          <a:lstStyle/>
          <a:p>
            <a:pPr algn="l"/>
            <a:r>
              <a:rPr sz="1600" b="0" i="0" dirty="0" err="1">
                <a:solidFill>
                  <a:srgbClr val="4A5B6E"/>
                </a:solidFill>
                <a:latin typeface="Calibri"/>
              </a:rPr>
              <a:t>observation_notes</a:t>
            </a:r>
            <a:r>
              <a:rPr sz="1600" b="0" i="0" dirty="0">
                <a:solidFill>
                  <a:srgbClr val="4A5B6E"/>
                </a:solidFill>
                <a:latin typeface="Calibri"/>
              </a:rPr>
              <a:t> column, not a comment </a:t>
            </a:r>
            <a:r>
              <a:rPr lang="en-US" sz="1600" b="0" i="0" dirty="0">
                <a:solidFill>
                  <a:srgbClr val="4A5B6E"/>
                </a:solidFill>
                <a:latin typeface="Calibri"/>
              </a:rPr>
              <a:t>or coloring key</a:t>
            </a:r>
            <a:endParaRPr sz="1600" b="0" i="0" dirty="0">
              <a:solidFill>
                <a:srgbClr val="4A5B6E"/>
              </a:solidFill>
              <a:latin typeface="Calibri"/>
            </a:endParaRPr>
          </a:p>
        </p:txBody>
      </p:sp>
      <p:sp>
        <p:nvSpPr>
          <p:cNvPr id="15" name="Rectangle 14"/>
          <p:cNvSpPr/>
          <p:nvPr/>
        </p:nvSpPr>
        <p:spPr>
          <a:xfrm>
            <a:off x="6309360" y="859095"/>
            <a:ext cx="5486400" cy="548640"/>
          </a:xfrm>
          <a:prstGeom prst="rect">
            <a:avLst/>
          </a:prstGeom>
          <a:solidFill>
            <a:srgbClr val="B03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859095"/>
            <a:ext cx="5212080" cy="548640"/>
          </a:xfrm>
          <a:prstGeom prst="rect">
            <a:avLst/>
          </a:prstGeom>
          <a:noFill/>
        </p:spPr>
        <p:txBody>
          <a:bodyPr wrap="square" lIns="45720" rIns="45720" anchor="ctr">
            <a:spAutoFit/>
          </a:bodyPr>
          <a:lstStyle/>
          <a:p>
            <a:pPr algn="l"/>
            <a:r>
              <a:rPr sz="2200" b="1" i="0">
                <a:solidFill>
                  <a:srgbClr val="FFFFFF"/>
                </a:solidFill>
                <a:latin typeface="Cambria"/>
              </a:rPr>
              <a:t>✗  Don't</a:t>
            </a:r>
          </a:p>
        </p:txBody>
      </p:sp>
      <p:sp>
        <p:nvSpPr>
          <p:cNvPr id="17" name="Rectangle 16"/>
          <p:cNvSpPr/>
          <p:nvPr/>
        </p:nvSpPr>
        <p:spPr>
          <a:xfrm>
            <a:off x="6309360" y="1416978"/>
            <a:ext cx="5486400" cy="2672137"/>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1412701"/>
            <a:ext cx="365760" cy="461665"/>
          </a:xfrm>
          <a:prstGeom prst="rect">
            <a:avLst/>
          </a:prstGeom>
          <a:noFill/>
        </p:spPr>
        <p:txBody>
          <a:bodyPr wrap="square" lIns="45720" rIns="45720" anchor="t">
            <a:spAutoFit/>
          </a:bodyPr>
          <a:lstStyle/>
          <a:p>
            <a:pPr algn="l"/>
            <a:r>
              <a:rPr sz="2400" b="1" i="0">
                <a:solidFill>
                  <a:srgbClr val="B0392E"/>
                </a:solidFill>
                <a:latin typeface="Cambria"/>
              </a:rPr>
              <a:t>−</a:t>
            </a:r>
          </a:p>
        </p:txBody>
      </p:sp>
      <p:sp>
        <p:nvSpPr>
          <p:cNvPr id="19" name="TextBox 18"/>
          <p:cNvSpPr txBox="1"/>
          <p:nvPr/>
        </p:nvSpPr>
        <p:spPr>
          <a:xfrm>
            <a:off x="6949440" y="1412701"/>
            <a:ext cx="4617720" cy="400110"/>
          </a:xfrm>
          <a:prstGeom prst="rect">
            <a:avLst/>
          </a:prstGeom>
          <a:noFill/>
        </p:spPr>
        <p:txBody>
          <a:bodyPr wrap="square" lIns="45720" rIns="45720" anchor="t">
            <a:spAutoFit/>
          </a:bodyPr>
          <a:lstStyle/>
          <a:p>
            <a:pPr algn="l"/>
            <a:r>
              <a:rPr sz="2000" b="1" i="0">
                <a:solidFill>
                  <a:srgbClr val="2C3E50"/>
                </a:solidFill>
                <a:latin typeface="Calibri"/>
              </a:rPr>
              <a:t>merged cells</a:t>
            </a:r>
          </a:p>
        </p:txBody>
      </p:sp>
      <p:sp>
        <p:nvSpPr>
          <p:cNvPr id="20" name="TextBox 19"/>
          <p:cNvSpPr txBox="1"/>
          <p:nvPr/>
        </p:nvSpPr>
        <p:spPr>
          <a:xfrm>
            <a:off x="6949440" y="1778461"/>
            <a:ext cx="4617720" cy="584775"/>
          </a:xfrm>
          <a:prstGeom prst="rect">
            <a:avLst/>
          </a:prstGeom>
          <a:noFill/>
        </p:spPr>
        <p:txBody>
          <a:bodyPr wrap="square" lIns="45720" rIns="45720" anchor="t">
            <a:spAutoFit/>
          </a:bodyPr>
          <a:lstStyle/>
          <a:p>
            <a:pPr algn="l"/>
            <a:r>
              <a:rPr sz="1600" b="0" i="0">
                <a:solidFill>
                  <a:srgbClr val="4A5B6E"/>
                </a:solidFill>
                <a:latin typeface="Calibri"/>
              </a:rPr>
              <a:t>each cell holds one value; a script reads cells, not layouts</a:t>
            </a:r>
          </a:p>
        </p:txBody>
      </p:sp>
      <p:sp>
        <p:nvSpPr>
          <p:cNvPr id="21" name="TextBox 20"/>
          <p:cNvSpPr txBox="1"/>
          <p:nvPr/>
        </p:nvSpPr>
        <p:spPr>
          <a:xfrm>
            <a:off x="6537960" y="2353473"/>
            <a:ext cx="365760" cy="461665"/>
          </a:xfrm>
          <a:prstGeom prst="rect">
            <a:avLst/>
          </a:prstGeom>
          <a:noFill/>
        </p:spPr>
        <p:txBody>
          <a:bodyPr wrap="square" lIns="45720" rIns="45720" anchor="t">
            <a:spAutoFit/>
          </a:bodyPr>
          <a:lstStyle/>
          <a:p>
            <a:pPr algn="l"/>
            <a:r>
              <a:rPr sz="2400" b="1" i="0">
                <a:solidFill>
                  <a:srgbClr val="B0392E"/>
                </a:solidFill>
                <a:latin typeface="Cambria"/>
              </a:rPr>
              <a:t>−</a:t>
            </a:r>
          </a:p>
        </p:txBody>
      </p:sp>
      <p:sp>
        <p:nvSpPr>
          <p:cNvPr id="22" name="TextBox 21"/>
          <p:cNvSpPr txBox="1"/>
          <p:nvPr/>
        </p:nvSpPr>
        <p:spPr>
          <a:xfrm>
            <a:off x="6949440" y="2353473"/>
            <a:ext cx="4617720" cy="400110"/>
          </a:xfrm>
          <a:prstGeom prst="rect">
            <a:avLst/>
          </a:prstGeom>
          <a:noFill/>
        </p:spPr>
        <p:txBody>
          <a:bodyPr wrap="square" lIns="45720" rIns="45720" anchor="t">
            <a:spAutoFit/>
          </a:bodyPr>
          <a:lstStyle/>
          <a:p>
            <a:pPr algn="l"/>
            <a:r>
              <a:rPr lang="en-US" sz="2000" b="1" dirty="0">
                <a:solidFill>
                  <a:srgbClr val="2C3E50"/>
                </a:solidFill>
                <a:latin typeface="Calibri"/>
              </a:rPr>
              <a:t>mixed data types</a:t>
            </a:r>
            <a:endParaRPr sz="2000" b="1" i="0" dirty="0">
              <a:solidFill>
                <a:srgbClr val="2C3E50"/>
              </a:solidFill>
              <a:latin typeface="Calibri"/>
            </a:endParaRPr>
          </a:p>
        </p:txBody>
      </p:sp>
      <p:sp>
        <p:nvSpPr>
          <p:cNvPr id="23" name="TextBox 22"/>
          <p:cNvSpPr txBox="1"/>
          <p:nvPr/>
        </p:nvSpPr>
        <p:spPr>
          <a:xfrm>
            <a:off x="6949440" y="2719233"/>
            <a:ext cx="4617720" cy="338554"/>
          </a:xfrm>
          <a:prstGeom prst="rect">
            <a:avLst/>
          </a:prstGeom>
          <a:noFill/>
        </p:spPr>
        <p:txBody>
          <a:bodyPr wrap="square" lIns="45720" rIns="45720" anchor="t">
            <a:spAutoFit/>
          </a:bodyPr>
          <a:lstStyle/>
          <a:p>
            <a:pPr algn="l"/>
            <a:r>
              <a:rPr sz="1600" b="0" i="0">
                <a:solidFill>
                  <a:srgbClr val="4A5B6E"/>
                </a:solidFill>
                <a:latin typeface="Calibri"/>
              </a:rPr>
              <a:t>'80 °C' is a string; '80' with a unit column is a number</a:t>
            </a:r>
          </a:p>
        </p:txBody>
      </p:sp>
      <p:sp>
        <p:nvSpPr>
          <p:cNvPr id="24" name="TextBox 23"/>
          <p:cNvSpPr txBox="1"/>
          <p:nvPr/>
        </p:nvSpPr>
        <p:spPr>
          <a:xfrm>
            <a:off x="6537960" y="3037386"/>
            <a:ext cx="365760" cy="461665"/>
          </a:xfrm>
          <a:prstGeom prst="rect">
            <a:avLst/>
          </a:prstGeom>
          <a:noFill/>
        </p:spPr>
        <p:txBody>
          <a:bodyPr wrap="square" lIns="45720" rIns="45720" anchor="t">
            <a:spAutoFit/>
          </a:bodyPr>
          <a:lstStyle/>
          <a:p>
            <a:pPr algn="l"/>
            <a:r>
              <a:rPr sz="2400" b="1" i="0">
                <a:solidFill>
                  <a:srgbClr val="B0392E"/>
                </a:solidFill>
                <a:latin typeface="Cambria"/>
              </a:rPr>
              <a:t>−</a:t>
            </a:r>
          </a:p>
        </p:txBody>
      </p:sp>
      <p:sp>
        <p:nvSpPr>
          <p:cNvPr id="25" name="TextBox 24"/>
          <p:cNvSpPr txBox="1"/>
          <p:nvPr/>
        </p:nvSpPr>
        <p:spPr>
          <a:xfrm>
            <a:off x="6949440" y="3037386"/>
            <a:ext cx="4617720" cy="400110"/>
          </a:xfrm>
          <a:prstGeom prst="rect">
            <a:avLst/>
          </a:prstGeom>
          <a:noFill/>
        </p:spPr>
        <p:txBody>
          <a:bodyPr wrap="square" lIns="45720" rIns="45720" anchor="t">
            <a:spAutoFit/>
          </a:bodyPr>
          <a:lstStyle/>
          <a:p>
            <a:pPr algn="l"/>
            <a:r>
              <a:rPr sz="2000" b="1" i="0">
                <a:solidFill>
                  <a:srgbClr val="2C3E50"/>
                </a:solidFill>
                <a:latin typeface="Calibri"/>
              </a:rPr>
              <a:t>codes for missing values</a:t>
            </a:r>
          </a:p>
        </p:txBody>
      </p:sp>
      <p:sp>
        <p:nvSpPr>
          <p:cNvPr id="26" name="TextBox 25"/>
          <p:cNvSpPr txBox="1"/>
          <p:nvPr/>
        </p:nvSpPr>
        <p:spPr>
          <a:xfrm>
            <a:off x="6949440" y="3403146"/>
            <a:ext cx="4617720" cy="584775"/>
          </a:xfrm>
          <a:prstGeom prst="rect">
            <a:avLst/>
          </a:prstGeom>
          <a:noFill/>
        </p:spPr>
        <p:txBody>
          <a:bodyPr wrap="square" lIns="45720" rIns="45720" anchor="t">
            <a:spAutoFit/>
          </a:bodyPr>
          <a:lstStyle/>
          <a:p>
            <a:pPr algn="l"/>
            <a:r>
              <a:rPr sz="1600" b="0" i="0">
                <a:solidFill>
                  <a:srgbClr val="4A5B6E"/>
                </a:solidFill>
                <a:latin typeface="Calibri"/>
              </a:rPr>
              <a:t>no 'n/a', 'N/A', '—', '999' — those are values, not blanks</a:t>
            </a:r>
          </a:p>
        </p:txBody>
      </p:sp>
      <p:graphicFrame>
        <p:nvGraphicFramePr>
          <p:cNvPr id="33" name="Table 7">
            <a:extLst>
              <a:ext uri="{FF2B5EF4-FFF2-40B4-BE49-F238E27FC236}">
                <a16:creationId xmlns:a16="http://schemas.microsoft.com/office/drawing/2014/main" id="{AEB8AB06-1F66-FF3C-0F61-36F833945089}"/>
              </a:ext>
            </a:extLst>
          </p:cNvPr>
          <p:cNvGraphicFramePr>
            <a:graphicFrameLocks noGrp="1"/>
          </p:cNvGraphicFramePr>
          <p:nvPr>
            <p:extLst>
              <p:ext uri="{D42A27DB-BD31-4B8C-83A1-F6EECF244321}">
                <p14:modId xmlns:p14="http://schemas.microsoft.com/office/powerpoint/2010/main" val="3339687516"/>
              </p:ext>
            </p:extLst>
          </p:nvPr>
        </p:nvGraphicFramePr>
        <p:xfrm>
          <a:off x="1835993" y="4183456"/>
          <a:ext cx="8670966" cy="2651760"/>
        </p:xfrm>
        <a:graphic>
          <a:graphicData uri="http://schemas.openxmlformats.org/drawingml/2006/table">
            <a:tbl>
              <a:tblPr firstRow="1" bandRow="1">
                <a:tableStyleId>{5C22544A-7EE6-4342-B048-85BDC9FD1C3A}</a:tableStyleId>
              </a:tblPr>
              <a:tblGrid>
                <a:gridCol w="2035200">
                  <a:extLst>
                    <a:ext uri="{9D8B030D-6E8A-4147-A177-3AD203B41FA5}">
                      <a16:colId xmlns:a16="http://schemas.microsoft.com/office/drawing/2014/main" val="1619538324"/>
                    </a:ext>
                  </a:extLst>
                </a:gridCol>
                <a:gridCol w="1399285">
                  <a:extLst>
                    <a:ext uri="{9D8B030D-6E8A-4147-A177-3AD203B41FA5}">
                      <a16:colId xmlns:a16="http://schemas.microsoft.com/office/drawing/2014/main" val="2204580905"/>
                    </a:ext>
                  </a:extLst>
                </a:gridCol>
                <a:gridCol w="1119428">
                  <a:extLst>
                    <a:ext uri="{9D8B030D-6E8A-4147-A177-3AD203B41FA5}">
                      <a16:colId xmlns:a16="http://schemas.microsoft.com/office/drawing/2014/main" val="253053857"/>
                    </a:ext>
                  </a:extLst>
                </a:gridCol>
                <a:gridCol w="1143763">
                  <a:extLst>
                    <a:ext uri="{9D8B030D-6E8A-4147-A177-3AD203B41FA5}">
                      <a16:colId xmlns:a16="http://schemas.microsoft.com/office/drawing/2014/main" val="1733008077"/>
                    </a:ext>
                  </a:extLst>
                </a:gridCol>
                <a:gridCol w="2973290">
                  <a:extLst>
                    <a:ext uri="{9D8B030D-6E8A-4147-A177-3AD203B41FA5}">
                      <a16:colId xmlns:a16="http://schemas.microsoft.com/office/drawing/2014/main" val="3575137894"/>
                    </a:ext>
                  </a:extLst>
                </a:gridCol>
              </a:tblGrid>
              <a:tr h="548640">
                <a:tc>
                  <a:txBody>
                    <a:bodyPr/>
                    <a:lstStyle/>
                    <a:p>
                      <a:r>
                        <a:rPr lang="en-US" sz="1800" dirty="0" err="1"/>
                        <a:t>sample_number</a:t>
                      </a:r>
                      <a:endParaRPr lang="en-US" sz="1800" dirty="0"/>
                    </a:p>
                  </a:txBody>
                  <a:tcPr marL="121920" marR="121920" marT="60960" marB="60960"/>
                </a:tc>
                <a:tc>
                  <a:txBody>
                    <a:bodyPr/>
                    <a:lstStyle/>
                    <a:p>
                      <a:r>
                        <a:rPr lang="en-US" sz="1800" dirty="0"/>
                        <a:t>temperature: </a:t>
                      </a:r>
                      <a:r>
                        <a:rPr lang="en-US" sz="1800" dirty="0" err="1"/>
                        <a:t>deg_c</a:t>
                      </a:r>
                      <a:endParaRPr lang="en-US" sz="1800" dirty="0"/>
                    </a:p>
                  </a:txBody>
                  <a:tcPr marL="121920" marR="121920" marT="60960" marB="60960"/>
                </a:tc>
                <a:tc>
                  <a:txBody>
                    <a:bodyPr/>
                    <a:lstStyle/>
                    <a:p>
                      <a:r>
                        <a:rPr lang="en-US" sz="1800" dirty="0"/>
                        <a:t>viscosity: cp</a:t>
                      </a:r>
                    </a:p>
                  </a:txBody>
                  <a:tcPr marL="121920" marR="121920" marT="60960" marB="60960"/>
                </a:tc>
                <a:tc>
                  <a:txBody>
                    <a:bodyPr/>
                    <a:lstStyle/>
                    <a:p>
                      <a:r>
                        <a:rPr lang="en-US" sz="1800" dirty="0"/>
                        <a:t>material: </a:t>
                      </a:r>
                      <a:r>
                        <a:rPr lang="en-US" sz="1800" dirty="0" err="1"/>
                        <a:t>sae_grade</a:t>
                      </a:r>
                      <a:endParaRPr lang="en-US" sz="1800" dirty="0"/>
                    </a:p>
                  </a:txBody>
                  <a:tcPr marL="81311" marR="81311" marT="40655" marB="40655"/>
                </a:tc>
                <a:tc>
                  <a:txBody>
                    <a:bodyPr/>
                    <a:lstStyle/>
                    <a:p>
                      <a:r>
                        <a:rPr lang="en-US" sz="1800" dirty="0" err="1"/>
                        <a:t>observation_notes</a:t>
                      </a:r>
                      <a:endParaRPr lang="en-US" sz="1800" dirty="0"/>
                    </a:p>
                  </a:txBody>
                  <a:tcPr marL="81311" marR="81311" marT="40655" marB="40655"/>
                </a:tc>
                <a:extLst>
                  <a:ext uri="{0D108BD9-81ED-4DB2-BD59-A6C34878D82A}">
                    <a16:rowId xmlns:a16="http://schemas.microsoft.com/office/drawing/2014/main" val="1107157796"/>
                  </a:ext>
                </a:extLst>
              </a:tr>
              <a:tr h="354772">
                <a:tc>
                  <a:txBody>
                    <a:bodyPr/>
                    <a:lstStyle/>
                    <a:p>
                      <a:r>
                        <a:rPr lang="en-US" sz="1800"/>
                        <a:t>SAM-AB1234</a:t>
                      </a:r>
                    </a:p>
                  </a:txBody>
                  <a:tcPr marL="121920" marR="121920" marT="60960" marB="60960"/>
                </a:tc>
                <a:tc>
                  <a:txBody>
                    <a:bodyPr/>
                    <a:lstStyle/>
                    <a:p>
                      <a:r>
                        <a:rPr lang="en-US" sz="1800"/>
                        <a:t>20.0</a:t>
                      </a:r>
                    </a:p>
                  </a:txBody>
                  <a:tcPr marL="121920" marR="121920" marT="60960" marB="60960"/>
                </a:tc>
                <a:tc>
                  <a:txBody>
                    <a:bodyPr/>
                    <a:lstStyle/>
                    <a:p>
                      <a:endParaRPr lang="en-US" sz="1800" dirty="0"/>
                    </a:p>
                  </a:txBody>
                  <a:tcPr marL="121920" marR="121920" marT="60960" marB="60960"/>
                </a:tc>
                <a:tc>
                  <a:txBody>
                    <a:bodyPr/>
                    <a:lstStyle/>
                    <a:p>
                      <a:r>
                        <a:rPr lang="en-US" sz="1800"/>
                        <a:t>15W-40</a:t>
                      </a:r>
                    </a:p>
                  </a:txBody>
                  <a:tcPr marL="81311" marR="81311" marT="40655" marB="40655"/>
                </a:tc>
                <a:tc>
                  <a:txBody>
                    <a:bodyPr/>
                    <a:lstStyle/>
                    <a:p>
                      <a:r>
                        <a:rPr lang="en-US" sz="1800"/>
                        <a:t>~0.5 </a:t>
                      </a:r>
                      <a:r>
                        <a:rPr lang="en-US" sz="1800" err="1"/>
                        <a:t>degC</a:t>
                      </a:r>
                      <a:r>
                        <a:rPr lang="en-US" sz="1800"/>
                        <a:t> temperature drift</a:t>
                      </a:r>
                    </a:p>
                  </a:txBody>
                  <a:tcPr marL="81311" marR="81311" marT="40655" marB="40655"/>
                </a:tc>
                <a:extLst>
                  <a:ext uri="{0D108BD9-81ED-4DB2-BD59-A6C34878D82A}">
                    <a16:rowId xmlns:a16="http://schemas.microsoft.com/office/drawing/2014/main" val="1919681070"/>
                  </a:ext>
                </a:extLst>
              </a:tr>
              <a:tr h="3547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SAM-AB1235</a:t>
                      </a:r>
                    </a:p>
                  </a:txBody>
                  <a:tcPr marL="121920" marR="121920" marT="60960" marB="60960"/>
                </a:tc>
                <a:tc>
                  <a:txBody>
                    <a:bodyPr/>
                    <a:lstStyle/>
                    <a:p>
                      <a:r>
                        <a:rPr lang="en-US" sz="1800"/>
                        <a:t>30.0</a:t>
                      </a:r>
                    </a:p>
                  </a:txBody>
                  <a:tcPr marL="121920" marR="121920" marT="60960" marB="60960"/>
                </a:tc>
                <a:tc>
                  <a:txBody>
                    <a:bodyPr/>
                    <a:lstStyle/>
                    <a:p>
                      <a:r>
                        <a:rPr lang="en-US" sz="1800"/>
                        <a:t>154</a:t>
                      </a:r>
                    </a:p>
                  </a:txBody>
                  <a:tcPr marL="121920" marR="121920" marT="60960" marB="60960"/>
                </a:tc>
                <a:tc>
                  <a:txBody>
                    <a:bodyPr/>
                    <a:lstStyle/>
                    <a:p>
                      <a:r>
                        <a:rPr lang="en-US" sz="1800"/>
                        <a:t>15W-40</a:t>
                      </a:r>
                    </a:p>
                  </a:txBody>
                  <a:tcPr marL="81311" marR="81311" marT="40655" marB="40655"/>
                </a:tc>
                <a:tc>
                  <a:txBody>
                    <a:bodyPr/>
                    <a:lstStyle/>
                    <a:p>
                      <a:r>
                        <a:rPr lang="en-US" sz="1800"/>
                        <a:t>none</a:t>
                      </a:r>
                    </a:p>
                  </a:txBody>
                  <a:tcPr marL="81311" marR="81311" marT="40655" marB="40655"/>
                </a:tc>
                <a:extLst>
                  <a:ext uri="{0D108BD9-81ED-4DB2-BD59-A6C34878D82A}">
                    <a16:rowId xmlns:a16="http://schemas.microsoft.com/office/drawing/2014/main" val="3264277782"/>
                  </a:ext>
                </a:extLst>
              </a:tr>
              <a:tr h="3547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SAM-AB1236</a:t>
                      </a:r>
                    </a:p>
                  </a:txBody>
                  <a:tcPr marL="121920" marR="121920" marT="60960" marB="60960"/>
                </a:tc>
                <a:tc>
                  <a:txBody>
                    <a:bodyPr/>
                    <a:lstStyle/>
                    <a:p>
                      <a:r>
                        <a:rPr lang="en-US" sz="1800"/>
                        <a:t>20.0</a:t>
                      </a:r>
                    </a:p>
                  </a:txBody>
                  <a:tcPr marL="121920" marR="121920" marT="60960" marB="60960"/>
                </a:tc>
                <a:tc>
                  <a:txBody>
                    <a:bodyPr/>
                    <a:lstStyle/>
                    <a:p>
                      <a:r>
                        <a:rPr lang="en-US" sz="1800"/>
                        <a:t>210</a:t>
                      </a:r>
                    </a:p>
                  </a:txBody>
                  <a:tcPr marL="121920" marR="121920" marT="60960" marB="60960"/>
                </a:tc>
                <a:tc>
                  <a:txBody>
                    <a:bodyPr/>
                    <a:lstStyle/>
                    <a:p>
                      <a:r>
                        <a:rPr lang="en-US" sz="1800"/>
                        <a:t>10W-40</a:t>
                      </a:r>
                    </a:p>
                  </a:txBody>
                  <a:tcPr marL="81311" marR="81311" marT="40655" marB="40655"/>
                </a:tc>
                <a:tc>
                  <a:txBody>
                    <a:bodyPr/>
                    <a:lstStyle/>
                    <a:p>
                      <a:r>
                        <a:rPr lang="en-US" sz="1800"/>
                        <a:t>none</a:t>
                      </a:r>
                    </a:p>
                  </a:txBody>
                  <a:tcPr marL="81311" marR="81311" marT="40655" marB="40655"/>
                </a:tc>
                <a:extLst>
                  <a:ext uri="{0D108BD9-81ED-4DB2-BD59-A6C34878D82A}">
                    <a16:rowId xmlns:a16="http://schemas.microsoft.com/office/drawing/2014/main" val="3562596706"/>
                  </a:ext>
                </a:extLst>
              </a:tr>
              <a:tr h="3547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SAM-AB1237</a:t>
                      </a:r>
                    </a:p>
                  </a:txBody>
                  <a:tcPr marL="121920" marR="121920" marT="60960" marB="60960"/>
                </a:tc>
                <a:tc>
                  <a:txBody>
                    <a:bodyPr/>
                    <a:lstStyle/>
                    <a:p>
                      <a:r>
                        <a:rPr lang="en-US" sz="1800"/>
                        <a:t>30.0</a:t>
                      </a:r>
                    </a:p>
                  </a:txBody>
                  <a:tcPr marL="121920" marR="121920" marT="60960" marB="60960"/>
                </a:tc>
                <a:tc>
                  <a:txBody>
                    <a:bodyPr/>
                    <a:lstStyle/>
                    <a:p>
                      <a:endParaRPr lang="en-US" sz="1800"/>
                    </a:p>
                  </a:txBody>
                  <a:tcPr marL="121920" marR="121920" marT="60960" marB="60960"/>
                </a:tc>
                <a:tc>
                  <a:txBody>
                    <a:bodyPr/>
                    <a:lstStyle/>
                    <a:p>
                      <a:r>
                        <a:rPr lang="en-US" sz="1800"/>
                        <a:t>10W-40</a:t>
                      </a:r>
                    </a:p>
                  </a:txBody>
                  <a:tcPr marL="81311" marR="81311" marT="40655" marB="40655"/>
                </a:tc>
                <a:tc>
                  <a:txBody>
                    <a:bodyPr/>
                    <a:lstStyle/>
                    <a:p>
                      <a:r>
                        <a:rPr lang="en-US" sz="1800"/>
                        <a:t>not enough sample</a:t>
                      </a:r>
                    </a:p>
                  </a:txBody>
                  <a:tcPr marL="81311" marR="81311" marT="40655" marB="40655"/>
                </a:tc>
                <a:extLst>
                  <a:ext uri="{0D108BD9-81ED-4DB2-BD59-A6C34878D82A}">
                    <a16:rowId xmlns:a16="http://schemas.microsoft.com/office/drawing/2014/main" val="2810195785"/>
                  </a:ext>
                </a:extLst>
              </a:tr>
              <a:tr h="3547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SAM-AB1238</a:t>
                      </a:r>
                    </a:p>
                  </a:txBody>
                  <a:tcPr marL="121920" marR="121920" marT="60960" marB="60960"/>
                </a:tc>
                <a:tc>
                  <a:txBody>
                    <a:bodyPr/>
                    <a:lstStyle/>
                    <a:p>
                      <a:r>
                        <a:rPr lang="en-US" sz="1800"/>
                        <a:t>20.0</a:t>
                      </a:r>
                    </a:p>
                  </a:txBody>
                  <a:tcPr marL="121920" marR="121920" marT="60960" marB="60960"/>
                </a:tc>
                <a:tc>
                  <a:txBody>
                    <a:bodyPr/>
                    <a:lstStyle/>
                    <a:p>
                      <a:r>
                        <a:rPr lang="en-US" sz="1800"/>
                        <a:t>382</a:t>
                      </a:r>
                    </a:p>
                  </a:txBody>
                  <a:tcPr marL="121920" marR="121920" marT="60960" marB="60960"/>
                </a:tc>
                <a:tc>
                  <a:txBody>
                    <a:bodyPr/>
                    <a:lstStyle/>
                    <a:p>
                      <a:r>
                        <a:rPr lang="en-US" sz="1800"/>
                        <a:t>10W-60</a:t>
                      </a:r>
                    </a:p>
                  </a:txBody>
                  <a:tcPr marL="81311" marR="81311" marT="40655" marB="40655"/>
                </a:tc>
                <a:tc>
                  <a:txBody>
                    <a:bodyPr/>
                    <a:lstStyle/>
                    <a:p>
                      <a:r>
                        <a:rPr lang="en-US" sz="1800" dirty="0"/>
                        <a:t>none</a:t>
                      </a:r>
                    </a:p>
                  </a:txBody>
                  <a:tcPr marL="81311" marR="81311" marT="40655" marB="40655"/>
                </a:tc>
                <a:extLst>
                  <a:ext uri="{0D108BD9-81ED-4DB2-BD59-A6C34878D82A}">
                    <a16:rowId xmlns:a16="http://schemas.microsoft.com/office/drawing/2014/main" val="162406719"/>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584775"/>
          </a:xfrm>
          <a:prstGeom prst="rect">
            <a:avLst/>
          </a:prstGeom>
          <a:noFill/>
        </p:spPr>
        <p:txBody>
          <a:bodyPr wrap="square" lIns="45720" rIns="45720" anchor="t">
            <a:spAutoFit/>
          </a:bodyPr>
          <a:lstStyle/>
          <a:p>
            <a:pPr algn="l"/>
            <a:r>
              <a:rPr lang="en-US" sz="3200" b="1" i="0" dirty="0">
                <a:solidFill>
                  <a:srgbClr val="1E2761"/>
                </a:solidFill>
                <a:latin typeface="Cambria"/>
              </a:rPr>
              <a:t>Tidy data: Identifiers</a:t>
            </a:r>
            <a:endParaRPr sz="3200" b="1" i="0" dirty="0">
              <a:solidFill>
                <a:srgbClr val="1E2761"/>
              </a:solidFill>
              <a:latin typeface="Cambria"/>
            </a:endParaRPr>
          </a:p>
        </p:txBody>
      </p:sp>
      <p:sp>
        <p:nvSpPr>
          <p:cNvPr id="3" name="Rounded Rectangle 2"/>
          <p:cNvSpPr/>
          <p:nvPr/>
        </p:nvSpPr>
        <p:spPr>
          <a:xfrm>
            <a:off x="548640" y="1554480"/>
            <a:ext cx="5120640" cy="493776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3377029"/>
            <a:ext cx="4572000" cy="1292662"/>
          </a:xfrm>
          <a:prstGeom prst="rect">
            <a:avLst/>
          </a:prstGeom>
          <a:noFill/>
        </p:spPr>
        <p:txBody>
          <a:bodyPr wrap="square" lIns="45720" rIns="45720" anchor="ctr">
            <a:spAutoFit/>
          </a:bodyPr>
          <a:lstStyle/>
          <a:p>
            <a:pPr algn="l"/>
            <a:r>
              <a:rPr sz="2600" b="1" i="0" dirty="0">
                <a:solidFill>
                  <a:srgbClr val="FFFFFF"/>
                </a:solidFill>
                <a:latin typeface="Cambria"/>
              </a:rPr>
              <a:t>One column can uniquely name a row</a:t>
            </a:r>
            <a:r>
              <a:rPr lang="en-US" sz="2600" b="1" i="0" dirty="0">
                <a:solidFill>
                  <a:srgbClr val="FFFFFF"/>
                </a:solidFill>
                <a:latin typeface="Cambria"/>
              </a:rPr>
              <a:t>, or</a:t>
            </a:r>
            <a:r>
              <a:rPr sz="2600" b="1" i="0" dirty="0">
                <a:solidFill>
                  <a:srgbClr val="FFFFFF"/>
                </a:solidFill>
                <a:latin typeface="Cambria"/>
              </a:rPr>
              <a:t> point to a thing outside the row.</a:t>
            </a:r>
          </a:p>
        </p:txBody>
      </p:sp>
      <p:sp>
        <p:nvSpPr>
          <p:cNvPr id="5" name="Rectangle 4"/>
          <p:cNvSpPr/>
          <p:nvPr/>
        </p:nvSpPr>
        <p:spPr>
          <a:xfrm>
            <a:off x="5943600" y="1600200"/>
            <a:ext cx="73152" cy="15087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6217920" y="1600200"/>
            <a:ext cx="5669280" cy="400110"/>
          </a:xfrm>
          <a:prstGeom prst="rect">
            <a:avLst/>
          </a:prstGeom>
          <a:noFill/>
        </p:spPr>
        <p:txBody>
          <a:bodyPr wrap="square" lIns="45720" rIns="45720" anchor="t">
            <a:spAutoFit/>
          </a:bodyPr>
          <a:lstStyle/>
          <a:p>
            <a:pPr algn="l"/>
            <a:r>
              <a:rPr sz="2000" b="1" i="0" dirty="0">
                <a:solidFill>
                  <a:srgbClr val="1E2761"/>
                </a:solidFill>
                <a:latin typeface="Cambria"/>
              </a:rPr>
              <a:t>Row identifier</a:t>
            </a:r>
          </a:p>
        </p:txBody>
      </p:sp>
      <p:sp>
        <p:nvSpPr>
          <p:cNvPr id="7" name="TextBox 6"/>
          <p:cNvSpPr txBox="1"/>
          <p:nvPr/>
        </p:nvSpPr>
        <p:spPr>
          <a:xfrm>
            <a:off x="6217920" y="2103120"/>
            <a:ext cx="5669280" cy="646331"/>
          </a:xfrm>
          <a:prstGeom prst="rect">
            <a:avLst/>
          </a:prstGeom>
          <a:noFill/>
        </p:spPr>
        <p:txBody>
          <a:bodyPr wrap="square" lIns="45720" rIns="45720" anchor="t">
            <a:spAutoFit/>
          </a:bodyPr>
          <a:lstStyle/>
          <a:p>
            <a:pPr algn="l"/>
            <a:r>
              <a:rPr b="0" i="0" dirty="0">
                <a:solidFill>
                  <a:srgbClr val="2C3E50"/>
                </a:solidFill>
                <a:latin typeface="Calibri"/>
              </a:rPr>
              <a:t>unique per row — </a:t>
            </a:r>
            <a:r>
              <a:rPr b="0" i="0" dirty="0" err="1">
                <a:solidFill>
                  <a:srgbClr val="2C3E50"/>
                </a:solidFill>
                <a:latin typeface="Calibri"/>
              </a:rPr>
              <a:t>sample_number</a:t>
            </a:r>
            <a:r>
              <a:rPr b="0" i="0" dirty="0">
                <a:solidFill>
                  <a:srgbClr val="2C3E50"/>
                </a:solidFill>
                <a:latin typeface="Calibri"/>
              </a:rPr>
              <a:t>, </a:t>
            </a:r>
            <a:r>
              <a:rPr b="0" i="0" dirty="0" err="1">
                <a:solidFill>
                  <a:srgbClr val="2C3E50"/>
                </a:solidFill>
                <a:latin typeface="Calibri"/>
              </a:rPr>
              <a:t>reaction_id</a:t>
            </a:r>
            <a:r>
              <a:rPr b="0" i="0" dirty="0">
                <a:solidFill>
                  <a:srgbClr val="2C3E50"/>
                </a:solidFill>
                <a:latin typeface="Calibri"/>
              </a:rPr>
              <a:t>, </a:t>
            </a:r>
            <a:r>
              <a:rPr b="0" i="0" dirty="0" err="1">
                <a:solidFill>
                  <a:srgbClr val="2C3E50"/>
                </a:solidFill>
                <a:latin typeface="Calibri"/>
              </a:rPr>
              <a:t>batch_id</a:t>
            </a:r>
            <a:r>
              <a:rPr b="0" i="0" dirty="0">
                <a:solidFill>
                  <a:srgbClr val="2C3E50"/>
                </a:solidFill>
                <a:latin typeface="Calibri"/>
              </a:rPr>
              <a:t>. This is what makes a row addressable.</a:t>
            </a:r>
          </a:p>
        </p:txBody>
      </p:sp>
      <p:sp>
        <p:nvSpPr>
          <p:cNvPr id="8" name="Rectangle 7"/>
          <p:cNvSpPr/>
          <p:nvPr/>
        </p:nvSpPr>
        <p:spPr>
          <a:xfrm>
            <a:off x="5943600" y="3246120"/>
            <a:ext cx="73152" cy="15087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6217920" y="3246120"/>
            <a:ext cx="5669280" cy="400110"/>
          </a:xfrm>
          <a:prstGeom prst="rect">
            <a:avLst/>
          </a:prstGeom>
          <a:noFill/>
        </p:spPr>
        <p:txBody>
          <a:bodyPr wrap="square" lIns="45720" rIns="45720" anchor="t">
            <a:spAutoFit/>
          </a:bodyPr>
          <a:lstStyle/>
          <a:p>
            <a:pPr algn="l"/>
            <a:r>
              <a:rPr sz="2000" b="1" i="0">
                <a:solidFill>
                  <a:srgbClr val="1E2761"/>
                </a:solidFill>
                <a:latin typeface="Cambria"/>
              </a:rPr>
              <a:t>Entity identifier</a:t>
            </a:r>
          </a:p>
        </p:txBody>
      </p:sp>
      <p:sp>
        <p:nvSpPr>
          <p:cNvPr id="10" name="TextBox 9"/>
          <p:cNvSpPr txBox="1"/>
          <p:nvPr/>
        </p:nvSpPr>
        <p:spPr>
          <a:xfrm>
            <a:off x="6217920" y="3749039"/>
            <a:ext cx="5669280" cy="923330"/>
          </a:xfrm>
          <a:prstGeom prst="rect">
            <a:avLst/>
          </a:prstGeom>
          <a:noFill/>
        </p:spPr>
        <p:txBody>
          <a:bodyPr wrap="square" lIns="45720" rIns="45720" anchor="t">
            <a:spAutoFit/>
          </a:bodyPr>
          <a:lstStyle/>
          <a:p>
            <a:pPr algn="l"/>
            <a:r>
              <a:rPr b="0" i="0">
                <a:solidFill>
                  <a:srgbClr val="2C3E50"/>
                </a:solidFill>
                <a:latin typeface="Calibri"/>
              </a:rPr>
              <a:t>points to a thing outside the table — catalyst_id, operator_id, material_grade. This is what makes tables joinable.</a:t>
            </a:r>
          </a:p>
        </p:txBody>
      </p:sp>
      <p:sp>
        <p:nvSpPr>
          <p:cNvPr id="11" name="Rectangle 10"/>
          <p:cNvSpPr/>
          <p:nvPr/>
        </p:nvSpPr>
        <p:spPr>
          <a:xfrm>
            <a:off x="5943600" y="4892040"/>
            <a:ext cx="73152" cy="15087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TextBox 11"/>
          <p:cNvSpPr txBox="1"/>
          <p:nvPr/>
        </p:nvSpPr>
        <p:spPr>
          <a:xfrm>
            <a:off x="6217920" y="4892040"/>
            <a:ext cx="5669280" cy="400110"/>
          </a:xfrm>
          <a:prstGeom prst="rect">
            <a:avLst/>
          </a:prstGeom>
          <a:noFill/>
        </p:spPr>
        <p:txBody>
          <a:bodyPr wrap="square" lIns="45720" rIns="45720" anchor="t">
            <a:spAutoFit/>
          </a:bodyPr>
          <a:lstStyle/>
          <a:p>
            <a:pPr algn="l"/>
            <a:r>
              <a:rPr sz="2000" b="1" i="0" dirty="0">
                <a:solidFill>
                  <a:srgbClr val="1E2761"/>
                </a:solidFill>
                <a:latin typeface="Cambria"/>
              </a:rPr>
              <a:t>Canonical form</a:t>
            </a:r>
            <a:r>
              <a:rPr lang="en-US" sz="2000" b="1" i="0" dirty="0">
                <a:solidFill>
                  <a:srgbClr val="1E2761"/>
                </a:solidFill>
                <a:latin typeface="Cambria"/>
              </a:rPr>
              <a:t>,</a:t>
            </a:r>
            <a:r>
              <a:rPr sz="2000" b="1" i="0" dirty="0">
                <a:solidFill>
                  <a:srgbClr val="1E2761"/>
                </a:solidFill>
                <a:latin typeface="Cambria"/>
              </a:rPr>
              <a:t> not free-typed</a:t>
            </a:r>
          </a:p>
        </p:txBody>
      </p:sp>
      <p:sp>
        <p:nvSpPr>
          <p:cNvPr id="13" name="TextBox 12"/>
          <p:cNvSpPr txBox="1"/>
          <p:nvPr/>
        </p:nvSpPr>
        <p:spPr>
          <a:xfrm>
            <a:off x="6217920" y="5394959"/>
            <a:ext cx="5669280" cy="923330"/>
          </a:xfrm>
          <a:prstGeom prst="rect">
            <a:avLst/>
          </a:prstGeom>
          <a:noFill/>
        </p:spPr>
        <p:txBody>
          <a:bodyPr wrap="square" lIns="45720" rIns="45720" anchor="t">
            <a:spAutoFit/>
          </a:bodyPr>
          <a:lstStyle/>
          <a:p>
            <a:pPr algn="l"/>
            <a:r>
              <a:rPr b="0" i="0">
                <a:solidFill>
                  <a:srgbClr val="2C3E50"/>
                </a:solidFill>
                <a:latin typeface="Calibri"/>
              </a:rPr>
              <a:t>'PD_PPH3_4' spelled consistently, not 'Pd(PPh3)4' and 'pd(pph3)_4' and 'Pd(PPh₃)₄' all referring to the same catalyst.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6E66A-E25C-A61B-BBAC-6B9B9C37043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9CB6C07-D177-33C6-15ED-75B8EC02E1CD}"/>
              </a:ext>
            </a:extLst>
          </p:cNvPr>
          <p:cNvSpPr>
            <a:spLocks noGrp="1"/>
          </p:cNvSpPr>
          <p:nvPr>
            <p:ph type="title"/>
          </p:nvPr>
        </p:nvSpPr>
        <p:spPr/>
        <p:txBody>
          <a:bodyPr>
            <a:normAutofit fontScale="90000"/>
          </a:bodyPr>
          <a:lstStyle/>
          <a:p>
            <a:r>
              <a:rPr lang="en-US"/>
              <a:t>Why are data Identifiers and data Relationships important?</a:t>
            </a:r>
          </a:p>
        </p:txBody>
      </p:sp>
      <p:sp>
        <p:nvSpPr>
          <p:cNvPr id="41" name="Rectangle 40">
            <a:extLst>
              <a:ext uri="{FF2B5EF4-FFF2-40B4-BE49-F238E27FC236}">
                <a16:creationId xmlns:a16="http://schemas.microsoft.com/office/drawing/2014/main" id="{B6C00779-4E48-5267-7BB1-7C924B41854A}"/>
              </a:ext>
            </a:extLst>
          </p:cNvPr>
          <p:cNvSpPr/>
          <p:nvPr/>
        </p:nvSpPr>
        <p:spPr>
          <a:xfrm>
            <a:off x="1335188" y="2514600"/>
            <a:ext cx="2801717" cy="914400"/>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chemeClr val="tx2"/>
                </a:solidFill>
                <a:effectLst/>
                <a:uLnTx/>
                <a:uFillTx/>
                <a:latin typeface="Cambria" panose="02040503050406030204" pitchFamily="18" charset="0"/>
                <a:ea typeface="Cambria" panose="02040503050406030204" pitchFamily="18" charset="0"/>
              </a:rPr>
              <a:t>Identifiers</a:t>
            </a:r>
          </a:p>
        </p:txBody>
      </p:sp>
      <p:sp>
        <p:nvSpPr>
          <p:cNvPr id="42" name="Rectangle 41">
            <a:extLst>
              <a:ext uri="{FF2B5EF4-FFF2-40B4-BE49-F238E27FC236}">
                <a16:creationId xmlns:a16="http://schemas.microsoft.com/office/drawing/2014/main" id="{BDA62257-25B3-BB53-4A9F-44646BAB60A3}"/>
              </a:ext>
            </a:extLst>
          </p:cNvPr>
          <p:cNvSpPr/>
          <p:nvPr/>
        </p:nvSpPr>
        <p:spPr>
          <a:xfrm>
            <a:off x="1335187" y="4170012"/>
            <a:ext cx="2801718" cy="914400"/>
          </a:xfrm>
          <a:prstGeom prst="rect">
            <a:avLst/>
          </a:prstGeom>
          <a:ln/>
        </p:spPr>
        <p:style>
          <a:lnRef idx="1">
            <a:schemeClr val="accent6"/>
          </a:lnRef>
          <a:fillRef idx="3">
            <a:schemeClr val="accent6"/>
          </a:fillRef>
          <a:effectRef idx="2">
            <a:schemeClr val="accent6"/>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chemeClr val="tx2"/>
                </a:solidFill>
                <a:effectLst/>
                <a:uLnTx/>
                <a:uFillTx/>
                <a:latin typeface="Cambria" panose="02040503050406030204" pitchFamily="18" charset="0"/>
                <a:ea typeface="Cambria" panose="02040503050406030204" pitchFamily="18" charset="0"/>
              </a:rPr>
              <a:t>Relationships</a:t>
            </a:r>
          </a:p>
        </p:txBody>
      </p:sp>
      <p:sp>
        <p:nvSpPr>
          <p:cNvPr id="43" name="TextBox 42">
            <a:extLst>
              <a:ext uri="{FF2B5EF4-FFF2-40B4-BE49-F238E27FC236}">
                <a16:creationId xmlns:a16="http://schemas.microsoft.com/office/drawing/2014/main" id="{B3E5D108-0CBC-26C9-3C24-3F3C12BD9484}"/>
              </a:ext>
            </a:extLst>
          </p:cNvPr>
          <p:cNvSpPr txBox="1"/>
          <p:nvPr/>
        </p:nvSpPr>
        <p:spPr>
          <a:xfrm>
            <a:off x="2536150" y="3375372"/>
            <a:ext cx="914400" cy="914400"/>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a:ln>
                  <a:noFill/>
                </a:ln>
                <a:solidFill>
                  <a:srgbClr val="415364"/>
                </a:solidFill>
                <a:effectLst/>
                <a:uLnTx/>
                <a:uFillTx/>
                <a:latin typeface="Arial" panose="020B0604020202020204"/>
                <a:ea typeface="+mn-ea"/>
                <a:cs typeface="+mn-cs"/>
              </a:rPr>
              <a:t>+</a:t>
            </a:r>
          </a:p>
        </p:txBody>
      </p:sp>
      <p:sp>
        <p:nvSpPr>
          <p:cNvPr id="27" name="TextBox 26">
            <a:extLst>
              <a:ext uri="{FF2B5EF4-FFF2-40B4-BE49-F238E27FC236}">
                <a16:creationId xmlns:a16="http://schemas.microsoft.com/office/drawing/2014/main" id="{E551BCA4-C32E-9127-1C52-4E588E8A5706}"/>
              </a:ext>
            </a:extLst>
          </p:cNvPr>
          <p:cNvSpPr txBox="1"/>
          <p:nvPr/>
        </p:nvSpPr>
        <p:spPr>
          <a:xfrm>
            <a:off x="4522844" y="2549616"/>
            <a:ext cx="6496422" cy="706310"/>
          </a:xfrm>
          <a:prstGeom prst="rect">
            <a:avLst/>
          </a:prstGeom>
          <a:noFill/>
        </p:spPr>
        <p:txBody>
          <a:bodyPr wrap="squar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415364"/>
                </a:solidFill>
                <a:effectLst/>
                <a:uLnTx/>
                <a:uFillTx/>
                <a:latin typeface="Arial" panose="020B0604020202020204"/>
                <a:ea typeface="+mn-ea"/>
                <a:cs typeface="+mn-cs"/>
              </a:rPr>
              <a:t>Identifiers are values in a data set that uniquely identify a particular thing</a:t>
            </a:r>
          </a:p>
        </p:txBody>
      </p:sp>
      <p:sp>
        <p:nvSpPr>
          <p:cNvPr id="28" name="TextBox 27">
            <a:extLst>
              <a:ext uri="{FF2B5EF4-FFF2-40B4-BE49-F238E27FC236}">
                <a16:creationId xmlns:a16="http://schemas.microsoft.com/office/drawing/2014/main" id="{FBB03A74-B84D-0676-2B23-FB346EC2CF4C}"/>
              </a:ext>
            </a:extLst>
          </p:cNvPr>
          <p:cNvSpPr txBox="1"/>
          <p:nvPr/>
        </p:nvSpPr>
        <p:spPr>
          <a:xfrm>
            <a:off x="4493444" y="4212936"/>
            <a:ext cx="6496422" cy="706310"/>
          </a:xfrm>
          <a:prstGeom prst="rect">
            <a:avLst/>
          </a:prstGeom>
          <a:noFill/>
        </p:spPr>
        <p:txBody>
          <a:bodyPr wrap="squar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415364"/>
                </a:solidFill>
                <a:effectLst/>
                <a:uLnTx/>
                <a:uFillTx/>
                <a:latin typeface="Arial" panose="020B0604020202020204"/>
                <a:ea typeface="+mn-ea"/>
                <a:cs typeface="+mn-cs"/>
              </a:rPr>
              <a:t>Relationships stitch different pieces of data together to allow greater insights</a:t>
            </a:r>
          </a:p>
        </p:txBody>
      </p:sp>
    </p:spTree>
    <p:extLst>
      <p:ext uri="{BB962C8B-B14F-4D97-AF65-F5344CB8AC3E}">
        <p14:creationId xmlns:p14="http://schemas.microsoft.com/office/powerpoint/2010/main" val="11137451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859C7465-76E4-D6D9-40A0-71473E2ACB52}"/>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85B058AD-C9DB-4584-8171-CC3992061172}"/>
              </a:ext>
            </a:extLst>
          </p:cNvPr>
          <p:cNvPicPr>
            <a:picLocks noChangeAspect="1"/>
          </p:cNvPicPr>
          <p:nvPr/>
        </p:nvPicPr>
        <p:blipFill>
          <a:blip r:embed="rId5">
            <a:duotone>
              <a:schemeClr val="accent3">
                <a:shade val="45000"/>
                <a:satMod val="135000"/>
              </a:schemeClr>
              <a:prstClr val="white"/>
            </a:duotone>
          </a:blip>
          <a:stretch>
            <a:fillRect/>
          </a:stretch>
        </p:blipFill>
        <p:spPr>
          <a:xfrm>
            <a:off x="6438216" y="4003625"/>
            <a:ext cx="629833" cy="495607"/>
          </a:xfrm>
          <a:prstGeom prst="rect">
            <a:avLst/>
          </a:prstGeom>
        </p:spPr>
      </p:pic>
      <p:pic>
        <p:nvPicPr>
          <p:cNvPr id="21" name="Picture 20">
            <a:extLst>
              <a:ext uri="{FF2B5EF4-FFF2-40B4-BE49-F238E27FC236}">
                <a16:creationId xmlns:a16="http://schemas.microsoft.com/office/drawing/2014/main" id="{418394D7-6741-8F59-E4A3-589D090E1667}"/>
              </a:ext>
            </a:extLst>
          </p:cNvPr>
          <p:cNvPicPr>
            <a:picLocks noChangeAspect="1"/>
          </p:cNvPicPr>
          <p:nvPr/>
        </p:nvPicPr>
        <p:blipFill>
          <a:blip r:embed="rId5">
            <a:duotone>
              <a:schemeClr val="accent6">
                <a:shade val="45000"/>
                <a:satMod val="135000"/>
              </a:schemeClr>
              <a:prstClr val="white"/>
            </a:duotone>
          </a:blip>
          <a:stretch>
            <a:fillRect/>
          </a:stretch>
        </p:blipFill>
        <p:spPr>
          <a:xfrm>
            <a:off x="7954191" y="4004245"/>
            <a:ext cx="629833" cy="495607"/>
          </a:xfrm>
          <a:prstGeom prst="rect">
            <a:avLst/>
          </a:prstGeom>
        </p:spPr>
      </p:pic>
      <p:pic>
        <p:nvPicPr>
          <p:cNvPr id="22" name="Picture 21">
            <a:extLst>
              <a:ext uri="{FF2B5EF4-FFF2-40B4-BE49-F238E27FC236}">
                <a16:creationId xmlns:a16="http://schemas.microsoft.com/office/drawing/2014/main" id="{C5F2D68F-873F-82F1-D70A-06B9270DF1C2}"/>
              </a:ext>
            </a:extLst>
          </p:cNvPr>
          <p:cNvPicPr>
            <a:picLocks noChangeAspect="1"/>
          </p:cNvPicPr>
          <p:nvPr/>
        </p:nvPicPr>
        <p:blipFill>
          <a:blip r:embed="rId5">
            <a:duotone>
              <a:schemeClr val="bg2">
                <a:shade val="45000"/>
                <a:satMod val="135000"/>
              </a:schemeClr>
              <a:prstClr val="white"/>
            </a:duotone>
          </a:blip>
          <a:stretch>
            <a:fillRect/>
          </a:stretch>
        </p:blipFill>
        <p:spPr>
          <a:xfrm>
            <a:off x="5637992" y="3424996"/>
            <a:ext cx="629833" cy="495607"/>
          </a:xfrm>
          <a:prstGeom prst="rect">
            <a:avLst/>
          </a:prstGeom>
        </p:spPr>
      </p:pic>
      <p:pic>
        <p:nvPicPr>
          <p:cNvPr id="26" name="Picture 25">
            <a:extLst>
              <a:ext uri="{FF2B5EF4-FFF2-40B4-BE49-F238E27FC236}">
                <a16:creationId xmlns:a16="http://schemas.microsoft.com/office/drawing/2014/main" id="{E723F7D7-A494-F536-47A2-B2E10D0977BF}"/>
              </a:ext>
            </a:extLst>
          </p:cNvPr>
          <p:cNvPicPr>
            <a:picLocks noChangeAspect="1"/>
          </p:cNvPicPr>
          <p:nvPr/>
        </p:nvPicPr>
        <p:blipFill>
          <a:blip r:embed="rId6">
            <a:extLst>
              <a:ext uri="{BEBA8EAE-BF5A-486C-A8C5-ECC9F3942E4B}">
                <a14:imgProps xmlns:a14="http://schemas.microsoft.com/office/drawing/2010/main">
                  <a14:imgLayer r:embed="rId7">
                    <a14:imgEffect>
                      <a14:saturation sat="400000"/>
                    </a14:imgEffect>
                  </a14:imgLayer>
                </a14:imgProps>
              </a:ext>
            </a:extLst>
          </a:blip>
          <a:stretch>
            <a:fillRect/>
          </a:stretch>
        </p:blipFill>
        <p:spPr>
          <a:xfrm>
            <a:off x="7269355" y="3239760"/>
            <a:ext cx="629833" cy="495607"/>
          </a:xfrm>
          <a:prstGeom prst="rect">
            <a:avLst/>
          </a:prstGeom>
        </p:spPr>
      </p:pic>
      <p:cxnSp>
        <p:nvCxnSpPr>
          <p:cNvPr id="34" name="Connector: Elbow 33">
            <a:extLst>
              <a:ext uri="{FF2B5EF4-FFF2-40B4-BE49-F238E27FC236}">
                <a16:creationId xmlns:a16="http://schemas.microsoft.com/office/drawing/2014/main" id="{6B1B3B42-A7CF-4FD8-BB87-8C8B3A99CE6D}"/>
              </a:ext>
            </a:extLst>
          </p:cNvPr>
          <p:cNvCxnSpPr>
            <a:cxnSpLocks/>
            <a:stCxn id="19" idx="0"/>
            <a:endCxn id="26" idx="2"/>
          </p:cNvCxnSpPr>
          <p:nvPr/>
        </p:nvCxnSpPr>
        <p:spPr>
          <a:xfrm rot="5400000" flipH="1" flipV="1">
            <a:off x="7034573" y="3453927"/>
            <a:ext cx="268258" cy="831139"/>
          </a:xfrm>
          <a:prstGeom prst="bentConnector3">
            <a:avLst>
              <a:gd name="adj1" fmla="val 50000"/>
            </a:avLst>
          </a:prstGeom>
          <a:ln w="15875">
            <a:solidFill>
              <a:schemeClr val="accent6"/>
            </a:solidFill>
            <a:tailEnd type="triangle"/>
          </a:ln>
        </p:spPr>
        <p:style>
          <a:lnRef idx="2">
            <a:schemeClr val="accent6"/>
          </a:lnRef>
          <a:fillRef idx="0">
            <a:schemeClr val="accent6"/>
          </a:fillRef>
          <a:effectRef idx="1">
            <a:schemeClr val="accent6"/>
          </a:effectRef>
          <a:fontRef idx="minor">
            <a:schemeClr val="tx1"/>
          </a:fontRef>
        </p:style>
      </p:cxnSp>
      <p:cxnSp>
        <p:nvCxnSpPr>
          <p:cNvPr id="37" name="Connector: Elbow 36">
            <a:extLst>
              <a:ext uri="{FF2B5EF4-FFF2-40B4-BE49-F238E27FC236}">
                <a16:creationId xmlns:a16="http://schemas.microsoft.com/office/drawing/2014/main" id="{587AAD5F-887E-F21F-72FC-5FEC77DFE8CF}"/>
              </a:ext>
            </a:extLst>
          </p:cNvPr>
          <p:cNvCxnSpPr>
            <a:cxnSpLocks/>
            <a:stCxn id="21" idx="0"/>
            <a:endCxn id="26" idx="3"/>
          </p:cNvCxnSpPr>
          <p:nvPr/>
        </p:nvCxnSpPr>
        <p:spPr>
          <a:xfrm rot="16200000" flipV="1">
            <a:off x="7825808" y="3560945"/>
            <a:ext cx="516681" cy="369920"/>
          </a:xfrm>
          <a:prstGeom prst="bentConnector2">
            <a:avLst/>
          </a:prstGeom>
          <a:ln w="15875">
            <a:solidFill>
              <a:schemeClr val="accent6"/>
            </a:solidFill>
            <a:tailEnd type="triangle"/>
          </a:ln>
        </p:spPr>
        <p:style>
          <a:lnRef idx="2">
            <a:schemeClr val="accent6"/>
          </a:lnRef>
          <a:fillRef idx="0">
            <a:schemeClr val="accent6"/>
          </a:fillRef>
          <a:effectRef idx="1">
            <a:schemeClr val="accent6"/>
          </a:effectRef>
          <a:fontRef idx="minor">
            <a:schemeClr val="tx1"/>
          </a:fontRef>
        </p:style>
      </p:cxnSp>
      <p:cxnSp>
        <p:nvCxnSpPr>
          <p:cNvPr id="46" name="Connector: Elbow 45">
            <a:extLst>
              <a:ext uri="{FF2B5EF4-FFF2-40B4-BE49-F238E27FC236}">
                <a16:creationId xmlns:a16="http://schemas.microsoft.com/office/drawing/2014/main" id="{A52A0834-D608-2CD0-AFC5-AF16F103330E}"/>
              </a:ext>
            </a:extLst>
          </p:cNvPr>
          <p:cNvCxnSpPr>
            <a:cxnSpLocks/>
          </p:cNvCxnSpPr>
          <p:nvPr/>
        </p:nvCxnSpPr>
        <p:spPr>
          <a:xfrm flipH="1" flipV="1">
            <a:off x="8288190" y="4503060"/>
            <a:ext cx="1166757" cy="718234"/>
          </a:xfrm>
          <a:prstGeom prst="bentConnector2">
            <a:avLst/>
          </a:prstGeom>
          <a:ln w="15875">
            <a:solidFill>
              <a:schemeClr val="accent6"/>
            </a:solidFill>
            <a:tailEnd type="triangle"/>
          </a:ln>
        </p:spPr>
        <p:style>
          <a:lnRef idx="2">
            <a:schemeClr val="accent6"/>
          </a:lnRef>
          <a:fillRef idx="0">
            <a:schemeClr val="accent6"/>
          </a:fillRef>
          <a:effectRef idx="1">
            <a:schemeClr val="accent6"/>
          </a:effectRef>
          <a:fontRef idx="minor">
            <a:schemeClr val="tx1"/>
          </a:fontRef>
        </p:style>
      </p:cxnSp>
      <p:cxnSp>
        <p:nvCxnSpPr>
          <p:cNvPr id="61" name="Connector: Elbow 60">
            <a:extLst>
              <a:ext uri="{FF2B5EF4-FFF2-40B4-BE49-F238E27FC236}">
                <a16:creationId xmlns:a16="http://schemas.microsoft.com/office/drawing/2014/main" id="{8B149E52-F4FB-C574-DEC7-51514EC64550}"/>
              </a:ext>
            </a:extLst>
          </p:cNvPr>
          <p:cNvCxnSpPr>
            <a:cxnSpLocks/>
            <a:stCxn id="22" idx="0"/>
          </p:cNvCxnSpPr>
          <p:nvPr/>
        </p:nvCxnSpPr>
        <p:spPr>
          <a:xfrm rot="5400000" flipH="1" flipV="1">
            <a:off x="5828131" y="2985301"/>
            <a:ext cx="564472" cy="314919"/>
          </a:xfrm>
          <a:prstGeom prst="bentConnector3">
            <a:avLst>
              <a:gd name="adj1" fmla="val 50000"/>
            </a:avLst>
          </a:prstGeom>
          <a:ln w="15875">
            <a:solidFill>
              <a:schemeClr val="accent6"/>
            </a:solidFill>
            <a:tailEnd type="triangle"/>
          </a:ln>
        </p:spPr>
        <p:style>
          <a:lnRef idx="2">
            <a:schemeClr val="accent6"/>
          </a:lnRef>
          <a:fillRef idx="0">
            <a:schemeClr val="accent6"/>
          </a:fillRef>
          <a:effectRef idx="1">
            <a:schemeClr val="accent6"/>
          </a:effectRef>
          <a:fontRef idx="minor">
            <a:schemeClr val="tx1"/>
          </a:fontRef>
        </p:style>
      </p:cxnSp>
      <p:cxnSp>
        <p:nvCxnSpPr>
          <p:cNvPr id="63" name="Connector: Elbow 62">
            <a:extLst>
              <a:ext uri="{FF2B5EF4-FFF2-40B4-BE49-F238E27FC236}">
                <a16:creationId xmlns:a16="http://schemas.microsoft.com/office/drawing/2014/main" id="{8AAC1311-A6EA-9C84-F7E5-EC1B3DAA1BB2}"/>
              </a:ext>
            </a:extLst>
          </p:cNvPr>
          <p:cNvCxnSpPr>
            <a:cxnSpLocks/>
            <a:stCxn id="26" idx="0"/>
          </p:cNvCxnSpPr>
          <p:nvPr/>
        </p:nvCxnSpPr>
        <p:spPr>
          <a:xfrm rot="16200000" flipV="1">
            <a:off x="7201750" y="2857237"/>
            <a:ext cx="366655" cy="398391"/>
          </a:xfrm>
          <a:prstGeom prst="bentConnector3">
            <a:avLst>
              <a:gd name="adj1" fmla="val 50000"/>
            </a:avLst>
          </a:prstGeom>
          <a:ln w="15875">
            <a:solidFill>
              <a:schemeClr val="accent6"/>
            </a:solidFill>
            <a:tailEnd type="triangle"/>
          </a:ln>
        </p:spPr>
        <p:style>
          <a:lnRef idx="2">
            <a:schemeClr val="accent6"/>
          </a:lnRef>
          <a:fillRef idx="0">
            <a:schemeClr val="accent6"/>
          </a:fillRef>
          <a:effectRef idx="1">
            <a:schemeClr val="accent6"/>
          </a:effectRef>
          <a:fontRef idx="minor">
            <a:schemeClr val="tx1"/>
          </a:fontRef>
        </p:style>
      </p:cxnSp>
      <p:sp>
        <p:nvSpPr>
          <p:cNvPr id="8" name="Title 4">
            <a:extLst>
              <a:ext uri="{FF2B5EF4-FFF2-40B4-BE49-F238E27FC236}">
                <a16:creationId xmlns:a16="http://schemas.microsoft.com/office/drawing/2014/main" id="{5A2E37C6-906E-24AF-33BF-1A40E662C2E7}"/>
              </a:ext>
            </a:extLst>
          </p:cNvPr>
          <p:cNvSpPr>
            <a:spLocks noGrp="1"/>
          </p:cNvSpPr>
          <p:nvPr>
            <p:ph type="title"/>
          </p:nvPr>
        </p:nvSpPr>
        <p:spPr/>
        <p:txBody>
          <a:bodyPr lIns="91440" tIns="45720" rIns="91440" bIns="45720" anchor="t">
            <a:normAutofit fontScale="90000"/>
          </a:bodyPr>
          <a:lstStyle/>
          <a:p>
            <a:r>
              <a:rPr lang="en-US" dirty="0"/>
              <a:t>Why you care </a:t>
            </a:r>
            <a:br>
              <a:rPr lang="en-US" dirty="0"/>
            </a:br>
            <a:r>
              <a:rPr lang="en-US" dirty="0"/>
              <a:t>about this…</a:t>
            </a:r>
          </a:p>
        </p:txBody>
      </p:sp>
      <p:cxnSp>
        <p:nvCxnSpPr>
          <p:cNvPr id="13" name="Connector: Elbow 12">
            <a:extLst>
              <a:ext uri="{FF2B5EF4-FFF2-40B4-BE49-F238E27FC236}">
                <a16:creationId xmlns:a16="http://schemas.microsoft.com/office/drawing/2014/main" id="{907D2FA1-9CFE-92DC-EB5D-739A0CA861DA}"/>
              </a:ext>
            </a:extLst>
          </p:cNvPr>
          <p:cNvCxnSpPr>
            <a:cxnSpLocks/>
          </p:cNvCxnSpPr>
          <p:nvPr/>
        </p:nvCxnSpPr>
        <p:spPr>
          <a:xfrm flipV="1">
            <a:off x="4222718" y="4124548"/>
            <a:ext cx="2215437" cy="932026"/>
          </a:xfrm>
          <a:prstGeom prst="bentConnector3">
            <a:avLst>
              <a:gd name="adj1" fmla="val 50000"/>
            </a:avLst>
          </a:prstGeom>
          <a:ln w="15875">
            <a:solidFill>
              <a:schemeClr val="accent6"/>
            </a:solidFill>
            <a:tailEnd type="triangle"/>
          </a:ln>
        </p:spPr>
        <p:style>
          <a:lnRef idx="2">
            <a:schemeClr val="accent6"/>
          </a:lnRef>
          <a:fillRef idx="0">
            <a:schemeClr val="accent6"/>
          </a:fillRef>
          <a:effectRef idx="1">
            <a:schemeClr val="accent6"/>
          </a:effectRef>
          <a:fontRef idx="minor">
            <a:schemeClr val="tx1"/>
          </a:fontRef>
        </p:style>
      </p:cxnSp>
      <p:cxnSp>
        <p:nvCxnSpPr>
          <p:cNvPr id="14" name="Connector: Elbow 13">
            <a:extLst>
              <a:ext uri="{FF2B5EF4-FFF2-40B4-BE49-F238E27FC236}">
                <a16:creationId xmlns:a16="http://schemas.microsoft.com/office/drawing/2014/main" id="{A04AD489-462B-345F-C5E6-98F73112F2CD}"/>
              </a:ext>
            </a:extLst>
          </p:cNvPr>
          <p:cNvCxnSpPr>
            <a:cxnSpLocks/>
          </p:cNvCxnSpPr>
          <p:nvPr/>
        </p:nvCxnSpPr>
        <p:spPr>
          <a:xfrm flipH="1" flipV="1">
            <a:off x="7074649" y="4151443"/>
            <a:ext cx="1128398" cy="1344399"/>
          </a:xfrm>
          <a:prstGeom prst="bentConnector3">
            <a:avLst>
              <a:gd name="adj1" fmla="val 50000"/>
            </a:avLst>
          </a:prstGeom>
          <a:ln w="15875">
            <a:solidFill>
              <a:schemeClr val="accent6"/>
            </a:solidFill>
            <a:tailEnd type="triangle"/>
          </a:ln>
        </p:spPr>
        <p:style>
          <a:lnRef idx="2">
            <a:schemeClr val="accent6"/>
          </a:lnRef>
          <a:fillRef idx="0">
            <a:schemeClr val="accent6"/>
          </a:fillRef>
          <a:effectRef idx="1">
            <a:schemeClr val="accent6"/>
          </a:effectRef>
          <a:fontRef idx="minor">
            <a:schemeClr val="tx1"/>
          </a:fontRef>
        </p:style>
      </p:cxnSp>
      <p:pic>
        <p:nvPicPr>
          <p:cNvPr id="24" name="Picture 23" descr="A white and brown tile&#10;&#10;Description automatically generated">
            <a:extLst>
              <a:ext uri="{FF2B5EF4-FFF2-40B4-BE49-F238E27FC236}">
                <a16:creationId xmlns:a16="http://schemas.microsoft.com/office/drawing/2014/main" id="{C009D1A0-AA52-0D17-FE99-63BBF3A1DA5A}"/>
              </a:ext>
            </a:extLst>
          </p:cNvPr>
          <p:cNvPicPr>
            <a:picLocks noChangeAspect="1"/>
          </p:cNvPicPr>
          <p:nvPr/>
        </p:nvPicPr>
        <p:blipFill>
          <a:blip r:embed="rId5">
            <a:duotone>
              <a:schemeClr val="accent6">
                <a:shade val="45000"/>
                <a:satMod val="135000"/>
              </a:schemeClr>
              <a:prstClr val="white"/>
            </a:duotone>
          </a:blip>
          <a:stretch>
            <a:fillRect/>
          </a:stretch>
        </p:blipFill>
        <p:spPr>
          <a:xfrm>
            <a:off x="9451296" y="3654622"/>
            <a:ext cx="629833" cy="495607"/>
          </a:xfrm>
          <a:prstGeom prst="rect">
            <a:avLst/>
          </a:prstGeom>
        </p:spPr>
      </p:pic>
      <p:cxnSp>
        <p:nvCxnSpPr>
          <p:cNvPr id="27" name="Connector: Elbow 26">
            <a:extLst>
              <a:ext uri="{FF2B5EF4-FFF2-40B4-BE49-F238E27FC236}">
                <a16:creationId xmlns:a16="http://schemas.microsoft.com/office/drawing/2014/main" id="{F7241392-72D0-C13D-AC8D-045A5740D20E}"/>
              </a:ext>
            </a:extLst>
          </p:cNvPr>
          <p:cNvCxnSpPr>
            <a:cxnSpLocks/>
          </p:cNvCxnSpPr>
          <p:nvPr/>
        </p:nvCxnSpPr>
        <p:spPr>
          <a:xfrm flipH="1" flipV="1">
            <a:off x="7890437" y="3380477"/>
            <a:ext cx="1621456" cy="537576"/>
          </a:xfrm>
          <a:prstGeom prst="bentConnector3">
            <a:avLst>
              <a:gd name="adj1" fmla="val 50000"/>
            </a:avLst>
          </a:prstGeom>
          <a:ln w="15875">
            <a:solidFill>
              <a:schemeClr val="accent6"/>
            </a:solidFill>
            <a:tailEnd type="triangle"/>
          </a:ln>
        </p:spPr>
        <p:style>
          <a:lnRef idx="2">
            <a:schemeClr val="accent6"/>
          </a:lnRef>
          <a:fillRef idx="0">
            <a:schemeClr val="accent6"/>
          </a:fillRef>
          <a:effectRef idx="1">
            <a:schemeClr val="accent6"/>
          </a:effectRef>
          <a:fontRef idx="minor">
            <a:schemeClr val="tx1"/>
          </a:fontRef>
        </p:style>
      </p:cxnSp>
      <p:pic>
        <p:nvPicPr>
          <p:cNvPr id="3" name="Picture 2" descr="Help: Print Sheet - SpreadsheetConverter">
            <a:extLst>
              <a:ext uri="{FF2B5EF4-FFF2-40B4-BE49-F238E27FC236}">
                <a16:creationId xmlns:a16="http://schemas.microsoft.com/office/drawing/2014/main" id="{C3A37CEB-638D-F1D8-199E-6F6A8E534232}"/>
              </a:ext>
            </a:extLst>
          </p:cNvPr>
          <p:cNvPicPr>
            <a:picLocks noChangeAspect="1"/>
          </p:cNvPicPr>
          <p:nvPr/>
        </p:nvPicPr>
        <p:blipFill>
          <a:blip r:embed="rId8"/>
          <a:srcRect t="23475" b="40145"/>
          <a:stretch>
            <a:fillRect/>
          </a:stretch>
        </p:blipFill>
        <p:spPr>
          <a:xfrm>
            <a:off x="3960055" y="1635690"/>
            <a:ext cx="5806157" cy="1210926"/>
          </a:xfrm>
          <a:prstGeom prst="rect">
            <a:avLst/>
          </a:prstGeom>
        </p:spPr>
      </p:pic>
      <p:pic>
        <p:nvPicPr>
          <p:cNvPr id="12" name="Picture 11" descr="Help: Print Sheet - SpreadsheetConverter">
            <a:extLst>
              <a:ext uri="{FF2B5EF4-FFF2-40B4-BE49-F238E27FC236}">
                <a16:creationId xmlns:a16="http://schemas.microsoft.com/office/drawing/2014/main" id="{1E581D1B-7852-D56B-279A-73E814D90FFE}"/>
              </a:ext>
            </a:extLst>
          </p:cNvPr>
          <p:cNvPicPr>
            <a:picLocks noChangeAspect="1"/>
          </p:cNvPicPr>
          <p:nvPr/>
        </p:nvPicPr>
        <p:blipFill>
          <a:blip r:embed="rId8"/>
          <a:srcRect l="2643" t="23475" r="62794" b="40145"/>
          <a:stretch>
            <a:fillRect/>
          </a:stretch>
        </p:blipFill>
        <p:spPr>
          <a:xfrm>
            <a:off x="2130761" y="4867187"/>
            <a:ext cx="2006813" cy="1210926"/>
          </a:xfrm>
          <a:prstGeom prst="rect">
            <a:avLst/>
          </a:prstGeom>
        </p:spPr>
      </p:pic>
      <p:pic>
        <p:nvPicPr>
          <p:cNvPr id="25" name="Picture 24" descr="Help: Print Sheet - SpreadsheetConverter">
            <a:extLst>
              <a:ext uri="{FF2B5EF4-FFF2-40B4-BE49-F238E27FC236}">
                <a16:creationId xmlns:a16="http://schemas.microsoft.com/office/drawing/2014/main" id="{3EABFF52-46F5-CB63-CDF5-3D498D8F1041}"/>
              </a:ext>
            </a:extLst>
          </p:cNvPr>
          <p:cNvPicPr>
            <a:picLocks noChangeAspect="1"/>
          </p:cNvPicPr>
          <p:nvPr/>
        </p:nvPicPr>
        <p:blipFill>
          <a:blip r:embed="rId8"/>
          <a:srcRect l="75720" t="23475" b="49408"/>
          <a:stretch>
            <a:fillRect/>
          </a:stretch>
        </p:blipFill>
        <p:spPr>
          <a:xfrm>
            <a:off x="9451296" y="4432288"/>
            <a:ext cx="1409741" cy="902605"/>
          </a:xfrm>
          <a:prstGeom prst="rect">
            <a:avLst/>
          </a:prstGeom>
        </p:spPr>
      </p:pic>
      <p:pic>
        <p:nvPicPr>
          <p:cNvPr id="29" name="Picture 28" descr="Help: Print Sheet - SpreadsheetConverter">
            <a:extLst>
              <a:ext uri="{FF2B5EF4-FFF2-40B4-BE49-F238E27FC236}">
                <a16:creationId xmlns:a16="http://schemas.microsoft.com/office/drawing/2014/main" id="{72955713-1210-8CB1-5583-2A4BF2F1D2AE}"/>
              </a:ext>
            </a:extLst>
          </p:cNvPr>
          <p:cNvPicPr>
            <a:picLocks noChangeAspect="1"/>
          </p:cNvPicPr>
          <p:nvPr/>
        </p:nvPicPr>
        <p:blipFill>
          <a:blip r:embed="rId8"/>
          <a:srcRect l="39917" t="23912" r="28079" b="49408"/>
          <a:stretch>
            <a:fillRect/>
          </a:stretch>
        </p:blipFill>
        <p:spPr>
          <a:xfrm>
            <a:off x="8203047" y="5503353"/>
            <a:ext cx="1858191" cy="888081"/>
          </a:xfrm>
          <a:prstGeom prst="rect">
            <a:avLst/>
          </a:prstGeom>
        </p:spPr>
      </p:pic>
      <p:pic>
        <p:nvPicPr>
          <p:cNvPr id="33" name="Picture 32">
            <a:extLst>
              <a:ext uri="{FF2B5EF4-FFF2-40B4-BE49-F238E27FC236}">
                <a16:creationId xmlns:a16="http://schemas.microsoft.com/office/drawing/2014/main" id="{0E868E3A-F8A4-5EBA-4C58-B557B68B8060}"/>
              </a:ext>
            </a:extLst>
          </p:cNvPr>
          <p:cNvPicPr>
            <a:picLocks noChangeAspect="1"/>
          </p:cNvPicPr>
          <p:nvPr/>
        </p:nvPicPr>
        <p:blipFill>
          <a:blip r:embed="rId9"/>
          <a:stretch>
            <a:fillRect/>
          </a:stretch>
        </p:blipFill>
        <p:spPr>
          <a:xfrm>
            <a:off x="4062795" y="515622"/>
            <a:ext cx="5551838" cy="1051470"/>
          </a:xfrm>
          <a:prstGeom prst="rect">
            <a:avLst/>
          </a:prstGeom>
        </p:spPr>
      </p:pic>
    </p:spTree>
    <p:custDataLst>
      <p:tags r:id="rId2"/>
    </p:custDataLst>
    <p:extLst>
      <p:ext uri="{BB962C8B-B14F-4D97-AF65-F5344CB8AC3E}">
        <p14:creationId xmlns:p14="http://schemas.microsoft.com/office/powerpoint/2010/main" val="2418154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75344"/>
    </mc:Choice>
    <mc:Fallback xmlns="">
      <p:transition spd="slow" advTm="7534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C732A-EC70-5EF1-0834-F2501F9C1BC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79D8F9-66AF-47FD-9134-4FBC590440BD}"/>
              </a:ext>
            </a:extLst>
          </p:cNvPr>
          <p:cNvSpPr>
            <a:spLocks noGrp="1"/>
          </p:cNvSpPr>
          <p:nvPr>
            <p:ph type="title"/>
          </p:nvPr>
        </p:nvSpPr>
        <p:spPr/>
        <p:txBody>
          <a:bodyPr/>
          <a:lstStyle/>
          <a:p>
            <a:r>
              <a:rPr lang="en-US" dirty="0"/>
              <a:t>Data identifier examples</a:t>
            </a:r>
          </a:p>
        </p:txBody>
      </p:sp>
      <p:sp>
        <p:nvSpPr>
          <p:cNvPr id="7" name="Text Placeholder 6">
            <a:extLst>
              <a:ext uri="{FF2B5EF4-FFF2-40B4-BE49-F238E27FC236}">
                <a16:creationId xmlns:a16="http://schemas.microsoft.com/office/drawing/2014/main" id="{17EA50D9-B496-8365-B25E-6DDCB229A1BE}"/>
              </a:ext>
            </a:extLst>
          </p:cNvPr>
          <p:cNvSpPr>
            <a:spLocks noGrp="1"/>
          </p:cNvSpPr>
          <p:nvPr>
            <p:ph idx="1"/>
          </p:nvPr>
        </p:nvSpPr>
        <p:spPr>
          <a:xfrm>
            <a:off x="7500573" y="2817153"/>
            <a:ext cx="4280823" cy="1166604"/>
          </a:xfrm>
          <a:solidFill>
            <a:schemeClr val="bg1">
              <a:lumMod val="85000"/>
            </a:schemeClr>
          </a:solidFill>
        </p:spPr>
        <p:txBody>
          <a:bodyPr>
            <a:noAutofit/>
          </a:bodyPr>
          <a:lstStyle/>
          <a:p>
            <a:pPr marL="0" indent="0" defTabSz="1219170">
              <a:buNone/>
            </a:pPr>
            <a:r>
              <a:rPr lang="en-US" sz="2000" b="1" dirty="0">
                <a:solidFill>
                  <a:srgbClr val="415364"/>
                </a:solidFill>
                <a:latin typeface="Arial" panose="020B0604020202020204"/>
              </a:rPr>
              <a:t>They can identify either a row in the table or a thing outside the table</a:t>
            </a:r>
          </a:p>
        </p:txBody>
      </p:sp>
      <p:sp>
        <p:nvSpPr>
          <p:cNvPr id="4" name="Date Placeholder 3">
            <a:extLst>
              <a:ext uri="{FF2B5EF4-FFF2-40B4-BE49-F238E27FC236}">
                <a16:creationId xmlns:a16="http://schemas.microsoft.com/office/drawing/2014/main" id="{F7EE9CF7-A841-F981-4001-C1163E3B992C}"/>
              </a:ext>
            </a:extLst>
          </p:cNvPr>
          <p:cNvSpPr>
            <a:spLocks noGrp="1"/>
          </p:cNvSpPr>
          <p:nvPr>
            <p:ph type="dt" sz="half"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0FEE751A-D629-9BE6-1687-A4B153317888}"/>
              </a:ext>
            </a:extLst>
          </p:cNvPr>
          <p:cNvSpPr>
            <a:spLocks noGrp="1"/>
          </p:cNvSpPr>
          <p:nvPr>
            <p:ph type="sldNum" sz="quarter"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6D1532F-61F1-B941-ACDF-6BC65E0B4055}" type="slidenum">
              <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22</a:t>
            </a:fld>
            <a:endPar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graphicFrame>
        <p:nvGraphicFramePr>
          <p:cNvPr id="32" name="Table 7">
            <a:extLst>
              <a:ext uri="{FF2B5EF4-FFF2-40B4-BE49-F238E27FC236}">
                <a16:creationId xmlns:a16="http://schemas.microsoft.com/office/drawing/2014/main" id="{0F74581D-5748-1514-E53A-31F1D5250CDA}"/>
              </a:ext>
            </a:extLst>
          </p:cNvPr>
          <p:cNvGraphicFramePr>
            <a:graphicFrameLocks noGrp="1"/>
          </p:cNvGraphicFramePr>
          <p:nvPr>
            <p:extLst>
              <p:ext uri="{D42A27DB-BD31-4B8C-83A1-F6EECF244321}">
                <p14:modId xmlns:p14="http://schemas.microsoft.com/office/powerpoint/2010/main" val="1216189820"/>
              </p:ext>
            </p:extLst>
          </p:nvPr>
        </p:nvGraphicFramePr>
        <p:xfrm>
          <a:off x="616449" y="2029109"/>
          <a:ext cx="6406868" cy="3637278"/>
        </p:xfrm>
        <a:graphic>
          <a:graphicData uri="http://schemas.openxmlformats.org/drawingml/2006/table">
            <a:tbl>
              <a:tblPr firstRow="1" bandRow="1">
                <a:tableStyleId>{5C22544A-7EE6-4342-B048-85BDC9FD1C3A}</a:tableStyleId>
              </a:tblPr>
              <a:tblGrid>
                <a:gridCol w="1793526">
                  <a:extLst>
                    <a:ext uri="{9D8B030D-6E8A-4147-A177-3AD203B41FA5}">
                      <a16:colId xmlns:a16="http://schemas.microsoft.com/office/drawing/2014/main" val="1619538324"/>
                    </a:ext>
                  </a:extLst>
                </a:gridCol>
                <a:gridCol w="1703844">
                  <a:extLst>
                    <a:ext uri="{9D8B030D-6E8A-4147-A177-3AD203B41FA5}">
                      <a16:colId xmlns:a16="http://schemas.microsoft.com/office/drawing/2014/main" val="2204580905"/>
                    </a:ext>
                  </a:extLst>
                </a:gridCol>
                <a:gridCol w="1454749">
                  <a:extLst>
                    <a:ext uri="{9D8B030D-6E8A-4147-A177-3AD203B41FA5}">
                      <a16:colId xmlns:a16="http://schemas.microsoft.com/office/drawing/2014/main" val="253053857"/>
                    </a:ext>
                  </a:extLst>
                </a:gridCol>
                <a:gridCol w="1454749">
                  <a:extLst>
                    <a:ext uri="{9D8B030D-6E8A-4147-A177-3AD203B41FA5}">
                      <a16:colId xmlns:a16="http://schemas.microsoft.com/office/drawing/2014/main" val="1733008077"/>
                    </a:ext>
                  </a:extLst>
                </a:gridCol>
              </a:tblGrid>
              <a:tr h="558818">
                <a:tc>
                  <a:txBody>
                    <a:bodyPr/>
                    <a:lstStyle/>
                    <a:p>
                      <a:r>
                        <a:rPr lang="en-US" sz="1800" dirty="0" err="1"/>
                        <a:t>sample_number</a:t>
                      </a:r>
                      <a:endParaRPr lang="en-US" sz="1800" dirty="0"/>
                    </a:p>
                  </a:txBody>
                  <a:tcPr marL="121920" marR="121920" marT="60960" marB="60960"/>
                </a:tc>
                <a:tc>
                  <a:txBody>
                    <a:bodyPr/>
                    <a:lstStyle/>
                    <a:p>
                      <a:r>
                        <a:rPr lang="en-US" sz="1800"/>
                        <a:t>temperature: </a:t>
                      </a:r>
                      <a:r>
                        <a:rPr lang="en-US" sz="1800" err="1"/>
                        <a:t>deg_c</a:t>
                      </a:r>
                      <a:endParaRPr lang="en-US" sz="1800"/>
                    </a:p>
                  </a:txBody>
                  <a:tcPr marL="121920" marR="121920" marT="60960" marB="60960"/>
                </a:tc>
                <a:tc>
                  <a:txBody>
                    <a:bodyPr/>
                    <a:lstStyle/>
                    <a:p>
                      <a:r>
                        <a:rPr lang="en-US" sz="1800"/>
                        <a:t>viscosity: cp</a:t>
                      </a:r>
                    </a:p>
                  </a:txBody>
                  <a:tcPr marL="121920" marR="121920" marT="60960" marB="60960"/>
                </a:tc>
                <a:tc>
                  <a:txBody>
                    <a:bodyPr/>
                    <a:lstStyle/>
                    <a:p>
                      <a:r>
                        <a:rPr lang="en-US" sz="1800"/>
                        <a:t>material: </a:t>
                      </a:r>
                      <a:r>
                        <a:rPr lang="en-US" sz="1800" err="1"/>
                        <a:t>sae_grade</a:t>
                      </a:r>
                      <a:endParaRPr lang="en-US" sz="1800"/>
                    </a:p>
                  </a:txBody>
                  <a:tcPr marL="81311" marR="81311" marT="40655" marB="40655"/>
                </a:tc>
                <a:extLst>
                  <a:ext uri="{0D108BD9-81ED-4DB2-BD59-A6C34878D82A}">
                    <a16:rowId xmlns:a16="http://schemas.microsoft.com/office/drawing/2014/main" val="1107157796"/>
                  </a:ext>
                </a:extLst>
              </a:tr>
              <a:tr h="494453">
                <a:tc>
                  <a:txBody>
                    <a:bodyPr/>
                    <a:lstStyle/>
                    <a:p>
                      <a:r>
                        <a:rPr lang="en-US" sz="2000"/>
                        <a:t>SAM-AB1234</a:t>
                      </a:r>
                    </a:p>
                  </a:txBody>
                  <a:tcPr marL="121920" marR="121920" marT="60960" marB="60960"/>
                </a:tc>
                <a:tc>
                  <a:txBody>
                    <a:bodyPr/>
                    <a:lstStyle/>
                    <a:p>
                      <a:r>
                        <a:rPr lang="en-US" sz="2000"/>
                        <a:t>20.0</a:t>
                      </a:r>
                    </a:p>
                  </a:txBody>
                  <a:tcPr marL="121920" marR="121920" marT="60960" marB="60960"/>
                </a:tc>
                <a:tc>
                  <a:txBody>
                    <a:bodyPr/>
                    <a:lstStyle/>
                    <a:p>
                      <a:r>
                        <a:rPr lang="en-US" sz="2000"/>
                        <a:t>286</a:t>
                      </a:r>
                    </a:p>
                  </a:txBody>
                  <a:tcPr marL="121920" marR="121920" marT="60960" marB="60960"/>
                </a:tc>
                <a:tc>
                  <a:txBody>
                    <a:bodyPr/>
                    <a:lstStyle/>
                    <a:p>
                      <a:r>
                        <a:rPr lang="en-US" sz="2000"/>
                        <a:t>15W-40</a:t>
                      </a:r>
                    </a:p>
                  </a:txBody>
                  <a:tcPr marL="81311" marR="81311" marT="40655" marB="40655"/>
                </a:tc>
                <a:extLst>
                  <a:ext uri="{0D108BD9-81ED-4DB2-BD59-A6C34878D82A}">
                    <a16:rowId xmlns:a16="http://schemas.microsoft.com/office/drawing/2014/main" val="1919681070"/>
                  </a:ext>
                </a:extLst>
              </a:tr>
              <a:tr h="4944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t>SAM-AB1235</a:t>
                      </a:r>
                    </a:p>
                  </a:txBody>
                  <a:tcPr marL="121920" marR="121920" marT="60960" marB="60960"/>
                </a:tc>
                <a:tc>
                  <a:txBody>
                    <a:bodyPr/>
                    <a:lstStyle/>
                    <a:p>
                      <a:r>
                        <a:rPr lang="en-US" sz="2000"/>
                        <a:t>30.0</a:t>
                      </a:r>
                    </a:p>
                  </a:txBody>
                  <a:tcPr marL="121920" marR="121920" marT="60960" marB="60960"/>
                </a:tc>
                <a:tc>
                  <a:txBody>
                    <a:bodyPr/>
                    <a:lstStyle/>
                    <a:p>
                      <a:r>
                        <a:rPr lang="en-US" sz="2000"/>
                        <a:t>154</a:t>
                      </a:r>
                    </a:p>
                  </a:txBody>
                  <a:tcPr marL="121920" marR="121920" marT="60960" marB="60960"/>
                </a:tc>
                <a:tc>
                  <a:txBody>
                    <a:bodyPr/>
                    <a:lstStyle/>
                    <a:p>
                      <a:r>
                        <a:rPr lang="en-US" sz="2000"/>
                        <a:t>15W-40</a:t>
                      </a:r>
                    </a:p>
                  </a:txBody>
                  <a:tcPr marL="81311" marR="81311" marT="40655" marB="40655"/>
                </a:tc>
                <a:extLst>
                  <a:ext uri="{0D108BD9-81ED-4DB2-BD59-A6C34878D82A}">
                    <a16:rowId xmlns:a16="http://schemas.microsoft.com/office/drawing/2014/main" val="3264277782"/>
                  </a:ext>
                </a:extLst>
              </a:tr>
              <a:tr h="4944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t>SAM-AB1236</a:t>
                      </a:r>
                    </a:p>
                  </a:txBody>
                  <a:tcPr marL="121920" marR="121920" marT="60960" marB="60960"/>
                </a:tc>
                <a:tc>
                  <a:txBody>
                    <a:bodyPr/>
                    <a:lstStyle/>
                    <a:p>
                      <a:r>
                        <a:rPr lang="en-US" sz="2000"/>
                        <a:t>20.0</a:t>
                      </a:r>
                    </a:p>
                  </a:txBody>
                  <a:tcPr marL="121920" marR="121920" marT="60960" marB="60960"/>
                </a:tc>
                <a:tc>
                  <a:txBody>
                    <a:bodyPr/>
                    <a:lstStyle/>
                    <a:p>
                      <a:r>
                        <a:rPr lang="en-US" sz="2000"/>
                        <a:t>210</a:t>
                      </a:r>
                    </a:p>
                  </a:txBody>
                  <a:tcPr marL="121920" marR="121920" marT="60960" marB="60960"/>
                </a:tc>
                <a:tc>
                  <a:txBody>
                    <a:bodyPr/>
                    <a:lstStyle/>
                    <a:p>
                      <a:r>
                        <a:rPr lang="en-US" sz="2000"/>
                        <a:t>10W-40</a:t>
                      </a:r>
                    </a:p>
                  </a:txBody>
                  <a:tcPr marL="81311" marR="81311" marT="40655" marB="40655"/>
                </a:tc>
                <a:extLst>
                  <a:ext uri="{0D108BD9-81ED-4DB2-BD59-A6C34878D82A}">
                    <a16:rowId xmlns:a16="http://schemas.microsoft.com/office/drawing/2014/main" val="3562596706"/>
                  </a:ext>
                </a:extLst>
              </a:tr>
              <a:tr h="4944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t>SAM-AB1237</a:t>
                      </a:r>
                    </a:p>
                  </a:txBody>
                  <a:tcPr marL="121920" marR="121920" marT="60960" marB="60960"/>
                </a:tc>
                <a:tc>
                  <a:txBody>
                    <a:bodyPr/>
                    <a:lstStyle/>
                    <a:p>
                      <a:r>
                        <a:rPr lang="en-US" sz="2000"/>
                        <a:t>30.0</a:t>
                      </a:r>
                    </a:p>
                  </a:txBody>
                  <a:tcPr marL="121920" marR="121920" marT="60960" marB="60960"/>
                </a:tc>
                <a:tc>
                  <a:txBody>
                    <a:bodyPr/>
                    <a:lstStyle/>
                    <a:p>
                      <a:r>
                        <a:rPr lang="en-US" sz="2000"/>
                        <a:t>121</a:t>
                      </a:r>
                    </a:p>
                  </a:txBody>
                  <a:tcPr marL="121920" marR="121920" marT="60960" marB="60960"/>
                </a:tc>
                <a:tc>
                  <a:txBody>
                    <a:bodyPr/>
                    <a:lstStyle/>
                    <a:p>
                      <a:r>
                        <a:rPr lang="en-US" sz="2000"/>
                        <a:t>10W-40</a:t>
                      </a:r>
                    </a:p>
                  </a:txBody>
                  <a:tcPr marL="81311" marR="81311" marT="40655" marB="40655"/>
                </a:tc>
                <a:extLst>
                  <a:ext uri="{0D108BD9-81ED-4DB2-BD59-A6C34878D82A}">
                    <a16:rowId xmlns:a16="http://schemas.microsoft.com/office/drawing/2014/main" val="2810195785"/>
                  </a:ext>
                </a:extLst>
              </a:tr>
              <a:tr h="4944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t>SAM-AB1238</a:t>
                      </a:r>
                    </a:p>
                  </a:txBody>
                  <a:tcPr marL="121920" marR="121920" marT="60960" marB="60960"/>
                </a:tc>
                <a:tc>
                  <a:txBody>
                    <a:bodyPr/>
                    <a:lstStyle/>
                    <a:p>
                      <a:r>
                        <a:rPr lang="en-US" sz="2000"/>
                        <a:t>20.0</a:t>
                      </a:r>
                    </a:p>
                  </a:txBody>
                  <a:tcPr marL="121920" marR="121920" marT="60960" marB="60960"/>
                </a:tc>
                <a:tc>
                  <a:txBody>
                    <a:bodyPr/>
                    <a:lstStyle/>
                    <a:p>
                      <a:r>
                        <a:rPr lang="en-US" sz="2000"/>
                        <a:t>382</a:t>
                      </a:r>
                    </a:p>
                  </a:txBody>
                  <a:tcPr marL="121920" marR="121920" marT="60960" marB="60960"/>
                </a:tc>
                <a:tc>
                  <a:txBody>
                    <a:bodyPr/>
                    <a:lstStyle/>
                    <a:p>
                      <a:r>
                        <a:rPr lang="en-US" sz="2000"/>
                        <a:t>10W-60</a:t>
                      </a:r>
                    </a:p>
                  </a:txBody>
                  <a:tcPr marL="81311" marR="81311" marT="40655" marB="40655"/>
                </a:tc>
                <a:extLst>
                  <a:ext uri="{0D108BD9-81ED-4DB2-BD59-A6C34878D82A}">
                    <a16:rowId xmlns:a16="http://schemas.microsoft.com/office/drawing/2014/main" val="162406719"/>
                  </a:ext>
                </a:extLst>
              </a:tr>
              <a:tr h="4944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SAM-AB1241</a:t>
                      </a:r>
                    </a:p>
                  </a:txBody>
                  <a:tcPr marL="121920" marR="121920" marT="60960" marB="60960"/>
                </a:tc>
                <a:tc>
                  <a:txBody>
                    <a:bodyPr/>
                    <a:lstStyle/>
                    <a:p>
                      <a:r>
                        <a:rPr lang="en-US" sz="2000"/>
                        <a:t>30.0</a:t>
                      </a:r>
                    </a:p>
                  </a:txBody>
                  <a:tcPr marL="121920" marR="121920" marT="60960" marB="60960"/>
                </a:tc>
                <a:tc>
                  <a:txBody>
                    <a:bodyPr/>
                    <a:lstStyle/>
                    <a:p>
                      <a:r>
                        <a:rPr lang="en-US" sz="2000"/>
                        <a:t>221</a:t>
                      </a:r>
                    </a:p>
                  </a:txBody>
                  <a:tcPr marL="121920" marR="121920" marT="60960" marB="60960"/>
                </a:tc>
                <a:tc>
                  <a:txBody>
                    <a:bodyPr/>
                    <a:lstStyle/>
                    <a:p>
                      <a:r>
                        <a:rPr lang="en-US" sz="2000" dirty="0"/>
                        <a:t>10W-60</a:t>
                      </a:r>
                    </a:p>
                  </a:txBody>
                  <a:tcPr marL="81311" marR="81311" marT="40655" marB="40655"/>
                </a:tc>
                <a:extLst>
                  <a:ext uri="{0D108BD9-81ED-4DB2-BD59-A6C34878D82A}">
                    <a16:rowId xmlns:a16="http://schemas.microsoft.com/office/drawing/2014/main" val="2899885508"/>
                  </a:ext>
                </a:extLst>
              </a:tr>
            </a:tbl>
          </a:graphicData>
        </a:graphic>
      </p:graphicFrame>
      <p:sp>
        <p:nvSpPr>
          <p:cNvPr id="12" name="Text Placeholder 6">
            <a:extLst>
              <a:ext uri="{FF2B5EF4-FFF2-40B4-BE49-F238E27FC236}">
                <a16:creationId xmlns:a16="http://schemas.microsoft.com/office/drawing/2014/main" id="{BB51D32E-0F3B-3F71-7754-B5EB71B39D6C}"/>
              </a:ext>
            </a:extLst>
          </p:cNvPr>
          <p:cNvSpPr txBox="1">
            <a:spLocks/>
          </p:cNvSpPr>
          <p:nvPr/>
        </p:nvSpPr>
        <p:spPr>
          <a:xfrm>
            <a:off x="7490637" y="1452206"/>
            <a:ext cx="4280822" cy="1034130"/>
          </a:xfrm>
          <a:prstGeom prst="rect">
            <a:avLst/>
          </a:prstGeom>
          <a:solidFill>
            <a:schemeClr val="bg1">
              <a:lumMod val="85000"/>
            </a:schemeClr>
          </a:solidFill>
        </p:spPr>
        <p:txBody>
          <a:bodyPr>
            <a:noAutofit/>
          </a:bodyPr>
          <a:lstStyle>
            <a:lvl1pPr marL="0" indent="0" algn="l" defTabSz="1219170" rtl="0" eaLnBrk="1" latinLnBrk="0" hangingPunct="1">
              <a:spcBef>
                <a:spcPct val="20000"/>
              </a:spcBef>
              <a:buFont typeface="Arial" pitchFamily="34" charset="0"/>
              <a:buNone/>
              <a:defRPr lang="en-US" sz="2667" b="1" kern="1200">
                <a:solidFill>
                  <a:schemeClr val="tx1"/>
                </a:solidFill>
                <a:latin typeface="+mn-lt"/>
                <a:ea typeface="+mn-ea"/>
                <a:cs typeface="+mn-cs"/>
              </a:defRPr>
            </a:lvl1pPr>
            <a:lvl2pPr marL="12700" indent="0" algn="l" defTabSz="1219170" rtl="0" eaLnBrk="1" latinLnBrk="0" hangingPunct="1">
              <a:spcBef>
                <a:spcPct val="20000"/>
              </a:spcBef>
              <a:buFont typeface="Arial" pitchFamily="34" charset="0"/>
              <a:buNone/>
              <a:tabLst/>
              <a:defRPr lang="en-US" sz="2400" kern="1200" dirty="0" smtClean="0">
                <a:solidFill>
                  <a:schemeClr val="tx1"/>
                </a:solidFill>
                <a:latin typeface="+mn-lt"/>
                <a:ea typeface="+mn-ea"/>
                <a:cs typeface="+mn-cs"/>
              </a:defRPr>
            </a:lvl2pPr>
            <a:lvl3pPr marL="315376" indent="-302676" algn="l" defTabSz="1219170" rtl="0" eaLnBrk="1" latinLnBrk="0" hangingPunct="1">
              <a:spcBef>
                <a:spcPct val="20000"/>
              </a:spcBef>
              <a:buFont typeface="Wingdings" pitchFamily="2" charset="2"/>
              <a:buChar char="§"/>
              <a:tabLst/>
              <a:defRPr lang="en-US" sz="1867" kern="1200" dirty="0" smtClean="0">
                <a:solidFill>
                  <a:schemeClr val="tx1"/>
                </a:solidFill>
                <a:latin typeface="+mn-lt"/>
                <a:ea typeface="+mn-ea"/>
                <a:cs typeface="+mn-cs"/>
              </a:defRPr>
            </a:lvl3pPr>
            <a:lvl4pPr marL="770447" indent="-385224" algn="l" defTabSz="1219170" rtl="0" eaLnBrk="1" latinLnBrk="0" hangingPunct="1">
              <a:spcBef>
                <a:spcPct val="20000"/>
              </a:spcBef>
              <a:buFont typeface="Courier New" panose="02070309020205020404" pitchFamily="49" charset="0"/>
              <a:buChar char="o"/>
              <a:tabLst/>
              <a:defRPr sz="1867" kern="1200">
                <a:solidFill>
                  <a:schemeClr val="tx1"/>
                </a:solidFill>
                <a:latin typeface="+mn-lt"/>
                <a:ea typeface="+mn-ea"/>
                <a:cs typeface="+mn-cs"/>
              </a:defRPr>
            </a:lvl4pPr>
            <a:lvl5pPr marL="1073124" indent="-302676" algn="l" defTabSz="1219170" rtl="0" eaLnBrk="1" latinLnBrk="0" hangingPunct="1">
              <a:spcBef>
                <a:spcPct val="20000"/>
              </a:spcBef>
              <a:buFont typeface="Arial" panose="020B0604020202020204" pitchFamily="34" charset="0"/>
              <a:buChar char="•"/>
              <a:tabLst/>
              <a:defRPr sz="1867" kern="1200">
                <a:solidFill>
                  <a:schemeClr val="tx1"/>
                </a:solidFill>
                <a:latin typeface="+mn-lt"/>
                <a:ea typeface="+mn-ea"/>
                <a:cs typeface="+mn-cs"/>
              </a:defRPr>
            </a:lvl5pPr>
            <a:lvl6pPr marL="1375799" indent="-302676" algn="l" defTabSz="1219170" rtl="0" eaLnBrk="1" latinLnBrk="0" hangingPunct="1">
              <a:spcBef>
                <a:spcPct val="20000"/>
              </a:spcBef>
              <a:buFont typeface="System Font Regular"/>
              <a:buChar char="–"/>
              <a:tabLst/>
              <a:defRPr sz="18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rgbClr val="415364"/>
                </a:solidFill>
                <a:effectLst/>
                <a:uLnTx/>
                <a:uFillTx/>
                <a:latin typeface="Arial" panose="020B0604020202020204"/>
                <a:ea typeface="+mn-ea"/>
                <a:cs typeface="+mn-cs"/>
              </a:rPr>
              <a:t>Identifiers are values in columns that uniquely identify a particular thing.</a:t>
            </a:r>
          </a:p>
          <a:p>
            <a:pPr marL="457200" marR="0" lvl="0" indent="-457200" algn="l" defTabSz="1219170"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1600" b="1" i="0" u="none" strike="noStrike" kern="1200" cap="none" spc="0" normalizeH="0" baseline="0" noProof="0" dirty="0">
              <a:ln>
                <a:noFill/>
              </a:ln>
              <a:solidFill>
                <a:srgbClr val="415364"/>
              </a:solidFill>
              <a:effectLst/>
              <a:uLnTx/>
              <a:uFillTx/>
              <a:latin typeface="Arial" panose="020B0604020202020204"/>
              <a:ea typeface="+mn-ea"/>
              <a:cs typeface="+mn-cs"/>
            </a:endParaRPr>
          </a:p>
        </p:txBody>
      </p:sp>
      <p:sp>
        <p:nvSpPr>
          <p:cNvPr id="13" name="Text Placeholder 6">
            <a:extLst>
              <a:ext uri="{FF2B5EF4-FFF2-40B4-BE49-F238E27FC236}">
                <a16:creationId xmlns:a16="http://schemas.microsoft.com/office/drawing/2014/main" id="{C7492DE6-8D43-AC82-6C42-7BB831DD732B}"/>
              </a:ext>
            </a:extLst>
          </p:cNvPr>
          <p:cNvSpPr txBox="1">
            <a:spLocks/>
          </p:cNvSpPr>
          <p:nvPr/>
        </p:nvSpPr>
        <p:spPr>
          <a:xfrm>
            <a:off x="7500573" y="4314574"/>
            <a:ext cx="4280822" cy="1808824"/>
          </a:xfrm>
          <a:prstGeom prst="rect">
            <a:avLst/>
          </a:prstGeom>
          <a:solidFill>
            <a:schemeClr val="bg1">
              <a:lumMod val="85000"/>
            </a:schemeClr>
          </a:solidFill>
        </p:spPr>
        <p:txBody>
          <a:bodyPr>
            <a:noAutofit/>
          </a:bodyPr>
          <a:lstStyle>
            <a:lvl1pPr marL="0" indent="0" algn="l" defTabSz="1219170" rtl="0" eaLnBrk="1" latinLnBrk="0" hangingPunct="1">
              <a:spcBef>
                <a:spcPct val="20000"/>
              </a:spcBef>
              <a:buFont typeface="Arial" pitchFamily="34" charset="0"/>
              <a:buNone/>
              <a:defRPr lang="en-US" sz="2667" b="1" kern="1200">
                <a:solidFill>
                  <a:schemeClr val="tx1"/>
                </a:solidFill>
                <a:latin typeface="+mn-lt"/>
                <a:ea typeface="+mn-ea"/>
                <a:cs typeface="+mn-cs"/>
              </a:defRPr>
            </a:lvl1pPr>
            <a:lvl2pPr marL="12700" indent="0" algn="l" defTabSz="1219170" rtl="0" eaLnBrk="1" latinLnBrk="0" hangingPunct="1">
              <a:spcBef>
                <a:spcPct val="20000"/>
              </a:spcBef>
              <a:buFont typeface="Arial" pitchFamily="34" charset="0"/>
              <a:buNone/>
              <a:tabLst/>
              <a:defRPr lang="en-US" sz="2400" kern="1200" dirty="0" smtClean="0">
                <a:solidFill>
                  <a:schemeClr val="tx1"/>
                </a:solidFill>
                <a:latin typeface="+mn-lt"/>
                <a:ea typeface="+mn-ea"/>
                <a:cs typeface="+mn-cs"/>
              </a:defRPr>
            </a:lvl2pPr>
            <a:lvl3pPr marL="315376" indent="-302676" algn="l" defTabSz="1219170" rtl="0" eaLnBrk="1" latinLnBrk="0" hangingPunct="1">
              <a:spcBef>
                <a:spcPct val="20000"/>
              </a:spcBef>
              <a:buFont typeface="Wingdings" pitchFamily="2" charset="2"/>
              <a:buChar char="§"/>
              <a:tabLst/>
              <a:defRPr lang="en-US" sz="1867" kern="1200" dirty="0" smtClean="0">
                <a:solidFill>
                  <a:schemeClr val="tx1"/>
                </a:solidFill>
                <a:latin typeface="+mn-lt"/>
                <a:ea typeface="+mn-ea"/>
                <a:cs typeface="+mn-cs"/>
              </a:defRPr>
            </a:lvl3pPr>
            <a:lvl4pPr marL="770447" indent="-385224" algn="l" defTabSz="1219170" rtl="0" eaLnBrk="1" latinLnBrk="0" hangingPunct="1">
              <a:spcBef>
                <a:spcPct val="20000"/>
              </a:spcBef>
              <a:buFont typeface="Courier New" panose="02070309020205020404" pitchFamily="49" charset="0"/>
              <a:buChar char="o"/>
              <a:tabLst/>
              <a:defRPr sz="1867" kern="1200">
                <a:solidFill>
                  <a:schemeClr val="tx1"/>
                </a:solidFill>
                <a:latin typeface="+mn-lt"/>
                <a:ea typeface="+mn-ea"/>
                <a:cs typeface="+mn-cs"/>
              </a:defRPr>
            </a:lvl4pPr>
            <a:lvl5pPr marL="1073124" indent="-302676" algn="l" defTabSz="1219170" rtl="0" eaLnBrk="1" latinLnBrk="0" hangingPunct="1">
              <a:spcBef>
                <a:spcPct val="20000"/>
              </a:spcBef>
              <a:buFont typeface="Arial" panose="020B0604020202020204" pitchFamily="34" charset="0"/>
              <a:buChar char="•"/>
              <a:tabLst/>
              <a:defRPr sz="1867" kern="1200">
                <a:solidFill>
                  <a:schemeClr val="tx1"/>
                </a:solidFill>
                <a:latin typeface="+mn-lt"/>
                <a:ea typeface="+mn-ea"/>
                <a:cs typeface="+mn-cs"/>
              </a:defRPr>
            </a:lvl5pPr>
            <a:lvl6pPr marL="1375799" indent="-302676" algn="l" defTabSz="1219170" rtl="0" eaLnBrk="1" latinLnBrk="0" hangingPunct="1">
              <a:spcBef>
                <a:spcPct val="20000"/>
              </a:spcBef>
              <a:buFont typeface="System Font Regular"/>
              <a:buChar char="–"/>
              <a:tabLst/>
              <a:defRPr sz="18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rgbClr val="415364"/>
                </a:solidFill>
                <a:effectLst/>
                <a:uLnTx/>
                <a:uFillTx/>
                <a:latin typeface="Arial" panose="020B0604020202020204"/>
                <a:ea typeface="+mn-ea"/>
                <a:cs typeface="+mn-cs"/>
              </a:rPr>
              <a:t>Examples:</a:t>
            </a:r>
          </a:p>
          <a:p>
            <a:pPr marL="315376" marR="0" lvl="2" indent="457200" algn="l" defTabSz="1219170" rtl="0" eaLnBrk="1" fontAlgn="auto" latinLnBrk="0" hangingPunct="1">
              <a:lnSpc>
                <a:spcPct val="100000"/>
              </a:lnSpc>
              <a:spcBef>
                <a:spcPct val="20000"/>
              </a:spcBef>
              <a:spcAft>
                <a:spcPts val="0"/>
              </a:spcAft>
              <a:buClrTx/>
              <a:buSzTx/>
              <a:buFont typeface="Wingdings" pitchFamily="2" charset="2"/>
              <a:buChar char="§"/>
              <a:tabLst/>
              <a:defRPr/>
            </a:pPr>
            <a:r>
              <a:rPr kumimoji="0" lang="en-US" sz="1800" b="0" i="0" u="none" strike="noStrike" kern="1200" cap="none" spc="0" normalizeH="0" baseline="0" noProof="0" dirty="0">
                <a:ln>
                  <a:noFill/>
                </a:ln>
                <a:solidFill>
                  <a:srgbClr val="415364"/>
                </a:solidFill>
                <a:effectLst/>
                <a:uLnTx/>
                <a:uFillTx/>
                <a:latin typeface="Arial" panose="020B0604020202020204"/>
                <a:ea typeface="+mn-ea"/>
                <a:cs typeface="+mn-cs"/>
              </a:rPr>
              <a:t>a material</a:t>
            </a:r>
          </a:p>
          <a:p>
            <a:pPr marL="315376" marR="0" lvl="2" indent="457200" algn="l" defTabSz="1219170" rtl="0" eaLnBrk="1" fontAlgn="auto" latinLnBrk="0" hangingPunct="1">
              <a:lnSpc>
                <a:spcPct val="100000"/>
              </a:lnSpc>
              <a:spcBef>
                <a:spcPct val="20000"/>
              </a:spcBef>
              <a:spcAft>
                <a:spcPts val="0"/>
              </a:spcAft>
              <a:buClrTx/>
              <a:buSzTx/>
              <a:buFont typeface="Wingdings" pitchFamily="2" charset="2"/>
              <a:buChar char="§"/>
              <a:tabLst/>
              <a:defRPr/>
            </a:pPr>
            <a:r>
              <a:rPr kumimoji="0" lang="en-US" sz="1800" b="0" i="0" u="none" strike="noStrike" kern="1200" cap="none" spc="0" normalizeH="0" baseline="0" noProof="0" dirty="0">
                <a:ln>
                  <a:noFill/>
                </a:ln>
                <a:solidFill>
                  <a:srgbClr val="415364"/>
                </a:solidFill>
                <a:effectLst/>
                <a:uLnTx/>
                <a:uFillTx/>
                <a:latin typeface="Arial" panose="020B0604020202020204"/>
                <a:ea typeface="+mn-ea"/>
                <a:cs typeface="+mn-cs"/>
              </a:rPr>
              <a:t>a person</a:t>
            </a:r>
          </a:p>
          <a:p>
            <a:pPr marL="315376" marR="0" lvl="2" indent="457200" algn="l" defTabSz="1219170" rtl="0" eaLnBrk="1" fontAlgn="auto" latinLnBrk="0" hangingPunct="1">
              <a:lnSpc>
                <a:spcPct val="100000"/>
              </a:lnSpc>
              <a:spcBef>
                <a:spcPct val="20000"/>
              </a:spcBef>
              <a:spcAft>
                <a:spcPts val="0"/>
              </a:spcAft>
              <a:buClrTx/>
              <a:buSzTx/>
              <a:buFont typeface="Wingdings" pitchFamily="2" charset="2"/>
              <a:buChar char="§"/>
              <a:tabLst/>
              <a:defRPr/>
            </a:pPr>
            <a:r>
              <a:rPr kumimoji="0" lang="en-US" sz="1800" b="0" i="0" u="none" strike="noStrike" kern="1200" cap="none" spc="0" normalizeH="0" baseline="0" noProof="0" dirty="0">
                <a:ln>
                  <a:noFill/>
                </a:ln>
                <a:solidFill>
                  <a:srgbClr val="415364"/>
                </a:solidFill>
                <a:effectLst/>
                <a:uLnTx/>
                <a:uFillTx/>
                <a:latin typeface="Arial" panose="020B0604020202020204"/>
                <a:ea typeface="+mn-ea"/>
                <a:cs typeface="+mn-cs"/>
              </a:rPr>
              <a:t>another piece of information</a:t>
            </a:r>
          </a:p>
          <a:p>
            <a:pPr marL="315376" marR="0" lvl="2" indent="457200" algn="l" defTabSz="1219170" rtl="0" eaLnBrk="1" fontAlgn="auto" latinLnBrk="0" hangingPunct="1">
              <a:lnSpc>
                <a:spcPct val="100000"/>
              </a:lnSpc>
              <a:spcBef>
                <a:spcPct val="20000"/>
              </a:spcBef>
              <a:spcAft>
                <a:spcPts val="0"/>
              </a:spcAft>
              <a:buClrTx/>
              <a:buSzTx/>
              <a:buFont typeface="Wingdings" pitchFamily="2" charset="2"/>
              <a:buChar char="§"/>
              <a:tabLst/>
              <a:defRPr/>
            </a:pPr>
            <a:r>
              <a:rPr kumimoji="0" lang="en-US" sz="1800" b="0" i="0" u="none" strike="noStrike" kern="1200" cap="none" spc="0" normalizeH="0" baseline="0" noProof="0" dirty="0">
                <a:ln>
                  <a:noFill/>
                </a:ln>
                <a:solidFill>
                  <a:srgbClr val="415364"/>
                </a:solidFill>
                <a:effectLst/>
                <a:uLnTx/>
                <a:uFillTx/>
                <a:latin typeface="Arial" panose="020B0604020202020204"/>
                <a:ea typeface="+mn-ea"/>
                <a:cs typeface="+mn-cs"/>
              </a:rPr>
              <a:t>a row in a table</a:t>
            </a:r>
          </a:p>
        </p:txBody>
      </p:sp>
    </p:spTree>
    <p:extLst>
      <p:ext uri="{BB962C8B-B14F-4D97-AF65-F5344CB8AC3E}">
        <p14:creationId xmlns:p14="http://schemas.microsoft.com/office/powerpoint/2010/main" val="16250903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A520F-1D7F-C7E9-BC43-F510A95BF2B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09145E0-2A20-3B28-F4F6-E3431C12CB93}"/>
              </a:ext>
            </a:extLst>
          </p:cNvPr>
          <p:cNvSpPr>
            <a:spLocks noGrp="1"/>
          </p:cNvSpPr>
          <p:nvPr>
            <p:ph type="title"/>
          </p:nvPr>
        </p:nvSpPr>
        <p:spPr/>
        <p:txBody>
          <a:bodyPr/>
          <a:lstStyle/>
          <a:p>
            <a:r>
              <a:rPr lang="en-US"/>
              <a:t>Knowledge check: Identifiers</a:t>
            </a:r>
          </a:p>
        </p:txBody>
      </p:sp>
      <p:sp>
        <p:nvSpPr>
          <p:cNvPr id="6" name="Text Placeholder 5">
            <a:extLst>
              <a:ext uri="{FF2B5EF4-FFF2-40B4-BE49-F238E27FC236}">
                <a16:creationId xmlns:a16="http://schemas.microsoft.com/office/drawing/2014/main" id="{22A53D73-0546-8FAA-8BA9-8A3673F0AFD3}"/>
              </a:ext>
            </a:extLst>
          </p:cNvPr>
          <p:cNvSpPr>
            <a:spLocks noGrp="1"/>
          </p:cNvSpPr>
          <p:nvPr>
            <p:ph idx="1"/>
          </p:nvPr>
        </p:nvSpPr>
        <p:spPr/>
        <p:txBody>
          <a:bodyPr/>
          <a:lstStyle/>
          <a:p>
            <a:pPr marL="0" indent="0">
              <a:buNone/>
            </a:pPr>
            <a:r>
              <a:rPr lang="en-US" dirty="0"/>
              <a:t>Which of the columns in this table contain Identifiers?</a:t>
            </a:r>
          </a:p>
          <a:p>
            <a:endParaRPr lang="en-US" dirty="0"/>
          </a:p>
        </p:txBody>
      </p:sp>
      <p:sp>
        <p:nvSpPr>
          <p:cNvPr id="4" name="Date Placeholder 3">
            <a:extLst>
              <a:ext uri="{FF2B5EF4-FFF2-40B4-BE49-F238E27FC236}">
                <a16:creationId xmlns:a16="http://schemas.microsoft.com/office/drawing/2014/main" id="{A8A02E07-B161-73D5-4B09-133CC9D7E9D5}"/>
              </a:ext>
            </a:extLst>
          </p:cNvPr>
          <p:cNvSpPr>
            <a:spLocks noGrp="1"/>
          </p:cNvSpPr>
          <p:nvPr>
            <p:ph type="dt" sz="half"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1027016B-D885-F8DE-58CD-C9076CBDBC6F}"/>
              </a:ext>
            </a:extLst>
          </p:cNvPr>
          <p:cNvSpPr>
            <a:spLocks noGrp="1"/>
          </p:cNvSpPr>
          <p:nvPr>
            <p:ph type="sldNum" sz="quarter"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6D1532F-61F1-B941-ACDF-6BC65E0B4055}" type="slidenum">
              <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23</a:t>
            </a:fld>
            <a:endPar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graphicFrame>
        <p:nvGraphicFramePr>
          <p:cNvPr id="25" name="Table 7">
            <a:extLst>
              <a:ext uri="{FF2B5EF4-FFF2-40B4-BE49-F238E27FC236}">
                <a16:creationId xmlns:a16="http://schemas.microsoft.com/office/drawing/2014/main" id="{75178836-9025-1A87-E8E6-F5793A4B783C}"/>
              </a:ext>
            </a:extLst>
          </p:cNvPr>
          <p:cNvGraphicFramePr>
            <a:graphicFrameLocks noGrp="1"/>
          </p:cNvGraphicFramePr>
          <p:nvPr>
            <p:extLst>
              <p:ext uri="{D42A27DB-BD31-4B8C-83A1-F6EECF244321}">
                <p14:modId xmlns:p14="http://schemas.microsoft.com/office/powerpoint/2010/main" val="1740337715"/>
              </p:ext>
            </p:extLst>
          </p:nvPr>
        </p:nvGraphicFramePr>
        <p:xfrm>
          <a:off x="1404130" y="2884239"/>
          <a:ext cx="8767285" cy="2401318"/>
        </p:xfrm>
        <a:graphic>
          <a:graphicData uri="http://schemas.openxmlformats.org/drawingml/2006/table">
            <a:tbl>
              <a:tblPr firstRow="1" bandRow="1">
                <a:tableStyleId>{5C22544A-7EE6-4342-B048-85BDC9FD1C3A}</a:tableStyleId>
              </a:tblPr>
              <a:tblGrid>
                <a:gridCol w="1230661">
                  <a:extLst>
                    <a:ext uri="{9D8B030D-6E8A-4147-A177-3AD203B41FA5}">
                      <a16:colId xmlns:a16="http://schemas.microsoft.com/office/drawing/2014/main" val="1619538324"/>
                    </a:ext>
                  </a:extLst>
                </a:gridCol>
                <a:gridCol w="2016661">
                  <a:extLst>
                    <a:ext uri="{9D8B030D-6E8A-4147-A177-3AD203B41FA5}">
                      <a16:colId xmlns:a16="http://schemas.microsoft.com/office/drawing/2014/main" val="2204580905"/>
                    </a:ext>
                  </a:extLst>
                </a:gridCol>
                <a:gridCol w="995403">
                  <a:extLst>
                    <a:ext uri="{9D8B030D-6E8A-4147-A177-3AD203B41FA5}">
                      <a16:colId xmlns:a16="http://schemas.microsoft.com/office/drawing/2014/main" val="253053857"/>
                    </a:ext>
                  </a:extLst>
                </a:gridCol>
                <a:gridCol w="1551277">
                  <a:extLst>
                    <a:ext uri="{9D8B030D-6E8A-4147-A177-3AD203B41FA5}">
                      <a16:colId xmlns:a16="http://schemas.microsoft.com/office/drawing/2014/main" val="1733008077"/>
                    </a:ext>
                  </a:extLst>
                </a:gridCol>
                <a:gridCol w="1370295">
                  <a:extLst>
                    <a:ext uri="{9D8B030D-6E8A-4147-A177-3AD203B41FA5}">
                      <a16:colId xmlns:a16="http://schemas.microsoft.com/office/drawing/2014/main" val="4171596617"/>
                    </a:ext>
                  </a:extLst>
                </a:gridCol>
                <a:gridCol w="1602988">
                  <a:extLst>
                    <a:ext uri="{9D8B030D-6E8A-4147-A177-3AD203B41FA5}">
                      <a16:colId xmlns:a16="http://schemas.microsoft.com/office/drawing/2014/main" val="2959969171"/>
                    </a:ext>
                  </a:extLst>
                </a:gridCol>
              </a:tblGrid>
              <a:tr h="687178">
                <a:tc>
                  <a:txBody>
                    <a:bodyPr/>
                    <a:lstStyle/>
                    <a:p>
                      <a:pPr algn="ctr" fontAlgn="b"/>
                      <a:r>
                        <a:rPr lang="en-US" sz="2000" u="none" strike="noStrike" dirty="0">
                          <a:effectLst/>
                        </a:rPr>
                        <a:t>sample_ id</a:t>
                      </a:r>
                      <a:endParaRPr lang="en-US" sz="20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err="1">
                          <a:effectLst/>
                        </a:rPr>
                        <a:t>polymer_loading</a:t>
                      </a:r>
                      <a:r>
                        <a:rPr lang="en-US" sz="2000" u="none" strike="noStrike">
                          <a:effectLst/>
                        </a:rPr>
                        <a:t>: </a:t>
                      </a:r>
                      <a:r>
                        <a:rPr lang="en-US" sz="2000" u="none" strike="noStrike" err="1">
                          <a:effectLst/>
                        </a:rPr>
                        <a:t>wt</a:t>
                      </a:r>
                      <a:r>
                        <a:rPr lang="en-US" sz="2000" u="none" strike="noStrike">
                          <a:effectLst/>
                        </a:rPr>
                        <a:t>%</a:t>
                      </a:r>
                      <a:endParaRPr lang="en-US"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a:effectLst/>
                        </a:rPr>
                        <a:t>solvent</a:t>
                      </a:r>
                      <a:endParaRPr lang="en-US"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a:effectLst/>
                        </a:rPr>
                        <a:t>temperature: </a:t>
                      </a:r>
                      <a:r>
                        <a:rPr lang="en-US" sz="2000" u="none" strike="noStrike" err="1">
                          <a:effectLst/>
                        </a:rPr>
                        <a:t>degC</a:t>
                      </a:r>
                      <a:endParaRPr lang="en-US"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a:effectLst/>
                        </a:rPr>
                        <a:t>absorption: %</a:t>
                      </a:r>
                      <a:endParaRPr lang="en-US" sz="20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b"/>
                      <a:r>
                        <a:rPr lang="en-US" sz="2000" u="none" strike="noStrike">
                          <a:effectLst/>
                        </a:rPr>
                        <a:t>experimenter: </a:t>
                      </a:r>
                      <a:r>
                        <a:rPr lang="en-US" sz="2000" u="none" strike="noStrike" err="1">
                          <a:effectLst/>
                        </a:rPr>
                        <a:t>user_id</a:t>
                      </a:r>
                      <a:endParaRPr lang="en-US" sz="20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107157796"/>
                  </a:ext>
                </a:extLst>
              </a:tr>
              <a:tr h="428535">
                <a:tc>
                  <a:txBody>
                    <a:bodyPr/>
                    <a:lstStyle/>
                    <a:p>
                      <a:pPr algn="ctr" fontAlgn="b"/>
                      <a:r>
                        <a:rPr lang="en-US" sz="2000" u="none" strike="noStrike">
                          <a:effectLst/>
                        </a:rPr>
                        <a:t>402212</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5.0</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water</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22.1</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83</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uc91123</a:t>
                      </a:r>
                      <a:endParaRPr lang="en-US" sz="2000" b="0" i="0" u="none" strike="noStrike">
                        <a:solidFill>
                          <a:srgbClr val="000000"/>
                        </a:solidFill>
                        <a:effectLst/>
                        <a:latin typeface="Calibri" panose="020F0502020204030204" pitchFamily="34" charset="0"/>
                      </a:endParaRPr>
                    </a:p>
                  </a:txBody>
                  <a:tcPr marL="45720" marR="45720" marT="9525" marB="0" anchor="ctr"/>
                </a:tc>
                <a:extLst>
                  <a:ext uri="{0D108BD9-81ED-4DB2-BD59-A6C34878D82A}">
                    <a16:rowId xmlns:a16="http://schemas.microsoft.com/office/drawing/2014/main" val="1919681070"/>
                  </a:ext>
                </a:extLst>
              </a:tr>
              <a:tr h="428535">
                <a:tc>
                  <a:txBody>
                    <a:bodyPr/>
                    <a:lstStyle/>
                    <a:p>
                      <a:pPr algn="ctr" fontAlgn="b"/>
                      <a:r>
                        <a:rPr lang="en-US" sz="2000" u="none" strike="noStrike">
                          <a:effectLst/>
                        </a:rPr>
                        <a:t>402213</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7.0</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water</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27.5</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52</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uc91123</a:t>
                      </a:r>
                      <a:endParaRPr lang="en-US" sz="2000" b="0" i="0" u="none" strike="noStrike">
                        <a:solidFill>
                          <a:srgbClr val="000000"/>
                        </a:solidFill>
                        <a:effectLst/>
                        <a:latin typeface="Calibri" panose="020F0502020204030204" pitchFamily="34" charset="0"/>
                      </a:endParaRPr>
                    </a:p>
                  </a:txBody>
                  <a:tcPr marL="45720" marR="45720" marT="9525" marB="0" anchor="ctr"/>
                </a:tc>
                <a:extLst>
                  <a:ext uri="{0D108BD9-81ED-4DB2-BD59-A6C34878D82A}">
                    <a16:rowId xmlns:a16="http://schemas.microsoft.com/office/drawing/2014/main" val="3264277782"/>
                  </a:ext>
                </a:extLst>
              </a:tr>
              <a:tr h="428535">
                <a:tc>
                  <a:txBody>
                    <a:bodyPr/>
                    <a:lstStyle/>
                    <a:p>
                      <a:pPr algn="ctr" fontAlgn="b"/>
                      <a:r>
                        <a:rPr lang="en-US" sz="2000" u="none" strike="noStrike">
                          <a:effectLst/>
                        </a:rPr>
                        <a:t>406935</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5.1</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err="1">
                          <a:effectLst/>
                        </a:rPr>
                        <a:t>dmso</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21.9</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1</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ub91244</a:t>
                      </a:r>
                      <a:endParaRPr lang="en-US" sz="2000" b="0" i="0" u="none" strike="noStrike">
                        <a:solidFill>
                          <a:srgbClr val="000000"/>
                        </a:solidFill>
                        <a:effectLst/>
                        <a:latin typeface="Calibri" panose="020F0502020204030204" pitchFamily="34" charset="0"/>
                      </a:endParaRPr>
                    </a:p>
                  </a:txBody>
                  <a:tcPr marL="45720" marR="45720" marT="9525" marB="0" anchor="ctr"/>
                </a:tc>
                <a:extLst>
                  <a:ext uri="{0D108BD9-81ED-4DB2-BD59-A6C34878D82A}">
                    <a16:rowId xmlns:a16="http://schemas.microsoft.com/office/drawing/2014/main" val="3562596706"/>
                  </a:ext>
                </a:extLst>
              </a:tr>
              <a:tr h="428535">
                <a:tc>
                  <a:txBody>
                    <a:bodyPr/>
                    <a:lstStyle/>
                    <a:p>
                      <a:pPr algn="ctr" fontAlgn="b"/>
                      <a:r>
                        <a:rPr lang="en-US" sz="2000" u="none" strike="noStrike" dirty="0">
                          <a:effectLst/>
                        </a:rPr>
                        <a:t>406936</a:t>
                      </a:r>
                      <a:endParaRPr lang="en-US" sz="2000" b="0" i="0" u="none" strike="noStrike" dirty="0">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7.4</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err="1">
                          <a:effectLst/>
                        </a:rPr>
                        <a:t>dmso</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26.2</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a:effectLst/>
                        </a:rPr>
                        <a:t>0</a:t>
                      </a:r>
                      <a:endParaRPr lang="en-US" sz="2000" b="0" i="0" u="none" strike="noStrike">
                        <a:solidFill>
                          <a:srgbClr val="000000"/>
                        </a:solidFill>
                        <a:effectLst/>
                        <a:latin typeface="Calibri" panose="020F0502020204030204" pitchFamily="34" charset="0"/>
                      </a:endParaRPr>
                    </a:p>
                  </a:txBody>
                  <a:tcPr marL="45720" marR="45720" marT="9525" marB="0" anchor="ctr"/>
                </a:tc>
                <a:tc>
                  <a:txBody>
                    <a:bodyPr/>
                    <a:lstStyle/>
                    <a:p>
                      <a:pPr algn="ctr" fontAlgn="b"/>
                      <a:r>
                        <a:rPr lang="en-US" sz="2000" u="none" strike="noStrike" dirty="0">
                          <a:effectLst/>
                        </a:rPr>
                        <a:t>ub91244</a:t>
                      </a:r>
                      <a:endParaRPr lang="en-US" sz="2000" b="0" i="0" u="none" strike="noStrike" dirty="0">
                        <a:solidFill>
                          <a:srgbClr val="000000"/>
                        </a:solidFill>
                        <a:effectLst/>
                        <a:latin typeface="Calibri" panose="020F0502020204030204" pitchFamily="34" charset="0"/>
                      </a:endParaRPr>
                    </a:p>
                  </a:txBody>
                  <a:tcPr marL="45720" marR="45720" marT="9525" marB="0" anchor="ctr"/>
                </a:tc>
                <a:extLst>
                  <a:ext uri="{0D108BD9-81ED-4DB2-BD59-A6C34878D82A}">
                    <a16:rowId xmlns:a16="http://schemas.microsoft.com/office/drawing/2014/main" val="2810195785"/>
                  </a:ext>
                </a:extLst>
              </a:tr>
            </a:tbl>
          </a:graphicData>
        </a:graphic>
      </p:graphicFrame>
      <p:sp>
        <p:nvSpPr>
          <p:cNvPr id="26" name="TextBox 25">
            <a:extLst>
              <a:ext uri="{FF2B5EF4-FFF2-40B4-BE49-F238E27FC236}">
                <a16:creationId xmlns:a16="http://schemas.microsoft.com/office/drawing/2014/main" id="{D94A2D5A-F17E-4096-57E9-D82FE39D7204}"/>
              </a:ext>
            </a:extLst>
          </p:cNvPr>
          <p:cNvSpPr txBox="1"/>
          <p:nvPr/>
        </p:nvSpPr>
        <p:spPr>
          <a:xfrm>
            <a:off x="1829602" y="2359795"/>
            <a:ext cx="914400" cy="375470"/>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415364"/>
                </a:solidFill>
                <a:effectLst/>
                <a:uLnTx/>
                <a:uFillTx/>
                <a:latin typeface="Arial" panose="020B0604020202020204"/>
                <a:ea typeface="+mn-ea"/>
                <a:cs typeface="+mn-cs"/>
              </a:rPr>
              <a:t>A</a:t>
            </a:r>
          </a:p>
        </p:txBody>
      </p:sp>
      <p:sp>
        <p:nvSpPr>
          <p:cNvPr id="27" name="TextBox 26">
            <a:extLst>
              <a:ext uri="{FF2B5EF4-FFF2-40B4-BE49-F238E27FC236}">
                <a16:creationId xmlns:a16="http://schemas.microsoft.com/office/drawing/2014/main" id="{E030DDC0-9BB2-541A-73E0-44864591105A}"/>
              </a:ext>
            </a:extLst>
          </p:cNvPr>
          <p:cNvSpPr txBox="1"/>
          <p:nvPr/>
        </p:nvSpPr>
        <p:spPr>
          <a:xfrm>
            <a:off x="3547325" y="2359795"/>
            <a:ext cx="914400" cy="914400"/>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415364"/>
                </a:solidFill>
                <a:effectLst/>
                <a:uLnTx/>
                <a:uFillTx/>
                <a:latin typeface="Arial" panose="020B0604020202020204"/>
                <a:ea typeface="+mn-ea"/>
                <a:cs typeface="+mn-cs"/>
              </a:rPr>
              <a:t>B</a:t>
            </a:r>
          </a:p>
        </p:txBody>
      </p:sp>
      <p:sp>
        <p:nvSpPr>
          <p:cNvPr id="28" name="TextBox 27">
            <a:extLst>
              <a:ext uri="{FF2B5EF4-FFF2-40B4-BE49-F238E27FC236}">
                <a16:creationId xmlns:a16="http://schemas.microsoft.com/office/drawing/2014/main" id="{DCE49DD5-29EC-1382-A94C-B82A0FB51C29}"/>
              </a:ext>
            </a:extLst>
          </p:cNvPr>
          <p:cNvSpPr txBox="1"/>
          <p:nvPr/>
        </p:nvSpPr>
        <p:spPr>
          <a:xfrm>
            <a:off x="5043175" y="2359795"/>
            <a:ext cx="914400" cy="914400"/>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415364"/>
                </a:solidFill>
                <a:effectLst/>
                <a:uLnTx/>
                <a:uFillTx/>
                <a:latin typeface="Arial" panose="020B0604020202020204"/>
                <a:ea typeface="+mn-ea"/>
                <a:cs typeface="+mn-cs"/>
              </a:rPr>
              <a:t>C</a:t>
            </a:r>
          </a:p>
        </p:txBody>
      </p:sp>
      <p:sp>
        <p:nvSpPr>
          <p:cNvPr id="29" name="TextBox 28">
            <a:extLst>
              <a:ext uri="{FF2B5EF4-FFF2-40B4-BE49-F238E27FC236}">
                <a16:creationId xmlns:a16="http://schemas.microsoft.com/office/drawing/2014/main" id="{55098ADF-796C-D019-3D2A-ECE359CC7BCE}"/>
              </a:ext>
            </a:extLst>
          </p:cNvPr>
          <p:cNvSpPr txBox="1"/>
          <p:nvPr/>
        </p:nvSpPr>
        <p:spPr>
          <a:xfrm>
            <a:off x="6234427" y="2359795"/>
            <a:ext cx="914400" cy="914400"/>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415364"/>
                </a:solidFill>
                <a:effectLst/>
                <a:uLnTx/>
                <a:uFillTx/>
                <a:latin typeface="Arial" panose="020B0604020202020204"/>
                <a:ea typeface="+mn-ea"/>
                <a:cs typeface="+mn-cs"/>
              </a:rPr>
              <a:t>D</a:t>
            </a:r>
          </a:p>
        </p:txBody>
      </p:sp>
      <p:sp>
        <p:nvSpPr>
          <p:cNvPr id="30" name="TextBox 29">
            <a:extLst>
              <a:ext uri="{FF2B5EF4-FFF2-40B4-BE49-F238E27FC236}">
                <a16:creationId xmlns:a16="http://schemas.microsoft.com/office/drawing/2014/main" id="{5230E327-2368-F7D9-358E-C260A5285F1E}"/>
              </a:ext>
            </a:extLst>
          </p:cNvPr>
          <p:cNvSpPr txBox="1"/>
          <p:nvPr/>
        </p:nvSpPr>
        <p:spPr>
          <a:xfrm>
            <a:off x="7810072" y="2359795"/>
            <a:ext cx="914400" cy="914400"/>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415364"/>
                </a:solidFill>
                <a:effectLst/>
                <a:uLnTx/>
                <a:uFillTx/>
                <a:latin typeface="Arial" panose="020B0604020202020204"/>
                <a:ea typeface="+mn-ea"/>
                <a:cs typeface="+mn-cs"/>
              </a:rPr>
              <a:t>E</a:t>
            </a:r>
          </a:p>
        </p:txBody>
      </p:sp>
      <p:sp>
        <p:nvSpPr>
          <p:cNvPr id="31" name="TextBox 30">
            <a:extLst>
              <a:ext uri="{FF2B5EF4-FFF2-40B4-BE49-F238E27FC236}">
                <a16:creationId xmlns:a16="http://schemas.microsoft.com/office/drawing/2014/main" id="{9F70BE27-6CCA-6875-DF84-9CC23A197916}"/>
              </a:ext>
            </a:extLst>
          </p:cNvPr>
          <p:cNvSpPr txBox="1"/>
          <p:nvPr/>
        </p:nvSpPr>
        <p:spPr>
          <a:xfrm>
            <a:off x="9262912" y="2359795"/>
            <a:ext cx="914400" cy="914400"/>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415364"/>
                </a:solidFill>
                <a:effectLst/>
                <a:uLnTx/>
                <a:uFillTx/>
                <a:latin typeface="Arial" panose="020B0604020202020204"/>
                <a:ea typeface="+mn-ea"/>
                <a:cs typeface="+mn-cs"/>
              </a:rPr>
              <a:t>F</a:t>
            </a:r>
          </a:p>
        </p:txBody>
      </p:sp>
    </p:spTree>
    <p:extLst>
      <p:ext uri="{BB962C8B-B14F-4D97-AF65-F5344CB8AC3E}">
        <p14:creationId xmlns:p14="http://schemas.microsoft.com/office/powerpoint/2010/main" val="1415764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19616-0AD4-C485-2FC3-0B4DC9B6DBE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7B2EEAA-B60F-F3F8-74EC-66DD7D82B8AF}"/>
              </a:ext>
            </a:extLst>
          </p:cNvPr>
          <p:cNvSpPr>
            <a:spLocks noGrp="1"/>
          </p:cNvSpPr>
          <p:nvPr>
            <p:ph type="title"/>
          </p:nvPr>
        </p:nvSpPr>
        <p:spPr/>
        <p:txBody>
          <a:bodyPr/>
          <a:lstStyle/>
          <a:p>
            <a:r>
              <a:rPr lang="en-US"/>
              <a:t>What are data Relationships?</a:t>
            </a:r>
          </a:p>
        </p:txBody>
      </p:sp>
      <p:sp>
        <p:nvSpPr>
          <p:cNvPr id="4" name="Date Placeholder 3">
            <a:extLst>
              <a:ext uri="{FF2B5EF4-FFF2-40B4-BE49-F238E27FC236}">
                <a16:creationId xmlns:a16="http://schemas.microsoft.com/office/drawing/2014/main" id="{A535FC31-176E-6EAC-FDD6-B27466E21D29}"/>
              </a:ext>
            </a:extLst>
          </p:cNvPr>
          <p:cNvSpPr>
            <a:spLocks noGrp="1"/>
          </p:cNvSpPr>
          <p:nvPr>
            <p:ph type="dt" sz="half"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E05CFD3B-0B80-E1EF-8784-C4AC068058F5}"/>
              </a:ext>
            </a:extLst>
          </p:cNvPr>
          <p:cNvSpPr>
            <a:spLocks noGrp="1"/>
          </p:cNvSpPr>
          <p:nvPr>
            <p:ph type="sldNum" sz="quarter"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6D1532F-61F1-B941-ACDF-6BC65E0B4055}" type="slidenum">
              <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24</a:t>
            </a:fld>
            <a:endPar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graphicFrame>
        <p:nvGraphicFramePr>
          <p:cNvPr id="10" name="Table 7">
            <a:extLst>
              <a:ext uri="{FF2B5EF4-FFF2-40B4-BE49-F238E27FC236}">
                <a16:creationId xmlns:a16="http://schemas.microsoft.com/office/drawing/2014/main" id="{FA73084A-459C-FEF4-BB1F-C60C3C59259E}"/>
              </a:ext>
            </a:extLst>
          </p:cNvPr>
          <p:cNvGraphicFramePr>
            <a:graphicFrameLocks noGrp="1"/>
          </p:cNvGraphicFramePr>
          <p:nvPr/>
        </p:nvGraphicFramePr>
        <p:xfrm>
          <a:off x="697367" y="2589933"/>
          <a:ext cx="4884726" cy="3390930"/>
        </p:xfrm>
        <a:graphic>
          <a:graphicData uri="http://schemas.openxmlformats.org/drawingml/2006/table">
            <a:tbl>
              <a:tblPr firstRow="1" bandRow="1">
                <a:tableStyleId>{5C22544A-7EE6-4342-B048-85BDC9FD1C3A}</a:tableStyleId>
              </a:tblPr>
              <a:tblGrid>
                <a:gridCol w="1673693">
                  <a:extLst>
                    <a:ext uri="{9D8B030D-6E8A-4147-A177-3AD203B41FA5}">
                      <a16:colId xmlns:a16="http://schemas.microsoft.com/office/drawing/2014/main" val="1619538324"/>
                    </a:ext>
                  </a:extLst>
                </a:gridCol>
                <a:gridCol w="1201480">
                  <a:extLst>
                    <a:ext uri="{9D8B030D-6E8A-4147-A177-3AD203B41FA5}">
                      <a16:colId xmlns:a16="http://schemas.microsoft.com/office/drawing/2014/main" val="2204580905"/>
                    </a:ext>
                  </a:extLst>
                </a:gridCol>
                <a:gridCol w="1020725">
                  <a:extLst>
                    <a:ext uri="{9D8B030D-6E8A-4147-A177-3AD203B41FA5}">
                      <a16:colId xmlns:a16="http://schemas.microsoft.com/office/drawing/2014/main" val="253053857"/>
                    </a:ext>
                  </a:extLst>
                </a:gridCol>
                <a:gridCol w="988828">
                  <a:extLst>
                    <a:ext uri="{9D8B030D-6E8A-4147-A177-3AD203B41FA5}">
                      <a16:colId xmlns:a16="http://schemas.microsoft.com/office/drawing/2014/main" val="1733008077"/>
                    </a:ext>
                  </a:extLst>
                </a:gridCol>
              </a:tblGrid>
              <a:tr h="475522">
                <a:tc>
                  <a:txBody>
                    <a:bodyPr/>
                    <a:lstStyle/>
                    <a:p>
                      <a:r>
                        <a:rPr lang="en-US" sz="1200" err="1"/>
                        <a:t>sample_number</a:t>
                      </a:r>
                      <a:endParaRPr lang="en-US" sz="1200"/>
                    </a:p>
                  </a:txBody>
                  <a:tcPr marL="121920" marR="121920" marT="60960" marB="60960"/>
                </a:tc>
                <a:tc>
                  <a:txBody>
                    <a:bodyPr/>
                    <a:lstStyle/>
                    <a:p>
                      <a:r>
                        <a:rPr lang="en-US" sz="1200"/>
                        <a:t>temperature: </a:t>
                      </a:r>
                      <a:r>
                        <a:rPr lang="en-US" sz="1200" err="1"/>
                        <a:t>deg_c</a:t>
                      </a:r>
                      <a:endParaRPr lang="en-US" sz="1200"/>
                    </a:p>
                  </a:txBody>
                  <a:tcPr marL="121920" marR="121920" marT="60960" marB="60960"/>
                </a:tc>
                <a:tc>
                  <a:txBody>
                    <a:bodyPr/>
                    <a:lstStyle/>
                    <a:p>
                      <a:r>
                        <a:rPr lang="en-US" sz="1200"/>
                        <a:t>viscosity: cp</a:t>
                      </a:r>
                    </a:p>
                  </a:txBody>
                  <a:tcPr marL="121920" marR="121920" marT="60960" marB="60960"/>
                </a:tc>
                <a:tc>
                  <a:txBody>
                    <a:bodyPr/>
                    <a:lstStyle/>
                    <a:p>
                      <a:r>
                        <a:rPr lang="en-US" sz="1200"/>
                        <a:t>material: </a:t>
                      </a:r>
                      <a:r>
                        <a:rPr lang="en-US" sz="1200" err="1"/>
                        <a:t>sae_grade</a:t>
                      </a:r>
                      <a:endParaRPr lang="en-US" sz="1200"/>
                    </a:p>
                  </a:txBody>
                  <a:tcPr marL="81311" marR="81311" marT="40655" marB="40655"/>
                </a:tc>
                <a:extLst>
                  <a:ext uri="{0D108BD9-81ED-4DB2-BD59-A6C34878D82A}">
                    <a16:rowId xmlns:a16="http://schemas.microsoft.com/office/drawing/2014/main" val="1107157796"/>
                  </a:ext>
                </a:extLst>
              </a:tr>
              <a:tr h="414750">
                <a:tc>
                  <a:txBody>
                    <a:bodyPr/>
                    <a:lstStyle/>
                    <a:p>
                      <a:r>
                        <a:rPr lang="en-US" sz="1400"/>
                        <a:t>SAM-AB1234</a:t>
                      </a:r>
                    </a:p>
                  </a:txBody>
                  <a:tcPr marL="121920" marR="121920" marT="60960" marB="60960"/>
                </a:tc>
                <a:tc>
                  <a:txBody>
                    <a:bodyPr/>
                    <a:lstStyle/>
                    <a:p>
                      <a:r>
                        <a:rPr lang="en-US" sz="1400"/>
                        <a:t>20.0</a:t>
                      </a:r>
                    </a:p>
                  </a:txBody>
                  <a:tcPr marL="121920" marR="121920" marT="60960" marB="60960"/>
                </a:tc>
                <a:tc>
                  <a:txBody>
                    <a:bodyPr/>
                    <a:lstStyle/>
                    <a:p>
                      <a:r>
                        <a:rPr lang="en-US" sz="1400"/>
                        <a:t>286</a:t>
                      </a:r>
                    </a:p>
                  </a:txBody>
                  <a:tcPr marL="121920" marR="121920" marT="60960" marB="60960"/>
                </a:tc>
                <a:tc>
                  <a:txBody>
                    <a:bodyPr/>
                    <a:lstStyle/>
                    <a:p>
                      <a:r>
                        <a:rPr lang="en-US" sz="1400"/>
                        <a:t>15W-40</a:t>
                      </a:r>
                    </a:p>
                  </a:txBody>
                  <a:tcPr marL="81311" marR="81311" marT="40655" marB="40655"/>
                </a:tc>
                <a:extLst>
                  <a:ext uri="{0D108BD9-81ED-4DB2-BD59-A6C34878D82A}">
                    <a16:rowId xmlns:a16="http://schemas.microsoft.com/office/drawing/2014/main" val="1919681070"/>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SAM-AB1235</a:t>
                      </a:r>
                    </a:p>
                  </a:txBody>
                  <a:tcPr marL="121920" marR="121920" marT="60960" marB="60960"/>
                </a:tc>
                <a:tc>
                  <a:txBody>
                    <a:bodyPr/>
                    <a:lstStyle/>
                    <a:p>
                      <a:r>
                        <a:rPr lang="en-US" sz="1400"/>
                        <a:t>30.0</a:t>
                      </a:r>
                    </a:p>
                  </a:txBody>
                  <a:tcPr marL="121920" marR="121920" marT="60960" marB="60960"/>
                </a:tc>
                <a:tc>
                  <a:txBody>
                    <a:bodyPr/>
                    <a:lstStyle/>
                    <a:p>
                      <a:r>
                        <a:rPr lang="en-US" sz="1400"/>
                        <a:t>154</a:t>
                      </a:r>
                    </a:p>
                  </a:txBody>
                  <a:tcPr marL="121920" marR="121920" marT="60960" marB="60960"/>
                </a:tc>
                <a:tc>
                  <a:txBody>
                    <a:bodyPr/>
                    <a:lstStyle/>
                    <a:p>
                      <a:r>
                        <a:rPr lang="en-US" sz="1400"/>
                        <a:t>15W-40</a:t>
                      </a:r>
                    </a:p>
                  </a:txBody>
                  <a:tcPr marL="81311" marR="81311" marT="40655" marB="40655"/>
                </a:tc>
                <a:extLst>
                  <a:ext uri="{0D108BD9-81ED-4DB2-BD59-A6C34878D82A}">
                    <a16:rowId xmlns:a16="http://schemas.microsoft.com/office/drawing/2014/main" val="3264277782"/>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SAM-AB1236</a:t>
                      </a:r>
                    </a:p>
                  </a:txBody>
                  <a:tcPr marL="121920" marR="121920" marT="60960" marB="60960"/>
                </a:tc>
                <a:tc>
                  <a:txBody>
                    <a:bodyPr/>
                    <a:lstStyle/>
                    <a:p>
                      <a:r>
                        <a:rPr lang="en-US" sz="1400"/>
                        <a:t>20.0</a:t>
                      </a:r>
                    </a:p>
                  </a:txBody>
                  <a:tcPr marL="121920" marR="121920" marT="60960" marB="60960"/>
                </a:tc>
                <a:tc>
                  <a:txBody>
                    <a:bodyPr/>
                    <a:lstStyle/>
                    <a:p>
                      <a:r>
                        <a:rPr lang="en-US" sz="1400"/>
                        <a:t>210</a:t>
                      </a:r>
                    </a:p>
                  </a:txBody>
                  <a:tcPr marL="121920" marR="121920" marT="60960" marB="60960"/>
                </a:tc>
                <a:tc>
                  <a:txBody>
                    <a:bodyPr/>
                    <a:lstStyle/>
                    <a:p>
                      <a:r>
                        <a:rPr lang="en-US" sz="1400"/>
                        <a:t>10W-40</a:t>
                      </a:r>
                    </a:p>
                  </a:txBody>
                  <a:tcPr marL="81311" marR="81311" marT="40655" marB="40655"/>
                </a:tc>
                <a:extLst>
                  <a:ext uri="{0D108BD9-81ED-4DB2-BD59-A6C34878D82A}">
                    <a16:rowId xmlns:a16="http://schemas.microsoft.com/office/drawing/2014/main" val="3562596706"/>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SAM-AB1237</a:t>
                      </a:r>
                    </a:p>
                  </a:txBody>
                  <a:tcPr marL="121920" marR="121920" marT="60960" marB="60960"/>
                </a:tc>
                <a:tc>
                  <a:txBody>
                    <a:bodyPr/>
                    <a:lstStyle/>
                    <a:p>
                      <a:r>
                        <a:rPr lang="en-US" sz="1400"/>
                        <a:t>30.0</a:t>
                      </a:r>
                    </a:p>
                  </a:txBody>
                  <a:tcPr marL="121920" marR="121920" marT="60960" marB="60960"/>
                </a:tc>
                <a:tc>
                  <a:txBody>
                    <a:bodyPr/>
                    <a:lstStyle/>
                    <a:p>
                      <a:r>
                        <a:rPr lang="en-US" sz="1400"/>
                        <a:t>121</a:t>
                      </a:r>
                    </a:p>
                  </a:txBody>
                  <a:tcPr marL="121920" marR="121920" marT="60960" marB="60960"/>
                </a:tc>
                <a:tc>
                  <a:txBody>
                    <a:bodyPr/>
                    <a:lstStyle/>
                    <a:p>
                      <a:r>
                        <a:rPr lang="en-US" sz="1400"/>
                        <a:t>10W-40</a:t>
                      </a:r>
                    </a:p>
                  </a:txBody>
                  <a:tcPr marL="81311" marR="81311" marT="40655" marB="40655"/>
                </a:tc>
                <a:extLst>
                  <a:ext uri="{0D108BD9-81ED-4DB2-BD59-A6C34878D82A}">
                    <a16:rowId xmlns:a16="http://schemas.microsoft.com/office/drawing/2014/main" val="2810195785"/>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SAM-AB1238</a:t>
                      </a:r>
                    </a:p>
                  </a:txBody>
                  <a:tcPr marL="121920" marR="121920" marT="60960" marB="60960"/>
                </a:tc>
                <a:tc>
                  <a:txBody>
                    <a:bodyPr/>
                    <a:lstStyle/>
                    <a:p>
                      <a:r>
                        <a:rPr lang="en-US" sz="1400"/>
                        <a:t>20.0</a:t>
                      </a:r>
                    </a:p>
                  </a:txBody>
                  <a:tcPr marL="121920" marR="121920" marT="60960" marB="60960"/>
                </a:tc>
                <a:tc>
                  <a:txBody>
                    <a:bodyPr/>
                    <a:lstStyle/>
                    <a:p>
                      <a:r>
                        <a:rPr lang="en-US" sz="1400"/>
                        <a:t>382</a:t>
                      </a:r>
                    </a:p>
                  </a:txBody>
                  <a:tcPr marL="121920" marR="121920" marT="60960" marB="60960"/>
                </a:tc>
                <a:tc>
                  <a:txBody>
                    <a:bodyPr/>
                    <a:lstStyle/>
                    <a:p>
                      <a:r>
                        <a:rPr lang="en-US" sz="1400"/>
                        <a:t>10W-60</a:t>
                      </a:r>
                    </a:p>
                  </a:txBody>
                  <a:tcPr marL="81311" marR="81311" marT="40655" marB="40655"/>
                </a:tc>
                <a:extLst>
                  <a:ext uri="{0D108BD9-81ED-4DB2-BD59-A6C34878D82A}">
                    <a16:rowId xmlns:a16="http://schemas.microsoft.com/office/drawing/2014/main" val="162406719"/>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SAM-AB1241</a:t>
                      </a:r>
                    </a:p>
                  </a:txBody>
                  <a:tcPr marL="121920" marR="121920" marT="60960" marB="60960"/>
                </a:tc>
                <a:tc>
                  <a:txBody>
                    <a:bodyPr/>
                    <a:lstStyle/>
                    <a:p>
                      <a:r>
                        <a:rPr lang="en-US" sz="1400"/>
                        <a:t>30.0</a:t>
                      </a:r>
                    </a:p>
                  </a:txBody>
                  <a:tcPr marL="121920" marR="121920" marT="60960" marB="60960"/>
                </a:tc>
                <a:tc>
                  <a:txBody>
                    <a:bodyPr/>
                    <a:lstStyle/>
                    <a:p>
                      <a:r>
                        <a:rPr lang="en-US" sz="1400"/>
                        <a:t>221</a:t>
                      </a:r>
                    </a:p>
                  </a:txBody>
                  <a:tcPr marL="121920" marR="121920" marT="60960" marB="60960"/>
                </a:tc>
                <a:tc>
                  <a:txBody>
                    <a:bodyPr/>
                    <a:lstStyle/>
                    <a:p>
                      <a:r>
                        <a:rPr lang="en-US" sz="1400"/>
                        <a:t>10W-60</a:t>
                      </a:r>
                    </a:p>
                  </a:txBody>
                  <a:tcPr marL="81311" marR="81311" marT="40655" marB="40655"/>
                </a:tc>
                <a:extLst>
                  <a:ext uri="{0D108BD9-81ED-4DB2-BD59-A6C34878D82A}">
                    <a16:rowId xmlns:a16="http://schemas.microsoft.com/office/drawing/2014/main" val="2899885508"/>
                  </a:ext>
                </a:extLst>
              </a:tr>
              <a:tr h="4147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81311" marR="81311" marT="40655" marB="40655"/>
                </a:tc>
                <a:extLst>
                  <a:ext uri="{0D108BD9-81ED-4DB2-BD59-A6C34878D82A}">
                    <a16:rowId xmlns:a16="http://schemas.microsoft.com/office/drawing/2014/main" val="416964310"/>
                  </a:ext>
                </a:extLst>
              </a:tr>
            </a:tbl>
          </a:graphicData>
        </a:graphic>
      </p:graphicFrame>
      <p:graphicFrame>
        <p:nvGraphicFramePr>
          <p:cNvPr id="14" name="Table 7">
            <a:extLst>
              <a:ext uri="{FF2B5EF4-FFF2-40B4-BE49-F238E27FC236}">
                <a16:creationId xmlns:a16="http://schemas.microsoft.com/office/drawing/2014/main" id="{0CEC0CF0-8581-B7D4-00B9-9935C4CF65E5}"/>
              </a:ext>
            </a:extLst>
          </p:cNvPr>
          <p:cNvGraphicFramePr>
            <a:graphicFrameLocks noGrp="1"/>
          </p:cNvGraphicFramePr>
          <p:nvPr/>
        </p:nvGraphicFramePr>
        <p:xfrm>
          <a:off x="6446813" y="3197795"/>
          <a:ext cx="4664209" cy="2146680"/>
        </p:xfrm>
        <a:graphic>
          <a:graphicData uri="http://schemas.openxmlformats.org/drawingml/2006/table">
            <a:tbl>
              <a:tblPr firstRow="1" bandRow="1">
                <a:tableStyleId>{5C22544A-7EE6-4342-B048-85BDC9FD1C3A}</a:tableStyleId>
              </a:tblPr>
              <a:tblGrid>
                <a:gridCol w="1006608">
                  <a:extLst>
                    <a:ext uri="{9D8B030D-6E8A-4147-A177-3AD203B41FA5}">
                      <a16:colId xmlns:a16="http://schemas.microsoft.com/office/drawing/2014/main" val="1619538324"/>
                    </a:ext>
                  </a:extLst>
                </a:gridCol>
                <a:gridCol w="1169582">
                  <a:extLst>
                    <a:ext uri="{9D8B030D-6E8A-4147-A177-3AD203B41FA5}">
                      <a16:colId xmlns:a16="http://schemas.microsoft.com/office/drawing/2014/main" val="951282834"/>
                    </a:ext>
                  </a:extLst>
                </a:gridCol>
                <a:gridCol w="1169582">
                  <a:extLst>
                    <a:ext uri="{9D8B030D-6E8A-4147-A177-3AD203B41FA5}">
                      <a16:colId xmlns:a16="http://schemas.microsoft.com/office/drawing/2014/main" val="2204580905"/>
                    </a:ext>
                  </a:extLst>
                </a:gridCol>
                <a:gridCol w="1318437">
                  <a:extLst>
                    <a:ext uri="{9D8B030D-6E8A-4147-A177-3AD203B41FA5}">
                      <a16:colId xmlns:a16="http://schemas.microsoft.com/office/drawing/2014/main" val="253053857"/>
                    </a:ext>
                  </a:extLst>
                </a:gridCol>
              </a:tblGrid>
              <a:tr h="475522">
                <a:tc>
                  <a:txBody>
                    <a:bodyPr/>
                    <a:lstStyle/>
                    <a:p>
                      <a:r>
                        <a:rPr lang="en-US" sz="1200"/>
                        <a:t>material: </a:t>
                      </a:r>
                      <a:r>
                        <a:rPr lang="en-US" sz="1200" err="1"/>
                        <a:t>sae_grade</a:t>
                      </a:r>
                      <a:endParaRPr lang="en-US" sz="1200"/>
                    </a:p>
                  </a:txBody>
                  <a:tcPr marL="121920" marR="121920" marT="60960" marB="60960"/>
                </a:tc>
                <a:tc>
                  <a:txBody>
                    <a:bodyPr/>
                    <a:lstStyle/>
                    <a:p>
                      <a:r>
                        <a:rPr lang="en-US" sz="1200"/>
                        <a:t>temperature: </a:t>
                      </a:r>
                      <a:r>
                        <a:rPr lang="en-US" sz="1200" err="1"/>
                        <a:t>deg_c</a:t>
                      </a:r>
                      <a:endParaRPr lang="en-US" sz="1200"/>
                    </a:p>
                  </a:txBody>
                  <a:tcPr marL="81311" marR="81311" marT="40655" marB="40655"/>
                </a:tc>
                <a:tc>
                  <a:txBody>
                    <a:bodyPr/>
                    <a:lstStyle/>
                    <a:p>
                      <a:r>
                        <a:rPr lang="en-US" sz="1200" err="1"/>
                        <a:t>viscosity_upper_limit</a:t>
                      </a:r>
                      <a:r>
                        <a:rPr lang="en-US" sz="1200"/>
                        <a:t>: cp</a:t>
                      </a:r>
                    </a:p>
                  </a:txBody>
                  <a:tcPr marL="121920" marR="121920" marT="60960" marB="60960"/>
                </a:tc>
                <a:tc>
                  <a:txBody>
                    <a:bodyPr/>
                    <a:lstStyle/>
                    <a:p>
                      <a:r>
                        <a:rPr lang="en-US" sz="1200" err="1"/>
                        <a:t>viscosity_lower_limit</a:t>
                      </a:r>
                      <a:r>
                        <a:rPr lang="en-US" sz="1200"/>
                        <a:t>: cp</a:t>
                      </a:r>
                    </a:p>
                  </a:txBody>
                  <a:tcPr marL="121920" marR="121920" marT="60960" marB="60960"/>
                </a:tc>
                <a:extLst>
                  <a:ext uri="{0D108BD9-81ED-4DB2-BD59-A6C34878D82A}">
                    <a16:rowId xmlns:a16="http://schemas.microsoft.com/office/drawing/2014/main" val="1107157796"/>
                  </a:ext>
                </a:extLst>
              </a:tr>
              <a:tr h="414750">
                <a:tc>
                  <a:txBody>
                    <a:bodyPr/>
                    <a:lstStyle/>
                    <a:p>
                      <a:r>
                        <a:rPr lang="en-US" sz="1400"/>
                        <a:t>15W-40</a:t>
                      </a:r>
                    </a:p>
                  </a:txBody>
                  <a:tcPr marL="121920" marR="121920" marT="60960" marB="60960"/>
                </a:tc>
                <a:tc>
                  <a:txBody>
                    <a:bodyPr/>
                    <a:lstStyle/>
                    <a:p>
                      <a:r>
                        <a:rPr lang="en-US" sz="1400"/>
                        <a:t>20</a:t>
                      </a:r>
                    </a:p>
                  </a:txBody>
                  <a:tcPr marL="81311" marR="81311" marT="40655" marB="40655"/>
                </a:tc>
                <a:tc>
                  <a:txBody>
                    <a:bodyPr/>
                    <a:lstStyle/>
                    <a:p>
                      <a:r>
                        <a:rPr lang="en-US" sz="1400"/>
                        <a:t>290</a:t>
                      </a:r>
                    </a:p>
                  </a:txBody>
                  <a:tcPr marL="121920" marR="121920" marT="60960" marB="60960"/>
                </a:tc>
                <a:tc>
                  <a:txBody>
                    <a:bodyPr/>
                    <a:lstStyle/>
                    <a:p>
                      <a:r>
                        <a:rPr lang="en-US" sz="1400"/>
                        <a:t>285</a:t>
                      </a:r>
                    </a:p>
                  </a:txBody>
                  <a:tcPr marL="121920" marR="121920" marT="60960" marB="60960"/>
                </a:tc>
                <a:extLst>
                  <a:ext uri="{0D108BD9-81ED-4DB2-BD59-A6C34878D82A}">
                    <a16:rowId xmlns:a16="http://schemas.microsoft.com/office/drawing/2014/main" val="1919681070"/>
                  </a:ext>
                </a:extLst>
              </a:tr>
              <a:tr h="414750">
                <a:tc>
                  <a:txBody>
                    <a:bodyPr/>
                    <a:lstStyle/>
                    <a:p>
                      <a:r>
                        <a:rPr lang="en-US" sz="1400"/>
                        <a:t>10W-40</a:t>
                      </a:r>
                    </a:p>
                  </a:txBody>
                  <a:tcPr marL="121920" marR="121920" marT="60960" marB="60960"/>
                </a:tc>
                <a:tc>
                  <a:txBody>
                    <a:bodyPr/>
                    <a:lstStyle/>
                    <a:p>
                      <a:r>
                        <a:rPr lang="en-US" sz="1400"/>
                        <a:t>20</a:t>
                      </a:r>
                    </a:p>
                  </a:txBody>
                  <a:tcPr marL="81311" marR="81311" marT="40655" marB="40655"/>
                </a:tc>
                <a:tc>
                  <a:txBody>
                    <a:bodyPr/>
                    <a:lstStyle/>
                    <a:p>
                      <a:r>
                        <a:rPr lang="en-US" sz="1400"/>
                        <a:t>210</a:t>
                      </a:r>
                    </a:p>
                  </a:txBody>
                  <a:tcPr marL="121920" marR="121920" marT="60960" marB="60960"/>
                </a:tc>
                <a:tc>
                  <a:txBody>
                    <a:bodyPr/>
                    <a:lstStyle/>
                    <a:p>
                      <a:r>
                        <a:rPr lang="en-US" sz="1400"/>
                        <a:t>205</a:t>
                      </a:r>
                    </a:p>
                  </a:txBody>
                  <a:tcPr marL="121920" marR="121920" marT="60960" marB="60960"/>
                </a:tc>
                <a:extLst>
                  <a:ext uri="{0D108BD9-81ED-4DB2-BD59-A6C34878D82A}">
                    <a16:rowId xmlns:a16="http://schemas.microsoft.com/office/drawing/2014/main" val="3264277782"/>
                  </a:ext>
                </a:extLst>
              </a:tr>
              <a:tr h="414750">
                <a:tc>
                  <a:txBody>
                    <a:bodyPr/>
                    <a:lstStyle/>
                    <a:p>
                      <a:r>
                        <a:rPr lang="en-US" sz="1400"/>
                        <a:t>10W-60</a:t>
                      </a:r>
                    </a:p>
                  </a:txBody>
                  <a:tcPr marL="121920" marR="121920" marT="60960" marB="60960"/>
                </a:tc>
                <a:tc>
                  <a:txBody>
                    <a:bodyPr/>
                    <a:lstStyle/>
                    <a:p>
                      <a:r>
                        <a:rPr lang="en-US" sz="1400"/>
                        <a:t>20</a:t>
                      </a:r>
                    </a:p>
                  </a:txBody>
                  <a:tcPr marL="81311" marR="81311" marT="40655" marB="40655"/>
                </a:tc>
                <a:tc>
                  <a:txBody>
                    <a:bodyPr/>
                    <a:lstStyle/>
                    <a:p>
                      <a:r>
                        <a:rPr lang="en-US" sz="1400"/>
                        <a:t>377</a:t>
                      </a:r>
                    </a:p>
                  </a:txBody>
                  <a:tcPr marL="121920" marR="121920" marT="60960" marB="60960"/>
                </a:tc>
                <a:tc>
                  <a:txBody>
                    <a:bodyPr/>
                    <a:lstStyle/>
                    <a:p>
                      <a:r>
                        <a:rPr lang="en-US" sz="1400"/>
                        <a:t>382</a:t>
                      </a:r>
                    </a:p>
                  </a:txBody>
                  <a:tcPr marL="121920" marR="121920" marT="60960" marB="60960"/>
                </a:tc>
                <a:extLst>
                  <a:ext uri="{0D108BD9-81ED-4DB2-BD59-A6C34878D82A}">
                    <a16:rowId xmlns:a16="http://schemas.microsoft.com/office/drawing/2014/main" val="3562596706"/>
                  </a:ext>
                </a:extLst>
              </a:tr>
              <a:tr h="41475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81311" marR="81311" marT="40655" marB="40655"/>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marL="121920" marR="121920" marT="60960" marB="60960"/>
                </a:tc>
                <a:extLst>
                  <a:ext uri="{0D108BD9-81ED-4DB2-BD59-A6C34878D82A}">
                    <a16:rowId xmlns:a16="http://schemas.microsoft.com/office/drawing/2014/main" val="492351143"/>
                  </a:ext>
                </a:extLst>
              </a:tr>
            </a:tbl>
          </a:graphicData>
        </a:graphic>
      </p:graphicFrame>
      <p:sp>
        <p:nvSpPr>
          <p:cNvPr id="15" name="TextBox 14">
            <a:extLst>
              <a:ext uri="{FF2B5EF4-FFF2-40B4-BE49-F238E27FC236}">
                <a16:creationId xmlns:a16="http://schemas.microsoft.com/office/drawing/2014/main" id="{AD13D58C-F1C1-65CA-2D6D-1F2825869308}"/>
              </a:ext>
            </a:extLst>
          </p:cNvPr>
          <p:cNvSpPr txBox="1"/>
          <p:nvPr/>
        </p:nvSpPr>
        <p:spPr>
          <a:xfrm>
            <a:off x="6430864" y="5366197"/>
            <a:ext cx="4565522" cy="296444"/>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15364"/>
                </a:solidFill>
                <a:effectLst/>
                <a:uLnTx/>
                <a:uFillTx/>
                <a:latin typeface="Arial" panose="020B0604020202020204"/>
                <a:ea typeface="+mn-ea"/>
                <a:cs typeface="+mn-cs"/>
              </a:rPr>
              <a:t>Fictitious data</a:t>
            </a:r>
          </a:p>
        </p:txBody>
      </p:sp>
      <p:grpSp>
        <p:nvGrpSpPr>
          <p:cNvPr id="7" name="Group 6">
            <a:extLst>
              <a:ext uri="{FF2B5EF4-FFF2-40B4-BE49-F238E27FC236}">
                <a16:creationId xmlns:a16="http://schemas.microsoft.com/office/drawing/2014/main" id="{FB66C559-737A-C8BB-A20C-0720AA107C3F}"/>
              </a:ext>
            </a:extLst>
          </p:cNvPr>
          <p:cNvGrpSpPr/>
          <p:nvPr/>
        </p:nvGrpSpPr>
        <p:grpSpPr>
          <a:xfrm>
            <a:off x="4572000" y="3087452"/>
            <a:ext cx="2874275" cy="891296"/>
            <a:chOff x="4572000" y="2570567"/>
            <a:chExt cx="2874275" cy="1114267"/>
          </a:xfrm>
        </p:grpSpPr>
        <p:sp>
          <p:nvSpPr>
            <p:cNvPr id="11" name="Rectangle 10">
              <a:extLst>
                <a:ext uri="{FF2B5EF4-FFF2-40B4-BE49-F238E27FC236}">
                  <a16:creationId xmlns:a16="http://schemas.microsoft.com/office/drawing/2014/main" id="{DAC18832-9255-AFA4-B486-516953E8F0EC}"/>
                </a:ext>
              </a:extLst>
            </p:cNvPr>
            <p:cNvSpPr/>
            <p:nvPr/>
          </p:nvSpPr>
          <p:spPr>
            <a:xfrm>
              <a:off x="4572000" y="2570567"/>
              <a:ext cx="999460" cy="901367"/>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D40D2D66-88F9-B919-C716-325ED91D368C}"/>
                </a:ext>
              </a:extLst>
            </p:cNvPr>
            <p:cNvSpPr/>
            <p:nvPr/>
          </p:nvSpPr>
          <p:spPr>
            <a:xfrm>
              <a:off x="6446815" y="3177541"/>
              <a:ext cx="999460" cy="50729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0" name="Connector: Elbow 19">
              <a:extLst>
                <a:ext uri="{FF2B5EF4-FFF2-40B4-BE49-F238E27FC236}">
                  <a16:creationId xmlns:a16="http://schemas.microsoft.com/office/drawing/2014/main" id="{0DDA67F7-7D53-5947-5F90-E5E389447EDD}"/>
                </a:ext>
              </a:extLst>
            </p:cNvPr>
            <p:cNvCxnSpPr>
              <a:stCxn id="11" idx="3"/>
            </p:cNvCxnSpPr>
            <p:nvPr/>
          </p:nvCxnSpPr>
          <p:spPr>
            <a:xfrm>
              <a:off x="5571460" y="3021251"/>
              <a:ext cx="875355" cy="363648"/>
            </a:xfrm>
            <a:prstGeom prst="bentConnector3">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E7C316E8-205B-A525-61D1-2E3E1D8194B4}"/>
              </a:ext>
            </a:extLst>
          </p:cNvPr>
          <p:cNvGrpSpPr/>
          <p:nvPr/>
        </p:nvGrpSpPr>
        <p:grpSpPr>
          <a:xfrm>
            <a:off x="4572000" y="3891868"/>
            <a:ext cx="2874275" cy="720999"/>
            <a:chOff x="4572000" y="3395532"/>
            <a:chExt cx="2874275" cy="901367"/>
          </a:xfrm>
        </p:grpSpPr>
        <p:sp>
          <p:nvSpPr>
            <p:cNvPr id="12" name="Rectangle 11">
              <a:extLst>
                <a:ext uri="{FF2B5EF4-FFF2-40B4-BE49-F238E27FC236}">
                  <a16:creationId xmlns:a16="http://schemas.microsoft.com/office/drawing/2014/main" id="{E1C6B71F-8FE8-65FB-418F-0216BC7C8FA5}"/>
                </a:ext>
              </a:extLst>
            </p:cNvPr>
            <p:cNvSpPr/>
            <p:nvPr/>
          </p:nvSpPr>
          <p:spPr>
            <a:xfrm>
              <a:off x="4572000" y="3395532"/>
              <a:ext cx="999460" cy="901367"/>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235E7F9F-8E36-817D-0585-28461AF16A0E}"/>
                </a:ext>
              </a:extLst>
            </p:cNvPr>
            <p:cNvSpPr/>
            <p:nvPr/>
          </p:nvSpPr>
          <p:spPr>
            <a:xfrm>
              <a:off x="6446815" y="3598495"/>
              <a:ext cx="999460" cy="50729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1" name="Connector: Elbow 20">
              <a:extLst>
                <a:ext uri="{FF2B5EF4-FFF2-40B4-BE49-F238E27FC236}">
                  <a16:creationId xmlns:a16="http://schemas.microsoft.com/office/drawing/2014/main" id="{569E4BB6-64FD-DF84-F04C-9ED2D30EC762}"/>
                </a:ext>
              </a:extLst>
            </p:cNvPr>
            <p:cNvCxnSpPr>
              <a:cxnSpLocks/>
              <a:stCxn id="12" idx="3"/>
              <a:endCxn id="17" idx="1"/>
            </p:cNvCxnSpPr>
            <p:nvPr/>
          </p:nvCxnSpPr>
          <p:spPr>
            <a:xfrm>
              <a:off x="5571460" y="3846216"/>
              <a:ext cx="875355" cy="5926"/>
            </a:xfrm>
            <a:prstGeom prst="bentConnector3">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ECD8D78E-6896-4341-349C-4EBE02E20AD9}"/>
              </a:ext>
            </a:extLst>
          </p:cNvPr>
          <p:cNvGrpSpPr/>
          <p:nvPr/>
        </p:nvGrpSpPr>
        <p:grpSpPr>
          <a:xfrm>
            <a:off x="4566684" y="4537360"/>
            <a:ext cx="2879591" cy="911029"/>
            <a:chOff x="4566684" y="3989654"/>
            <a:chExt cx="2879591" cy="1138936"/>
          </a:xfrm>
        </p:grpSpPr>
        <p:sp>
          <p:nvSpPr>
            <p:cNvPr id="13" name="Rectangle 12">
              <a:extLst>
                <a:ext uri="{FF2B5EF4-FFF2-40B4-BE49-F238E27FC236}">
                  <a16:creationId xmlns:a16="http://schemas.microsoft.com/office/drawing/2014/main" id="{9FCAC3A5-704D-F4B7-2FE8-0008C6A8AB29}"/>
                </a:ext>
              </a:extLst>
            </p:cNvPr>
            <p:cNvSpPr/>
            <p:nvPr/>
          </p:nvSpPr>
          <p:spPr>
            <a:xfrm>
              <a:off x="4566684" y="4227223"/>
              <a:ext cx="999460" cy="901367"/>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8F82608B-7370-E2C1-944B-E9304A2BA823}"/>
                </a:ext>
              </a:extLst>
            </p:cNvPr>
            <p:cNvSpPr/>
            <p:nvPr/>
          </p:nvSpPr>
          <p:spPr>
            <a:xfrm>
              <a:off x="6446815" y="3989654"/>
              <a:ext cx="999460" cy="50729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4" name="Connector: Elbow 23">
              <a:extLst>
                <a:ext uri="{FF2B5EF4-FFF2-40B4-BE49-F238E27FC236}">
                  <a16:creationId xmlns:a16="http://schemas.microsoft.com/office/drawing/2014/main" id="{48E7B7F5-786C-A8BA-ECFC-1F9575783A26}"/>
                </a:ext>
              </a:extLst>
            </p:cNvPr>
            <p:cNvCxnSpPr>
              <a:cxnSpLocks/>
              <a:stCxn id="13" idx="3"/>
              <a:endCxn id="18" idx="1"/>
            </p:cNvCxnSpPr>
            <p:nvPr/>
          </p:nvCxnSpPr>
          <p:spPr>
            <a:xfrm flipV="1">
              <a:off x="5566144" y="4243301"/>
              <a:ext cx="880671" cy="434606"/>
            </a:xfrm>
            <a:prstGeom prst="bentConnector3">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83FA4B67-76E1-1C7E-725E-1B143A214255}"/>
              </a:ext>
            </a:extLst>
          </p:cNvPr>
          <p:cNvSpPr txBox="1"/>
          <p:nvPr/>
        </p:nvSpPr>
        <p:spPr>
          <a:xfrm>
            <a:off x="563441" y="1011618"/>
            <a:ext cx="11080376"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415364"/>
                </a:solidFill>
                <a:effectLst/>
                <a:uLnTx/>
                <a:uFillTx/>
              </a:rPr>
              <a:t>When an identifier points to another piece of information, a data relationship is created. The purpose of data relationships is to stitch different pieces together to allow greater insights. In the case below, the table on the right can be used to determine if a measurement in the left table was between the lower and upper limits for the grade in the left-hand side table because the material identifiers are shared.</a:t>
            </a:r>
          </a:p>
        </p:txBody>
      </p:sp>
    </p:spTree>
    <p:extLst>
      <p:ext uri="{BB962C8B-B14F-4D97-AF65-F5344CB8AC3E}">
        <p14:creationId xmlns:p14="http://schemas.microsoft.com/office/powerpoint/2010/main" val="3482204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3FB86-1E49-C03E-DFD2-C00CE3200BB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BD0A785-0EE0-0D5D-981A-19A0749B84E1}"/>
              </a:ext>
            </a:extLst>
          </p:cNvPr>
          <p:cNvSpPr>
            <a:spLocks noGrp="1"/>
          </p:cNvSpPr>
          <p:nvPr>
            <p:ph type="title"/>
          </p:nvPr>
        </p:nvSpPr>
        <p:spPr/>
        <p:txBody>
          <a:bodyPr/>
          <a:lstStyle/>
          <a:p>
            <a:r>
              <a:rPr lang="en-US" dirty="0"/>
              <a:t>Relationships work if identifiers are shared</a:t>
            </a:r>
          </a:p>
        </p:txBody>
      </p:sp>
      <p:sp>
        <p:nvSpPr>
          <p:cNvPr id="4" name="Date Placeholder 3">
            <a:extLst>
              <a:ext uri="{FF2B5EF4-FFF2-40B4-BE49-F238E27FC236}">
                <a16:creationId xmlns:a16="http://schemas.microsoft.com/office/drawing/2014/main" id="{9D80D82C-9204-6F33-C90B-6B1472C9775D}"/>
              </a:ext>
            </a:extLst>
          </p:cNvPr>
          <p:cNvSpPr>
            <a:spLocks noGrp="1"/>
          </p:cNvSpPr>
          <p:nvPr>
            <p:ph type="dt" sz="half"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64191297-E0C3-35F9-DA7F-379F68913D3A}"/>
              </a:ext>
            </a:extLst>
          </p:cNvPr>
          <p:cNvSpPr>
            <a:spLocks noGrp="1"/>
          </p:cNvSpPr>
          <p:nvPr>
            <p:ph type="sldNum" sz="quarter"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6D1532F-61F1-B941-ACDF-6BC65E0B4055}" type="slidenum">
              <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25</a:t>
            </a:fld>
            <a:endPar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graphicFrame>
        <p:nvGraphicFramePr>
          <p:cNvPr id="10" name="Table 7">
            <a:extLst>
              <a:ext uri="{FF2B5EF4-FFF2-40B4-BE49-F238E27FC236}">
                <a16:creationId xmlns:a16="http://schemas.microsoft.com/office/drawing/2014/main" id="{EE9A8C66-AF86-1A9A-6D9C-5656C14BEB74}"/>
              </a:ext>
            </a:extLst>
          </p:cNvPr>
          <p:cNvGraphicFramePr>
            <a:graphicFrameLocks noGrp="1"/>
          </p:cNvGraphicFramePr>
          <p:nvPr>
            <p:extLst>
              <p:ext uri="{D42A27DB-BD31-4B8C-83A1-F6EECF244321}">
                <p14:modId xmlns:p14="http://schemas.microsoft.com/office/powerpoint/2010/main" val="619806048"/>
              </p:ext>
            </p:extLst>
          </p:nvPr>
        </p:nvGraphicFramePr>
        <p:xfrm>
          <a:off x="582731" y="1977315"/>
          <a:ext cx="4884726" cy="3390930"/>
        </p:xfrm>
        <a:graphic>
          <a:graphicData uri="http://schemas.openxmlformats.org/drawingml/2006/table">
            <a:tbl>
              <a:tblPr firstRow="1" bandRow="1">
                <a:tableStyleId>{5C22544A-7EE6-4342-B048-85BDC9FD1C3A}</a:tableStyleId>
              </a:tblPr>
              <a:tblGrid>
                <a:gridCol w="1673693">
                  <a:extLst>
                    <a:ext uri="{9D8B030D-6E8A-4147-A177-3AD203B41FA5}">
                      <a16:colId xmlns:a16="http://schemas.microsoft.com/office/drawing/2014/main" val="1619538324"/>
                    </a:ext>
                  </a:extLst>
                </a:gridCol>
                <a:gridCol w="1201480">
                  <a:extLst>
                    <a:ext uri="{9D8B030D-6E8A-4147-A177-3AD203B41FA5}">
                      <a16:colId xmlns:a16="http://schemas.microsoft.com/office/drawing/2014/main" val="2204580905"/>
                    </a:ext>
                  </a:extLst>
                </a:gridCol>
                <a:gridCol w="1020725">
                  <a:extLst>
                    <a:ext uri="{9D8B030D-6E8A-4147-A177-3AD203B41FA5}">
                      <a16:colId xmlns:a16="http://schemas.microsoft.com/office/drawing/2014/main" val="253053857"/>
                    </a:ext>
                  </a:extLst>
                </a:gridCol>
                <a:gridCol w="988828">
                  <a:extLst>
                    <a:ext uri="{9D8B030D-6E8A-4147-A177-3AD203B41FA5}">
                      <a16:colId xmlns:a16="http://schemas.microsoft.com/office/drawing/2014/main" val="1733008077"/>
                    </a:ext>
                  </a:extLst>
                </a:gridCol>
              </a:tblGrid>
              <a:tr h="475522">
                <a:tc>
                  <a:txBody>
                    <a:bodyPr/>
                    <a:lstStyle/>
                    <a:p>
                      <a:r>
                        <a:rPr lang="en-US" sz="1200" err="1"/>
                        <a:t>sample_number</a:t>
                      </a:r>
                      <a:endParaRPr lang="en-US" sz="1200"/>
                    </a:p>
                  </a:txBody>
                  <a:tcPr marL="121920" marR="121920" marT="60960" marB="60960"/>
                </a:tc>
                <a:tc>
                  <a:txBody>
                    <a:bodyPr/>
                    <a:lstStyle/>
                    <a:p>
                      <a:r>
                        <a:rPr lang="en-US" sz="1200"/>
                        <a:t>temperature: </a:t>
                      </a:r>
                      <a:r>
                        <a:rPr lang="en-US" sz="1200" err="1"/>
                        <a:t>deg_c</a:t>
                      </a:r>
                      <a:endParaRPr lang="en-US" sz="1200"/>
                    </a:p>
                  </a:txBody>
                  <a:tcPr marL="121920" marR="121920" marT="60960" marB="60960"/>
                </a:tc>
                <a:tc>
                  <a:txBody>
                    <a:bodyPr/>
                    <a:lstStyle/>
                    <a:p>
                      <a:r>
                        <a:rPr lang="en-US" sz="1200"/>
                        <a:t>viscosity: cp</a:t>
                      </a:r>
                    </a:p>
                  </a:txBody>
                  <a:tcPr marL="121920" marR="121920" marT="60960" marB="60960"/>
                </a:tc>
                <a:tc>
                  <a:txBody>
                    <a:bodyPr/>
                    <a:lstStyle/>
                    <a:p>
                      <a:r>
                        <a:rPr lang="en-US" sz="1200"/>
                        <a:t>material: </a:t>
                      </a:r>
                      <a:r>
                        <a:rPr lang="en-US" sz="1200" err="1"/>
                        <a:t>sae_grade</a:t>
                      </a:r>
                      <a:endParaRPr lang="en-US" sz="1200"/>
                    </a:p>
                  </a:txBody>
                  <a:tcPr marL="81311" marR="81311" marT="40655" marB="40655"/>
                </a:tc>
                <a:extLst>
                  <a:ext uri="{0D108BD9-81ED-4DB2-BD59-A6C34878D82A}">
                    <a16:rowId xmlns:a16="http://schemas.microsoft.com/office/drawing/2014/main" val="1107157796"/>
                  </a:ext>
                </a:extLst>
              </a:tr>
              <a:tr h="414750">
                <a:tc>
                  <a:txBody>
                    <a:bodyPr/>
                    <a:lstStyle/>
                    <a:p>
                      <a:r>
                        <a:rPr lang="en-US" sz="1400"/>
                        <a:t>SAM-AB1234</a:t>
                      </a:r>
                    </a:p>
                  </a:txBody>
                  <a:tcPr marL="121920" marR="121920" marT="60960" marB="60960"/>
                </a:tc>
                <a:tc>
                  <a:txBody>
                    <a:bodyPr/>
                    <a:lstStyle/>
                    <a:p>
                      <a:r>
                        <a:rPr lang="en-US" sz="1400"/>
                        <a:t>20.0</a:t>
                      </a:r>
                    </a:p>
                  </a:txBody>
                  <a:tcPr marL="121920" marR="121920" marT="60960" marB="60960"/>
                </a:tc>
                <a:tc>
                  <a:txBody>
                    <a:bodyPr/>
                    <a:lstStyle/>
                    <a:p>
                      <a:r>
                        <a:rPr lang="en-US" sz="1400"/>
                        <a:t>286</a:t>
                      </a:r>
                    </a:p>
                  </a:txBody>
                  <a:tcPr marL="121920" marR="121920" marT="60960" marB="60960"/>
                </a:tc>
                <a:tc>
                  <a:txBody>
                    <a:bodyPr/>
                    <a:lstStyle/>
                    <a:p>
                      <a:r>
                        <a:rPr lang="en-US" sz="1400"/>
                        <a:t>15W-40</a:t>
                      </a:r>
                    </a:p>
                  </a:txBody>
                  <a:tcPr marL="81311" marR="81311" marT="40655" marB="40655"/>
                </a:tc>
                <a:extLst>
                  <a:ext uri="{0D108BD9-81ED-4DB2-BD59-A6C34878D82A}">
                    <a16:rowId xmlns:a16="http://schemas.microsoft.com/office/drawing/2014/main" val="1919681070"/>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SAM-AB1235</a:t>
                      </a:r>
                    </a:p>
                  </a:txBody>
                  <a:tcPr marL="121920" marR="121920" marT="60960" marB="60960"/>
                </a:tc>
                <a:tc>
                  <a:txBody>
                    <a:bodyPr/>
                    <a:lstStyle/>
                    <a:p>
                      <a:r>
                        <a:rPr lang="en-US" sz="1400"/>
                        <a:t>30.0</a:t>
                      </a:r>
                    </a:p>
                  </a:txBody>
                  <a:tcPr marL="121920" marR="121920" marT="60960" marB="60960"/>
                </a:tc>
                <a:tc>
                  <a:txBody>
                    <a:bodyPr/>
                    <a:lstStyle/>
                    <a:p>
                      <a:r>
                        <a:rPr lang="en-US" sz="1400"/>
                        <a:t>154</a:t>
                      </a:r>
                    </a:p>
                  </a:txBody>
                  <a:tcPr marL="121920" marR="121920" marT="60960" marB="60960"/>
                </a:tc>
                <a:tc>
                  <a:txBody>
                    <a:bodyPr/>
                    <a:lstStyle/>
                    <a:p>
                      <a:r>
                        <a:rPr lang="en-US" sz="1400"/>
                        <a:t>15W-40</a:t>
                      </a:r>
                    </a:p>
                  </a:txBody>
                  <a:tcPr marL="81311" marR="81311" marT="40655" marB="40655"/>
                </a:tc>
                <a:extLst>
                  <a:ext uri="{0D108BD9-81ED-4DB2-BD59-A6C34878D82A}">
                    <a16:rowId xmlns:a16="http://schemas.microsoft.com/office/drawing/2014/main" val="3264277782"/>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SAM-AB1236</a:t>
                      </a:r>
                    </a:p>
                  </a:txBody>
                  <a:tcPr marL="121920" marR="121920" marT="60960" marB="60960"/>
                </a:tc>
                <a:tc>
                  <a:txBody>
                    <a:bodyPr/>
                    <a:lstStyle/>
                    <a:p>
                      <a:r>
                        <a:rPr lang="en-US" sz="1400"/>
                        <a:t>20.0</a:t>
                      </a:r>
                    </a:p>
                  </a:txBody>
                  <a:tcPr marL="121920" marR="121920" marT="60960" marB="60960"/>
                </a:tc>
                <a:tc>
                  <a:txBody>
                    <a:bodyPr/>
                    <a:lstStyle/>
                    <a:p>
                      <a:r>
                        <a:rPr lang="en-US" sz="1400"/>
                        <a:t>210</a:t>
                      </a:r>
                    </a:p>
                  </a:txBody>
                  <a:tcPr marL="121920" marR="121920" marT="60960" marB="60960"/>
                </a:tc>
                <a:tc>
                  <a:txBody>
                    <a:bodyPr/>
                    <a:lstStyle/>
                    <a:p>
                      <a:r>
                        <a:rPr lang="en-US" sz="1400"/>
                        <a:t>10W-40</a:t>
                      </a:r>
                    </a:p>
                  </a:txBody>
                  <a:tcPr marL="81311" marR="81311" marT="40655" marB="40655"/>
                </a:tc>
                <a:extLst>
                  <a:ext uri="{0D108BD9-81ED-4DB2-BD59-A6C34878D82A}">
                    <a16:rowId xmlns:a16="http://schemas.microsoft.com/office/drawing/2014/main" val="3562596706"/>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SAM-AB1237</a:t>
                      </a:r>
                    </a:p>
                  </a:txBody>
                  <a:tcPr marL="121920" marR="121920" marT="60960" marB="60960"/>
                </a:tc>
                <a:tc>
                  <a:txBody>
                    <a:bodyPr/>
                    <a:lstStyle/>
                    <a:p>
                      <a:r>
                        <a:rPr lang="en-US" sz="1400"/>
                        <a:t>30.0</a:t>
                      </a:r>
                    </a:p>
                  </a:txBody>
                  <a:tcPr marL="121920" marR="121920" marT="60960" marB="60960"/>
                </a:tc>
                <a:tc>
                  <a:txBody>
                    <a:bodyPr/>
                    <a:lstStyle/>
                    <a:p>
                      <a:r>
                        <a:rPr lang="en-US" sz="1400"/>
                        <a:t>121</a:t>
                      </a:r>
                    </a:p>
                  </a:txBody>
                  <a:tcPr marL="121920" marR="121920" marT="60960" marB="60960"/>
                </a:tc>
                <a:tc>
                  <a:txBody>
                    <a:bodyPr/>
                    <a:lstStyle/>
                    <a:p>
                      <a:r>
                        <a:rPr lang="en-US" sz="1400"/>
                        <a:t>10W-40</a:t>
                      </a:r>
                    </a:p>
                  </a:txBody>
                  <a:tcPr marL="81311" marR="81311" marT="40655" marB="40655"/>
                </a:tc>
                <a:extLst>
                  <a:ext uri="{0D108BD9-81ED-4DB2-BD59-A6C34878D82A}">
                    <a16:rowId xmlns:a16="http://schemas.microsoft.com/office/drawing/2014/main" val="2810195785"/>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SAM-AB1238</a:t>
                      </a:r>
                    </a:p>
                  </a:txBody>
                  <a:tcPr marL="121920" marR="121920" marT="60960" marB="60960"/>
                </a:tc>
                <a:tc>
                  <a:txBody>
                    <a:bodyPr/>
                    <a:lstStyle/>
                    <a:p>
                      <a:r>
                        <a:rPr lang="en-US" sz="1400"/>
                        <a:t>20.0</a:t>
                      </a:r>
                    </a:p>
                  </a:txBody>
                  <a:tcPr marL="121920" marR="121920" marT="60960" marB="60960"/>
                </a:tc>
                <a:tc>
                  <a:txBody>
                    <a:bodyPr/>
                    <a:lstStyle/>
                    <a:p>
                      <a:r>
                        <a:rPr lang="en-US" sz="1400"/>
                        <a:t>382</a:t>
                      </a:r>
                    </a:p>
                  </a:txBody>
                  <a:tcPr marL="121920" marR="121920" marT="60960" marB="60960"/>
                </a:tc>
                <a:tc>
                  <a:txBody>
                    <a:bodyPr/>
                    <a:lstStyle/>
                    <a:p>
                      <a:r>
                        <a:rPr lang="en-US" sz="1400"/>
                        <a:t>10W-60</a:t>
                      </a:r>
                    </a:p>
                  </a:txBody>
                  <a:tcPr marL="81311" marR="81311" marT="40655" marB="40655"/>
                </a:tc>
                <a:extLst>
                  <a:ext uri="{0D108BD9-81ED-4DB2-BD59-A6C34878D82A}">
                    <a16:rowId xmlns:a16="http://schemas.microsoft.com/office/drawing/2014/main" val="162406719"/>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SAM-AB1241</a:t>
                      </a:r>
                    </a:p>
                  </a:txBody>
                  <a:tcPr marL="121920" marR="121920" marT="60960" marB="60960"/>
                </a:tc>
                <a:tc>
                  <a:txBody>
                    <a:bodyPr/>
                    <a:lstStyle/>
                    <a:p>
                      <a:r>
                        <a:rPr lang="en-US" sz="1400"/>
                        <a:t>30.0</a:t>
                      </a:r>
                    </a:p>
                  </a:txBody>
                  <a:tcPr marL="121920" marR="121920" marT="60960" marB="60960"/>
                </a:tc>
                <a:tc>
                  <a:txBody>
                    <a:bodyPr/>
                    <a:lstStyle/>
                    <a:p>
                      <a:r>
                        <a:rPr lang="en-US" sz="1400"/>
                        <a:t>221</a:t>
                      </a:r>
                    </a:p>
                  </a:txBody>
                  <a:tcPr marL="121920" marR="121920" marT="60960" marB="60960"/>
                </a:tc>
                <a:tc>
                  <a:txBody>
                    <a:bodyPr/>
                    <a:lstStyle/>
                    <a:p>
                      <a:r>
                        <a:rPr lang="en-US" sz="1400"/>
                        <a:t>10W-60</a:t>
                      </a:r>
                    </a:p>
                  </a:txBody>
                  <a:tcPr marL="81311" marR="81311" marT="40655" marB="40655"/>
                </a:tc>
                <a:extLst>
                  <a:ext uri="{0D108BD9-81ED-4DB2-BD59-A6C34878D82A}">
                    <a16:rowId xmlns:a16="http://schemas.microsoft.com/office/drawing/2014/main" val="2899885508"/>
                  </a:ext>
                </a:extLst>
              </a:tr>
              <a:tr h="4147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81311" marR="81311" marT="40655" marB="40655"/>
                </a:tc>
                <a:extLst>
                  <a:ext uri="{0D108BD9-81ED-4DB2-BD59-A6C34878D82A}">
                    <a16:rowId xmlns:a16="http://schemas.microsoft.com/office/drawing/2014/main" val="416964310"/>
                  </a:ext>
                </a:extLst>
              </a:tr>
            </a:tbl>
          </a:graphicData>
        </a:graphic>
      </p:graphicFrame>
      <p:graphicFrame>
        <p:nvGraphicFramePr>
          <p:cNvPr id="14" name="Table 7">
            <a:extLst>
              <a:ext uri="{FF2B5EF4-FFF2-40B4-BE49-F238E27FC236}">
                <a16:creationId xmlns:a16="http://schemas.microsoft.com/office/drawing/2014/main" id="{2B5C7F66-6A8C-497A-15B9-DC18838C1DBC}"/>
              </a:ext>
            </a:extLst>
          </p:cNvPr>
          <p:cNvGraphicFramePr>
            <a:graphicFrameLocks noGrp="1"/>
          </p:cNvGraphicFramePr>
          <p:nvPr>
            <p:extLst>
              <p:ext uri="{D42A27DB-BD31-4B8C-83A1-F6EECF244321}">
                <p14:modId xmlns:p14="http://schemas.microsoft.com/office/powerpoint/2010/main" val="252561291"/>
              </p:ext>
            </p:extLst>
          </p:nvPr>
        </p:nvGraphicFramePr>
        <p:xfrm>
          <a:off x="6332177" y="2585177"/>
          <a:ext cx="4664209" cy="2146680"/>
        </p:xfrm>
        <a:graphic>
          <a:graphicData uri="http://schemas.openxmlformats.org/drawingml/2006/table">
            <a:tbl>
              <a:tblPr firstRow="1" bandRow="1">
                <a:tableStyleId>{5C22544A-7EE6-4342-B048-85BDC9FD1C3A}</a:tableStyleId>
              </a:tblPr>
              <a:tblGrid>
                <a:gridCol w="1006608">
                  <a:extLst>
                    <a:ext uri="{9D8B030D-6E8A-4147-A177-3AD203B41FA5}">
                      <a16:colId xmlns:a16="http://schemas.microsoft.com/office/drawing/2014/main" val="1619538324"/>
                    </a:ext>
                  </a:extLst>
                </a:gridCol>
                <a:gridCol w="1169582">
                  <a:extLst>
                    <a:ext uri="{9D8B030D-6E8A-4147-A177-3AD203B41FA5}">
                      <a16:colId xmlns:a16="http://schemas.microsoft.com/office/drawing/2014/main" val="951282834"/>
                    </a:ext>
                  </a:extLst>
                </a:gridCol>
                <a:gridCol w="1169582">
                  <a:extLst>
                    <a:ext uri="{9D8B030D-6E8A-4147-A177-3AD203B41FA5}">
                      <a16:colId xmlns:a16="http://schemas.microsoft.com/office/drawing/2014/main" val="2204580905"/>
                    </a:ext>
                  </a:extLst>
                </a:gridCol>
                <a:gridCol w="1318437">
                  <a:extLst>
                    <a:ext uri="{9D8B030D-6E8A-4147-A177-3AD203B41FA5}">
                      <a16:colId xmlns:a16="http://schemas.microsoft.com/office/drawing/2014/main" val="253053857"/>
                    </a:ext>
                  </a:extLst>
                </a:gridCol>
              </a:tblGrid>
              <a:tr h="475522">
                <a:tc>
                  <a:txBody>
                    <a:bodyPr/>
                    <a:lstStyle/>
                    <a:p>
                      <a:r>
                        <a:rPr lang="en-US" sz="1200"/>
                        <a:t>material: </a:t>
                      </a:r>
                      <a:r>
                        <a:rPr lang="en-US" sz="1200" err="1"/>
                        <a:t>sae_grade</a:t>
                      </a:r>
                      <a:endParaRPr lang="en-US" sz="1200"/>
                    </a:p>
                  </a:txBody>
                  <a:tcPr marL="121920" marR="121920" marT="60960" marB="60960"/>
                </a:tc>
                <a:tc>
                  <a:txBody>
                    <a:bodyPr/>
                    <a:lstStyle/>
                    <a:p>
                      <a:r>
                        <a:rPr lang="en-US" sz="1200"/>
                        <a:t>temperature: </a:t>
                      </a:r>
                      <a:r>
                        <a:rPr lang="en-US" sz="1200" err="1"/>
                        <a:t>deg_c</a:t>
                      </a:r>
                      <a:endParaRPr lang="en-US" sz="1200"/>
                    </a:p>
                  </a:txBody>
                  <a:tcPr marL="81311" marR="81311" marT="40655" marB="40655"/>
                </a:tc>
                <a:tc>
                  <a:txBody>
                    <a:bodyPr/>
                    <a:lstStyle/>
                    <a:p>
                      <a:r>
                        <a:rPr lang="en-US" sz="1200" err="1"/>
                        <a:t>viscosity_upper_limit</a:t>
                      </a:r>
                      <a:r>
                        <a:rPr lang="en-US" sz="1200"/>
                        <a:t>: cp</a:t>
                      </a:r>
                    </a:p>
                  </a:txBody>
                  <a:tcPr marL="121920" marR="121920" marT="60960" marB="60960"/>
                </a:tc>
                <a:tc>
                  <a:txBody>
                    <a:bodyPr/>
                    <a:lstStyle/>
                    <a:p>
                      <a:r>
                        <a:rPr lang="en-US" sz="1200" err="1"/>
                        <a:t>viscosity_lower_limit</a:t>
                      </a:r>
                      <a:r>
                        <a:rPr lang="en-US" sz="1200"/>
                        <a:t>: cp</a:t>
                      </a:r>
                    </a:p>
                  </a:txBody>
                  <a:tcPr marL="121920" marR="121920" marT="60960" marB="60960"/>
                </a:tc>
                <a:extLst>
                  <a:ext uri="{0D108BD9-81ED-4DB2-BD59-A6C34878D82A}">
                    <a16:rowId xmlns:a16="http://schemas.microsoft.com/office/drawing/2014/main" val="1107157796"/>
                  </a:ext>
                </a:extLst>
              </a:tr>
              <a:tr h="414750">
                <a:tc>
                  <a:txBody>
                    <a:bodyPr/>
                    <a:lstStyle/>
                    <a:p>
                      <a:r>
                        <a:rPr lang="en-US" sz="1400"/>
                        <a:t>15W-40</a:t>
                      </a:r>
                    </a:p>
                  </a:txBody>
                  <a:tcPr marL="121920" marR="121920" marT="60960" marB="60960"/>
                </a:tc>
                <a:tc>
                  <a:txBody>
                    <a:bodyPr/>
                    <a:lstStyle/>
                    <a:p>
                      <a:r>
                        <a:rPr lang="en-US" sz="1400"/>
                        <a:t>20</a:t>
                      </a:r>
                    </a:p>
                  </a:txBody>
                  <a:tcPr marL="81311" marR="81311" marT="40655" marB="40655"/>
                </a:tc>
                <a:tc>
                  <a:txBody>
                    <a:bodyPr/>
                    <a:lstStyle/>
                    <a:p>
                      <a:r>
                        <a:rPr lang="en-US" sz="1400"/>
                        <a:t>290</a:t>
                      </a:r>
                    </a:p>
                  </a:txBody>
                  <a:tcPr marL="121920" marR="121920" marT="60960" marB="60960"/>
                </a:tc>
                <a:tc>
                  <a:txBody>
                    <a:bodyPr/>
                    <a:lstStyle/>
                    <a:p>
                      <a:r>
                        <a:rPr lang="en-US" sz="1400"/>
                        <a:t>285</a:t>
                      </a:r>
                    </a:p>
                  </a:txBody>
                  <a:tcPr marL="121920" marR="121920" marT="60960" marB="60960"/>
                </a:tc>
                <a:extLst>
                  <a:ext uri="{0D108BD9-81ED-4DB2-BD59-A6C34878D82A}">
                    <a16:rowId xmlns:a16="http://schemas.microsoft.com/office/drawing/2014/main" val="1919681070"/>
                  </a:ext>
                </a:extLst>
              </a:tr>
              <a:tr h="414750">
                <a:tc>
                  <a:txBody>
                    <a:bodyPr/>
                    <a:lstStyle/>
                    <a:p>
                      <a:r>
                        <a:rPr lang="en-US" sz="1400"/>
                        <a:t>10W-40</a:t>
                      </a:r>
                    </a:p>
                  </a:txBody>
                  <a:tcPr marL="121920" marR="121920" marT="60960" marB="60960"/>
                </a:tc>
                <a:tc>
                  <a:txBody>
                    <a:bodyPr/>
                    <a:lstStyle/>
                    <a:p>
                      <a:r>
                        <a:rPr lang="en-US" sz="1400"/>
                        <a:t>20</a:t>
                      </a:r>
                    </a:p>
                  </a:txBody>
                  <a:tcPr marL="81311" marR="81311" marT="40655" marB="40655"/>
                </a:tc>
                <a:tc>
                  <a:txBody>
                    <a:bodyPr/>
                    <a:lstStyle/>
                    <a:p>
                      <a:r>
                        <a:rPr lang="en-US" sz="1400"/>
                        <a:t>210</a:t>
                      </a:r>
                    </a:p>
                  </a:txBody>
                  <a:tcPr marL="121920" marR="121920" marT="60960" marB="60960"/>
                </a:tc>
                <a:tc>
                  <a:txBody>
                    <a:bodyPr/>
                    <a:lstStyle/>
                    <a:p>
                      <a:r>
                        <a:rPr lang="en-US" sz="1400"/>
                        <a:t>205</a:t>
                      </a:r>
                    </a:p>
                  </a:txBody>
                  <a:tcPr marL="121920" marR="121920" marT="60960" marB="60960"/>
                </a:tc>
                <a:extLst>
                  <a:ext uri="{0D108BD9-81ED-4DB2-BD59-A6C34878D82A}">
                    <a16:rowId xmlns:a16="http://schemas.microsoft.com/office/drawing/2014/main" val="3264277782"/>
                  </a:ext>
                </a:extLst>
              </a:tr>
              <a:tr h="414750">
                <a:tc>
                  <a:txBody>
                    <a:bodyPr/>
                    <a:lstStyle/>
                    <a:p>
                      <a:r>
                        <a:rPr lang="en-US" sz="1400"/>
                        <a:t>10W-60</a:t>
                      </a:r>
                    </a:p>
                  </a:txBody>
                  <a:tcPr marL="121920" marR="121920" marT="60960" marB="60960"/>
                </a:tc>
                <a:tc>
                  <a:txBody>
                    <a:bodyPr/>
                    <a:lstStyle/>
                    <a:p>
                      <a:r>
                        <a:rPr lang="en-US" sz="1400"/>
                        <a:t>20</a:t>
                      </a:r>
                    </a:p>
                  </a:txBody>
                  <a:tcPr marL="81311" marR="81311" marT="40655" marB="40655"/>
                </a:tc>
                <a:tc>
                  <a:txBody>
                    <a:bodyPr/>
                    <a:lstStyle/>
                    <a:p>
                      <a:r>
                        <a:rPr lang="en-US" sz="1400"/>
                        <a:t>377</a:t>
                      </a:r>
                    </a:p>
                  </a:txBody>
                  <a:tcPr marL="121920" marR="121920" marT="60960" marB="60960"/>
                </a:tc>
                <a:tc>
                  <a:txBody>
                    <a:bodyPr/>
                    <a:lstStyle/>
                    <a:p>
                      <a:r>
                        <a:rPr lang="en-US" sz="1400"/>
                        <a:t>382</a:t>
                      </a:r>
                    </a:p>
                  </a:txBody>
                  <a:tcPr marL="121920" marR="121920" marT="60960" marB="60960"/>
                </a:tc>
                <a:extLst>
                  <a:ext uri="{0D108BD9-81ED-4DB2-BD59-A6C34878D82A}">
                    <a16:rowId xmlns:a16="http://schemas.microsoft.com/office/drawing/2014/main" val="3562596706"/>
                  </a:ext>
                </a:extLst>
              </a:tr>
              <a:tr h="41475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81311" marR="81311" marT="40655" marB="40655"/>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marL="121920" marR="121920" marT="60960" marB="60960"/>
                </a:tc>
                <a:extLst>
                  <a:ext uri="{0D108BD9-81ED-4DB2-BD59-A6C34878D82A}">
                    <a16:rowId xmlns:a16="http://schemas.microsoft.com/office/drawing/2014/main" val="492351143"/>
                  </a:ext>
                </a:extLst>
              </a:tr>
            </a:tbl>
          </a:graphicData>
        </a:graphic>
      </p:graphicFrame>
      <p:sp>
        <p:nvSpPr>
          <p:cNvPr id="15" name="TextBox 14">
            <a:extLst>
              <a:ext uri="{FF2B5EF4-FFF2-40B4-BE49-F238E27FC236}">
                <a16:creationId xmlns:a16="http://schemas.microsoft.com/office/drawing/2014/main" id="{87C0B94F-D363-BB8B-A898-982E8EE3E31E}"/>
              </a:ext>
            </a:extLst>
          </p:cNvPr>
          <p:cNvSpPr txBox="1"/>
          <p:nvPr/>
        </p:nvSpPr>
        <p:spPr>
          <a:xfrm>
            <a:off x="6316228" y="4753579"/>
            <a:ext cx="4565522" cy="296444"/>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15364"/>
                </a:solidFill>
                <a:effectLst/>
                <a:uLnTx/>
                <a:uFillTx/>
                <a:latin typeface="Arial" panose="020B0604020202020204"/>
                <a:ea typeface="+mn-ea"/>
                <a:cs typeface="+mn-cs"/>
              </a:rPr>
              <a:t>Fictitious data</a:t>
            </a:r>
          </a:p>
        </p:txBody>
      </p:sp>
      <p:grpSp>
        <p:nvGrpSpPr>
          <p:cNvPr id="7" name="Group 6">
            <a:extLst>
              <a:ext uri="{FF2B5EF4-FFF2-40B4-BE49-F238E27FC236}">
                <a16:creationId xmlns:a16="http://schemas.microsoft.com/office/drawing/2014/main" id="{0BC70772-5A38-00AA-28A2-7456F3344046}"/>
              </a:ext>
            </a:extLst>
          </p:cNvPr>
          <p:cNvGrpSpPr/>
          <p:nvPr/>
        </p:nvGrpSpPr>
        <p:grpSpPr>
          <a:xfrm>
            <a:off x="4457364" y="2474834"/>
            <a:ext cx="2874275" cy="891296"/>
            <a:chOff x="4572000" y="2570567"/>
            <a:chExt cx="2874275" cy="1114267"/>
          </a:xfrm>
        </p:grpSpPr>
        <p:sp>
          <p:nvSpPr>
            <p:cNvPr id="11" name="Rectangle 10">
              <a:extLst>
                <a:ext uri="{FF2B5EF4-FFF2-40B4-BE49-F238E27FC236}">
                  <a16:creationId xmlns:a16="http://schemas.microsoft.com/office/drawing/2014/main" id="{61CB52E2-9943-94AE-4360-E7B1B265183B}"/>
                </a:ext>
              </a:extLst>
            </p:cNvPr>
            <p:cNvSpPr/>
            <p:nvPr/>
          </p:nvSpPr>
          <p:spPr>
            <a:xfrm>
              <a:off x="4572000" y="2570567"/>
              <a:ext cx="999460" cy="901367"/>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4AB41EDC-1A3C-FB9E-E0DD-A77D690E9C89}"/>
                </a:ext>
              </a:extLst>
            </p:cNvPr>
            <p:cNvSpPr/>
            <p:nvPr/>
          </p:nvSpPr>
          <p:spPr>
            <a:xfrm>
              <a:off x="6446815" y="3177541"/>
              <a:ext cx="999460" cy="50729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0" name="Connector: Elbow 19">
              <a:extLst>
                <a:ext uri="{FF2B5EF4-FFF2-40B4-BE49-F238E27FC236}">
                  <a16:creationId xmlns:a16="http://schemas.microsoft.com/office/drawing/2014/main" id="{014037E2-425D-F346-2828-95D6AF0DAD9D}"/>
                </a:ext>
              </a:extLst>
            </p:cNvPr>
            <p:cNvCxnSpPr>
              <a:stCxn id="11" idx="3"/>
            </p:cNvCxnSpPr>
            <p:nvPr/>
          </p:nvCxnSpPr>
          <p:spPr>
            <a:xfrm>
              <a:off x="5571460" y="3021251"/>
              <a:ext cx="875355" cy="363648"/>
            </a:xfrm>
            <a:prstGeom prst="bentConnector3">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0C632CD2-2C0F-3D2F-1341-0B7D52AC2F98}"/>
              </a:ext>
            </a:extLst>
          </p:cNvPr>
          <p:cNvGrpSpPr/>
          <p:nvPr/>
        </p:nvGrpSpPr>
        <p:grpSpPr>
          <a:xfrm>
            <a:off x="4457364" y="3279250"/>
            <a:ext cx="2874275" cy="720999"/>
            <a:chOff x="4572000" y="3395532"/>
            <a:chExt cx="2874275" cy="901367"/>
          </a:xfrm>
        </p:grpSpPr>
        <p:sp>
          <p:nvSpPr>
            <p:cNvPr id="12" name="Rectangle 11">
              <a:extLst>
                <a:ext uri="{FF2B5EF4-FFF2-40B4-BE49-F238E27FC236}">
                  <a16:creationId xmlns:a16="http://schemas.microsoft.com/office/drawing/2014/main" id="{34FE736C-9469-F474-D618-610624092387}"/>
                </a:ext>
              </a:extLst>
            </p:cNvPr>
            <p:cNvSpPr/>
            <p:nvPr/>
          </p:nvSpPr>
          <p:spPr>
            <a:xfrm>
              <a:off x="4572000" y="3395532"/>
              <a:ext cx="999460" cy="901367"/>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2C078A55-225E-3FE3-C873-20803F46E5BF}"/>
                </a:ext>
              </a:extLst>
            </p:cNvPr>
            <p:cNvSpPr/>
            <p:nvPr/>
          </p:nvSpPr>
          <p:spPr>
            <a:xfrm>
              <a:off x="6446815" y="3598495"/>
              <a:ext cx="999460" cy="50729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1" name="Connector: Elbow 20">
              <a:extLst>
                <a:ext uri="{FF2B5EF4-FFF2-40B4-BE49-F238E27FC236}">
                  <a16:creationId xmlns:a16="http://schemas.microsoft.com/office/drawing/2014/main" id="{5B4C44DC-2FE2-FE29-D502-FF9D4D3F4D50}"/>
                </a:ext>
              </a:extLst>
            </p:cNvPr>
            <p:cNvCxnSpPr>
              <a:cxnSpLocks/>
              <a:stCxn id="12" idx="3"/>
              <a:endCxn id="17" idx="1"/>
            </p:cNvCxnSpPr>
            <p:nvPr/>
          </p:nvCxnSpPr>
          <p:spPr>
            <a:xfrm>
              <a:off x="5571460" y="3846216"/>
              <a:ext cx="875355" cy="5926"/>
            </a:xfrm>
            <a:prstGeom prst="bentConnector3">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976D3D41-42FD-DEF3-508E-007A53CBA933}"/>
              </a:ext>
            </a:extLst>
          </p:cNvPr>
          <p:cNvGrpSpPr/>
          <p:nvPr/>
        </p:nvGrpSpPr>
        <p:grpSpPr>
          <a:xfrm>
            <a:off x="4452048" y="3924742"/>
            <a:ext cx="2879591" cy="911029"/>
            <a:chOff x="4566684" y="3989654"/>
            <a:chExt cx="2879591" cy="1138936"/>
          </a:xfrm>
        </p:grpSpPr>
        <p:sp>
          <p:nvSpPr>
            <p:cNvPr id="13" name="Rectangle 12">
              <a:extLst>
                <a:ext uri="{FF2B5EF4-FFF2-40B4-BE49-F238E27FC236}">
                  <a16:creationId xmlns:a16="http://schemas.microsoft.com/office/drawing/2014/main" id="{5DD19EF6-6EB3-4ECE-C2A8-7182CDBC0DA6}"/>
                </a:ext>
              </a:extLst>
            </p:cNvPr>
            <p:cNvSpPr/>
            <p:nvPr/>
          </p:nvSpPr>
          <p:spPr>
            <a:xfrm>
              <a:off x="4566684" y="4227223"/>
              <a:ext cx="999460" cy="901367"/>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0593E18E-E382-70B3-6A12-12EF941992C9}"/>
                </a:ext>
              </a:extLst>
            </p:cNvPr>
            <p:cNvSpPr/>
            <p:nvPr/>
          </p:nvSpPr>
          <p:spPr>
            <a:xfrm>
              <a:off x="6446815" y="3989654"/>
              <a:ext cx="999460" cy="50729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4" name="Connector: Elbow 23">
              <a:extLst>
                <a:ext uri="{FF2B5EF4-FFF2-40B4-BE49-F238E27FC236}">
                  <a16:creationId xmlns:a16="http://schemas.microsoft.com/office/drawing/2014/main" id="{6FCAA73F-2A79-7526-F854-5016A8D40869}"/>
                </a:ext>
              </a:extLst>
            </p:cNvPr>
            <p:cNvCxnSpPr>
              <a:cxnSpLocks/>
              <a:stCxn id="13" idx="3"/>
              <a:endCxn id="18" idx="1"/>
            </p:cNvCxnSpPr>
            <p:nvPr/>
          </p:nvCxnSpPr>
          <p:spPr>
            <a:xfrm flipV="1">
              <a:off x="5566144" y="4243301"/>
              <a:ext cx="880671" cy="434606"/>
            </a:xfrm>
            <a:prstGeom prst="bentConnector3">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E1E872BF-04B9-3E0B-45D6-BCCA5A7F74E3}"/>
              </a:ext>
            </a:extLst>
          </p:cNvPr>
          <p:cNvSpPr txBox="1"/>
          <p:nvPr/>
        </p:nvSpPr>
        <p:spPr>
          <a:xfrm>
            <a:off x="2826212" y="5438354"/>
            <a:ext cx="6342352" cy="830997"/>
          </a:xfrm>
          <a:prstGeom prst="rect">
            <a:avLst/>
          </a:prstGeom>
          <a:noFill/>
        </p:spPr>
        <p:txBody>
          <a:bodyPr wrap="square">
            <a:spAutoFit/>
          </a:bodyPr>
          <a:lstStyle/>
          <a:p>
            <a:pPr lvl="0" algn="ctr" defTabSz="914400">
              <a:defRPr/>
            </a:pPr>
            <a:r>
              <a:rPr lang="en-US" sz="2800" dirty="0">
                <a:solidFill>
                  <a:schemeClr val="tx2"/>
                </a:solidFill>
                <a:latin typeface="Arial" panose="020B0604020202020204"/>
              </a:rPr>
              <a:t>Column names don’t need to match!</a:t>
            </a:r>
          </a:p>
          <a:p>
            <a:pPr lvl="0" algn="ctr" defTabSz="914400">
              <a:defRPr/>
            </a:pPr>
            <a:r>
              <a:rPr lang="en-US" sz="2000" dirty="0">
                <a:solidFill>
                  <a:schemeClr val="tx2"/>
                </a:solidFill>
                <a:latin typeface="Arial" panose="020B0604020202020204"/>
              </a:rPr>
              <a:t>(but it’s very helpful if they do)</a:t>
            </a:r>
          </a:p>
        </p:txBody>
      </p:sp>
    </p:spTree>
    <p:extLst>
      <p:ext uri="{BB962C8B-B14F-4D97-AF65-F5344CB8AC3E}">
        <p14:creationId xmlns:p14="http://schemas.microsoft.com/office/powerpoint/2010/main" val="4244860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314FA-9047-F38C-68F2-30DC23404C1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375457D-BB03-A2ED-BECC-483A3C158B8F}"/>
              </a:ext>
            </a:extLst>
          </p:cNvPr>
          <p:cNvSpPr>
            <a:spLocks noGrp="1"/>
          </p:cNvSpPr>
          <p:nvPr>
            <p:ph type="title"/>
          </p:nvPr>
        </p:nvSpPr>
        <p:spPr/>
        <p:txBody>
          <a:bodyPr/>
          <a:lstStyle/>
          <a:p>
            <a:r>
              <a:rPr lang="en-US" dirty="0"/>
              <a:t>Relationships work if identifiers are shared</a:t>
            </a:r>
          </a:p>
        </p:txBody>
      </p:sp>
      <p:sp>
        <p:nvSpPr>
          <p:cNvPr id="4" name="Date Placeholder 3">
            <a:extLst>
              <a:ext uri="{FF2B5EF4-FFF2-40B4-BE49-F238E27FC236}">
                <a16:creationId xmlns:a16="http://schemas.microsoft.com/office/drawing/2014/main" id="{7531DAF4-B613-B5E8-7575-934F9CA98948}"/>
              </a:ext>
            </a:extLst>
          </p:cNvPr>
          <p:cNvSpPr>
            <a:spLocks noGrp="1"/>
          </p:cNvSpPr>
          <p:nvPr>
            <p:ph type="dt" sz="half"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BF362E4A-DC28-99F9-F22B-D11D927D95C1}"/>
              </a:ext>
            </a:extLst>
          </p:cNvPr>
          <p:cNvSpPr>
            <a:spLocks noGrp="1"/>
          </p:cNvSpPr>
          <p:nvPr>
            <p:ph type="sldNum" sz="quarter"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6D1532F-61F1-B941-ACDF-6BC65E0B4055}" type="slidenum">
              <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26</a:t>
            </a:fld>
            <a:endPar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graphicFrame>
        <p:nvGraphicFramePr>
          <p:cNvPr id="10" name="Table 7">
            <a:extLst>
              <a:ext uri="{FF2B5EF4-FFF2-40B4-BE49-F238E27FC236}">
                <a16:creationId xmlns:a16="http://schemas.microsoft.com/office/drawing/2014/main" id="{D7E5F1D1-ECFD-F265-4F6C-F9C88E3D0D5D}"/>
              </a:ext>
            </a:extLst>
          </p:cNvPr>
          <p:cNvGraphicFramePr>
            <a:graphicFrameLocks noGrp="1"/>
          </p:cNvGraphicFramePr>
          <p:nvPr>
            <p:extLst>
              <p:ext uri="{D42A27DB-BD31-4B8C-83A1-F6EECF244321}">
                <p14:modId xmlns:p14="http://schemas.microsoft.com/office/powerpoint/2010/main" val="2624573482"/>
              </p:ext>
            </p:extLst>
          </p:nvPr>
        </p:nvGraphicFramePr>
        <p:xfrm>
          <a:off x="582731" y="1977315"/>
          <a:ext cx="4884726" cy="3390930"/>
        </p:xfrm>
        <a:graphic>
          <a:graphicData uri="http://schemas.openxmlformats.org/drawingml/2006/table">
            <a:tbl>
              <a:tblPr firstRow="1" bandRow="1">
                <a:tableStyleId>{5C22544A-7EE6-4342-B048-85BDC9FD1C3A}</a:tableStyleId>
              </a:tblPr>
              <a:tblGrid>
                <a:gridCol w="1673693">
                  <a:extLst>
                    <a:ext uri="{9D8B030D-6E8A-4147-A177-3AD203B41FA5}">
                      <a16:colId xmlns:a16="http://schemas.microsoft.com/office/drawing/2014/main" val="1619538324"/>
                    </a:ext>
                  </a:extLst>
                </a:gridCol>
                <a:gridCol w="1201480">
                  <a:extLst>
                    <a:ext uri="{9D8B030D-6E8A-4147-A177-3AD203B41FA5}">
                      <a16:colId xmlns:a16="http://schemas.microsoft.com/office/drawing/2014/main" val="2204580905"/>
                    </a:ext>
                  </a:extLst>
                </a:gridCol>
                <a:gridCol w="1020725">
                  <a:extLst>
                    <a:ext uri="{9D8B030D-6E8A-4147-A177-3AD203B41FA5}">
                      <a16:colId xmlns:a16="http://schemas.microsoft.com/office/drawing/2014/main" val="253053857"/>
                    </a:ext>
                  </a:extLst>
                </a:gridCol>
                <a:gridCol w="988828">
                  <a:extLst>
                    <a:ext uri="{9D8B030D-6E8A-4147-A177-3AD203B41FA5}">
                      <a16:colId xmlns:a16="http://schemas.microsoft.com/office/drawing/2014/main" val="1733008077"/>
                    </a:ext>
                  </a:extLst>
                </a:gridCol>
              </a:tblGrid>
              <a:tr h="475522">
                <a:tc>
                  <a:txBody>
                    <a:bodyPr/>
                    <a:lstStyle/>
                    <a:p>
                      <a:r>
                        <a:rPr lang="en-US" sz="1200" err="1"/>
                        <a:t>sample_number</a:t>
                      </a:r>
                      <a:endParaRPr lang="en-US" sz="1200"/>
                    </a:p>
                  </a:txBody>
                  <a:tcPr marL="121920" marR="121920" marT="60960" marB="60960"/>
                </a:tc>
                <a:tc>
                  <a:txBody>
                    <a:bodyPr/>
                    <a:lstStyle/>
                    <a:p>
                      <a:r>
                        <a:rPr lang="en-US" sz="1200"/>
                        <a:t>temperature: </a:t>
                      </a:r>
                      <a:r>
                        <a:rPr lang="en-US" sz="1200" err="1"/>
                        <a:t>deg_c</a:t>
                      </a:r>
                      <a:endParaRPr lang="en-US" sz="1200"/>
                    </a:p>
                  </a:txBody>
                  <a:tcPr marL="121920" marR="121920" marT="60960" marB="60960"/>
                </a:tc>
                <a:tc>
                  <a:txBody>
                    <a:bodyPr/>
                    <a:lstStyle/>
                    <a:p>
                      <a:r>
                        <a:rPr lang="en-US" sz="1200"/>
                        <a:t>viscosity: cp</a:t>
                      </a:r>
                    </a:p>
                  </a:txBody>
                  <a:tcPr marL="121920" marR="121920" marT="60960" marB="60960"/>
                </a:tc>
                <a:tc>
                  <a:txBody>
                    <a:bodyPr/>
                    <a:lstStyle/>
                    <a:p>
                      <a:r>
                        <a:rPr lang="en-US" sz="1200"/>
                        <a:t>material: </a:t>
                      </a:r>
                      <a:r>
                        <a:rPr lang="en-US" sz="1200" err="1"/>
                        <a:t>sae_grade</a:t>
                      </a:r>
                      <a:endParaRPr lang="en-US" sz="1200"/>
                    </a:p>
                  </a:txBody>
                  <a:tcPr marL="81311" marR="81311" marT="40655" marB="40655"/>
                </a:tc>
                <a:extLst>
                  <a:ext uri="{0D108BD9-81ED-4DB2-BD59-A6C34878D82A}">
                    <a16:rowId xmlns:a16="http://schemas.microsoft.com/office/drawing/2014/main" val="1107157796"/>
                  </a:ext>
                </a:extLst>
              </a:tr>
              <a:tr h="414750">
                <a:tc>
                  <a:txBody>
                    <a:bodyPr/>
                    <a:lstStyle/>
                    <a:p>
                      <a:r>
                        <a:rPr lang="en-US" sz="1400"/>
                        <a:t>SAM-AB1234</a:t>
                      </a:r>
                    </a:p>
                  </a:txBody>
                  <a:tcPr marL="121920" marR="121920" marT="60960" marB="60960"/>
                </a:tc>
                <a:tc>
                  <a:txBody>
                    <a:bodyPr/>
                    <a:lstStyle/>
                    <a:p>
                      <a:r>
                        <a:rPr lang="en-US" sz="1400"/>
                        <a:t>20.0</a:t>
                      </a:r>
                    </a:p>
                  </a:txBody>
                  <a:tcPr marL="121920" marR="121920" marT="60960" marB="60960"/>
                </a:tc>
                <a:tc>
                  <a:txBody>
                    <a:bodyPr/>
                    <a:lstStyle/>
                    <a:p>
                      <a:r>
                        <a:rPr lang="en-US" sz="1400" dirty="0"/>
                        <a:t>286</a:t>
                      </a:r>
                    </a:p>
                  </a:txBody>
                  <a:tcPr marL="121920" marR="121920" marT="60960" marB="60960"/>
                </a:tc>
                <a:tc>
                  <a:txBody>
                    <a:bodyPr/>
                    <a:lstStyle/>
                    <a:p>
                      <a:r>
                        <a:rPr lang="en-US" sz="1400" dirty="0"/>
                        <a:t>15W40</a:t>
                      </a:r>
                    </a:p>
                  </a:txBody>
                  <a:tcPr marL="81311" marR="81311" marT="40655" marB="40655"/>
                </a:tc>
                <a:extLst>
                  <a:ext uri="{0D108BD9-81ED-4DB2-BD59-A6C34878D82A}">
                    <a16:rowId xmlns:a16="http://schemas.microsoft.com/office/drawing/2014/main" val="1919681070"/>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SAM-AB1235</a:t>
                      </a:r>
                    </a:p>
                  </a:txBody>
                  <a:tcPr marL="121920" marR="121920" marT="60960" marB="60960"/>
                </a:tc>
                <a:tc>
                  <a:txBody>
                    <a:bodyPr/>
                    <a:lstStyle/>
                    <a:p>
                      <a:r>
                        <a:rPr lang="en-US" sz="1400"/>
                        <a:t>30.0</a:t>
                      </a:r>
                    </a:p>
                  </a:txBody>
                  <a:tcPr marL="121920" marR="121920" marT="60960" marB="60960"/>
                </a:tc>
                <a:tc>
                  <a:txBody>
                    <a:bodyPr/>
                    <a:lstStyle/>
                    <a:p>
                      <a:r>
                        <a:rPr lang="en-US" sz="1400"/>
                        <a:t>154</a:t>
                      </a:r>
                    </a:p>
                  </a:txBody>
                  <a:tcPr marL="121920" marR="121920" marT="60960" marB="60960"/>
                </a:tc>
                <a:tc>
                  <a:txBody>
                    <a:bodyPr/>
                    <a:lstStyle/>
                    <a:p>
                      <a:r>
                        <a:rPr lang="en-US" sz="1400" dirty="0"/>
                        <a:t>15W40</a:t>
                      </a:r>
                    </a:p>
                  </a:txBody>
                  <a:tcPr marL="81311" marR="81311" marT="40655" marB="40655"/>
                </a:tc>
                <a:extLst>
                  <a:ext uri="{0D108BD9-81ED-4DB2-BD59-A6C34878D82A}">
                    <a16:rowId xmlns:a16="http://schemas.microsoft.com/office/drawing/2014/main" val="3264277782"/>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SAM-AB1236</a:t>
                      </a:r>
                    </a:p>
                  </a:txBody>
                  <a:tcPr marL="121920" marR="121920" marT="60960" marB="60960"/>
                </a:tc>
                <a:tc>
                  <a:txBody>
                    <a:bodyPr/>
                    <a:lstStyle/>
                    <a:p>
                      <a:r>
                        <a:rPr lang="en-US" sz="1400"/>
                        <a:t>20.0</a:t>
                      </a:r>
                    </a:p>
                  </a:txBody>
                  <a:tcPr marL="121920" marR="121920" marT="60960" marB="60960"/>
                </a:tc>
                <a:tc>
                  <a:txBody>
                    <a:bodyPr/>
                    <a:lstStyle/>
                    <a:p>
                      <a:r>
                        <a:rPr lang="en-US" sz="1400"/>
                        <a:t>210</a:t>
                      </a:r>
                    </a:p>
                  </a:txBody>
                  <a:tcPr marL="121920" marR="121920" marT="60960" marB="60960"/>
                </a:tc>
                <a:tc>
                  <a:txBody>
                    <a:bodyPr/>
                    <a:lstStyle/>
                    <a:p>
                      <a:r>
                        <a:rPr lang="en-US" sz="1400"/>
                        <a:t>10W-40</a:t>
                      </a:r>
                    </a:p>
                  </a:txBody>
                  <a:tcPr marL="81311" marR="81311" marT="40655" marB="40655"/>
                </a:tc>
                <a:extLst>
                  <a:ext uri="{0D108BD9-81ED-4DB2-BD59-A6C34878D82A}">
                    <a16:rowId xmlns:a16="http://schemas.microsoft.com/office/drawing/2014/main" val="3562596706"/>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SAM-AB1237</a:t>
                      </a:r>
                    </a:p>
                  </a:txBody>
                  <a:tcPr marL="121920" marR="121920" marT="60960" marB="60960"/>
                </a:tc>
                <a:tc>
                  <a:txBody>
                    <a:bodyPr/>
                    <a:lstStyle/>
                    <a:p>
                      <a:r>
                        <a:rPr lang="en-US" sz="1400"/>
                        <a:t>30.0</a:t>
                      </a:r>
                    </a:p>
                  </a:txBody>
                  <a:tcPr marL="121920" marR="121920" marT="60960" marB="60960"/>
                </a:tc>
                <a:tc>
                  <a:txBody>
                    <a:bodyPr/>
                    <a:lstStyle/>
                    <a:p>
                      <a:r>
                        <a:rPr lang="en-US" sz="1400"/>
                        <a:t>121</a:t>
                      </a:r>
                    </a:p>
                  </a:txBody>
                  <a:tcPr marL="121920" marR="121920" marT="60960" marB="60960"/>
                </a:tc>
                <a:tc>
                  <a:txBody>
                    <a:bodyPr/>
                    <a:lstStyle/>
                    <a:p>
                      <a:r>
                        <a:rPr lang="en-US" sz="1400"/>
                        <a:t>10W-40</a:t>
                      </a:r>
                    </a:p>
                  </a:txBody>
                  <a:tcPr marL="81311" marR="81311" marT="40655" marB="40655"/>
                </a:tc>
                <a:extLst>
                  <a:ext uri="{0D108BD9-81ED-4DB2-BD59-A6C34878D82A}">
                    <a16:rowId xmlns:a16="http://schemas.microsoft.com/office/drawing/2014/main" val="2810195785"/>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SAM-AB1238</a:t>
                      </a:r>
                    </a:p>
                  </a:txBody>
                  <a:tcPr marL="121920" marR="121920" marT="60960" marB="60960"/>
                </a:tc>
                <a:tc>
                  <a:txBody>
                    <a:bodyPr/>
                    <a:lstStyle/>
                    <a:p>
                      <a:r>
                        <a:rPr lang="en-US" sz="1400"/>
                        <a:t>20.0</a:t>
                      </a:r>
                    </a:p>
                  </a:txBody>
                  <a:tcPr marL="121920" marR="121920" marT="60960" marB="60960"/>
                </a:tc>
                <a:tc>
                  <a:txBody>
                    <a:bodyPr/>
                    <a:lstStyle/>
                    <a:p>
                      <a:r>
                        <a:rPr lang="en-US" sz="1400"/>
                        <a:t>382</a:t>
                      </a:r>
                    </a:p>
                  </a:txBody>
                  <a:tcPr marL="121920" marR="121920" marT="60960" marB="60960"/>
                </a:tc>
                <a:tc>
                  <a:txBody>
                    <a:bodyPr/>
                    <a:lstStyle/>
                    <a:p>
                      <a:r>
                        <a:rPr lang="en-US" sz="1400"/>
                        <a:t>10W-60</a:t>
                      </a:r>
                    </a:p>
                  </a:txBody>
                  <a:tcPr marL="81311" marR="81311" marT="40655" marB="40655"/>
                </a:tc>
                <a:extLst>
                  <a:ext uri="{0D108BD9-81ED-4DB2-BD59-A6C34878D82A}">
                    <a16:rowId xmlns:a16="http://schemas.microsoft.com/office/drawing/2014/main" val="162406719"/>
                  </a:ext>
                </a:extLst>
              </a:tr>
              <a:tr h="4147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SAM-AB1241</a:t>
                      </a:r>
                    </a:p>
                  </a:txBody>
                  <a:tcPr marL="121920" marR="121920" marT="60960" marB="60960"/>
                </a:tc>
                <a:tc>
                  <a:txBody>
                    <a:bodyPr/>
                    <a:lstStyle/>
                    <a:p>
                      <a:r>
                        <a:rPr lang="en-US" sz="1400"/>
                        <a:t>30.0</a:t>
                      </a:r>
                    </a:p>
                  </a:txBody>
                  <a:tcPr marL="121920" marR="121920" marT="60960" marB="60960"/>
                </a:tc>
                <a:tc>
                  <a:txBody>
                    <a:bodyPr/>
                    <a:lstStyle/>
                    <a:p>
                      <a:r>
                        <a:rPr lang="en-US" sz="1400"/>
                        <a:t>221</a:t>
                      </a:r>
                    </a:p>
                  </a:txBody>
                  <a:tcPr marL="121920" marR="121920" marT="60960" marB="60960"/>
                </a:tc>
                <a:tc>
                  <a:txBody>
                    <a:bodyPr/>
                    <a:lstStyle/>
                    <a:p>
                      <a:r>
                        <a:rPr lang="en-US" sz="1400"/>
                        <a:t>10W-60</a:t>
                      </a:r>
                    </a:p>
                  </a:txBody>
                  <a:tcPr marL="81311" marR="81311" marT="40655" marB="40655"/>
                </a:tc>
                <a:extLst>
                  <a:ext uri="{0D108BD9-81ED-4DB2-BD59-A6C34878D82A}">
                    <a16:rowId xmlns:a16="http://schemas.microsoft.com/office/drawing/2014/main" val="2899885508"/>
                  </a:ext>
                </a:extLst>
              </a:tr>
              <a:tr h="41475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dirty="0"/>
                        <a:t>…</a:t>
                      </a:r>
                    </a:p>
                  </a:txBody>
                  <a:tcPr marL="81311" marR="81311" marT="40655" marB="40655"/>
                </a:tc>
                <a:extLst>
                  <a:ext uri="{0D108BD9-81ED-4DB2-BD59-A6C34878D82A}">
                    <a16:rowId xmlns:a16="http://schemas.microsoft.com/office/drawing/2014/main" val="416964310"/>
                  </a:ext>
                </a:extLst>
              </a:tr>
            </a:tbl>
          </a:graphicData>
        </a:graphic>
      </p:graphicFrame>
      <p:graphicFrame>
        <p:nvGraphicFramePr>
          <p:cNvPr id="14" name="Table 7">
            <a:extLst>
              <a:ext uri="{FF2B5EF4-FFF2-40B4-BE49-F238E27FC236}">
                <a16:creationId xmlns:a16="http://schemas.microsoft.com/office/drawing/2014/main" id="{82F0CE5D-5444-D2CA-521B-631E062CF34D}"/>
              </a:ext>
            </a:extLst>
          </p:cNvPr>
          <p:cNvGraphicFramePr>
            <a:graphicFrameLocks noGrp="1"/>
          </p:cNvGraphicFramePr>
          <p:nvPr>
            <p:extLst>
              <p:ext uri="{D42A27DB-BD31-4B8C-83A1-F6EECF244321}">
                <p14:modId xmlns:p14="http://schemas.microsoft.com/office/powerpoint/2010/main" val="1173901874"/>
              </p:ext>
            </p:extLst>
          </p:nvPr>
        </p:nvGraphicFramePr>
        <p:xfrm>
          <a:off x="6332177" y="2585177"/>
          <a:ext cx="4664209" cy="2146680"/>
        </p:xfrm>
        <a:graphic>
          <a:graphicData uri="http://schemas.openxmlformats.org/drawingml/2006/table">
            <a:tbl>
              <a:tblPr firstRow="1" bandRow="1">
                <a:tableStyleId>{5C22544A-7EE6-4342-B048-85BDC9FD1C3A}</a:tableStyleId>
              </a:tblPr>
              <a:tblGrid>
                <a:gridCol w="1006608">
                  <a:extLst>
                    <a:ext uri="{9D8B030D-6E8A-4147-A177-3AD203B41FA5}">
                      <a16:colId xmlns:a16="http://schemas.microsoft.com/office/drawing/2014/main" val="1619538324"/>
                    </a:ext>
                  </a:extLst>
                </a:gridCol>
                <a:gridCol w="1169582">
                  <a:extLst>
                    <a:ext uri="{9D8B030D-6E8A-4147-A177-3AD203B41FA5}">
                      <a16:colId xmlns:a16="http://schemas.microsoft.com/office/drawing/2014/main" val="951282834"/>
                    </a:ext>
                  </a:extLst>
                </a:gridCol>
                <a:gridCol w="1169582">
                  <a:extLst>
                    <a:ext uri="{9D8B030D-6E8A-4147-A177-3AD203B41FA5}">
                      <a16:colId xmlns:a16="http://schemas.microsoft.com/office/drawing/2014/main" val="2204580905"/>
                    </a:ext>
                  </a:extLst>
                </a:gridCol>
                <a:gridCol w="1318437">
                  <a:extLst>
                    <a:ext uri="{9D8B030D-6E8A-4147-A177-3AD203B41FA5}">
                      <a16:colId xmlns:a16="http://schemas.microsoft.com/office/drawing/2014/main" val="253053857"/>
                    </a:ext>
                  </a:extLst>
                </a:gridCol>
              </a:tblGrid>
              <a:tr h="475522">
                <a:tc>
                  <a:txBody>
                    <a:bodyPr/>
                    <a:lstStyle/>
                    <a:p>
                      <a:r>
                        <a:rPr lang="en-US" sz="1200"/>
                        <a:t>material: </a:t>
                      </a:r>
                      <a:r>
                        <a:rPr lang="en-US" sz="1200" err="1"/>
                        <a:t>sae_grade</a:t>
                      </a:r>
                      <a:endParaRPr lang="en-US" sz="1200"/>
                    </a:p>
                  </a:txBody>
                  <a:tcPr marL="121920" marR="121920" marT="60960" marB="60960"/>
                </a:tc>
                <a:tc>
                  <a:txBody>
                    <a:bodyPr/>
                    <a:lstStyle/>
                    <a:p>
                      <a:r>
                        <a:rPr lang="en-US" sz="1200"/>
                        <a:t>temperature: </a:t>
                      </a:r>
                      <a:r>
                        <a:rPr lang="en-US" sz="1200" err="1"/>
                        <a:t>deg_c</a:t>
                      </a:r>
                      <a:endParaRPr lang="en-US" sz="1200"/>
                    </a:p>
                  </a:txBody>
                  <a:tcPr marL="81311" marR="81311" marT="40655" marB="40655"/>
                </a:tc>
                <a:tc>
                  <a:txBody>
                    <a:bodyPr/>
                    <a:lstStyle/>
                    <a:p>
                      <a:r>
                        <a:rPr lang="en-US" sz="1200" err="1"/>
                        <a:t>viscosity_upper_limit</a:t>
                      </a:r>
                      <a:r>
                        <a:rPr lang="en-US" sz="1200"/>
                        <a:t>: cp</a:t>
                      </a:r>
                    </a:p>
                  </a:txBody>
                  <a:tcPr marL="121920" marR="121920" marT="60960" marB="60960"/>
                </a:tc>
                <a:tc>
                  <a:txBody>
                    <a:bodyPr/>
                    <a:lstStyle/>
                    <a:p>
                      <a:r>
                        <a:rPr lang="en-US" sz="1200" err="1"/>
                        <a:t>viscosity_lower_limit</a:t>
                      </a:r>
                      <a:r>
                        <a:rPr lang="en-US" sz="1200"/>
                        <a:t>: cp</a:t>
                      </a:r>
                    </a:p>
                  </a:txBody>
                  <a:tcPr marL="121920" marR="121920" marT="60960" marB="60960"/>
                </a:tc>
                <a:extLst>
                  <a:ext uri="{0D108BD9-81ED-4DB2-BD59-A6C34878D82A}">
                    <a16:rowId xmlns:a16="http://schemas.microsoft.com/office/drawing/2014/main" val="1107157796"/>
                  </a:ext>
                </a:extLst>
              </a:tr>
              <a:tr h="414750">
                <a:tc>
                  <a:txBody>
                    <a:bodyPr/>
                    <a:lstStyle/>
                    <a:p>
                      <a:r>
                        <a:rPr lang="en-US" sz="1400" dirty="0"/>
                        <a:t>15W-40</a:t>
                      </a:r>
                    </a:p>
                  </a:txBody>
                  <a:tcPr marL="121920" marR="121920" marT="60960" marB="60960"/>
                </a:tc>
                <a:tc>
                  <a:txBody>
                    <a:bodyPr/>
                    <a:lstStyle/>
                    <a:p>
                      <a:r>
                        <a:rPr lang="en-US" sz="1400" dirty="0"/>
                        <a:t>20</a:t>
                      </a:r>
                    </a:p>
                  </a:txBody>
                  <a:tcPr marL="81311" marR="81311" marT="40655" marB="40655"/>
                </a:tc>
                <a:tc>
                  <a:txBody>
                    <a:bodyPr/>
                    <a:lstStyle/>
                    <a:p>
                      <a:r>
                        <a:rPr lang="en-US" sz="1400"/>
                        <a:t>290</a:t>
                      </a:r>
                    </a:p>
                  </a:txBody>
                  <a:tcPr marL="121920" marR="121920" marT="60960" marB="60960"/>
                </a:tc>
                <a:tc>
                  <a:txBody>
                    <a:bodyPr/>
                    <a:lstStyle/>
                    <a:p>
                      <a:r>
                        <a:rPr lang="en-US" sz="1400"/>
                        <a:t>285</a:t>
                      </a:r>
                    </a:p>
                  </a:txBody>
                  <a:tcPr marL="121920" marR="121920" marT="60960" marB="60960"/>
                </a:tc>
                <a:extLst>
                  <a:ext uri="{0D108BD9-81ED-4DB2-BD59-A6C34878D82A}">
                    <a16:rowId xmlns:a16="http://schemas.microsoft.com/office/drawing/2014/main" val="1919681070"/>
                  </a:ext>
                </a:extLst>
              </a:tr>
              <a:tr h="414750">
                <a:tc>
                  <a:txBody>
                    <a:bodyPr/>
                    <a:lstStyle/>
                    <a:p>
                      <a:r>
                        <a:rPr lang="en-US" sz="1400"/>
                        <a:t>10W-40</a:t>
                      </a:r>
                    </a:p>
                  </a:txBody>
                  <a:tcPr marL="121920" marR="121920" marT="60960" marB="60960"/>
                </a:tc>
                <a:tc>
                  <a:txBody>
                    <a:bodyPr/>
                    <a:lstStyle/>
                    <a:p>
                      <a:r>
                        <a:rPr lang="en-US" sz="1400"/>
                        <a:t>20</a:t>
                      </a:r>
                    </a:p>
                  </a:txBody>
                  <a:tcPr marL="81311" marR="81311" marT="40655" marB="40655"/>
                </a:tc>
                <a:tc>
                  <a:txBody>
                    <a:bodyPr/>
                    <a:lstStyle/>
                    <a:p>
                      <a:r>
                        <a:rPr lang="en-US" sz="1400"/>
                        <a:t>210</a:t>
                      </a:r>
                    </a:p>
                  </a:txBody>
                  <a:tcPr marL="121920" marR="121920" marT="60960" marB="60960"/>
                </a:tc>
                <a:tc>
                  <a:txBody>
                    <a:bodyPr/>
                    <a:lstStyle/>
                    <a:p>
                      <a:r>
                        <a:rPr lang="en-US" sz="1400"/>
                        <a:t>205</a:t>
                      </a:r>
                    </a:p>
                  </a:txBody>
                  <a:tcPr marL="121920" marR="121920" marT="60960" marB="60960"/>
                </a:tc>
                <a:extLst>
                  <a:ext uri="{0D108BD9-81ED-4DB2-BD59-A6C34878D82A}">
                    <a16:rowId xmlns:a16="http://schemas.microsoft.com/office/drawing/2014/main" val="3264277782"/>
                  </a:ext>
                </a:extLst>
              </a:tr>
              <a:tr h="414750">
                <a:tc>
                  <a:txBody>
                    <a:bodyPr/>
                    <a:lstStyle/>
                    <a:p>
                      <a:r>
                        <a:rPr lang="en-US" sz="1400"/>
                        <a:t>10W-60</a:t>
                      </a:r>
                    </a:p>
                  </a:txBody>
                  <a:tcPr marL="121920" marR="121920" marT="60960" marB="60960"/>
                </a:tc>
                <a:tc>
                  <a:txBody>
                    <a:bodyPr/>
                    <a:lstStyle/>
                    <a:p>
                      <a:r>
                        <a:rPr lang="en-US" sz="1400"/>
                        <a:t>20</a:t>
                      </a:r>
                    </a:p>
                  </a:txBody>
                  <a:tcPr marL="81311" marR="81311" marT="40655" marB="40655"/>
                </a:tc>
                <a:tc>
                  <a:txBody>
                    <a:bodyPr/>
                    <a:lstStyle/>
                    <a:p>
                      <a:r>
                        <a:rPr lang="en-US" sz="1400"/>
                        <a:t>377</a:t>
                      </a:r>
                    </a:p>
                  </a:txBody>
                  <a:tcPr marL="121920" marR="121920" marT="60960" marB="60960"/>
                </a:tc>
                <a:tc>
                  <a:txBody>
                    <a:bodyPr/>
                    <a:lstStyle/>
                    <a:p>
                      <a:r>
                        <a:rPr lang="en-US" sz="1400"/>
                        <a:t>382</a:t>
                      </a:r>
                    </a:p>
                  </a:txBody>
                  <a:tcPr marL="121920" marR="121920" marT="60960" marB="60960"/>
                </a:tc>
                <a:extLst>
                  <a:ext uri="{0D108BD9-81ED-4DB2-BD59-A6C34878D82A}">
                    <a16:rowId xmlns:a16="http://schemas.microsoft.com/office/drawing/2014/main" val="3562596706"/>
                  </a:ext>
                </a:extLst>
              </a:tr>
              <a:tr h="41475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81311" marR="81311" marT="40655" marB="40655"/>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1400"/>
                        <a:t>…</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a:t>
                      </a:r>
                    </a:p>
                  </a:txBody>
                  <a:tcPr marL="121920" marR="121920" marT="60960" marB="60960"/>
                </a:tc>
                <a:extLst>
                  <a:ext uri="{0D108BD9-81ED-4DB2-BD59-A6C34878D82A}">
                    <a16:rowId xmlns:a16="http://schemas.microsoft.com/office/drawing/2014/main" val="492351143"/>
                  </a:ext>
                </a:extLst>
              </a:tr>
            </a:tbl>
          </a:graphicData>
        </a:graphic>
      </p:graphicFrame>
      <p:sp>
        <p:nvSpPr>
          <p:cNvPr id="15" name="TextBox 14">
            <a:extLst>
              <a:ext uri="{FF2B5EF4-FFF2-40B4-BE49-F238E27FC236}">
                <a16:creationId xmlns:a16="http://schemas.microsoft.com/office/drawing/2014/main" id="{8637B1F4-390D-B872-105B-F1EFD04035FF}"/>
              </a:ext>
            </a:extLst>
          </p:cNvPr>
          <p:cNvSpPr txBox="1"/>
          <p:nvPr/>
        </p:nvSpPr>
        <p:spPr>
          <a:xfrm>
            <a:off x="6316228" y="4753579"/>
            <a:ext cx="4565522" cy="296444"/>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15364"/>
                </a:solidFill>
                <a:effectLst/>
                <a:uLnTx/>
                <a:uFillTx/>
                <a:latin typeface="Arial" panose="020B0604020202020204"/>
                <a:ea typeface="+mn-ea"/>
                <a:cs typeface="+mn-cs"/>
              </a:rPr>
              <a:t>Fictitious data</a:t>
            </a:r>
          </a:p>
        </p:txBody>
      </p:sp>
      <p:grpSp>
        <p:nvGrpSpPr>
          <p:cNvPr id="7" name="Group 6">
            <a:extLst>
              <a:ext uri="{FF2B5EF4-FFF2-40B4-BE49-F238E27FC236}">
                <a16:creationId xmlns:a16="http://schemas.microsoft.com/office/drawing/2014/main" id="{F03A81FF-D550-7034-9A83-311A74AFD4D6}"/>
              </a:ext>
            </a:extLst>
          </p:cNvPr>
          <p:cNvGrpSpPr/>
          <p:nvPr/>
        </p:nvGrpSpPr>
        <p:grpSpPr>
          <a:xfrm>
            <a:off x="4457364" y="2474834"/>
            <a:ext cx="2874275" cy="891296"/>
            <a:chOff x="4572000" y="2570567"/>
            <a:chExt cx="2874275" cy="1114267"/>
          </a:xfrm>
        </p:grpSpPr>
        <p:sp>
          <p:nvSpPr>
            <p:cNvPr id="11" name="Rectangle 10">
              <a:extLst>
                <a:ext uri="{FF2B5EF4-FFF2-40B4-BE49-F238E27FC236}">
                  <a16:creationId xmlns:a16="http://schemas.microsoft.com/office/drawing/2014/main" id="{6A3A635C-556C-528F-9B22-B87B226E27C3}"/>
                </a:ext>
              </a:extLst>
            </p:cNvPr>
            <p:cNvSpPr/>
            <p:nvPr/>
          </p:nvSpPr>
          <p:spPr>
            <a:xfrm>
              <a:off x="4572000" y="2570567"/>
              <a:ext cx="999460" cy="901367"/>
            </a:xfrm>
            <a:prstGeom prst="rect">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73ABCF5A-0D71-36FF-4EB2-7CB593B08ABB}"/>
                </a:ext>
              </a:extLst>
            </p:cNvPr>
            <p:cNvSpPr/>
            <p:nvPr/>
          </p:nvSpPr>
          <p:spPr>
            <a:xfrm>
              <a:off x="6446815" y="3177541"/>
              <a:ext cx="999460" cy="507293"/>
            </a:xfrm>
            <a:prstGeom prst="rect">
              <a:avLst/>
            </a:prstGeom>
            <a:noFill/>
            <a:ln w="381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0" name="Connector: Elbow 19">
              <a:extLst>
                <a:ext uri="{FF2B5EF4-FFF2-40B4-BE49-F238E27FC236}">
                  <a16:creationId xmlns:a16="http://schemas.microsoft.com/office/drawing/2014/main" id="{66E011A3-720D-7EE4-84B5-B2C146A0CC9C}"/>
                </a:ext>
              </a:extLst>
            </p:cNvPr>
            <p:cNvCxnSpPr>
              <a:stCxn id="11" idx="3"/>
            </p:cNvCxnSpPr>
            <p:nvPr/>
          </p:nvCxnSpPr>
          <p:spPr>
            <a:xfrm>
              <a:off x="5571460" y="3021251"/>
              <a:ext cx="875355" cy="363648"/>
            </a:xfrm>
            <a:prstGeom prst="bentConnector3">
              <a:avLst/>
            </a:prstGeom>
            <a:ln w="38100">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a:extLst>
              <a:ext uri="{FF2B5EF4-FFF2-40B4-BE49-F238E27FC236}">
                <a16:creationId xmlns:a16="http://schemas.microsoft.com/office/drawing/2014/main" id="{34BC7F0B-FA48-A9F4-3125-74278FD447A4}"/>
              </a:ext>
            </a:extLst>
          </p:cNvPr>
          <p:cNvGrpSpPr/>
          <p:nvPr/>
        </p:nvGrpSpPr>
        <p:grpSpPr>
          <a:xfrm>
            <a:off x="4457364" y="3279250"/>
            <a:ext cx="2874275" cy="720999"/>
            <a:chOff x="4572000" y="3395532"/>
            <a:chExt cx="2874275" cy="901367"/>
          </a:xfrm>
        </p:grpSpPr>
        <p:sp>
          <p:nvSpPr>
            <p:cNvPr id="12" name="Rectangle 11">
              <a:extLst>
                <a:ext uri="{FF2B5EF4-FFF2-40B4-BE49-F238E27FC236}">
                  <a16:creationId xmlns:a16="http://schemas.microsoft.com/office/drawing/2014/main" id="{7563F5B0-F3EC-FCDB-9CBB-A41B76EAC395}"/>
                </a:ext>
              </a:extLst>
            </p:cNvPr>
            <p:cNvSpPr/>
            <p:nvPr/>
          </p:nvSpPr>
          <p:spPr>
            <a:xfrm>
              <a:off x="4572000" y="3395532"/>
              <a:ext cx="999460" cy="901367"/>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7" name="Rectangle 16">
              <a:extLst>
                <a:ext uri="{FF2B5EF4-FFF2-40B4-BE49-F238E27FC236}">
                  <a16:creationId xmlns:a16="http://schemas.microsoft.com/office/drawing/2014/main" id="{80A6456F-F763-AFB0-3D0E-4653B8E9EA71}"/>
                </a:ext>
              </a:extLst>
            </p:cNvPr>
            <p:cNvSpPr/>
            <p:nvPr/>
          </p:nvSpPr>
          <p:spPr>
            <a:xfrm>
              <a:off x="6446815" y="3598495"/>
              <a:ext cx="999460" cy="50729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1" name="Connector: Elbow 20">
              <a:extLst>
                <a:ext uri="{FF2B5EF4-FFF2-40B4-BE49-F238E27FC236}">
                  <a16:creationId xmlns:a16="http://schemas.microsoft.com/office/drawing/2014/main" id="{99EC110F-3821-3B87-0C9F-65AC341D288B}"/>
                </a:ext>
              </a:extLst>
            </p:cNvPr>
            <p:cNvCxnSpPr>
              <a:cxnSpLocks/>
              <a:stCxn id="12" idx="3"/>
              <a:endCxn id="17" idx="1"/>
            </p:cNvCxnSpPr>
            <p:nvPr/>
          </p:nvCxnSpPr>
          <p:spPr>
            <a:xfrm>
              <a:off x="5571460" y="3846216"/>
              <a:ext cx="875355" cy="5926"/>
            </a:xfrm>
            <a:prstGeom prst="bentConnector3">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EEE36C14-9FE4-5B3B-837E-20EB390355AB}"/>
              </a:ext>
            </a:extLst>
          </p:cNvPr>
          <p:cNvGrpSpPr/>
          <p:nvPr/>
        </p:nvGrpSpPr>
        <p:grpSpPr>
          <a:xfrm>
            <a:off x="4452048" y="3924742"/>
            <a:ext cx="2879591" cy="911029"/>
            <a:chOff x="4566684" y="3989654"/>
            <a:chExt cx="2879591" cy="1138936"/>
          </a:xfrm>
        </p:grpSpPr>
        <p:sp>
          <p:nvSpPr>
            <p:cNvPr id="13" name="Rectangle 12">
              <a:extLst>
                <a:ext uri="{FF2B5EF4-FFF2-40B4-BE49-F238E27FC236}">
                  <a16:creationId xmlns:a16="http://schemas.microsoft.com/office/drawing/2014/main" id="{F72B1F11-30C3-F547-01CF-049C27DFAEBD}"/>
                </a:ext>
              </a:extLst>
            </p:cNvPr>
            <p:cNvSpPr/>
            <p:nvPr/>
          </p:nvSpPr>
          <p:spPr>
            <a:xfrm>
              <a:off x="4566684" y="4227223"/>
              <a:ext cx="999460" cy="901367"/>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Rectangle 17">
              <a:extLst>
                <a:ext uri="{FF2B5EF4-FFF2-40B4-BE49-F238E27FC236}">
                  <a16:creationId xmlns:a16="http://schemas.microsoft.com/office/drawing/2014/main" id="{298CAC50-3BDC-BDF3-1618-EF9E7D346BAD}"/>
                </a:ext>
              </a:extLst>
            </p:cNvPr>
            <p:cNvSpPr/>
            <p:nvPr/>
          </p:nvSpPr>
          <p:spPr>
            <a:xfrm>
              <a:off x="6446815" y="3989654"/>
              <a:ext cx="999460" cy="507293"/>
            </a:xfrm>
            <a:prstGeom prst="rect">
              <a:avLst/>
            </a:prstGeom>
            <a:noFill/>
            <a:ln w="381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cxnSp>
          <p:nvCxnSpPr>
            <p:cNvPr id="24" name="Connector: Elbow 23">
              <a:extLst>
                <a:ext uri="{FF2B5EF4-FFF2-40B4-BE49-F238E27FC236}">
                  <a16:creationId xmlns:a16="http://schemas.microsoft.com/office/drawing/2014/main" id="{53AEF1D4-849B-BD7D-E3AE-077E94654F63}"/>
                </a:ext>
              </a:extLst>
            </p:cNvPr>
            <p:cNvCxnSpPr>
              <a:cxnSpLocks/>
              <a:stCxn id="13" idx="3"/>
              <a:endCxn id="18" idx="1"/>
            </p:cNvCxnSpPr>
            <p:nvPr/>
          </p:nvCxnSpPr>
          <p:spPr>
            <a:xfrm flipV="1">
              <a:off x="5566144" y="4243301"/>
              <a:ext cx="880671" cy="434606"/>
            </a:xfrm>
            <a:prstGeom prst="bentConnector3">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90E2E09A-C68D-893B-937D-256CFD0C40F9}"/>
              </a:ext>
            </a:extLst>
          </p:cNvPr>
          <p:cNvSpPr txBox="1"/>
          <p:nvPr/>
        </p:nvSpPr>
        <p:spPr>
          <a:xfrm>
            <a:off x="2010913" y="5438354"/>
            <a:ext cx="8170174" cy="523220"/>
          </a:xfrm>
          <a:prstGeom prst="rect">
            <a:avLst/>
          </a:prstGeom>
          <a:noFill/>
        </p:spPr>
        <p:txBody>
          <a:bodyPr wrap="square">
            <a:spAutoFit/>
          </a:bodyPr>
          <a:lstStyle/>
          <a:p>
            <a:pPr lvl="0" algn="ctr" defTabSz="914400">
              <a:defRPr/>
            </a:pPr>
            <a:r>
              <a:rPr lang="en-US" sz="2800" dirty="0">
                <a:solidFill>
                  <a:schemeClr val="tx2"/>
                </a:solidFill>
                <a:latin typeface="Arial" panose="020B0604020202020204"/>
              </a:rPr>
              <a:t>Even small spelling differences will break the join</a:t>
            </a:r>
            <a:endParaRPr lang="en-US" sz="2000" dirty="0">
              <a:solidFill>
                <a:schemeClr val="tx2"/>
              </a:solidFill>
              <a:latin typeface="Arial" panose="020B0604020202020204"/>
            </a:endParaRPr>
          </a:p>
        </p:txBody>
      </p:sp>
      <p:sp>
        <p:nvSpPr>
          <p:cNvPr id="6" name="TextBox 5">
            <a:extLst>
              <a:ext uri="{FF2B5EF4-FFF2-40B4-BE49-F238E27FC236}">
                <a16:creationId xmlns:a16="http://schemas.microsoft.com/office/drawing/2014/main" id="{247E8509-920C-13B8-BEAE-6C59367AF974}"/>
              </a:ext>
            </a:extLst>
          </p:cNvPr>
          <p:cNvSpPr txBox="1"/>
          <p:nvPr/>
        </p:nvSpPr>
        <p:spPr>
          <a:xfrm>
            <a:off x="1822360" y="1151096"/>
            <a:ext cx="8547280" cy="523220"/>
          </a:xfrm>
          <a:prstGeom prst="rect">
            <a:avLst/>
          </a:prstGeom>
          <a:noFill/>
        </p:spPr>
        <p:txBody>
          <a:bodyPr wrap="square">
            <a:spAutoFit/>
          </a:bodyPr>
          <a:lstStyle/>
          <a:p>
            <a:pPr lvl="0" algn="ctr" defTabSz="914400">
              <a:defRPr/>
            </a:pPr>
            <a:r>
              <a:rPr lang="en-US" sz="2800" dirty="0">
                <a:solidFill>
                  <a:schemeClr val="tx2"/>
                </a:solidFill>
                <a:latin typeface="Arial" panose="020B0604020202020204"/>
              </a:rPr>
              <a:t>But the identifiers themselves must match</a:t>
            </a:r>
            <a:endParaRPr lang="en-US" sz="2000" dirty="0">
              <a:solidFill>
                <a:schemeClr val="tx2"/>
              </a:solidFill>
              <a:latin typeface="Arial" panose="020B0604020202020204"/>
            </a:endParaRPr>
          </a:p>
        </p:txBody>
      </p:sp>
      <p:sp>
        <p:nvSpPr>
          <p:cNvPr id="22" name="Cross 21">
            <a:extLst>
              <a:ext uri="{FF2B5EF4-FFF2-40B4-BE49-F238E27FC236}">
                <a16:creationId xmlns:a16="http://schemas.microsoft.com/office/drawing/2014/main" id="{887F855B-C0C8-B9F2-98E6-6157D68C9366}"/>
              </a:ext>
            </a:extLst>
          </p:cNvPr>
          <p:cNvSpPr/>
          <p:nvPr/>
        </p:nvSpPr>
        <p:spPr>
          <a:xfrm rot="2675404">
            <a:off x="5554964" y="2523186"/>
            <a:ext cx="750685" cy="750685"/>
          </a:xfrm>
          <a:prstGeom prst="plus">
            <a:avLst>
              <a:gd name="adj" fmla="val 41201"/>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0933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85406-361F-629E-44DE-D68AF54B383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F1D7785-F4F0-EF55-B962-1B1D7F1DB4BB}"/>
              </a:ext>
            </a:extLst>
          </p:cNvPr>
          <p:cNvSpPr>
            <a:spLocks noGrp="1"/>
          </p:cNvSpPr>
          <p:nvPr>
            <p:ph type="title"/>
          </p:nvPr>
        </p:nvSpPr>
        <p:spPr/>
        <p:txBody>
          <a:bodyPr/>
          <a:lstStyle/>
          <a:p>
            <a:r>
              <a:rPr lang="en-US"/>
              <a:t>Knowledge check: Data relationships</a:t>
            </a:r>
          </a:p>
        </p:txBody>
      </p:sp>
      <p:sp>
        <p:nvSpPr>
          <p:cNvPr id="6" name="Text Placeholder 5">
            <a:extLst>
              <a:ext uri="{FF2B5EF4-FFF2-40B4-BE49-F238E27FC236}">
                <a16:creationId xmlns:a16="http://schemas.microsoft.com/office/drawing/2014/main" id="{A0A4E350-6D8D-9D0E-2705-BD8D2C71900E}"/>
              </a:ext>
            </a:extLst>
          </p:cNvPr>
          <p:cNvSpPr>
            <a:spLocks noGrp="1"/>
          </p:cNvSpPr>
          <p:nvPr>
            <p:ph idx="1"/>
          </p:nvPr>
        </p:nvSpPr>
        <p:spPr>
          <a:xfrm>
            <a:off x="457200" y="1134685"/>
            <a:ext cx="11080376" cy="596048"/>
          </a:xfrm>
        </p:spPr>
        <p:txBody>
          <a:bodyPr>
            <a:normAutofit/>
          </a:bodyPr>
          <a:lstStyle/>
          <a:p>
            <a:pPr marL="0" indent="0">
              <a:buNone/>
            </a:pPr>
            <a:r>
              <a:rPr lang="en-US" sz="2800" dirty="0"/>
              <a:t>Which of the following pairs of tables enables a data relationship?</a:t>
            </a:r>
          </a:p>
          <a:p>
            <a:endParaRPr lang="en-US" sz="2800" dirty="0"/>
          </a:p>
        </p:txBody>
      </p:sp>
      <p:sp>
        <p:nvSpPr>
          <p:cNvPr id="4" name="Date Placeholder 3">
            <a:extLst>
              <a:ext uri="{FF2B5EF4-FFF2-40B4-BE49-F238E27FC236}">
                <a16:creationId xmlns:a16="http://schemas.microsoft.com/office/drawing/2014/main" id="{2C033BB9-7621-05CC-73A6-AF79CCCA627E}"/>
              </a:ext>
            </a:extLst>
          </p:cNvPr>
          <p:cNvSpPr>
            <a:spLocks noGrp="1"/>
          </p:cNvSpPr>
          <p:nvPr>
            <p:ph type="dt" sz="half"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sp>
        <p:nvSpPr>
          <p:cNvPr id="2" name="Slide Number Placeholder 1">
            <a:extLst>
              <a:ext uri="{FF2B5EF4-FFF2-40B4-BE49-F238E27FC236}">
                <a16:creationId xmlns:a16="http://schemas.microsoft.com/office/drawing/2014/main" id="{6388B67C-C0BF-01CE-FC58-9CA648B39A0D}"/>
              </a:ext>
            </a:extLst>
          </p:cNvPr>
          <p:cNvSpPr>
            <a:spLocks noGrp="1"/>
          </p:cNvSpPr>
          <p:nvPr>
            <p:ph type="sldNum" sz="quarter"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6D1532F-61F1-B941-ACDF-6BC65E0B4055}" type="slidenum">
              <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rPr>
              <a:pPr marL="0" marR="0" lvl="0" indent="0" algn="r" defTabSz="1219170" rtl="0" eaLnBrk="1" fontAlgn="auto" latinLnBrk="0" hangingPunct="1">
                <a:lnSpc>
                  <a:spcPct val="100000"/>
                </a:lnSpc>
                <a:spcBef>
                  <a:spcPts val="0"/>
                </a:spcBef>
                <a:spcAft>
                  <a:spcPts val="0"/>
                </a:spcAft>
                <a:buClrTx/>
                <a:buSzTx/>
                <a:buFontTx/>
                <a:buNone/>
                <a:tabLst/>
                <a:defRPr/>
              </a:pPr>
              <a:t>27</a:t>
            </a:fld>
            <a:endParaRPr kumimoji="0" lang="en-US" sz="1200" b="1" i="0" u="none" strike="noStrike" kern="1200" cap="none" spc="0" normalizeH="0" baseline="0" noProof="0">
              <a:ln>
                <a:noFill/>
              </a:ln>
              <a:solidFill>
                <a:srgbClr val="415364">
                  <a:lumMod val="60000"/>
                  <a:lumOff val="40000"/>
                </a:srgbClr>
              </a:solidFill>
              <a:effectLst/>
              <a:uLnTx/>
              <a:uFillTx/>
              <a:latin typeface="Arial" panose="020B0604020202020204" pitchFamily="34" charset="0"/>
              <a:ea typeface="+mn-ea"/>
              <a:cs typeface="Arial" panose="020B0604020202020204" pitchFamily="34" charset="0"/>
            </a:endParaRPr>
          </a:p>
        </p:txBody>
      </p:sp>
      <p:graphicFrame>
        <p:nvGraphicFramePr>
          <p:cNvPr id="22" name="Table 7">
            <a:extLst>
              <a:ext uri="{FF2B5EF4-FFF2-40B4-BE49-F238E27FC236}">
                <a16:creationId xmlns:a16="http://schemas.microsoft.com/office/drawing/2014/main" id="{C7D36E70-5C7D-C7B9-BB23-8247B06190DB}"/>
              </a:ext>
            </a:extLst>
          </p:cNvPr>
          <p:cNvGraphicFramePr>
            <a:graphicFrameLocks noGrp="1"/>
          </p:cNvGraphicFramePr>
          <p:nvPr>
            <p:extLst>
              <p:ext uri="{D42A27DB-BD31-4B8C-83A1-F6EECF244321}">
                <p14:modId xmlns:p14="http://schemas.microsoft.com/office/powerpoint/2010/main" val="645325503"/>
              </p:ext>
            </p:extLst>
          </p:nvPr>
        </p:nvGraphicFramePr>
        <p:xfrm>
          <a:off x="1656953" y="1842094"/>
          <a:ext cx="4669419" cy="1341120"/>
        </p:xfrm>
        <a:graphic>
          <a:graphicData uri="http://schemas.openxmlformats.org/drawingml/2006/table">
            <a:tbl>
              <a:tblPr firstRow="1" bandRow="1">
                <a:tableStyleId>{5C22544A-7EE6-4342-B048-85BDC9FD1C3A}</a:tableStyleId>
              </a:tblPr>
              <a:tblGrid>
                <a:gridCol w="1374644">
                  <a:extLst>
                    <a:ext uri="{9D8B030D-6E8A-4147-A177-3AD203B41FA5}">
                      <a16:colId xmlns:a16="http://schemas.microsoft.com/office/drawing/2014/main" val="1619538324"/>
                    </a:ext>
                  </a:extLst>
                </a:gridCol>
                <a:gridCol w="1604198">
                  <a:extLst>
                    <a:ext uri="{9D8B030D-6E8A-4147-A177-3AD203B41FA5}">
                      <a16:colId xmlns:a16="http://schemas.microsoft.com/office/drawing/2014/main" val="2204580905"/>
                    </a:ext>
                  </a:extLst>
                </a:gridCol>
                <a:gridCol w="1690577">
                  <a:extLst>
                    <a:ext uri="{9D8B030D-6E8A-4147-A177-3AD203B41FA5}">
                      <a16:colId xmlns:a16="http://schemas.microsoft.com/office/drawing/2014/main" val="253053857"/>
                    </a:ext>
                  </a:extLst>
                </a:gridCol>
              </a:tblGrid>
              <a:tr h="541629">
                <a:tc>
                  <a:txBody>
                    <a:bodyPr/>
                    <a:lstStyle/>
                    <a:p>
                      <a:r>
                        <a:rPr lang="en-US" sz="1600" err="1"/>
                        <a:t>sample_id</a:t>
                      </a:r>
                      <a:endParaRPr lang="en-US" sz="1600"/>
                    </a:p>
                  </a:txBody>
                  <a:tcPr marL="121920" marR="121920" marT="60960" marB="60960"/>
                </a:tc>
                <a:tc>
                  <a:txBody>
                    <a:bodyPr/>
                    <a:lstStyle/>
                    <a:p>
                      <a:r>
                        <a:rPr lang="en-US" sz="1600" err="1"/>
                        <a:t>sample_weight</a:t>
                      </a:r>
                      <a:r>
                        <a:rPr lang="en-US" sz="1600"/>
                        <a:t>: g</a:t>
                      </a:r>
                    </a:p>
                  </a:txBody>
                  <a:tcPr marL="121920" marR="121920" marT="60960" marB="60960"/>
                </a:tc>
                <a:tc>
                  <a:txBody>
                    <a:bodyPr/>
                    <a:lstStyle/>
                    <a:p>
                      <a:r>
                        <a:rPr lang="en-US" sz="1600" dirty="0"/>
                        <a:t>material: name</a:t>
                      </a:r>
                    </a:p>
                  </a:txBody>
                  <a:tcPr marL="121920" marR="121920" marT="60960" marB="60960"/>
                </a:tc>
                <a:extLst>
                  <a:ext uri="{0D108BD9-81ED-4DB2-BD59-A6C34878D82A}">
                    <a16:rowId xmlns:a16="http://schemas.microsoft.com/office/drawing/2014/main" val="1107157796"/>
                  </a:ext>
                </a:extLst>
              </a:tr>
              <a:tr h="323681">
                <a:tc>
                  <a:txBody>
                    <a:bodyPr/>
                    <a:lstStyle/>
                    <a:p>
                      <a:r>
                        <a:rPr lang="en-US" sz="1600"/>
                        <a:t>PMM373</a:t>
                      </a:r>
                    </a:p>
                  </a:txBody>
                  <a:tcPr marL="121920" marR="121920" marT="60960" marB="60960"/>
                </a:tc>
                <a:tc>
                  <a:txBody>
                    <a:bodyPr/>
                    <a:lstStyle/>
                    <a:p>
                      <a:r>
                        <a:rPr lang="en-US" sz="1600" dirty="0"/>
                        <a:t>312.1</a:t>
                      </a:r>
                    </a:p>
                  </a:txBody>
                  <a:tcPr marL="121920" marR="121920" marT="60960" marB="60960"/>
                </a:tc>
                <a:tc>
                  <a:txBody>
                    <a:bodyPr/>
                    <a:lstStyle/>
                    <a:p>
                      <a:r>
                        <a:rPr lang="en-US" sz="1600"/>
                        <a:t>toluene</a:t>
                      </a:r>
                    </a:p>
                  </a:txBody>
                  <a:tcPr marL="121920" marR="121920" marT="60960" marB="60960"/>
                </a:tc>
                <a:extLst>
                  <a:ext uri="{0D108BD9-81ED-4DB2-BD59-A6C34878D82A}">
                    <a16:rowId xmlns:a16="http://schemas.microsoft.com/office/drawing/2014/main" val="1919681070"/>
                  </a:ext>
                </a:extLst>
              </a:tr>
              <a:tr h="285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JDA783</a:t>
                      </a:r>
                    </a:p>
                  </a:txBody>
                  <a:tcPr marL="121920" marR="121920" marT="60960" marB="60960"/>
                </a:tc>
                <a:tc>
                  <a:txBody>
                    <a:bodyPr/>
                    <a:lstStyle/>
                    <a:p>
                      <a:r>
                        <a:rPr lang="en-US" sz="1600"/>
                        <a:t>531.5</a:t>
                      </a:r>
                    </a:p>
                  </a:txBody>
                  <a:tcPr marL="121920" marR="121920" marT="60960" marB="60960"/>
                </a:tc>
                <a:tc>
                  <a:txBody>
                    <a:bodyPr/>
                    <a:lstStyle/>
                    <a:p>
                      <a:r>
                        <a:rPr lang="en-US" sz="1600" dirty="0"/>
                        <a:t>hexane</a:t>
                      </a:r>
                    </a:p>
                  </a:txBody>
                  <a:tcPr marL="121920" marR="121920" marT="60960" marB="60960"/>
                </a:tc>
                <a:extLst>
                  <a:ext uri="{0D108BD9-81ED-4DB2-BD59-A6C34878D82A}">
                    <a16:rowId xmlns:a16="http://schemas.microsoft.com/office/drawing/2014/main" val="3264277782"/>
                  </a:ext>
                </a:extLst>
              </a:tr>
            </a:tbl>
          </a:graphicData>
        </a:graphic>
      </p:graphicFrame>
      <p:graphicFrame>
        <p:nvGraphicFramePr>
          <p:cNvPr id="23" name="Table 7">
            <a:extLst>
              <a:ext uri="{FF2B5EF4-FFF2-40B4-BE49-F238E27FC236}">
                <a16:creationId xmlns:a16="http://schemas.microsoft.com/office/drawing/2014/main" id="{2D3472A4-DE1C-5A3C-6D9A-4BE2B9744A21}"/>
              </a:ext>
            </a:extLst>
          </p:cNvPr>
          <p:cNvGraphicFramePr>
            <a:graphicFrameLocks noGrp="1"/>
          </p:cNvGraphicFramePr>
          <p:nvPr>
            <p:extLst>
              <p:ext uri="{D42A27DB-BD31-4B8C-83A1-F6EECF244321}">
                <p14:modId xmlns:p14="http://schemas.microsoft.com/office/powerpoint/2010/main" val="3350691705"/>
              </p:ext>
            </p:extLst>
          </p:nvPr>
        </p:nvGraphicFramePr>
        <p:xfrm>
          <a:off x="6854493" y="1849662"/>
          <a:ext cx="3697065" cy="1341120"/>
        </p:xfrm>
        <a:graphic>
          <a:graphicData uri="http://schemas.openxmlformats.org/drawingml/2006/table">
            <a:tbl>
              <a:tblPr firstRow="1" bandRow="1">
                <a:tableStyleId>{5C22544A-7EE6-4342-B048-85BDC9FD1C3A}</a:tableStyleId>
              </a:tblPr>
              <a:tblGrid>
                <a:gridCol w="1577545">
                  <a:extLst>
                    <a:ext uri="{9D8B030D-6E8A-4147-A177-3AD203B41FA5}">
                      <a16:colId xmlns:a16="http://schemas.microsoft.com/office/drawing/2014/main" val="1619538324"/>
                    </a:ext>
                  </a:extLst>
                </a:gridCol>
                <a:gridCol w="2119520">
                  <a:extLst>
                    <a:ext uri="{9D8B030D-6E8A-4147-A177-3AD203B41FA5}">
                      <a16:colId xmlns:a16="http://schemas.microsoft.com/office/drawing/2014/main" val="2204580905"/>
                    </a:ext>
                  </a:extLst>
                </a:gridCol>
              </a:tblGrid>
              <a:tr h="558818">
                <a:tc>
                  <a:txBody>
                    <a:bodyPr/>
                    <a:lstStyle/>
                    <a:p>
                      <a:r>
                        <a:rPr lang="en-US" sz="1600"/>
                        <a:t>material: </a:t>
                      </a:r>
                      <a:r>
                        <a:rPr lang="en-US" sz="1600" err="1"/>
                        <a:t>cas_number</a:t>
                      </a:r>
                      <a:endParaRPr lang="en-US" sz="1600"/>
                    </a:p>
                  </a:txBody>
                  <a:tcPr marL="121920" marR="121920" marT="60960" marB="60960"/>
                </a:tc>
                <a:tc>
                  <a:txBody>
                    <a:bodyPr/>
                    <a:lstStyle/>
                    <a:p>
                      <a:r>
                        <a:rPr lang="en-US" sz="1600" dirty="0" err="1"/>
                        <a:t>molecular_weight</a:t>
                      </a:r>
                      <a:r>
                        <a:rPr lang="en-US" sz="1600" dirty="0"/>
                        <a:t>: g/mol</a:t>
                      </a:r>
                    </a:p>
                  </a:txBody>
                  <a:tcPr marL="121920" marR="121920" marT="60960" marB="60960"/>
                </a:tc>
                <a:extLst>
                  <a:ext uri="{0D108BD9-81ED-4DB2-BD59-A6C34878D82A}">
                    <a16:rowId xmlns:a16="http://schemas.microsoft.com/office/drawing/2014/main" val="1107157796"/>
                  </a:ext>
                </a:extLst>
              </a:tr>
              <a:tr h="298924">
                <a:tc>
                  <a:txBody>
                    <a:bodyPr/>
                    <a:lstStyle/>
                    <a:p>
                      <a:r>
                        <a:rPr lang="en-US" sz="1600"/>
                        <a:t>108-88-3</a:t>
                      </a:r>
                    </a:p>
                  </a:txBody>
                  <a:tcPr marL="121920" marR="121920" marT="60960" marB="60960"/>
                </a:tc>
                <a:tc>
                  <a:txBody>
                    <a:bodyPr/>
                    <a:lstStyle/>
                    <a:p>
                      <a:r>
                        <a:rPr lang="en-US" sz="1600"/>
                        <a:t>92.14</a:t>
                      </a:r>
                    </a:p>
                  </a:txBody>
                  <a:tcPr marL="121920" marR="121920" marT="60960" marB="60960"/>
                </a:tc>
                <a:extLst>
                  <a:ext uri="{0D108BD9-81ED-4DB2-BD59-A6C34878D82A}">
                    <a16:rowId xmlns:a16="http://schemas.microsoft.com/office/drawing/2014/main" val="1919681070"/>
                  </a:ext>
                </a:extLst>
              </a:tr>
              <a:tr h="285136">
                <a:tc>
                  <a:txBody>
                    <a:bodyPr/>
                    <a:lstStyle/>
                    <a:p>
                      <a:r>
                        <a:rPr lang="en-US" sz="1600"/>
                        <a:t>110-54-3</a:t>
                      </a:r>
                    </a:p>
                  </a:txBody>
                  <a:tcPr marL="121920" marR="121920" marT="60960" marB="60960"/>
                </a:tc>
                <a:tc>
                  <a:txBody>
                    <a:bodyPr/>
                    <a:lstStyle/>
                    <a:p>
                      <a:r>
                        <a:rPr lang="en-US" sz="1600" dirty="0"/>
                        <a:t>86.18</a:t>
                      </a:r>
                    </a:p>
                  </a:txBody>
                  <a:tcPr marL="121920" marR="121920" marT="60960" marB="60960"/>
                </a:tc>
                <a:extLst>
                  <a:ext uri="{0D108BD9-81ED-4DB2-BD59-A6C34878D82A}">
                    <a16:rowId xmlns:a16="http://schemas.microsoft.com/office/drawing/2014/main" val="3264277782"/>
                  </a:ext>
                </a:extLst>
              </a:tr>
            </a:tbl>
          </a:graphicData>
        </a:graphic>
      </p:graphicFrame>
      <p:sp>
        <p:nvSpPr>
          <p:cNvPr id="24" name="TextBox 23">
            <a:extLst>
              <a:ext uri="{FF2B5EF4-FFF2-40B4-BE49-F238E27FC236}">
                <a16:creationId xmlns:a16="http://schemas.microsoft.com/office/drawing/2014/main" id="{B7C81991-E1C4-3207-9D8C-6B3D6ED3B004}"/>
              </a:ext>
            </a:extLst>
          </p:cNvPr>
          <p:cNvSpPr txBox="1"/>
          <p:nvPr/>
        </p:nvSpPr>
        <p:spPr>
          <a:xfrm>
            <a:off x="999461" y="2084201"/>
            <a:ext cx="914400" cy="914400"/>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415364"/>
                </a:solidFill>
                <a:effectLst/>
                <a:uLnTx/>
                <a:uFillTx/>
                <a:latin typeface="Arial" panose="020B0604020202020204"/>
                <a:ea typeface="+mn-ea"/>
                <a:cs typeface="+mn-cs"/>
              </a:rPr>
              <a:t>A</a:t>
            </a:r>
          </a:p>
        </p:txBody>
      </p:sp>
      <p:graphicFrame>
        <p:nvGraphicFramePr>
          <p:cNvPr id="25" name="Table 7">
            <a:extLst>
              <a:ext uri="{FF2B5EF4-FFF2-40B4-BE49-F238E27FC236}">
                <a16:creationId xmlns:a16="http://schemas.microsoft.com/office/drawing/2014/main" id="{8F502E0A-B386-3B11-AC99-F1836925BA39}"/>
              </a:ext>
            </a:extLst>
          </p:cNvPr>
          <p:cNvGraphicFramePr>
            <a:graphicFrameLocks noGrp="1"/>
          </p:cNvGraphicFramePr>
          <p:nvPr>
            <p:extLst>
              <p:ext uri="{D42A27DB-BD31-4B8C-83A1-F6EECF244321}">
                <p14:modId xmlns:p14="http://schemas.microsoft.com/office/powerpoint/2010/main" val="921407011"/>
              </p:ext>
            </p:extLst>
          </p:nvPr>
        </p:nvGraphicFramePr>
        <p:xfrm>
          <a:off x="1656952" y="4936441"/>
          <a:ext cx="4669419" cy="1341120"/>
        </p:xfrm>
        <a:graphic>
          <a:graphicData uri="http://schemas.openxmlformats.org/drawingml/2006/table">
            <a:tbl>
              <a:tblPr firstRow="1" bandRow="1">
                <a:tableStyleId>{5C22544A-7EE6-4342-B048-85BDC9FD1C3A}</a:tableStyleId>
              </a:tblPr>
              <a:tblGrid>
                <a:gridCol w="1356021">
                  <a:extLst>
                    <a:ext uri="{9D8B030D-6E8A-4147-A177-3AD203B41FA5}">
                      <a16:colId xmlns:a16="http://schemas.microsoft.com/office/drawing/2014/main" val="1619538324"/>
                    </a:ext>
                  </a:extLst>
                </a:gridCol>
                <a:gridCol w="1622822">
                  <a:extLst>
                    <a:ext uri="{9D8B030D-6E8A-4147-A177-3AD203B41FA5}">
                      <a16:colId xmlns:a16="http://schemas.microsoft.com/office/drawing/2014/main" val="2204580905"/>
                    </a:ext>
                  </a:extLst>
                </a:gridCol>
                <a:gridCol w="1690576">
                  <a:extLst>
                    <a:ext uri="{9D8B030D-6E8A-4147-A177-3AD203B41FA5}">
                      <a16:colId xmlns:a16="http://schemas.microsoft.com/office/drawing/2014/main" val="253053857"/>
                    </a:ext>
                  </a:extLst>
                </a:gridCol>
              </a:tblGrid>
              <a:tr h="541629">
                <a:tc>
                  <a:txBody>
                    <a:bodyPr/>
                    <a:lstStyle/>
                    <a:p>
                      <a:r>
                        <a:rPr lang="en-US" sz="1600" err="1"/>
                        <a:t>sample_id</a:t>
                      </a:r>
                      <a:endParaRPr lang="en-US" sz="1600"/>
                    </a:p>
                  </a:txBody>
                  <a:tcPr marL="121920" marR="121920" marT="60960" marB="60960"/>
                </a:tc>
                <a:tc>
                  <a:txBody>
                    <a:bodyPr/>
                    <a:lstStyle/>
                    <a:p>
                      <a:r>
                        <a:rPr lang="en-US" sz="1600" err="1"/>
                        <a:t>sample_weight</a:t>
                      </a:r>
                      <a:r>
                        <a:rPr lang="en-US" sz="1600"/>
                        <a:t>: g</a:t>
                      </a:r>
                    </a:p>
                  </a:txBody>
                  <a:tcPr marL="121920" marR="121920" marT="60960" marB="60960"/>
                </a:tc>
                <a:tc>
                  <a:txBody>
                    <a:bodyPr/>
                    <a:lstStyle/>
                    <a:p>
                      <a:r>
                        <a:rPr lang="en-US" sz="1600"/>
                        <a:t>material: name</a:t>
                      </a:r>
                    </a:p>
                  </a:txBody>
                  <a:tcPr marL="121920" marR="121920" marT="60960" marB="60960"/>
                </a:tc>
                <a:extLst>
                  <a:ext uri="{0D108BD9-81ED-4DB2-BD59-A6C34878D82A}">
                    <a16:rowId xmlns:a16="http://schemas.microsoft.com/office/drawing/2014/main" val="1107157796"/>
                  </a:ext>
                </a:extLst>
              </a:tr>
              <a:tr h="323681">
                <a:tc>
                  <a:txBody>
                    <a:bodyPr/>
                    <a:lstStyle/>
                    <a:p>
                      <a:r>
                        <a:rPr lang="en-US" sz="1600" dirty="0"/>
                        <a:t>PMM373</a:t>
                      </a:r>
                    </a:p>
                  </a:txBody>
                  <a:tcPr marL="121920" marR="121920" marT="60960" marB="60960"/>
                </a:tc>
                <a:tc>
                  <a:txBody>
                    <a:bodyPr/>
                    <a:lstStyle/>
                    <a:p>
                      <a:r>
                        <a:rPr lang="en-US" sz="1600" dirty="0"/>
                        <a:t>312.1</a:t>
                      </a:r>
                    </a:p>
                  </a:txBody>
                  <a:tcPr marL="121920" marR="121920" marT="60960" marB="60960"/>
                </a:tc>
                <a:tc>
                  <a:txBody>
                    <a:bodyPr/>
                    <a:lstStyle/>
                    <a:p>
                      <a:r>
                        <a:rPr lang="en-US" sz="1600" dirty="0"/>
                        <a:t>Peter_sample_1</a:t>
                      </a:r>
                    </a:p>
                  </a:txBody>
                  <a:tcPr marL="121920" marR="121920" marT="60960" marB="60960"/>
                </a:tc>
                <a:extLst>
                  <a:ext uri="{0D108BD9-81ED-4DB2-BD59-A6C34878D82A}">
                    <a16:rowId xmlns:a16="http://schemas.microsoft.com/office/drawing/2014/main" val="1919681070"/>
                  </a:ext>
                </a:extLst>
              </a:tr>
              <a:tr h="285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JDA783</a:t>
                      </a:r>
                    </a:p>
                  </a:txBody>
                  <a:tcPr marL="121920" marR="121920" marT="60960" marB="60960"/>
                </a:tc>
                <a:tc>
                  <a:txBody>
                    <a:bodyPr/>
                    <a:lstStyle/>
                    <a:p>
                      <a:r>
                        <a:rPr lang="en-US" sz="1600"/>
                        <a:t>531.5</a:t>
                      </a:r>
                    </a:p>
                  </a:txBody>
                  <a:tcPr marL="121920" marR="121920" marT="60960" marB="60960"/>
                </a:tc>
                <a:tc>
                  <a:txBody>
                    <a:bodyPr/>
                    <a:lstStyle/>
                    <a:p>
                      <a:r>
                        <a:rPr lang="en-US" sz="1600" dirty="0"/>
                        <a:t>hexane</a:t>
                      </a:r>
                    </a:p>
                  </a:txBody>
                  <a:tcPr marL="121920" marR="121920" marT="60960" marB="60960"/>
                </a:tc>
                <a:extLst>
                  <a:ext uri="{0D108BD9-81ED-4DB2-BD59-A6C34878D82A}">
                    <a16:rowId xmlns:a16="http://schemas.microsoft.com/office/drawing/2014/main" val="3264277782"/>
                  </a:ext>
                </a:extLst>
              </a:tr>
            </a:tbl>
          </a:graphicData>
        </a:graphic>
      </p:graphicFrame>
      <p:graphicFrame>
        <p:nvGraphicFramePr>
          <p:cNvPr id="26" name="Table 7">
            <a:extLst>
              <a:ext uri="{FF2B5EF4-FFF2-40B4-BE49-F238E27FC236}">
                <a16:creationId xmlns:a16="http://schemas.microsoft.com/office/drawing/2014/main" id="{D7DE67F2-7DC8-B47F-E4B2-423E00F1EC29}"/>
              </a:ext>
            </a:extLst>
          </p:cNvPr>
          <p:cNvGraphicFramePr>
            <a:graphicFrameLocks noGrp="1"/>
          </p:cNvGraphicFramePr>
          <p:nvPr>
            <p:extLst>
              <p:ext uri="{D42A27DB-BD31-4B8C-83A1-F6EECF244321}">
                <p14:modId xmlns:p14="http://schemas.microsoft.com/office/powerpoint/2010/main" val="1507656888"/>
              </p:ext>
            </p:extLst>
          </p:nvPr>
        </p:nvGraphicFramePr>
        <p:xfrm>
          <a:off x="6854493" y="4944009"/>
          <a:ext cx="3697065" cy="1341120"/>
        </p:xfrm>
        <a:graphic>
          <a:graphicData uri="http://schemas.openxmlformats.org/drawingml/2006/table">
            <a:tbl>
              <a:tblPr firstRow="1" bandRow="1">
                <a:tableStyleId>{5C22544A-7EE6-4342-B048-85BDC9FD1C3A}</a:tableStyleId>
              </a:tblPr>
              <a:tblGrid>
                <a:gridCol w="1679166">
                  <a:extLst>
                    <a:ext uri="{9D8B030D-6E8A-4147-A177-3AD203B41FA5}">
                      <a16:colId xmlns:a16="http://schemas.microsoft.com/office/drawing/2014/main" val="1619538324"/>
                    </a:ext>
                  </a:extLst>
                </a:gridCol>
                <a:gridCol w="2017899">
                  <a:extLst>
                    <a:ext uri="{9D8B030D-6E8A-4147-A177-3AD203B41FA5}">
                      <a16:colId xmlns:a16="http://schemas.microsoft.com/office/drawing/2014/main" val="2204580905"/>
                    </a:ext>
                  </a:extLst>
                </a:gridCol>
              </a:tblGrid>
              <a:tr h="558818">
                <a:tc>
                  <a:txBody>
                    <a:bodyPr/>
                    <a:lstStyle/>
                    <a:p>
                      <a:r>
                        <a:rPr lang="en-US" sz="1600" dirty="0"/>
                        <a:t>material: name</a:t>
                      </a:r>
                    </a:p>
                  </a:txBody>
                  <a:tcPr marL="121920" marR="121920" marT="60960" marB="60960"/>
                </a:tc>
                <a:tc>
                  <a:txBody>
                    <a:bodyPr/>
                    <a:lstStyle/>
                    <a:p>
                      <a:r>
                        <a:rPr lang="en-US" sz="1600" dirty="0" err="1"/>
                        <a:t>molecular_weight</a:t>
                      </a:r>
                      <a:r>
                        <a:rPr lang="en-US" sz="1600" dirty="0"/>
                        <a:t>: g/mol</a:t>
                      </a:r>
                    </a:p>
                  </a:txBody>
                  <a:tcPr marL="121920" marR="121920" marT="60960" marB="60960"/>
                </a:tc>
                <a:extLst>
                  <a:ext uri="{0D108BD9-81ED-4DB2-BD59-A6C34878D82A}">
                    <a16:rowId xmlns:a16="http://schemas.microsoft.com/office/drawing/2014/main" val="1107157796"/>
                  </a:ext>
                </a:extLst>
              </a:tr>
              <a:tr h="298924">
                <a:tc>
                  <a:txBody>
                    <a:bodyPr/>
                    <a:lstStyle/>
                    <a:p>
                      <a:r>
                        <a:rPr lang="en-US" sz="1600"/>
                        <a:t>Peter_sample1</a:t>
                      </a:r>
                    </a:p>
                  </a:txBody>
                  <a:tcPr marL="121920" marR="121920" marT="60960" marB="60960"/>
                </a:tc>
                <a:tc>
                  <a:txBody>
                    <a:bodyPr/>
                    <a:lstStyle/>
                    <a:p>
                      <a:r>
                        <a:rPr lang="en-US" sz="1600"/>
                        <a:t>92.14</a:t>
                      </a:r>
                    </a:p>
                  </a:txBody>
                  <a:tcPr marL="121920" marR="121920" marT="60960" marB="60960"/>
                </a:tc>
                <a:extLst>
                  <a:ext uri="{0D108BD9-81ED-4DB2-BD59-A6C34878D82A}">
                    <a16:rowId xmlns:a16="http://schemas.microsoft.com/office/drawing/2014/main" val="1919681070"/>
                  </a:ext>
                </a:extLst>
              </a:tr>
              <a:tr h="285136">
                <a:tc>
                  <a:txBody>
                    <a:bodyPr/>
                    <a:lstStyle/>
                    <a:p>
                      <a:r>
                        <a:rPr lang="en-US" sz="1600" dirty="0"/>
                        <a:t>n-hexane</a:t>
                      </a:r>
                    </a:p>
                  </a:txBody>
                  <a:tcPr marL="121920" marR="121920" marT="60960" marB="60960"/>
                </a:tc>
                <a:tc>
                  <a:txBody>
                    <a:bodyPr/>
                    <a:lstStyle/>
                    <a:p>
                      <a:r>
                        <a:rPr lang="en-US" sz="1600" dirty="0"/>
                        <a:t>86.18</a:t>
                      </a:r>
                    </a:p>
                  </a:txBody>
                  <a:tcPr marL="121920" marR="121920" marT="60960" marB="60960"/>
                </a:tc>
                <a:extLst>
                  <a:ext uri="{0D108BD9-81ED-4DB2-BD59-A6C34878D82A}">
                    <a16:rowId xmlns:a16="http://schemas.microsoft.com/office/drawing/2014/main" val="3264277782"/>
                  </a:ext>
                </a:extLst>
              </a:tr>
            </a:tbl>
          </a:graphicData>
        </a:graphic>
      </p:graphicFrame>
      <p:sp>
        <p:nvSpPr>
          <p:cNvPr id="27" name="TextBox 26">
            <a:extLst>
              <a:ext uri="{FF2B5EF4-FFF2-40B4-BE49-F238E27FC236}">
                <a16:creationId xmlns:a16="http://schemas.microsoft.com/office/drawing/2014/main" id="{086EA0D0-568E-7EAF-0593-DCDFDFA19E12}"/>
              </a:ext>
            </a:extLst>
          </p:cNvPr>
          <p:cNvSpPr txBox="1"/>
          <p:nvPr/>
        </p:nvSpPr>
        <p:spPr>
          <a:xfrm>
            <a:off x="999461" y="5086082"/>
            <a:ext cx="914400" cy="914400"/>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415364"/>
                </a:solidFill>
                <a:effectLst/>
                <a:uLnTx/>
                <a:uFillTx/>
                <a:latin typeface="Arial" panose="020B0604020202020204"/>
                <a:ea typeface="+mn-ea"/>
                <a:cs typeface="+mn-cs"/>
              </a:rPr>
              <a:t>C</a:t>
            </a:r>
          </a:p>
        </p:txBody>
      </p:sp>
      <p:graphicFrame>
        <p:nvGraphicFramePr>
          <p:cNvPr id="31" name="Table 7">
            <a:extLst>
              <a:ext uri="{FF2B5EF4-FFF2-40B4-BE49-F238E27FC236}">
                <a16:creationId xmlns:a16="http://schemas.microsoft.com/office/drawing/2014/main" id="{DE4B095A-31E0-8F0E-53C8-5C1ED21ADDC6}"/>
              </a:ext>
            </a:extLst>
          </p:cNvPr>
          <p:cNvGraphicFramePr>
            <a:graphicFrameLocks noGrp="1"/>
          </p:cNvGraphicFramePr>
          <p:nvPr>
            <p:extLst>
              <p:ext uri="{D42A27DB-BD31-4B8C-83A1-F6EECF244321}">
                <p14:modId xmlns:p14="http://schemas.microsoft.com/office/powerpoint/2010/main" val="3756763274"/>
              </p:ext>
            </p:extLst>
          </p:nvPr>
        </p:nvGraphicFramePr>
        <p:xfrm>
          <a:off x="1656953" y="3385218"/>
          <a:ext cx="4669419" cy="1341120"/>
        </p:xfrm>
        <a:graphic>
          <a:graphicData uri="http://schemas.openxmlformats.org/drawingml/2006/table">
            <a:tbl>
              <a:tblPr firstRow="1" bandRow="1">
                <a:tableStyleId>{5C22544A-7EE6-4342-B048-85BDC9FD1C3A}</a:tableStyleId>
              </a:tblPr>
              <a:tblGrid>
                <a:gridCol w="1374644">
                  <a:extLst>
                    <a:ext uri="{9D8B030D-6E8A-4147-A177-3AD203B41FA5}">
                      <a16:colId xmlns:a16="http://schemas.microsoft.com/office/drawing/2014/main" val="1619538324"/>
                    </a:ext>
                  </a:extLst>
                </a:gridCol>
                <a:gridCol w="1604198">
                  <a:extLst>
                    <a:ext uri="{9D8B030D-6E8A-4147-A177-3AD203B41FA5}">
                      <a16:colId xmlns:a16="http://schemas.microsoft.com/office/drawing/2014/main" val="2204580905"/>
                    </a:ext>
                  </a:extLst>
                </a:gridCol>
                <a:gridCol w="1690577">
                  <a:extLst>
                    <a:ext uri="{9D8B030D-6E8A-4147-A177-3AD203B41FA5}">
                      <a16:colId xmlns:a16="http://schemas.microsoft.com/office/drawing/2014/main" val="253053857"/>
                    </a:ext>
                  </a:extLst>
                </a:gridCol>
              </a:tblGrid>
              <a:tr h="541629">
                <a:tc>
                  <a:txBody>
                    <a:bodyPr/>
                    <a:lstStyle/>
                    <a:p>
                      <a:r>
                        <a:rPr lang="en-US" sz="1600" err="1"/>
                        <a:t>sample_id</a:t>
                      </a:r>
                      <a:endParaRPr lang="en-US" sz="1600"/>
                    </a:p>
                  </a:txBody>
                  <a:tcPr marL="121920" marR="121920" marT="60960" marB="60960"/>
                </a:tc>
                <a:tc>
                  <a:txBody>
                    <a:bodyPr/>
                    <a:lstStyle/>
                    <a:p>
                      <a:r>
                        <a:rPr lang="en-US" sz="1600" dirty="0" err="1"/>
                        <a:t>sample_weight</a:t>
                      </a:r>
                      <a:r>
                        <a:rPr lang="en-US" sz="1600" dirty="0"/>
                        <a:t>: g</a:t>
                      </a:r>
                    </a:p>
                  </a:txBody>
                  <a:tcPr marL="121920" marR="121920" marT="60960" marB="60960"/>
                </a:tc>
                <a:tc>
                  <a:txBody>
                    <a:bodyPr/>
                    <a:lstStyle/>
                    <a:p>
                      <a:r>
                        <a:rPr lang="en-US" sz="1600" dirty="0"/>
                        <a:t>material: </a:t>
                      </a:r>
                      <a:r>
                        <a:rPr lang="en-US" sz="1600" dirty="0" err="1"/>
                        <a:t>casno</a:t>
                      </a:r>
                      <a:endParaRPr lang="en-US" sz="1600" dirty="0"/>
                    </a:p>
                  </a:txBody>
                  <a:tcPr marL="121920" marR="121920" marT="60960" marB="60960"/>
                </a:tc>
                <a:extLst>
                  <a:ext uri="{0D108BD9-81ED-4DB2-BD59-A6C34878D82A}">
                    <a16:rowId xmlns:a16="http://schemas.microsoft.com/office/drawing/2014/main" val="1107157796"/>
                  </a:ext>
                </a:extLst>
              </a:tr>
              <a:tr h="323681">
                <a:tc>
                  <a:txBody>
                    <a:bodyPr/>
                    <a:lstStyle/>
                    <a:p>
                      <a:r>
                        <a:rPr lang="en-US" sz="1600" dirty="0"/>
                        <a:t>PMM373</a:t>
                      </a:r>
                    </a:p>
                  </a:txBody>
                  <a:tcPr marL="121920" marR="121920" marT="60960" marB="60960"/>
                </a:tc>
                <a:tc>
                  <a:txBody>
                    <a:bodyPr/>
                    <a:lstStyle/>
                    <a:p>
                      <a:r>
                        <a:rPr lang="en-US" sz="1600"/>
                        <a:t>312.1</a:t>
                      </a:r>
                    </a:p>
                  </a:txBody>
                  <a:tcPr marL="121920" marR="121920" marT="60960" marB="60960"/>
                </a:tc>
                <a:tc>
                  <a:txBody>
                    <a:bodyPr/>
                    <a:lstStyle/>
                    <a:p>
                      <a:r>
                        <a:rPr lang="en-US" sz="1600"/>
                        <a:t>108-88-3</a:t>
                      </a:r>
                    </a:p>
                  </a:txBody>
                  <a:tcPr marL="121920" marR="121920" marT="60960" marB="60960"/>
                </a:tc>
                <a:extLst>
                  <a:ext uri="{0D108BD9-81ED-4DB2-BD59-A6C34878D82A}">
                    <a16:rowId xmlns:a16="http://schemas.microsoft.com/office/drawing/2014/main" val="1919681070"/>
                  </a:ext>
                </a:extLst>
              </a:tr>
              <a:tr h="2850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t>JDA783</a:t>
                      </a:r>
                    </a:p>
                  </a:txBody>
                  <a:tcPr marL="121920" marR="121920" marT="60960" marB="60960"/>
                </a:tc>
                <a:tc>
                  <a:txBody>
                    <a:bodyPr/>
                    <a:lstStyle/>
                    <a:p>
                      <a:r>
                        <a:rPr lang="en-US" sz="1600"/>
                        <a:t>531.5</a:t>
                      </a:r>
                    </a:p>
                  </a:txBody>
                  <a:tcPr marL="121920" marR="121920" marT="60960" marB="60960"/>
                </a:tc>
                <a:tc>
                  <a:txBody>
                    <a:bodyPr/>
                    <a:lstStyle/>
                    <a:p>
                      <a:r>
                        <a:rPr lang="en-US" sz="1600" dirty="0"/>
                        <a:t>110-54-3</a:t>
                      </a:r>
                    </a:p>
                  </a:txBody>
                  <a:tcPr marL="121920" marR="121920" marT="60960" marB="60960"/>
                </a:tc>
                <a:extLst>
                  <a:ext uri="{0D108BD9-81ED-4DB2-BD59-A6C34878D82A}">
                    <a16:rowId xmlns:a16="http://schemas.microsoft.com/office/drawing/2014/main" val="3264277782"/>
                  </a:ext>
                </a:extLst>
              </a:tr>
            </a:tbl>
          </a:graphicData>
        </a:graphic>
      </p:graphicFrame>
      <p:graphicFrame>
        <p:nvGraphicFramePr>
          <p:cNvPr id="37" name="Table 7">
            <a:extLst>
              <a:ext uri="{FF2B5EF4-FFF2-40B4-BE49-F238E27FC236}">
                <a16:creationId xmlns:a16="http://schemas.microsoft.com/office/drawing/2014/main" id="{B73CC822-4D82-D977-95BF-BEB6BE03CD07}"/>
              </a:ext>
            </a:extLst>
          </p:cNvPr>
          <p:cNvGraphicFramePr>
            <a:graphicFrameLocks noGrp="1"/>
          </p:cNvGraphicFramePr>
          <p:nvPr>
            <p:extLst>
              <p:ext uri="{D42A27DB-BD31-4B8C-83A1-F6EECF244321}">
                <p14:modId xmlns:p14="http://schemas.microsoft.com/office/powerpoint/2010/main" val="498741045"/>
              </p:ext>
            </p:extLst>
          </p:nvPr>
        </p:nvGraphicFramePr>
        <p:xfrm>
          <a:off x="6854493" y="3392786"/>
          <a:ext cx="3697065" cy="1341120"/>
        </p:xfrm>
        <a:graphic>
          <a:graphicData uri="http://schemas.openxmlformats.org/drawingml/2006/table">
            <a:tbl>
              <a:tblPr firstRow="1" bandRow="1">
                <a:tableStyleId>{5C22544A-7EE6-4342-B048-85BDC9FD1C3A}</a:tableStyleId>
              </a:tblPr>
              <a:tblGrid>
                <a:gridCol w="1577545">
                  <a:extLst>
                    <a:ext uri="{9D8B030D-6E8A-4147-A177-3AD203B41FA5}">
                      <a16:colId xmlns:a16="http://schemas.microsoft.com/office/drawing/2014/main" val="1619538324"/>
                    </a:ext>
                  </a:extLst>
                </a:gridCol>
                <a:gridCol w="2119520">
                  <a:extLst>
                    <a:ext uri="{9D8B030D-6E8A-4147-A177-3AD203B41FA5}">
                      <a16:colId xmlns:a16="http://schemas.microsoft.com/office/drawing/2014/main" val="2204580905"/>
                    </a:ext>
                  </a:extLst>
                </a:gridCol>
              </a:tblGrid>
              <a:tr h="558818">
                <a:tc>
                  <a:txBody>
                    <a:bodyPr/>
                    <a:lstStyle/>
                    <a:p>
                      <a:r>
                        <a:rPr lang="en-US" sz="1600" dirty="0"/>
                        <a:t>material: </a:t>
                      </a:r>
                      <a:r>
                        <a:rPr lang="en-US" sz="1600" dirty="0" err="1"/>
                        <a:t>cas_number</a:t>
                      </a:r>
                      <a:endParaRPr lang="en-US" sz="1600" dirty="0"/>
                    </a:p>
                  </a:txBody>
                  <a:tcPr marL="121920" marR="121920" marT="60960" marB="60960"/>
                </a:tc>
                <a:tc>
                  <a:txBody>
                    <a:bodyPr/>
                    <a:lstStyle/>
                    <a:p>
                      <a:r>
                        <a:rPr lang="en-US" sz="1600" dirty="0" err="1"/>
                        <a:t>molecular_weight</a:t>
                      </a:r>
                      <a:r>
                        <a:rPr lang="en-US" sz="1600" dirty="0"/>
                        <a:t>: g/mol</a:t>
                      </a:r>
                    </a:p>
                  </a:txBody>
                  <a:tcPr marL="121920" marR="121920" marT="60960" marB="60960"/>
                </a:tc>
                <a:extLst>
                  <a:ext uri="{0D108BD9-81ED-4DB2-BD59-A6C34878D82A}">
                    <a16:rowId xmlns:a16="http://schemas.microsoft.com/office/drawing/2014/main" val="1107157796"/>
                  </a:ext>
                </a:extLst>
              </a:tr>
              <a:tr h="298924">
                <a:tc>
                  <a:txBody>
                    <a:bodyPr/>
                    <a:lstStyle/>
                    <a:p>
                      <a:r>
                        <a:rPr lang="en-US" sz="1600"/>
                        <a:t>108-88-3</a:t>
                      </a:r>
                    </a:p>
                  </a:txBody>
                  <a:tcPr marL="121920" marR="121920" marT="60960" marB="60960"/>
                </a:tc>
                <a:tc>
                  <a:txBody>
                    <a:bodyPr/>
                    <a:lstStyle/>
                    <a:p>
                      <a:r>
                        <a:rPr lang="en-US" sz="1600"/>
                        <a:t>92.14</a:t>
                      </a:r>
                    </a:p>
                  </a:txBody>
                  <a:tcPr marL="121920" marR="121920" marT="60960" marB="60960"/>
                </a:tc>
                <a:extLst>
                  <a:ext uri="{0D108BD9-81ED-4DB2-BD59-A6C34878D82A}">
                    <a16:rowId xmlns:a16="http://schemas.microsoft.com/office/drawing/2014/main" val="1919681070"/>
                  </a:ext>
                </a:extLst>
              </a:tr>
              <a:tr h="285136">
                <a:tc>
                  <a:txBody>
                    <a:bodyPr/>
                    <a:lstStyle/>
                    <a:p>
                      <a:r>
                        <a:rPr lang="en-US" sz="1600"/>
                        <a:t>110-54-3</a:t>
                      </a:r>
                    </a:p>
                  </a:txBody>
                  <a:tcPr marL="121920" marR="121920" marT="60960" marB="60960"/>
                </a:tc>
                <a:tc>
                  <a:txBody>
                    <a:bodyPr/>
                    <a:lstStyle/>
                    <a:p>
                      <a:r>
                        <a:rPr lang="en-US" sz="1600" dirty="0"/>
                        <a:t>86.18</a:t>
                      </a:r>
                    </a:p>
                  </a:txBody>
                  <a:tcPr marL="121920" marR="121920" marT="60960" marB="60960"/>
                </a:tc>
                <a:extLst>
                  <a:ext uri="{0D108BD9-81ED-4DB2-BD59-A6C34878D82A}">
                    <a16:rowId xmlns:a16="http://schemas.microsoft.com/office/drawing/2014/main" val="3264277782"/>
                  </a:ext>
                </a:extLst>
              </a:tr>
            </a:tbl>
          </a:graphicData>
        </a:graphic>
      </p:graphicFrame>
      <p:sp>
        <p:nvSpPr>
          <p:cNvPr id="42" name="TextBox 41">
            <a:extLst>
              <a:ext uri="{FF2B5EF4-FFF2-40B4-BE49-F238E27FC236}">
                <a16:creationId xmlns:a16="http://schemas.microsoft.com/office/drawing/2014/main" id="{0919106D-F1FA-32E6-8048-CF3B183A765B}"/>
              </a:ext>
            </a:extLst>
          </p:cNvPr>
          <p:cNvSpPr txBox="1"/>
          <p:nvPr/>
        </p:nvSpPr>
        <p:spPr>
          <a:xfrm>
            <a:off x="999461" y="3566876"/>
            <a:ext cx="914400" cy="914400"/>
          </a:xfrm>
          <a:prstGeom prst="rect">
            <a:avLst/>
          </a:prstGeom>
          <a:noFill/>
        </p:spPr>
        <p:txBody>
          <a:bodyPr wrap="none" lIns="45720" rIns="4572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srgbClr val="415364"/>
                </a:solidFill>
                <a:effectLst/>
                <a:uLnTx/>
                <a:uFillTx/>
                <a:latin typeface="Arial" panose="020B0604020202020204"/>
                <a:ea typeface="+mn-ea"/>
                <a:cs typeface="+mn-cs"/>
              </a:rPr>
              <a:t>B</a:t>
            </a:r>
          </a:p>
        </p:txBody>
      </p:sp>
      <p:cxnSp>
        <p:nvCxnSpPr>
          <p:cNvPr id="8" name="Straight Connector 7">
            <a:extLst>
              <a:ext uri="{FF2B5EF4-FFF2-40B4-BE49-F238E27FC236}">
                <a16:creationId xmlns:a16="http://schemas.microsoft.com/office/drawing/2014/main" id="{5C3107C9-C41B-92C0-8DE5-6F72262CFF39}"/>
              </a:ext>
            </a:extLst>
          </p:cNvPr>
          <p:cNvCxnSpPr/>
          <p:nvPr/>
        </p:nvCxnSpPr>
        <p:spPr>
          <a:xfrm>
            <a:off x="1488561" y="3264191"/>
            <a:ext cx="8867553"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1F9C0AC8-F12A-DAA2-A338-B8B14370FEBB}"/>
              </a:ext>
            </a:extLst>
          </p:cNvPr>
          <p:cNvCxnSpPr/>
          <p:nvPr/>
        </p:nvCxnSpPr>
        <p:spPr>
          <a:xfrm>
            <a:off x="1488561" y="4820091"/>
            <a:ext cx="8867553" cy="0"/>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4145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0"/>
            <a:ext cx="11155680" cy="338554"/>
          </a:xfrm>
          <a:prstGeom prst="rect">
            <a:avLst/>
          </a:prstGeom>
          <a:noFill/>
        </p:spPr>
        <p:txBody>
          <a:bodyPr wrap="square" lIns="45720" rIns="45720" anchor="t">
            <a:spAutoFit/>
          </a:bodyPr>
          <a:lstStyle/>
          <a:p>
            <a:pPr algn="l"/>
            <a:r>
              <a:rPr sz="1600" b="1" i="0" dirty="0">
                <a:solidFill>
                  <a:srgbClr val="E67E22"/>
                </a:solidFill>
                <a:latin typeface="Calibri"/>
              </a:rPr>
              <a:t>PART 3</a:t>
            </a:r>
          </a:p>
        </p:txBody>
      </p:sp>
      <p:sp>
        <p:nvSpPr>
          <p:cNvPr id="4" name="TextBox 3"/>
          <p:cNvSpPr txBox="1"/>
          <p:nvPr/>
        </p:nvSpPr>
        <p:spPr>
          <a:xfrm>
            <a:off x="548640" y="3108960"/>
            <a:ext cx="11155680" cy="1463040"/>
          </a:xfrm>
          <a:prstGeom prst="rect">
            <a:avLst/>
          </a:prstGeom>
          <a:noFill/>
        </p:spPr>
        <p:txBody>
          <a:bodyPr wrap="square" lIns="45720" rIns="45720" anchor="t">
            <a:spAutoFit/>
          </a:bodyPr>
          <a:lstStyle/>
          <a:p>
            <a:pPr algn="l"/>
            <a:r>
              <a:rPr sz="4400" b="1" i="0">
                <a:solidFill>
                  <a:srgbClr val="FFFFFF"/>
                </a:solidFill>
                <a:latin typeface="Cambria"/>
              </a:rPr>
              <a:t>Packaging: from files to data products</a:t>
            </a:r>
          </a:p>
        </p:txBody>
      </p:sp>
      <p:sp>
        <p:nvSpPr>
          <p:cNvPr id="5" name="TextBox 4"/>
          <p:cNvSpPr txBox="1"/>
          <p:nvPr/>
        </p:nvSpPr>
        <p:spPr>
          <a:xfrm>
            <a:off x="548640" y="4572000"/>
            <a:ext cx="11155680" cy="400110"/>
          </a:xfrm>
          <a:prstGeom prst="rect">
            <a:avLst/>
          </a:prstGeom>
          <a:noFill/>
        </p:spPr>
        <p:txBody>
          <a:bodyPr wrap="square" lIns="45720" rIns="45720" anchor="t">
            <a:spAutoFit/>
          </a:bodyPr>
          <a:lstStyle/>
          <a:p>
            <a:pPr algn="l"/>
            <a:r>
              <a:rPr sz="2000" b="0" i="0" dirty="0">
                <a:solidFill>
                  <a:srgbClr val="B5BDC8"/>
                </a:solidFill>
                <a:latin typeface="Calibri"/>
              </a:rPr>
              <a:t>What turns a folder of files into something a stranger can pick </a:t>
            </a:r>
            <a:r>
              <a:rPr lang="en-US" sz="2000" b="0" i="0" dirty="0">
                <a:solidFill>
                  <a:srgbClr val="B5BDC8"/>
                </a:solidFill>
                <a:latin typeface="Calibri"/>
              </a:rPr>
              <a:t>up and use</a:t>
            </a:r>
            <a:endParaRPr sz="2000" b="0" i="0" dirty="0">
              <a:solidFill>
                <a:srgbClr val="B5BDC8"/>
              </a:solidFill>
              <a:latin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822960"/>
          </a:xfrm>
          <a:prstGeom prst="rect">
            <a:avLst/>
          </a:prstGeom>
          <a:noFill/>
        </p:spPr>
        <p:txBody>
          <a:bodyPr wrap="square" lIns="45720" rIns="45720" anchor="t">
            <a:spAutoFit/>
          </a:bodyPr>
          <a:lstStyle/>
          <a:p>
            <a:pPr algn="l"/>
            <a:r>
              <a:rPr sz="3200" b="1" i="0" dirty="0">
                <a:solidFill>
                  <a:srgbClr val="1E2761"/>
                </a:solidFill>
                <a:latin typeface="Cambria"/>
              </a:rPr>
              <a:t>A re-usable digital asset has three legs</a:t>
            </a:r>
          </a:p>
        </p:txBody>
      </p:sp>
      <p:sp>
        <p:nvSpPr>
          <p:cNvPr id="3" name="Rounded Rectangle 2"/>
          <p:cNvSpPr/>
          <p:nvPr/>
        </p:nvSpPr>
        <p:spPr>
          <a:xfrm>
            <a:off x="54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4" name="Rounded Rectangle 3"/>
          <p:cNvSpPr/>
          <p:nvPr/>
        </p:nvSpPr>
        <p:spPr>
          <a:xfrm>
            <a:off x="54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TextBox 4"/>
          <p:cNvSpPr txBox="1"/>
          <p:nvPr/>
        </p:nvSpPr>
        <p:spPr>
          <a:xfrm>
            <a:off x="731520" y="1666548"/>
            <a:ext cx="3169920" cy="461665"/>
          </a:xfrm>
          <a:prstGeom prst="rect">
            <a:avLst/>
          </a:prstGeom>
          <a:noFill/>
        </p:spPr>
        <p:txBody>
          <a:bodyPr wrap="square" lIns="45720" rIns="45720" anchor="ctr">
            <a:spAutoFit/>
          </a:bodyPr>
          <a:lstStyle/>
          <a:p>
            <a:pPr algn="l"/>
            <a:r>
              <a:rPr sz="2400" b="1" i="0">
                <a:solidFill>
                  <a:srgbClr val="FFFFFF"/>
                </a:solidFill>
                <a:latin typeface="Cambria"/>
              </a:rPr>
              <a:t>Data</a:t>
            </a:r>
          </a:p>
        </p:txBody>
      </p:sp>
      <p:sp>
        <p:nvSpPr>
          <p:cNvPr id="6" name="TextBox 5"/>
          <p:cNvSpPr txBox="1"/>
          <p:nvPr/>
        </p:nvSpPr>
        <p:spPr>
          <a:xfrm>
            <a:off x="777240" y="2423160"/>
            <a:ext cx="3078480" cy="2862322"/>
          </a:xfrm>
          <a:prstGeom prst="rect">
            <a:avLst/>
          </a:prstGeom>
          <a:noFill/>
        </p:spPr>
        <p:txBody>
          <a:bodyPr wrap="square" lIns="45720" rIns="45720" anchor="t">
            <a:spAutoFit/>
          </a:bodyPr>
          <a:lstStyle/>
          <a:p>
            <a:pPr algn="l"/>
            <a:r>
              <a:rPr sz="2000" b="0" i="0" dirty="0">
                <a:solidFill>
                  <a:srgbClr val="2C3E50"/>
                </a:solidFill>
                <a:latin typeface="Calibri"/>
              </a:rPr>
              <a:t>The numbers and observations, arranged so someone else can load them into their tool of choice without hand-transcription. This is what most people mean when they say 'data’</a:t>
            </a:r>
            <a:r>
              <a:rPr lang="en-US" sz="2000" b="0" i="0" dirty="0">
                <a:solidFill>
                  <a:srgbClr val="2C3E50"/>
                </a:solidFill>
                <a:latin typeface="Calibri"/>
              </a:rPr>
              <a:t>, </a:t>
            </a:r>
            <a:r>
              <a:rPr sz="2000" b="0" i="0" dirty="0">
                <a:solidFill>
                  <a:srgbClr val="2C3E50"/>
                </a:solidFill>
                <a:latin typeface="Calibri"/>
              </a:rPr>
              <a:t>but it's only one </a:t>
            </a:r>
            <a:r>
              <a:rPr lang="en-US" sz="2000" b="0" i="0" dirty="0">
                <a:solidFill>
                  <a:srgbClr val="2C3E50"/>
                </a:solidFill>
                <a:latin typeface="Calibri"/>
              </a:rPr>
              <a:t>piece of complete data stewardship.</a:t>
            </a:r>
            <a:endParaRPr sz="2000" b="0" i="0" dirty="0">
              <a:solidFill>
                <a:srgbClr val="2C3E50"/>
              </a:solidFill>
              <a:latin typeface="Calibri"/>
            </a:endParaRPr>
          </a:p>
        </p:txBody>
      </p:sp>
      <p:sp>
        <p:nvSpPr>
          <p:cNvPr id="7" name="TextBox 6"/>
          <p:cNvSpPr txBox="1"/>
          <p:nvPr/>
        </p:nvSpPr>
        <p:spPr>
          <a:xfrm>
            <a:off x="777240" y="5943600"/>
            <a:ext cx="3078480" cy="338554"/>
          </a:xfrm>
          <a:prstGeom prst="rect">
            <a:avLst/>
          </a:prstGeom>
          <a:noFill/>
        </p:spPr>
        <p:txBody>
          <a:bodyPr wrap="square" lIns="45720" rIns="45720" anchor="t">
            <a:spAutoFit/>
          </a:bodyPr>
          <a:lstStyle/>
          <a:p>
            <a:r>
              <a:rPr sz="1600" b="1" i="1" dirty="0">
                <a:solidFill>
                  <a:srgbClr val="E67E22"/>
                </a:solidFill>
                <a:latin typeface="Calibri"/>
              </a:rPr>
              <a:t>csv · tidy xlsx</a:t>
            </a:r>
            <a:r>
              <a:rPr lang="en-US" sz="1600" b="1" i="1" dirty="0">
                <a:solidFill>
                  <a:srgbClr val="E67E22"/>
                </a:solidFill>
              </a:rPr>
              <a:t> · </a:t>
            </a:r>
            <a:r>
              <a:rPr lang="en-US" sz="1600" b="1" i="1" dirty="0" err="1">
                <a:solidFill>
                  <a:srgbClr val="E67E22"/>
                </a:solidFill>
              </a:rPr>
              <a:t>sql</a:t>
            </a:r>
            <a:endParaRPr sz="1600" b="1" i="1" dirty="0">
              <a:solidFill>
                <a:srgbClr val="E67E22"/>
              </a:solidFill>
              <a:latin typeface="Calibri"/>
            </a:endParaRPr>
          </a:p>
        </p:txBody>
      </p:sp>
      <p:sp>
        <p:nvSpPr>
          <p:cNvPr id="8" name="Rounded Rectangle 7"/>
          <p:cNvSpPr/>
          <p:nvPr/>
        </p:nvSpPr>
        <p:spPr>
          <a:xfrm>
            <a:off x="435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9" name="Rounded Rectangle 8"/>
          <p:cNvSpPr/>
          <p:nvPr/>
        </p:nvSpPr>
        <p:spPr>
          <a:xfrm>
            <a:off x="435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p:cNvSpPr txBox="1"/>
          <p:nvPr/>
        </p:nvSpPr>
        <p:spPr>
          <a:xfrm>
            <a:off x="4541520" y="1666548"/>
            <a:ext cx="3169920" cy="461665"/>
          </a:xfrm>
          <a:prstGeom prst="rect">
            <a:avLst/>
          </a:prstGeom>
          <a:noFill/>
        </p:spPr>
        <p:txBody>
          <a:bodyPr wrap="square" lIns="45720" rIns="45720" anchor="ctr">
            <a:spAutoFit/>
          </a:bodyPr>
          <a:lstStyle/>
          <a:p>
            <a:pPr algn="l"/>
            <a:r>
              <a:rPr sz="2400" b="1" i="0">
                <a:solidFill>
                  <a:srgbClr val="FFFFFF"/>
                </a:solidFill>
                <a:latin typeface="Cambria"/>
              </a:rPr>
              <a:t>Code</a:t>
            </a:r>
          </a:p>
        </p:txBody>
      </p:sp>
      <p:sp>
        <p:nvSpPr>
          <p:cNvPr id="11" name="TextBox 10"/>
          <p:cNvSpPr txBox="1"/>
          <p:nvPr/>
        </p:nvSpPr>
        <p:spPr>
          <a:xfrm>
            <a:off x="4587240" y="2423160"/>
            <a:ext cx="3078480" cy="2246769"/>
          </a:xfrm>
          <a:prstGeom prst="rect">
            <a:avLst/>
          </a:prstGeom>
          <a:noFill/>
        </p:spPr>
        <p:txBody>
          <a:bodyPr wrap="square" lIns="45720" rIns="45720" anchor="t">
            <a:spAutoFit/>
          </a:bodyPr>
          <a:lstStyle/>
          <a:p>
            <a:pPr algn="l"/>
            <a:r>
              <a:rPr sz="2000" b="0" i="0" dirty="0">
                <a:solidFill>
                  <a:srgbClr val="2C3E50"/>
                </a:solidFill>
                <a:latin typeface="Calibri"/>
              </a:rPr>
              <a:t>The transformations, models, plots, and joins that produced the outputs. A </a:t>
            </a:r>
            <a:r>
              <a:rPr lang="en-US" sz="2000" dirty="0">
                <a:solidFill>
                  <a:srgbClr val="2C3E50"/>
                </a:solidFill>
                <a:latin typeface="Calibri"/>
              </a:rPr>
              <a:t>report</a:t>
            </a:r>
            <a:r>
              <a:rPr sz="2000" b="0" i="0" dirty="0">
                <a:solidFill>
                  <a:srgbClr val="2C3E50"/>
                </a:solidFill>
                <a:latin typeface="Calibri"/>
              </a:rPr>
              <a:t> of numbers with no script that made them is</a:t>
            </a:r>
            <a:r>
              <a:rPr lang="en-US" sz="2000" b="0" i="0" dirty="0">
                <a:solidFill>
                  <a:srgbClr val="2C3E50"/>
                </a:solidFill>
                <a:latin typeface="Calibri"/>
              </a:rPr>
              <a:t> irreproducible</a:t>
            </a:r>
            <a:r>
              <a:rPr sz="2000" b="0" i="0" dirty="0">
                <a:solidFill>
                  <a:srgbClr val="2C3E50"/>
                </a:solidFill>
                <a:latin typeface="Calibri"/>
              </a:rPr>
              <a:t>; nobody can re-derive anything.</a:t>
            </a:r>
          </a:p>
        </p:txBody>
      </p:sp>
      <p:sp>
        <p:nvSpPr>
          <p:cNvPr id="12" name="TextBox 11"/>
          <p:cNvSpPr txBox="1"/>
          <p:nvPr/>
        </p:nvSpPr>
        <p:spPr>
          <a:xfrm>
            <a:off x="4587240" y="5943600"/>
            <a:ext cx="3078480" cy="338554"/>
          </a:xfrm>
          <a:prstGeom prst="rect">
            <a:avLst/>
          </a:prstGeom>
          <a:noFill/>
        </p:spPr>
        <p:txBody>
          <a:bodyPr wrap="square" lIns="45720" rIns="45720" anchor="t">
            <a:spAutoFit/>
          </a:bodyPr>
          <a:lstStyle/>
          <a:p>
            <a:r>
              <a:rPr lang="en-US" sz="1600" b="1" i="1" dirty="0">
                <a:solidFill>
                  <a:srgbClr val="E67E22"/>
                </a:solidFill>
                <a:latin typeface="Calibri"/>
              </a:rPr>
              <a:t>code </a:t>
            </a:r>
            <a:r>
              <a:rPr sz="1600" b="1" i="1" dirty="0">
                <a:solidFill>
                  <a:srgbClr val="E67E22"/>
                </a:solidFill>
                <a:latin typeface="Calibri"/>
              </a:rPr>
              <a:t>· </a:t>
            </a:r>
            <a:r>
              <a:rPr lang="en-US" sz="1600" b="1" i="1" dirty="0">
                <a:solidFill>
                  <a:srgbClr val="E67E22"/>
                </a:solidFill>
              </a:rPr>
              <a:t>git · </a:t>
            </a:r>
            <a:r>
              <a:rPr sz="1600" b="1" i="1" dirty="0">
                <a:solidFill>
                  <a:srgbClr val="E67E22"/>
                </a:solidFill>
                <a:latin typeface="Calibri"/>
              </a:rPr>
              <a:t>requirements</a:t>
            </a:r>
            <a:r>
              <a:rPr lang="en-US" sz="1600" b="1" i="1" dirty="0">
                <a:solidFill>
                  <a:srgbClr val="E67E22"/>
                </a:solidFill>
                <a:latin typeface="Calibri"/>
              </a:rPr>
              <a:t>.txt</a:t>
            </a:r>
            <a:endParaRPr sz="1600" b="1" i="1" dirty="0">
              <a:solidFill>
                <a:srgbClr val="E67E22"/>
              </a:solidFill>
              <a:latin typeface="Calibri"/>
            </a:endParaRPr>
          </a:p>
        </p:txBody>
      </p:sp>
      <p:sp>
        <p:nvSpPr>
          <p:cNvPr id="13" name="Rounded Rectangle 12"/>
          <p:cNvSpPr/>
          <p:nvPr/>
        </p:nvSpPr>
        <p:spPr>
          <a:xfrm>
            <a:off x="816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Rounded Rectangle 13"/>
          <p:cNvSpPr/>
          <p:nvPr/>
        </p:nvSpPr>
        <p:spPr>
          <a:xfrm>
            <a:off x="816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8351520" y="1666548"/>
            <a:ext cx="3169920" cy="461665"/>
          </a:xfrm>
          <a:prstGeom prst="rect">
            <a:avLst/>
          </a:prstGeom>
          <a:noFill/>
        </p:spPr>
        <p:txBody>
          <a:bodyPr wrap="square" lIns="45720" rIns="45720" anchor="ctr">
            <a:spAutoFit/>
          </a:bodyPr>
          <a:lstStyle/>
          <a:p>
            <a:pPr algn="l"/>
            <a:r>
              <a:rPr sz="2400" b="1" i="0">
                <a:solidFill>
                  <a:srgbClr val="FFFFFF"/>
                </a:solidFill>
                <a:latin typeface="Cambria"/>
              </a:rPr>
              <a:t>Docs</a:t>
            </a:r>
          </a:p>
        </p:txBody>
      </p:sp>
      <p:sp>
        <p:nvSpPr>
          <p:cNvPr id="16" name="TextBox 15"/>
          <p:cNvSpPr txBox="1"/>
          <p:nvPr/>
        </p:nvSpPr>
        <p:spPr>
          <a:xfrm>
            <a:off x="8397240" y="2423160"/>
            <a:ext cx="3078480" cy="1631216"/>
          </a:xfrm>
          <a:prstGeom prst="rect">
            <a:avLst/>
          </a:prstGeom>
          <a:noFill/>
        </p:spPr>
        <p:txBody>
          <a:bodyPr wrap="square" lIns="45720" rIns="45720" anchor="t">
            <a:spAutoFit/>
          </a:bodyPr>
          <a:lstStyle/>
          <a:p>
            <a:pPr algn="l"/>
            <a:r>
              <a:rPr sz="2000" b="0" i="0" dirty="0">
                <a:solidFill>
                  <a:srgbClr val="2C3E50"/>
                </a:solidFill>
                <a:latin typeface="Calibri"/>
              </a:rPr>
              <a:t>What</a:t>
            </a:r>
            <a:r>
              <a:rPr lang="en-US" sz="2000" b="0" i="0" dirty="0">
                <a:solidFill>
                  <a:srgbClr val="2C3E50"/>
                </a:solidFill>
                <a:latin typeface="Calibri"/>
              </a:rPr>
              <a:t>, </a:t>
            </a:r>
            <a:r>
              <a:rPr lang="en-US" sz="2000" b="0" i="1" dirty="0">
                <a:solidFill>
                  <a:srgbClr val="2C3E50"/>
                </a:solidFill>
                <a:latin typeface="Calibri"/>
              </a:rPr>
              <a:t>exactly</a:t>
            </a:r>
            <a:r>
              <a:rPr lang="en-US" sz="2000" b="0" dirty="0">
                <a:solidFill>
                  <a:srgbClr val="2C3E50"/>
                </a:solidFill>
                <a:latin typeface="Calibri"/>
              </a:rPr>
              <a:t>,</a:t>
            </a:r>
            <a:r>
              <a:rPr sz="2000" b="0" i="0" dirty="0">
                <a:solidFill>
                  <a:srgbClr val="2C3E50"/>
                </a:solidFill>
                <a:latin typeface="Calibri"/>
              </a:rPr>
              <a:t> the columns mean, what units apply, who collected the data, what instrument was used, what </a:t>
            </a:r>
            <a:r>
              <a:rPr lang="en-US" sz="2000" dirty="0">
                <a:solidFill>
                  <a:srgbClr val="2C3E50"/>
                </a:solidFill>
                <a:latin typeface="Calibri"/>
              </a:rPr>
              <a:t>method </a:t>
            </a:r>
            <a:r>
              <a:rPr sz="2000" b="0" i="0" dirty="0">
                <a:solidFill>
                  <a:srgbClr val="2C3E50"/>
                </a:solidFill>
                <a:latin typeface="Calibri"/>
              </a:rPr>
              <a:t>was followed. </a:t>
            </a:r>
          </a:p>
        </p:txBody>
      </p:sp>
      <p:sp>
        <p:nvSpPr>
          <p:cNvPr id="17" name="TextBox 16"/>
          <p:cNvSpPr txBox="1"/>
          <p:nvPr/>
        </p:nvSpPr>
        <p:spPr>
          <a:xfrm>
            <a:off x="8397240" y="5943600"/>
            <a:ext cx="3078480" cy="338554"/>
          </a:xfrm>
          <a:prstGeom prst="rect">
            <a:avLst/>
          </a:prstGeom>
          <a:noFill/>
        </p:spPr>
        <p:txBody>
          <a:bodyPr wrap="square" lIns="45720" rIns="45720" anchor="t">
            <a:spAutoFit/>
          </a:bodyPr>
          <a:lstStyle/>
          <a:p>
            <a:pPr algn="l"/>
            <a:r>
              <a:rPr sz="1600" b="1" i="1">
                <a:solidFill>
                  <a:srgbClr val="E67E22"/>
                </a:solidFill>
                <a:latin typeface="Calibri"/>
              </a:rPr>
              <a:t>dictionary · README · provenance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822960"/>
          </a:xfrm>
          <a:prstGeom prst="rect">
            <a:avLst/>
          </a:prstGeom>
          <a:noFill/>
        </p:spPr>
        <p:txBody>
          <a:bodyPr wrap="square" lIns="45720" rIns="45720" anchor="t">
            <a:spAutoFit/>
          </a:bodyPr>
          <a:lstStyle/>
          <a:p>
            <a:pPr algn="l"/>
            <a:r>
              <a:rPr sz="3200" b="1" i="0">
                <a:solidFill>
                  <a:srgbClr val="1E2761"/>
                </a:solidFill>
                <a:latin typeface="Cambria"/>
              </a:rPr>
              <a:t>A data dictionary — one row per column of your dataset</a:t>
            </a:r>
          </a:p>
        </p:txBody>
      </p:sp>
      <p:pic>
        <p:nvPicPr>
          <p:cNvPr id="3" name="Picture 2" descr="06-data-dictionary.png"/>
          <p:cNvPicPr>
            <a:picLocks noChangeAspect="1"/>
          </p:cNvPicPr>
          <p:nvPr/>
        </p:nvPicPr>
        <p:blipFill>
          <a:blip r:embed="rId3"/>
          <a:srcRect t="10163" b="18606"/>
          <a:stretch>
            <a:fillRect/>
          </a:stretch>
        </p:blipFill>
        <p:spPr>
          <a:xfrm>
            <a:off x="146729" y="1403498"/>
            <a:ext cx="11744014" cy="4657060"/>
          </a:xfrm>
          <a:prstGeom prst="rect">
            <a:avLst/>
          </a:prstGeom>
        </p:spPr>
      </p:pic>
      <p:sp>
        <p:nvSpPr>
          <p:cNvPr id="4" name="TextBox 3"/>
          <p:cNvSpPr txBox="1"/>
          <p:nvPr/>
        </p:nvSpPr>
        <p:spPr>
          <a:xfrm>
            <a:off x="440896" y="6097772"/>
            <a:ext cx="11155680" cy="369332"/>
          </a:xfrm>
          <a:prstGeom prst="rect">
            <a:avLst/>
          </a:prstGeom>
          <a:noFill/>
        </p:spPr>
        <p:txBody>
          <a:bodyPr wrap="square" lIns="45720" rIns="45720" anchor="t">
            <a:spAutoFit/>
          </a:bodyPr>
          <a:lstStyle/>
          <a:p>
            <a:pPr algn="ctr"/>
            <a:r>
              <a:rPr b="0" i="1" dirty="0">
                <a:solidFill>
                  <a:srgbClr val="4A5B6E"/>
                </a:solidFill>
                <a:latin typeface="Calibri"/>
              </a:rPr>
              <a:t>Minimum-viable fields: column name, type, unit, allowed values, description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BE859D8-998A-45E5-BC0C-6E1EAA150914}"/>
              </a:ext>
            </a:extLst>
          </p:cNvPr>
          <p:cNvSpPr>
            <a:spLocks noGrp="1"/>
          </p:cNvSpPr>
          <p:nvPr>
            <p:ph type="title"/>
          </p:nvPr>
        </p:nvSpPr>
        <p:spPr/>
        <p:txBody>
          <a:bodyPr/>
          <a:lstStyle/>
          <a:p>
            <a:r>
              <a:rPr lang="en-US"/>
              <a:t>Easy steps to self-documenting data</a:t>
            </a:r>
          </a:p>
        </p:txBody>
      </p:sp>
      <p:sp>
        <p:nvSpPr>
          <p:cNvPr id="10" name="TextBox 9">
            <a:extLst>
              <a:ext uri="{FF2B5EF4-FFF2-40B4-BE49-F238E27FC236}">
                <a16:creationId xmlns:a16="http://schemas.microsoft.com/office/drawing/2014/main" id="{DC776336-84FD-447F-8C00-52B86B88F57C}"/>
              </a:ext>
            </a:extLst>
          </p:cNvPr>
          <p:cNvSpPr txBox="1"/>
          <p:nvPr/>
        </p:nvSpPr>
        <p:spPr>
          <a:xfrm>
            <a:off x="856091" y="1377703"/>
            <a:ext cx="5074394" cy="707886"/>
          </a:xfrm>
          <a:prstGeom prst="rect">
            <a:avLst/>
          </a:prstGeom>
          <a:solidFill>
            <a:schemeClr val="bg1">
              <a:lumMod val="85000"/>
            </a:schemeClr>
          </a:solidFill>
        </p:spPr>
        <p:txBody>
          <a:bodyPr wrap="square">
            <a:spAutoFit/>
          </a:bodyPr>
          <a:lstStyle/>
          <a:p>
            <a:pPr defTabSz="1219170"/>
            <a:r>
              <a:rPr lang="en-US" sz="2000" dirty="0">
                <a:solidFill>
                  <a:srgbClr val="415364"/>
                </a:solidFill>
              </a:rPr>
              <a:t>Column headers are explicit and clearly define what was recorded</a:t>
            </a:r>
          </a:p>
        </p:txBody>
      </p:sp>
      <p:sp>
        <p:nvSpPr>
          <p:cNvPr id="11" name="TextBox 10">
            <a:extLst>
              <a:ext uri="{FF2B5EF4-FFF2-40B4-BE49-F238E27FC236}">
                <a16:creationId xmlns:a16="http://schemas.microsoft.com/office/drawing/2014/main" id="{9A689126-3C84-4C83-A990-C1AA282F4D1D}"/>
              </a:ext>
            </a:extLst>
          </p:cNvPr>
          <p:cNvSpPr txBox="1"/>
          <p:nvPr/>
        </p:nvSpPr>
        <p:spPr>
          <a:xfrm>
            <a:off x="856091" y="2226814"/>
            <a:ext cx="5074394" cy="707886"/>
          </a:xfrm>
          <a:prstGeom prst="rect">
            <a:avLst/>
          </a:prstGeom>
          <a:solidFill>
            <a:schemeClr val="bg1">
              <a:lumMod val="85000"/>
            </a:schemeClr>
          </a:solidFill>
        </p:spPr>
        <p:txBody>
          <a:bodyPr wrap="square">
            <a:spAutoFit/>
          </a:bodyPr>
          <a:lstStyle/>
          <a:p>
            <a:pPr defTabSz="1219170"/>
            <a:r>
              <a:rPr lang="en-US" sz="2000">
                <a:solidFill>
                  <a:srgbClr val="415364"/>
                </a:solidFill>
              </a:rPr>
              <a:t>Column headers contain units clearly separated from name</a:t>
            </a:r>
          </a:p>
        </p:txBody>
      </p:sp>
      <p:sp>
        <p:nvSpPr>
          <p:cNvPr id="13" name="TextBox 12">
            <a:extLst>
              <a:ext uri="{FF2B5EF4-FFF2-40B4-BE49-F238E27FC236}">
                <a16:creationId xmlns:a16="http://schemas.microsoft.com/office/drawing/2014/main" id="{70EAD642-7BB1-4D03-952D-85B43F85B970}"/>
              </a:ext>
            </a:extLst>
          </p:cNvPr>
          <p:cNvSpPr txBox="1"/>
          <p:nvPr/>
        </p:nvSpPr>
        <p:spPr>
          <a:xfrm>
            <a:off x="856091" y="3075925"/>
            <a:ext cx="5074394" cy="707886"/>
          </a:xfrm>
          <a:prstGeom prst="rect">
            <a:avLst/>
          </a:prstGeom>
          <a:solidFill>
            <a:schemeClr val="bg1">
              <a:lumMod val="85000"/>
            </a:schemeClr>
          </a:solidFill>
        </p:spPr>
        <p:txBody>
          <a:bodyPr wrap="square">
            <a:spAutoFit/>
          </a:bodyPr>
          <a:lstStyle/>
          <a:p>
            <a:pPr defTabSz="1219170"/>
            <a:r>
              <a:rPr lang="en-US" sz="2000">
                <a:solidFill>
                  <a:srgbClr val="415364"/>
                </a:solidFill>
              </a:rPr>
              <a:t>Use an agreed-upon material ID instead of product names</a:t>
            </a:r>
          </a:p>
        </p:txBody>
      </p:sp>
      <p:sp>
        <p:nvSpPr>
          <p:cNvPr id="15" name="TextBox 14">
            <a:extLst>
              <a:ext uri="{FF2B5EF4-FFF2-40B4-BE49-F238E27FC236}">
                <a16:creationId xmlns:a16="http://schemas.microsoft.com/office/drawing/2014/main" id="{26141776-6A1B-420C-BE60-74FDAF39893D}"/>
              </a:ext>
            </a:extLst>
          </p:cNvPr>
          <p:cNvSpPr txBox="1"/>
          <p:nvPr/>
        </p:nvSpPr>
        <p:spPr>
          <a:xfrm>
            <a:off x="856091" y="3925036"/>
            <a:ext cx="5074394" cy="707886"/>
          </a:xfrm>
          <a:prstGeom prst="rect">
            <a:avLst/>
          </a:prstGeom>
          <a:solidFill>
            <a:schemeClr val="bg1">
              <a:lumMod val="85000"/>
            </a:schemeClr>
          </a:solidFill>
        </p:spPr>
        <p:txBody>
          <a:bodyPr wrap="square">
            <a:spAutoFit/>
          </a:bodyPr>
          <a:lstStyle/>
          <a:p>
            <a:pPr marL="12699" lvl="1" defTabSz="1219170"/>
            <a:r>
              <a:rPr lang="en-US" sz="2000">
                <a:solidFill>
                  <a:srgbClr val="415364"/>
                </a:solidFill>
              </a:rPr>
              <a:t>One row per measurement, keep </a:t>
            </a:r>
            <a:r>
              <a:rPr lang="en-US" sz="2000" u="sng">
                <a:solidFill>
                  <a:srgbClr val="415364"/>
                </a:solidFill>
              </a:rPr>
              <a:t>all</a:t>
            </a:r>
            <a:r>
              <a:rPr lang="en-US" sz="2000">
                <a:solidFill>
                  <a:srgbClr val="415364"/>
                </a:solidFill>
              </a:rPr>
              <a:t> measurements</a:t>
            </a:r>
          </a:p>
        </p:txBody>
      </p:sp>
      <p:sp>
        <p:nvSpPr>
          <p:cNvPr id="17" name="TextBox 16">
            <a:extLst>
              <a:ext uri="{FF2B5EF4-FFF2-40B4-BE49-F238E27FC236}">
                <a16:creationId xmlns:a16="http://schemas.microsoft.com/office/drawing/2014/main" id="{ADE249CE-19D7-4B8D-B509-1E566A9A34ED}"/>
              </a:ext>
            </a:extLst>
          </p:cNvPr>
          <p:cNvSpPr txBox="1"/>
          <p:nvPr/>
        </p:nvSpPr>
        <p:spPr>
          <a:xfrm>
            <a:off x="856091" y="4774147"/>
            <a:ext cx="5074394" cy="707886"/>
          </a:xfrm>
          <a:prstGeom prst="rect">
            <a:avLst/>
          </a:prstGeom>
          <a:solidFill>
            <a:schemeClr val="bg1">
              <a:lumMod val="85000"/>
            </a:schemeClr>
          </a:solidFill>
        </p:spPr>
        <p:txBody>
          <a:bodyPr wrap="square">
            <a:spAutoFit/>
          </a:bodyPr>
          <a:lstStyle/>
          <a:p>
            <a:pPr defTabSz="1219170"/>
            <a:r>
              <a:rPr lang="en-US" sz="2000">
                <a:solidFill>
                  <a:srgbClr val="415364"/>
                </a:solidFill>
              </a:rPr>
              <a:t>Use separate columns for intended vs actual and name them accordingly</a:t>
            </a:r>
          </a:p>
        </p:txBody>
      </p:sp>
      <p:sp>
        <p:nvSpPr>
          <p:cNvPr id="19" name="TextBox 18">
            <a:extLst>
              <a:ext uri="{FF2B5EF4-FFF2-40B4-BE49-F238E27FC236}">
                <a16:creationId xmlns:a16="http://schemas.microsoft.com/office/drawing/2014/main" id="{83922B7C-26CA-47EC-AF20-4413F8DA494F}"/>
              </a:ext>
            </a:extLst>
          </p:cNvPr>
          <p:cNvSpPr txBox="1"/>
          <p:nvPr/>
        </p:nvSpPr>
        <p:spPr>
          <a:xfrm>
            <a:off x="856091" y="5623257"/>
            <a:ext cx="5074394" cy="707886"/>
          </a:xfrm>
          <a:prstGeom prst="rect">
            <a:avLst/>
          </a:prstGeom>
          <a:solidFill>
            <a:schemeClr val="bg1">
              <a:lumMod val="85000"/>
            </a:schemeClr>
          </a:solidFill>
        </p:spPr>
        <p:txBody>
          <a:bodyPr wrap="square">
            <a:spAutoFit/>
          </a:bodyPr>
          <a:lstStyle/>
          <a:p>
            <a:pPr marL="12699" lvl="1" defTabSz="1219170"/>
            <a:r>
              <a:rPr lang="en-US" sz="2000">
                <a:solidFill>
                  <a:srgbClr val="415364"/>
                </a:solidFill>
              </a:rPr>
              <a:t>Refer to measurement procedures, if possible by including them in the column name</a:t>
            </a:r>
          </a:p>
        </p:txBody>
      </p:sp>
      <p:sp>
        <p:nvSpPr>
          <p:cNvPr id="21" name="TextBox 20">
            <a:extLst>
              <a:ext uri="{FF2B5EF4-FFF2-40B4-BE49-F238E27FC236}">
                <a16:creationId xmlns:a16="http://schemas.microsoft.com/office/drawing/2014/main" id="{DF24E72F-27A2-4A35-AFDA-3070A6B168FF}"/>
              </a:ext>
            </a:extLst>
          </p:cNvPr>
          <p:cNvSpPr txBox="1"/>
          <p:nvPr/>
        </p:nvSpPr>
        <p:spPr>
          <a:xfrm>
            <a:off x="5810331" y="1504049"/>
            <a:ext cx="5037888" cy="400110"/>
          </a:xfrm>
          <a:prstGeom prst="rect">
            <a:avLst/>
          </a:prstGeom>
          <a:noFill/>
        </p:spPr>
        <p:txBody>
          <a:bodyPr wrap="square">
            <a:spAutoFit/>
          </a:bodyPr>
          <a:lstStyle/>
          <a:p>
            <a:pPr marL="315376" lvl="2" defTabSz="1219170"/>
            <a:r>
              <a:rPr lang="en-US" sz="2000" dirty="0">
                <a:solidFill>
                  <a:srgbClr val="415364"/>
                </a:solidFill>
              </a:rPr>
              <a:t>“Temperature setpoint”, not “Tsp”</a:t>
            </a:r>
          </a:p>
        </p:txBody>
      </p:sp>
      <p:sp>
        <p:nvSpPr>
          <p:cNvPr id="23" name="TextBox 22">
            <a:extLst>
              <a:ext uri="{FF2B5EF4-FFF2-40B4-BE49-F238E27FC236}">
                <a16:creationId xmlns:a16="http://schemas.microsoft.com/office/drawing/2014/main" id="{328CC96E-40AB-4C49-938A-2538264EA065}"/>
              </a:ext>
            </a:extLst>
          </p:cNvPr>
          <p:cNvSpPr txBox="1"/>
          <p:nvPr/>
        </p:nvSpPr>
        <p:spPr>
          <a:xfrm>
            <a:off x="5783932" y="2354539"/>
            <a:ext cx="5037888" cy="400110"/>
          </a:xfrm>
          <a:prstGeom prst="rect">
            <a:avLst/>
          </a:prstGeom>
          <a:noFill/>
        </p:spPr>
        <p:txBody>
          <a:bodyPr wrap="square">
            <a:spAutoFit/>
          </a:bodyPr>
          <a:lstStyle/>
          <a:p>
            <a:pPr marL="315376" lvl="2" defTabSz="1219170"/>
            <a:r>
              <a:rPr lang="en-US" sz="2000" dirty="0">
                <a:solidFill>
                  <a:srgbClr val="415364"/>
                </a:solidFill>
              </a:rPr>
              <a:t>“Temperature setpoint : </a:t>
            </a:r>
            <a:r>
              <a:rPr lang="en-US" sz="2000" dirty="0" err="1">
                <a:solidFill>
                  <a:srgbClr val="415364"/>
                </a:solidFill>
              </a:rPr>
              <a:t>degC</a:t>
            </a:r>
            <a:r>
              <a:rPr lang="en-US" sz="2000" dirty="0">
                <a:solidFill>
                  <a:srgbClr val="415364"/>
                </a:solidFill>
              </a:rPr>
              <a:t>”, not “</a:t>
            </a:r>
            <a:r>
              <a:rPr lang="en-US" sz="2000" dirty="0" err="1">
                <a:solidFill>
                  <a:srgbClr val="415364"/>
                </a:solidFill>
              </a:rPr>
              <a:t>ToC</a:t>
            </a:r>
            <a:r>
              <a:rPr lang="en-US" sz="2000" dirty="0">
                <a:solidFill>
                  <a:srgbClr val="415364"/>
                </a:solidFill>
              </a:rPr>
              <a:t>”</a:t>
            </a:r>
          </a:p>
        </p:txBody>
      </p:sp>
      <p:sp>
        <p:nvSpPr>
          <p:cNvPr id="25" name="TextBox 24">
            <a:extLst>
              <a:ext uri="{FF2B5EF4-FFF2-40B4-BE49-F238E27FC236}">
                <a16:creationId xmlns:a16="http://schemas.microsoft.com/office/drawing/2014/main" id="{DB9514D0-57E1-4B77-998B-CB4E7031BDB2}"/>
              </a:ext>
            </a:extLst>
          </p:cNvPr>
          <p:cNvSpPr txBox="1"/>
          <p:nvPr/>
        </p:nvSpPr>
        <p:spPr>
          <a:xfrm>
            <a:off x="5783932" y="3238909"/>
            <a:ext cx="5662023" cy="400110"/>
          </a:xfrm>
          <a:prstGeom prst="rect">
            <a:avLst/>
          </a:prstGeom>
          <a:noFill/>
        </p:spPr>
        <p:txBody>
          <a:bodyPr wrap="square">
            <a:spAutoFit/>
          </a:bodyPr>
          <a:lstStyle/>
          <a:p>
            <a:pPr marL="315376" lvl="2" defTabSz="1219170"/>
            <a:r>
              <a:rPr lang="en-US" sz="2000" dirty="0">
                <a:solidFill>
                  <a:srgbClr val="415364"/>
                </a:solidFill>
              </a:rPr>
              <a:t>“ELN10234” instead of “Dave’s polymer 3”</a:t>
            </a:r>
          </a:p>
        </p:txBody>
      </p:sp>
      <p:sp>
        <p:nvSpPr>
          <p:cNvPr id="27" name="TextBox 26">
            <a:extLst>
              <a:ext uri="{FF2B5EF4-FFF2-40B4-BE49-F238E27FC236}">
                <a16:creationId xmlns:a16="http://schemas.microsoft.com/office/drawing/2014/main" id="{FD2665B0-006C-41DB-86F5-5CA01CBFC0FA}"/>
              </a:ext>
            </a:extLst>
          </p:cNvPr>
          <p:cNvSpPr txBox="1"/>
          <p:nvPr/>
        </p:nvSpPr>
        <p:spPr>
          <a:xfrm>
            <a:off x="5783933" y="3990758"/>
            <a:ext cx="5662023" cy="400110"/>
          </a:xfrm>
          <a:prstGeom prst="rect">
            <a:avLst/>
          </a:prstGeom>
          <a:noFill/>
        </p:spPr>
        <p:txBody>
          <a:bodyPr wrap="square">
            <a:spAutoFit/>
          </a:bodyPr>
          <a:lstStyle/>
          <a:p>
            <a:pPr marL="315376" lvl="2" defTabSz="1219170"/>
            <a:r>
              <a:rPr lang="en-US" sz="2000" dirty="0">
                <a:solidFill>
                  <a:srgbClr val="415364"/>
                </a:solidFill>
              </a:rPr>
              <a:t>no averaged data or hand-picked data points</a:t>
            </a:r>
          </a:p>
        </p:txBody>
      </p:sp>
      <p:sp>
        <p:nvSpPr>
          <p:cNvPr id="29" name="TextBox 28">
            <a:extLst>
              <a:ext uri="{FF2B5EF4-FFF2-40B4-BE49-F238E27FC236}">
                <a16:creationId xmlns:a16="http://schemas.microsoft.com/office/drawing/2014/main" id="{E1855BA3-CC44-4460-8875-A88878D03993}"/>
              </a:ext>
            </a:extLst>
          </p:cNvPr>
          <p:cNvSpPr txBox="1"/>
          <p:nvPr/>
        </p:nvSpPr>
        <p:spPr>
          <a:xfrm>
            <a:off x="5810331" y="4727512"/>
            <a:ext cx="5525578" cy="707886"/>
          </a:xfrm>
          <a:prstGeom prst="rect">
            <a:avLst/>
          </a:prstGeom>
          <a:noFill/>
        </p:spPr>
        <p:txBody>
          <a:bodyPr wrap="square">
            <a:spAutoFit/>
          </a:bodyPr>
          <a:lstStyle/>
          <a:p>
            <a:pPr marL="315376" lvl="2" defTabSz="1219170"/>
            <a:r>
              <a:rPr lang="en-US" sz="2000" dirty="0">
                <a:solidFill>
                  <a:srgbClr val="415364"/>
                </a:solidFill>
              </a:rPr>
              <a:t>reactor set-point temperature vs actual measured reactor temperature</a:t>
            </a:r>
          </a:p>
        </p:txBody>
      </p:sp>
      <p:sp>
        <p:nvSpPr>
          <p:cNvPr id="31" name="TextBox 30">
            <a:extLst>
              <a:ext uri="{FF2B5EF4-FFF2-40B4-BE49-F238E27FC236}">
                <a16:creationId xmlns:a16="http://schemas.microsoft.com/office/drawing/2014/main" id="{51750C8B-9F5D-40C3-8C86-0AE9A303271B}"/>
              </a:ext>
            </a:extLst>
          </p:cNvPr>
          <p:cNvSpPr txBox="1"/>
          <p:nvPr/>
        </p:nvSpPr>
        <p:spPr>
          <a:xfrm>
            <a:off x="6096000" y="5752543"/>
            <a:ext cx="5525578" cy="400110"/>
          </a:xfrm>
          <a:prstGeom prst="rect">
            <a:avLst/>
          </a:prstGeom>
          <a:noFill/>
        </p:spPr>
        <p:txBody>
          <a:bodyPr wrap="square">
            <a:spAutoFit/>
          </a:bodyPr>
          <a:lstStyle/>
          <a:p>
            <a:r>
              <a:rPr lang="en-US" sz="2000">
                <a:solidFill>
                  <a:srgbClr val="415364"/>
                </a:solidFill>
              </a:rPr>
              <a:t>“ASTM_d2983-09_viscosity”</a:t>
            </a:r>
            <a:endParaRPr lang="en-US" sz="2000"/>
          </a:p>
        </p:txBody>
      </p:sp>
    </p:spTree>
    <p:extLst>
      <p:ext uri="{BB962C8B-B14F-4D97-AF65-F5344CB8AC3E}">
        <p14:creationId xmlns:p14="http://schemas.microsoft.com/office/powerpoint/2010/main" val="29851440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822960"/>
          </a:xfrm>
          <a:prstGeom prst="rect">
            <a:avLst/>
          </a:prstGeom>
          <a:noFill/>
        </p:spPr>
        <p:txBody>
          <a:bodyPr wrap="square" lIns="45720" rIns="45720" anchor="t">
            <a:spAutoFit/>
          </a:bodyPr>
          <a:lstStyle/>
          <a:p>
            <a:pPr algn="l"/>
            <a:r>
              <a:rPr sz="3200" b="1" i="0">
                <a:solidFill>
                  <a:srgbClr val="1E2761"/>
                </a:solidFill>
                <a:latin typeface="Cambria"/>
              </a:rPr>
              <a:t>Dataset-level metadata — the questions the columns don't answer</a:t>
            </a:r>
          </a:p>
        </p:txBody>
      </p:sp>
      <p:sp>
        <p:nvSpPr>
          <p:cNvPr id="3" name="TextBox 2"/>
          <p:cNvSpPr txBox="1"/>
          <p:nvPr/>
        </p:nvSpPr>
        <p:spPr>
          <a:xfrm>
            <a:off x="548640" y="1584025"/>
            <a:ext cx="11155680" cy="338554"/>
          </a:xfrm>
          <a:prstGeom prst="rect">
            <a:avLst/>
          </a:prstGeom>
          <a:noFill/>
        </p:spPr>
        <p:txBody>
          <a:bodyPr wrap="square" lIns="45720" rIns="45720" anchor="t">
            <a:spAutoFit/>
          </a:bodyPr>
          <a:lstStyle/>
          <a:p>
            <a:pPr algn="l"/>
            <a:r>
              <a:rPr lang="en-US" sz="1600" b="1" dirty="0">
                <a:solidFill>
                  <a:srgbClr val="E67E22"/>
                </a:solidFill>
                <a:latin typeface="Calibri"/>
              </a:rPr>
              <a:t>PROVIDING METADATA GIVES FUTURE RESEARCHERS THE CONTEXT NEEDED TO RE-USE YOUR DATA</a:t>
            </a:r>
            <a:endParaRPr sz="1600" b="1" i="0" dirty="0">
              <a:solidFill>
                <a:srgbClr val="E67E22"/>
              </a:solidFill>
              <a:latin typeface="Calibri"/>
            </a:endParaRPr>
          </a:p>
        </p:txBody>
      </p:sp>
      <p:sp>
        <p:nvSpPr>
          <p:cNvPr id="4" name="Rectangle 3"/>
          <p:cNvSpPr/>
          <p:nvPr/>
        </p:nvSpPr>
        <p:spPr>
          <a:xfrm>
            <a:off x="640080" y="2166914"/>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1097280" y="2121194"/>
            <a:ext cx="10515600" cy="400110"/>
          </a:xfrm>
          <a:prstGeom prst="rect">
            <a:avLst/>
          </a:prstGeom>
          <a:noFill/>
        </p:spPr>
        <p:txBody>
          <a:bodyPr wrap="square" lIns="45720" rIns="45720" anchor="t">
            <a:spAutoFit/>
          </a:bodyPr>
          <a:lstStyle/>
          <a:p>
            <a:pPr algn="l"/>
            <a:r>
              <a:rPr sz="2000" b="1" i="0">
                <a:solidFill>
                  <a:srgbClr val="2C3E50"/>
                </a:solidFill>
                <a:latin typeface="Calibri"/>
              </a:rPr>
              <a:t>Who collected it</a:t>
            </a:r>
          </a:p>
        </p:txBody>
      </p:sp>
      <p:sp>
        <p:nvSpPr>
          <p:cNvPr id="6" name="TextBox 5"/>
          <p:cNvSpPr txBox="1"/>
          <p:nvPr/>
        </p:nvSpPr>
        <p:spPr>
          <a:xfrm>
            <a:off x="1097280" y="2486954"/>
            <a:ext cx="10515600" cy="338554"/>
          </a:xfrm>
          <a:prstGeom prst="rect">
            <a:avLst/>
          </a:prstGeom>
          <a:noFill/>
        </p:spPr>
        <p:txBody>
          <a:bodyPr wrap="square" lIns="45720" rIns="45720" anchor="t">
            <a:spAutoFit/>
          </a:bodyPr>
          <a:lstStyle/>
          <a:p>
            <a:pPr algn="l"/>
            <a:r>
              <a:rPr sz="1600" b="0" i="0">
                <a:solidFill>
                  <a:srgbClr val="4A5B6E"/>
                </a:solidFill>
                <a:latin typeface="Calibri"/>
              </a:rPr>
              <a:t>user id or name — 'A. Schmidt, Materials Chemistry.' Not 'the lab.'</a:t>
            </a:r>
          </a:p>
        </p:txBody>
      </p:sp>
      <p:sp>
        <p:nvSpPr>
          <p:cNvPr id="7" name="Rectangle 6"/>
          <p:cNvSpPr/>
          <p:nvPr/>
        </p:nvSpPr>
        <p:spPr>
          <a:xfrm>
            <a:off x="640080" y="2861431"/>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1097280" y="2815711"/>
            <a:ext cx="10515600" cy="400110"/>
          </a:xfrm>
          <a:prstGeom prst="rect">
            <a:avLst/>
          </a:prstGeom>
          <a:noFill/>
        </p:spPr>
        <p:txBody>
          <a:bodyPr wrap="square" lIns="45720" rIns="45720" anchor="t">
            <a:spAutoFit/>
          </a:bodyPr>
          <a:lstStyle/>
          <a:p>
            <a:pPr algn="l"/>
            <a:r>
              <a:rPr sz="2000" b="1" i="0">
                <a:solidFill>
                  <a:srgbClr val="2C3E50"/>
                </a:solidFill>
                <a:latin typeface="Calibri"/>
              </a:rPr>
              <a:t>When it was collected</a:t>
            </a:r>
          </a:p>
        </p:txBody>
      </p:sp>
      <p:sp>
        <p:nvSpPr>
          <p:cNvPr id="9" name="TextBox 8"/>
          <p:cNvSpPr txBox="1"/>
          <p:nvPr/>
        </p:nvSpPr>
        <p:spPr>
          <a:xfrm>
            <a:off x="1097280" y="3181471"/>
            <a:ext cx="10515600" cy="338554"/>
          </a:xfrm>
          <a:prstGeom prst="rect">
            <a:avLst/>
          </a:prstGeom>
          <a:noFill/>
        </p:spPr>
        <p:txBody>
          <a:bodyPr wrap="square" lIns="45720" rIns="45720" anchor="t">
            <a:spAutoFit/>
          </a:bodyPr>
          <a:lstStyle/>
          <a:p>
            <a:pPr algn="l"/>
            <a:r>
              <a:rPr sz="1600" b="0" i="0">
                <a:solidFill>
                  <a:srgbClr val="4A5B6E"/>
                </a:solidFill>
                <a:latin typeface="Calibri"/>
              </a:rPr>
              <a:t>specific dates — '2026-03-14 through 2026-03-21.' Not 'last quarter.'</a:t>
            </a:r>
          </a:p>
        </p:txBody>
      </p:sp>
      <p:sp>
        <p:nvSpPr>
          <p:cNvPr id="10" name="Rectangle 9"/>
          <p:cNvSpPr/>
          <p:nvPr/>
        </p:nvSpPr>
        <p:spPr>
          <a:xfrm>
            <a:off x="640080" y="3545316"/>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1097280" y="3499596"/>
            <a:ext cx="10515600" cy="400110"/>
          </a:xfrm>
          <a:prstGeom prst="rect">
            <a:avLst/>
          </a:prstGeom>
          <a:noFill/>
        </p:spPr>
        <p:txBody>
          <a:bodyPr wrap="square" lIns="45720" rIns="45720" anchor="t">
            <a:spAutoFit/>
          </a:bodyPr>
          <a:lstStyle/>
          <a:p>
            <a:pPr algn="l"/>
            <a:r>
              <a:rPr sz="2000" b="1" i="0">
                <a:solidFill>
                  <a:srgbClr val="2C3E50"/>
                </a:solidFill>
                <a:latin typeface="Calibri"/>
              </a:rPr>
              <a:t>What instrument produced it</a:t>
            </a:r>
          </a:p>
        </p:txBody>
      </p:sp>
      <p:sp>
        <p:nvSpPr>
          <p:cNvPr id="12" name="TextBox 11"/>
          <p:cNvSpPr txBox="1"/>
          <p:nvPr/>
        </p:nvSpPr>
        <p:spPr>
          <a:xfrm>
            <a:off x="1097280" y="3865356"/>
            <a:ext cx="10515600" cy="338554"/>
          </a:xfrm>
          <a:prstGeom prst="rect">
            <a:avLst/>
          </a:prstGeom>
          <a:noFill/>
        </p:spPr>
        <p:txBody>
          <a:bodyPr wrap="square" lIns="45720" rIns="45720" anchor="t">
            <a:spAutoFit/>
          </a:bodyPr>
          <a:lstStyle/>
          <a:p>
            <a:pPr algn="l"/>
            <a:r>
              <a:rPr sz="1600" b="0" i="0">
                <a:solidFill>
                  <a:srgbClr val="4A5B6E"/>
                </a:solidFill>
                <a:latin typeface="Calibri"/>
              </a:rPr>
              <a:t>make, model, unit — 'Anton Paar MCR 302, s/n M172.' Calibration date if it matters.</a:t>
            </a:r>
          </a:p>
        </p:txBody>
      </p:sp>
      <p:sp>
        <p:nvSpPr>
          <p:cNvPr id="13" name="Rectangle 12"/>
          <p:cNvSpPr/>
          <p:nvPr/>
        </p:nvSpPr>
        <p:spPr>
          <a:xfrm>
            <a:off x="640080" y="4218571"/>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1097280" y="4172852"/>
            <a:ext cx="10515600" cy="400110"/>
          </a:xfrm>
          <a:prstGeom prst="rect">
            <a:avLst/>
          </a:prstGeom>
          <a:noFill/>
        </p:spPr>
        <p:txBody>
          <a:bodyPr wrap="square" lIns="45720" rIns="45720" anchor="t">
            <a:spAutoFit/>
          </a:bodyPr>
          <a:lstStyle/>
          <a:p>
            <a:pPr algn="l"/>
            <a:r>
              <a:rPr sz="2000" b="1" i="0" dirty="0">
                <a:solidFill>
                  <a:srgbClr val="2C3E50"/>
                </a:solidFill>
                <a:latin typeface="Calibri"/>
              </a:rPr>
              <a:t>What settings applied</a:t>
            </a:r>
          </a:p>
        </p:txBody>
      </p:sp>
      <p:sp>
        <p:nvSpPr>
          <p:cNvPr id="15" name="TextBox 14"/>
          <p:cNvSpPr txBox="1"/>
          <p:nvPr/>
        </p:nvSpPr>
        <p:spPr>
          <a:xfrm>
            <a:off x="1097280" y="4538612"/>
            <a:ext cx="10515600" cy="338554"/>
          </a:xfrm>
          <a:prstGeom prst="rect">
            <a:avLst/>
          </a:prstGeom>
          <a:noFill/>
        </p:spPr>
        <p:txBody>
          <a:bodyPr wrap="square" lIns="45720" rIns="45720" anchor="t">
            <a:spAutoFit/>
          </a:bodyPr>
          <a:lstStyle/>
          <a:p>
            <a:pPr algn="l"/>
            <a:r>
              <a:rPr sz="1600" b="0" i="0">
                <a:solidFill>
                  <a:srgbClr val="4A5B6E"/>
                </a:solidFill>
                <a:latin typeface="Calibri"/>
              </a:rPr>
              <a:t>'10 mL/min flow · 80 °C · 60 min residence.' Reactor set-point and measured, if different.</a:t>
            </a:r>
          </a:p>
        </p:txBody>
      </p:sp>
      <p:sp>
        <p:nvSpPr>
          <p:cNvPr id="16" name="Rectangle 15"/>
          <p:cNvSpPr/>
          <p:nvPr/>
        </p:nvSpPr>
        <p:spPr>
          <a:xfrm>
            <a:off x="640080" y="4934356"/>
            <a:ext cx="320040" cy="320040"/>
          </a:xfrm>
          <a:prstGeom prst="rect">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1097280" y="4888636"/>
            <a:ext cx="10515600" cy="400110"/>
          </a:xfrm>
          <a:prstGeom prst="rect">
            <a:avLst/>
          </a:prstGeom>
          <a:noFill/>
        </p:spPr>
        <p:txBody>
          <a:bodyPr wrap="square" lIns="45720" rIns="45720" anchor="t">
            <a:spAutoFit/>
          </a:bodyPr>
          <a:lstStyle/>
          <a:p>
            <a:pPr algn="l"/>
            <a:r>
              <a:rPr sz="2000" b="1" i="0" dirty="0">
                <a:solidFill>
                  <a:srgbClr val="2C3E50"/>
                </a:solidFill>
                <a:latin typeface="Calibri"/>
              </a:rPr>
              <a:t>What </a:t>
            </a:r>
            <a:r>
              <a:rPr lang="en-US" sz="2000" b="1" i="0" dirty="0">
                <a:solidFill>
                  <a:srgbClr val="2C3E50"/>
                </a:solidFill>
                <a:latin typeface="Calibri"/>
              </a:rPr>
              <a:t>method was used</a:t>
            </a:r>
            <a:endParaRPr sz="2000" b="1" i="0" dirty="0">
              <a:solidFill>
                <a:srgbClr val="2C3E50"/>
              </a:solidFill>
              <a:latin typeface="Calibri"/>
            </a:endParaRPr>
          </a:p>
        </p:txBody>
      </p:sp>
      <p:sp>
        <p:nvSpPr>
          <p:cNvPr id="18" name="TextBox 17"/>
          <p:cNvSpPr txBox="1"/>
          <p:nvPr/>
        </p:nvSpPr>
        <p:spPr>
          <a:xfrm>
            <a:off x="1097280" y="5254396"/>
            <a:ext cx="10515600" cy="338554"/>
          </a:xfrm>
          <a:prstGeom prst="rect">
            <a:avLst/>
          </a:prstGeom>
          <a:noFill/>
        </p:spPr>
        <p:txBody>
          <a:bodyPr wrap="square" lIns="45720" rIns="45720" anchor="t">
            <a:spAutoFit/>
          </a:bodyPr>
          <a:lstStyle/>
          <a:p>
            <a:pPr algn="l"/>
            <a:r>
              <a:rPr sz="1600" b="0" i="0">
                <a:solidFill>
                  <a:srgbClr val="4A5B6E"/>
                </a:solidFill>
                <a:latin typeface="Calibri"/>
              </a:rPr>
              <a:t>reference the procedure by name — 'SOP-CAT-023 v2.1' — not by verbal description.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584775"/>
          </a:xfrm>
          <a:prstGeom prst="rect">
            <a:avLst/>
          </a:prstGeom>
          <a:noFill/>
        </p:spPr>
        <p:txBody>
          <a:bodyPr wrap="square" lIns="45720" rIns="45720" anchor="t">
            <a:spAutoFit/>
          </a:bodyPr>
          <a:lstStyle/>
          <a:p>
            <a:pPr algn="l"/>
            <a:r>
              <a:rPr sz="3200" b="1" i="0" dirty="0">
                <a:solidFill>
                  <a:srgbClr val="1E2761"/>
                </a:solidFill>
                <a:latin typeface="Cambria"/>
              </a:rPr>
              <a:t>FAIR — a </a:t>
            </a:r>
            <a:r>
              <a:rPr lang="en-US" sz="3200" b="1" i="0" dirty="0">
                <a:solidFill>
                  <a:srgbClr val="1E2761"/>
                </a:solidFill>
                <a:latin typeface="Cambria"/>
              </a:rPr>
              <a:t>data interoperability framework</a:t>
            </a:r>
            <a:endParaRPr sz="3200" b="1" i="0" dirty="0">
              <a:solidFill>
                <a:srgbClr val="1E2761"/>
              </a:solidFill>
              <a:latin typeface="Cambria"/>
            </a:endParaRPr>
          </a:p>
        </p:txBody>
      </p:sp>
      <p:sp>
        <p:nvSpPr>
          <p:cNvPr id="3" name="TextBox 2"/>
          <p:cNvSpPr txBox="1"/>
          <p:nvPr/>
        </p:nvSpPr>
        <p:spPr>
          <a:xfrm>
            <a:off x="548640" y="1051560"/>
            <a:ext cx="11155680" cy="646331"/>
          </a:xfrm>
          <a:prstGeom prst="rect">
            <a:avLst/>
          </a:prstGeom>
          <a:noFill/>
        </p:spPr>
        <p:txBody>
          <a:bodyPr wrap="square" lIns="45720" rIns="45720" anchor="t">
            <a:spAutoFit/>
          </a:bodyPr>
          <a:lstStyle/>
          <a:p>
            <a:r>
              <a:rPr b="1" i="0" dirty="0">
                <a:solidFill>
                  <a:srgbClr val="E67E22"/>
                </a:solidFill>
                <a:latin typeface="Calibri"/>
              </a:rPr>
              <a:t>WILKINSON ET AL., SCIENTIFIC DATA 3, 160018 (2016)</a:t>
            </a:r>
            <a:r>
              <a:rPr lang="en-US" b="1" i="0" dirty="0">
                <a:solidFill>
                  <a:srgbClr val="E67E22"/>
                </a:solidFill>
                <a:latin typeface="Calibri"/>
              </a:rPr>
              <a:t> </a:t>
            </a:r>
          </a:p>
          <a:p>
            <a:r>
              <a:rPr lang="en-US" dirty="0">
                <a:hlinkClick r:id="rId3"/>
              </a:rPr>
              <a:t>The FAIR Guiding Principles for scientific data management and stewardship | Scientific Data</a:t>
            </a:r>
            <a:endParaRPr b="1" i="0" dirty="0">
              <a:solidFill>
                <a:srgbClr val="E67E22"/>
              </a:solidFill>
              <a:latin typeface="Calibri"/>
            </a:endParaRPr>
          </a:p>
        </p:txBody>
      </p:sp>
      <p:sp>
        <p:nvSpPr>
          <p:cNvPr id="4" name="Rectangle 3"/>
          <p:cNvSpPr/>
          <p:nvPr/>
        </p:nvSpPr>
        <p:spPr>
          <a:xfrm>
            <a:off x="548640" y="2517788"/>
            <a:ext cx="73152" cy="8229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TextBox 4"/>
          <p:cNvSpPr txBox="1"/>
          <p:nvPr/>
        </p:nvSpPr>
        <p:spPr>
          <a:xfrm>
            <a:off x="777240" y="2517788"/>
            <a:ext cx="5212080" cy="461665"/>
          </a:xfrm>
          <a:prstGeom prst="rect">
            <a:avLst/>
          </a:prstGeom>
          <a:noFill/>
        </p:spPr>
        <p:txBody>
          <a:bodyPr wrap="square" lIns="45720" rIns="45720" anchor="t">
            <a:spAutoFit/>
          </a:bodyPr>
          <a:lstStyle/>
          <a:p>
            <a:pPr algn="l"/>
            <a:r>
              <a:rPr sz="2400" b="1" i="0">
                <a:solidFill>
                  <a:srgbClr val="1E2761"/>
                </a:solidFill>
                <a:latin typeface="Cambria"/>
              </a:rPr>
              <a:t>Findable</a:t>
            </a:r>
          </a:p>
        </p:txBody>
      </p:sp>
      <p:sp>
        <p:nvSpPr>
          <p:cNvPr id="6" name="TextBox 5"/>
          <p:cNvSpPr txBox="1"/>
          <p:nvPr/>
        </p:nvSpPr>
        <p:spPr>
          <a:xfrm>
            <a:off x="777240" y="2974988"/>
            <a:ext cx="5212080" cy="923330"/>
          </a:xfrm>
          <a:prstGeom prst="rect">
            <a:avLst/>
          </a:prstGeom>
          <a:noFill/>
        </p:spPr>
        <p:txBody>
          <a:bodyPr wrap="square" lIns="45720" rIns="45720" anchor="t">
            <a:spAutoFit/>
          </a:bodyPr>
          <a:lstStyle/>
          <a:p>
            <a:pPr algn="l"/>
            <a:r>
              <a:rPr b="0" i="0" dirty="0">
                <a:solidFill>
                  <a:srgbClr val="2C3E50"/>
                </a:solidFill>
                <a:latin typeface="Calibri"/>
              </a:rPr>
              <a:t>someone else can locate your dataset — persistent identifier, indexed in a catalog, not buried in </a:t>
            </a:r>
            <a:r>
              <a:rPr lang="en-US" dirty="0">
                <a:solidFill>
                  <a:srgbClr val="2C3E50"/>
                </a:solidFill>
                <a:latin typeface="Calibri"/>
              </a:rPr>
              <a:t>your Google </a:t>
            </a:r>
            <a:r>
              <a:rPr b="0" i="0" dirty="0">
                <a:solidFill>
                  <a:srgbClr val="2C3E50"/>
                </a:solidFill>
                <a:latin typeface="Calibri"/>
              </a:rPr>
              <a:t>Drive.</a:t>
            </a:r>
          </a:p>
        </p:txBody>
      </p:sp>
      <p:sp>
        <p:nvSpPr>
          <p:cNvPr id="7" name="Rectangle 6"/>
          <p:cNvSpPr/>
          <p:nvPr/>
        </p:nvSpPr>
        <p:spPr>
          <a:xfrm>
            <a:off x="548640" y="4105230"/>
            <a:ext cx="73152" cy="8229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TextBox 7"/>
          <p:cNvSpPr txBox="1"/>
          <p:nvPr/>
        </p:nvSpPr>
        <p:spPr>
          <a:xfrm>
            <a:off x="777240" y="4105230"/>
            <a:ext cx="5212080" cy="461665"/>
          </a:xfrm>
          <a:prstGeom prst="rect">
            <a:avLst/>
          </a:prstGeom>
          <a:noFill/>
        </p:spPr>
        <p:txBody>
          <a:bodyPr wrap="square" lIns="45720" rIns="45720" anchor="t">
            <a:spAutoFit/>
          </a:bodyPr>
          <a:lstStyle/>
          <a:p>
            <a:pPr algn="l"/>
            <a:r>
              <a:rPr sz="2400" b="1" i="0">
                <a:solidFill>
                  <a:srgbClr val="1E2761"/>
                </a:solidFill>
                <a:latin typeface="Cambria"/>
              </a:rPr>
              <a:t>Accessible</a:t>
            </a:r>
          </a:p>
        </p:txBody>
      </p:sp>
      <p:sp>
        <p:nvSpPr>
          <p:cNvPr id="9" name="TextBox 8"/>
          <p:cNvSpPr txBox="1"/>
          <p:nvPr/>
        </p:nvSpPr>
        <p:spPr>
          <a:xfrm>
            <a:off x="777240" y="4562430"/>
            <a:ext cx="5212080" cy="923330"/>
          </a:xfrm>
          <a:prstGeom prst="rect">
            <a:avLst/>
          </a:prstGeom>
          <a:noFill/>
        </p:spPr>
        <p:txBody>
          <a:bodyPr wrap="square" lIns="45720" rIns="45720" anchor="t">
            <a:spAutoFit/>
          </a:bodyPr>
          <a:lstStyle/>
          <a:p>
            <a:pPr algn="l"/>
            <a:r>
              <a:rPr b="0" i="0">
                <a:solidFill>
                  <a:srgbClr val="2C3E50"/>
                </a:solidFill>
                <a:latin typeface="Calibri"/>
              </a:rPr>
              <a:t>once found, the data can actually be retrieved — with clear terms about who's allowed and how. 'Email me for a copy' is not accessible.</a:t>
            </a:r>
          </a:p>
        </p:txBody>
      </p:sp>
      <p:sp>
        <p:nvSpPr>
          <p:cNvPr id="10" name="Rectangle 9"/>
          <p:cNvSpPr/>
          <p:nvPr/>
        </p:nvSpPr>
        <p:spPr>
          <a:xfrm>
            <a:off x="6400800" y="2517788"/>
            <a:ext cx="73152" cy="8229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6629400" y="2517788"/>
            <a:ext cx="5212080" cy="461665"/>
          </a:xfrm>
          <a:prstGeom prst="rect">
            <a:avLst/>
          </a:prstGeom>
          <a:noFill/>
        </p:spPr>
        <p:txBody>
          <a:bodyPr wrap="square" lIns="45720" rIns="45720" anchor="t">
            <a:spAutoFit/>
          </a:bodyPr>
          <a:lstStyle/>
          <a:p>
            <a:pPr algn="l"/>
            <a:r>
              <a:rPr sz="2400" b="1" i="0">
                <a:solidFill>
                  <a:srgbClr val="1E2761"/>
                </a:solidFill>
                <a:latin typeface="Cambria"/>
              </a:rPr>
              <a:t>Interoperable</a:t>
            </a:r>
          </a:p>
        </p:txBody>
      </p:sp>
      <p:sp>
        <p:nvSpPr>
          <p:cNvPr id="12" name="TextBox 11"/>
          <p:cNvSpPr txBox="1"/>
          <p:nvPr/>
        </p:nvSpPr>
        <p:spPr>
          <a:xfrm>
            <a:off x="6629400" y="2974988"/>
            <a:ext cx="5212080" cy="923330"/>
          </a:xfrm>
          <a:prstGeom prst="rect">
            <a:avLst/>
          </a:prstGeom>
          <a:noFill/>
        </p:spPr>
        <p:txBody>
          <a:bodyPr wrap="square" lIns="45720" rIns="45720" anchor="t">
            <a:spAutoFit/>
          </a:bodyPr>
          <a:lstStyle/>
          <a:p>
            <a:pPr algn="l"/>
            <a:r>
              <a:rPr b="0" i="0">
                <a:solidFill>
                  <a:srgbClr val="2C3E50"/>
                </a:solidFill>
                <a:latin typeface="Calibri"/>
              </a:rPr>
              <a:t>the format and vocabulary can be read alongside other datasets — standard file formats, controlled vocabularies, machine-readable schemas.</a:t>
            </a:r>
          </a:p>
        </p:txBody>
      </p:sp>
      <p:sp>
        <p:nvSpPr>
          <p:cNvPr id="13" name="Rectangle 12"/>
          <p:cNvSpPr/>
          <p:nvPr/>
        </p:nvSpPr>
        <p:spPr>
          <a:xfrm>
            <a:off x="6400800" y="4105230"/>
            <a:ext cx="73152" cy="8229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6629400" y="4105230"/>
            <a:ext cx="5212080" cy="461665"/>
          </a:xfrm>
          <a:prstGeom prst="rect">
            <a:avLst/>
          </a:prstGeom>
          <a:noFill/>
        </p:spPr>
        <p:txBody>
          <a:bodyPr wrap="square" lIns="45720" rIns="45720" anchor="t">
            <a:spAutoFit/>
          </a:bodyPr>
          <a:lstStyle/>
          <a:p>
            <a:pPr algn="l"/>
            <a:r>
              <a:rPr sz="2400" b="1" i="0">
                <a:solidFill>
                  <a:srgbClr val="1E2761"/>
                </a:solidFill>
                <a:latin typeface="Cambria"/>
              </a:rPr>
              <a:t>Reusable</a:t>
            </a:r>
          </a:p>
        </p:txBody>
      </p:sp>
      <p:sp>
        <p:nvSpPr>
          <p:cNvPr id="15" name="TextBox 14"/>
          <p:cNvSpPr txBox="1"/>
          <p:nvPr/>
        </p:nvSpPr>
        <p:spPr>
          <a:xfrm>
            <a:off x="6629400" y="4562430"/>
            <a:ext cx="5212080" cy="923330"/>
          </a:xfrm>
          <a:prstGeom prst="rect">
            <a:avLst/>
          </a:prstGeom>
          <a:noFill/>
        </p:spPr>
        <p:txBody>
          <a:bodyPr wrap="square" lIns="45720" rIns="45720" anchor="t">
            <a:spAutoFit/>
          </a:bodyPr>
          <a:lstStyle/>
          <a:p>
            <a:pPr algn="l"/>
            <a:r>
              <a:rPr b="0" i="0">
                <a:solidFill>
                  <a:srgbClr val="2C3E50"/>
                </a:solidFill>
                <a:latin typeface="Calibri"/>
              </a:rPr>
              <a:t>there's enough context — license, provenance, dictionary — for someone to use it responsibly in a new setting.</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822960"/>
          </a:xfrm>
          <a:prstGeom prst="rect">
            <a:avLst/>
          </a:prstGeom>
          <a:noFill/>
        </p:spPr>
        <p:txBody>
          <a:bodyPr wrap="square" lIns="45720" rIns="45720" anchor="t">
            <a:spAutoFit/>
          </a:bodyPr>
          <a:lstStyle/>
          <a:p>
            <a:pPr algn="l"/>
            <a:r>
              <a:rPr sz="3200" b="1" i="0">
                <a:solidFill>
                  <a:srgbClr val="1E2761"/>
                </a:solidFill>
                <a:latin typeface="Cambria"/>
              </a:rPr>
              <a:t>How to share data — and how not to</a:t>
            </a:r>
          </a:p>
        </p:txBody>
      </p:sp>
      <p:sp>
        <p:nvSpPr>
          <p:cNvPr id="3" name="Rectangle 2"/>
          <p:cNvSpPr/>
          <p:nvPr/>
        </p:nvSpPr>
        <p:spPr>
          <a:xfrm>
            <a:off x="548640" y="1554480"/>
            <a:ext cx="5486400" cy="5486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1554480"/>
            <a:ext cx="5212080" cy="548640"/>
          </a:xfrm>
          <a:prstGeom prst="rect">
            <a:avLst/>
          </a:prstGeom>
          <a:noFill/>
        </p:spPr>
        <p:txBody>
          <a:bodyPr wrap="square" lIns="45720" rIns="45720" anchor="ctr">
            <a:spAutoFit/>
          </a:bodyPr>
          <a:lstStyle/>
          <a:p>
            <a:pPr algn="l"/>
            <a:r>
              <a:rPr sz="2200" b="1" i="0">
                <a:solidFill>
                  <a:srgbClr val="FFFFFF"/>
                </a:solidFill>
                <a:latin typeface="Cambria"/>
              </a:rPr>
              <a:t>✓  Good ways</a:t>
            </a:r>
          </a:p>
        </p:txBody>
      </p:sp>
      <p:sp>
        <p:nvSpPr>
          <p:cNvPr id="5" name="Rectangle 4"/>
          <p:cNvSpPr/>
          <p:nvPr/>
        </p:nvSpPr>
        <p:spPr>
          <a:xfrm>
            <a:off x="548640" y="2103120"/>
            <a:ext cx="5486400" cy="429768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286000"/>
            <a:ext cx="365760" cy="461665"/>
          </a:xfrm>
          <a:prstGeom prst="rect">
            <a:avLst/>
          </a:prstGeom>
          <a:noFill/>
        </p:spPr>
        <p:txBody>
          <a:bodyPr wrap="square" lIns="45720" rIns="45720" anchor="t">
            <a:spAutoFit/>
          </a:bodyPr>
          <a:lstStyle/>
          <a:p>
            <a:pPr algn="l"/>
            <a:r>
              <a:rPr sz="2400" b="1" i="0">
                <a:solidFill>
                  <a:srgbClr val="2E7D32"/>
                </a:solidFill>
                <a:latin typeface="Cambria"/>
              </a:rPr>
              <a:t>+</a:t>
            </a:r>
          </a:p>
        </p:txBody>
      </p:sp>
      <p:sp>
        <p:nvSpPr>
          <p:cNvPr id="7" name="TextBox 6"/>
          <p:cNvSpPr txBox="1"/>
          <p:nvPr/>
        </p:nvSpPr>
        <p:spPr>
          <a:xfrm>
            <a:off x="1188720" y="2286000"/>
            <a:ext cx="4617720" cy="400110"/>
          </a:xfrm>
          <a:prstGeom prst="rect">
            <a:avLst/>
          </a:prstGeom>
          <a:noFill/>
        </p:spPr>
        <p:txBody>
          <a:bodyPr wrap="square" lIns="45720" rIns="45720" anchor="t">
            <a:spAutoFit/>
          </a:bodyPr>
          <a:lstStyle/>
          <a:p>
            <a:pPr algn="l"/>
            <a:r>
              <a:rPr sz="2000" b="1" i="0">
                <a:solidFill>
                  <a:srgbClr val="2C3E50"/>
                </a:solidFill>
                <a:latin typeface="Calibri"/>
              </a:rPr>
              <a:t>Shared file location</a:t>
            </a:r>
          </a:p>
        </p:txBody>
      </p:sp>
      <p:sp>
        <p:nvSpPr>
          <p:cNvPr id="8" name="TextBox 7"/>
          <p:cNvSpPr txBox="1"/>
          <p:nvPr/>
        </p:nvSpPr>
        <p:spPr>
          <a:xfrm>
            <a:off x="1188720" y="2651760"/>
            <a:ext cx="4617720" cy="584775"/>
          </a:xfrm>
          <a:prstGeom prst="rect">
            <a:avLst/>
          </a:prstGeom>
          <a:noFill/>
        </p:spPr>
        <p:txBody>
          <a:bodyPr wrap="square" lIns="45720" rIns="45720" anchor="t">
            <a:spAutoFit/>
          </a:bodyPr>
          <a:lstStyle/>
          <a:p>
            <a:pPr algn="l"/>
            <a:r>
              <a:rPr sz="1600" b="0" i="0">
                <a:solidFill>
                  <a:srgbClr val="4A5B6E"/>
                </a:solidFill>
                <a:latin typeface="Calibri"/>
              </a:rPr>
              <a:t>SharePoint, project file share, cloud bucket — everyone sees the same file</a:t>
            </a:r>
          </a:p>
        </p:txBody>
      </p:sp>
      <p:sp>
        <p:nvSpPr>
          <p:cNvPr id="9" name="TextBox 8"/>
          <p:cNvSpPr txBox="1"/>
          <p:nvPr/>
        </p:nvSpPr>
        <p:spPr>
          <a:xfrm>
            <a:off x="777240" y="3596640"/>
            <a:ext cx="365760" cy="461665"/>
          </a:xfrm>
          <a:prstGeom prst="rect">
            <a:avLst/>
          </a:prstGeom>
          <a:noFill/>
        </p:spPr>
        <p:txBody>
          <a:bodyPr wrap="square" lIns="45720" rIns="45720" anchor="t">
            <a:spAutoFit/>
          </a:bodyPr>
          <a:lstStyle/>
          <a:p>
            <a:pPr algn="l"/>
            <a:r>
              <a:rPr sz="2400" b="1" i="0">
                <a:solidFill>
                  <a:srgbClr val="2E7D32"/>
                </a:solidFill>
                <a:latin typeface="Cambria"/>
              </a:rPr>
              <a:t>+</a:t>
            </a:r>
          </a:p>
        </p:txBody>
      </p:sp>
      <p:sp>
        <p:nvSpPr>
          <p:cNvPr id="10" name="TextBox 9"/>
          <p:cNvSpPr txBox="1"/>
          <p:nvPr/>
        </p:nvSpPr>
        <p:spPr>
          <a:xfrm>
            <a:off x="1188720" y="3596640"/>
            <a:ext cx="4617720" cy="400110"/>
          </a:xfrm>
          <a:prstGeom prst="rect">
            <a:avLst/>
          </a:prstGeom>
          <a:noFill/>
        </p:spPr>
        <p:txBody>
          <a:bodyPr wrap="square" lIns="45720" rIns="45720" anchor="t">
            <a:spAutoFit/>
          </a:bodyPr>
          <a:lstStyle/>
          <a:p>
            <a:pPr algn="l"/>
            <a:r>
              <a:rPr sz="2000" b="1" i="0">
                <a:solidFill>
                  <a:srgbClr val="2C3E50"/>
                </a:solidFill>
                <a:latin typeface="Calibri"/>
              </a:rPr>
              <a:t>Project database</a:t>
            </a:r>
          </a:p>
        </p:txBody>
      </p:sp>
      <p:sp>
        <p:nvSpPr>
          <p:cNvPr id="11" name="TextBox 10"/>
          <p:cNvSpPr txBox="1"/>
          <p:nvPr/>
        </p:nvSpPr>
        <p:spPr>
          <a:xfrm>
            <a:off x="1188720" y="3962400"/>
            <a:ext cx="4617720" cy="584775"/>
          </a:xfrm>
          <a:prstGeom prst="rect">
            <a:avLst/>
          </a:prstGeom>
          <a:noFill/>
        </p:spPr>
        <p:txBody>
          <a:bodyPr wrap="square" lIns="45720" rIns="45720" anchor="t">
            <a:spAutoFit/>
          </a:bodyPr>
          <a:lstStyle/>
          <a:p>
            <a:pPr algn="l"/>
            <a:r>
              <a:rPr sz="1600" b="0" i="0" dirty="0">
                <a:solidFill>
                  <a:srgbClr val="4A5B6E"/>
                </a:solidFill>
                <a:latin typeface="Calibri"/>
              </a:rPr>
              <a:t>ELN, LIMS — schema enforced by the system, not by the user</a:t>
            </a:r>
          </a:p>
        </p:txBody>
      </p:sp>
      <p:sp>
        <p:nvSpPr>
          <p:cNvPr id="12" name="TextBox 11"/>
          <p:cNvSpPr txBox="1"/>
          <p:nvPr/>
        </p:nvSpPr>
        <p:spPr>
          <a:xfrm>
            <a:off x="777240" y="4907280"/>
            <a:ext cx="365760" cy="461665"/>
          </a:xfrm>
          <a:prstGeom prst="rect">
            <a:avLst/>
          </a:prstGeom>
          <a:noFill/>
        </p:spPr>
        <p:txBody>
          <a:bodyPr wrap="square" lIns="45720" rIns="45720" anchor="t">
            <a:spAutoFit/>
          </a:bodyPr>
          <a:lstStyle/>
          <a:p>
            <a:pPr algn="l"/>
            <a:r>
              <a:rPr sz="2400" b="1" i="0">
                <a:solidFill>
                  <a:srgbClr val="2E7D32"/>
                </a:solidFill>
                <a:latin typeface="Cambria"/>
              </a:rPr>
              <a:t>+</a:t>
            </a:r>
          </a:p>
        </p:txBody>
      </p:sp>
      <p:sp>
        <p:nvSpPr>
          <p:cNvPr id="13" name="TextBox 12"/>
          <p:cNvSpPr txBox="1"/>
          <p:nvPr/>
        </p:nvSpPr>
        <p:spPr>
          <a:xfrm>
            <a:off x="1188720" y="4907280"/>
            <a:ext cx="4617720" cy="400110"/>
          </a:xfrm>
          <a:prstGeom prst="rect">
            <a:avLst/>
          </a:prstGeom>
          <a:noFill/>
        </p:spPr>
        <p:txBody>
          <a:bodyPr wrap="square" lIns="45720" rIns="45720" anchor="t">
            <a:spAutoFit/>
          </a:bodyPr>
          <a:lstStyle/>
          <a:p>
            <a:pPr algn="l"/>
            <a:r>
              <a:rPr sz="2000" b="1" i="0">
                <a:solidFill>
                  <a:srgbClr val="2C3E50"/>
                </a:solidFill>
                <a:latin typeface="Calibri"/>
              </a:rPr>
              <a:t>Version-controlled repo</a:t>
            </a:r>
          </a:p>
        </p:txBody>
      </p:sp>
      <p:sp>
        <p:nvSpPr>
          <p:cNvPr id="14" name="TextBox 13"/>
          <p:cNvSpPr txBox="1"/>
          <p:nvPr/>
        </p:nvSpPr>
        <p:spPr>
          <a:xfrm>
            <a:off x="1188720" y="5273040"/>
            <a:ext cx="4617720" cy="584775"/>
          </a:xfrm>
          <a:prstGeom prst="rect">
            <a:avLst/>
          </a:prstGeom>
          <a:noFill/>
        </p:spPr>
        <p:txBody>
          <a:bodyPr wrap="square" lIns="45720" rIns="45720" anchor="t">
            <a:spAutoFit/>
          </a:bodyPr>
          <a:lstStyle/>
          <a:p>
            <a:pPr algn="l"/>
            <a:r>
              <a:rPr sz="1600" b="0" i="0">
                <a:solidFill>
                  <a:srgbClr val="4A5B6E"/>
                </a:solidFill>
                <a:latin typeface="Calibri"/>
              </a:rPr>
              <a:t>git for the code and data-generation scripts; changes are auditable</a:t>
            </a:r>
          </a:p>
        </p:txBody>
      </p:sp>
      <p:sp>
        <p:nvSpPr>
          <p:cNvPr id="15" name="Rectangle 14"/>
          <p:cNvSpPr/>
          <p:nvPr/>
        </p:nvSpPr>
        <p:spPr>
          <a:xfrm>
            <a:off x="6309360" y="1554480"/>
            <a:ext cx="5486400" cy="548640"/>
          </a:xfrm>
          <a:prstGeom prst="rect">
            <a:avLst/>
          </a:prstGeom>
          <a:solidFill>
            <a:srgbClr val="B039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520" y="1554480"/>
            <a:ext cx="5212080" cy="548640"/>
          </a:xfrm>
          <a:prstGeom prst="rect">
            <a:avLst/>
          </a:prstGeom>
          <a:noFill/>
        </p:spPr>
        <p:txBody>
          <a:bodyPr wrap="square" lIns="45720" rIns="45720" anchor="ctr">
            <a:spAutoFit/>
          </a:bodyPr>
          <a:lstStyle/>
          <a:p>
            <a:pPr algn="l"/>
            <a:r>
              <a:rPr sz="2200" b="1" i="0">
                <a:solidFill>
                  <a:srgbClr val="FFFFFF"/>
                </a:solidFill>
                <a:latin typeface="Cambria"/>
              </a:rPr>
              <a:t>✗  Ineffective ways</a:t>
            </a:r>
          </a:p>
        </p:txBody>
      </p:sp>
      <p:sp>
        <p:nvSpPr>
          <p:cNvPr id="17" name="Rectangle 16"/>
          <p:cNvSpPr/>
          <p:nvPr/>
        </p:nvSpPr>
        <p:spPr>
          <a:xfrm>
            <a:off x="6309360" y="2103120"/>
            <a:ext cx="5486400" cy="429768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2286000"/>
            <a:ext cx="365760" cy="461665"/>
          </a:xfrm>
          <a:prstGeom prst="rect">
            <a:avLst/>
          </a:prstGeom>
          <a:noFill/>
        </p:spPr>
        <p:txBody>
          <a:bodyPr wrap="square" lIns="45720" rIns="45720" anchor="t">
            <a:spAutoFit/>
          </a:bodyPr>
          <a:lstStyle/>
          <a:p>
            <a:pPr algn="l"/>
            <a:r>
              <a:rPr sz="2400" b="1" i="0">
                <a:solidFill>
                  <a:srgbClr val="B0392E"/>
                </a:solidFill>
                <a:latin typeface="Cambria"/>
              </a:rPr>
              <a:t>−</a:t>
            </a:r>
          </a:p>
        </p:txBody>
      </p:sp>
      <p:sp>
        <p:nvSpPr>
          <p:cNvPr id="19" name="TextBox 18"/>
          <p:cNvSpPr txBox="1"/>
          <p:nvPr/>
        </p:nvSpPr>
        <p:spPr>
          <a:xfrm>
            <a:off x="6949440" y="2286000"/>
            <a:ext cx="4617720" cy="400110"/>
          </a:xfrm>
          <a:prstGeom prst="rect">
            <a:avLst/>
          </a:prstGeom>
          <a:noFill/>
        </p:spPr>
        <p:txBody>
          <a:bodyPr wrap="square" lIns="45720" rIns="45720" anchor="t">
            <a:spAutoFit/>
          </a:bodyPr>
          <a:lstStyle/>
          <a:p>
            <a:pPr algn="l"/>
            <a:r>
              <a:rPr sz="2000" b="1" i="0">
                <a:solidFill>
                  <a:srgbClr val="2C3E50"/>
                </a:solidFill>
                <a:latin typeface="Calibri"/>
              </a:rPr>
              <a:t>Non-rectangular Excel</a:t>
            </a:r>
          </a:p>
        </p:txBody>
      </p:sp>
      <p:sp>
        <p:nvSpPr>
          <p:cNvPr id="20" name="TextBox 19"/>
          <p:cNvSpPr txBox="1"/>
          <p:nvPr/>
        </p:nvSpPr>
        <p:spPr>
          <a:xfrm>
            <a:off x="6949440" y="2651760"/>
            <a:ext cx="4617720" cy="584775"/>
          </a:xfrm>
          <a:prstGeom prst="rect">
            <a:avLst/>
          </a:prstGeom>
          <a:noFill/>
        </p:spPr>
        <p:txBody>
          <a:bodyPr wrap="square" lIns="45720" rIns="45720" anchor="t">
            <a:spAutoFit/>
          </a:bodyPr>
          <a:lstStyle/>
          <a:p>
            <a:pPr algn="l"/>
            <a:r>
              <a:rPr sz="1600" b="0" i="0">
                <a:solidFill>
                  <a:srgbClr val="4A5B6E"/>
                </a:solidFill>
                <a:latin typeface="Calibri"/>
              </a:rPr>
              <a:t>tables scattered around a sheet, multi-header rows, formatting-as-data</a:t>
            </a:r>
          </a:p>
        </p:txBody>
      </p:sp>
      <p:sp>
        <p:nvSpPr>
          <p:cNvPr id="21" name="TextBox 20"/>
          <p:cNvSpPr txBox="1"/>
          <p:nvPr/>
        </p:nvSpPr>
        <p:spPr>
          <a:xfrm>
            <a:off x="6537960" y="3596640"/>
            <a:ext cx="365760" cy="461665"/>
          </a:xfrm>
          <a:prstGeom prst="rect">
            <a:avLst/>
          </a:prstGeom>
          <a:noFill/>
        </p:spPr>
        <p:txBody>
          <a:bodyPr wrap="square" lIns="45720" rIns="45720" anchor="t">
            <a:spAutoFit/>
          </a:bodyPr>
          <a:lstStyle/>
          <a:p>
            <a:pPr algn="l"/>
            <a:r>
              <a:rPr sz="2400" b="1" i="0">
                <a:solidFill>
                  <a:srgbClr val="B0392E"/>
                </a:solidFill>
                <a:latin typeface="Cambria"/>
              </a:rPr>
              <a:t>−</a:t>
            </a:r>
          </a:p>
        </p:txBody>
      </p:sp>
      <p:sp>
        <p:nvSpPr>
          <p:cNvPr id="22" name="TextBox 21"/>
          <p:cNvSpPr txBox="1"/>
          <p:nvPr/>
        </p:nvSpPr>
        <p:spPr>
          <a:xfrm>
            <a:off x="6949440" y="3596640"/>
            <a:ext cx="4617720" cy="400110"/>
          </a:xfrm>
          <a:prstGeom prst="rect">
            <a:avLst/>
          </a:prstGeom>
          <a:noFill/>
        </p:spPr>
        <p:txBody>
          <a:bodyPr wrap="square" lIns="45720" rIns="45720" anchor="t">
            <a:spAutoFit/>
          </a:bodyPr>
          <a:lstStyle/>
          <a:p>
            <a:pPr algn="l"/>
            <a:r>
              <a:rPr sz="2000" b="1" i="0">
                <a:solidFill>
                  <a:srgbClr val="2C3E50"/>
                </a:solidFill>
                <a:latin typeface="Calibri"/>
              </a:rPr>
              <a:t>Tables inside PowerPoint</a:t>
            </a:r>
          </a:p>
        </p:txBody>
      </p:sp>
      <p:sp>
        <p:nvSpPr>
          <p:cNvPr id="23" name="TextBox 22"/>
          <p:cNvSpPr txBox="1"/>
          <p:nvPr/>
        </p:nvSpPr>
        <p:spPr>
          <a:xfrm>
            <a:off x="6949440" y="3962400"/>
            <a:ext cx="4617720" cy="584775"/>
          </a:xfrm>
          <a:prstGeom prst="rect">
            <a:avLst/>
          </a:prstGeom>
          <a:noFill/>
        </p:spPr>
        <p:txBody>
          <a:bodyPr wrap="square" lIns="45720" rIns="45720" anchor="t">
            <a:spAutoFit/>
          </a:bodyPr>
          <a:lstStyle/>
          <a:p>
            <a:pPr algn="l"/>
            <a:r>
              <a:rPr sz="1600" b="0" i="0">
                <a:solidFill>
                  <a:srgbClr val="4A5B6E"/>
                </a:solidFill>
                <a:latin typeface="Calibri"/>
              </a:rPr>
              <a:t>numbers stuck to a slide — a screenshot of data, not data</a:t>
            </a:r>
          </a:p>
        </p:txBody>
      </p:sp>
      <p:sp>
        <p:nvSpPr>
          <p:cNvPr id="24" name="TextBox 23"/>
          <p:cNvSpPr txBox="1"/>
          <p:nvPr/>
        </p:nvSpPr>
        <p:spPr>
          <a:xfrm>
            <a:off x="6537960" y="4907280"/>
            <a:ext cx="365760" cy="461665"/>
          </a:xfrm>
          <a:prstGeom prst="rect">
            <a:avLst/>
          </a:prstGeom>
          <a:noFill/>
        </p:spPr>
        <p:txBody>
          <a:bodyPr wrap="square" lIns="45720" rIns="45720" anchor="t">
            <a:spAutoFit/>
          </a:bodyPr>
          <a:lstStyle/>
          <a:p>
            <a:pPr algn="l"/>
            <a:r>
              <a:rPr sz="2400" b="1" i="0">
                <a:solidFill>
                  <a:srgbClr val="B0392E"/>
                </a:solidFill>
                <a:latin typeface="Cambria"/>
              </a:rPr>
              <a:t>−</a:t>
            </a:r>
          </a:p>
        </p:txBody>
      </p:sp>
      <p:sp>
        <p:nvSpPr>
          <p:cNvPr id="25" name="TextBox 24"/>
          <p:cNvSpPr txBox="1"/>
          <p:nvPr/>
        </p:nvSpPr>
        <p:spPr>
          <a:xfrm>
            <a:off x="6949440" y="4907280"/>
            <a:ext cx="4617720" cy="400110"/>
          </a:xfrm>
          <a:prstGeom prst="rect">
            <a:avLst/>
          </a:prstGeom>
          <a:noFill/>
        </p:spPr>
        <p:txBody>
          <a:bodyPr wrap="square" lIns="45720" rIns="45720" anchor="t">
            <a:spAutoFit/>
          </a:bodyPr>
          <a:lstStyle/>
          <a:p>
            <a:pPr algn="l"/>
            <a:r>
              <a:rPr sz="2000" b="1" i="0">
                <a:solidFill>
                  <a:srgbClr val="2C3E50"/>
                </a:solidFill>
                <a:latin typeface="Calibri"/>
              </a:rPr>
              <a:t>Email, chat, PDFs</a:t>
            </a:r>
          </a:p>
        </p:txBody>
      </p:sp>
      <p:sp>
        <p:nvSpPr>
          <p:cNvPr id="26" name="TextBox 25"/>
          <p:cNvSpPr txBox="1"/>
          <p:nvPr/>
        </p:nvSpPr>
        <p:spPr>
          <a:xfrm>
            <a:off x="6949440" y="5273040"/>
            <a:ext cx="4617720" cy="584775"/>
          </a:xfrm>
          <a:prstGeom prst="rect">
            <a:avLst/>
          </a:prstGeom>
          <a:noFill/>
        </p:spPr>
        <p:txBody>
          <a:bodyPr wrap="square" lIns="45720" rIns="45720" anchor="t">
            <a:spAutoFit/>
          </a:bodyPr>
          <a:lstStyle/>
          <a:p>
            <a:pPr algn="l"/>
            <a:r>
              <a:rPr sz="1600" b="0" i="0" dirty="0">
                <a:solidFill>
                  <a:srgbClr val="4A5B6E"/>
                </a:solidFill>
                <a:latin typeface="Calibri"/>
              </a:rPr>
              <a:t>worst extraction </a:t>
            </a:r>
            <a:r>
              <a:rPr lang="en-US" sz="1600" b="0" i="0" dirty="0">
                <a:solidFill>
                  <a:srgbClr val="4A5B6E"/>
                </a:solidFill>
                <a:latin typeface="Calibri"/>
              </a:rPr>
              <a:t>task</a:t>
            </a:r>
            <a:r>
              <a:rPr sz="1600" b="0" i="0" dirty="0">
                <a:solidFill>
                  <a:srgbClr val="4A5B6E"/>
                </a:solidFill>
                <a:latin typeface="Calibri"/>
              </a:rPr>
              <a:t>; each one becomes an archaeology project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822960"/>
          </a:xfrm>
          <a:prstGeom prst="rect">
            <a:avLst/>
          </a:prstGeom>
          <a:noFill/>
        </p:spPr>
        <p:txBody>
          <a:bodyPr wrap="square" lIns="45720" rIns="45720" anchor="t">
            <a:spAutoFit/>
          </a:bodyPr>
          <a:lstStyle/>
          <a:p>
            <a:pPr algn="l"/>
            <a:r>
              <a:rPr sz="3200" b="1" i="0">
                <a:solidFill>
                  <a:srgbClr val="1E2761"/>
                </a:solidFill>
                <a:latin typeface="Cambria"/>
              </a:rPr>
              <a:t>Code deserves the same discipline as data</a:t>
            </a:r>
          </a:p>
        </p:txBody>
      </p:sp>
      <p:sp>
        <p:nvSpPr>
          <p:cNvPr id="3" name="Rounded Rectangle 2"/>
          <p:cNvSpPr/>
          <p:nvPr/>
        </p:nvSpPr>
        <p:spPr>
          <a:xfrm>
            <a:off x="54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4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731520" y="1543437"/>
            <a:ext cx="3169920" cy="707886"/>
          </a:xfrm>
          <a:prstGeom prst="rect">
            <a:avLst/>
          </a:prstGeom>
          <a:noFill/>
        </p:spPr>
        <p:txBody>
          <a:bodyPr wrap="square" lIns="45720" rIns="45720" anchor="ctr">
            <a:spAutoFit/>
          </a:bodyPr>
          <a:lstStyle/>
          <a:p>
            <a:pPr algn="l"/>
            <a:r>
              <a:rPr sz="2000" b="1" i="0" dirty="0">
                <a:solidFill>
                  <a:srgbClr val="FFFFFF"/>
                </a:solidFill>
                <a:latin typeface="Cambria"/>
              </a:rPr>
              <a:t>A bare script is like an unlabeled spreadsheet</a:t>
            </a:r>
          </a:p>
        </p:txBody>
      </p:sp>
      <p:sp>
        <p:nvSpPr>
          <p:cNvPr id="6" name="TextBox 5"/>
          <p:cNvSpPr txBox="1"/>
          <p:nvPr/>
        </p:nvSpPr>
        <p:spPr>
          <a:xfrm>
            <a:off x="777240" y="2423160"/>
            <a:ext cx="3078480" cy="1938992"/>
          </a:xfrm>
          <a:prstGeom prst="rect">
            <a:avLst/>
          </a:prstGeom>
          <a:noFill/>
        </p:spPr>
        <p:txBody>
          <a:bodyPr wrap="square" lIns="45720" rIns="45720" anchor="t">
            <a:spAutoFit/>
          </a:bodyPr>
          <a:lstStyle/>
          <a:p>
            <a:pPr algn="l"/>
            <a:r>
              <a:rPr sz="2000" b="0" i="0" dirty="0">
                <a:solidFill>
                  <a:srgbClr val="2C3E50"/>
                </a:solidFill>
                <a:latin typeface="Calibri"/>
              </a:rPr>
              <a:t>A .</a:t>
            </a:r>
            <a:r>
              <a:rPr sz="2000" b="0" i="0" dirty="0" err="1">
                <a:solidFill>
                  <a:srgbClr val="2C3E50"/>
                </a:solidFill>
                <a:latin typeface="Calibri"/>
              </a:rPr>
              <a:t>py</a:t>
            </a:r>
            <a:r>
              <a:rPr sz="2000" b="0" i="0" dirty="0">
                <a:solidFill>
                  <a:srgbClr val="2C3E50"/>
                </a:solidFill>
                <a:latin typeface="Calibri"/>
              </a:rPr>
              <a:t> with no README, no requirements pin</a:t>
            </a:r>
            <a:r>
              <a:rPr lang="en-US" sz="2000" b="0" i="0" dirty="0">
                <a:solidFill>
                  <a:srgbClr val="2C3E50"/>
                </a:solidFill>
                <a:latin typeface="Calibri"/>
              </a:rPr>
              <a:t> or </a:t>
            </a:r>
            <a:r>
              <a:rPr lang="en-US" sz="2000" b="0" i="0" dirty="0" err="1">
                <a:solidFill>
                  <a:srgbClr val="2C3E50"/>
                </a:solidFill>
                <a:latin typeface="Calibri"/>
              </a:rPr>
              <a:t>venv</a:t>
            </a:r>
            <a:r>
              <a:rPr sz="2000" b="0" i="0" dirty="0">
                <a:solidFill>
                  <a:srgbClr val="2C3E50"/>
                </a:solidFill>
                <a:latin typeface="Calibri"/>
              </a:rPr>
              <a:t>, no example inputs. It ran on your machine last Tuesday; it does not run anywhere else.</a:t>
            </a:r>
          </a:p>
        </p:txBody>
      </p:sp>
      <p:sp>
        <p:nvSpPr>
          <p:cNvPr id="7" name="Rounded Rectangle 6"/>
          <p:cNvSpPr/>
          <p:nvPr/>
        </p:nvSpPr>
        <p:spPr>
          <a:xfrm>
            <a:off x="435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5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4541520" y="1697325"/>
            <a:ext cx="3169920" cy="400110"/>
          </a:xfrm>
          <a:prstGeom prst="rect">
            <a:avLst/>
          </a:prstGeom>
          <a:noFill/>
        </p:spPr>
        <p:txBody>
          <a:bodyPr wrap="square" lIns="45720" rIns="45720" anchor="ctr">
            <a:spAutoFit/>
          </a:bodyPr>
          <a:lstStyle/>
          <a:p>
            <a:pPr algn="l"/>
            <a:r>
              <a:rPr sz="2000" b="1" i="0" dirty="0">
                <a:solidFill>
                  <a:srgbClr val="FFFFFF"/>
                </a:solidFill>
                <a:latin typeface="Cambria"/>
              </a:rPr>
              <a:t>A packaged script</a:t>
            </a:r>
          </a:p>
        </p:txBody>
      </p:sp>
      <p:sp>
        <p:nvSpPr>
          <p:cNvPr id="10" name="TextBox 9"/>
          <p:cNvSpPr txBox="1"/>
          <p:nvPr/>
        </p:nvSpPr>
        <p:spPr>
          <a:xfrm>
            <a:off x="4587240" y="2423160"/>
            <a:ext cx="3078480" cy="2246769"/>
          </a:xfrm>
          <a:prstGeom prst="rect">
            <a:avLst/>
          </a:prstGeom>
          <a:noFill/>
        </p:spPr>
        <p:txBody>
          <a:bodyPr wrap="square" lIns="45720" rIns="45720" anchor="t">
            <a:spAutoFit/>
          </a:bodyPr>
          <a:lstStyle/>
          <a:p>
            <a:pPr algn="l"/>
            <a:r>
              <a:rPr sz="2000" b="0" i="0">
                <a:solidFill>
                  <a:srgbClr val="2C3E50"/>
                </a:solidFill>
                <a:latin typeface="Calibri"/>
              </a:rPr>
              <a:t>code + requirements.txt (or pyproject.toml) + a short README describing inputs, outputs, and how to run it. Same three legs as a dataset: content + spec + docs.</a:t>
            </a:r>
          </a:p>
        </p:txBody>
      </p:sp>
      <p:sp>
        <p:nvSpPr>
          <p:cNvPr id="12" name="Rounded Rectangle 11"/>
          <p:cNvSpPr/>
          <p:nvPr/>
        </p:nvSpPr>
        <p:spPr>
          <a:xfrm>
            <a:off x="8168640" y="1554480"/>
            <a:ext cx="3535680" cy="493776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168640" y="1554480"/>
            <a:ext cx="3535680" cy="685800"/>
          </a:xfrm>
          <a:prstGeom prst="roundRect">
            <a:avLst>
              <a:gd name="adj" fmla="val 3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TextBox 13"/>
          <p:cNvSpPr txBox="1"/>
          <p:nvPr/>
        </p:nvSpPr>
        <p:spPr>
          <a:xfrm>
            <a:off x="8351520" y="1543437"/>
            <a:ext cx="3169920" cy="707886"/>
          </a:xfrm>
          <a:prstGeom prst="rect">
            <a:avLst/>
          </a:prstGeom>
          <a:noFill/>
        </p:spPr>
        <p:txBody>
          <a:bodyPr wrap="square" lIns="45720" rIns="45720" anchor="ctr">
            <a:spAutoFit/>
          </a:bodyPr>
          <a:lstStyle/>
          <a:p>
            <a:pPr algn="l"/>
            <a:r>
              <a:rPr sz="2000" b="1" i="0">
                <a:solidFill>
                  <a:srgbClr val="FFFFFF"/>
                </a:solidFill>
                <a:latin typeface="Cambria"/>
              </a:rPr>
              <a:t>Version control is a lab notebook for code</a:t>
            </a:r>
          </a:p>
        </p:txBody>
      </p:sp>
      <p:sp>
        <p:nvSpPr>
          <p:cNvPr id="15" name="TextBox 14"/>
          <p:cNvSpPr txBox="1"/>
          <p:nvPr/>
        </p:nvSpPr>
        <p:spPr>
          <a:xfrm>
            <a:off x="8397240" y="2423160"/>
            <a:ext cx="3078480" cy="2554545"/>
          </a:xfrm>
          <a:prstGeom prst="rect">
            <a:avLst/>
          </a:prstGeom>
          <a:noFill/>
        </p:spPr>
        <p:txBody>
          <a:bodyPr wrap="square" lIns="45720" rIns="45720" anchor="t">
            <a:spAutoFit/>
          </a:bodyPr>
          <a:lstStyle/>
          <a:p>
            <a:pPr algn="l"/>
            <a:r>
              <a:rPr sz="2000" b="0" i="0">
                <a:solidFill>
                  <a:srgbClr val="2C3E50"/>
                </a:solidFill>
                <a:latin typeface="Calibri"/>
              </a:rPr>
              <a:t>git tracks what changed, when, and why. If your only backup is 'final_v3.py' next to 'final_v3_ACTUALLY_final.py' — you don't have version control, you have a warning sign.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822960"/>
          </a:xfrm>
          <a:prstGeom prst="rect">
            <a:avLst/>
          </a:prstGeom>
          <a:noFill/>
        </p:spPr>
        <p:txBody>
          <a:bodyPr wrap="square" lIns="45720" rIns="45720" anchor="t">
            <a:spAutoFit/>
          </a:bodyPr>
          <a:lstStyle/>
          <a:p>
            <a:pPr algn="l"/>
            <a:r>
              <a:rPr sz="3200" b="1" i="0">
                <a:solidFill>
                  <a:srgbClr val="1E2761"/>
                </a:solidFill>
                <a:latin typeface="Cambria"/>
              </a:rPr>
              <a:t>What to remember</a:t>
            </a:r>
          </a:p>
        </p:txBody>
      </p:sp>
      <p:sp>
        <p:nvSpPr>
          <p:cNvPr id="3" name="Rounded Rectangle 2"/>
          <p:cNvSpPr/>
          <p:nvPr/>
        </p:nvSpPr>
        <p:spPr>
          <a:xfrm>
            <a:off x="548640" y="1554480"/>
            <a:ext cx="5349240" cy="237744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4" name="TextBox 3"/>
          <p:cNvSpPr txBox="1"/>
          <p:nvPr/>
        </p:nvSpPr>
        <p:spPr>
          <a:xfrm>
            <a:off x="822959" y="1691639"/>
            <a:ext cx="5074920" cy="461665"/>
          </a:xfrm>
          <a:prstGeom prst="rect">
            <a:avLst/>
          </a:prstGeom>
          <a:noFill/>
        </p:spPr>
        <p:txBody>
          <a:bodyPr wrap="square" lIns="45720" rIns="45720" anchor="t">
            <a:spAutoFit/>
          </a:bodyPr>
          <a:lstStyle/>
          <a:p>
            <a:pPr algn="l"/>
            <a:r>
              <a:rPr sz="2400" b="1" i="0">
                <a:solidFill>
                  <a:srgbClr val="1E2761"/>
                </a:solidFill>
                <a:latin typeface="Cambria"/>
              </a:rPr>
              <a:t>Structure beats free-form</a:t>
            </a:r>
          </a:p>
        </p:txBody>
      </p:sp>
      <p:sp>
        <p:nvSpPr>
          <p:cNvPr id="5" name="TextBox 4"/>
          <p:cNvSpPr txBox="1"/>
          <p:nvPr/>
        </p:nvSpPr>
        <p:spPr>
          <a:xfrm>
            <a:off x="822959" y="2469945"/>
            <a:ext cx="5074920" cy="369332"/>
          </a:xfrm>
          <a:prstGeom prst="rect">
            <a:avLst/>
          </a:prstGeom>
          <a:noFill/>
        </p:spPr>
        <p:txBody>
          <a:bodyPr wrap="square" lIns="45720" rIns="45720" anchor="t">
            <a:spAutoFit/>
          </a:bodyPr>
          <a:lstStyle/>
          <a:p>
            <a:pPr algn="l"/>
            <a:r>
              <a:rPr b="0" i="0" dirty="0">
                <a:solidFill>
                  <a:srgbClr val="2C3E50"/>
                </a:solidFill>
                <a:latin typeface="Calibri"/>
              </a:rPr>
              <a:t>Rectangular, tidy, </a:t>
            </a:r>
            <a:r>
              <a:rPr lang="en-US" dirty="0">
                <a:solidFill>
                  <a:srgbClr val="2C3E50"/>
                </a:solidFill>
                <a:latin typeface="Calibri"/>
              </a:rPr>
              <a:t>neat cells.</a:t>
            </a:r>
            <a:endParaRPr b="0" i="0" dirty="0">
              <a:solidFill>
                <a:srgbClr val="2C3E50"/>
              </a:solidFill>
              <a:latin typeface="Calibri"/>
            </a:endParaRPr>
          </a:p>
        </p:txBody>
      </p:sp>
      <p:sp>
        <p:nvSpPr>
          <p:cNvPr id="6" name="Rounded Rectangle 5"/>
          <p:cNvSpPr/>
          <p:nvPr/>
        </p:nvSpPr>
        <p:spPr>
          <a:xfrm>
            <a:off x="6309360" y="1554480"/>
            <a:ext cx="5349240" cy="237744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7" name="TextBox 6"/>
          <p:cNvSpPr txBox="1"/>
          <p:nvPr/>
        </p:nvSpPr>
        <p:spPr>
          <a:xfrm>
            <a:off x="6583680" y="1691639"/>
            <a:ext cx="5074920" cy="461665"/>
          </a:xfrm>
          <a:prstGeom prst="rect">
            <a:avLst/>
          </a:prstGeom>
          <a:noFill/>
        </p:spPr>
        <p:txBody>
          <a:bodyPr wrap="square" lIns="45720" rIns="45720" anchor="t">
            <a:spAutoFit/>
          </a:bodyPr>
          <a:lstStyle/>
          <a:p>
            <a:pPr algn="l"/>
            <a:r>
              <a:rPr sz="2400" b="1" i="0">
                <a:solidFill>
                  <a:srgbClr val="1E2761"/>
                </a:solidFill>
                <a:latin typeface="Cambria"/>
              </a:rPr>
              <a:t>Identifiers are load-bearing</a:t>
            </a:r>
          </a:p>
        </p:txBody>
      </p:sp>
      <p:sp>
        <p:nvSpPr>
          <p:cNvPr id="8" name="TextBox 7"/>
          <p:cNvSpPr txBox="1"/>
          <p:nvPr/>
        </p:nvSpPr>
        <p:spPr>
          <a:xfrm>
            <a:off x="6583680" y="2469945"/>
            <a:ext cx="5074920" cy="923330"/>
          </a:xfrm>
          <a:prstGeom prst="rect">
            <a:avLst/>
          </a:prstGeom>
          <a:noFill/>
        </p:spPr>
        <p:txBody>
          <a:bodyPr wrap="square" lIns="45720" rIns="45720" anchor="t">
            <a:spAutoFit/>
          </a:bodyPr>
          <a:lstStyle/>
          <a:p>
            <a:pPr algn="l"/>
            <a:r>
              <a:rPr lang="en-US" dirty="0">
                <a:solidFill>
                  <a:srgbClr val="2C3E50"/>
                </a:solidFill>
                <a:latin typeface="Calibri"/>
              </a:rPr>
              <a:t>Identifiers build data relationships to enrich your analysis. Choose meaningful identifiers with your team and type them carefully.</a:t>
            </a:r>
            <a:endParaRPr b="0" i="0" dirty="0">
              <a:solidFill>
                <a:srgbClr val="2C3E50"/>
              </a:solidFill>
              <a:latin typeface="Calibri"/>
            </a:endParaRPr>
          </a:p>
        </p:txBody>
      </p:sp>
      <p:sp>
        <p:nvSpPr>
          <p:cNvPr id="9" name="Rounded Rectangle 8"/>
          <p:cNvSpPr/>
          <p:nvPr/>
        </p:nvSpPr>
        <p:spPr>
          <a:xfrm>
            <a:off x="548640" y="4206240"/>
            <a:ext cx="5349240" cy="237744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4343400"/>
            <a:ext cx="5074920" cy="461665"/>
          </a:xfrm>
          <a:prstGeom prst="rect">
            <a:avLst/>
          </a:prstGeom>
          <a:noFill/>
        </p:spPr>
        <p:txBody>
          <a:bodyPr wrap="square" lIns="45720" rIns="45720" anchor="t">
            <a:spAutoFit/>
          </a:bodyPr>
          <a:lstStyle/>
          <a:p>
            <a:pPr algn="l"/>
            <a:r>
              <a:rPr sz="2400" b="1" i="0" dirty="0">
                <a:solidFill>
                  <a:srgbClr val="1E2761"/>
                </a:solidFill>
                <a:latin typeface="Cambria"/>
              </a:rPr>
              <a:t>Document the dataset</a:t>
            </a:r>
          </a:p>
        </p:txBody>
      </p:sp>
      <p:sp>
        <p:nvSpPr>
          <p:cNvPr id="11" name="TextBox 10"/>
          <p:cNvSpPr txBox="1"/>
          <p:nvPr/>
        </p:nvSpPr>
        <p:spPr>
          <a:xfrm>
            <a:off x="822959" y="5121704"/>
            <a:ext cx="5074920" cy="923330"/>
          </a:xfrm>
          <a:prstGeom prst="rect">
            <a:avLst/>
          </a:prstGeom>
          <a:noFill/>
        </p:spPr>
        <p:txBody>
          <a:bodyPr wrap="square" lIns="45720" rIns="45720" anchor="t">
            <a:spAutoFit/>
          </a:bodyPr>
          <a:lstStyle/>
          <a:p>
            <a:pPr algn="l"/>
            <a:r>
              <a:rPr lang="en-US" b="0" i="0" dirty="0">
                <a:solidFill>
                  <a:srgbClr val="2C3E50"/>
                </a:solidFill>
                <a:latin typeface="Calibri"/>
              </a:rPr>
              <a:t>Use a data dictionary and dataset metadata to remove ambiguity about what your data means for future users. </a:t>
            </a:r>
            <a:endParaRPr b="0" i="0" dirty="0">
              <a:solidFill>
                <a:srgbClr val="2C3E50"/>
              </a:solidFill>
              <a:latin typeface="Calibri"/>
            </a:endParaRPr>
          </a:p>
        </p:txBody>
      </p:sp>
      <p:sp>
        <p:nvSpPr>
          <p:cNvPr id="12" name="Rounded Rectangle 11"/>
          <p:cNvSpPr/>
          <p:nvPr/>
        </p:nvSpPr>
        <p:spPr>
          <a:xfrm>
            <a:off x="6309360" y="4206240"/>
            <a:ext cx="5349240" cy="2377440"/>
          </a:xfrm>
          <a:prstGeom prst="roundRect">
            <a:avLst>
              <a:gd name="adj" fmla="val 3000"/>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4343400"/>
            <a:ext cx="5074920" cy="461665"/>
          </a:xfrm>
          <a:prstGeom prst="rect">
            <a:avLst/>
          </a:prstGeom>
          <a:noFill/>
        </p:spPr>
        <p:txBody>
          <a:bodyPr wrap="square" lIns="45720" rIns="45720" anchor="t">
            <a:spAutoFit/>
          </a:bodyPr>
          <a:lstStyle/>
          <a:p>
            <a:pPr algn="l"/>
            <a:r>
              <a:rPr lang="en-US" sz="2400" b="1" dirty="0">
                <a:solidFill>
                  <a:srgbClr val="1E2761"/>
                </a:solidFill>
                <a:latin typeface="Cambria"/>
              </a:rPr>
              <a:t>D</a:t>
            </a:r>
            <a:r>
              <a:rPr sz="2400" b="1" i="0" dirty="0">
                <a:solidFill>
                  <a:srgbClr val="1E2761"/>
                </a:solidFill>
                <a:latin typeface="Cambria"/>
              </a:rPr>
              <a:t>ata + </a:t>
            </a:r>
            <a:r>
              <a:rPr lang="en-US" sz="2400" b="1" i="0" dirty="0">
                <a:solidFill>
                  <a:srgbClr val="1E2761"/>
                </a:solidFill>
                <a:latin typeface="Cambria"/>
              </a:rPr>
              <a:t>code + </a:t>
            </a:r>
            <a:r>
              <a:rPr sz="2400" b="1" i="0" dirty="0">
                <a:solidFill>
                  <a:srgbClr val="1E2761"/>
                </a:solidFill>
                <a:latin typeface="Cambria"/>
              </a:rPr>
              <a:t>docs = one asset</a:t>
            </a:r>
          </a:p>
        </p:txBody>
      </p:sp>
      <p:sp>
        <p:nvSpPr>
          <p:cNvPr id="14" name="TextBox 13"/>
          <p:cNvSpPr txBox="1"/>
          <p:nvPr/>
        </p:nvSpPr>
        <p:spPr>
          <a:xfrm>
            <a:off x="6583680" y="5121704"/>
            <a:ext cx="5074920" cy="923330"/>
          </a:xfrm>
          <a:prstGeom prst="rect">
            <a:avLst/>
          </a:prstGeom>
          <a:noFill/>
        </p:spPr>
        <p:txBody>
          <a:bodyPr wrap="square" lIns="45720" rIns="45720" anchor="t">
            <a:spAutoFit/>
          </a:bodyPr>
          <a:lstStyle/>
          <a:p>
            <a:pPr algn="l"/>
            <a:r>
              <a:rPr lang="en-US" b="0" i="0" dirty="0">
                <a:solidFill>
                  <a:srgbClr val="2C3E50"/>
                </a:solidFill>
                <a:latin typeface="Calibri"/>
              </a:rPr>
              <a:t>Clearly documented data and the code used for transformations and processing leave a clear audit trail of your analysis. </a:t>
            </a:r>
            <a:endParaRPr b="0" i="0" dirty="0">
              <a:solidFill>
                <a:srgbClr val="2C3E50"/>
              </a:solidFill>
              <a:latin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65760"/>
            <a:ext cx="11155680" cy="457200"/>
          </a:xfrm>
          <a:prstGeom prst="rect">
            <a:avLst/>
          </a:prstGeom>
          <a:noFill/>
        </p:spPr>
        <p:txBody>
          <a:bodyPr wrap="square" lIns="45720" rIns="45720" anchor="t">
            <a:spAutoFit/>
          </a:bodyPr>
          <a:lstStyle/>
          <a:p>
            <a:pPr algn="ctr"/>
            <a:r>
              <a:rPr sz="1400" b="1" i="0">
                <a:solidFill>
                  <a:srgbClr val="E67E22"/>
                </a:solidFill>
                <a:latin typeface="Calibri"/>
              </a:rPr>
              <a:t>TAKE A MOMENT</a:t>
            </a:r>
          </a:p>
        </p:txBody>
      </p:sp>
      <p:sp>
        <p:nvSpPr>
          <p:cNvPr id="4" name="TextBox 3"/>
          <p:cNvSpPr txBox="1"/>
          <p:nvPr/>
        </p:nvSpPr>
        <p:spPr>
          <a:xfrm>
            <a:off x="1371600" y="2596664"/>
            <a:ext cx="9418320" cy="1938992"/>
          </a:xfrm>
          <a:prstGeom prst="rect">
            <a:avLst/>
          </a:prstGeom>
          <a:noFill/>
        </p:spPr>
        <p:txBody>
          <a:bodyPr wrap="square" lIns="45720" rIns="45720" anchor="ctr">
            <a:spAutoFit/>
          </a:bodyPr>
          <a:lstStyle/>
          <a:p>
            <a:pPr algn="ctr"/>
            <a:r>
              <a:rPr sz="4000" b="1" i="0" dirty="0">
                <a:solidFill>
                  <a:srgbClr val="1E2761"/>
                </a:solidFill>
                <a:latin typeface="Cambria"/>
              </a:rPr>
              <a:t>What would you change about your current data workflow starting </a:t>
            </a:r>
            <a:r>
              <a:rPr lang="en-US" sz="4000" b="1" i="0" dirty="0">
                <a:solidFill>
                  <a:srgbClr val="1E2761"/>
                </a:solidFill>
                <a:latin typeface="Cambria"/>
              </a:rPr>
              <a:t>next week</a:t>
            </a:r>
            <a:r>
              <a:rPr sz="4000" b="1" i="0" dirty="0">
                <a:solidFill>
                  <a:srgbClr val="1E2761"/>
                </a:solidFill>
                <a:latin typeface="Cambria"/>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65760"/>
            <a:ext cx="11155680" cy="822960"/>
          </a:xfrm>
          <a:prstGeom prst="rect">
            <a:avLst/>
          </a:prstGeom>
          <a:noFill/>
        </p:spPr>
        <p:txBody>
          <a:bodyPr wrap="square" lIns="45720" rIns="45720" anchor="t">
            <a:spAutoFit/>
          </a:bodyPr>
          <a:lstStyle/>
          <a:p>
            <a:pPr algn="l"/>
            <a:r>
              <a:rPr sz="3200" b="1" i="0">
                <a:solidFill>
                  <a:srgbClr val="1E2761"/>
                </a:solidFill>
                <a:latin typeface="Cambria"/>
              </a:rPr>
              <a:t>References and further reading</a:t>
            </a:r>
          </a:p>
        </p:txBody>
      </p:sp>
      <p:sp>
        <p:nvSpPr>
          <p:cNvPr id="3" name="TextBox 2"/>
          <p:cNvSpPr txBox="1"/>
          <p:nvPr/>
        </p:nvSpPr>
        <p:spPr>
          <a:xfrm>
            <a:off x="548640" y="1371600"/>
            <a:ext cx="11155680" cy="2980303"/>
          </a:xfrm>
          <a:prstGeom prst="rect">
            <a:avLst/>
          </a:prstGeom>
          <a:noFill/>
        </p:spPr>
        <p:txBody>
          <a:bodyPr wrap="square">
            <a:spAutoFit/>
          </a:bodyPr>
          <a:lstStyle/>
          <a:p>
            <a:pPr algn="l">
              <a:spcAft>
                <a:spcPts val="800"/>
              </a:spcAft>
            </a:pPr>
            <a:r>
              <a:rPr sz="1800" b="1" dirty="0">
                <a:solidFill>
                  <a:srgbClr val="2C3E50"/>
                </a:solidFill>
                <a:latin typeface="Calibri"/>
              </a:rPr>
              <a:t>•  Wickham, H.</a:t>
            </a:r>
            <a:endParaRPr lang="en-US" sz="1800" b="1" dirty="0">
              <a:solidFill>
                <a:srgbClr val="2C3E50"/>
              </a:solidFill>
              <a:latin typeface="Calibri"/>
            </a:endParaRPr>
          </a:p>
          <a:p>
            <a:pPr algn="l">
              <a:spcAft>
                <a:spcPts val="1000"/>
              </a:spcAft>
            </a:pPr>
            <a:r>
              <a:rPr lang="en-US" sz="1600" b="0" dirty="0">
                <a:solidFill>
                  <a:srgbClr val="4A5B6E"/>
                </a:solidFill>
                <a:latin typeface="Calibri"/>
              </a:rPr>
              <a:t>     </a:t>
            </a:r>
            <a:r>
              <a:rPr lang="en-US" sz="1600" b="0" dirty="0">
                <a:solidFill>
                  <a:srgbClr val="4A5B6E"/>
                </a:solidFill>
                <a:latin typeface="Calibri"/>
                <a:hlinkClick r:id="rId3"/>
              </a:rPr>
              <a:t>"Tidy Data." Journal of Statistical Software 59(10), 2014 </a:t>
            </a:r>
            <a:endParaRPr lang="en-US" sz="1600" b="0" dirty="0">
              <a:solidFill>
                <a:srgbClr val="4A5B6E"/>
              </a:solidFill>
              <a:latin typeface="Calibri"/>
            </a:endParaRPr>
          </a:p>
          <a:p>
            <a:pPr algn="l">
              <a:spcAft>
                <a:spcPts val="800"/>
              </a:spcAft>
            </a:pPr>
            <a:r>
              <a:rPr sz="1800" b="1" dirty="0">
                <a:solidFill>
                  <a:srgbClr val="2C3E50"/>
                </a:solidFill>
                <a:latin typeface="Calibri"/>
              </a:rPr>
              <a:t>•  Broman &amp; Woo</a:t>
            </a:r>
          </a:p>
          <a:p>
            <a:pPr algn="l">
              <a:spcAft>
                <a:spcPts val="1000"/>
              </a:spcAft>
            </a:pPr>
            <a:r>
              <a:rPr sz="1600" b="0" dirty="0">
                <a:solidFill>
                  <a:srgbClr val="4A5B6E"/>
                </a:solidFill>
                <a:latin typeface="Calibri"/>
                <a:hlinkClick r:id="rId4"/>
              </a:rPr>
              <a:t>"Data Organization in Spreadsheets." The American Statistician 72(1), 2018</a:t>
            </a:r>
            <a:endParaRPr sz="1600" b="0" dirty="0">
              <a:solidFill>
                <a:srgbClr val="4A5B6E"/>
              </a:solidFill>
              <a:latin typeface="Calibri"/>
            </a:endParaRPr>
          </a:p>
          <a:p>
            <a:pPr algn="l">
              <a:spcAft>
                <a:spcPts val="800"/>
              </a:spcAft>
            </a:pPr>
            <a:r>
              <a:rPr sz="1800" b="1" dirty="0">
                <a:solidFill>
                  <a:srgbClr val="2C3E50"/>
                </a:solidFill>
                <a:latin typeface="Calibri"/>
              </a:rPr>
              <a:t>•  Wilkinson et al.</a:t>
            </a:r>
          </a:p>
          <a:p>
            <a:pPr algn="l">
              <a:spcAft>
                <a:spcPts val="1000"/>
              </a:spcAft>
            </a:pPr>
            <a:r>
              <a:rPr sz="1600" b="0" dirty="0">
                <a:solidFill>
                  <a:srgbClr val="4A5B6E"/>
                </a:solidFill>
                <a:latin typeface="Calibri"/>
                <a:hlinkClick r:id="rId5"/>
              </a:rPr>
              <a:t>"The FAIR Guiding Principles for scientific data management and stewardship." Scientific Data 3, 160018 (2016)</a:t>
            </a:r>
            <a:endParaRPr sz="1600" b="0" dirty="0">
              <a:solidFill>
                <a:srgbClr val="4A5B6E"/>
              </a:solidFill>
              <a:latin typeface="Calibri"/>
            </a:endParaRPr>
          </a:p>
          <a:p>
            <a:pPr algn="l">
              <a:spcAft>
                <a:spcPts val="800"/>
              </a:spcAft>
            </a:pPr>
            <a:r>
              <a:rPr sz="1800" b="1">
                <a:solidFill>
                  <a:srgbClr val="2C3E50"/>
                </a:solidFill>
                <a:latin typeface="Calibri"/>
              </a:rPr>
              <a:t>•  </a:t>
            </a:r>
            <a:r>
              <a:rPr sz="1800" b="1" dirty="0">
                <a:solidFill>
                  <a:srgbClr val="2C3E50"/>
                </a:solidFill>
                <a:latin typeface="Calibri"/>
              </a:rPr>
              <a:t>Data Carpentry</a:t>
            </a:r>
          </a:p>
          <a:p>
            <a:pPr algn="l">
              <a:spcAft>
                <a:spcPts val="1000"/>
              </a:spcAft>
            </a:pPr>
            <a:r>
              <a:rPr sz="1600" b="0" dirty="0">
                <a:solidFill>
                  <a:srgbClr val="4A5B6E"/>
                </a:solidFill>
                <a:latin typeface="Calibri"/>
              </a:rPr>
              <a:t>     datacarpentry.org — open lessons, especially Data Organization in Spreadsheets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43.4|1.4|1.9|7.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New Dow Palette">
    <a:dk1>
      <a:srgbClr val="415364"/>
    </a:dk1>
    <a:lt1>
      <a:srgbClr val="FFFFFF"/>
    </a:lt1>
    <a:dk2>
      <a:srgbClr val="000000"/>
    </a:dk2>
    <a:lt2>
      <a:srgbClr val="E80033"/>
    </a:lt2>
    <a:accent1>
      <a:srgbClr val="829995"/>
    </a:accent1>
    <a:accent2>
      <a:srgbClr val="5E514D"/>
    </a:accent2>
    <a:accent3>
      <a:srgbClr val="193F5E"/>
    </a:accent3>
    <a:accent4>
      <a:srgbClr val="CBC5B5"/>
    </a:accent4>
    <a:accent5>
      <a:srgbClr val="00B2A9"/>
    </a:accent5>
    <a:accent6>
      <a:srgbClr val="FEBB12"/>
    </a:accent6>
    <a:hlink>
      <a:srgbClr val="00B2A9"/>
    </a:hlink>
    <a:folHlink>
      <a:srgbClr val="000000"/>
    </a:folHlink>
  </a:clrScheme>
</a:themeOverride>
</file>

<file path=docMetadata/LabelInfo.xml><?xml version="1.0" encoding="utf-8"?>
<clbl:labelList xmlns:clbl="http://schemas.microsoft.com/office/2020/mipLabelMetadata">
  <clbl:label id="{3aac0ad3-18d9-49e9-a80d-c985041778ba}" enabled="1" method="Standard" siteId="{c3e32f53-cb7f-4809-968d-1cc4ccc785fe}" removed="0"/>
</clbl:labelList>
</file>

<file path=docProps/app.xml><?xml version="1.0" encoding="utf-8"?>
<Properties xmlns="http://schemas.openxmlformats.org/officeDocument/2006/extended-properties" xmlns:vt="http://schemas.openxmlformats.org/officeDocument/2006/docPropsVTypes">
  <TotalTime>2729</TotalTime>
  <Words>3007</Words>
  <Application>Microsoft Macintosh PowerPoint</Application>
  <PresentationFormat>Widescreen</PresentationFormat>
  <Paragraphs>675</Paragraphs>
  <Slides>38</Slides>
  <Notes>33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Aptos</vt:lpstr>
      <vt:lpstr>Arial</vt:lpstr>
      <vt:lpstr>Calibri</vt:lpstr>
      <vt:lpstr>Cambria</vt:lpstr>
      <vt:lpstr>Times New Roman</vt:lpstr>
      <vt:lpstr>Wingdings</vt:lpstr>
      <vt:lpstr>Office Theme</vt:lpstr>
      <vt:lpstr>Alix Schmidt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Structured-ness affects ease of use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Why are data Identifiers and data Relationships important?</vt:lpstr>
      <vt:lpstr>Why you care  about this…</vt:lpstr>
      <vt:lpstr>Data identifier examples</vt:lpstr>
      <vt:lpstr>Knowledge check: Identifiers</vt:lpstr>
      <vt:lpstr>What are data Relationships?</vt:lpstr>
      <vt:lpstr>Relationships work if identifiers are shared</vt:lpstr>
      <vt:lpstr>Relationships work if identifiers are shared</vt:lpstr>
      <vt:lpstr>Knowledge check: Data relationships</vt:lpstr>
      <vt:lpstr>PowerPoint Presentation</vt:lpstr>
      <vt:lpstr>PowerPoint Presentation</vt:lpstr>
      <vt:lpstr>PowerPoint Presentation</vt:lpstr>
      <vt:lpstr>Easy steps to self-documenting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Schleinitz, Jules</cp:lastModifiedBy>
  <cp:revision>2</cp:revision>
  <dcterms:created xsi:type="dcterms:W3CDTF">2013-01-27T09:14:16Z</dcterms:created>
  <dcterms:modified xsi:type="dcterms:W3CDTF">2026-08-17T16:25:10Z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General Business</vt:lpwstr>
  </property>
</Properties>
</file>