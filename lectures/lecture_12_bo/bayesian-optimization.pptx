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60" r:id="rId5"/>
    <p:sldId id="304" r:id="rId6"/>
    <p:sldId id="303" r:id="rId7"/>
    <p:sldId id="302" r:id="rId8"/>
    <p:sldId id="263" r:id="rId9"/>
    <p:sldId id="265" r:id="rId10"/>
    <p:sldId id="266" r:id="rId11"/>
    <p:sldId id="264" r:id="rId12"/>
    <p:sldId id="267" r:id="rId13"/>
    <p:sldId id="268" r:id="rId14"/>
    <p:sldId id="269" r:id="rId15"/>
    <p:sldId id="270" r:id="rId16"/>
    <p:sldId id="271" r:id="rId17"/>
    <p:sldId id="305" r:id="rId18"/>
    <p:sldId id="273" r:id="rId19"/>
    <p:sldId id="308" r:id="rId20"/>
    <p:sldId id="272" r:id="rId21"/>
    <p:sldId id="274" r:id="rId22"/>
    <p:sldId id="275" r:id="rId23"/>
    <p:sldId id="276" r:id="rId24"/>
    <p:sldId id="277" r:id="rId25"/>
    <p:sldId id="306" r:id="rId26"/>
    <p:sldId id="307" r:id="rId27"/>
    <p:sldId id="279" r:id="rId28"/>
    <p:sldId id="280" r:id="rId29"/>
    <p:sldId id="281" r:id="rId30"/>
    <p:sldId id="283" r:id="rId31"/>
    <p:sldId id="284" r:id="rId32"/>
    <p:sldId id="309" r:id="rId33"/>
    <p:sldId id="285" r:id="rId34"/>
    <p:sldId id="287" r:id="rId35"/>
    <p:sldId id="311" r:id="rId36"/>
    <p:sldId id="292" r:id="rId37"/>
    <p:sldId id="293" r:id="rId38"/>
    <p:sldId id="294" r:id="rId39"/>
    <p:sldId id="295" r:id="rId40"/>
    <p:sldId id="312" r:id="rId41"/>
    <p:sldId id="296" r:id="rId42"/>
    <p:sldId id="310" r:id="rId43"/>
    <p:sldId id="297" r:id="rId44"/>
    <p:sldId id="298" r:id="rId45"/>
    <p:sldId id="299" r:id="rId46"/>
    <p:sldId id="300" r:id="rId47"/>
    <p:sldId id="30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57670E-80CC-21E0-37A9-A912B40E1B17}" name="Schleinitz, Jules" initials="SJ" userId="S::jul@caltech.edu::95914fd0-5308-46ae-bb57-a92f3c5aa61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A602"/>
    <a:srgbClr val="006400"/>
    <a:srgbClr val="000AC2"/>
    <a:srgbClr val="EAF6F1"/>
    <a:srgbClr val="454545"/>
    <a:srgbClr val="9F9F9F"/>
    <a:srgbClr val="9C9C9C"/>
    <a:srgbClr val="6B6B6B"/>
    <a:srgbClr val="B0B0B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201"/>
    <p:restoredTop sz="77406"/>
  </p:normalViewPr>
  <p:slideViewPr>
    <p:cSldViewPr snapToGrid="0">
      <p:cViewPr>
        <p:scale>
          <a:sx n="52" d="100"/>
          <a:sy n="52" d="100"/>
        </p:scale>
        <p:origin x="856" y="1104"/>
      </p:cViewPr>
      <p:guideLst/>
    </p:cSldViewPr>
  </p:slideViewPr>
  <p:notesTextViewPr>
    <p:cViewPr>
      <p:scale>
        <a:sx n="45" d="100"/>
        <a:sy n="4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5B35AC-7727-EC43-B70F-1C84BD04C1D7}" type="datetimeFigureOut">
              <a:rPr lang="en-US" smtClean="0"/>
              <a:t>8/18/26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FB1D49-D9AB-6D4C-A0A7-DB8D98134A00}" type="slidenum">
              <a:rPr lang="en-US" smtClean="0"/>
              <a:t>‹#›</a:t>
            </a:fld>
            <a:endParaRPr lang="en-US"/>
          </a:p>
        </p:txBody>
      </p:sp>
    </p:spTree>
    <p:extLst>
      <p:ext uri="{BB962C8B-B14F-4D97-AF65-F5344CB8AC3E}">
        <p14:creationId xmlns:p14="http://schemas.microsoft.com/office/powerpoint/2010/main" val="847761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Lecture 12 of 12. Ninety minutes.</a:t>
            </a:r>
          </a:p>
          <a:p>
            <a:endParaRPr dirty="0"/>
          </a:p>
          <a:p>
            <a:r>
              <a:rPr dirty="0"/>
              <a:t>Opening line: "This morning you designed experiments. This afternoon we let the</a:t>
            </a:r>
          </a:p>
          <a:p>
            <a:r>
              <a:rPr dirty="0"/>
              <a:t>algorithm design the next one — and then the one after that, using what it just learned."</a:t>
            </a:r>
          </a:p>
          <a:p>
            <a:endParaRPr dirty="0"/>
          </a:p>
          <a:p>
            <a:r>
              <a:rPr dirty="0"/>
              <a:t>Set expectations: by 15:15 they run this themselves on real Suzuki data.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Section marker. We are entering: 1 · Optimization when experiments are expensive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 with the problem, not the method. Put this brief up and ASK THE ROOM how they</a:t>
            </a:r>
          </a:p>
          <a:p>
            <a:r>
              <a:rPr dirty="0"/>
              <a:t>would spend the 30 experiments. Take two or three answers out loud.</a:t>
            </a:r>
          </a:p>
          <a:p>
            <a:endParaRPr dirty="0"/>
          </a:p>
          <a:p>
            <a:r>
              <a:rPr dirty="0"/>
              <a:t>You will reliably get "vary one thing at a time" and "screen the ligands first".</a:t>
            </a:r>
          </a:p>
          <a:p>
            <a:r>
              <a:rPr dirty="0"/>
              <a:t>Both are worth having said aloud — the rest of the lecture is a critique of the</a:t>
            </a:r>
          </a:p>
          <a:p>
            <a:r>
              <a:rPr dirty="0"/>
              <a:t>first and an endorsement of the second.</a:t>
            </a:r>
          </a:p>
          <a:p>
            <a:endParaRPr dirty="0"/>
          </a:p>
          <a:p>
            <a:r>
              <a:rPr dirty="0"/>
              <a:t>Do not move on until someone has said OFAT. It makes the next slide land.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panels, one figure each, all on the SAME 2-D ridge landscape so they are</a:t>
            </a:r>
          </a:p>
          <a:p>
            <a:r>
              <a:rPr dirty="0"/>
              <a:t>directly comparable. This is the landscape you reuse for the whole lecture.</a:t>
            </a:r>
          </a:p>
          <a:p>
            <a:endParaRPr dirty="0"/>
          </a:p>
          <a:p>
            <a:r>
              <a:rPr dirty="0"/>
              <a:t>OFAT is the slide the audience feels personally. Let it land — most of them have</a:t>
            </a:r>
          </a:p>
          <a:p>
            <a:r>
              <a:rPr dirty="0"/>
              <a:t>run a campaign like this. Do not be smug about it.</a:t>
            </a:r>
          </a:p>
          <a:p>
            <a:endParaRPr dirty="0"/>
          </a:p>
          <a:p>
            <a:r>
              <a:rPr dirty="0"/>
              <a:t>RANDOM SEARCH: include it deliberately. It is the baseline every BO result must be</a:t>
            </a:r>
          </a:p>
          <a:p>
            <a:r>
              <a:rPr dirty="0"/>
              <a:t>compared against, and saying so builds credibility for everything that follows.</a:t>
            </a:r>
          </a:p>
          <a:p>
            <a:r>
              <a:rPr dirty="0"/>
              <a:t>Anyone who has read the hyperparameter-tuning literature will respect you for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FCD37-8CA7-FDCD-79CB-B02288996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975C5-12AC-9A4E-D174-A03320EAF75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1E3EDB2-79AE-8EB9-523D-FD7E89858B63}"/>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 -&gt; objective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dirty="0" err="1"/>
              <a:t>Characterise</a:t>
            </a:r>
            <a:r>
              <a:rPr dirty="0"/>
              <a:t> f by what makes it HARD, not by what it is.</a:t>
            </a:r>
          </a:p>
          <a:p>
            <a:endParaRPr dirty="0"/>
          </a:p>
          <a:p>
            <a:r>
              <a:rPr dirty="0"/>
              <a:t>EXPENSIVE is the defining property — everything in BO is a consequence of it.</a:t>
            </a:r>
          </a:p>
          <a:p>
            <a:r>
              <a:rPr dirty="0"/>
              <a:t>Say that explicitly; it is the thread through the whole lecture.</a:t>
            </a:r>
          </a:p>
          <a:p>
            <a:endParaRPr dirty="0"/>
          </a:p>
          <a:p>
            <a:r>
              <a:rPr dirty="0"/>
              <a:t>NOISY: flag it here, and promise you will come back to it. You will, twice</a:t>
            </a:r>
          </a:p>
          <a:p>
            <a:r>
              <a:rPr dirty="0"/>
              <a:t>(the hyperparameter table, and the dedicated noise section). It is the failure</a:t>
            </a:r>
          </a:p>
          <a:p>
            <a:r>
              <a:rPr dirty="0"/>
              <a:t>mode with the most published evidence behind it.</a:t>
            </a:r>
          </a:p>
          <a:p>
            <a:endParaRPr dirty="0"/>
          </a:p>
          <a:p>
            <a:r>
              <a:rPr dirty="0"/>
              <a:t>MIXED-VARIABLE: flag now, resolve in the categorical section. Do not let anyone</a:t>
            </a:r>
          </a:p>
          <a:p>
            <a:r>
              <a:rPr dirty="0"/>
              <a:t>leave thinking BO only works on continuous boxes.</a:t>
            </a:r>
          </a:p>
        </p:txBody>
      </p:sp>
      <p:sp>
        <p:nvSpPr>
          <p:cNvPr id="4" name="Slide Number Placeholder 3">
            <a:extLst>
              <a:ext uri="{FF2B5EF4-FFF2-40B4-BE49-F238E27FC236}">
                <a16:creationId xmlns:a16="http://schemas.microsoft.com/office/drawing/2014/main" id="{9828A073-7A33-F1D7-3DE1-A674F67DEDB9}"/>
              </a:ext>
            </a:extLst>
          </p:cNvPr>
          <p:cNvSpPr>
            <a:spLocks noGrp="1"/>
          </p:cNvSpPr>
          <p:nvPr>
            <p:ph type="sldNum" sz="quarter" idx="5"/>
          </p:nvPr>
        </p:nvSpPr>
        <p:spPr/>
      </p:sp>
    </p:spTree>
    <p:extLst>
      <p:ext uri="{BB962C8B-B14F-4D97-AF65-F5344CB8AC3E}">
        <p14:creationId xmlns:p14="http://schemas.microsoft.com/office/powerpoint/2010/main" val="2260627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B4B41-5853-1FF6-8547-C1419C800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7E1B1-10FF-9669-3DBD-D1DCA48B488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51235E4-8E7E-E5EF-FFE9-4AE25ABEAFC3}"/>
              </a:ext>
            </a:extLst>
          </p:cNvPr>
          <p:cNvSpPr>
            <a:spLocks noGrp="1"/>
          </p:cNvSpPr>
          <p:nvPr>
            <p:ph type="body" sz="quarter" idx="3"/>
          </p:nvPr>
        </p:nvSpPr>
        <p:spPr/>
        <p:txBody>
          <a:bodyPr/>
          <a:lstStyle/>
          <a:p>
            <a:r>
              <a:rPr dirty="0"/>
              <a:t>Section marker. We are entering: 1 · Optimization when experiments are expensive</a:t>
            </a:r>
          </a:p>
        </p:txBody>
      </p:sp>
      <p:sp>
        <p:nvSpPr>
          <p:cNvPr id="4" name="Slide Number Placeholder 3">
            <a:extLst>
              <a:ext uri="{FF2B5EF4-FFF2-40B4-BE49-F238E27FC236}">
                <a16:creationId xmlns:a16="http://schemas.microsoft.com/office/drawing/2014/main" id="{337C761B-BF0C-4B9C-79AA-177BC254FF0D}"/>
              </a:ext>
            </a:extLst>
          </p:cNvPr>
          <p:cNvSpPr>
            <a:spLocks noGrp="1"/>
          </p:cNvSpPr>
          <p:nvPr>
            <p:ph type="sldNum" sz="quarter" idx="5"/>
          </p:nvPr>
        </p:nvSpPr>
        <p:spPr/>
      </p:sp>
    </p:spTree>
    <p:extLst>
      <p:ext uri="{BB962C8B-B14F-4D97-AF65-F5344CB8AC3E}">
        <p14:creationId xmlns:p14="http://schemas.microsoft.com/office/powerpoint/2010/main" val="4096241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2FEC9-6F27-0218-9243-34C2FF3A2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CCDAE-3135-7182-C365-F4F365BEDE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672642F-6786-3C3B-AA0B-073A7F3A398F}"/>
              </a:ext>
            </a:extLst>
          </p:cNvPr>
          <p:cNvSpPr>
            <a:spLocks noGrp="1"/>
          </p:cNvSpPr>
          <p:nvPr>
            <p:ph type="body" sz="quarter" idx="3"/>
          </p:nvPr>
        </p:nvSpPr>
        <p:spPr/>
        <p:txBody>
          <a:bodyPr/>
          <a:lstStyle/>
          <a:p>
            <a:r>
              <a:rPr dirty="0"/>
              <a:t>Lecture 12 of 12. Ninety minutes.</a:t>
            </a:r>
          </a:p>
          <a:p>
            <a:endParaRPr dirty="0"/>
          </a:p>
          <a:p>
            <a:r>
              <a:rPr dirty="0"/>
              <a:t>Opening line: "This morning you designed experiments. This afternoon we let the</a:t>
            </a:r>
          </a:p>
          <a:p>
            <a:r>
              <a:rPr dirty="0"/>
              <a:t>algorithm design the next one — and then the one after that, using what it just learned."</a:t>
            </a:r>
          </a:p>
          <a:p>
            <a:endParaRPr dirty="0"/>
          </a:p>
          <a:p>
            <a:r>
              <a:rPr dirty="0"/>
              <a:t>Set expectations: by 15:15 they run this themselves on real Suzuki data.</a:t>
            </a:r>
          </a:p>
        </p:txBody>
      </p:sp>
      <p:sp>
        <p:nvSpPr>
          <p:cNvPr id="4" name="Slide Number Placeholder 3">
            <a:extLst>
              <a:ext uri="{FF2B5EF4-FFF2-40B4-BE49-F238E27FC236}">
                <a16:creationId xmlns:a16="http://schemas.microsoft.com/office/drawing/2014/main" id="{FA20764B-FA22-4F67-97E9-68AF013478BC}"/>
              </a:ext>
            </a:extLst>
          </p:cNvPr>
          <p:cNvSpPr>
            <a:spLocks noGrp="1"/>
          </p:cNvSpPr>
          <p:nvPr>
            <p:ph type="sldNum" sz="quarter" idx="5"/>
          </p:nvPr>
        </p:nvSpPr>
        <p:spPr/>
      </p:sp>
    </p:spTree>
    <p:extLst>
      <p:ext uri="{BB962C8B-B14F-4D97-AF65-F5344CB8AC3E}">
        <p14:creationId xmlns:p14="http://schemas.microsoft.com/office/powerpoint/2010/main" val="3270379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slide, no equations. Chemists need the SHAPE of the thing before the machinery.</a:t>
            </a:r>
          </a:p>
          <a:p>
            <a:r>
              <a:rPr dirty="0"/>
              <a:t>This is the slide people photograph.</a:t>
            </a:r>
          </a:p>
          <a:p>
            <a:endParaRPr dirty="0"/>
          </a:p>
          <a:p>
            <a:r>
              <a:rPr dirty="0"/>
              <a:t>Explain each node in one sentence, then stop. Do not unpack anything yet.</a:t>
            </a:r>
          </a:p>
          <a:p>
            <a:endParaRPr dirty="0"/>
          </a:p>
          <a:p>
            <a:r>
              <a:rPr dirty="0"/>
              <a:t>Mention the seed step: the loop needs an initial design (Latin hypercube or Sobol,</a:t>
            </a:r>
          </a:p>
          <a:p>
            <a:r>
              <a:rPr dirty="0"/>
              <a:t>or a DOE screen). Note aloud that THIS IS WHERE DOE AND BO ALREADY TOUCH — your</a:t>
            </a:r>
          </a:p>
          <a:p>
            <a:r>
              <a:rPr dirty="0"/>
              <a:t>initial design is a design of experiments. That is the first of several handshakes</a:t>
            </a:r>
          </a:p>
          <a:p>
            <a:r>
              <a:rPr dirty="0"/>
              <a:t>with this morning's lecture.</a:t>
            </a:r>
          </a:p>
          <a:p>
            <a:endParaRPr dirty="0"/>
          </a:p>
          <a:p>
            <a:r>
              <a:rPr dirty="0"/>
              <a:t>State the scope: one objective, one experiment at a time, for the next hour.</a:t>
            </a:r>
          </a:p>
          <a:p>
            <a:r>
              <a:rPr dirty="0"/>
              <a:t>We relax both assumptions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p(f | </a:t>
            </a:r>
            <a:r>
              <a:rPr lang="en-US" dirty="0" err="1"/>
              <a:t>D_n</a:t>
            </a:r>
            <a:r>
              <a:rPr lang="en-US" dirty="0"/>
              <a:t>) ∝ p(</a:t>
            </a:r>
            <a:r>
              <a:rPr lang="en-US" dirty="0" err="1"/>
              <a:t>y_n</a:t>
            </a:r>
            <a:r>
              <a:rPr lang="en-US" dirty="0"/>
              <a:t> | f, </a:t>
            </a:r>
            <a:r>
              <a:rPr lang="en-US" dirty="0" err="1"/>
              <a:t>x_n</a:t>
            </a:r>
            <a:r>
              <a:rPr lang="en-US" dirty="0"/>
              <a:t>) · p(f | D_{n−1})</a:t>
            </a:r>
          </a:p>
          <a:p>
            <a:endParaRPr lang="en-US" dirty="0"/>
          </a:p>
          <a:p>
            <a:endParaRPr lang="en-US" dirty="0"/>
          </a:p>
          <a:p>
            <a:r>
              <a:rPr dirty="0"/>
              <a:t>Merged deliberately with the surrogate section: the posterior over functions IS the</a:t>
            </a:r>
          </a:p>
          <a:p>
            <a:r>
              <a:rPr dirty="0"/>
              <a:t>Bayes step. Presenting Bayes' law later, after acquisition functions, makes it read</a:t>
            </a:r>
          </a:p>
          <a:p>
            <a:r>
              <a:rPr dirty="0"/>
              <a:t>as an appendix.</a:t>
            </a:r>
          </a:p>
          <a:p>
            <a:endParaRPr dirty="0"/>
          </a:p>
          <a:p>
            <a:r>
              <a:rPr dirty="0"/>
              <a:t>Interpret each term AS A STATEMENT ABOUT FUNCTIONS — that is the unfamiliar move for</a:t>
            </a:r>
          </a:p>
          <a:p>
            <a:r>
              <a:rPr dirty="0"/>
              <a:t>this audience, and the whole reason to spend a slide on it.</a:t>
            </a:r>
          </a:p>
          <a:p>
            <a:endParaRPr dirty="0"/>
          </a:p>
          <a:p>
            <a:r>
              <a:rPr dirty="0"/>
              <a:t>PRIOR is worth dwelling on. Most chemists have strong beliefs about smoothness and</a:t>
            </a:r>
          </a:p>
          <a:p>
            <a:r>
              <a:rPr dirty="0"/>
              <a:t>scale and never encode them. Ask: "over how many degrees does your yield change</a:t>
            </a:r>
          </a:p>
          <a:p>
            <a:r>
              <a:rPr dirty="0"/>
              <a:t>appreciably?" — that number is a length-scale, and they already know it.</a:t>
            </a:r>
          </a:p>
          <a:p>
            <a:endParaRPr lang="en-US" dirty="0"/>
          </a:p>
          <a:p>
            <a:r>
              <a:rPr lang="en-US" dirty="0"/>
              <a:t>Let me verify references rather than cite from </a:t>
            </a:r>
            <a:r>
              <a:rPr lang="en-US" dirty="0" err="1"/>
              <a:t>memory.The</a:t>
            </a:r>
            <a:r>
              <a:rPr lang="en-US" dirty="0"/>
              <a:t> prior has three separable levers, and chemistry gives you reasons to move each one:</a:t>
            </a:r>
          </a:p>
          <a:p>
            <a:r>
              <a:rPr lang="en-US" sz="1200" kern="1200" dirty="0">
                <a:solidFill>
                  <a:schemeClr val="tx1"/>
                </a:solidFill>
                <a:latin typeface="+mn-lt"/>
                <a:ea typeface="+mn-ea"/>
                <a:cs typeface="+mn-cs"/>
              </a:rPr>
              <a:t>p(f)</a:t>
            </a:r>
            <a:r>
              <a:rPr lang="en-US" dirty="0"/>
              <a:t> = </a:t>
            </a:r>
            <a:r>
              <a:rPr lang="en-US" b="1" dirty="0"/>
              <a:t>mean function</a:t>
            </a:r>
            <a:r>
              <a:rPr lang="en-US" dirty="0"/>
              <a:t> </a:t>
            </a:r>
            <a:r>
              <a:rPr lang="en-US" sz="1200" kern="1200" dirty="0">
                <a:solidFill>
                  <a:schemeClr val="tx1"/>
                </a:solidFill>
                <a:latin typeface="+mn-lt"/>
                <a:ea typeface="+mn-ea"/>
                <a:cs typeface="+mn-cs"/>
              </a:rPr>
              <a:t>m(x)</a:t>
            </a:r>
            <a:r>
              <a:rPr lang="en-US" dirty="0"/>
              <a:t> + </a:t>
            </a:r>
            <a:r>
              <a:rPr lang="en-US" b="1" dirty="0"/>
              <a:t>kernel</a:t>
            </a:r>
            <a:r>
              <a:rPr lang="en-US" dirty="0"/>
              <a:t> </a:t>
            </a:r>
            <a:r>
              <a:rPr lang="en-US" sz="1200" kern="1200" dirty="0">
                <a:solidFill>
                  <a:schemeClr val="tx1"/>
                </a:solidFill>
                <a:latin typeface="+mn-lt"/>
                <a:ea typeface="+mn-ea"/>
                <a:cs typeface="+mn-cs"/>
              </a:rPr>
              <a:t>k(</a:t>
            </a:r>
            <a:r>
              <a:rPr lang="en-US" sz="1200" kern="1200" dirty="0" err="1">
                <a:solidFill>
                  <a:schemeClr val="tx1"/>
                </a:solidFill>
                <a:latin typeface="+mn-lt"/>
                <a:ea typeface="+mn-ea"/>
                <a:cs typeface="+mn-cs"/>
              </a:rPr>
              <a:t>x,x</a:t>
            </a:r>
            <a:r>
              <a:rPr lang="en-US" sz="1200" kern="1200" dirty="0">
                <a:solidFill>
                  <a:schemeClr val="tx1"/>
                </a:solidFill>
                <a:latin typeface="+mn-lt"/>
                <a:ea typeface="+mn-ea"/>
                <a:cs typeface="+mn-cs"/>
              </a:rPr>
              <a:t>′)</a:t>
            </a:r>
            <a:r>
              <a:rPr lang="en-US" dirty="0"/>
              <a:t> + </a:t>
            </a:r>
            <a:r>
              <a:rPr lang="en-US" b="1" dirty="0"/>
              <a:t>hyperpriors</a:t>
            </a:r>
            <a:r>
              <a:rPr lang="en-US" dirty="0"/>
              <a:t> on ℓ, </a:t>
            </a:r>
            <a:r>
              <a:rPr lang="en-US" dirty="0" err="1"/>
              <a:t>σ_f</a:t>
            </a:r>
            <a:r>
              <a:rPr lang="en-US" dirty="0"/>
              <a:t>, </a:t>
            </a:r>
            <a:r>
              <a:rPr lang="en-US" dirty="0" err="1"/>
              <a:t>σ_n</a:t>
            </a:r>
            <a:endParaRPr lang="en-US" dirty="0"/>
          </a:p>
          <a:p>
            <a:r>
              <a:rPr lang="en-US" dirty="0"/>
              <a:t>Here are the cases where a non-default choice is defensible, strongest evidence first.</a:t>
            </a:r>
          </a:p>
          <a:p>
            <a:br>
              <a:rPr lang="en-US" dirty="0"/>
            </a:br>
            <a:endParaRPr lang="en-US" dirty="0"/>
          </a:p>
          <a:p>
            <a:r>
              <a:rPr lang="en-US" b="1" dirty="0"/>
              <a:t>1. Different encodings need different hyperpriors — and Shields et al. tuned them separately.</a:t>
            </a:r>
            <a:endParaRPr lang="en-US" dirty="0"/>
          </a:p>
          <a:p>
            <a:r>
              <a:rPr lang="en-US" dirty="0"/>
              <a:t>This is in the SI you sent me. They </a:t>
            </a:r>
            <a:r>
              <a:rPr lang="en-US" dirty="0" err="1"/>
              <a:t>optimised</a:t>
            </a:r>
            <a:r>
              <a:rPr lang="en-US" dirty="0"/>
              <a:t> GP priors </a:t>
            </a:r>
            <a:r>
              <a:rPr lang="en-US" i="1" dirty="0"/>
              <a:t>per representation</a:t>
            </a:r>
            <a:r>
              <a:rPr lang="en-US" dirty="0"/>
              <a:t>, and the recommended values differ substantially:</a:t>
            </a:r>
          </a:p>
          <a:p>
            <a:r>
              <a:rPr lang="en-US" dirty="0"/>
              <a:t>encoding</a:t>
            </a:r>
          </a:p>
          <a:p>
            <a:r>
              <a:rPr lang="en-US" dirty="0"/>
              <a:t>length-scale prior</a:t>
            </a:r>
          </a:p>
          <a:p>
            <a:r>
              <a:rPr lang="en-US" dirty="0"/>
              <a:t>mode</a:t>
            </a:r>
          </a:p>
          <a:p>
            <a:r>
              <a:rPr lang="en-US" dirty="0"/>
              <a:t>one-hot Gamma(3.0, 1.0) 2.0 </a:t>
            </a:r>
          </a:p>
          <a:p>
            <a:r>
              <a:rPr lang="en-US" dirty="0"/>
              <a:t>Mordred descriptors Gamma(2.0, 0.1) 10.0 </a:t>
            </a:r>
          </a:p>
          <a:p>
            <a:r>
              <a:rPr lang="en-US" dirty="0"/>
              <a:t>That's not cosmetic. One-hot lives on the corners of a hypercube where all distances are √2, so a short length-scale is appropriate; a continuous descriptor space is far more spread out and needs a length-scale five times longer. Using one set of priors for both encodings is a modelling error, and they measured it. </a:t>
            </a:r>
            <a:r>
              <a:rPr lang="en-US" i="1" dirty="0"/>
              <a:t>Shields et al., Nature 2021, 590, 89–96, SI Tables S2–S3.</a:t>
            </a:r>
            <a:endParaRPr lang="en-US" dirty="0"/>
          </a:p>
          <a:p>
            <a:r>
              <a:rPr lang="en-US" b="1" dirty="0"/>
              <a:t>2. Molecules as inputs → Tanimoto kernel, not RBF on fingerprints.</a:t>
            </a:r>
            <a:endParaRPr lang="en-US" dirty="0"/>
          </a:p>
          <a:p>
            <a:r>
              <a:rPr lang="en-US" dirty="0"/>
              <a:t>A fingerprint is a sparse binary vector. An RBF kernel on it says similarity decays with squared </a:t>
            </a:r>
            <a:r>
              <a:rPr lang="en-US" i="1" dirty="0"/>
              <a:t>Euclidean</a:t>
            </a:r>
            <a:r>
              <a:rPr lang="en-US" dirty="0"/>
              <a:t> distance, which for sparse bit vectors is dominated by how many bits are set, not by which substructures are shared. Chemists have used Tanimoto for four decades for exactly this reason, and it can be used as a valid GP kernel. GAUCHE implements it, and reports that a </a:t>
            </a:r>
            <a:r>
              <a:rPr lang="en-US" b="1" dirty="0"/>
              <a:t>differential reaction fingerprint with a Tanimoto kernel is the best-performing reaction representation</a:t>
            </a:r>
            <a:r>
              <a:rPr lang="en-US" dirty="0"/>
              <a:t> they tested. </a:t>
            </a:r>
            <a:r>
              <a:rPr lang="en-US" i="1" dirty="0"/>
              <a:t>Griffiths et al., "GAUCHE: A Library for Gaussian Processes in Chemistry," </a:t>
            </a:r>
            <a:r>
              <a:rPr lang="en-US" i="1" dirty="0" err="1"/>
              <a:t>NeurIPS</a:t>
            </a:r>
            <a:r>
              <a:rPr lang="en-US" i="1" dirty="0"/>
              <a:t> 2023; arXiv:2212.04450; code at </a:t>
            </a:r>
            <a:r>
              <a:rPr lang="en-US" i="1" dirty="0" err="1"/>
              <a:t>github.com</a:t>
            </a:r>
            <a:r>
              <a:rPr lang="en-US" i="1" dirty="0"/>
              <a:t>/</a:t>
            </a:r>
            <a:r>
              <a:rPr lang="en-US" i="1" dirty="0" err="1"/>
              <a:t>leojklarner</a:t>
            </a:r>
            <a:r>
              <a:rPr lang="en-US" i="1" dirty="0"/>
              <a:t>/gauche.</a:t>
            </a:r>
            <a:endParaRPr lang="en-US" dirty="0"/>
          </a:p>
          <a:p>
            <a:r>
              <a:rPr lang="en-US" b="1" dirty="0"/>
              <a:t>3. Categorical components → descriptor kernel, not one-hot.</a:t>
            </a:r>
            <a:r>
              <a:rPr lang="en-US" dirty="0"/>
              <a:t> Already your §6. Shields found DFT descriptors gave the most consistent worst-case performance across reactions; Gryffin builds the descriptor idea into the prior explicitly. </a:t>
            </a:r>
            <a:r>
              <a:rPr lang="en-US" i="1" dirty="0"/>
              <a:t>Shields et al. 2021 · </a:t>
            </a:r>
            <a:r>
              <a:rPr lang="en-US" i="1" dirty="0" err="1"/>
              <a:t>Häse</a:t>
            </a:r>
            <a:r>
              <a:rPr lang="en-US" i="1" dirty="0"/>
              <a:t> et al., Appl. Phys. Rev. 2021, 8, 031406, doi:10.1063/5.0048164.</a:t>
            </a:r>
            <a:endParaRPr lang="en-US" dirty="0"/>
          </a:p>
          <a:p>
            <a:r>
              <a:rPr lang="en-US" b="1" dirty="0"/>
              <a:t>4. Log-transform anything spanning orders of magnitude.</a:t>
            </a:r>
            <a:r>
              <a:rPr lang="en-US" dirty="0"/>
              <a:t> Rate constants, IC50, solubility, conductivity, particle size.</a:t>
            </a:r>
          </a:p>
          <a:p>
            <a:r>
              <a:rPr lang="en-US" dirty="0"/>
              <a:t>A GP on the raw scale asserts that a change of ±X </a:t>
            </a:r>
            <a:r>
              <a:rPr lang="en-US" i="1" dirty="0"/>
              <a:t>units</a:t>
            </a:r>
            <a:r>
              <a:rPr lang="en-US" dirty="0"/>
              <a:t> is equally plausible everywhere. For a quantity ranging over 10⁻³ to 10³ that's simply false — the right invariance is ±X </a:t>
            </a:r>
            <a:r>
              <a:rPr lang="en-US" i="1" dirty="0"/>
              <a:t>fold</a:t>
            </a:r>
            <a:r>
              <a:rPr lang="en-US" dirty="0"/>
              <a:t>. Modelling on the log scale encodes it. Chemists already do this by reflex (pIC50, </a:t>
            </a:r>
            <a:r>
              <a:rPr lang="en-US" dirty="0" err="1"/>
              <a:t>logS</a:t>
            </a:r>
            <a:r>
              <a:rPr lang="en-US" dirty="0"/>
              <a:t>, </a:t>
            </a:r>
            <a:r>
              <a:rPr lang="en-US" dirty="0" err="1"/>
              <a:t>logP</a:t>
            </a:r>
            <a:r>
              <a:rPr lang="en-US" dirty="0"/>
              <a:t>) and think of it as data cleaning; it is in fact a statement about </a:t>
            </a:r>
            <a:r>
              <a:rPr lang="en-US" sz="1200" kern="1200" dirty="0">
                <a:solidFill>
                  <a:schemeClr val="tx1"/>
                </a:solidFill>
                <a:latin typeface="+mn-lt"/>
                <a:ea typeface="+mn-ea"/>
                <a:cs typeface="+mn-cs"/>
              </a:rPr>
              <a:t>p(f)</a:t>
            </a:r>
            <a:r>
              <a:rPr lang="en-US" dirty="0"/>
              <a:t>, and it's usually the single highest-value prior change available.</a:t>
            </a:r>
          </a:p>
          <a:p>
            <a:r>
              <a:rPr lang="en-US" b="1" dirty="0"/>
              <a:t>5. Physics you already have → put it in the mean function.</a:t>
            </a:r>
            <a:endParaRPr lang="en-US" dirty="0"/>
          </a:p>
          <a:p>
            <a:r>
              <a:rPr lang="en-US" sz="1200" kern="1200" dirty="0">
                <a:solidFill>
                  <a:schemeClr val="tx1"/>
                </a:solidFill>
                <a:latin typeface="+mn-lt"/>
                <a:ea typeface="+mn-ea"/>
                <a:cs typeface="+mn-cs"/>
              </a:rPr>
              <a:t>m(x) = 0</a:t>
            </a:r>
            <a:r>
              <a:rPr lang="en-US" dirty="0"/>
              <a:t> asserts that, absent data, you expect the </a:t>
            </a:r>
            <a:r>
              <a:rPr lang="en-US" dirty="0" err="1"/>
              <a:t>centred</a:t>
            </a:r>
            <a:r>
              <a:rPr lang="en-US" dirty="0"/>
              <a:t> response to be average everywhere. If you have an Arrhenius relation, a kinetic model, or DFT estimates, set </a:t>
            </a:r>
            <a:r>
              <a:rPr lang="en-US" sz="1200" kern="1200" dirty="0">
                <a:solidFill>
                  <a:schemeClr val="tx1"/>
                </a:solidFill>
                <a:latin typeface="+mn-lt"/>
                <a:ea typeface="+mn-ea"/>
                <a:cs typeface="+mn-cs"/>
              </a:rPr>
              <a:t>m(x)</a:t>
            </a:r>
            <a:r>
              <a:rPr lang="en-US" dirty="0"/>
              <a:t> to that and let the GP model only the </a:t>
            </a:r>
            <a:r>
              <a:rPr lang="en-US" i="1" dirty="0"/>
              <a:t>residual</a:t>
            </a:r>
            <a:r>
              <a:rPr lang="en-US" dirty="0"/>
              <a:t>. The GP then has to learn where the physics is wrong, which is a much smaller and smoother function than the response itself — so it learns it from fewer experiments. Multi-fidelity BO is the systematic version, using cheap simulations as a prior for expensive experiments. </a:t>
            </a:r>
            <a:r>
              <a:rPr lang="en-US" i="1" dirty="0"/>
              <a:t>Wu, Walsh &amp; </a:t>
            </a:r>
            <a:r>
              <a:rPr lang="en-US" i="1" dirty="0" err="1"/>
              <a:t>Ganose</a:t>
            </a:r>
            <a:r>
              <a:rPr lang="en-US" i="1" dirty="0"/>
              <a:t>, "Race to the bottom: Bayesian </a:t>
            </a:r>
            <a:r>
              <a:rPr lang="en-US" i="1" dirty="0" err="1"/>
              <a:t>optimisation</a:t>
            </a:r>
            <a:r>
              <a:rPr lang="en-US" i="1" dirty="0"/>
              <a:t> for chemical problems," Digital Discovery 2024, 3, 1086–1100, doi:10.1039/D3DD00234A — a good general survey of these choices for a chemistry audience.</a:t>
            </a:r>
            <a:endParaRPr lang="en-US" dirty="0"/>
          </a:p>
          <a:p>
            <a:r>
              <a:rPr lang="en-US" b="1" dirty="0"/>
              <a:t>6. Bounded responses.</a:t>
            </a:r>
            <a:r>
              <a:rPr lang="en-US" dirty="0"/>
              <a:t> Yield lives in [0, 100]. A Gaussian prior does not, so your posterior will happily predict 108% — and EI computed near the ceiling is then wrong in a way that matters, because optimization </a:t>
            </a:r>
            <a:r>
              <a:rPr lang="en-US" i="1" dirty="0"/>
              <a:t>drives you toward that boundary</a:t>
            </a:r>
            <a:r>
              <a:rPr lang="en-US" dirty="0"/>
              <a:t>. Fixes: logit-warp the response, or use a Beta likelihood (at the cost of the closed form). I'm flagging this as a modelling argument rather than a citation — I don't have a verified chemistry-specific reference to hand, and I'd rather say so than manufacture one.</a:t>
            </a:r>
          </a:p>
          <a:p>
            <a:r>
              <a:rPr lang="en-US" b="1" dirty="0"/>
              <a:t>7. Heteroscedastic noise as a prior choice.</a:t>
            </a:r>
            <a:r>
              <a:rPr lang="en-US" dirty="0"/>
              <a:t> If you expect variance to grow with temperature or at low conversion, that belongs in the model, not in a shrug. Griffiths et al. show a heteroscedastic GP not only tolerates this but can be steered toward </a:t>
            </a:r>
            <a:r>
              <a:rPr lang="en-US" i="1" dirty="0"/>
              <a:t>low-noise</a:t>
            </a:r>
            <a:r>
              <a:rPr lang="en-US" dirty="0"/>
              <a:t> optima. </a:t>
            </a:r>
            <a:r>
              <a:rPr lang="en-US" i="1" dirty="0"/>
              <a:t>Griffiths et al., Mach. Learn.: Sci. Technol. 2022, 3, 015004, doi:10.1088/2632-2153/ac298c.</a:t>
            </a:r>
            <a:endParaRPr lang="en-US" dirty="0"/>
          </a:p>
          <a:p>
            <a:br>
              <a:rPr lang="en-US" dirty="0"/>
            </a:br>
            <a:endParaRPr lang="en-US" dirty="0"/>
          </a:p>
          <a:p>
            <a:r>
              <a:rPr lang="en-US" b="1" dirty="0"/>
              <a:t>A verification note, to be consistent with how I've handled citations in this project:</a:t>
            </a:r>
            <a:r>
              <a:rPr lang="en-US" dirty="0"/>
              <a:t> items 1–5 and 7 are verified — 1 from the SI you gave me, 2 from a search this session, 3/5/7 against </a:t>
            </a:r>
            <a:r>
              <a:rPr lang="en-US" dirty="0" err="1"/>
              <a:t>Crossref</a:t>
            </a:r>
            <a:r>
              <a:rPr lang="en-US" dirty="0"/>
              <a:t>. One further idea I'd mention but have </a:t>
            </a:r>
            <a:r>
              <a:rPr lang="en-US" i="1" dirty="0"/>
              <a:t>not</a:t>
            </a:r>
            <a:r>
              <a:rPr lang="en-US" dirty="0"/>
              <a:t> verified: GPs with monotonicity constraints (conversion is monotone in time; yield is monotone in equivalents up to saturation). I believe the standard reference is Riihimäki &amp; </a:t>
            </a:r>
            <a:r>
              <a:rPr lang="en-US" dirty="0" err="1"/>
              <a:t>Vehtari</a:t>
            </a:r>
            <a:r>
              <a:rPr lang="en-US" dirty="0"/>
              <a:t>, AISTATS 2010, but I haven't checked it in this session — treat it as a lead, not a citation.</a:t>
            </a:r>
          </a:p>
          <a:p>
            <a:r>
              <a:rPr lang="en-US" b="1" dirty="0"/>
              <a:t>If you want one line for the slide:</a:t>
            </a:r>
            <a:r>
              <a:rPr lang="en-US" dirty="0"/>
              <a:t> the default prior — zero mean, RBF on raw numbers, generic hyperpriors — encodes "I know nothing about chemistry." Every item above is a place where you </a:t>
            </a:r>
            <a:r>
              <a:rPr lang="en-US" i="1" dirty="0"/>
              <a:t>do</a:t>
            </a:r>
            <a:r>
              <a:rPr lang="en-US" dirty="0"/>
              <a:t> know something, and the length-scale question you already ask on that slide is only the mildest of them.</a:t>
            </a:r>
          </a:p>
          <a:p>
            <a:endParaRPr lang="en-US" dirty="0"/>
          </a:p>
          <a:p>
            <a:endParaRPr dirty="0"/>
          </a:p>
          <a:p>
            <a:r>
              <a:rPr dirty="0"/>
              <a:t>TWO PRECISION POINTS, twenty seconds each, both pre-empt a sharp question:</a:t>
            </a:r>
          </a:p>
          <a:p>
            <a:r>
              <a:rPr dirty="0"/>
              <a:t>  1. The acquisition step is NOT Bayesian. Bayes gives the posterior; choosing where</a:t>
            </a:r>
          </a:p>
          <a:p>
            <a:r>
              <a:rPr dirty="0"/>
              <a:t>     to go next is decision theory bolted on top. Get there before they do.</a:t>
            </a:r>
          </a:p>
          <a:p>
            <a:r>
              <a:rPr dirty="0"/>
              <a:t>  2. "Bayesian" does not mean "Gaussian process". GP is one choice of prior over</a:t>
            </a:r>
          </a:p>
          <a:p>
            <a:r>
              <a:rPr dirty="0"/>
              <a:t>     functions. This sets up the last section for free.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Talk over the figure, top panel to bottom:</a:t>
            </a:r>
          </a:p>
          <a:p>
            <a:endParaRPr dirty="0"/>
          </a:p>
          <a:p>
            <a:r>
              <a:rPr dirty="0"/>
              <a:t>  "Top panel: before any experiment, these are all the functions I consider</a:t>
            </a:r>
          </a:p>
          <a:p>
            <a:r>
              <a:rPr dirty="0"/>
              <a:t>   plausible. Every panel below, I run one experiment. Notice what is happening —</a:t>
            </a:r>
          </a:p>
          <a:p>
            <a:r>
              <a:rPr dirty="0"/>
              <a:t>   I am not fitting a curve. I am DELETING the functions that are inconsistent</a:t>
            </a:r>
          </a:p>
          <a:p>
            <a:r>
              <a:rPr dirty="0"/>
              <a:t>   with what I measured. What is left is the posterior."</a:t>
            </a:r>
          </a:p>
          <a:p>
            <a:endParaRPr dirty="0"/>
          </a:p>
          <a:p>
            <a:r>
              <a:rPr dirty="0"/>
              <a:t>That reframe — deletion, not fitting — is the moment it clicks for most people.</a:t>
            </a:r>
          </a:p>
          <a:p>
            <a:r>
              <a:rPr dirty="0"/>
              <a:t>SAY IT TWICE.</a:t>
            </a:r>
          </a:p>
          <a:p>
            <a:endParaRPr dirty="0"/>
          </a:p>
          <a:p>
            <a:r>
              <a:rPr dirty="0"/>
              <a:t>Point at the mean-uncertainty number falling down the panels. That number is what</a:t>
            </a:r>
          </a:p>
          <a:p>
            <a:r>
              <a:rPr dirty="0"/>
              <a:t>the acquisition function will be built out of in ten minutes.</a:t>
            </a:r>
          </a:p>
          <a:p>
            <a:endParaRPr dirty="0"/>
          </a:p>
          <a:p>
            <a:r>
              <a:rPr dirty="0"/>
              <a:t>Note: a draft of this figure already exists (gaussian-</a:t>
            </a:r>
            <a:r>
              <a:rPr dirty="0" err="1"/>
              <a:t>processes_plate</a:t>
            </a:r>
            <a:r>
              <a:rPr dirty="0"/>
              <a:t>-</a:t>
            </a:r>
            <a:r>
              <a:rPr dirty="0" err="1"/>
              <a:t>I.pdf</a:t>
            </a:r>
            <a:r>
              <a:rPr dirty="0"/>
              <a:t>).</a:t>
            </a:r>
          </a:p>
          <a:p>
            <a:r>
              <a:rPr dirty="0"/>
              <a:t>Decide whether to reuse it as-is or re-render in the deck palette.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Make an animation using the predicted only decision and adding the ”ignorance” P(</a:t>
            </a:r>
            <a:r>
              <a:rPr lang="en-US" dirty="0" err="1"/>
              <a:t>f|D</a:t>
            </a:r>
            <a:r>
              <a:rPr lang="en-US" dirty="0"/>
              <a:t>) = posterior</a:t>
            </a:r>
          </a:p>
          <a:p>
            <a:endParaRPr lang="en-US" dirty="0"/>
          </a:p>
          <a:p>
            <a:r>
              <a:rPr lang="en-US" dirty="0"/>
              <a:t>N = normal distribution</a:t>
            </a:r>
          </a:p>
          <a:p>
            <a:endParaRPr lang="en-US" dirty="0"/>
          </a:p>
          <a:p>
            <a:r>
              <a:rPr lang="en-US" dirty="0"/>
              <a:t>µ = mean value</a:t>
            </a:r>
          </a:p>
          <a:p>
            <a:endParaRPr lang="en-US" dirty="0"/>
          </a:p>
          <a:p>
            <a:r>
              <a:rPr lang="el-GR" sz="1200" b="0" i="1" dirty="0">
                <a:solidFill>
                  <a:srgbClr val="123830"/>
                </a:solidFill>
                <a:latin typeface="Cambria"/>
              </a:rPr>
              <a:t>σ</a:t>
            </a:r>
            <a:r>
              <a:rPr lang="en-US" sz="1200" b="0" i="1" dirty="0">
                <a:solidFill>
                  <a:srgbClr val="123830"/>
                </a:solidFill>
                <a:latin typeface="Cambria"/>
              </a:rPr>
              <a:t> = quantification of your ignorance of f – uncertainty on f</a:t>
            </a:r>
          </a:p>
          <a:p>
            <a:endParaRPr lang="en-US" sz="1200" b="0" i="1" dirty="0">
              <a:solidFill>
                <a:srgbClr val="123830"/>
              </a:solidFill>
              <a:latin typeface="Cambria"/>
            </a:endParaRPr>
          </a:p>
          <a:p>
            <a:endParaRPr lang="en-US" dirty="0"/>
          </a:p>
          <a:p>
            <a:r>
              <a:rPr dirty="0"/>
              <a:t>Start from what they already know: every model in this bootcamp so far returns a</a:t>
            </a:r>
          </a:p>
          <a:p>
            <a:r>
              <a:rPr dirty="0"/>
              <a:t>number, y-hat = model(x). A surrogate returns a DISTRIBUTION. Two functions of x</a:t>
            </a:r>
          </a:p>
          <a:p>
            <a:r>
              <a:rPr dirty="0"/>
              <a:t>now — a mean and an uncertainty — and everything downstream uses both.</a:t>
            </a:r>
          </a:p>
          <a:p>
            <a:endParaRPr dirty="0"/>
          </a:p>
          <a:p>
            <a:r>
              <a:rPr dirty="0"/>
              <a:t>Then run the A/B question. Ask for a show of hands. There is no universally right</a:t>
            </a:r>
          </a:p>
          <a:p>
            <a:r>
              <a:rPr dirty="0"/>
              <a:t>answer, and that is exactly the point: it is what an acquisition function</a:t>
            </a:r>
          </a:p>
          <a:p>
            <a:r>
              <a:rPr dirty="0" err="1"/>
              <a:t>formalises</a:t>
            </a:r>
            <a:r>
              <a:rPr dirty="0"/>
              <a:t>.</a:t>
            </a:r>
          </a:p>
          <a:p>
            <a:endParaRPr dirty="0"/>
          </a:p>
          <a:p>
            <a:r>
              <a:rPr dirty="0"/>
              <a:t>The punchline is the red line. A point-estimate model can only exploit. It would</a:t>
            </a:r>
          </a:p>
          <a:p>
            <a:r>
              <a:rPr dirty="0"/>
              <a:t>never discover that B's region contains an 85% optimum.</a:t>
            </a:r>
          </a:p>
          <a:p>
            <a:endParaRPr dirty="0"/>
          </a:p>
          <a:p>
            <a:r>
              <a:rPr dirty="0"/>
              <a:t>Do not rush this slide. It is where "uncertainty" stops being decoration.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State the equations; do NOT derive them. Flag that with a GP prior and Gaussian</a:t>
            </a:r>
          </a:p>
          <a:p>
            <a:r>
              <a:rPr dirty="0"/>
              <a:t>noise the posterior is also Gaussian and available in closed form — no MCMC, no</a:t>
            </a:r>
          </a:p>
          <a:p>
            <a:r>
              <a:rPr dirty="0"/>
              <a:t>sampling. That conjugacy is the single practical reason GPs dominate BO.</a:t>
            </a:r>
          </a:p>
          <a:p>
            <a:endParaRPr dirty="0"/>
          </a:p>
          <a:p>
            <a:r>
              <a:rPr dirty="0"/>
              <a:t>Then the surprise: sigma-squared has no y in it.</a:t>
            </a:r>
          </a:p>
          <a:p>
            <a:endParaRPr dirty="0"/>
          </a:p>
          <a:p>
            <a:r>
              <a:rPr dirty="0"/>
              <a:t>⚠️ SAY THE QUALIFIER OUT LOUD. It holds only at fixed hyperparameters. In the GP</a:t>
            </a:r>
          </a:p>
          <a:p>
            <a:r>
              <a:rPr dirty="0"/>
              <a:t>section you will fit the length-scale, signal variance and noise by </a:t>
            </a:r>
            <a:r>
              <a:rPr dirty="0" err="1"/>
              <a:t>maximising</a:t>
            </a:r>
            <a:r>
              <a:rPr dirty="0"/>
              <a:t> the</a:t>
            </a:r>
          </a:p>
          <a:p>
            <a:r>
              <a:rPr dirty="0"/>
              <a:t>marginal likelihood — which depends on y. So in any real run the variance does</a:t>
            </a:r>
          </a:p>
          <a:p>
            <a:r>
              <a:rPr dirty="0"/>
              <a:t>acquire an indirect y-dependence through theta.</a:t>
            </a:r>
          </a:p>
          <a:p>
            <a:endParaRPr dirty="0"/>
          </a:p>
          <a:p>
            <a:r>
              <a:rPr dirty="0"/>
              <a:t>A sharp student will spot exactly this, and it is much better to have said it first.</a:t>
            </a:r>
          </a:p>
          <a:p>
            <a:r>
              <a:rPr dirty="0"/>
              <a:t>The clean version to use:</a:t>
            </a:r>
          </a:p>
          <a:p>
            <a:endParaRPr dirty="0"/>
          </a:p>
          <a:p>
            <a:r>
              <a:rPr dirty="0"/>
              <a:t>  "Given the kernel, geometry determines uncertainty. Learning the kernel is what</a:t>
            </a:r>
          </a:p>
          <a:p>
            <a:r>
              <a:rPr dirty="0"/>
              <a:t>   lets the data back 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α is the acquisition function</a:t>
            </a:r>
          </a:p>
          <a:p>
            <a:endParaRPr lang="en-US" dirty="0"/>
          </a:p>
          <a:p>
            <a:pPr algn="l">
              <a:spcAft>
                <a:spcPts val="1600"/>
              </a:spcAft>
            </a:pPr>
            <a:r>
              <a:rPr lang="en-US" sz="1200" b="0" i="0" dirty="0">
                <a:solidFill>
                  <a:srgbClr val="123830"/>
                </a:solidFill>
                <a:latin typeface="Calibri"/>
              </a:rPr>
              <a:t>The dashed line is the truth. You never see it.</a:t>
            </a:r>
          </a:p>
          <a:p>
            <a:pPr>
              <a:spcAft>
                <a:spcPts val="1600"/>
              </a:spcAft>
            </a:pPr>
            <a:r>
              <a:rPr lang="en-US" sz="1200" b="0" i="0" dirty="0">
                <a:solidFill>
                  <a:srgbClr val="2E6FBA"/>
                </a:solidFill>
                <a:latin typeface="Calibri"/>
              </a:rPr>
              <a:t>Blue: the surrogate — mean and variance.</a:t>
            </a:r>
          </a:p>
          <a:p>
            <a:pPr>
              <a:spcAft>
                <a:spcPts val="1600"/>
              </a:spcAft>
            </a:pPr>
            <a:r>
              <a:rPr lang="en-US" sz="1200" b="1" i="0" dirty="0">
                <a:solidFill>
                  <a:srgbClr val="E0A526"/>
                </a:solidFill>
                <a:latin typeface="Calibri"/>
              </a:rPr>
              <a:t>Orange: the acquisition function, computed from the posterior alone.</a:t>
            </a:r>
          </a:p>
          <a:p>
            <a:pPr>
              <a:spcAft>
                <a:spcPts val="1600"/>
              </a:spcAft>
            </a:pPr>
            <a:r>
              <a:rPr lang="en-US" sz="1200" b="1" i="0" dirty="0">
                <a:solidFill>
                  <a:srgbClr val="C00000"/>
                </a:solidFill>
                <a:latin typeface="Calibri"/>
              </a:rPr>
              <a:t>Its maximum is the next experiment — and note it is NOT where the mean is highest.</a:t>
            </a:r>
          </a:p>
          <a:p>
            <a:pPr>
              <a:spcAft>
                <a:spcPts val="1600"/>
              </a:spcAft>
            </a:pPr>
            <a:r>
              <a:rPr lang="en-US" sz="1100" b="0" i="0" dirty="0" err="1">
                <a:solidFill>
                  <a:srgbClr val="777777"/>
                </a:solidFill>
                <a:latin typeface="Calibri"/>
              </a:rPr>
              <a:t>Maximising</a:t>
            </a:r>
            <a:r>
              <a:rPr lang="en-US" sz="1100" b="0" i="0" dirty="0">
                <a:solidFill>
                  <a:srgbClr val="777777"/>
                </a:solidFill>
                <a:latin typeface="Calibri"/>
              </a:rPr>
              <a:t> </a:t>
            </a:r>
            <a:r>
              <a:rPr lang="el-GR" sz="1100" b="0" i="0" dirty="0">
                <a:solidFill>
                  <a:srgbClr val="777777"/>
                </a:solidFill>
                <a:latin typeface="Calibri"/>
              </a:rPr>
              <a:t>α </a:t>
            </a:r>
            <a:r>
              <a:rPr lang="en-US" sz="1100" b="0" i="0" dirty="0">
                <a:solidFill>
                  <a:srgbClr val="777777"/>
                </a:solidFill>
                <a:latin typeface="Calibri"/>
              </a:rPr>
              <a:t>is itself non-convex, but it costs milliseconds. So we can afford to be crude.</a:t>
            </a:r>
          </a:p>
          <a:p>
            <a:endParaRPr lang="en-US" dirty="0"/>
          </a:p>
          <a:p>
            <a:endParaRPr lang="en-US" dirty="0"/>
          </a:p>
          <a:p>
            <a:r>
              <a:rPr dirty="0"/>
              <a:t>State the core trick plainly: we replaced one expensive optimization with</a:t>
            </a:r>
          </a:p>
          <a:p>
            <a:r>
              <a:rPr dirty="0"/>
              <a:t>infinitely many cheap ones.</a:t>
            </a:r>
          </a:p>
          <a:p>
            <a:endParaRPr dirty="0"/>
          </a:p>
          <a:p>
            <a:r>
              <a:rPr dirty="0"/>
              <a:t>Then acknowledge the sleight of hand — </a:t>
            </a:r>
            <a:r>
              <a:rPr dirty="0" err="1"/>
              <a:t>maximising</a:t>
            </a:r>
            <a:r>
              <a:rPr dirty="0"/>
              <a:t> alpha is itself a non-convex</a:t>
            </a:r>
          </a:p>
          <a:p>
            <a:r>
              <a:rPr dirty="0"/>
              <a:t>problem in d dimensions. But it costs milliseconds, not days, so multi-start</a:t>
            </a:r>
          </a:p>
          <a:p>
            <a:r>
              <a:rPr dirty="0"/>
              <a:t>L-BFGS or brute-force sampling is fine. Chemists appreciate knowing where the</a:t>
            </a:r>
          </a:p>
          <a:p>
            <a:r>
              <a:rPr dirty="0"/>
              <a:t>cheat is; hiding it costs you trust.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ANCHOR SLIDE OF THE LECTURE. If you make only one figure, make this one.</a:t>
            </a:r>
          </a:p>
          <a:p>
            <a:r>
              <a:rPr dirty="0"/>
              <a:t>Build it in three clicks so each criterion appears in turn under the same posterior.</a:t>
            </a:r>
          </a:p>
          <a:p>
            <a:endParaRPr dirty="0"/>
          </a:p>
          <a:p>
            <a:r>
              <a:rPr dirty="0"/>
              <a:t>Ask before revealing each argmax: "where will this one send us?" It turns a</a:t>
            </a:r>
          </a:p>
          <a:p>
            <a:r>
              <a:rPr dirty="0"/>
              <a:t>passive slide into a prediction exercise, and the disagreements between the three</a:t>
            </a:r>
          </a:p>
          <a:p>
            <a:r>
              <a:rPr dirty="0"/>
              <a:t>are the whole lesson.</a:t>
            </a:r>
          </a:p>
          <a:p>
            <a:endParaRPr dirty="0"/>
          </a:p>
          <a:p>
            <a:r>
              <a:rPr dirty="0"/>
              <a:t>PI is historical (Kushner 1964) and pathologically greedy at xi = 0: it will take a</a:t>
            </a:r>
          </a:p>
          <a:p>
            <a:r>
              <a:rPr dirty="0"/>
              <a:t>51% chance of a 0.1% gain over a 40% chance of a huge one. It cares WHETHER you</a:t>
            </a:r>
          </a:p>
          <a:p>
            <a:r>
              <a:rPr dirty="0"/>
              <a:t>improve, not BY HOW MUCH — which is exactly what EI fixes.</a:t>
            </a:r>
            <a:endParaRPr lang="en-US" dirty="0"/>
          </a:p>
          <a:p>
            <a:endParaRPr lang="en-US" dirty="0"/>
          </a:p>
          <a:p>
            <a:r>
              <a:rPr lang="en-US" dirty="0"/>
              <a:t>PI: Probability of 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α_PI(x) = 𝔼[ 𝟙(f(x) &gt; f⁺) ] = P( f(x) &gt; f⁺ )</a:t>
            </a:r>
            <a:endParaRPr lang="en-US" dirty="0"/>
          </a:p>
          <a:p>
            <a:endParaRPr dirty="0"/>
          </a:p>
          <a:p>
            <a:endParaRPr dirty="0"/>
          </a:p>
          <a:p>
            <a:r>
              <a:rPr dirty="0"/>
              <a:t>⏱ IF YOU ARE BEHIND: drop PI to one sentence and move on. It is the designated cut.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Both are the </a:t>
            </a:r>
            <a:r>
              <a:rPr lang="en-US" b="1" dirty="0"/>
              <a:t>standard</a:t>
            </a:r>
            <a:r>
              <a:rPr lang="en-US" dirty="0"/>
              <a:t> normal — mean 0, variance 1. That's why the formula needs </a:t>
            </a:r>
            <a:r>
              <a:rPr lang="en-US" sz="1200" kern="1200" dirty="0">
                <a:solidFill>
                  <a:schemeClr val="tx1"/>
                </a:solidFill>
                <a:latin typeface="+mn-lt"/>
                <a:ea typeface="+mn-ea"/>
                <a:cs typeface="+mn-cs"/>
              </a:rPr>
              <a:t>z</a:t>
            </a:r>
            <a:r>
              <a:rPr lang="en-US" dirty="0"/>
              <a:t>: you </a:t>
            </a:r>
            <a:r>
              <a:rPr lang="en-US" dirty="0" err="1"/>
              <a:t>standardise</a:t>
            </a:r>
            <a:r>
              <a:rPr lang="en-US" dirty="0"/>
              <a:t>, read off the universal bell curve, then rescale by </a:t>
            </a:r>
            <a:r>
              <a:rPr lang="en-US" dirty="0" err="1"/>
              <a:t>σ</a:t>
            </a:r>
            <a:r>
              <a:rPr lang="en-US" dirty="0"/>
              <a:t>.</a:t>
            </a:r>
          </a:p>
          <a:p>
            <a:r>
              <a:rPr lang="en-US" b="1" dirty="0" err="1"/>
              <a:t>φ</a:t>
            </a:r>
            <a:r>
              <a:rPr lang="en-US" b="1" dirty="0"/>
              <a:t>(z)</a:t>
            </a:r>
            <a:r>
              <a:rPr lang="en-US" dirty="0"/>
              <a:t> — lowercase phi — is the </a:t>
            </a:r>
            <a:r>
              <a:rPr lang="en-US" b="1" dirty="0"/>
              <a:t>probability density function</a:t>
            </a:r>
            <a:r>
              <a:rPr lang="en-US" dirty="0"/>
              <a:t>, the bell curve itself:</a:t>
            </a:r>
          </a:p>
          <a:p>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(z) = (1/√2π) · exp(−z²/2)</a:t>
            </a:r>
            <a:endParaRPr lang="en-US" dirty="0"/>
          </a:p>
          <a:p>
            <a:r>
              <a:rPr lang="en-US" dirty="0"/>
              <a:t>It's a </a:t>
            </a:r>
            <a:r>
              <a:rPr lang="en-US" i="1" dirty="0"/>
              <a:t>height</a:t>
            </a:r>
            <a:r>
              <a:rPr lang="en-US" dirty="0"/>
              <a:t>. Peaks at </a:t>
            </a:r>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(0) = 0.399</a:t>
            </a:r>
            <a:r>
              <a:rPr lang="en-US" dirty="0"/>
              <a:t>, decays symmetrically.</a:t>
            </a:r>
          </a:p>
          <a:p>
            <a:r>
              <a:rPr lang="en-US" b="1" dirty="0" err="1"/>
              <a:t>Φ</a:t>
            </a:r>
            <a:r>
              <a:rPr lang="en-US" b="1" dirty="0"/>
              <a:t>(z)</a:t>
            </a:r>
            <a:r>
              <a:rPr lang="en-US" dirty="0"/>
              <a:t> — uppercase Phi — is the </a:t>
            </a:r>
            <a:r>
              <a:rPr lang="en-US" b="1" dirty="0"/>
              <a:t>cumulative distribution function</a:t>
            </a:r>
            <a:r>
              <a:rPr lang="en-US" dirty="0"/>
              <a:t>, the area under that curve to the left of z:</a:t>
            </a:r>
          </a:p>
          <a:p>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(z) = ∫₋∞^z </a:t>
            </a:r>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(t) dt</a:t>
            </a:r>
            <a:endParaRPr lang="en-US" dirty="0"/>
          </a:p>
          <a:p>
            <a:r>
              <a:rPr lang="en-US" dirty="0"/>
              <a:t>It's a </a:t>
            </a:r>
            <a:r>
              <a:rPr lang="en-US" i="1" dirty="0"/>
              <a:t>probability</a:t>
            </a:r>
            <a:r>
              <a:rPr lang="en-US" dirty="0"/>
              <a:t>, running 0 → 1, with </a:t>
            </a:r>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(0) = 0.5</a:t>
            </a:r>
            <a:r>
              <a:rPr lang="en-US" dirty="0"/>
              <a:t>. And </a:t>
            </a:r>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φ</a:t>
            </a:r>
            <a:r>
              <a:rPr lang="en-US" dirty="0"/>
              <a:t> — the CDF is the running integral of the PDF.</a:t>
            </a:r>
          </a:p>
          <a:p>
            <a:r>
              <a:rPr lang="en-US" b="1" dirty="0"/>
              <a:t>z is the </a:t>
            </a:r>
            <a:r>
              <a:rPr lang="en-US" b="1" dirty="0" err="1"/>
              <a:t>standardised</a:t>
            </a:r>
            <a:r>
              <a:rPr lang="en-US" b="1" dirty="0"/>
              <a:t> improvement</a:t>
            </a:r>
            <a:r>
              <a:rPr lang="en-US" dirty="0"/>
              <a:t>, </a:t>
            </a:r>
            <a:r>
              <a:rPr lang="en-US" sz="1200" kern="1200" dirty="0">
                <a:solidFill>
                  <a:schemeClr val="tx1"/>
                </a:solidFill>
                <a:latin typeface="+mn-lt"/>
                <a:ea typeface="+mn-ea"/>
                <a:cs typeface="+mn-cs"/>
              </a:rPr>
              <a:t>z = (</a:t>
            </a:r>
            <a:r>
              <a:rPr lang="en-US" sz="1200" kern="1200" dirty="0" err="1">
                <a:solidFill>
                  <a:schemeClr val="tx1"/>
                </a:solidFill>
                <a:latin typeface="+mn-lt"/>
                <a:ea typeface="+mn-ea"/>
                <a:cs typeface="+mn-cs"/>
              </a:rPr>
              <a:t>μ</a:t>
            </a:r>
            <a:r>
              <a:rPr lang="en-US" sz="1200" kern="1200" dirty="0">
                <a:solidFill>
                  <a:schemeClr val="tx1"/>
                </a:solidFill>
                <a:latin typeface="+mn-lt"/>
                <a:ea typeface="+mn-ea"/>
                <a:cs typeface="+mn-cs"/>
              </a:rPr>
              <a:t> − f⁺)/</a:t>
            </a:r>
            <a:r>
              <a:rPr lang="en-US" sz="1200" kern="1200" dirty="0" err="1">
                <a:solidFill>
                  <a:schemeClr val="tx1"/>
                </a:solidFill>
                <a:latin typeface="+mn-lt"/>
                <a:ea typeface="+mn-ea"/>
                <a:cs typeface="+mn-cs"/>
              </a:rPr>
              <a:t>σ</a:t>
            </a:r>
            <a:r>
              <a:rPr lang="en-US" dirty="0"/>
              <a:t>: how many standard deviations your predicted mean sits above the best result so far. Dimensionless, which is exactly what lets you use universal functions here.</a:t>
            </a:r>
          </a:p>
          <a:p>
            <a:r>
              <a:rPr lang="en-US" dirty="0"/>
              <a:t>z</a:t>
            </a:r>
          </a:p>
          <a:p>
            <a:r>
              <a:rPr lang="en-US" dirty="0" err="1"/>
              <a:t>Φ</a:t>
            </a:r>
            <a:r>
              <a:rPr lang="en-US" dirty="0"/>
              <a:t>(z)</a:t>
            </a:r>
          </a:p>
          <a:p>
            <a:r>
              <a:rPr lang="en-US" dirty="0" err="1"/>
              <a:t>φ</a:t>
            </a:r>
            <a:r>
              <a:rPr lang="en-US" dirty="0"/>
              <a:t>(z)</a:t>
            </a:r>
          </a:p>
          <a:p>
            <a:r>
              <a:rPr lang="en-US" dirty="0"/>
              <a:t>reading</a:t>
            </a:r>
          </a:p>
          <a:p>
            <a:r>
              <a:rPr lang="en-US" dirty="0"/>
              <a:t>−2 0.023 0.054 2σ </a:t>
            </a:r>
            <a:r>
              <a:rPr lang="en-US" i="1" dirty="0"/>
              <a:t>below</a:t>
            </a:r>
            <a:r>
              <a:rPr lang="en-US" dirty="0"/>
              <a:t> the incumbent — almost certainly no improvement </a:t>
            </a:r>
          </a:p>
          <a:p>
            <a:r>
              <a:rPr lang="en-US" dirty="0"/>
              <a:t>−1 0.159 0.242 </a:t>
            </a:r>
          </a:p>
          <a:p>
            <a:r>
              <a:rPr lang="en-US" b="1" dirty="0"/>
              <a:t>0</a:t>
            </a:r>
            <a:r>
              <a:rPr lang="en-US" dirty="0"/>
              <a:t> </a:t>
            </a:r>
            <a:r>
              <a:rPr lang="en-US" b="1" dirty="0"/>
              <a:t>0.500</a:t>
            </a:r>
            <a:r>
              <a:rPr lang="en-US" dirty="0"/>
              <a:t> </a:t>
            </a:r>
            <a:r>
              <a:rPr lang="en-US" b="1" dirty="0"/>
              <a:t>0.399</a:t>
            </a:r>
            <a:r>
              <a:rPr lang="en-US" dirty="0"/>
              <a:t> predicted mean exactly at the incumbent — coin flip, </a:t>
            </a:r>
            <a:r>
              <a:rPr lang="en-US" b="1" dirty="0"/>
              <a:t>and </a:t>
            </a:r>
            <a:r>
              <a:rPr lang="en-US" b="1" dirty="0" err="1"/>
              <a:t>φ</a:t>
            </a:r>
            <a:r>
              <a:rPr lang="en-US" b="1" dirty="0"/>
              <a:t> is at its maximum</a:t>
            </a:r>
            <a:r>
              <a:rPr lang="en-US" dirty="0"/>
              <a:t> </a:t>
            </a:r>
          </a:p>
          <a:p>
            <a:r>
              <a:rPr lang="en-US" dirty="0"/>
              <a:t>+1 0.841 0.242 </a:t>
            </a:r>
          </a:p>
          <a:p>
            <a:r>
              <a:rPr lang="en-US" dirty="0"/>
              <a:t>+2 0.977 0.054 2σ above — improvement near-certain, but </a:t>
            </a:r>
            <a:r>
              <a:rPr lang="en-US" dirty="0" err="1"/>
              <a:t>φ</a:t>
            </a:r>
            <a:r>
              <a:rPr lang="en-US" dirty="0"/>
              <a:t> has collapsed </a:t>
            </a:r>
          </a:p>
          <a:p>
            <a:r>
              <a:rPr lang="en-US" b="1" dirty="0"/>
              <a:t>What each term is doing.</a:t>
            </a:r>
            <a:endParaRPr lang="en-US" dirty="0"/>
          </a:p>
          <a:p>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(z)</a:t>
            </a:r>
            <a:r>
              <a:rPr lang="en-US" dirty="0"/>
              <a:t> </a:t>
            </a:r>
            <a:r>
              <a:rPr lang="en-US" b="1" dirty="0"/>
              <a:t>is the probability that this experiment beats your current best.</a:t>
            </a:r>
            <a:r>
              <a:rPr lang="en-US" dirty="0"/>
              <a:t> Literally: if </a:t>
            </a:r>
            <a:r>
              <a:rPr lang="en-US" sz="1200" kern="1200" dirty="0">
                <a:solidFill>
                  <a:schemeClr val="tx1"/>
                </a:solidFill>
                <a:latin typeface="+mn-lt"/>
                <a:ea typeface="+mn-ea"/>
                <a:cs typeface="+mn-cs"/>
              </a:rPr>
              <a:t>f(x) ~ 𝒩(</a:t>
            </a:r>
            <a:r>
              <a:rPr lang="en-US" sz="1200" kern="1200" dirty="0" err="1">
                <a:solidFill>
                  <a:schemeClr val="tx1"/>
                </a:solidFill>
                <a:latin typeface="+mn-lt"/>
                <a:ea typeface="+mn-ea"/>
                <a:cs typeface="+mn-cs"/>
              </a:rPr>
              <a:t>μ</a:t>
            </a:r>
            <a:r>
              <a:rPr lang="en-US" sz="1200" kern="1200" dirty="0">
                <a:solidFill>
                  <a:schemeClr val="tx1"/>
                </a:solidFill>
                <a:latin typeface="+mn-lt"/>
                <a:ea typeface="+mn-ea"/>
                <a:cs typeface="+mn-cs"/>
              </a:rPr>
              <a:t>, σ²)</a:t>
            </a:r>
            <a:r>
              <a:rPr lang="en-US" dirty="0"/>
              <a:t>, then </a:t>
            </a:r>
            <a:r>
              <a:rPr lang="en-US" sz="1200" kern="1200" dirty="0">
                <a:solidFill>
                  <a:schemeClr val="tx1"/>
                </a:solidFill>
                <a:latin typeface="+mn-lt"/>
                <a:ea typeface="+mn-ea"/>
                <a:cs typeface="+mn-cs"/>
              </a:rPr>
              <a:t>P(f(x) &gt; f⁺) = </a:t>
            </a:r>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μ</a:t>
            </a:r>
            <a:r>
              <a:rPr lang="en-US" sz="1200" kern="1200" dirty="0">
                <a:solidFill>
                  <a:schemeClr val="tx1"/>
                </a:solidFill>
                <a:latin typeface="+mn-lt"/>
                <a:ea typeface="+mn-ea"/>
                <a:cs typeface="+mn-cs"/>
              </a:rPr>
              <a:t>−f⁺)/</a:t>
            </a:r>
            <a:r>
              <a:rPr lang="en-US" sz="1200" kern="1200" dirty="0" err="1">
                <a:solidFill>
                  <a:schemeClr val="tx1"/>
                </a:solidFill>
                <a:latin typeface="+mn-lt"/>
                <a:ea typeface="+mn-ea"/>
                <a:cs typeface="+mn-cs"/>
              </a:rPr>
              <a:t>σ</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(z)</a:t>
            </a:r>
            <a:r>
              <a:rPr lang="en-US" dirty="0"/>
              <a:t>. Which means </a:t>
            </a:r>
            <a:r>
              <a:rPr lang="en-US" dirty="0" err="1"/>
              <a:t>Φ</a:t>
            </a:r>
            <a:r>
              <a:rPr lang="en-US" dirty="0"/>
              <a:t>(z) </a:t>
            </a:r>
            <a:r>
              <a:rPr lang="en-US" i="1" dirty="0"/>
              <a:t>is</a:t>
            </a:r>
            <a:r>
              <a:rPr lang="en-US" dirty="0"/>
              <a:t> the probability-of-improvement acquisition function. So</a:t>
            </a:r>
          </a:p>
          <a:p>
            <a:r>
              <a:rPr lang="en-US" sz="1200" kern="1200" dirty="0">
                <a:solidFill>
                  <a:schemeClr val="tx1"/>
                </a:solidFill>
                <a:latin typeface="+mn-lt"/>
                <a:ea typeface="+mn-ea"/>
                <a:cs typeface="+mn-cs"/>
              </a:rPr>
              <a:t>α_EI = (</a:t>
            </a:r>
            <a:r>
              <a:rPr lang="en-US" sz="1200" kern="1200" dirty="0" err="1">
                <a:solidFill>
                  <a:schemeClr val="tx1"/>
                </a:solidFill>
                <a:latin typeface="+mn-lt"/>
                <a:ea typeface="+mn-ea"/>
                <a:cs typeface="+mn-cs"/>
              </a:rPr>
              <a:t>μ</a:t>
            </a:r>
            <a:r>
              <a:rPr lang="en-US" sz="1200" kern="1200" dirty="0">
                <a:solidFill>
                  <a:schemeClr val="tx1"/>
                </a:solidFill>
                <a:latin typeface="+mn-lt"/>
                <a:ea typeface="+mn-ea"/>
                <a:cs typeface="+mn-cs"/>
              </a:rPr>
              <a:t> − f⁺) · α_PI + </a:t>
            </a:r>
            <a:r>
              <a:rPr lang="en-US" sz="1200" kern="1200" dirty="0" err="1">
                <a:solidFill>
                  <a:schemeClr val="tx1"/>
                </a:solidFill>
                <a:latin typeface="+mn-lt"/>
                <a:ea typeface="+mn-ea"/>
                <a:cs typeface="+mn-cs"/>
              </a:rPr>
              <a:t>σ</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(z)</a:t>
            </a:r>
            <a:endParaRPr lang="en-US" dirty="0"/>
          </a:p>
          <a:p>
            <a:r>
              <a:rPr lang="en-US" dirty="0"/>
              <a:t>EI is PI, weighted by how big the win would be, plus a correction for spread. That's a nice way to introduce them in sequence rather than as two unrelated formulas.</a:t>
            </a:r>
          </a:p>
          <a:p>
            <a:r>
              <a:rPr lang="en-US" sz="1200" kern="1200" dirty="0" err="1">
                <a:solidFill>
                  <a:schemeClr val="tx1"/>
                </a:solidFill>
                <a:latin typeface="+mn-lt"/>
                <a:ea typeface="+mn-ea"/>
                <a:cs typeface="+mn-cs"/>
              </a:rPr>
              <a:t>σφ</a:t>
            </a:r>
            <a:r>
              <a:rPr lang="en-US" sz="1200" kern="1200" dirty="0">
                <a:solidFill>
                  <a:schemeClr val="tx1"/>
                </a:solidFill>
                <a:latin typeface="+mn-lt"/>
                <a:ea typeface="+mn-ea"/>
                <a:cs typeface="+mn-cs"/>
              </a:rPr>
              <a:t>(z)</a:t>
            </a:r>
            <a:r>
              <a:rPr lang="en-US" dirty="0"/>
              <a:t> </a:t>
            </a:r>
            <a:r>
              <a:rPr lang="en-US" b="1" dirty="0"/>
              <a:t>is the uncertainty bonus, and note where it peaks — at z = 0.</a:t>
            </a:r>
            <a:r>
              <a:rPr lang="en-US" dirty="0"/>
              <a:t> That's the subtlety worth saying out loud, because "</a:t>
            </a:r>
            <a:r>
              <a:rPr lang="en-US" dirty="0" err="1"/>
              <a:t>σφ</a:t>
            </a:r>
            <a:r>
              <a:rPr lang="en-US" dirty="0"/>
              <a:t>(z) = exploration" invites the wrong picture. It does </a:t>
            </a:r>
            <a:r>
              <a:rPr lang="en-US" i="1" dirty="0"/>
              <a:t>not</a:t>
            </a:r>
            <a:r>
              <a:rPr lang="en-US" dirty="0"/>
              <a:t> reward uncertainty everywhere. It rewards uncertainty </a:t>
            </a:r>
            <a:r>
              <a:rPr lang="en-US" b="1" dirty="0"/>
              <a:t>right at the decision boundary</a:t>
            </a:r>
            <a:r>
              <a:rPr lang="en-US" dirty="0"/>
              <a:t>, where your predicted mean sits level with the incumbent and extra spread could tip you either way. Far above f⁺ you'll win anyway; far below, no plausible amount of noise saves you. Both tails have </a:t>
            </a:r>
            <a:r>
              <a:rPr lang="en-US" dirty="0" err="1"/>
              <a:t>φ</a:t>
            </a:r>
            <a:r>
              <a:rPr lang="en-US" dirty="0"/>
              <a:t> → 0.</a:t>
            </a:r>
          </a:p>
          <a:p>
            <a:r>
              <a:rPr lang="en-US" b="1" dirty="0"/>
              <a:t>Three limits that make it feel inevitable:</a:t>
            </a:r>
            <a:endParaRPr lang="en-US" dirty="0"/>
          </a:p>
          <a:p>
            <a:pPr lvl="0"/>
            <a:r>
              <a:rPr lang="en-US" dirty="0" err="1"/>
              <a:t>σ</a:t>
            </a:r>
            <a:r>
              <a:rPr lang="en-US" dirty="0"/>
              <a:t> → 0 and </a:t>
            </a:r>
            <a:r>
              <a:rPr lang="en-US" dirty="0" err="1"/>
              <a:t>μ</a:t>
            </a:r>
            <a:r>
              <a:rPr lang="en-US" dirty="0"/>
              <a:t> &gt; f⁺: </a:t>
            </a:r>
            <a:r>
              <a:rPr lang="en-US" sz="1200" kern="1200" dirty="0">
                <a:solidFill>
                  <a:schemeClr val="tx1"/>
                </a:solidFill>
                <a:latin typeface="+mn-lt"/>
                <a:ea typeface="+mn-ea"/>
                <a:cs typeface="+mn-cs"/>
              </a:rPr>
              <a:t>z → +∞</a:t>
            </a:r>
            <a:r>
              <a:rPr lang="en-US" dirty="0"/>
              <a:t>, </a:t>
            </a:r>
            <a:r>
              <a:rPr lang="en-US" dirty="0" err="1"/>
              <a:t>Φ</a:t>
            </a:r>
            <a:r>
              <a:rPr lang="en-US" dirty="0"/>
              <a:t> → 1, </a:t>
            </a:r>
            <a:r>
              <a:rPr lang="en-US" dirty="0" err="1"/>
              <a:t>φ</a:t>
            </a:r>
            <a:r>
              <a:rPr lang="en-US" dirty="0"/>
              <a:t> → 0, so </a:t>
            </a:r>
            <a:r>
              <a:rPr lang="en-US" sz="1200" kern="1200" dirty="0">
                <a:solidFill>
                  <a:schemeClr val="tx1"/>
                </a:solidFill>
                <a:latin typeface="+mn-lt"/>
                <a:ea typeface="+mn-ea"/>
                <a:cs typeface="+mn-cs"/>
              </a:rPr>
              <a:t>EI → </a:t>
            </a:r>
            <a:r>
              <a:rPr lang="en-US" sz="1200" kern="1200" dirty="0" err="1">
                <a:solidFill>
                  <a:schemeClr val="tx1"/>
                </a:solidFill>
                <a:latin typeface="+mn-lt"/>
                <a:ea typeface="+mn-ea"/>
                <a:cs typeface="+mn-cs"/>
              </a:rPr>
              <a:t>μ</a:t>
            </a:r>
            <a:r>
              <a:rPr lang="en-US" sz="1200" kern="1200" dirty="0">
                <a:solidFill>
                  <a:schemeClr val="tx1"/>
                </a:solidFill>
                <a:latin typeface="+mn-lt"/>
                <a:ea typeface="+mn-ea"/>
                <a:cs typeface="+mn-cs"/>
              </a:rPr>
              <a:t> − f⁺</a:t>
            </a:r>
            <a:r>
              <a:rPr lang="en-US" dirty="0"/>
              <a:t>. A certain improvement, worth exactly its size.</a:t>
            </a:r>
          </a:p>
          <a:p>
            <a:pPr lvl="0"/>
            <a:r>
              <a:rPr lang="en-US" dirty="0" err="1"/>
              <a:t>σ</a:t>
            </a:r>
            <a:r>
              <a:rPr lang="en-US" dirty="0"/>
              <a:t> → 0 and </a:t>
            </a:r>
            <a:r>
              <a:rPr lang="en-US" dirty="0" err="1"/>
              <a:t>μ</a:t>
            </a:r>
            <a:r>
              <a:rPr lang="en-US" dirty="0"/>
              <a:t> &lt; f⁺: both terms → 0. </a:t>
            </a:r>
            <a:r>
              <a:rPr lang="en-US" sz="1200" kern="1200" dirty="0">
                <a:solidFill>
                  <a:schemeClr val="tx1"/>
                </a:solidFill>
                <a:latin typeface="+mn-lt"/>
                <a:ea typeface="+mn-ea"/>
                <a:cs typeface="+mn-cs"/>
              </a:rPr>
              <a:t>EI = 0</a:t>
            </a:r>
            <a:r>
              <a:rPr lang="en-US" dirty="0"/>
              <a:t>. Nothing to gain, no uncertainty to hope on.</a:t>
            </a:r>
          </a:p>
          <a:p>
            <a:pPr lvl="0"/>
            <a:r>
              <a:rPr lang="en-US" dirty="0" err="1"/>
              <a:t>μ</a:t>
            </a:r>
            <a:r>
              <a:rPr lang="en-US" dirty="0"/>
              <a:t> = f⁺ exactly: </a:t>
            </a:r>
            <a:r>
              <a:rPr lang="en-US" sz="1200" kern="1200" dirty="0">
                <a:solidFill>
                  <a:schemeClr val="tx1"/>
                </a:solidFill>
                <a:latin typeface="+mn-lt"/>
                <a:ea typeface="+mn-ea"/>
                <a:cs typeface="+mn-cs"/>
              </a:rPr>
              <a:t>EI = 0 + 0.399σ</a:t>
            </a:r>
            <a:r>
              <a:rPr lang="en-US" dirty="0"/>
              <a:t>. A point no better than your incumbent still has positive EI, purely from uncertainty. That's exploration paid for in the arithmetic.</a:t>
            </a:r>
          </a:p>
          <a:p>
            <a:r>
              <a:rPr lang="en-US" dirty="0"/>
              <a:t>EI is ≥ 0 everywhere, because improvement is floored at zero by the </a:t>
            </a:r>
            <a:r>
              <a:rPr lang="en-US" sz="1200" kern="1200" dirty="0">
                <a:solidFill>
                  <a:schemeClr val="tx1"/>
                </a:solidFill>
                <a:latin typeface="+mn-lt"/>
                <a:ea typeface="+mn-ea"/>
                <a:cs typeface="+mn-cs"/>
              </a:rPr>
              <a:t>max(0, ·)</a:t>
            </a:r>
            <a:r>
              <a:rPr lang="en-US" dirty="0"/>
              <a:t>.</a:t>
            </a:r>
          </a:p>
          <a:p>
            <a:r>
              <a:rPr lang="en-US" b="1" dirty="0"/>
              <a:t>A link to your code that's worth showing.</a:t>
            </a:r>
            <a:r>
              <a:rPr lang="en-US" dirty="0"/>
              <a:t> Since </a:t>
            </a:r>
            <a:r>
              <a:rPr lang="en-US" dirty="0" err="1"/>
              <a:t>scipy</a:t>
            </a:r>
            <a:r>
              <a:rPr lang="en-US" dirty="0"/>
              <a:t> wasn't available, </a:t>
            </a:r>
            <a:r>
              <a:rPr lang="en-US" sz="1200" kern="1200" dirty="0">
                <a:solidFill>
                  <a:schemeClr val="tx1"/>
                </a:solidFill>
                <a:latin typeface="+mn-lt"/>
                <a:ea typeface="+mn-ea"/>
                <a:cs typeface="+mn-cs"/>
              </a:rPr>
              <a:t>_shared/</a:t>
            </a:r>
            <a:r>
              <a:rPr lang="en-US" sz="1200" kern="1200" dirty="0" err="1">
                <a:solidFill>
                  <a:schemeClr val="tx1"/>
                </a:solidFill>
                <a:latin typeface="+mn-lt"/>
                <a:ea typeface="+mn-ea"/>
                <a:cs typeface="+mn-cs"/>
              </a:rPr>
              <a:t>gp.py</a:t>
            </a:r>
            <a:r>
              <a:rPr lang="en-US" dirty="0"/>
              <a:t> implements these from the error function: </a:t>
            </a:r>
            <a:r>
              <a:rPr lang="en-US" sz="1200" kern="1200" dirty="0" err="1">
                <a:solidFill>
                  <a:schemeClr val="tx1"/>
                </a:solidFill>
                <a:latin typeface="+mn-lt"/>
                <a:ea typeface="+mn-ea"/>
                <a:cs typeface="+mn-cs"/>
              </a:rPr>
              <a:t>Φ</a:t>
            </a:r>
            <a:r>
              <a:rPr lang="en-US" sz="1200" kern="1200" dirty="0">
                <a:solidFill>
                  <a:schemeClr val="tx1"/>
                </a:solidFill>
                <a:latin typeface="+mn-lt"/>
                <a:ea typeface="+mn-ea"/>
                <a:cs typeface="+mn-cs"/>
              </a:rPr>
              <a:t>(z) = ½(1 + erf(z/√2))</a:t>
            </a:r>
            <a:r>
              <a:rPr lang="en-US" dirty="0"/>
              <a:t>, with </a:t>
            </a:r>
            <a:r>
              <a:rPr lang="en-US" sz="1200" kern="1200" dirty="0" err="1">
                <a:solidFill>
                  <a:schemeClr val="tx1"/>
                </a:solidFill>
                <a:latin typeface="+mn-lt"/>
                <a:ea typeface="+mn-ea"/>
                <a:cs typeface="+mn-cs"/>
              </a:rPr>
              <a:t>φ</a:t>
            </a:r>
            <a:r>
              <a:rPr lang="en-US" dirty="0"/>
              <a:t> written out directly. So </a:t>
            </a:r>
            <a:r>
              <a:rPr lang="en-US" sz="1200" kern="1200" dirty="0" err="1">
                <a:solidFill>
                  <a:schemeClr val="tx1"/>
                </a:solidFill>
                <a:latin typeface="+mn-lt"/>
                <a:ea typeface="+mn-ea"/>
                <a:cs typeface="+mn-cs"/>
              </a:rPr>
              <a:t>norm_cdf</a:t>
            </a:r>
            <a:r>
              <a:rPr lang="en-US" dirty="0"/>
              <a:t> and </a:t>
            </a:r>
            <a:r>
              <a:rPr lang="en-US" sz="1200" kern="1200" dirty="0" err="1">
                <a:solidFill>
                  <a:schemeClr val="tx1"/>
                </a:solidFill>
                <a:latin typeface="+mn-lt"/>
                <a:ea typeface="+mn-ea"/>
                <a:cs typeface="+mn-cs"/>
              </a:rPr>
              <a:t>norm_pdf</a:t>
            </a:r>
            <a:r>
              <a:rPr lang="en-US" dirty="0"/>
              <a:t> in that file are literally these two objects, six lines apart — a good thing to point at when someone asks where the Greek letters went.</a:t>
            </a:r>
          </a:p>
          <a:p>
            <a:r>
              <a:rPr lang="en-US" b="1" dirty="0"/>
              <a:t>One presentation warning.</a:t>
            </a:r>
            <a:r>
              <a:rPr lang="en-US" dirty="0"/>
              <a:t> </a:t>
            </a:r>
            <a:r>
              <a:rPr lang="en-US" dirty="0" err="1"/>
              <a:t>Φ</a:t>
            </a:r>
            <a:r>
              <a:rPr lang="en-US" dirty="0"/>
              <a:t> and </a:t>
            </a:r>
            <a:r>
              <a:rPr lang="en-US" dirty="0" err="1"/>
              <a:t>φ</a:t>
            </a:r>
            <a:r>
              <a:rPr lang="en-US" dirty="0"/>
              <a:t> are the standard convention, but at projection size in a serif italic they look nearly identical. Label them the first time — "</a:t>
            </a:r>
            <a:r>
              <a:rPr lang="en-US" dirty="0" err="1"/>
              <a:t>Φ</a:t>
            </a:r>
            <a:r>
              <a:rPr lang="en-US" dirty="0"/>
              <a:t>, the CDF" and "</a:t>
            </a:r>
            <a:r>
              <a:rPr lang="en-US" dirty="0" err="1"/>
              <a:t>φ</a:t>
            </a:r>
            <a:r>
              <a:rPr lang="en-US" dirty="0"/>
              <a:t>, the density" — or </a:t>
            </a:r>
            <a:r>
              <a:rPr lang="en-US" dirty="0" err="1"/>
              <a:t>colour</a:t>
            </a:r>
            <a:r>
              <a:rPr lang="en-US" dirty="0"/>
              <a:t> them differently in the figure. Students who miss the distinction read the formula as the same thing added to itself.</a:t>
            </a:r>
          </a:p>
          <a:p>
            <a:endParaRPr lang="en-US" dirty="0"/>
          </a:p>
          <a:p>
            <a:endParaRPr lang="en-US" dirty="0"/>
          </a:p>
          <a:p>
            <a:endParaRPr lang="en-US" dirty="0"/>
          </a:p>
          <a:p>
            <a:r>
              <a:rPr dirty="0"/>
              <a:t>Do not derive. Point at the two terms and read them aloud. That is the entire slide.</a:t>
            </a:r>
          </a:p>
          <a:p>
            <a:endParaRPr dirty="0"/>
          </a:p>
          <a:p>
            <a:r>
              <a:rPr dirty="0"/>
              <a:t>If asked, two precisions:</a:t>
            </a:r>
          </a:p>
          <a:p>
            <a:r>
              <a:rPr dirty="0"/>
              <a:t>  - the exploration term peaks where mu is close to f-plus, i.e. it rewards</a:t>
            </a:r>
          </a:p>
          <a:p>
            <a:r>
              <a:rPr dirty="0"/>
              <a:t>    uncertainty NEAR the current best, not uncertainty anywhere;</a:t>
            </a:r>
          </a:p>
          <a:p>
            <a:r>
              <a:rPr dirty="0"/>
              <a:t>  - EI is undefined at sigma = 0; every implementation handles that edge case.</a:t>
            </a:r>
          </a:p>
          <a:p>
            <a:r>
              <a:rPr dirty="0"/>
              <a:t>  - a margin xi can be subtracted from f-plus exactly as in PI to force more</a:t>
            </a:r>
          </a:p>
          <a:p>
            <a:r>
              <a:rPr dirty="0"/>
              <a:t>    exploration. Most packages expose it; most people leave it at zero.</a:t>
            </a:r>
          </a:p>
          <a:p>
            <a:endParaRPr dirty="0"/>
          </a:p>
          <a:p>
            <a:r>
              <a:rPr dirty="0"/>
              <a:t>The EGO citation is a nice thread back to Schmidt's morning lecture — same</a:t>
            </a:r>
          </a:p>
          <a:p>
            <a:r>
              <a:rPr dirty="0"/>
              <a:t>statistical lineage, different goal.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things to say, no more.</a:t>
            </a:r>
          </a:p>
          <a:p>
            <a:endParaRPr dirty="0"/>
          </a:p>
          <a:p>
            <a:r>
              <a:rPr dirty="0"/>
              <a:t>1. Chemists like UCB because beta is explicit. EI's balance is implicit; UCB's you</a:t>
            </a:r>
          </a:p>
          <a:p>
            <a:r>
              <a:rPr dirty="0"/>
              <a:t>   can write in a report and defend.</a:t>
            </a:r>
          </a:p>
          <a:p>
            <a:endParaRPr dirty="0"/>
          </a:p>
          <a:p>
            <a:r>
              <a:rPr dirty="0"/>
              <a:t>2. It has the cleanest theory — Srinivas et al. proved sublinear regret bounds.</a:t>
            </a:r>
          </a:p>
          <a:p>
            <a:r>
              <a:rPr dirty="0"/>
              <a:t>   BE PRECISE: those guarantees require beta to GROW with iteration (roughly</a:t>
            </a:r>
          </a:p>
          <a:p>
            <a:r>
              <a:rPr dirty="0"/>
              <a:t>   logarithmically), not the fixed beta = 2 people actually run. So the honest</a:t>
            </a:r>
          </a:p>
          <a:p>
            <a:r>
              <a:rPr dirty="0"/>
              <a:t>   sentence is:</a:t>
            </a:r>
          </a:p>
          <a:p>
            <a:endParaRPr dirty="0"/>
          </a:p>
          <a:p>
            <a:r>
              <a:rPr dirty="0"/>
              <a:t>     "The schedule-based version of UCB has convergence guarantees; the fixed-beta</a:t>
            </a:r>
          </a:p>
          <a:p>
            <a:r>
              <a:rPr dirty="0"/>
              <a:t>      version we all actually use is a heuristic inspired by them."</a:t>
            </a:r>
          </a:p>
          <a:p>
            <a:endParaRPr dirty="0"/>
          </a:p>
          <a:p>
            <a:r>
              <a:rPr dirty="0"/>
              <a:t>   Five seconds, and this audience will respect it.</a:t>
            </a:r>
          </a:p>
          <a:p>
            <a:endParaRPr dirty="0"/>
          </a:p>
          <a:p>
            <a:r>
              <a:rPr dirty="0"/>
              <a:t>Also do not call beta = 2 a 95% bound. It is one-sided ~98%. Someone will check.</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8457E-9DDD-6A68-7697-542EC7900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67C54-64DE-EF42-1A2A-BCF5A691E73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DA6399D-E9E2-F0DB-9E0B-87BA32C22E11}"/>
              </a:ext>
            </a:extLst>
          </p:cNvPr>
          <p:cNvSpPr>
            <a:spLocks noGrp="1"/>
          </p:cNvSpPr>
          <p:nvPr>
            <p:ph type="body" sz="quarter" idx="3"/>
          </p:nvPr>
        </p:nvSpPr>
        <p:spPr/>
        <p:txBody>
          <a:bodyPr/>
          <a:lstStyle/>
          <a:p>
            <a:r>
              <a:rPr dirty="0"/>
              <a:t>The published version of the honest close. Students over-index on acquisition</a:t>
            </a:r>
          </a:p>
          <a:p>
            <a:r>
              <a:rPr dirty="0"/>
              <a:t>functions because they are the mathematically prettiest part of the subject —</a:t>
            </a:r>
          </a:p>
          <a:p>
            <a:r>
              <a:rPr dirty="0"/>
              <a:t>here is the evidence that the choice is close to a wash.</a:t>
            </a:r>
          </a:p>
          <a:p>
            <a:endParaRPr dirty="0"/>
          </a:p>
          <a:p>
            <a:r>
              <a:rPr dirty="0"/>
              <a:t>Point at the two dashed grey curves (exploit, explore) that clearly lag, then at</a:t>
            </a:r>
          </a:p>
          <a:p>
            <a:r>
              <a:rPr dirty="0"/>
              <a:t>the cluster of everything else. The lesson is not "acquisition functions do not</a:t>
            </a:r>
          </a:p>
          <a:p>
            <a:r>
              <a:rPr dirty="0"/>
              <a:t>matter", it is "the balanced ones are all fine, and the unbalanced ones are not".</a:t>
            </a:r>
          </a:p>
          <a:p>
            <a:endParaRPr dirty="0"/>
          </a:p>
          <a:p>
            <a:r>
              <a:rPr dirty="0"/>
              <a:t>The red strip is the transition into the rest of the lecture: those three things are</a:t>
            </a:r>
          </a:p>
          <a:p>
            <a:r>
              <a:rPr dirty="0"/>
              <a:t>sections 6, 5b and 10 respectively.</a:t>
            </a:r>
          </a:p>
          <a:p>
            <a:endParaRPr dirty="0"/>
          </a:p>
          <a:p>
            <a:r>
              <a:rPr dirty="0"/>
              <a:t>Tutorial hook: "This afternoon you will run EI against UCB and see this yourself."</a:t>
            </a:r>
          </a:p>
          <a:p>
            <a:endParaRPr dirty="0"/>
          </a:p>
          <a:p>
            <a:endParaRPr dirty="0"/>
          </a:p>
          <a:p>
            <a:r>
              <a:rPr dirty="0"/>
              <a:t>————————————————————————————————————————————————</a:t>
            </a:r>
          </a:p>
          <a:p>
            <a:r>
              <a:rPr dirty="0"/>
              <a:t>THE THREE KNOBS THAT SET THE BALANCE  (one per acquisition function)</a:t>
            </a:r>
          </a:p>
          <a:p>
            <a:endParaRPr dirty="0"/>
          </a:p>
          <a:p>
            <a:r>
              <a:rPr dirty="0"/>
              <a:t>Everything on this slide is a point on one axis: how much does the method pay</a:t>
            </a:r>
          </a:p>
          <a:p>
            <a:r>
              <a:rPr dirty="0"/>
              <a:t>for uncertainty? Each of the three balanced acquisition functions exposes that</a:t>
            </a:r>
          </a:p>
          <a:p>
            <a:r>
              <a:rPr dirty="0"/>
              <a:t>as a single number.</a:t>
            </a:r>
          </a:p>
          <a:p>
            <a:endParaRPr dirty="0"/>
          </a:p>
          <a:p>
            <a:r>
              <a:rPr dirty="0"/>
              <a:t>  beta   in UCB          alpha(x) = mu(x) + beta * sigma(x)</a:t>
            </a:r>
          </a:p>
          <a:p>
            <a:r>
              <a:rPr dirty="0"/>
              <a:t>         The most explicit of the three — beta is literally the price, in</a:t>
            </a:r>
          </a:p>
          <a:p>
            <a:r>
              <a:rPr dirty="0"/>
              <a:t>         units of standard deviation, that you are willing to pay for</a:t>
            </a:r>
          </a:p>
          <a:p>
            <a:r>
              <a:rPr dirty="0"/>
              <a:t>         uncertainty. beta = 0 is pure exploitation; beta -&gt; infinity is pure</a:t>
            </a:r>
          </a:p>
          <a:p>
            <a:r>
              <a:rPr dirty="0"/>
              <a:t>         exploration. Default 2. Theory wants beta to GROW like sqrt(log t),</a:t>
            </a:r>
          </a:p>
          <a:p>
            <a:r>
              <a:rPr dirty="0"/>
              <a:t>         not sit at 2 (see the UCB slide).</a:t>
            </a:r>
          </a:p>
          <a:p>
            <a:endParaRPr dirty="0"/>
          </a:p>
          <a:p>
            <a:r>
              <a:rPr dirty="0"/>
              <a:t>  xi     in EI           z = (mu(x) - f+ - xi) / sigma(x)</a:t>
            </a:r>
          </a:p>
          <a:p>
            <a:r>
              <a:rPr dirty="0"/>
              <a:t>         Often called the jitter or the improvement threshold. It raises the</a:t>
            </a:r>
          </a:p>
          <a:p>
            <a:r>
              <a:rPr dirty="0"/>
              <a:t>         bar: an experiment only counts as an improvement if it beats the</a:t>
            </a:r>
          </a:p>
          <a:p>
            <a:r>
              <a:rPr dirty="0"/>
              <a:t>         incumbent by at least xi. xi = 0 is the textbook definition and can</a:t>
            </a:r>
          </a:p>
          <a:p>
            <a:r>
              <a:rPr dirty="0"/>
              <a:t>         be too greedy in practice; xi ~ 0.01 x (range of y) is the usual</a:t>
            </a:r>
          </a:p>
          <a:p>
            <a:r>
              <a:rPr dirty="0"/>
              <a:t>         nudge towards exploration. NOTE the sign convention — larger xi means</a:t>
            </a:r>
          </a:p>
          <a:p>
            <a:r>
              <a:rPr dirty="0"/>
              <a:t>         MORE exploration, which is the opposite direction to what people</a:t>
            </a:r>
          </a:p>
          <a:p>
            <a:r>
              <a:rPr dirty="0"/>
              <a:t>         expect from the name "threshold".</a:t>
            </a:r>
          </a:p>
          <a:p>
            <a:endParaRPr dirty="0"/>
          </a:p>
          <a:p>
            <a:r>
              <a:rPr dirty="0"/>
              <a:t>  eps    in eps-greedy   with probability 1 - eps take argmax mu(x);</a:t>
            </a:r>
          </a:p>
          <a:p>
            <a:r>
              <a:rPr dirty="0"/>
              <a:t>                         with probability eps pick a candidate uniformly.</a:t>
            </a:r>
          </a:p>
          <a:p>
            <a:r>
              <a:rPr dirty="0"/>
              <a:t>         Not really a Bayesian acquisition function at all — it never uses</a:t>
            </a:r>
          </a:p>
          <a:p>
            <a:r>
              <a:rPr dirty="0"/>
              <a:t>         sigma. It is the bandit-literature baseline, and it is on the next</a:t>
            </a:r>
          </a:p>
          <a:p>
            <a:r>
              <a:rPr dirty="0"/>
              <a:t>         slide precisely because it does about as well as the principled ones.</a:t>
            </a:r>
          </a:p>
          <a:p>
            <a:endParaRPr dirty="0"/>
          </a:p>
          <a:p>
            <a:r>
              <a:rPr dirty="0"/>
              <a:t>DO NOT confuse these with the GP hyperparameters. ell, </a:t>
            </a:r>
            <a:r>
              <a:rPr dirty="0" err="1"/>
              <a:t>sigma_f</a:t>
            </a:r>
            <a:r>
              <a:rPr dirty="0"/>
              <a:t> and </a:t>
            </a:r>
            <a:r>
              <a:rPr dirty="0" err="1"/>
              <a:t>sigma_n</a:t>
            </a:r>
            <a:endParaRPr dirty="0"/>
          </a:p>
          <a:p>
            <a:r>
              <a:rPr dirty="0"/>
              <a:t>(sections coming up) live in the MODEL and are fitted from the data by</a:t>
            </a:r>
          </a:p>
          <a:p>
            <a:r>
              <a:rPr dirty="0" err="1"/>
              <a:t>maximising</a:t>
            </a:r>
            <a:r>
              <a:rPr dirty="0"/>
              <a:t> the marginal likelihood. beta, xi and eps live in the DECISION RULE</a:t>
            </a:r>
          </a:p>
          <a:p>
            <a:r>
              <a:rPr dirty="0"/>
              <a:t>and are chosen by you — no data will ever tell you what they should be. If one</a:t>
            </a:r>
          </a:p>
          <a:p>
            <a:r>
              <a:rPr dirty="0"/>
              <a:t>student asks one question about this lecture, it will be this one.</a:t>
            </a:r>
          </a:p>
          <a:p>
            <a:endParaRPr dirty="0"/>
          </a:p>
          <a:p>
            <a:r>
              <a:rPr dirty="0"/>
              <a:t>THE GREEDY ACQUISITION FUNCTION</a:t>
            </a:r>
          </a:p>
          <a:p>
            <a:r>
              <a:rPr dirty="0"/>
              <a:t>    </a:t>
            </a:r>
            <a:r>
              <a:rPr dirty="0" err="1"/>
              <a:t>alpha_greedy</a:t>
            </a:r>
            <a:r>
              <a:rPr dirty="0"/>
              <a:t>(x) = mu(x)</a:t>
            </a:r>
          </a:p>
          <a:p>
            <a:r>
              <a:rPr dirty="0"/>
              <a:t>Pick wherever the posterior mean is highest. No sigma term anywhere, so a</a:t>
            </a:r>
          </a:p>
          <a:p>
            <a:r>
              <a:rPr dirty="0"/>
              <a:t>region that has never been sampled is worth exactly its prior mean and is</a:t>
            </a:r>
          </a:p>
          <a:p>
            <a:r>
              <a:rPr dirty="0"/>
              <a:t>never revisited. This is the "pure EXPLOIT" trace on the figure — it stays in</a:t>
            </a:r>
          </a:p>
          <a:p>
            <a:r>
              <a:rPr dirty="0"/>
              <a:t>the cluster it started in, because nothing in the score ever rewards leaving.</a:t>
            </a:r>
          </a:p>
          <a:p>
            <a:r>
              <a:rPr dirty="0"/>
              <a:t>It is the beta = 0 corner of UCB, and the eps = 0 corner of eps-greedy.</a:t>
            </a:r>
          </a:p>
          <a:p>
            <a:endParaRPr dirty="0"/>
          </a:p>
          <a:p>
            <a:r>
              <a:rPr dirty="0"/>
              <a:t>Its mirror image, alpha(x) = sigma(x), is pure exploration: it tours the space</a:t>
            </a:r>
          </a:p>
          <a:p>
            <a:r>
              <a:rPr dirty="0"/>
              <a:t>and never commits. Both are on the figure, both lose. The lesson is not that</a:t>
            </a:r>
          </a:p>
          <a:p>
            <a:r>
              <a:rPr dirty="0"/>
              <a:t>acquisition functions do not matter — it is that the BALANCED ones are</a:t>
            </a:r>
          </a:p>
          <a:p>
            <a:r>
              <a:rPr dirty="0"/>
              <a:t>interchangeable and the UNBALANCED ones are not.</a:t>
            </a:r>
          </a:p>
        </p:txBody>
      </p:sp>
      <p:sp>
        <p:nvSpPr>
          <p:cNvPr id="4" name="Slide Number Placeholder 3">
            <a:extLst>
              <a:ext uri="{FF2B5EF4-FFF2-40B4-BE49-F238E27FC236}">
                <a16:creationId xmlns:a16="http://schemas.microsoft.com/office/drawing/2014/main" id="{D7CE70A7-DC8A-C242-BF34-11027CA78796}"/>
              </a:ext>
            </a:extLst>
          </p:cNvPr>
          <p:cNvSpPr>
            <a:spLocks noGrp="1"/>
          </p:cNvSpPr>
          <p:nvPr>
            <p:ph type="sldNum" sz="quarter" idx="5"/>
          </p:nvPr>
        </p:nvSpPr>
        <p:spPr/>
      </p:sp>
    </p:spTree>
    <p:extLst>
      <p:ext uri="{BB962C8B-B14F-4D97-AF65-F5344CB8AC3E}">
        <p14:creationId xmlns:p14="http://schemas.microsoft.com/office/powerpoint/2010/main" val="21314034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published version of the honest close. Students over-index on acquisition</a:t>
            </a:r>
          </a:p>
          <a:p>
            <a:r>
              <a:rPr dirty="0"/>
              <a:t>functions because they are the mathematically prettiest part of the subject —</a:t>
            </a:r>
          </a:p>
          <a:p>
            <a:r>
              <a:rPr dirty="0"/>
              <a:t>here is the evidence that the choice is close to a wash.</a:t>
            </a:r>
          </a:p>
          <a:p>
            <a:endParaRPr dirty="0"/>
          </a:p>
          <a:p>
            <a:r>
              <a:rPr dirty="0"/>
              <a:t>Point at the two dashed grey curves (exploit, explore) that clearly lag, then at</a:t>
            </a:r>
          </a:p>
          <a:p>
            <a:r>
              <a:rPr dirty="0"/>
              <a:t>the cluster of everything else. The lesson is not "acquisition functions do not</a:t>
            </a:r>
          </a:p>
          <a:p>
            <a:r>
              <a:rPr dirty="0"/>
              <a:t>matter", it is "the balanced ones are all fine, and the unbalanced ones are not".</a:t>
            </a:r>
          </a:p>
          <a:p>
            <a:endParaRPr dirty="0"/>
          </a:p>
          <a:p>
            <a:r>
              <a:rPr dirty="0"/>
              <a:t>The red strip is the transition into the rest of the lecture: those three things are</a:t>
            </a:r>
          </a:p>
          <a:p>
            <a:r>
              <a:rPr dirty="0"/>
              <a:t>sections 6, 5b and 10 respectively.</a:t>
            </a:r>
          </a:p>
          <a:p>
            <a:endParaRPr dirty="0"/>
          </a:p>
          <a:p>
            <a:r>
              <a:rPr dirty="0"/>
              <a:t>Tutorial hook: "This afternoon you will run EI against UCB and see this yourself."</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C7455-9F78-E4A6-422E-693D97CE8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FD131-BE9F-920F-D596-96AF9E0610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A4194DE-A1A7-9015-9438-6A987A59498E}"/>
              </a:ext>
            </a:extLst>
          </p:cNvPr>
          <p:cNvSpPr>
            <a:spLocks noGrp="1"/>
          </p:cNvSpPr>
          <p:nvPr>
            <p:ph type="body" sz="quarter" idx="3"/>
          </p:nvPr>
        </p:nvSpPr>
        <p:spPr/>
        <p:txBody>
          <a:bodyPr/>
          <a:lstStyle/>
          <a:p>
            <a:r>
              <a:rPr dirty="0"/>
              <a:t>The published version of the honest close. Students over-index on acquisition</a:t>
            </a:r>
          </a:p>
          <a:p>
            <a:r>
              <a:rPr dirty="0"/>
              <a:t>functions because they are the mathematically prettiest part of the subject —</a:t>
            </a:r>
          </a:p>
          <a:p>
            <a:r>
              <a:rPr dirty="0"/>
              <a:t>here is the evidence that the choice is close to a wash.</a:t>
            </a:r>
          </a:p>
          <a:p>
            <a:endParaRPr dirty="0"/>
          </a:p>
          <a:p>
            <a:r>
              <a:rPr dirty="0"/>
              <a:t>Point at the two dashed grey curves (exploit, explore) that clearly lag, then at</a:t>
            </a:r>
          </a:p>
          <a:p>
            <a:r>
              <a:rPr dirty="0"/>
              <a:t>the cluster of everything else. The lesson is not "acquisition functions do not</a:t>
            </a:r>
          </a:p>
          <a:p>
            <a:r>
              <a:rPr dirty="0"/>
              <a:t>matter", it is "the balanced ones are all fine, and the unbalanced ones are not".</a:t>
            </a:r>
          </a:p>
          <a:p>
            <a:endParaRPr dirty="0"/>
          </a:p>
          <a:p>
            <a:r>
              <a:rPr dirty="0"/>
              <a:t>The red strip is the transition into the rest of the lecture: those three things are</a:t>
            </a:r>
          </a:p>
          <a:p>
            <a:r>
              <a:rPr dirty="0"/>
              <a:t>sections 6, 5b and 10 respectively.</a:t>
            </a:r>
          </a:p>
          <a:p>
            <a:endParaRPr dirty="0"/>
          </a:p>
          <a:p>
            <a:r>
              <a:rPr dirty="0"/>
              <a:t>Tutorial hook: "This afternoon you will run EI against UCB and see this yourself."</a:t>
            </a:r>
          </a:p>
        </p:txBody>
      </p:sp>
      <p:sp>
        <p:nvSpPr>
          <p:cNvPr id="4" name="Slide Number Placeholder 3">
            <a:extLst>
              <a:ext uri="{FF2B5EF4-FFF2-40B4-BE49-F238E27FC236}">
                <a16:creationId xmlns:a16="http://schemas.microsoft.com/office/drawing/2014/main" id="{BE9484DE-E0FB-7D73-3C9A-B678D278BFAE}"/>
              </a:ext>
            </a:extLst>
          </p:cNvPr>
          <p:cNvSpPr>
            <a:spLocks noGrp="1"/>
          </p:cNvSpPr>
          <p:nvPr>
            <p:ph type="sldNum" sz="quarter" idx="5"/>
          </p:nvPr>
        </p:nvSpPr>
        <p:spPr/>
      </p:sp>
    </p:spTree>
    <p:extLst>
      <p:ext uri="{BB962C8B-B14F-4D97-AF65-F5344CB8AC3E}">
        <p14:creationId xmlns:p14="http://schemas.microsoft.com/office/powerpoint/2010/main" val="750650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Thompson sampling: almost trivially simple, and — the key point — NATURALLY PARALLEL.</a:t>
            </a:r>
          </a:p>
          <a:p>
            <a:r>
              <a:rPr dirty="0"/>
              <a:t>Draw q functions, get q diverse experiments for free. Plant it here; you harvest it</a:t>
            </a:r>
          </a:p>
          <a:p>
            <a:r>
              <a:rPr dirty="0"/>
              <a:t>in the batch section.</a:t>
            </a:r>
          </a:p>
          <a:p>
            <a:endParaRPr dirty="0"/>
          </a:p>
          <a:p>
            <a:r>
              <a:rPr dirty="0"/>
              <a:t>Then close the acquisition section with honesty. Students over-index on acquisition</a:t>
            </a:r>
          </a:p>
          <a:p>
            <a:r>
              <a:rPr dirty="0"/>
              <a:t>functions because they are the mathematically prettiest part of the subject. Say so</a:t>
            </a:r>
          </a:p>
          <a:p>
            <a:r>
              <a:rPr dirty="0"/>
              <a:t>out loud. The three things on the right are what the rest of the lecture is about,</a:t>
            </a:r>
          </a:p>
          <a:p>
            <a:r>
              <a:rPr dirty="0"/>
              <a:t>and framing them as "what actually matters" buys you their attention for the</a:t>
            </a:r>
          </a:p>
          <a:p>
            <a:r>
              <a:rPr dirty="0"/>
              <a:t>unglamorous sections.</a:t>
            </a:r>
          </a:p>
          <a:p>
            <a:endParaRPr dirty="0"/>
          </a:p>
          <a:p>
            <a:r>
              <a:rPr dirty="0"/>
              <a:t>Tutorial hook: "This afternoon you will run EI against UCB on real Suzuki data and</a:t>
            </a:r>
          </a:p>
          <a:p>
            <a:r>
              <a:rPr dirty="0"/>
              <a:t>see exactly how small the difference is."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Section marker. We are entering: 3 · Gaussian processes and their knobs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kernel answers one question: if two conditions are similar, how similar should</a:t>
            </a:r>
          </a:p>
          <a:p>
            <a:r>
              <a:rPr dirty="0"/>
              <a:t>their outcomes be?" That is a chemical statement, not a statistical one, and it is</a:t>
            </a:r>
          </a:p>
          <a:p>
            <a:r>
              <a:rPr dirty="0"/>
              <a:t>your bridge into the room.</a:t>
            </a:r>
          </a:p>
          <a:p>
            <a:endParaRPr dirty="0"/>
          </a:p>
          <a:p>
            <a:r>
              <a:rPr dirty="0"/>
              <a:t>⚠️ VERIFY BEFORE YOU SAY "MATERN IS THE DEFAULT".</a:t>
            </a:r>
          </a:p>
          <a:p>
            <a:r>
              <a:rPr dirty="0" err="1"/>
              <a:t>BoTorch</a:t>
            </a:r>
            <a:r>
              <a:rPr dirty="0"/>
              <a:t> changed </a:t>
            </a:r>
            <a:r>
              <a:rPr dirty="0" err="1"/>
              <a:t>SingleTaskGP</a:t>
            </a:r>
            <a:r>
              <a:rPr dirty="0"/>
              <a:t> away from ARD Matern 5/2 to an RBF kernel with</a:t>
            </a:r>
          </a:p>
          <a:p>
            <a:r>
              <a:rPr dirty="0"/>
              <a:t>dimension-scaled log-normal priors (v0.12, 2024). If the tutorial pins a current</a:t>
            </a:r>
          </a:p>
          <a:p>
            <a:r>
              <a:rPr dirty="0" err="1"/>
              <a:t>BoTorch</a:t>
            </a:r>
            <a:r>
              <a:rPr dirty="0"/>
              <a:t>, students will see RBF on screen at 15:15.</a:t>
            </a:r>
          </a:p>
          <a:p>
            <a:endParaRPr dirty="0"/>
          </a:p>
          <a:p>
            <a:r>
              <a:rPr dirty="0"/>
              <a:t>Two framings — pick one once you have checked:</a:t>
            </a:r>
          </a:p>
          <a:p>
            <a:r>
              <a:rPr dirty="0"/>
              <a:t>  - IF CURRENT (RBF default): use it as the better lesson. The community moved back</a:t>
            </a:r>
          </a:p>
          <a:p>
            <a:r>
              <a:rPr dirty="0"/>
              <a:t>    to RBF not because the smoothness argument was wrong, but because THE PRIORS ON</a:t>
            </a:r>
          </a:p>
          <a:p>
            <a:r>
              <a:rPr dirty="0"/>
              <a:t>    THE HYPERPARAMETERS MATTERED MORE THAN THE CHOICE OF KERNEL. That sets up the</a:t>
            </a:r>
          </a:p>
          <a:p>
            <a:r>
              <a:rPr dirty="0"/>
              <a:t>    "with fewer than 10 points, priors do the work" warning perfectly.</a:t>
            </a:r>
          </a:p>
          <a:p>
            <a:r>
              <a:rPr dirty="0"/>
              <a:t>  - IF PINNED OLDER (Matern default): keep the smoothness framing, mention the change.</a:t>
            </a:r>
          </a:p>
          <a:p>
            <a:endParaRPr dirty="0"/>
          </a:p>
          <a:p>
            <a:r>
              <a:rPr dirty="0"/>
              <a:t>This is the one claim in the lecture the room can falsify live. Get it right.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part of the lecture with the highest practical return.</a:t>
            </a:r>
          </a:p>
          <a:p>
            <a:endParaRPr dirty="0"/>
          </a:p>
          <a:p>
            <a:r>
              <a:rPr dirty="0"/>
              <a:t>The noise column is the one to slow down on. It leads straight into the noise</a:t>
            </a:r>
          </a:p>
          <a:p>
            <a:r>
              <a:rPr dirty="0"/>
              <a:t>section and it is the failure they will actually hit in the tutorial.</a:t>
            </a:r>
          </a:p>
          <a:p>
            <a:endParaRPr dirty="0"/>
          </a:p>
          <a:p>
            <a:r>
              <a:rPr dirty="0"/>
              <a:t>The next slide shows what the length-scale does to the posterior.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part of the lecture with the highest practical return. Ideally one figure per</a:t>
            </a:r>
          </a:p>
          <a:p>
            <a:r>
              <a:rPr dirty="0"/>
              <a:t>parameter: same six data points, three settings, three posteriors.</a:t>
            </a:r>
          </a:p>
          <a:p>
            <a:endParaRPr dirty="0"/>
          </a:p>
          <a:p>
            <a:r>
              <a:rPr dirty="0"/>
              <a:t>The noise column is the one to slow down on. It leads directly into the noise</a:t>
            </a:r>
          </a:p>
          <a:p>
            <a:r>
              <a:rPr dirty="0"/>
              <a:t>section, and it is the failure they will actually hit in the tutorial.</a:t>
            </a:r>
          </a:p>
          <a:p>
            <a:endParaRPr dirty="0"/>
          </a:p>
          <a:p>
            <a:r>
              <a:rPr dirty="0"/>
              <a:t>If the figure box at the bottom is too cramped once built, split this into two</a:t>
            </a:r>
          </a:p>
          <a:p>
            <a:r>
              <a:rPr dirty="0"/>
              <a:t>slides — the table here, the three-panel length-scale figure on its own.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number to point at is the pair in each top-left corner. Fit error at the data:</a:t>
            </a:r>
          </a:p>
          <a:p>
            <a:r>
              <a:rPr dirty="0"/>
              <a:t>0.017, 0.001, 0.000 — indistinguishable. </a:t>
            </a:r>
            <a:r>
              <a:rPr dirty="0" err="1"/>
              <a:t>sd</a:t>
            </a:r>
            <a:r>
              <a:rPr dirty="0"/>
              <a:t> in the gap: 0.19, 0.75, 2.24 — a factor</a:t>
            </a:r>
          </a:p>
          <a:p>
            <a:r>
              <a:rPr dirty="0"/>
              <a:t>of twelve.</a:t>
            </a:r>
          </a:p>
          <a:p>
            <a:endParaRPr dirty="0"/>
          </a:p>
          <a:p>
            <a:r>
              <a:rPr dirty="0"/>
              <a:t>So say it plainly: </a:t>
            </a:r>
            <a:r>
              <a:rPr dirty="0" err="1"/>
              <a:t>σ_f</a:t>
            </a:r>
            <a:r>
              <a:rPr dirty="0"/>
              <a:t> does almost nothing where you have measured, and everything</a:t>
            </a:r>
          </a:p>
          <a:p>
            <a:r>
              <a:rPr dirty="0"/>
              <a:t>where you have not. Since the exploration term of EI is </a:t>
            </a:r>
            <a:r>
              <a:rPr dirty="0" err="1"/>
              <a:t>σφ</a:t>
            </a:r>
            <a:r>
              <a:rPr dirty="0"/>
              <a:t>(z), </a:t>
            </a:r>
            <a:r>
              <a:rPr dirty="0" err="1"/>
              <a:t>σ_f</a:t>
            </a:r>
            <a:r>
              <a:rPr dirty="0"/>
              <a:t> is effectively</a:t>
            </a:r>
          </a:p>
          <a:p>
            <a:r>
              <a:rPr dirty="0"/>
              <a:t>the dial on how adventurous the campaign will be.</a:t>
            </a:r>
          </a:p>
          <a:p>
            <a:endParaRPr dirty="0"/>
          </a:p>
          <a:p>
            <a:r>
              <a:rPr dirty="0"/>
              <a:t>The dotted lines are ±2σ_f. Note the band never crosses them — </a:t>
            </a:r>
            <a:r>
              <a:rPr dirty="0" err="1"/>
              <a:t>σ</a:t>
            </a:r>
            <a:r>
              <a:rPr dirty="0"/>
              <a:t>(x) ≤ </a:t>
            </a:r>
            <a:r>
              <a:rPr dirty="0" err="1"/>
              <a:t>σ_f</a:t>
            </a:r>
            <a:r>
              <a:rPr dirty="0"/>
              <a:t> always,</a:t>
            </a:r>
          </a:p>
          <a:p>
            <a:r>
              <a:rPr dirty="0"/>
              <a:t>because the posterior can never be more uncertain than the prior. Far from data,</a:t>
            </a:r>
          </a:p>
          <a:p>
            <a:r>
              <a:rPr dirty="0"/>
              <a:t>kₓ → 0 and </a:t>
            </a:r>
            <a:r>
              <a:rPr dirty="0" err="1"/>
              <a:t>σ</a:t>
            </a:r>
            <a:r>
              <a:rPr dirty="0"/>
              <a:t>(x) → </a:t>
            </a:r>
            <a:r>
              <a:rPr dirty="0" err="1"/>
              <a:t>σ_f</a:t>
            </a:r>
            <a:r>
              <a:rPr dirty="0"/>
              <a:t> exactly.</a:t>
            </a:r>
          </a:p>
          <a:p>
            <a:endParaRPr dirty="0"/>
          </a:p>
          <a:p>
            <a:r>
              <a:rPr dirty="0"/>
              <a:t>⚠️ A student may object that the left panel "looks like a worse fit". It isn't —</a:t>
            </a:r>
          </a:p>
          <a:p>
            <a:r>
              <a:rPr dirty="0"/>
              <a:t>check the printed fit error. What it is, is over-confident.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part of the lecture with the highest practical return. Ideally one figure per</a:t>
            </a:r>
          </a:p>
          <a:p>
            <a:r>
              <a:rPr dirty="0"/>
              <a:t>parameter: same six data points, three settings, three posteriors.</a:t>
            </a:r>
          </a:p>
          <a:p>
            <a:endParaRPr dirty="0"/>
          </a:p>
          <a:p>
            <a:r>
              <a:rPr dirty="0"/>
              <a:t>The noise column is the one to slow down on. It leads directly into the noise</a:t>
            </a:r>
          </a:p>
          <a:p>
            <a:r>
              <a:rPr dirty="0"/>
              <a:t>section, and it is the failure they will actually hit in the tutorial.</a:t>
            </a:r>
          </a:p>
          <a:p>
            <a:endParaRPr dirty="0"/>
          </a:p>
          <a:p>
            <a:r>
              <a:rPr dirty="0"/>
              <a:t>If the figure box at the bottom is too cramped once built, split this into two</a:t>
            </a:r>
          </a:p>
          <a:p>
            <a:r>
              <a:rPr dirty="0"/>
              <a:t>slides — the table here, the three-panel length-scale figure on its own.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Show the expression, interpret the two terms, do NOT derive. Thirty seconds on the</a:t>
            </a:r>
          </a:p>
          <a:p>
            <a:r>
              <a:rPr dirty="0"/>
              <a:t>Occam framing — it lands well with this audience.</a:t>
            </a:r>
          </a:p>
          <a:p>
            <a:endParaRPr dirty="0"/>
          </a:p>
          <a:p>
            <a:r>
              <a:rPr dirty="0"/>
              <a:t>Then the warning that will actually save them in the tutorial: with fewer than about</a:t>
            </a:r>
          </a:p>
          <a:p>
            <a:r>
              <a:rPr dirty="0"/>
              <a:t>ten points, marginal-likelihood optimization is unstable. Every good BO package</a:t>
            </a:r>
          </a:p>
          <a:p>
            <a:r>
              <a:rPr dirty="0"/>
              <a:t>applies priors or bounds by default; they should know it is happening rather than</a:t>
            </a:r>
          </a:p>
          <a:p>
            <a:r>
              <a:rPr dirty="0"/>
              <a:t>discover it when their length-scale comes back as 1e-4.</a:t>
            </a:r>
          </a:p>
          <a:p>
            <a:endParaRPr dirty="0"/>
          </a:p>
          <a:p>
            <a:r>
              <a:rPr dirty="0"/>
              <a:t>Also mention cost here: O(n^3) from the matrix inverse. Free at n = 50, impossible</a:t>
            </a:r>
          </a:p>
          <a:p>
            <a:r>
              <a:rPr dirty="0"/>
              <a:t>at n = 1e5. Irrelevant for a reaction campaign, decisive for library screening —</a:t>
            </a:r>
          </a:p>
          <a:p>
            <a:r>
              <a:rPr dirty="0"/>
              <a:t>which is exactly why the last section of this lecture exists.</a:t>
            </a:r>
          </a:p>
          <a:p>
            <a:endParaRPr dirty="0"/>
          </a:p>
          <a:p>
            <a:r>
              <a:rPr dirty="0"/>
              <a:t>Answer the "why GPs?" question head-on, honestly:</a:t>
            </a:r>
          </a:p>
          <a:p>
            <a:r>
              <a:rPr dirty="0"/>
              <a:t>  "Because at n = 20 a GP gives calibrated uncertainty essentially for free, in</a:t>
            </a:r>
          </a:p>
          <a:p>
            <a:r>
              <a:rPr dirty="0"/>
              <a:t>   closed form, with three interpretable parameters — and n = 20 is where a chemist</a:t>
            </a:r>
          </a:p>
          <a:p>
            <a:r>
              <a:rPr dirty="0"/>
              <a:t>   lives."</a:t>
            </a:r>
          </a:p>
          <a:p>
            <a:r>
              <a:rPr dirty="0"/>
              <a:t>Then the caveat: GPs are natural for low-d, continuous, smooth, small-n. Outside</a:t>
            </a:r>
          </a:p>
          <a:p>
            <a:r>
              <a:rPr dirty="0"/>
              <a:t>that regime NN ensembles match or beat them. "Most natural fit for YOUR problem" is</a:t>
            </a:r>
          </a:p>
          <a:p>
            <a:r>
              <a:rPr dirty="0"/>
              <a:t>defensible; "most natural fit" alone is not.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Section marker. We are entering: 4 · Real chemistry: categorical variables, noise, DOE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Chemists conflate these three constantly. Separating them takes 45 seconds and</a:t>
            </a:r>
          </a:p>
          <a:p>
            <a:r>
              <a:rPr dirty="0"/>
              <a:t>prevents a whole class of confusion.</a:t>
            </a:r>
          </a:p>
          <a:p>
            <a:endParaRPr dirty="0"/>
          </a:p>
          <a:p>
            <a:r>
              <a:rPr dirty="0"/>
              <a:t>Input noise is genuinely a different problem: it is not that your measurement is</a:t>
            </a:r>
          </a:p>
          <a:p>
            <a:r>
              <a:rPr dirty="0"/>
              <a:t>noisy, it is that the condition you asked for is not the condition you got.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mechanism, in one sentence. This is the crux of the noise section.</a:t>
            </a:r>
          </a:p>
          <a:p>
            <a:endParaRPr dirty="0"/>
          </a:p>
          <a:p>
            <a:r>
              <a:rPr dirty="0"/>
              <a:t>Noisy EI fixes it by </a:t>
            </a:r>
            <a:r>
              <a:rPr dirty="0" err="1"/>
              <a:t>marginalising</a:t>
            </a:r>
            <a:r>
              <a:rPr dirty="0"/>
              <a:t> over the uncertainty in f-plus as well — it asks</a:t>
            </a:r>
          </a:p>
          <a:p>
            <a:r>
              <a:rPr dirty="0"/>
              <a:t>"improvement over the best TRUE value", not "over my luckiest data point".</a:t>
            </a:r>
          </a:p>
          <a:p>
            <a:endParaRPr dirty="0"/>
          </a:p>
          <a:p>
            <a:r>
              <a:rPr dirty="0"/>
              <a:t>Lineage for the tutorial: Letham et al. 2019 introduced NEI, and it is the direct</a:t>
            </a:r>
          </a:p>
          <a:p>
            <a:r>
              <a:rPr dirty="0"/>
              <a:t>ancestor of </a:t>
            </a:r>
            <a:r>
              <a:rPr dirty="0" err="1"/>
              <a:t>qNEI</a:t>
            </a:r>
            <a:r>
              <a:rPr dirty="0"/>
              <a:t> / </a:t>
            </a:r>
            <a:r>
              <a:rPr dirty="0" err="1"/>
              <a:t>qNEHVI</a:t>
            </a:r>
            <a:r>
              <a:rPr dirty="0"/>
              <a:t> in </a:t>
            </a:r>
            <a:r>
              <a:rPr dirty="0" err="1"/>
              <a:t>BoTorch</a:t>
            </a:r>
            <a:r>
              <a:rPr dirty="0"/>
              <a:t> — so at 15:15 they run its descendant.</a:t>
            </a:r>
          </a:p>
          <a:p>
            <a:endParaRPr dirty="0"/>
          </a:p>
          <a:p>
            <a:r>
              <a:rPr dirty="0"/>
              <a:t>The next slide is the evidence.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mechanism, in one sentence. This is the crux of the noise section and the thing</a:t>
            </a:r>
          </a:p>
          <a:p>
            <a:r>
              <a:rPr dirty="0"/>
              <a:t>they will remember.</a:t>
            </a:r>
          </a:p>
          <a:p>
            <a:endParaRPr dirty="0"/>
          </a:p>
          <a:p>
            <a:r>
              <a:rPr dirty="0"/>
              <a:t>Noisy EI (NEI) fixes it by </a:t>
            </a:r>
            <a:r>
              <a:rPr dirty="0" err="1"/>
              <a:t>marginalising</a:t>
            </a:r>
            <a:r>
              <a:rPr dirty="0"/>
              <a:t> over the uncertainty in f-plus as well — it</a:t>
            </a:r>
          </a:p>
          <a:p>
            <a:r>
              <a:rPr dirty="0"/>
              <a:t>asks "improvement over the best TRUE value, given everything I have measured", not</a:t>
            </a:r>
          </a:p>
          <a:p>
            <a:r>
              <a:rPr dirty="0"/>
              <a:t>"improvement over my luckiest data point".</a:t>
            </a:r>
          </a:p>
          <a:p>
            <a:endParaRPr dirty="0"/>
          </a:p>
          <a:p>
            <a:r>
              <a:rPr dirty="0"/>
              <a:t>Figure 11 is the highest teaching value per minute in the whole lecture. Two runs,</a:t>
            </a:r>
          </a:p>
          <a:p>
            <a:r>
              <a:rPr dirty="0"/>
              <a:t>same landscape, only the assumed noise differs. Show the near-zero run locking on.</a:t>
            </a:r>
          </a:p>
          <a:p>
            <a:endParaRPr dirty="0"/>
          </a:p>
          <a:p>
            <a:r>
              <a:rPr dirty="0"/>
              <a:t>Lineage worth stating for the tutorial: Letham et al. 2019 introduced NEI, and it is</a:t>
            </a:r>
          </a:p>
          <a:p>
            <a:r>
              <a:rPr dirty="0"/>
              <a:t>the direct ancestor of </a:t>
            </a:r>
            <a:r>
              <a:rPr dirty="0" err="1"/>
              <a:t>qNEI</a:t>
            </a:r>
            <a:r>
              <a:rPr dirty="0"/>
              <a:t> / </a:t>
            </a:r>
            <a:r>
              <a:rPr dirty="0" err="1"/>
              <a:t>qNEHVI</a:t>
            </a:r>
            <a:r>
              <a:rPr dirty="0"/>
              <a:t> in </a:t>
            </a:r>
            <a:r>
              <a:rPr dirty="0" err="1"/>
              <a:t>BoTorch</a:t>
            </a:r>
            <a:r>
              <a:rPr dirty="0"/>
              <a:t> — so at 15:15 they run the</a:t>
            </a:r>
          </a:p>
          <a:p>
            <a:r>
              <a:rPr dirty="0"/>
              <a:t>descendant of that paper.</a:t>
            </a:r>
            <a:endParaRPr lang="en-US" dirty="0"/>
          </a:p>
          <a:p>
            <a:endParaRPr lang="en-US" dirty="0"/>
          </a:p>
          <a:p>
            <a:pPr rtl="0"/>
            <a:r>
              <a:rPr lang="en-US" dirty="0"/>
              <a:t>Figure 11 is </a:t>
            </a:r>
            <a:r>
              <a:rPr lang="en-US" b="1" dirty="0"/>
              <a:t>not real data</a:t>
            </a:r>
            <a:r>
              <a:rPr lang="en-US" dirty="0"/>
              <a:t> — it's a simulation on a synthetic 2-D reaction surface. Worth being explicit about, because it sits two slides away from the Shields panels which </a:t>
            </a:r>
            <a:r>
              <a:rPr lang="en-US" i="1" dirty="0"/>
              <a:t>are</a:t>
            </a:r>
            <a:r>
              <a:rPr lang="en-US" dirty="0"/>
              <a:t> real.</a:t>
            </a:r>
          </a:p>
          <a:p>
            <a:pPr rtl="0"/>
            <a:r>
              <a:rPr lang="en-US" b="1" dirty="0"/>
              <a:t>The surface</a:t>
            </a:r>
            <a:r>
              <a:rPr lang="en-US" dirty="0"/>
              <a:t> (</a:t>
            </a:r>
            <a:r>
              <a:rPr lang="en-US" sz="1200" kern="1200" dirty="0">
                <a:solidFill>
                  <a:schemeClr val="tx1"/>
                </a:solidFill>
                <a:latin typeface="+mn-lt"/>
                <a:ea typeface="+mn-ea"/>
                <a:cs typeface="+mn-cs"/>
              </a:rPr>
              <a:t>_shared/</a:t>
            </a:r>
            <a:r>
              <a:rPr lang="en-US" sz="1200" kern="1200" dirty="0" err="1">
                <a:solidFill>
                  <a:schemeClr val="tx1"/>
                </a:solidFill>
                <a:latin typeface="+mn-lt"/>
                <a:ea typeface="+mn-ea"/>
                <a:cs typeface="+mn-cs"/>
              </a:rPr>
              <a:t>landscape.py</a:t>
            </a:r>
            <a:r>
              <a:rPr lang="en-US" dirty="0"/>
              <a:t>, the </a:t>
            </a:r>
            <a:r>
              <a:rPr lang="en-US" sz="1200" kern="1200" dirty="0">
                <a:solidFill>
                  <a:schemeClr val="tx1"/>
                </a:solidFill>
                <a:latin typeface="+mn-lt"/>
                <a:ea typeface="+mn-ea"/>
                <a:cs typeface="+mn-cs"/>
              </a:rPr>
              <a:t>"ridge"</a:t>
            </a:r>
            <a:r>
              <a:rPr lang="en-US" dirty="0"/>
              <a:t> variant): temperature 60–140 °C × catalyst loading 0.5–5 mol%, built by hand out of three analytic terms —</a:t>
            </a:r>
          </a:p>
          <a:p>
            <a:pPr lvl="0" rtl="0"/>
            <a:r>
              <a:rPr lang="en-US" dirty="0"/>
              <a:t>a </a:t>
            </a:r>
            <a:r>
              <a:rPr lang="en-US" b="1" dirty="0"/>
              <a:t>curved ridge</a:t>
            </a:r>
            <a:r>
              <a:rPr lang="en-US" dirty="0"/>
              <a:t> whose optimal loading rises with temperature (this is what defeats a fitted quadratic in fig 15),</a:t>
            </a:r>
          </a:p>
          <a:p>
            <a:pPr lvl="0" rtl="0"/>
            <a:r>
              <a:rPr lang="en-US" dirty="0"/>
              <a:t>a </a:t>
            </a:r>
            <a:r>
              <a:rPr lang="en-US" b="1" dirty="0"/>
              <a:t>deceptive secondary bump</a:t>
            </a:r>
            <a:r>
              <a:rPr lang="en-US" dirty="0"/>
              <a:t> at low T / low loading,</a:t>
            </a:r>
          </a:p>
          <a:p>
            <a:pPr lvl="0" rtl="0"/>
            <a:r>
              <a:rPr lang="en-US" dirty="0"/>
              <a:t>a </a:t>
            </a:r>
            <a:r>
              <a:rPr lang="en-US" b="1" dirty="0"/>
              <a:t>decomposition penalty</a:t>
            </a:r>
            <a:r>
              <a:rPr lang="en-US" dirty="0"/>
              <a:t> that kicks in at high T </a:t>
            </a:r>
            <a:r>
              <a:rPr lang="en-US" i="1" dirty="0"/>
              <a:t>and</a:t>
            </a:r>
            <a:r>
              <a:rPr lang="en-US" dirty="0"/>
              <a:t> high loading.</a:t>
            </a:r>
          </a:p>
          <a:p>
            <a:pPr rtl="0"/>
            <a:r>
              <a:rPr lang="en-US" dirty="0"/>
              <a:t>Nothing is fitted to measurements. The same surface is reused by figures 2 and 15, which is what makes the grid/DOE/BO comparison a like-for-like one.</a:t>
            </a:r>
          </a:p>
          <a:p>
            <a:pPr rtl="0"/>
            <a:r>
              <a:rPr lang="en-US" b="1" dirty="0"/>
              <a:t>What's actually run</a:t>
            </a:r>
            <a:r>
              <a:rPr lang="en-US" dirty="0"/>
              <a:t> (</a:t>
            </a:r>
            <a:r>
              <a:rPr lang="en-US" sz="1200" kern="1200" dirty="0" err="1">
                <a:solidFill>
                  <a:schemeClr val="tx1"/>
                </a:solidFill>
                <a:latin typeface="+mn-lt"/>
                <a:ea typeface="+mn-ea"/>
                <a:cs typeface="+mn-cs"/>
              </a:rPr>
              <a:t>specs_b.py</a:t>
            </a:r>
            <a:r>
              <a:rPr lang="en-US" dirty="0"/>
              <a:t>, FIG11): two BO campaigns, identical in every respect except one number.</a:t>
            </a:r>
          </a:p>
          <a:p>
            <a:pPr lvl="0" rtl="0"/>
            <a:r>
              <a:rPr lang="en-US" dirty="0"/>
              <a:t>true measurement noise added to every observation: </a:t>
            </a:r>
            <a:r>
              <a:rPr lang="en-US" b="1" dirty="0" err="1"/>
              <a:t>sd</a:t>
            </a:r>
            <a:r>
              <a:rPr lang="en-US" b="1" dirty="0"/>
              <a:t> = 6 percentage points</a:t>
            </a:r>
            <a:endParaRPr lang="en-US" dirty="0"/>
          </a:p>
          <a:p>
            <a:pPr lvl="0" rtl="0"/>
            <a:r>
              <a:rPr lang="en-US" dirty="0"/>
              <a:t>one campaign is told </a:t>
            </a:r>
            <a:r>
              <a:rPr lang="en-US" sz="1200" kern="1200" dirty="0" err="1">
                <a:solidFill>
                  <a:schemeClr val="tx1"/>
                </a:solidFill>
                <a:latin typeface="+mn-lt"/>
                <a:ea typeface="+mn-ea"/>
                <a:cs typeface="+mn-cs"/>
              </a:rPr>
              <a:t>σ_n</a:t>
            </a:r>
            <a:r>
              <a:rPr lang="en-US" sz="1200" kern="1200" dirty="0">
                <a:solidFill>
                  <a:schemeClr val="tx1"/>
                </a:solidFill>
                <a:latin typeface="+mn-lt"/>
                <a:ea typeface="+mn-ea"/>
                <a:cs typeface="+mn-cs"/>
              </a:rPr>
              <a:t> = 0.05</a:t>
            </a:r>
            <a:r>
              <a:rPr lang="en-US" dirty="0"/>
              <a:t> ("≈ 0"), the other is told </a:t>
            </a:r>
            <a:r>
              <a:rPr lang="en-US" sz="1200" kern="1200" dirty="0" err="1">
                <a:solidFill>
                  <a:schemeClr val="tx1"/>
                </a:solidFill>
                <a:latin typeface="+mn-lt"/>
                <a:ea typeface="+mn-ea"/>
                <a:cs typeface="+mn-cs"/>
              </a:rPr>
              <a:t>σ_n</a:t>
            </a:r>
            <a:r>
              <a:rPr lang="en-US" sz="1200" kern="1200" dirty="0">
                <a:solidFill>
                  <a:schemeClr val="tx1"/>
                </a:solidFill>
                <a:latin typeface="+mn-lt"/>
                <a:ea typeface="+mn-ea"/>
                <a:cs typeface="+mn-cs"/>
              </a:rPr>
              <a:t> = 6.0</a:t>
            </a:r>
            <a:r>
              <a:rPr lang="en-US" dirty="0"/>
              <a:t> (the truth)</a:t>
            </a:r>
          </a:p>
          <a:p>
            <a:pPr lvl="0" rtl="0"/>
            <a:r>
              <a:rPr lang="en-US" dirty="0"/>
              <a:t>6 seed experiments + 14 EI iterations = 20 runs, on a 36×36 candidate grid</a:t>
            </a:r>
          </a:p>
          <a:p>
            <a:pPr lvl="0" rtl="0"/>
            <a:r>
              <a:rPr lang="en-US" b="1" dirty="0"/>
              <a:t>28 random seeds each</a:t>
            </a:r>
            <a:r>
              <a:rPr lang="en-US" dirty="0"/>
              <a:t>, paired seed-for-seed</a:t>
            </a:r>
          </a:p>
          <a:p>
            <a:pPr lvl="0" rtl="0"/>
            <a:r>
              <a:rPr lang="en-US" dirty="0"/>
              <a:t>fixed kernel: </a:t>
            </a:r>
            <a:r>
              <a:rPr lang="en-US" dirty="0" err="1"/>
              <a:t>Matérn</a:t>
            </a:r>
            <a:r>
              <a:rPr lang="en-US" dirty="0"/>
              <a:t> 5/2, ℓ = [20 °C, 1.2 mol%], </a:t>
            </a:r>
            <a:r>
              <a:rPr lang="en-US" dirty="0" err="1"/>
              <a:t>σ_f</a:t>
            </a:r>
            <a:r>
              <a:rPr lang="en-US" dirty="0"/>
              <a:t> = 28 — deliberately </a:t>
            </a:r>
            <a:r>
              <a:rPr lang="en-US" i="1" dirty="0"/>
              <a:t>not</a:t>
            </a:r>
            <a:r>
              <a:rPr lang="en-US" dirty="0"/>
              <a:t> refitted, so the only thing varying between the two arms is </a:t>
            </a:r>
            <a:r>
              <a:rPr lang="en-US" dirty="0" err="1"/>
              <a:t>σ_n</a:t>
            </a:r>
            <a:endParaRPr lang="en-US" dirty="0"/>
          </a:p>
          <a:p>
            <a:pPr rtl="0"/>
            <a:r>
              <a:rPr lang="en-US" dirty="0"/>
              <a:t>Per campaign it records three things: the highest yield the chemist </a:t>
            </a:r>
            <a:r>
              <a:rPr lang="en-US" i="1" dirty="0"/>
              <a:t>observed</a:t>
            </a:r>
            <a:r>
              <a:rPr lang="en-US" dirty="0"/>
              <a:t>, what those exact conditions are </a:t>
            </a:r>
            <a:r>
              <a:rPr lang="en-US" i="1" dirty="0"/>
              <a:t>actually</a:t>
            </a:r>
            <a:r>
              <a:rPr lang="en-US" dirty="0"/>
              <a:t> worth on the noiseless surface, and what the model would </a:t>
            </a:r>
            <a:r>
              <a:rPr lang="en-US" i="1" dirty="0"/>
              <a:t>recommend</a:t>
            </a:r>
            <a:r>
              <a:rPr lang="en-US" dirty="0"/>
              <a:t> (argmax of the posterior mean). That third quantity is the left panel; the gap between the first two is the right panel.</a:t>
            </a:r>
          </a:p>
          <a:p>
            <a:pPr rtl="0"/>
            <a:r>
              <a:rPr lang="en-US" b="1" dirty="0"/>
              <a:t>Why synthetic here is the right choice.</a:t>
            </a:r>
            <a:r>
              <a:rPr lang="en-US" dirty="0"/>
              <a:t> Both panels need the ground truth — "what your reported best is really worth" and "how good is the model's recommendation" are unanswerable without a noiseless oracle. You can't get that from an HTE dataset, where every entry is itself one noisy reading. The price is that the effect sizes (</a:t>
            </a:r>
            <a:r>
              <a:rPr lang="en-US" dirty="0" err="1"/>
              <a:t>sd</a:t>
            </a:r>
            <a:r>
              <a:rPr lang="en-US" dirty="0"/>
              <a:t> 18.9 vs 3.8) are properties of this surface and this noise level, not universal constants.</a:t>
            </a:r>
          </a:p>
          <a:p>
            <a:pPr rtl="0"/>
            <a:r>
              <a:rPr lang="en-US" dirty="0"/>
              <a:t>If you want the noise argument backed by real measurements too, the published route is the noisy-EI literature already in your reference list rather than a rerun of this figure. Want me to add a one-line "synthetic surface — ground truth known by construction" note to slide 33, so nobody in the room assumes it's Shields data?</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EXISTS</a:t>
            </a:r>
          </a:p>
          <a:p>
            <a:r>
              <a:t>The previous slide is my simulation. This one is the same claim, published,</a:t>
            </a:r>
          </a:p>
          <a:p>
            <a:r>
              <a:t>with real kinetics and a controlled noise level — so nobody has to take my</a:t>
            </a:r>
          </a:p>
          <a:p>
            <a:r>
              <a:t>synthetic surface on faith.</a:t>
            </a:r>
          </a:p>
          <a:p>
            <a:endParaRPr/>
          </a:p>
          <a:p>
            <a:r>
              <a:t>THE SETUP (Luo et al., Chem. Eng. Sci. 2024, 298, 120434)</a:t>
            </a:r>
          </a:p>
          <a:p>
            <a:r>
              <a:t>Three reactions — amidation, acylation, SNAr — each with a previously</a:t>
            </a:r>
          </a:p>
          <a:p>
            <a:r>
              <a:t>published kinetic model, so the ground truth is known and the noise can be</a:t>
            </a:r>
          </a:p>
          <a:p>
            <a:r>
              <a:t>DIALLED: 5, 10, 15, 20 % relative. Two objectives per case. Batch of q = 2</a:t>
            </a:r>
          </a:p>
          <a:p>
            <a:r>
              <a:t>per iteration, 25 iterations, 10 independent trials, shaded band = min-max</a:t>
            </a:r>
          </a:p>
          <a:p>
            <a:r>
              <a:t>over trials. Vertical axis is hypervolume, normalised to 1 at the best found.</a:t>
            </a:r>
          </a:p>
          <a:p>
            <a:r>
              <a:t>Everything else — surrogate (GP, Matern), initialisation, budget — is held</a:t>
            </a:r>
          </a:p>
          <a:p>
            <a:r>
              <a:t>fixed. The ONLY thing that varies within a panel is the acquisition function.</a:t>
            </a:r>
          </a:p>
          <a:p>
            <a:endParaRPr/>
          </a:p>
          <a:p>
            <a:r>
              <a:t>THE FIVE ACQUISITION FUNCTIONS, IN WORDS</a:t>
            </a:r>
          </a:p>
          <a:p>
            <a:endParaRPr/>
          </a:p>
          <a:p>
            <a:r>
              <a:t>  qEHVI   Expected Hypervolume Improvement, batch version.</a:t>
            </a:r>
          </a:p>
          <a:p>
            <a:r>
              <a:t>          alpha(X) = E[ HVI(f(X)) ]  where HVI(Y,P,r) = HV(P u Y, r) - HV(P, r).</a:t>
            </a:r>
          </a:p>
          <a:p>
            <a:r>
              <a:t>          "How much do I expect this batch to grow the volume dominated by</a:t>
            </a:r>
          </a:p>
          <a:p>
            <a:r>
              <a:t>          the Pareto front, measured against a reference point r?"</a:t>
            </a:r>
          </a:p>
          <a:p>
            <a:r>
              <a:t>          The catch: it conditions on P, the OBSERVED front, as if those</a:t>
            </a:r>
          </a:p>
          <a:p>
            <a:r>
              <a:t>          measurements were exact.</a:t>
            </a:r>
          </a:p>
          <a:p>
            <a:endParaRPr/>
          </a:p>
          <a:p>
            <a:r>
              <a:t>  qNEHVI  The noisy version. Instead of one front P, it draws posterior</a:t>
            </a:r>
          </a:p>
          <a:p>
            <a:r>
              <a:t>          samples of f at every point already run, builds a front from each</a:t>
            </a:r>
          </a:p>
          <a:p>
            <a:r>
              <a:t>          draw, and averages the hypervolume improvement over those:</a:t>
            </a:r>
          </a:p>
          <a:p>
            <a:r>
              <a:t>            alpha(X) ~ (1/N) sum_t HVI( f_t(X) | P_t ).</a:t>
            </a:r>
          </a:p>
          <a:p>
            <a:r>
              <a:t>          Same trick as noisy EI on the previous slides, lifted to many</a:t>
            </a:r>
          </a:p>
          <a:p>
            <a:r>
              <a:t>          objectives — the incumbent is a distribution, not a number.</a:t>
            </a:r>
          </a:p>
          <a:p>
            <a:r>
              <a:t>          Daulton, Balandat &amp; Bakshy, NeurIPS 2021.</a:t>
            </a:r>
          </a:p>
          <a:p>
            <a:endParaRPr/>
          </a:p>
          <a:p>
            <a:r>
              <a:t>  qNParEGO  Scalarise, then optimise. Draw a random weight vector, collapse</a:t>
            </a:r>
          </a:p>
          <a:p>
            <a:r>
              <a:t>          the objectives with an augmented Tchebycheff function, run noisy EI</a:t>
            </a:r>
          </a:p>
          <a:p>
            <a:r>
              <a:t>          on the scalar. A new weight per batch member gives spread across the</a:t>
            </a:r>
          </a:p>
          <a:p>
            <a:r>
              <a:t>          front. Much cheaper than hypervolume; less directed.</a:t>
            </a:r>
          </a:p>
          <a:p>
            <a:r>
              <a:t>          Knowles 2006 (ParEGO); Daulton et al. 2021 for the noisy batch form.</a:t>
            </a:r>
          </a:p>
          <a:p>
            <a:endParaRPr/>
          </a:p>
          <a:p>
            <a:r>
              <a:t>  TSEMO   Thompson sampling for multi-objective problems. Draw one random</a:t>
            </a:r>
          </a:p>
          <a:p>
            <a:r>
              <a:t>          Fourier feature approximation per GP, hand the resulting cheap</a:t>
            </a:r>
          </a:p>
          <a:p>
            <a:r>
              <a:t>          surrogate to NSGA-II, take a subset of the evolved front. Randomised</a:t>
            </a:r>
          </a:p>
          <a:p>
            <a:r>
              <a:t>          by construction — which is exactly why it suffers when the draws are</a:t>
            </a:r>
          </a:p>
          <a:p>
            <a:r>
              <a:t>          being made from a posterior that has not modelled the noise.</a:t>
            </a:r>
          </a:p>
          <a:p>
            <a:r>
              <a:t>          Bradford, Schweidtmann &amp; Lapkin, J. Glob. Optim. 2018.</a:t>
            </a:r>
          </a:p>
          <a:p>
            <a:endParaRPr/>
          </a:p>
          <a:p>
            <a:r>
              <a:t>  Random  Uniform sampling. The control.</a:t>
            </a:r>
          </a:p>
          <a:p>
            <a:endParaRPr/>
          </a:p>
          <a:p>
            <a:r>
              <a:t>WHAT TO SAY, AND WHAT NOT TO</a:t>
            </a:r>
          </a:p>
          <a:p>
            <a:r>
              <a:t>SAY: at 5 % noise almost everything works; by 10-15 % the ordering is fixed</a:t>
            </a:r>
          </a:p>
          <a:p>
            <a:r>
              <a:t>and qNEHVI is at or near the top of every panel; TSEMO is the biggest casualty.</a:t>
            </a:r>
          </a:p>
          <a:p>
            <a:r>
              <a:t>The paper then runs qNEHVI in the wet lab on a two-step continuous-flow HFIP</a:t>
            </a:r>
          </a:p>
          <a:p>
            <a:r>
              <a:t>synthesis and reaches E-factor 0.125 and 93.1 % yield in 29 runs.</a:t>
            </a:r>
          </a:p>
          <a:p>
            <a:endParaRPr/>
          </a:p>
          <a:p>
            <a:r>
              <a:t>DO NOT overclaim. Case 1 (left column) is close to a wash — Random is within</a:t>
            </a:r>
          </a:p>
          <a:p>
            <a:r>
              <a:t>the bands at every noise level. Point at it yourself before someone else does.</a:t>
            </a:r>
          </a:p>
          <a:p>
            <a:r>
              <a:t>The honest sentence is: "on the two cases where the acquisition function</a:t>
            </a:r>
          </a:p>
          <a:p>
            <a:r>
              <a:t>matters at all, the noise-aware one wins, and the margin grows with the noise."</a:t>
            </a:r>
          </a:p>
          <a:p>
            <a:endParaRPr/>
          </a:p>
          <a:p>
            <a:r>
              <a:t>If asked why hypervolume and not yield: with two objectives there is no single</a:t>
            </a:r>
          </a:p>
          <a:p>
            <a:r>
              <a:t>number to maximise, so the benchmark scores the whole front. That is slide 37.</a:t>
            </a:r>
          </a:p>
          <a:p>
            <a:endParaRPr/>
          </a:p>
          <a:p>
            <a:r>
              <a:t>Second paper, same message, if anyone wants it: Zhang, Semochkina, Sugisawa,</a:t>
            </a:r>
          </a:p>
          <a:p>
            <a:r>
              <a:t>Woods &amp; Lapkin, Comput. Chem. Eng. 2025, 194, 108983 — multi-objective</a:t>
            </a:r>
          </a:p>
          <a:p>
            <a:r>
              <a:t>expected quantile improvement under heteroscedastic noise, benchmarked against</a:t>
            </a:r>
          </a:p>
          <a:p>
            <a:r>
              <a:t>qNEHVI, qNParEGO and TSEMO. Their Figs 8 and 9 are the equivalent panels for</a:t>
            </a:r>
          </a:p>
          <a:p>
            <a:r>
              <a:t>linear and log-linear noise structures.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Do not read this slide out. Point at the third box and spend your time there — it is</a:t>
            </a:r>
          </a:p>
          <a:p>
            <a:r>
              <a:rPr dirty="0"/>
              <a:t>the one that does the work, because it is the only one that is (a) chemistry and</a:t>
            </a:r>
          </a:p>
          <a:p>
            <a:r>
              <a:rPr dirty="0"/>
              <a:t>(b) a controlled comparison at varying noise.</a:t>
            </a:r>
          </a:p>
          <a:p>
            <a:endParaRPr dirty="0"/>
          </a:p>
          <a:p>
            <a:r>
              <a:rPr dirty="0"/>
              <a:t>Framing for Luo et al.: "Same problem, noise handling varied, noise-aware wins,</a:t>
            </a:r>
          </a:p>
          <a:p>
            <a:r>
              <a:rPr dirty="0"/>
              <a:t>then validated on real chemistry." That is exactly the experiment you would design</a:t>
            </a:r>
          </a:p>
          <a:p>
            <a:r>
              <a:rPr dirty="0"/>
              <a:t>if you wanted to answer the question, and someone already ran it.</a:t>
            </a:r>
          </a:p>
          <a:p>
            <a:endParaRPr dirty="0"/>
          </a:p>
          <a:p>
            <a:r>
              <a:rPr dirty="0"/>
              <a:t>If short on time: show only Luo, mention the others exist, move on.</a:t>
            </a:r>
          </a:p>
          <a:p>
            <a:endParaRPr dirty="0"/>
          </a:p>
          <a:p>
            <a:r>
              <a:rPr dirty="0"/>
              <a:t>Griffiths et al. 2022 (Mach. Learn.: Sci. Technol. 3, 015004) is the fifth one and</a:t>
            </a:r>
          </a:p>
          <a:p>
            <a:r>
              <a:rPr dirty="0"/>
              <a:t>adds a conceptual turn worth 20 seconds if you have it: their ANPEI acquisition does</a:t>
            </a:r>
          </a:p>
          <a:p>
            <a:r>
              <a:rPr dirty="0"/>
              <a:t>not merely tolerate noise, it hunts for LOW-NOISE regions. That is the difference</a:t>
            </a:r>
          </a:p>
          <a:p>
            <a:r>
              <a:rPr dirty="0"/>
              <a:t>between a paper result and a process.</a:t>
            </a:r>
          </a:p>
          <a:p>
            <a:endParaRPr dirty="0"/>
          </a:p>
          <a:p>
            <a:r>
              <a:rPr dirty="0" err="1"/>
              <a:t>Binois</a:t>
            </a:r>
            <a:r>
              <a:rPr dirty="0"/>
              <a:t> et al. 2019 (</a:t>
            </a:r>
            <a:r>
              <a:rPr dirty="0" err="1"/>
              <a:t>Technometrics</a:t>
            </a:r>
            <a:r>
              <a:rPr dirty="0"/>
              <a:t> 61, 7–23) </a:t>
            </a:r>
            <a:r>
              <a:rPr dirty="0" err="1"/>
              <a:t>formalises</a:t>
            </a:r>
            <a:r>
              <a:rPr dirty="0"/>
              <a:t> replicate-vs-explore — cite</a:t>
            </a:r>
          </a:p>
          <a:p>
            <a:r>
              <a:rPr dirty="0"/>
              <a:t>when you tell them to replicate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Placed right after the GP section deliberately — it is the first thing that breaks</a:t>
            </a:r>
          </a:p>
          <a:p>
            <a:r>
              <a:rPr dirty="0"/>
              <a:t>when the machinery meets a real bench, and it lands hardest while the kernel is</a:t>
            </a:r>
          </a:p>
          <a:p>
            <a:r>
              <a:rPr dirty="0"/>
              <a:t>still fresh.</a:t>
            </a:r>
          </a:p>
          <a:p>
            <a:endParaRPr dirty="0"/>
          </a:p>
          <a:p>
            <a:r>
              <a:rPr dirty="0"/>
              <a:t>The fix: encode each ligand by computed physicochemical properties — cone angle,</a:t>
            </a:r>
          </a:p>
          <a:p>
            <a:r>
              <a:rPr dirty="0"/>
              <a:t>Tolman electronic parameter, buried volume, DFT-derived Sigman-type descriptors.</a:t>
            </a:r>
          </a:p>
          <a:p>
            <a:r>
              <a:rPr dirty="0"/>
              <a:t>Now chemically similar ligands are numerically close, the RBF kernel works as</a:t>
            </a:r>
          </a:p>
          <a:p>
            <a:r>
              <a:rPr dirty="0"/>
              <a:t>intended, and information transfers across the ligand set. This is exactly what</a:t>
            </a:r>
          </a:p>
          <a:p>
            <a:r>
              <a:rPr dirty="0"/>
              <a:t>Shields et al. do in EDBO.</a:t>
            </a:r>
          </a:p>
          <a:p>
            <a:endParaRPr dirty="0"/>
          </a:p>
          <a:p>
            <a:r>
              <a:rPr dirty="0"/>
              <a:t>Name the alternatives at 10 seconds each: Gryffin (KDE over categories, accepts</a:t>
            </a:r>
          </a:p>
          <a:p>
            <a:r>
              <a:rPr dirty="0"/>
              <a:t>expert descriptors), categorical/Hamming overlap kernels, </a:t>
            </a:r>
            <a:r>
              <a:rPr dirty="0" err="1"/>
              <a:t>Phoenics</a:t>
            </a:r>
            <a:r>
              <a:rPr dirty="0"/>
              <a:t>, and random</a:t>
            </a:r>
          </a:p>
          <a:p>
            <a:r>
              <a:rPr dirty="0"/>
              <a:t>forests which handle categorical splits natively.</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1C231-7F82-BB90-2DD7-CD11E7A0B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028DE-B6D3-6D8E-0583-B87FBB21D46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2F49B9E-B223-28D7-AC86-8D72B306EB54}"/>
              </a:ext>
            </a:extLst>
          </p:cNvPr>
          <p:cNvSpPr>
            <a:spLocks noGrp="1"/>
          </p:cNvSpPr>
          <p:nvPr>
            <p:ph type="body" sz="quarter" idx="3"/>
          </p:nvPr>
        </p:nvSpPr>
        <p:spPr/>
        <p:txBody>
          <a:bodyPr/>
          <a:lstStyle/>
          <a:p>
            <a:r>
              <a:rPr dirty="0"/>
              <a:t>The published version of the honest close. Students over-index on acquisition</a:t>
            </a:r>
          </a:p>
          <a:p>
            <a:r>
              <a:rPr dirty="0"/>
              <a:t>functions because they are the mathematically prettiest part of the subject —</a:t>
            </a:r>
          </a:p>
          <a:p>
            <a:r>
              <a:rPr dirty="0"/>
              <a:t>here is the evidence that the choice is close to a wash.</a:t>
            </a:r>
          </a:p>
          <a:p>
            <a:endParaRPr dirty="0"/>
          </a:p>
          <a:p>
            <a:r>
              <a:rPr dirty="0"/>
              <a:t>Point at the two dashed grey curves (exploit, explore) that clearly lag, then at</a:t>
            </a:r>
          </a:p>
          <a:p>
            <a:r>
              <a:rPr dirty="0"/>
              <a:t>the cluster of everything else. The lesson is not "acquisition functions do not</a:t>
            </a:r>
          </a:p>
          <a:p>
            <a:r>
              <a:rPr dirty="0"/>
              <a:t>matter", it is "the balanced ones are all fine, and the unbalanced ones are not".</a:t>
            </a:r>
          </a:p>
          <a:p>
            <a:endParaRPr dirty="0"/>
          </a:p>
          <a:p>
            <a:r>
              <a:rPr dirty="0"/>
              <a:t>The red strip is the transition into the rest of the lecture: those three things are</a:t>
            </a:r>
          </a:p>
          <a:p>
            <a:r>
              <a:rPr dirty="0"/>
              <a:t>sections 6, 5b and 10 respectively.</a:t>
            </a:r>
          </a:p>
          <a:p>
            <a:endParaRPr dirty="0"/>
          </a:p>
          <a:p>
            <a:r>
              <a:rPr dirty="0"/>
              <a:t>Tutorial hook: "This afternoon you will run EI against UCB and see this yourself."</a:t>
            </a:r>
          </a:p>
        </p:txBody>
      </p:sp>
      <p:sp>
        <p:nvSpPr>
          <p:cNvPr id="4" name="Slide Number Placeholder 3">
            <a:extLst>
              <a:ext uri="{FF2B5EF4-FFF2-40B4-BE49-F238E27FC236}">
                <a16:creationId xmlns:a16="http://schemas.microsoft.com/office/drawing/2014/main" id="{3419BA74-71D8-6DFB-C9B4-3A787F67E346}"/>
              </a:ext>
            </a:extLst>
          </p:cNvPr>
          <p:cNvSpPr>
            <a:spLocks noGrp="1"/>
          </p:cNvSpPr>
          <p:nvPr>
            <p:ph type="sldNum" sz="quarter" idx="5"/>
          </p:nvPr>
        </p:nvSpPr>
        <p:spPr/>
      </p:sp>
    </p:spTree>
    <p:extLst>
      <p:ext uri="{BB962C8B-B14F-4D97-AF65-F5344CB8AC3E}">
        <p14:creationId xmlns:p14="http://schemas.microsoft.com/office/powerpoint/2010/main" val="9797654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table, then the generous close. The honest industrial workflow really is</a:t>
            </a:r>
          </a:p>
          <a:p>
            <a:r>
              <a:rPr dirty="0"/>
              <a:t>screening DOE followed by BO on the reduced space — say so. It respects Schmidt's</a:t>
            </a:r>
          </a:p>
          <a:p>
            <a:r>
              <a:rPr dirty="0"/>
              <a:t>morning and it is what people actually do.</a:t>
            </a:r>
          </a:p>
          <a:p>
            <a:endParaRPr dirty="0"/>
          </a:p>
          <a:p>
            <a:r>
              <a:rPr dirty="0"/>
              <a:t>Do not linger. Two minutes maximum on this slide; the triptych did the persuading.</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one minute each. Spend the extra breath on the drug-design box: the surrogate</a:t>
            </a:r>
          </a:p>
          <a:p>
            <a:r>
              <a:rPr dirty="0"/>
              <a:t>there is a neural-network ensemble, not a GP, because n is 100 million. That makes</a:t>
            </a:r>
          </a:p>
          <a:p>
            <a:r>
              <a:rPr dirty="0"/>
              <a:t>the "GPs are natural FOR YOUR REGIME" caveat concrete rather than abstract, and it</a:t>
            </a:r>
          </a:p>
          <a:p>
            <a:r>
              <a:rPr dirty="0"/>
              <a:t>sets up the final section.</a:t>
            </a:r>
          </a:p>
          <a:p>
            <a:endParaRPr dirty="0"/>
          </a:p>
          <a:p>
            <a:r>
              <a:rPr dirty="0"/>
              <a:t>MacLeod is where you introduce the phrase "self-driving laboratory", which recurs in</a:t>
            </a:r>
          </a:p>
          <a:p>
            <a:r>
              <a:rPr dirty="0"/>
              <a:t>Thursday's agentic AI lecture.</a:t>
            </a:r>
          </a:p>
          <a:p>
            <a:endParaRPr dirty="0"/>
          </a:p>
          <a:p>
            <a:r>
              <a:rPr dirty="0"/>
              <a:t>The PROCESS box is optional filler — drop it without hesitation if you are behind.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Section marker. We are entering: 5 · Beyond the basics: multi-objective, batch, other models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Pareto figure does most of the work; the text on the right is a reading guide,</a:t>
            </a:r>
          </a:p>
          <a:p>
            <a:r>
              <a:rPr dirty="0"/>
              <a:t>not a script.</a:t>
            </a:r>
          </a:p>
          <a:p>
            <a:endParaRPr dirty="0"/>
          </a:p>
          <a:p>
            <a:r>
              <a:rPr dirty="0"/>
              <a:t>Mention the reference point in one clause — hypervolume is only a single number</a:t>
            </a:r>
          </a:p>
          <a:p>
            <a:r>
              <a:rPr dirty="0"/>
              <a:t>relative to a reference you pick, and that choice does affect the ranking.</a:t>
            </a:r>
          </a:p>
          <a:p>
            <a:endParaRPr dirty="0"/>
          </a:p>
          <a:p>
            <a:r>
              <a:rPr dirty="0"/>
              <a:t>The last line is the one to land. Attendees find it reassuring rather than</a:t>
            </a:r>
          </a:p>
          <a:p>
            <a:r>
              <a:rPr dirty="0"/>
              <a:t>threatening: the algorithm hands you a menu, and choosing from it is your job.</a:t>
            </a:r>
          </a:p>
          <a:p>
            <a:endParaRPr dirty="0"/>
          </a:p>
          <a:p>
            <a:r>
              <a:rPr dirty="0"/>
              <a:t>⏱ DESIGNATED COMPRESSION POINT. If you are behind, narrate this slide in two minutes</a:t>
            </a:r>
          </a:p>
          <a:p>
            <a:r>
              <a:rPr dirty="0"/>
              <a:t>from the Pareto figure alone and skip the right-hand column.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7AE3-572E-99B6-DAE8-D9876E09F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929C9-D690-EF67-06BC-BD024166CCA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0799DC-1453-D52C-F186-3D13D7326921}"/>
              </a:ext>
            </a:extLst>
          </p:cNvPr>
          <p:cNvSpPr>
            <a:spLocks noGrp="1"/>
          </p:cNvSpPr>
          <p:nvPr>
            <p:ph type="body" sz="quarter" idx="3"/>
          </p:nvPr>
        </p:nvSpPr>
        <p:spPr/>
        <p:txBody>
          <a:bodyPr/>
          <a:lstStyle/>
          <a:p>
            <a:r>
              <a:rPr dirty="0"/>
              <a:t>The most useful slide in the lecture for anyone who goes home and tries this.</a:t>
            </a:r>
          </a:p>
          <a:p>
            <a:r>
              <a:rPr dirty="0"/>
              <a:t>Frame it exactly as the title says: "you will hit at least two of these."</a:t>
            </a:r>
          </a:p>
          <a:p>
            <a:endParaRPr dirty="0"/>
          </a:p>
          <a:p>
            <a:r>
              <a:rPr dirty="0"/>
              <a:t>BOUNDS is the one to dwell on — chemically the most common and most invisible</a:t>
            </a:r>
          </a:p>
          <a:p>
            <a:r>
              <a:rPr dirty="0"/>
              <a:t>failure. The campaign converges beautifully, the diagnostics look healthy, and the</a:t>
            </a:r>
          </a:p>
          <a:p>
            <a:r>
              <a:rPr dirty="0"/>
              <a:t>answer is wrong because the optimum was never inside the box.</a:t>
            </a:r>
          </a:p>
          <a:p>
            <a:endParaRPr dirty="0"/>
          </a:p>
          <a:p>
            <a:r>
              <a:rPr dirty="0"/>
              <a:t>Tell them to photograph this one too.</a:t>
            </a:r>
          </a:p>
        </p:txBody>
      </p:sp>
      <p:sp>
        <p:nvSpPr>
          <p:cNvPr id="4" name="Slide Number Placeholder 3">
            <a:extLst>
              <a:ext uri="{FF2B5EF4-FFF2-40B4-BE49-F238E27FC236}">
                <a16:creationId xmlns:a16="http://schemas.microsoft.com/office/drawing/2014/main" id="{DC6FAA82-9FD6-DB73-C558-E0B64E3737BB}"/>
              </a:ext>
            </a:extLst>
          </p:cNvPr>
          <p:cNvSpPr>
            <a:spLocks noGrp="1"/>
          </p:cNvSpPr>
          <p:nvPr>
            <p:ph type="sldNum" sz="quarter" idx="5"/>
          </p:nvPr>
        </p:nvSpPr>
        <p:spPr/>
      </p:sp>
    </p:spTree>
    <p:extLst>
      <p:ext uri="{BB962C8B-B14F-4D97-AF65-F5344CB8AC3E}">
        <p14:creationId xmlns:p14="http://schemas.microsoft.com/office/powerpoint/2010/main" val="30148808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to three minutes. The clustering figure makes the problem obvious in two</a:t>
            </a:r>
          </a:p>
          <a:p>
            <a:r>
              <a:t>seconds; the four fixes are one line each.</a:t>
            </a:r>
          </a:p>
          <a:p>
            <a:endParaRPr/>
          </a:p>
          <a:p>
            <a:r>
              <a:t>⚠️ Be precise on the third bullet — these are three distinct methods that get merged</a:t>
            </a:r>
          </a:p>
          <a:p>
            <a:r>
              <a:t>constantly:</a:t>
            </a:r>
          </a:p>
          <a:p>
            <a:r>
              <a:t>  - CONSTANT LIAR (Ginsbourger) inserts a FIXED CONSTANT — often min or mean of</a:t>
            </a:r>
          </a:p>
          <a:p>
            <a:r>
              <a:t>    observed y — precisely so it does not depend on the model's prediction;</a:t>
            </a:r>
          </a:p>
          <a:p>
            <a:r>
              <a:t>  - KRIGING BELIEVER inserts the MODEL'S OWN PREDICTION;</a:t>
            </a:r>
          </a:p>
          <a:p>
            <a:r>
              <a:t>  - LOCAL PENALIZATION (Gonzalez et al. 2016) fabricates nothing; it multiplies the</a:t>
            </a:r>
          </a:p>
          <a:p>
            <a:r>
              <a:t>    acquisition by a Lipschitz-derived penalty around already-selected points.</a:t>
            </a:r>
          </a:p>
          <a:p>
            <a:endParaRPr/>
          </a:p>
          <a:p>
            <a:endParaRPr/>
          </a:p>
          <a:p>
            <a:r>
              <a:t>————————————————————————————————————————————————</a:t>
            </a:r>
          </a:p>
          <a:p>
            <a:r>
              <a:t>THE MATHS, FOR THE THIRD AND FOURTH BULLETS</a:t>
            </a:r>
          </a:p>
          <a:p>
            <a:endParaRPr/>
          </a:p>
          <a:p>
            <a:r>
              <a:t>All the greedy batch methods share one skeleton. Build the batch one point at</a:t>
            </a:r>
          </a:p>
          <a:p>
            <a:r>
              <a:t>a time, and before choosing point k, pretend the k-1 points already chosen</a:t>
            </a:r>
          </a:p>
          <a:p>
            <a:r>
              <a:t>have come back with a result:</a:t>
            </a:r>
          </a:p>
          <a:p>
            <a:endParaRPr/>
          </a:p>
          <a:p>
            <a:r>
              <a:t>    x_k  =  argmax_x  alpha( x | D u { (x_j, y_hat_j) }_{j&lt;k} ),    k = 1..q</a:t>
            </a:r>
          </a:p>
          <a:p>
            <a:endParaRPr/>
          </a:p>
          <a:p>
            <a:r>
              <a:t>Nothing has actually been measured. The fake y_hat_j exists only to update the</a:t>
            </a:r>
          </a:p>
          <a:p>
            <a:r>
              <a:t>posterior so that the next argmax lands somewhere new. The methods differ in</a:t>
            </a:r>
          </a:p>
          <a:p>
            <a:r>
              <a:t>one place only — what you put in for y_hat_j:</a:t>
            </a:r>
          </a:p>
          <a:p>
            <a:endParaRPr/>
          </a:p>
          <a:p>
            <a:r>
              <a:t>  CONSTANT LIAR   (Ginsbourger, Le Riche &amp; Carraro 2010)</a:t>
            </a:r>
          </a:p>
          <a:p>
            <a:r>
              <a:t>      y_hat_j = L for all j, where L is a FIXED CONSTANT chosen in advance and</a:t>
            </a:r>
          </a:p>
          <a:p>
            <a:r>
              <a:t>      deliberately independent of the model:</a:t>
            </a:r>
          </a:p>
          <a:p>
            <a:r>
              <a:t>          L = min(y)   pessimistic — spreads the batch most aggressively</a:t>
            </a:r>
          </a:p>
          <a:p>
            <a:r>
              <a:t>          L = mean(y)  the usual default</a:t>
            </a:r>
          </a:p>
          <a:p>
            <a:r>
              <a:t>          L = max(y)   optimistic — keeps the batch clustered</a:t>
            </a:r>
          </a:p>
          <a:p>
            <a:r>
              <a:t>      The point of a constant is that it cannot inherit the model's own bias.</a:t>
            </a:r>
          </a:p>
          <a:p>
            <a:endParaRPr/>
          </a:p>
          <a:p>
            <a:r>
              <a:t>  KRIGING BELIEVER   (same paper)</a:t>
            </a:r>
          </a:p>
          <a:p>
            <a:r>
              <a:t>      y_hat_j = mu(x_j), the posterior mean at the point just chosen.</a:t>
            </a:r>
          </a:p>
          <a:p>
            <a:r>
              <a:t>      Subtle but important: inserting the mean leaves mu roughly unchanged at</a:t>
            </a:r>
          </a:p>
          <a:p>
            <a:r>
              <a:t>      x_j — what actually changes is sigma, which collapses to ~sigma_n there.</a:t>
            </a:r>
          </a:p>
          <a:p>
            <a:r>
              <a:t>      So the deterrent is entirely the loss of uncertainty. Failure mode: if</a:t>
            </a:r>
          </a:p>
          <a:p>
            <a:r>
              <a:t>      mu is confidently wrong in an unexplored region, the whole batch follows</a:t>
            </a:r>
          </a:p>
          <a:p>
            <a:r>
              <a:t>      it there.</a:t>
            </a:r>
          </a:p>
          <a:p>
            <a:endParaRPr/>
          </a:p>
          <a:p>
            <a:r>
              <a:t>  LOCAL PENALIZATION   (Gonzalez, Dai, Hennig &amp; Lawrence, AISTATS 2016)</a:t>
            </a:r>
          </a:p>
          <a:p>
            <a:r>
              <a:t>      Fabricates nothing at all:</a:t>
            </a:r>
          </a:p>
          <a:p>
            <a:r>
              <a:t>          x_k = argmax_x  alpha(x) * prod_{j&lt;k} phi(x ; x_j)</a:t>
            </a:r>
          </a:p>
          <a:p>
            <a:r>
              <a:t>      phi is a soft exclusion bubble around each already-chosen point, and its</a:t>
            </a:r>
          </a:p>
          <a:p>
            <a:r>
              <a:t>      radius is derived from an estimate of the Lipschitz constant of f — i.e.</a:t>
            </a:r>
          </a:p>
          <a:p>
            <a:r>
              <a:t>      from how fast the response can physically change. Cleaner assumption,</a:t>
            </a:r>
          </a:p>
          <a:p>
            <a:r>
              <a:t>      and it degrades gracefully.</a:t>
            </a:r>
          </a:p>
          <a:p>
            <a:endParaRPr/>
          </a:p>
          <a:p>
            <a:r>
              <a:t>ONE-LINE SUMMARY TO SAY OUT LOUD</a:t>
            </a:r>
          </a:p>
          <a:p>
            <a:r>
              <a:t>Constant liar inserts a NUMBER. Kriging believer inserts a PREDICTION. Local</a:t>
            </a:r>
          </a:p>
          <a:p>
            <a:r>
              <a:t>penalization inserts NOTHING and multiplies the acquisition instead.</a:t>
            </a:r>
          </a:p>
          <a:p>
            <a:endParaRPr/>
          </a:p>
          <a:p>
            <a:r>
              <a:t>And the exact version — q-EI, which optimises the whole batch jointly instead</a:t>
            </a:r>
          </a:p>
          <a:p>
            <a:r>
              <a:t>of one point at a time — is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formal version of the first bullet on the batching slide.</a:t>
            </a:r>
          </a:p>
          <a:p>
            <a:r>
              <a:t>Two minutes. The equation is the point; the three columns are a reading guide.</a:t>
            </a:r>
          </a:p>
          <a:p>
            <a:endParaRPr/>
          </a:p>
          <a:p>
            <a:r>
              <a:t>READ THE EQUATION OUT LOUD, IN THIS ORDER</a:t>
            </a:r>
          </a:p>
          <a:p>
            <a:r>
              <a:t>  1. X = {x1, ..., xq} — a batch is ONE argument, a set, not q separate ones.</a:t>
            </a:r>
          </a:p>
          <a:p>
            <a:r>
              <a:t>  2. f+ — the incumbent, the best value so far. Same f+ as ordinary EI.</a:t>
            </a:r>
          </a:p>
          <a:p>
            <a:r>
              <a:t>  3. max over i — over the members of the batch.</a:t>
            </a:r>
          </a:p>
          <a:p>
            <a:r>
              <a:t>  4. max(0, .) — improvement is one-sided; a batch is never punished for a</a:t>
            </a:r>
          </a:p>
          <a:p>
            <a:r>
              <a:t>     member that turns out worse than f+.</a:t>
            </a:r>
          </a:p>
          <a:p>
            <a:r>
              <a:t>  5. E[.] — expectation over the GP posterior of f at all q points JOINTLY,</a:t>
            </a:r>
          </a:p>
          <a:p>
            <a:r>
              <a:t>     using the full q x q covariance. The joint covariance is what encodes</a:t>
            </a:r>
          </a:p>
          <a:p>
            <a:r>
              <a:t>     "these two wells are near each other".</a:t>
            </a:r>
          </a:p>
          <a:p>
            <a:endParaRPr/>
          </a:p>
          <a:p>
            <a:r>
              <a:t>WHY THE INNER MAX MATTERS — the sentence to land</a:t>
            </a:r>
          </a:p>
          <a:p>
            <a:r>
              <a:t>If you instead summed the individual EIs, sum_i EI(x_i), the maximiser is q</a:t>
            </a:r>
          </a:p>
          <a:p>
            <a:r>
              <a:t>copies of the single best point: each copy contributes full value. With the</a:t>
            </a:r>
          </a:p>
          <a:p>
            <a:r>
              <a:t>max inside, the batch is rewarded once for its best member, so a second point</a:t>
            </a:r>
          </a:p>
          <a:p>
            <a:r>
              <a:t>near the first adds almost nothing, and the optimiser is pushed to spread out.</a:t>
            </a:r>
          </a:p>
          <a:p>
            <a:r>
              <a:t>Diversity is not bolted on. It falls out of the definition.</a:t>
            </a:r>
          </a:p>
          <a:p>
            <a:endParaRPr/>
          </a:p>
          <a:p>
            <a:r>
              <a:t>This is the same structure as EHVI on slide 37: reward the SET, not the members.</a:t>
            </a:r>
          </a:p>
          <a:p>
            <a:endParaRPr/>
          </a:p>
          <a:p>
            <a:r>
              <a:t>COMPUTATION</a:t>
            </a:r>
          </a:p>
          <a:p>
            <a:r>
              <a:t>q = 1 recovers ordinary EI, closed form. q = 2 has a closed form</a:t>
            </a:r>
          </a:p>
          <a:p>
            <a:r>
              <a:t>(Ginsbourger). Beyond that, Monte Carlo: draw f~t from the joint posterior,</a:t>
            </a:r>
          </a:p>
          <a:p>
            <a:r>
              <a:t>evaluate the inner maxes, average. Use the reparameterisation trick</a:t>
            </a:r>
          </a:p>
          <a:p>
            <a:r>
              <a:t>(f~ = mu + L z, z ~ N(0,I), L the Cholesky of the posterior covariance) so the</a:t>
            </a:r>
          </a:p>
          <a:p>
            <a:r>
              <a:t>estimator is differentiable in X and you can run L-BFGS on it; use Sobol</a:t>
            </a:r>
          </a:p>
          <a:p>
            <a:r>
              <a:t>sequences rather than plain random draws for lower variance. That is exactly</a:t>
            </a:r>
          </a:p>
          <a:p>
            <a:r>
              <a:t>what BoTorch's qExpectedImprovement does, and it is why they call the family</a:t>
            </a:r>
          </a:p>
          <a:p>
            <a:r>
              <a:t>"MC acquisition functions".</a:t>
            </a:r>
          </a:p>
          <a:p>
            <a:endParaRPr/>
          </a:p>
          <a:p>
            <a:r>
              <a:t>Cost: the search space is q*d dimensional, and every objective evaluation is</a:t>
            </a:r>
          </a:p>
          <a:p>
            <a:r>
              <a:t>an N-sample average. For a 96-well plate this is why nobody optimises q = 96</a:t>
            </a:r>
          </a:p>
          <a:p>
            <a:r>
              <a:t>jointly.</a:t>
            </a:r>
          </a:p>
          <a:p>
            <a:endParaRPr/>
          </a:p>
          <a:p>
            <a:r>
              <a:t>MATHS OF THE GREEDY ALTERNATIVES  (the fallback when joint q-EI is too dear)</a:t>
            </a:r>
          </a:p>
          <a:p>
            <a:r>
              <a:t>Build the batch one point at a time, each time pretending the previous picks</a:t>
            </a:r>
          </a:p>
          <a:p>
            <a:r>
              <a:t>have already returned a result:</a:t>
            </a:r>
          </a:p>
          <a:p>
            <a:endParaRPr/>
          </a:p>
          <a:p>
            <a:r>
              <a:t>    x_k  =  argmax_x  alpha( x | D u { (x_j, y_hat_j) }_{j&lt;k} ),   k = 1..q</a:t>
            </a:r>
          </a:p>
          <a:p>
            <a:endParaRPr/>
          </a:p>
          <a:p>
            <a:r>
              <a:t>The three methods differ ONLY in what fake y_hat_j they insert:</a:t>
            </a:r>
          </a:p>
          <a:p>
            <a:endParaRPr/>
          </a:p>
          <a:p>
            <a:r>
              <a:t>    CONSTANT LIAR      y_hat_j = L, a fixed constant, chosen once and not</a:t>
            </a:r>
          </a:p>
          <a:p>
            <a:r>
              <a:t>                       depending on the model. L = min(y) is pessimistic and</a:t>
            </a:r>
          </a:p>
          <a:p>
            <a:r>
              <a:t>                       spreads the batch hardest; L = max(y) is optimistic;</a:t>
            </a:r>
          </a:p>
          <a:p>
            <a:r>
              <a:t>                       L = mean(y) is the usual compromise. (Ginsbourger 2010)</a:t>
            </a:r>
          </a:p>
          <a:p>
            <a:endParaRPr/>
          </a:p>
          <a:p>
            <a:r>
              <a:t>    KRIGING BELIEVER   y_hat_j = mu(x_j), the model's own posterior mean.</a:t>
            </a:r>
          </a:p>
          <a:p>
            <a:r>
              <a:t>                       Note this leaves mu unchanged at x_j but COLLAPSES</a:t>
            </a:r>
          </a:p>
          <a:p>
            <a:r>
              <a:t>                       sigma there, which is what actually deters the next</a:t>
            </a:r>
          </a:p>
          <a:p>
            <a:r>
              <a:t>                       pick. Risk: the model believes its own extrapolation</a:t>
            </a:r>
          </a:p>
          <a:p>
            <a:r>
              <a:t>                       and the batch drifts.</a:t>
            </a:r>
          </a:p>
          <a:p>
            <a:endParaRPr/>
          </a:p>
          <a:p>
            <a:r>
              <a:t>    LOCAL PENALIZATION fabricates nothing. Instead</a:t>
            </a:r>
          </a:p>
          <a:p>
            <a:r>
              <a:t>                           x_k = argmax_x  alpha(x) * prod_{j&lt;k} phi(x; x_j)</a:t>
            </a:r>
          </a:p>
          <a:p>
            <a:r>
              <a:t>                       with phi a soft exclusion zone whose radius comes from</a:t>
            </a:r>
          </a:p>
          <a:p>
            <a:r>
              <a:t>                       an estimate of the Lipschitz constant of f.</a:t>
            </a:r>
          </a:p>
          <a:p>
            <a:r>
              <a:t>                       (Gonzalez, Dai, Hennig &amp; Lawrence, AISTATS 2016)</a:t>
            </a:r>
          </a:p>
          <a:p>
            <a:endParaRPr/>
          </a:p>
          <a:p>
            <a:r>
              <a:t>Say the one-liner: constant liar inserts a NUMBER, Kriging believer inserts a</a:t>
            </a:r>
          </a:p>
          <a:p>
            <a:r>
              <a:t>PREDICTION, local penalization inserts NOTHING and multiplies instead.</a:t>
            </a:r>
          </a:p>
          <a:p>
            <a:endParaRPr/>
          </a:p>
          <a:p>
            <a:r>
              <a:t>Pure greedy, for completeness: alpha_greedy(x) = mu(x). No uncertainty term at</a:t>
            </a:r>
          </a:p>
          <a:p>
            <a:r>
              <a:t>all. It is the beta = 0 corner of UCB and the reason the "exploit" trace on</a:t>
            </a:r>
          </a:p>
          <a:p>
            <a:r>
              <a:t>slide 17 never leaves its cluster.</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most useful slide in the lecture for anyone who goes home and tries this.</a:t>
            </a:r>
          </a:p>
          <a:p>
            <a:r>
              <a:rPr dirty="0"/>
              <a:t>Frame it exactly as the title says: "you will hit at least two of these."</a:t>
            </a:r>
          </a:p>
          <a:p>
            <a:endParaRPr dirty="0"/>
          </a:p>
          <a:p>
            <a:r>
              <a:rPr dirty="0"/>
              <a:t>BOUNDS is the one to dwell on — chemically the most common and most invisible</a:t>
            </a:r>
          </a:p>
          <a:p>
            <a:r>
              <a:rPr dirty="0"/>
              <a:t>failure. The campaign converges beautifully, the diagnostics look healthy, and the</a:t>
            </a:r>
          </a:p>
          <a:p>
            <a:r>
              <a:rPr dirty="0"/>
              <a:t>answer is wrong because the optimum was never inside the box.</a:t>
            </a:r>
          </a:p>
          <a:p>
            <a:endParaRPr dirty="0"/>
          </a:p>
          <a:p>
            <a:r>
              <a:rPr dirty="0"/>
              <a:t>Tell them to photograph this one too.</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BO needs a model that returns a mean AND an uncertainty. It does not need a GP.</a:t>
            </a:r>
          </a:p>
          <a:p>
            <a:r>
              <a:rPr dirty="0"/>
              <a:t>One slide, and the rule of thumb at the bottom is what they should remember.</a:t>
            </a:r>
          </a:p>
          <a:p>
            <a:endParaRPr dirty="0"/>
          </a:p>
          <a:p>
            <a:r>
              <a:rPr dirty="0"/>
              <a:t>This is also where the earlier honesty pays off — you told them at the GP section</a:t>
            </a:r>
          </a:p>
          <a:p>
            <a:r>
              <a:rPr dirty="0"/>
              <a:t>that "most natural fit" only holds in the small-n, low-d, continuous regime, and</a:t>
            </a:r>
          </a:p>
          <a:p>
            <a:r>
              <a:rPr dirty="0"/>
              <a:t>here is the other side of that.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by putting the BO/AL boundary back up. You showed it at the start as scope;</a:t>
            </a:r>
          </a:p>
          <a:p>
            <a:r>
              <a:rPr dirty="0"/>
              <a:t>now it is the bridge.</a:t>
            </a:r>
          </a:p>
          <a:p>
            <a:endParaRPr dirty="0"/>
          </a:p>
          <a:p>
            <a:r>
              <a:rPr dirty="0"/>
              <a:t>Then recall the observation from the closed-form slide — that posterior variance</a:t>
            </a:r>
          </a:p>
          <a:p>
            <a:r>
              <a:rPr dirty="0"/>
              <a:t>does not depend on the measured values (at fixed hyperparameters) — and note that</a:t>
            </a:r>
          </a:p>
          <a:p>
            <a:r>
              <a:rPr dirty="0"/>
              <a:t>this is precisely what makes uncertainty-driven Active Learning possible. A clean,</a:t>
            </a:r>
          </a:p>
          <a:p>
            <a:r>
              <a:rPr dirty="0"/>
              <a:t>honest cliffhanger.</a:t>
            </a:r>
          </a:p>
          <a:p>
            <a:endParaRPr dirty="0"/>
          </a:p>
          <a:p>
            <a:r>
              <a:rPr dirty="0"/>
              <a:t>If you do not draw this line explicitly, you will spend the first 15 minutes of</a:t>
            </a:r>
          </a:p>
          <a:p>
            <a:r>
              <a:rPr dirty="0"/>
              <a:t>tomorrow's lecture undoing confusion.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Leave up during questions. Full annotated list with DOIs is in the lecture plan document.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Full annotated list with verified DOIs is in lecture_12_bayesian-optimization_PLAN.md.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AFCFE-30EA-15C2-0079-CE50B05747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9BCADC-8577-51CC-4FFC-BFAE04D982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471E36-766F-27F9-934F-42CA4EF8E775}"/>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5" name="Footer Placeholder 4">
            <a:extLst>
              <a:ext uri="{FF2B5EF4-FFF2-40B4-BE49-F238E27FC236}">
                <a16:creationId xmlns:a16="http://schemas.microsoft.com/office/drawing/2014/main" id="{E2D16339-2319-9405-5169-0E1AD0167D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72EE86-1EA0-452C-1FDF-12394A036A65}"/>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460780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3BD33-4213-E577-B6E8-AD845ED6FE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DB018D-C286-CF14-EB8F-74FAC0874C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F17B41-F21B-FE25-EEA1-91FEDB018798}"/>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5" name="Footer Placeholder 4">
            <a:extLst>
              <a:ext uri="{FF2B5EF4-FFF2-40B4-BE49-F238E27FC236}">
                <a16:creationId xmlns:a16="http://schemas.microsoft.com/office/drawing/2014/main" id="{0DA035A8-2A44-4925-E6F2-FB2DC50A57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D111F9-59D8-00C5-BBDC-B5E10B1DC849}"/>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2181452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01A0-EEE7-4CE8-86EB-6B668C834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8FDC73-D696-3AB6-59AE-14C9B9C428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C7F559-1384-FB6E-4197-6959805EAABD}"/>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5" name="Footer Placeholder 4">
            <a:extLst>
              <a:ext uri="{FF2B5EF4-FFF2-40B4-BE49-F238E27FC236}">
                <a16:creationId xmlns:a16="http://schemas.microsoft.com/office/drawing/2014/main" id="{8138BD67-6739-D45F-6AD7-1131E3E25A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BF6FB-9889-7539-0F3A-27661D1CE5A3}"/>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4208642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BC13D-EE92-D1C8-42C3-D9D502AC5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ED61BD-5137-CA14-767E-DD95B48885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369210-EE0D-D7C0-53BE-9DF1BF2822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0D91EB-E133-C8EF-6965-51CAF69F5215}"/>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6" name="Footer Placeholder 5">
            <a:extLst>
              <a:ext uri="{FF2B5EF4-FFF2-40B4-BE49-F238E27FC236}">
                <a16:creationId xmlns:a16="http://schemas.microsoft.com/office/drawing/2014/main" id="{ED1C8067-8D45-18D8-B318-CE442E3D79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5EC5D3-51E5-62FD-4869-4B329DE85B59}"/>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3655424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4D919-B29D-3F0A-AFA2-3CE5ABEB5C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3AC8F1-B8D9-96C9-42FD-A11CE39703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21CD45-EDB7-32B2-7A43-CB149B1869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26979-DEFA-6291-2B1B-F02D324121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16046F-BF91-EA7C-A63E-E6A9BBDEA8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59EA03-587B-93E1-F15C-A9F86D1F0631}"/>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8" name="Footer Placeholder 7">
            <a:extLst>
              <a:ext uri="{FF2B5EF4-FFF2-40B4-BE49-F238E27FC236}">
                <a16:creationId xmlns:a16="http://schemas.microsoft.com/office/drawing/2014/main" id="{ABCE48CA-DAF8-7420-9F13-C8574E6159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2382CD-D4DA-DACB-D27D-1E2A78645BA0}"/>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3038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3478-7586-DAD0-BBAC-9C50EF2748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3DAAA4-4012-8CB9-750B-AA3556074E0E}"/>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4" name="Footer Placeholder 3">
            <a:extLst>
              <a:ext uri="{FF2B5EF4-FFF2-40B4-BE49-F238E27FC236}">
                <a16:creationId xmlns:a16="http://schemas.microsoft.com/office/drawing/2014/main" id="{A43BD9A9-FAE9-187D-66D8-CF50C6197E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EBA2B7-7364-8FFC-4934-C4DC6F77CAD2}"/>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389408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300C1E-3393-ADC2-C850-585C4F4E2848}"/>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3" name="Footer Placeholder 2">
            <a:extLst>
              <a:ext uri="{FF2B5EF4-FFF2-40B4-BE49-F238E27FC236}">
                <a16:creationId xmlns:a16="http://schemas.microsoft.com/office/drawing/2014/main" id="{1BCEAA1D-1CAA-7DE7-80BE-08E99110E6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E86C34-2ED5-AA80-B028-9B03C125A104}"/>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355686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3D578-5F56-3E94-CC1B-0A51EA2F5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93D991-13BF-348D-F9DA-EC5B1C00D2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76D522-9CFA-C907-3B26-95022DAFAD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ABBC84-2ED7-4308-263A-1542129F4DF0}"/>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6" name="Footer Placeholder 5">
            <a:extLst>
              <a:ext uri="{FF2B5EF4-FFF2-40B4-BE49-F238E27FC236}">
                <a16:creationId xmlns:a16="http://schemas.microsoft.com/office/drawing/2014/main" id="{9165E1AF-B534-32E7-5217-13BF5C4CA0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EFC9D2-9869-6D45-6BA5-0998E02ED599}"/>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3969207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2FFE4-B64F-1071-4B8D-24548C548C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17446C-C381-ADE6-BCF2-84D7659A70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BC11A1-E8D9-F82C-99E2-1137493CBD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C2BE3-526B-3449-C080-B55F9D9E60E9}"/>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6" name="Footer Placeholder 5">
            <a:extLst>
              <a:ext uri="{FF2B5EF4-FFF2-40B4-BE49-F238E27FC236}">
                <a16:creationId xmlns:a16="http://schemas.microsoft.com/office/drawing/2014/main" id="{1BB63DBE-F065-4FDB-E3ED-A9FB5C5F57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35CE51-E186-B11C-5FC3-6B32A68B951B}"/>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4109546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E236-F7BC-E54A-E355-875C14D2EA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67A2AB-EF55-75CD-2713-84DFC0D16A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ACE04C-0D94-10F9-28B1-C11E96487B52}"/>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5" name="Footer Placeholder 4">
            <a:extLst>
              <a:ext uri="{FF2B5EF4-FFF2-40B4-BE49-F238E27FC236}">
                <a16:creationId xmlns:a16="http://schemas.microsoft.com/office/drawing/2014/main" id="{A1008AAA-3F74-6592-9D94-4F1891B38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A6D591-D272-CEB0-9C06-DFA79A16AFFA}"/>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2373995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22C35C-21AB-B0E1-47A6-FBB660E617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8D8866-F016-7611-08A1-862A6ADA28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62830B-991D-CF25-D982-3B8A8CB0C263}"/>
              </a:ext>
            </a:extLst>
          </p:cNvPr>
          <p:cNvSpPr>
            <a:spLocks noGrp="1"/>
          </p:cNvSpPr>
          <p:nvPr>
            <p:ph type="dt" sz="half" idx="10"/>
          </p:nvPr>
        </p:nvSpPr>
        <p:spPr/>
        <p:txBody>
          <a:bodyPr/>
          <a:lstStyle/>
          <a:p>
            <a:fld id="{D96C5ABB-601C-F448-8A76-D4082F0C0AAD}" type="datetimeFigureOut">
              <a:rPr lang="en-US" smtClean="0"/>
              <a:t>8/18/26</a:t>
            </a:fld>
            <a:endParaRPr lang="en-US"/>
          </a:p>
        </p:txBody>
      </p:sp>
      <p:sp>
        <p:nvSpPr>
          <p:cNvPr id="5" name="Footer Placeholder 4">
            <a:extLst>
              <a:ext uri="{FF2B5EF4-FFF2-40B4-BE49-F238E27FC236}">
                <a16:creationId xmlns:a16="http://schemas.microsoft.com/office/drawing/2014/main" id="{AE4C3DF2-14AC-0994-0929-F147638F21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2D98ED-BD7A-DBA9-3FA8-660610FF275E}"/>
              </a:ext>
            </a:extLst>
          </p:cNvPr>
          <p:cNvSpPr>
            <a:spLocks noGrp="1"/>
          </p:cNvSpPr>
          <p:nvPr>
            <p:ph type="sldNum" sz="quarter" idx="12"/>
          </p:nvPr>
        </p:nvSpPr>
        <p:spPr/>
        <p:txBody>
          <a:bodyPr/>
          <a:lstStyle/>
          <a:p>
            <a:fld id="{24563871-F1B6-D840-9C88-904650160399}" type="slidenum">
              <a:rPr lang="en-US" smtClean="0"/>
              <a:t>‹#›</a:t>
            </a:fld>
            <a:endParaRPr lang="en-US"/>
          </a:p>
        </p:txBody>
      </p:sp>
    </p:spTree>
    <p:extLst>
      <p:ext uri="{BB962C8B-B14F-4D97-AF65-F5344CB8AC3E}">
        <p14:creationId xmlns:p14="http://schemas.microsoft.com/office/powerpoint/2010/main" val="309696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B15FB3-293F-DCCE-0700-A95124D62E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D71CD0-7472-1733-B23F-23C2B9F13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665EEE-F8D1-E777-F538-DD71D31A74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6C5ABB-601C-F448-8A76-D4082F0C0AAD}" type="datetimeFigureOut">
              <a:rPr lang="en-US" smtClean="0"/>
              <a:t>8/18/26</a:t>
            </a:fld>
            <a:endParaRPr lang="en-US"/>
          </a:p>
        </p:txBody>
      </p:sp>
      <p:sp>
        <p:nvSpPr>
          <p:cNvPr id="5" name="Footer Placeholder 4">
            <a:extLst>
              <a:ext uri="{FF2B5EF4-FFF2-40B4-BE49-F238E27FC236}">
                <a16:creationId xmlns:a16="http://schemas.microsoft.com/office/drawing/2014/main" id="{19BAF20B-855C-D3FC-9254-CC3C9F7B78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9DF2E7-9883-FC25-4D8C-3F305CC3E2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563871-F1B6-D840-9C88-904650160399}" type="slidenum">
              <a:rPr lang="en-US" smtClean="0"/>
              <a:t>‹#›</a:t>
            </a:fld>
            <a:endParaRPr lang="en-US"/>
          </a:p>
        </p:txBody>
      </p:sp>
    </p:spTree>
    <p:extLst>
      <p:ext uri="{BB962C8B-B14F-4D97-AF65-F5344CB8AC3E}">
        <p14:creationId xmlns:p14="http://schemas.microsoft.com/office/powerpoint/2010/main" val="304829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gi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gif"/><Relationship Id="rId11" Type="http://schemas.openxmlformats.org/officeDocument/2006/relationships/image" Target="../media/image11.png"/><Relationship Id="rId5" Type="http://schemas.openxmlformats.org/officeDocument/2006/relationships/image" Target="../media/image5.gif"/><Relationship Id="rId10" Type="http://schemas.openxmlformats.org/officeDocument/2006/relationships/image" Target="../media/image10.png"/><Relationship Id="rId4" Type="http://schemas.openxmlformats.org/officeDocument/2006/relationships/image" Target="../media/image4.gif"/><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hyperlink" Target="https://en.wikipedia.org/wiki/Bayesian_optimization" TargetMode="External"/><Relationship Id="rId4" Type="http://schemas.openxmlformats.org/officeDocument/2006/relationships/image" Target="../media/image12.gi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20040" rIns="320040" rtlCol="0" anchor="ctr"/>
          <a:lstStyle/>
          <a:p>
            <a:pPr algn="ctr"/>
            <a:r>
              <a:rPr sz="3000" b="0" i="0">
                <a:solidFill>
                  <a:srgbClr val="000000"/>
                </a:solidFill>
                <a:latin typeface="Avenir Book"/>
              </a:rPr>
              <a:t>Bayesian Optimization</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Ins="228600" rtlCol="0" anchor="ctr"/>
          <a:lstStyle/>
          <a:p>
            <a:pPr algn="r"/>
            <a:r>
              <a:rPr sz="1600" b="0" i="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7" name="TextBox 6"/>
          <p:cNvSpPr txBox="1"/>
          <p:nvPr/>
        </p:nvSpPr>
        <p:spPr>
          <a:xfrm>
            <a:off x="502920" y="5623560"/>
            <a:ext cx="7315200" cy="600164"/>
          </a:xfrm>
          <a:prstGeom prst="rect">
            <a:avLst/>
          </a:prstGeom>
          <a:noFill/>
        </p:spPr>
        <p:txBody>
          <a:bodyPr wrap="square" lIns="0" tIns="0" rIns="0" bIns="0" anchor="t">
            <a:spAutoFit/>
          </a:bodyPr>
          <a:lstStyle/>
          <a:p>
            <a:pPr algn="l"/>
            <a:r>
              <a:rPr sz="1300" b="0" i="0" dirty="0">
                <a:solidFill>
                  <a:srgbClr val="123830"/>
                </a:solidFill>
                <a:latin typeface="Calibri"/>
              </a:rPr>
              <a:t>J. Schleinitz  ·  Tuesday, August 18, 2026  ·  RSC 275, Caltech</a:t>
            </a:r>
            <a:endParaRPr lang="en-US" sz="1300" b="0" i="0" dirty="0">
              <a:solidFill>
                <a:srgbClr val="123830"/>
              </a:solidFill>
              <a:latin typeface="Calibri"/>
            </a:endParaRPr>
          </a:p>
          <a:p>
            <a:pPr algn="l"/>
            <a:endParaRPr lang="en-US" sz="1300" b="0" i="0" dirty="0">
              <a:solidFill>
                <a:srgbClr val="123830"/>
              </a:solidFill>
              <a:latin typeface="Calibri"/>
            </a:endParaRPr>
          </a:p>
          <a:p>
            <a:pPr algn="l"/>
            <a:r>
              <a:rPr lang="en-US" sz="1300" b="0" i="0" dirty="0">
                <a:solidFill>
                  <a:srgbClr val="123830"/>
                </a:solidFill>
                <a:latin typeface="Calibri"/>
              </a:rPr>
              <a:t>Claude Code was used for slides preparation</a:t>
            </a:r>
            <a:endParaRPr sz="1300" b="0" i="0" dirty="0">
              <a:solidFill>
                <a:srgbClr val="123830"/>
              </a:solidFill>
              <a:latin typeface="Calibri"/>
            </a:endParaRPr>
          </a:p>
        </p:txBody>
      </p:sp>
      <p:pic>
        <p:nvPicPr>
          <p:cNvPr id="8" name="Picture 7" descr="fig_00_title_gp_collapse.png">
            <a:extLst>
              <a:ext uri="{FF2B5EF4-FFF2-40B4-BE49-F238E27FC236}">
                <a16:creationId xmlns:a16="http://schemas.microsoft.com/office/drawing/2014/main" id="{67B9D74D-5933-30DD-D863-F02AC8807DCE}"/>
              </a:ext>
            </a:extLst>
          </p:cNvPr>
          <p:cNvPicPr>
            <a:picLocks noChangeAspect="1"/>
          </p:cNvPicPr>
          <p:nvPr/>
        </p:nvPicPr>
        <p:blipFill>
          <a:blip r:embed="rId4"/>
          <a:srcRect t="6036" r="47261"/>
          <a:stretch>
            <a:fillRect/>
          </a:stretch>
        </p:blipFill>
        <p:spPr>
          <a:xfrm>
            <a:off x="171844" y="1558433"/>
            <a:ext cx="4772181" cy="3741134"/>
          </a:xfrm>
          <a:prstGeom prst="rect">
            <a:avLst/>
          </a:prstGeom>
        </p:spPr>
      </p:pic>
      <p:pic>
        <p:nvPicPr>
          <p:cNvPr id="5" name="Picture 4" descr="fig_00_title_gp_collapse.png">
            <a:extLst>
              <a:ext uri="{FF2B5EF4-FFF2-40B4-BE49-F238E27FC236}">
                <a16:creationId xmlns:a16="http://schemas.microsoft.com/office/drawing/2014/main" id="{5DDFD9DC-4138-4A35-8D71-EB151ACC88AE}"/>
              </a:ext>
            </a:extLst>
          </p:cNvPr>
          <p:cNvPicPr>
            <a:picLocks noChangeAspect="1"/>
          </p:cNvPicPr>
          <p:nvPr/>
        </p:nvPicPr>
        <p:blipFill>
          <a:blip r:embed="rId4"/>
          <a:srcRect l="52049" t="5695" r="-3441" b="341"/>
          <a:stretch>
            <a:fillRect/>
          </a:stretch>
        </p:blipFill>
        <p:spPr>
          <a:xfrm>
            <a:off x="7421399" y="1586359"/>
            <a:ext cx="4650217" cy="3741134"/>
          </a:xfrm>
          <a:prstGeom prst="rect">
            <a:avLst/>
          </a:prstGeom>
        </p:spPr>
      </p:pic>
      <p:sp>
        <p:nvSpPr>
          <p:cNvPr id="6" name="Right Arrow 5">
            <a:extLst>
              <a:ext uri="{FF2B5EF4-FFF2-40B4-BE49-F238E27FC236}">
                <a16:creationId xmlns:a16="http://schemas.microsoft.com/office/drawing/2014/main" id="{D6A2A6A3-DA6B-3EB1-D61A-A6B1FFC2117E}"/>
              </a:ext>
            </a:extLst>
          </p:cNvPr>
          <p:cNvSpPr/>
          <p:nvPr/>
        </p:nvSpPr>
        <p:spPr>
          <a:xfrm>
            <a:off x="4944024" y="2606301"/>
            <a:ext cx="2181989" cy="147696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DATA ACQUISITION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Outline</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TextBox 4"/>
          <p:cNvSpPr txBox="1"/>
          <p:nvPr/>
        </p:nvSpPr>
        <p:spPr>
          <a:xfrm>
            <a:off x="2377440" y="1783080"/>
            <a:ext cx="7498079" cy="2795637"/>
          </a:xfrm>
          <a:prstGeom prst="rect">
            <a:avLst/>
          </a:prstGeom>
          <a:noFill/>
        </p:spPr>
        <p:txBody>
          <a:bodyPr wrap="square" lIns="0" tIns="0" rIns="0" bIns="0" anchor="t">
            <a:spAutoFit/>
          </a:bodyPr>
          <a:lstStyle/>
          <a:p>
            <a:pPr algn="l">
              <a:spcAft>
                <a:spcPts val="2000"/>
              </a:spcAft>
            </a:pPr>
            <a:r>
              <a:rPr sz="2300" b="1" i="0" dirty="0">
                <a:latin typeface="Aptos" panose="020B0004020202020204" pitchFamily="34" charset="0"/>
              </a:rPr>
              <a:t>1 · </a:t>
            </a:r>
            <a:r>
              <a:rPr lang="en-US" sz="2300" b="1" i="0" dirty="0">
                <a:latin typeface="Aptos" panose="020B0004020202020204" pitchFamily="34" charset="0"/>
              </a:rPr>
              <a:t>Optimizing when </a:t>
            </a:r>
            <a:r>
              <a:rPr lang="en-US" sz="2300" b="1" dirty="0">
                <a:latin typeface="Aptos" panose="020B0004020202020204" pitchFamily="34" charset="0"/>
              </a:rPr>
              <a:t>d</a:t>
            </a:r>
            <a:r>
              <a:rPr lang="en-US" sz="2300" b="1" i="0" dirty="0">
                <a:latin typeface="Aptos" panose="020B0004020202020204" pitchFamily="34" charset="0"/>
              </a:rPr>
              <a:t>ata </a:t>
            </a:r>
            <a:r>
              <a:rPr lang="en-US" sz="2300" b="1" dirty="0">
                <a:latin typeface="Aptos" panose="020B0004020202020204" pitchFamily="34" charset="0"/>
              </a:rPr>
              <a:t>a</a:t>
            </a:r>
            <a:r>
              <a:rPr lang="en-US" sz="2300" b="1" i="0" dirty="0">
                <a:latin typeface="Aptos" panose="020B0004020202020204" pitchFamily="34" charset="0"/>
              </a:rPr>
              <a:t>cquisition is expensive</a:t>
            </a:r>
            <a:endParaRPr sz="2300" b="1" i="0" dirty="0">
              <a:latin typeface="Aptos" panose="020B0004020202020204" pitchFamily="34" charset="0"/>
            </a:endParaRPr>
          </a:p>
          <a:p>
            <a:pPr>
              <a:spcAft>
                <a:spcPts val="2000"/>
              </a:spcAft>
            </a:pPr>
            <a:r>
              <a:rPr sz="2300" b="0" i="0" dirty="0">
                <a:latin typeface="Aptos" panose="020B0004020202020204" pitchFamily="34" charset="0"/>
              </a:rPr>
              <a:t>2 · The Bayesian optimization loop</a:t>
            </a:r>
          </a:p>
          <a:p>
            <a:pPr>
              <a:spcAft>
                <a:spcPts val="2000"/>
              </a:spcAft>
            </a:pPr>
            <a:r>
              <a:rPr sz="2300" b="0" i="0" dirty="0">
                <a:latin typeface="Aptos" panose="020B0004020202020204" pitchFamily="34" charset="0"/>
              </a:rPr>
              <a:t>3 · Gaussian processes</a:t>
            </a:r>
          </a:p>
          <a:p>
            <a:pPr>
              <a:spcAft>
                <a:spcPts val="2000"/>
              </a:spcAft>
            </a:pPr>
            <a:r>
              <a:rPr sz="2300" b="0" i="0" dirty="0">
                <a:latin typeface="Aptos" panose="020B0004020202020204" pitchFamily="34" charset="0"/>
              </a:rPr>
              <a:t>4 · </a:t>
            </a:r>
            <a:r>
              <a:rPr lang="en-US" sz="2300" dirty="0">
                <a:latin typeface="Aptos" panose="020B0004020202020204" pitchFamily="34" charset="0"/>
              </a:rPr>
              <a:t>C</a:t>
            </a:r>
            <a:r>
              <a:rPr sz="2300" b="0" i="0" dirty="0">
                <a:latin typeface="Aptos" panose="020B0004020202020204" pitchFamily="34" charset="0"/>
              </a:rPr>
              <a:t>ategorical variables</a:t>
            </a:r>
            <a:r>
              <a:rPr lang="en-US" sz="2300" dirty="0">
                <a:latin typeface="Aptos" panose="020B0004020202020204" pitchFamily="34" charset="0"/>
              </a:rPr>
              <a:t> and </a:t>
            </a:r>
            <a:r>
              <a:rPr sz="2300" b="0" i="0" dirty="0">
                <a:latin typeface="Aptos" panose="020B0004020202020204" pitchFamily="34" charset="0"/>
              </a:rPr>
              <a:t>noise</a:t>
            </a:r>
            <a:endParaRPr lang="en-US" sz="2300" b="0" i="0" dirty="0">
              <a:latin typeface="Aptos" panose="020B0004020202020204" pitchFamily="34" charset="0"/>
            </a:endParaRPr>
          </a:p>
          <a:p>
            <a:pPr>
              <a:spcAft>
                <a:spcPts val="2000"/>
              </a:spcAft>
            </a:pPr>
            <a:r>
              <a:rPr sz="2300" b="0" i="0" dirty="0">
                <a:latin typeface="Aptos" panose="020B0004020202020204" pitchFamily="34" charset="0"/>
              </a:rPr>
              <a:t>5 · </a:t>
            </a:r>
            <a:r>
              <a:rPr lang="en-US" sz="2300" b="0" i="0" dirty="0">
                <a:latin typeface="Aptos" panose="020B0004020202020204" pitchFamily="34" charset="0"/>
              </a:rPr>
              <a:t>Practical Scenarios: M</a:t>
            </a:r>
            <a:r>
              <a:rPr sz="2300" b="0" i="0" dirty="0">
                <a:latin typeface="Aptos" panose="020B0004020202020204" pitchFamily="34" charset="0"/>
              </a:rPr>
              <a:t>ulti-objective, batch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Reaction Optimization </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1143000" y="1463040"/>
            <a:ext cx="9902952" cy="141732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2000" b="1" i="0" dirty="0">
                <a:solidFill>
                  <a:srgbClr val="123830"/>
                </a:solidFill>
                <a:latin typeface="Calibri"/>
              </a:rPr>
              <a:t>Maximi</a:t>
            </a:r>
            <a:r>
              <a:rPr lang="en-US" sz="2000" b="1" i="0" dirty="0">
                <a:solidFill>
                  <a:srgbClr val="123830"/>
                </a:solidFill>
                <a:latin typeface="Calibri"/>
              </a:rPr>
              <a:t>z</a:t>
            </a:r>
            <a:r>
              <a:rPr sz="2000" b="1" i="0" dirty="0">
                <a:solidFill>
                  <a:srgbClr val="123830"/>
                </a:solidFill>
                <a:latin typeface="Calibri"/>
              </a:rPr>
              <a:t>e the yield of </a:t>
            </a:r>
            <a:r>
              <a:rPr lang="en-US" sz="2000" b="1" i="0" dirty="0">
                <a:solidFill>
                  <a:srgbClr val="123830"/>
                </a:solidFill>
                <a:latin typeface="Calibri"/>
              </a:rPr>
              <a:t>a </a:t>
            </a:r>
            <a:r>
              <a:rPr sz="2000" b="1" i="0" dirty="0">
                <a:solidFill>
                  <a:srgbClr val="123830"/>
                </a:solidFill>
                <a:latin typeface="Calibri"/>
              </a:rPr>
              <a:t>Suzuki coupling</a:t>
            </a:r>
          </a:p>
          <a:p>
            <a:pPr algn="ctr"/>
            <a:r>
              <a:rPr sz="1600" b="0" i="0" dirty="0">
                <a:solidFill>
                  <a:srgbClr val="123830"/>
                </a:solidFill>
                <a:latin typeface="Calibri"/>
              </a:rPr>
              <a:t>temperature · residence time · catalyst loading · ligand · base · solvent</a:t>
            </a:r>
          </a:p>
        </p:txBody>
      </p:sp>
      <p:pic>
        <p:nvPicPr>
          <p:cNvPr id="6" name="Picture 5" descr="fig1a_reaction_space.png"/>
          <p:cNvPicPr>
            <a:picLocks noChangeAspect="1"/>
          </p:cNvPicPr>
          <p:nvPr/>
        </p:nvPicPr>
        <p:blipFill>
          <a:blip r:embed="rId4"/>
          <a:srcRect l="1283" t="16139"/>
          <a:stretch>
            <a:fillRect/>
          </a:stretch>
        </p:blipFill>
        <p:spPr>
          <a:xfrm>
            <a:off x="1601114" y="3268715"/>
            <a:ext cx="8864629" cy="1788876"/>
          </a:xfrm>
          <a:prstGeom prst="rect">
            <a:avLst/>
          </a:prstGeom>
        </p:spPr>
      </p:pic>
      <p:sp>
        <p:nvSpPr>
          <p:cNvPr id="7" name="TextBox 6">
            <a:extLst>
              <a:ext uri="{FF2B5EF4-FFF2-40B4-BE49-F238E27FC236}">
                <a16:creationId xmlns:a16="http://schemas.microsoft.com/office/drawing/2014/main" id="{28CEBE24-7C80-962C-0F7A-C3C247FD4D19}"/>
              </a:ext>
            </a:extLst>
          </p:cNvPr>
          <p:cNvSpPr txBox="1"/>
          <p:nvPr/>
        </p:nvSpPr>
        <p:spPr>
          <a:xfrm>
            <a:off x="-2354" y="6144768"/>
            <a:ext cx="12147719" cy="261610"/>
          </a:xfrm>
          <a:prstGeom prst="rect">
            <a:avLst/>
          </a:prstGeom>
          <a:noFill/>
        </p:spPr>
        <p:txBody>
          <a:bodyPr wrap="square" rtlCol="0">
            <a:spAutoFit/>
          </a:bodyPr>
          <a:lstStyle/>
          <a:p>
            <a:pPr>
              <a:spcAft>
                <a:spcPts val="200"/>
              </a:spcAft>
            </a:pPr>
            <a:r>
              <a:rPr sz="1100" b="0" i="0">
                <a:solidFill>
                  <a:srgbClr val="595959"/>
                </a:solidFill>
                <a:latin typeface="Aptos"/>
              </a:rPr>
              <a:t>Shields, B. J.; Stevens, J.; Li, J.; Parasram, M.; Damani, F.; Martinez Alvarado, J. I.; Janey, J. M.; Adams, R. P.; Doyle, A. G. </a:t>
            </a:r>
            <a:r>
              <a:rPr sz="1100" b="0" i="1">
                <a:solidFill>
                  <a:srgbClr val="595959"/>
                </a:solidFill>
                <a:latin typeface="Aptos"/>
              </a:rPr>
              <a:t>Nature</a:t>
            </a:r>
            <a:r>
              <a:rPr sz="1100" b="0" i="0">
                <a:solidFill>
                  <a:srgbClr val="595959"/>
                </a:solidFill>
                <a:latin typeface="Aptos"/>
              </a:rPr>
              <a:t> </a:t>
            </a:r>
            <a:r>
              <a:rPr sz="1100" b="1" i="0">
                <a:solidFill>
                  <a:srgbClr val="595959"/>
                </a:solidFill>
                <a:latin typeface="Aptos"/>
              </a:rPr>
              <a:t>2021</a:t>
            </a:r>
            <a:r>
              <a:rPr sz="1100" b="0" i="0">
                <a:solidFill>
                  <a:srgbClr val="595959"/>
                </a:solidFill>
                <a:latin typeface="Aptos"/>
              </a:rPr>
              <a:t>, 590 (7844), 89–96.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Baseline Approaches</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pic>
        <p:nvPicPr>
          <p:cNvPr id="9" name="Picture 8">
            <a:extLst>
              <a:ext uri="{FF2B5EF4-FFF2-40B4-BE49-F238E27FC236}">
                <a16:creationId xmlns:a16="http://schemas.microsoft.com/office/drawing/2014/main" id="{487F102D-7C58-5397-7452-51FB1318FC78}"/>
              </a:ext>
            </a:extLst>
          </p:cNvPr>
          <p:cNvPicPr>
            <a:picLocks noChangeAspect="1"/>
          </p:cNvPicPr>
          <p:nvPr/>
        </p:nvPicPr>
        <p:blipFill>
          <a:blip r:embed="rId4"/>
          <a:stretch>
            <a:fillRect/>
          </a:stretch>
        </p:blipFill>
        <p:spPr>
          <a:xfrm>
            <a:off x="249334" y="2179756"/>
            <a:ext cx="2997200" cy="2997200"/>
          </a:xfrm>
          <a:prstGeom prst="rect">
            <a:avLst/>
          </a:prstGeom>
        </p:spPr>
      </p:pic>
      <p:sp>
        <p:nvSpPr>
          <p:cNvPr id="16" name="TextBox 15">
            <a:extLst>
              <a:ext uri="{FF2B5EF4-FFF2-40B4-BE49-F238E27FC236}">
                <a16:creationId xmlns:a16="http://schemas.microsoft.com/office/drawing/2014/main" id="{7825BF39-D1FA-54FB-B9BE-CF8FC98BD114}"/>
              </a:ext>
            </a:extLst>
          </p:cNvPr>
          <p:cNvSpPr txBox="1"/>
          <p:nvPr/>
        </p:nvSpPr>
        <p:spPr>
          <a:xfrm>
            <a:off x="1081848" y="2026815"/>
            <a:ext cx="1353319" cy="369332"/>
          </a:xfrm>
          <a:prstGeom prst="rect">
            <a:avLst/>
          </a:prstGeom>
          <a:noFill/>
        </p:spPr>
        <p:txBody>
          <a:bodyPr wrap="none" rtlCol="0">
            <a:spAutoFit/>
          </a:bodyPr>
          <a:lstStyle/>
          <a:p>
            <a:r>
              <a:rPr lang="en-US" dirty="0"/>
              <a:t>Grid Search</a:t>
            </a:r>
          </a:p>
        </p:txBody>
      </p:sp>
      <p:grpSp>
        <p:nvGrpSpPr>
          <p:cNvPr id="20" name="Group 19">
            <a:extLst>
              <a:ext uri="{FF2B5EF4-FFF2-40B4-BE49-F238E27FC236}">
                <a16:creationId xmlns:a16="http://schemas.microsoft.com/office/drawing/2014/main" id="{2F86F4AB-C8B6-3A4E-F9B1-340CDFDD9CC4}"/>
              </a:ext>
            </a:extLst>
          </p:cNvPr>
          <p:cNvGrpSpPr/>
          <p:nvPr/>
        </p:nvGrpSpPr>
        <p:grpSpPr>
          <a:xfrm>
            <a:off x="3148045" y="2026815"/>
            <a:ext cx="2997200" cy="3150141"/>
            <a:chOff x="3148045" y="2026815"/>
            <a:chExt cx="2997200" cy="3150141"/>
          </a:xfrm>
        </p:grpSpPr>
        <p:pic>
          <p:nvPicPr>
            <p:cNvPr id="11" name="Picture 10">
              <a:extLst>
                <a:ext uri="{FF2B5EF4-FFF2-40B4-BE49-F238E27FC236}">
                  <a16:creationId xmlns:a16="http://schemas.microsoft.com/office/drawing/2014/main" id="{DCDE780D-1548-73B0-E599-00B6AC730995}"/>
                </a:ext>
              </a:extLst>
            </p:cNvPr>
            <p:cNvPicPr>
              <a:picLocks noChangeAspect="1"/>
            </p:cNvPicPr>
            <p:nvPr/>
          </p:nvPicPr>
          <p:blipFill>
            <a:blip r:embed="rId5"/>
            <a:stretch>
              <a:fillRect/>
            </a:stretch>
          </p:blipFill>
          <p:spPr>
            <a:xfrm>
              <a:off x="3148045" y="2179756"/>
              <a:ext cx="2997200" cy="2997200"/>
            </a:xfrm>
            <a:prstGeom prst="rect">
              <a:avLst/>
            </a:prstGeom>
          </p:spPr>
        </p:pic>
        <p:sp>
          <p:nvSpPr>
            <p:cNvPr id="17" name="TextBox 16">
              <a:extLst>
                <a:ext uri="{FF2B5EF4-FFF2-40B4-BE49-F238E27FC236}">
                  <a16:creationId xmlns:a16="http://schemas.microsoft.com/office/drawing/2014/main" id="{4EB08B6F-ACC6-F7A2-AB21-8EC9A14BD4B4}"/>
                </a:ext>
              </a:extLst>
            </p:cNvPr>
            <p:cNvSpPr txBox="1"/>
            <p:nvPr/>
          </p:nvSpPr>
          <p:spPr>
            <a:xfrm>
              <a:off x="4289816" y="2026815"/>
              <a:ext cx="713657" cy="369332"/>
            </a:xfrm>
            <a:prstGeom prst="rect">
              <a:avLst/>
            </a:prstGeom>
            <a:noFill/>
          </p:spPr>
          <p:txBody>
            <a:bodyPr wrap="none" rtlCol="0">
              <a:spAutoFit/>
            </a:bodyPr>
            <a:lstStyle/>
            <a:p>
              <a:r>
                <a:rPr lang="en-US" dirty="0"/>
                <a:t>OVAT</a:t>
              </a:r>
            </a:p>
          </p:txBody>
        </p:sp>
      </p:grpSp>
      <p:grpSp>
        <p:nvGrpSpPr>
          <p:cNvPr id="21" name="Group 20">
            <a:extLst>
              <a:ext uri="{FF2B5EF4-FFF2-40B4-BE49-F238E27FC236}">
                <a16:creationId xmlns:a16="http://schemas.microsoft.com/office/drawing/2014/main" id="{ACF32A56-E556-DCFF-1322-239463B1D554}"/>
              </a:ext>
            </a:extLst>
          </p:cNvPr>
          <p:cNvGrpSpPr/>
          <p:nvPr/>
        </p:nvGrpSpPr>
        <p:grpSpPr>
          <a:xfrm>
            <a:off x="6046756" y="2026815"/>
            <a:ext cx="2997200" cy="3150141"/>
            <a:chOff x="6046756" y="2026815"/>
            <a:chExt cx="2997200" cy="3150141"/>
          </a:xfrm>
        </p:grpSpPr>
        <p:pic>
          <p:nvPicPr>
            <p:cNvPr id="15" name="Picture 14">
              <a:extLst>
                <a:ext uri="{FF2B5EF4-FFF2-40B4-BE49-F238E27FC236}">
                  <a16:creationId xmlns:a16="http://schemas.microsoft.com/office/drawing/2014/main" id="{E7C95D4D-3251-0786-A007-E89E0142A4B1}"/>
                </a:ext>
              </a:extLst>
            </p:cNvPr>
            <p:cNvPicPr>
              <a:picLocks noChangeAspect="1"/>
            </p:cNvPicPr>
            <p:nvPr/>
          </p:nvPicPr>
          <p:blipFill>
            <a:blip r:embed="rId6"/>
            <a:stretch>
              <a:fillRect/>
            </a:stretch>
          </p:blipFill>
          <p:spPr>
            <a:xfrm>
              <a:off x="6046756" y="2179756"/>
              <a:ext cx="2997200" cy="2997200"/>
            </a:xfrm>
            <a:prstGeom prst="rect">
              <a:avLst/>
            </a:prstGeom>
          </p:spPr>
        </p:pic>
        <p:sp>
          <p:nvSpPr>
            <p:cNvPr id="18" name="TextBox 17">
              <a:extLst>
                <a:ext uri="{FF2B5EF4-FFF2-40B4-BE49-F238E27FC236}">
                  <a16:creationId xmlns:a16="http://schemas.microsoft.com/office/drawing/2014/main" id="{854F86BE-62ED-73DD-8E09-E056FC3C6D01}"/>
                </a:ext>
              </a:extLst>
            </p:cNvPr>
            <p:cNvSpPr txBox="1"/>
            <p:nvPr/>
          </p:nvSpPr>
          <p:spPr>
            <a:xfrm>
              <a:off x="7087049" y="2026815"/>
              <a:ext cx="1029193" cy="369332"/>
            </a:xfrm>
            <a:prstGeom prst="rect">
              <a:avLst/>
            </a:prstGeom>
            <a:noFill/>
          </p:spPr>
          <p:txBody>
            <a:bodyPr wrap="none" rtlCol="0">
              <a:spAutoFit/>
            </a:bodyPr>
            <a:lstStyle/>
            <a:p>
              <a:r>
                <a:rPr lang="en-US" dirty="0"/>
                <a:t>Random</a:t>
              </a:r>
            </a:p>
          </p:txBody>
        </p:sp>
      </p:grpSp>
      <p:grpSp>
        <p:nvGrpSpPr>
          <p:cNvPr id="22" name="Group 21">
            <a:extLst>
              <a:ext uri="{FF2B5EF4-FFF2-40B4-BE49-F238E27FC236}">
                <a16:creationId xmlns:a16="http://schemas.microsoft.com/office/drawing/2014/main" id="{2281B1E8-3807-5594-BE90-426857C36204}"/>
              </a:ext>
            </a:extLst>
          </p:cNvPr>
          <p:cNvGrpSpPr/>
          <p:nvPr/>
        </p:nvGrpSpPr>
        <p:grpSpPr>
          <a:xfrm>
            <a:off x="8945468" y="2026815"/>
            <a:ext cx="2997200" cy="3150141"/>
            <a:chOff x="8945468" y="2026815"/>
            <a:chExt cx="2997200" cy="3150141"/>
          </a:xfrm>
        </p:grpSpPr>
        <p:pic>
          <p:nvPicPr>
            <p:cNvPr id="7" name="Picture 6">
              <a:extLst>
                <a:ext uri="{FF2B5EF4-FFF2-40B4-BE49-F238E27FC236}">
                  <a16:creationId xmlns:a16="http://schemas.microsoft.com/office/drawing/2014/main" id="{0C85D799-25BF-5699-D53F-927BE2703ECE}"/>
                </a:ext>
              </a:extLst>
            </p:cNvPr>
            <p:cNvPicPr>
              <a:picLocks noChangeAspect="1"/>
            </p:cNvPicPr>
            <p:nvPr/>
          </p:nvPicPr>
          <p:blipFill>
            <a:blip r:embed="rId7"/>
            <a:stretch>
              <a:fillRect/>
            </a:stretch>
          </p:blipFill>
          <p:spPr>
            <a:xfrm>
              <a:off x="8945468" y="2179756"/>
              <a:ext cx="2997200" cy="2997200"/>
            </a:xfrm>
            <a:prstGeom prst="rect">
              <a:avLst/>
            </a:prstGeom>
          </p:spPr>
        </p:pic>
        <p:sp>
          <p:nvSpPr>
            <p:cNvPr id="19" name="TextBox 18">
              <a:extLst>
                <a:ext uri="{FF2B5EF4-FFF2-40B4-BE49-F238E27FC236}">
                  <a16:creationId xmlns:a16="http://schemas.microsoft.com/office/drawing/2014/main" id="{7818862B-CCFB-DADF-07FB-245B5778BAB8}"/>
                </a:ext>
              </a:extLst>
            </p:cNvPr>
            <p:cNvSpPr txBox="1"/>
            <p:nvPr/>
          </p:nvSpPr>
          <p:spPr>
            <a:xfrm>
              <a:off x="10169338" y="2026815"/>
              <a:ext cx="639919" cy="369332"/>
            </a:xfrm>
            <a:prstGeom prst="rect">
              <a:avLst/>
            </a:prstGeom>
            <a:noFill/>
          </p:spPr>
          <p:txBody>
            <a:bodyPr wrap="none" rtlCol="0">
              <a:spAutoFit/>
            </a:bodyPr>
            <a:lstStyle/>
            <a:p>
              <a:r>
                <a:rPr lang="en-US" dirty="0"/>
                <a:t>DOE</a:t>
              </a:r>
            </a:p>
          </p:txBody>
        </p:sp>
      </p:grpSp>
      <p:pic>
        <p:nvPicPr>
          <p:cNvPr id="26" name="Picture 25">
            <a:extLst>
              <a:ext uri="{FF2B5EF4-FFF2-40B4-BE49-F238E27FC236}">
                <a16:creationId xmlns:a16="http://schemas.microsoft.com/office/drawing/2014/main" id="{6AE094EA-E078-70BA-FA4B-9938487F6BA4}"/>
              </a:ext>
            </a:extLst>
          </p:cNvPr>
          <p:cNvPicPr>
            <a:picLocks noChangeAspect="1"/>
          </p:cNvPicPr>
          <p:nvPr/>
        </p:nvPicPr>
        <p:blipFill>
          <a:blip r:embed="rId8"/>
          <a:stretch>
            <a:fillRect/>
          </a:stretch>
        </p:blipFill>
        <p:spPr>
          <a:xfrm>
            <a:off x="8945466" y="2472224"/>
            <a:ext cx="3240726" cy="2667607"/>
          </a:xfrm>
          <a:prstGeom prst="rect">
            <a:avLst/>
          </a:prstGeom>
        </p:spPr>
      </p:pic>
      <p:pic>
        <p:nvPicPr>
          <p:cNvPr id="28" name="Picture 27">
            <a:extLst>
              <a:ext uri="{FF2B5EF4-FFF2-40B4-BE49-F238E27FC236}">
                <a16:creationId xmlns:a16="http://schemas.microsoft.com/office/drawing/2014/main" id="{C0527AB8-5674-0C0A-113A-5953840B8AFD}"/>
              </a:ext>
            </a:extLst>
          </p:cNvPr>
          <p:cNvPicPr>
            <a:picLocks noChangeAspect="1"/>
          </p:cNvPicPr>
          <p:nvPr/>
        </p:nvPicPr>
        <p:blipFill>
          <a:blip r:embed="rId9"/>
          <a:stretch>
            <a:fillRect/>
          </a:stretch>
        </p:blipFill>
        <p:spPr>
          <a:xfrm>
            <a:off x="231044" y="2471676"/>
            <a:ext cx="3330927" cy="2741856"/>
          </a:xfrm>
          <a:prstGeom prst="rect">
            <a:avLst/>
          </a:prstGeom>
        </p:spPr>
      </p:pic>
      <p:pic>
        <p:nvPicPr>
          <p:cNvPr id="30" name="Picture 29">
            <a:extLst>
              <a:ext uri="{FF2B5EF4-FFF2-40B4-BE49-F238E27FC236}">
                <a16:creationId xmlns:a16="http://schemas.microsoft.com/office/drawing/2014/main" id="{59829AF4-F267-EE64-418D-36F6315E0375}"/>
              </a:ext>
            </a:extLst>
          </p:cNvPr>
          <p:cNvPicPr>
            <a:picLocks noChangeAspect="1"/>
          </p:cNvPicPr>
          <p:nvPr/>
        </p:nvPicPr>
        <p:blipFill>
          <a:blip r:embed="rId10"/>
          <a:stretch>
            <a:fillRect/>
          </a:stretch>
        </p:blipFill>
        <p:spPr>
          <a:xfrm>
            <a:off x="3123755" y="2475936"/>
            <a:ext cx="3240726" cy="2667607"/>
          </a:xfrm>
          <a:prstGeom prst="rect">
            <a:avLst/>
          </a:prstGeom>
        </p:spPr>
      </p:pic>
      <p:pic>
        <p:nvPicPr>
          <p:cNvPr id="24" name="Picture 23">
            <a:extLst>
              <a:ext uri="{FF2B5EF4-FFF2-40B4-BE49-F238E27FC236}">
                <a16:creationId xmlns:a16="http://schemas.microsoft.com/office/drawing/2014/main" id="{7D61012B-49C7-92BA-26BC-F21B96B001AD}"/>
              </a:ext>
            </a:extLst>
          </p:cNvPr>
          <p:cNvPicPr>
            <a:picLocks noChangeAspect="1"/>
          </p:cNvPicPr>
          <p:nvPr/>
        </p:nvPicPr>
        <p:blipFill>
          <a:blip r:embed="rId11"/>
          <a:stretch>
            <a:fillRect/>
          </a:stretch>
        </p:blipFill>
        <p:spPr>
          <a:xfrm>
            <a:off x="6023481" y="2474426"/>
            <a:ext cx="3238384" cy="26656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10057-CF9D-80C3-6ECB-F1239A9B609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BBBA668-68D5-BEA2-6EDC-A40799602693}"/>
              </a:ext>
            </a:extLst>
          </p:cNvPr>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Objective: argmax </a:t>
            </a:r>
            <a:r>
              <a:rPr lang="en-US" sz="2600" i="1" dirty="0">
                <a:solidFill>
                  <a:srgbClr val="000000"/>
                </a:solidFill>
                <a:latin typeface="Avenir Book"/>
              </a:rPr>
              <a:t>f(x)</a:t>
            </a:r>
            <a:endParaRPr sz="2600" dirty="0">
              <a:solidFill>
                <a:srgbClr val="000000"/>
              </a:solidFill>
              <a:latin typeface="Avenir Book"/>
            </a:endParaRPr>
          </a:p>
        </p:txBody>
      </p:sp>
      <p:sp>
        <p:nvSpPr>
          <p:cNvPr id="3" name="Rectangle 2">
            <a:extLst>
              <a:ext uri="{FF2B5EF4-FFF2-40B4-BE49-F238E27FC236}">
                <a16:creationId xmlns:a16="http://schemas.microsoft.com/office/drawing/2014/main" id="{3BBA1976-2505-7396-FF96-2B9B63C01944}"/>
              </a:ext>
            </a:extLst>
          </p:cNvPr>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a:extLst>
              <a:ext uri="{FF2B5EF4-FFF2-40B4-BE49-F238E27FC236}">
                <a16:creationId xmlns:a16="http://schemas.microsoft.com/office/drawing/2014/main" id="{EFC67979-AB94-67F0-BF22-50C967ABF331}"/>
              </a:ext>
            </a:extLst>
          </p:cNvPr>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a:extLst>
              <a:ext uri="{FF2B5EF4-FFF2-40B4-BE49-F238E27FC236}">
                <a16:creationId xmlns:a16="http://schemas.microsoft.com/office/drawing/2014/main" id="{A9E33D12-AE4B-0169-A517-813C54074572}"/>
              </a:ext>
            </a:extLst>
          </p:cNvPr>
          <p:cNvSpPr/>
          <p:nvPr/>
        </p:nvSpPr>
        <p:spPr>
          <a:xfrm>
            <a:off x="3657600" y="1371600"/>
            <a:ext cx="4846320" cy="86868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600" b="0" i="1" dirty="0">
                <a:solidFill>
                  <a:srgbClr val="123830"/>
                </a:solidFill>
                <a:latin typeface="Aptos" panose="020B0004020202020204" pitchFamily="34" charset="0"/>
              </a:rPr>
              <a:t>x*  =  argmax  f(x)</a:t>
            </a:r>
          </a:p>
        </p:txBody>
      </p:sp>
      <p:grpSp>
        <p:nvGrpSpPr>
          <p:cNvPr id="20" name="Group 19">
            <a:extLst>
              <a:ext uri="{FF2B5EF4-FFF2-40B4-BE49-F238E27FC236}">
                <a16:creationId xmlns:a16="http://schemas.microsoft.com/office/drawing/2014/main" id="{E1761615-88D9-FE60-A8B4-4BF4CDC5B915}"/>
              </a:ext>
            </a:extLst>
          </p:cNvPr>
          <p:cNvGrpSpPr/>
          <p:nvPr/>
        </p:nvGrpSpPr>
        <p:grpSpPr>
          <a:xfrm>
            <a:off x="6096000" y="2080591"/>
            <a:ext cx="2812775" cy="3751245"/>
            <a:chOff x="6096000" y="2080591"/>
            <a:chExt cx="2812775" cy="3751245"/>
          </a:xfrm>
        </p:grpSpPr>
        <p:sp>
          <p:nvSpPr>
            <p:cNvPr id="16" name="Rounded Rectangle 15">
              <a:extLst>
                <a:ext uri="{FF2B5EF4-FFF2-40B4-BE49-F238E27FC236}">
                  <a16:creationId xmlns:a16="http://schemas.microsoft.com/office/drawing/2014/main" id="{545D7EBE-B764-F886-D83E-1CFB7E3EFD98}"/>
                </a:ext>
              </a:extLst>
            </p:cNvPr>
            <p:cNvSpPr/>
            <p:nvPr/>
          </p:nvSpPr>
          <p:spPr>
            <a:xfrm>
              <a:off x="6096000" y="2623930"/>
              <a:ext cx="2407920" cy="3207906"/>
            </a:xfrm>
            <a:prstGeom prst="roundRect">
              <a:avLst>
                <a:gd name="adj" fmla="val 235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6" name="TextBox 5">
              <a:extLst>
                <a:ext uri="{FF2B5EF4-FFF2-40B4-BE49-F238E27FC236}">
                  <a16:creationId xmlns:a16="http://schemas.microsoft.com/office/drawing/2014/main" id="{3ED56083-9D07-8BD9-3721-4F99CBA7D877}"/>
                </a:ext>
              </a:extLst>
            </p:cNvPr>
            <p:cNvSpPr txBox="1"/>
            <p:nvPr/>
          </p:nvSpPr>
          <p:spPr>
            <a:xfrm>
              <a:off x="6257015" y="5407104"/>
              <a:ext cx="2651760" cy="246221"/>
            </a:xfrm>
            <a:prstGeom prst="rect">
              <a:avLst/>
            </a:prstGeom>
            <a:noFill/>
          </p:spPr>
          <p:txBody>
            <a:bodyPr wrap="square" lIns="0" tIns="0" rIns="0" bIns="0" anchor="t">
              <a:spAutoFit/>
            </a:bodyPr>
            <a:lstStyle/>
            <a:p>
              <a:pPr algn="l"/>
              <a:r>
                <a:rPr sz="1600" b="1" i="0" dirty="0">
                  <a:solidFill>
                    <a:srgbClr val="C00000"/>
                  </a:solidFill>
                  <a:latin typeface="Aptos" panose="020B0004020202020204" pitchFamily="34" charset="0"/>
                </a:rPr>
                <a:t>Expensive</a:t>
              </a:r>
            </a:p>
          </p:txBody>
        </p:sp>
        <p:sp>
          <p:nvSpPr>
            <p:cNvPr id="8" name="TextBox 7">
              <a:extLst>
                <a:ext uri="{FF2B5EF4-FFF2-40B4-BE49-F238E27FC236}">
                  <a16:creationId xmlns:a16="http://schemas.microsoft.com/office/drawing/2014/main" id="{AF1400B1-46A8-7F5F-55E9-78490776D427}"/>
                </a:ext>
              </a:extLst>
            </p:cNvPr>
            <p:cNvSpPr txBox="1"/>
            <p:nvPr/>
          </p:nvSpPr>
          <p:spPr>
            <a:xfrm>
              <a:off x="6257015" y="2816016"/>
              <a:ext cx="2651760" cy="246221"/>
            </a:xfrm>
            <a:prstGeom prst="rect">
              <a:avLst/>
            </a:prstGeom>
            <a:noFill/>
          </p:spPr>
          <p:txBody>
            <a:bodyPr wrap="square" lIns="0" tIns="0" rIns="0" bIns="0" anchor="t">
              <a:spAutoFit/>
            </a:bodyPr>
            <a:lstStyle/>
            <a:p>
              <a:pPr algn="l"/>
              <a:r>
                <a:rPr sz="1600" b="1" i="0" dirty="0">
                  <a:solidFill>
                    <a:srgbClr val="123830"/>
                  </a:solidFill>
                  <a:latin typeface="Aptos" panose="020B0004020202020204" pitchFamily="34" charset="0"/>
                </a:rPr>
                <a:t>Black-box</a:t>
              </a:r>
            </a:p>
          </p:txBody>
        </p:sp>
        <p:sp>
          <p:nvSpPr>
            <p:cNvPr id="10" name="TextBox 9">
              <a:extLst>
                <a:ext uri="{FF2B5EF4-FFF2-40B4-BE49-F238E27FC236}">
                  <a16:creationId xmlns:a16="http://schemas.microsoft.com/office/drawing/2014/main" id="{A039BE99-60A9-09B8-E6E7-57378571874E}"/>
                </a:ext>
              </a:extLst>
            </p:cNvPr>
            <p:cNvSpPr txBox="1"/>
            <p:nvPr/>
          </p:nvSpPr>
          <p:spPr>
            <a:xfrm>
              <a:off x="6257015" y="4803343"/>
              <a:ext cx="2651760" cy="246221"/>
            </a:xfrm>
            <a:prstGeom prst="rect">
              <a:avLst/>
            </a:prstGeom>
            <a:noFill/>
          </p:spPr>
          <p:txBody>
            <a:bodyPr wrap="square" lIns="0" tIns="0" rIns="0" bIns="0" anchor="t">
              <a:spAutoFit/>
            </a:bodyPr>
            <a:lstStyle/>
            <a:p>
              <a:pPr algn="l"/>
              <a:r>
                <a:rPr sz="1600" b="1" i="0" dirty="0">
                  <a:solidFill>
                    <a:srgbClr val="C00000"/>
                  </a:solidFill>
                  <a:latin typeface="Aptos" panose="020B0004020202020204" pitchFamily="34" charset="0"/>
                </a:rPr>
                <a:t>Noisy</a:t>
              </a:r>
            </a:p>
          </p:txBody>
        </p:sp>
        <p:sp>
          <p:nvSpPr>
            <p:cNvPr id="12" name="TextBox 11">
              <a:extLst>
                <a:ext uri="{FF2B5EF4-FFF2-40B4-BE49-F238E27FC236}">
                  <a16:creationId xmlns:a16="http://schemas.microsoft.com/office/drawing/2014/main" id="{A8AB0A5D-130F-55DA-5FCD-9FFCCB0D8EAB}"/>
                </a:ext>
              </a:extLst>
            </p:cNvPr>
            <p:cNvSpPr txBox="1"/>
            <p:nvPr/>
          </p:nvSpPr>
          <p:spPr>
            <a:xfrm>
              <a:off x="6257015" y="3474384"/>
              <a:ext cx="2651760" cy="246221"/>
            </a:xfrm>
            <a:prstGeom prst="rect">
              <a:avLst/>
            </a:prstGeom>
            <a:noFill/>
          </p:spPr>
          <p:txBody>
            <a:bodyPr wrap="square" lIns="0" tIns="0" rIns="0" bIns="0" anchor="t">
              <a:spAutoFit/>
            </a:bodyPr>
            <a:lstStyle/>
            <a:p>
              <a:pPr algn="l"/>
              <a:r>
                <a:rPr sz="1600" b="1" i="0" dirty="0">
                  <a:solidFill>
                    <a:srgbClr val="123830"/>
                  </a:solidFill>
                  <a:latin typeface="Aptos" panose="020B0004020202020204" pitchFamily="34" charset="0"/>
                </a:rPr>
                <a:t>Non-convex, interacting</a:t>
              </a:r>
            </a:p>
          </p:txBody>
        </p:sp>
        <p:sp>
          <p:nvSpPr>
            <p:cNvPr id="14" name="TextBox 13">
              <a:extLst>
                <a:ext uri="{FF2B5EF4-FFF2-40B4-BE49-F238E27FC236}">
                  <a16:creationId xmlns:a16="http://schemas.microsoft.com/office/drawing/2014/main" id="{CEBD6F4D-7CBE-1856-F787-E6B03A2F304D}"/>
                </a:ext>
              </a:extLst>
            </p:cNvPr>
            <p:cNvSpPr txBox="1"/>
            <p:nvPr/>
          </p:nvSpPr>
          <p:spPr>
            <a:xfrm>
              <a:off x="6257015" y="4132752"/>
              <a:ext cx="2651760" cy="246221"/>
            </a:xfrm>
            <a:prstGeom prst="rect">
              <a:avLst/>
            </a:prstGeom>
            <a:noFill/>
          </p:spPr>
          <p:txBody>
            <a:bodyPr wrap="square" lIns="0" tIns="0" rIns="0" bIns="0" anchor="t">
              <a:spAutoFit/>
            </a:bodyPr>
            <a:lstStyle/>
            <a:p>
              <a:pPr algn="l"/>
              <a:r>
                <a:rPr sz="1600" b="1" i="0" dirty="0">
                  <a:solidFill>
                    <a:srgbClr val="123830"/>
                  </a:solidFill>
                  <a:latin typeface="Aptos" panose="020B0004020202020204" pitchFamily="34" charset="0"/>
                </a:rPr>
                <a:t>Mixed-variable</a:t>
              </a:r>
            </a:p>
          </p:txBody>
        </p:sp>
        <p:cxnSp>
          <p:nvCxnSpPr>
            <p:cNvPr id="18" name="Straight Arrow Connector 17">
              <a:extLst>
                <a:ext uri="{FF2B5EF4-FFF2-40B4-BE49-F238E27FC236}">
                  <a16:creationId xmlns:a16="http://schemas.microsoft.com/office/drawing/2014/main" id="{3B0E2258-90A8-0566-2670-25F1F2D76690}"/>
                </a:ext>
              </a:extLst>
            </p:cNvPr>
            <p:cNvCxnSpPr>
              <a:cxnSpLocks/>
            </p:cNvCxnSpPr>
            <p:nvPr/>
          </p:nvCxnSpPr>
          <p:spPr>
            <a:xfrm flipV="1">
              <a:off x="6824871" y="2080591"/>
              <a:ext cx="0" cy="5433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8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AE3B8-5608-49A6-D66E-489BBAD6DA0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D01E7D-21F9-C7A2-C5E6-286EDE177BC2}"/>
              </a:ext>
            </a:extLst>
          </p:cNvPr>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Outline</a:t>
            </a:r>
            <a:endParaRPr sz="2600" dirty="0">
              <a:solidFill>
                <a:srgbClr val="000000"/>
              </a:solidFill>
              <a:latin typeface="Avenir Book"/>
            </a:endParaRPr>
          </a:p>
        </p:txBody>
      </p:sp>
      <p:sp>
        <p:nvSpPr>
          <p:cNvPr id="3" name="Rectangle 2">
            <a:extLst>
              <a:ext uri="{FF2B5EF4-FFF2-40B4-BE49-F238E27FC236}">
                <a16:creationId xmlns:a16="http://schemas.microsoft.com/office/drawing/2014/main" id="{0B3F1B8F-95D3-4B8F-E37C-151F0F2CF9FC}"/>
              </a:ext>
            </a:extLst>
          </p:cNvPr>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a:extLst>
              <a:ext uri="{FF2B5EF4-FFF2-40B4-BE49-F238E27FC236}">
                <a16:creationId xmlns:a16="http://schemas.microsoft.com/office/drawing/2014/main" id="{5A7E6D38-04A4-FD68-54AA-9CBC042376B7}"/>
              </a:ext>
            </a:extLst>
          </p:cNvPr>
          <p:cNvPicPr>
            <a:picLocks noChangeAspect="1"/>
          </p:cNvPicPr>
          <p:nvPr/>
        </p:nvPicPr>
        <p:blipFill>
          <a:blip r:embed="rId3"/>
          <a:stretch>
            <a:fillRect/>
          </a:stretch>
        </p:blipFill>
        <p:spPr>
          <a:xfrm>
            <a:off x="46634" y="6459778"/>
            <a:ext cx="1554480" cy="379476"/>
          </a:xfrm>
          <a:prstGeom prst="rect">
            <a:avLst/>
          </a:prstGeom>
        </p:spPr>
      </p:pic>
      <p:sp>
        <p:nvSpPr>
          <p:cNvPr id="5" name="TextBox 4">
            <a:extLst>
              <a:ext uri="{FF2B5EF4-FFF2-40B4-BE49-F238E27FC236}">
                <a16:creationId xmlns:a16="http://schemas.microsoft.com/office/drawing/2014/main" id="{4D0247B4-4AC9-BEED-7F8D-90F53E4C1828}"/>
              </a:ext>
            </a:extLst>
          </p:cNvPr>
          <p:cNvSpPr txBox="1"/>
          <p:nvPr/>
        </p:nvSpPr>
        <p:spPr>
          <a:xfrm>
            <a:off x="2377440" y="1783080"/>
            <a:ext cx="7498079" cy="2795637"/>
          </a:xfrm>
          <a:prstGeom prst="rect">
            <a:avLst/>
          </a:prstGeom>
          <a:noFill/>
        </p:spPr>
        <p:txBody>
          <a:bodyPr wrap="square" lIns="0" tIns="0" rIns="0" bIns="0" anchor="t">
            <a:spAutoFit/>
          </a:bodyPr>
          <a:lstStyle/>
          <a:p>
            <a:pPr>
              <a:spcAft>
                <a:spcPts val="2000"/>
              </a:spcAft>
            </a:pPr>
            <a:r>
              <a:rPr lang="en-US" sz="2300" dirty="0">
                <a:latin typeface="Aptos" panose="020B0004020202020204" pitchFamily="34" charset="0"/>
              </a:rPr>
              <a:t>1 · Optimizing when data acquisition is expensive</a:t>
            </a:r>
          </a:p>
          <a:p>
            <a:pPr>
              <a:spcAft>
                <a:spcPts val="2000"/>
              </a:spcAft>
            </a:pPr>
            <a:r>
              <a:rPr lang="en-US" sz="2300" b="1" dirty="0">
                <a:latin typeface="Aptos" panose="020B0004020202020204" pitchFamily="34" charset="0"/>
              </a:rPr>
              <a:t>2 · The Bayesian optimization loop</a:t>
            </a:r>
          </a:p>
          <a:p>
            <a:pPr>
              <a:spcAft>
                <a:spcPts val="2000"/>
              </a:spcAft>
            </a:pPr>
            <a:r>
              <a:rPr lang="en-US" sz="2300" dirty="0">
                <a:latin typeface="Aptos" panose="020B0004020202020204" pitchFamily="34" charset="0"/>
              </a:rPr>
              <a:t>3 · Gaussian processes</a:t>
            </a:r>
          </a:p>
          <a:p>
            <a:pPr>
              <a:spcAft>
                <a:spcPts val="2000"/>
              </a:spcAft>
            </a:pPr>
            <a:r>
              <a:rPr lang="en-US" sz="2300" dirty="0">
                <a:latin typeface="Aptos" panose="020B0004020202020204" pitchFamily="34" charset="0"/>
              </a:rPr>
              <a:t>4 · Categorical variables and noise</a:t>
            </a:r>
          </a:p>
          <a:p>
            <a:pPr>
              <a:spcAft>
                <a:spcPts val="2000"/>
              </a:spcAft>
            </a:pPr>
            <a:r>
              <a:rPr lang="en-US" sz="2300" dirty="0">
                <a:latin typeface="Aptos" panose="020B0004020202020204" pitchFamily="34" charset="0"/>
              </a:rPr>
              <a:t>5 · Practical Scenarios: Multi-objective, batch</a:t>
            </a:r>
          </a:p>
        </p:txBody>
      </p:sp>
    </p:spTree>
    <p:extLst>
      <p:ext uri="{BB962C8B-B14F-4D97-AF65-F5344CB8AC3E}">
        <p14:creationId xmlns:p14="http://schemas.microsoft.com/office/powerpoint/2010/main" val="1003699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1A2A0-E40B-ABFE-6C8E-768BF67715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2DBD3C8-3B09-6332-98D2-5252A0338173}"/>
              </a:ext>
            </a:extLst>
          </p:cNvPr>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20040" rIns="320040" rtlCol="0" anchor="ctr"/>
          <a:lstStyle/>
          <a:p>
            <a:pPr algn="ctr"/>
            <a:r>
              <a:rPr sz="3000" b="0" i="0" dirty="0">
                <a:solidFill>
                  <a:srgbClr val="000000"/>
                </a:solidFill>
                <a:latin typeface="Avenir Book"/>
              </a:rPr>
              <a:t>Bayesian Optimization</a:t>
            </a:r>
          </a:p>
        </p:txBody>
      </p:sp>
      <p:sp>
        <p:nvSpPr>
          <p:cNvPr id="3" name="Rectangle 2">
            <a:extLst>
              <a:ext uri="{FF2B5EF4-FFF2-40B4-BE49-F238E27FC236}">
                <a16:creationId xmlns:a16="http://schemas.microsoft.com/office/drawing/2014/main" id="{50EBDD40-6BE7-0AEC-5238-2559E069FC42}"/>
              </a:ext>
            </a:extLst>
          </p:cNvPr>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Ins="228600" rtlCol="0" anchor="ctr"/>
          <a:lstStyle/>
          <a:p>
            <a:pPr algn="r"/>
            <a:r>
              <a:rPr sz="1600" b="0" i="0">
                <a:solidFill>
                  <a:srgbClr val="000000"/>
                </a:solidFill>
                <a:latin typeface="Avenir Book"/>
              </a:rPr>
              <a:t>AI4ChemicalSciences BootCamp 2026</a:t>
            </a:r>
          </a:p>
        </p:txBody>
      </p:sp>
      <p:pic>
        <p:nvPicPr>
          <p:cNvPr id="4" name="Picture 3" descr="image1.png">
            <a:extLst>
              <a:ext uri="{FF2B5EF4-FFF2-40B4-BE49-F238E27FC236}">
                <a16:creationId xmlns:a16="http://schemas.microsoft.com/office/drawing/2014/main" id="{824CCDD3-544A-0A07-5693-00E5622C6B48}"/>
              </a:ext>
            </a:extLst>
          </p:cNvPr>
          <p:cNvPicPr>
            <a:picLocks noChangeAspect="1"/>
          </p:cNvPicPr>
          <p:nvPr/>
        </p:nvPicPr>
        <p:blipFill>
          <a:blip r:embed="rId3"/>
          <a:stretch>
            <a:fillRect/>
          </a:stretch>
        </p:blipFill>
        <p:spPr>
          <a:xfrm>
            <a:off x="46634" y="6459778"/>
            <a:ext cx="1554480" cy="379476"/>
          </a:xfrm>
          <a:prstGeom prst="rect">
            <a:avLst/>
          </a:prstGeom>
        </p:spPr>
      </p:pic>
      <p:sp>
        <p:nvSpPr>
          <p:cNvPr id="9" name="TextBox 8">
            <a:extLst>
              <a:ext uri="{FF2B5EF4-FFF2-40B4-BE49-F238E27FC236}">
                <a16:creationId xmlns:a16="http://schemas.microsoft.com/office/drawing/2014/main" id="{519CAEFB-004E-FCA1-7AE2-E58B1229BDE4}"/>
              </a:ext>
            </a:extLst>
          </p:cNvPr>
          <p:cNvSpPr txBox="1"/>
          <p:nvPr/>
        </p:nvSpPr>
        <p:spPr>
          <a:xfrm>
            <a:off x="5738192" y="2182505"/>
            <a:ext cx="6268278" cy="2492990"/>
          </a:xfrm>
          <a:prstGeom prst="rect">
            <a:avLst/>
          </a:prstGeom>
          <a:noFill/>
        </p:spPr>
        <p:txBody>
          <a:bodyPr wrap="square">
            <a:spAutoFit/>
          </a:bodyPr>
          <a:lstStyle/>
          <a:p>
            <a:pPr marL="0" marR="0" indent="0" algn="l">
              <a:buNone/>
            </a:pPr>
            <a:r>
              <a:rPr lang="en-US" sz="1800" b="1" i="0" dirty="0">
                <a:solidFill>
                  <a:schemeClr val="tx1"/>
                </a:solidFill>
                <a:effectLst/>
                <a:latin typeface="+mn-lt"/>
              </a:rPr>
              <a:t>Definition:</a:t>
            </a:r>
          </a:p>
          <a:p>
            <a:pPr marL="0" marR="0" indent="0" algn="l">
              <a:buNone/>
            </a:pPr>
            <a:r>
              <a:rPr lang="en-US" dirty="0"/>
              <a:t>A</a:t>
            </a:r>
            <a:r>
              <a:rPr lang="en-US" sz="1800" b="0" i="0" dirty="0">
                <a:solidFill>
                  <a:schemeClr val="tx1"/>
                </a:solidFill>
                <a:effectLst/>
                <a:latin typeface="+mn-lt"/>
              </a:rPr>
              <a:t> sequential model-based strategy for </a:t>
            </a:r>
            <a:r>
              <a:rPr lang="en-US" sz="1800" b="0" i="0" strike="noStrike" dirty="0">
                <a:solidFill>
                  <a:schemeClr val="tx1"/>
                </a:solidFill>
                <a:effectLst/>
                <a:latin typeface="+mn-lt"/>
              </a:rPr>
              <a:t>optimization </a:t>
            </a:r>
            <a:r>
              <a:rPr lang="en-US" sz="1800" b="0" i="0" dirty="0">
                <a:solidFill>
                  <a:schemeClr val="tx1"/>
                </a:solidFill>
                <a:effectLst/>
                <a:latin typeface="+mn-lt"/>
              </a:rPr>
              <a:t>of black-box objective functions whose evaluations are costly.</a:t>
            </a:r>
            <a:endParaRPr lang="en-US" baseline="30000" dirty="0"/>
          </a:p>
          <a:p>
            <a:pPr marL="0" marR="0" indent="0" algn="l">
              <a:buNone/>
            </a:pPr>
            <a:endParaRPr lang="en-US" sz="1800" b="0" i="0" baseline="30000" dirty="0">
              <a:solidFill>
                <a:schemeClr val="tx1"/>
              </a:solidFill>
              <a:effectLst/>
              <a:latin typeface="+mn-lt"/>
            </a:endParaRPr>
          </a:p>
          <a:p>
            <a:pPr marL="0" marR="0" indent="0" algn="l">
              <a:buNone/>
            </a:pPr>
            <a:r>
              <a:rPr lang="en-US" sz="1800" i="0" dirty="0">
                <a:solidFill>
                  <a:schemeClr val="tx1"/>
                </a:solidFill>
                <a:effectLst/>
                <a:latin typeface="+mn-lt"/>
              </a:rPr>
              <a:t>The method constructs a probabilistic model of the unknown function</a:t>
            </a:r>
            <a:r>
              <a:rPr lang="en-US" dirty="0"/>
              <a:t> </a:t>
            </a:r>
            <a:r>
              <a:rPr lang="en-US" sz="1800" i="0" dirty="0">
                <a:solidFill>
                  <a:schemeClr val="tx1"/>
                </a:solidFill>
                <a:effectLst/>
                <a:latin typeface="+mn-lt"/>
              </a:rPr>
              <a:t>and uses the resulting predictive distribution to choose the next evaluation point. This choice is made by optimizing a sampling criterion, also called an acquisition function.</a:t>
            </a:r>
            <a:endParaRPr lang="en-US" sz="1200" i="0" dirty="0">
              <a:solidFill>
                <a:srgbClr val="202122"/>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CCD7D0F2-27C4-800D-6018-599012F2D92E}"/>
              </a:ext>
            </a:extLst>
          </p:cNvPr>
          <p:cNvPicPr>
            <a:picLocks noChangeAspect="1"/>
          </p:cNvPicPr>
          <p:nvPr/>
        </p:nvPicPr>
        <p:blipFill>
          <a:blip r:embed="rId4"/>
          <a:stretch>
            <a:fillRect/>
          </a:stretch>
        </p:blipFill>
        <p:spPr>
          <a:xfrm>
            <a:off x="486189" y="1893544"/>
            <a:ext cx="4492910" cy="3070911"/>
          </a:xfrm>
          <a:prstGeom prst="rect">
            <a:avLst/>
          </a:prstGeom>
        </p:spPr>
      </p:pic>
      <p:sp>
        <p:nvSpPr>
          <p:cNvPr id="15" name="TextBox 14">
            <a:extLst>
              <a:ext uri="{FF2B5EF4-FFF2-40B4-BE49-F238E27FC236}">
                <a16:creationId xmlns:a16="http://schemas.microsoft.com/office/drawing/2014/main" id="{694D472B-095E-7D18-2109-88CDE5F6D48C}"/>
              </a:ext>
            </a:extLst>
          </p:cNvPr>
          <p:cNvSpPr txBox="1"/>
          <p:nvPr/>
        </p:nvSpPr>
        <p:spPr>
          <a:xfrm>
            <a:off x="-13406" y="6131865"/>
            <a:ext cx="12205406" cy="261610"/>
          </a:xfrm>
          <a:prstGeom prst="rect">
            <a:avLst/>
          </a:prstGeom>
          <a:noFill/>
        </p:spPr>
        <p:txBody>
          <a:bodyPr wrap="square">
            <a:spAutoFit/>
          </a:bodyPr>
          <a:lstStyle/>
          <a:p>
            <a:pPr algn="r"/>
            <a:r>
              <a:rPr lang="en-US" sz="1100" dirty="0">
                <a:hlinkClick r:id="rId5"/>
              </a:rPr>
              <a:t>https://en.wikipedia.org/wiki/Bayesian_optimization</a:t>
            </a:r>
            <a:r>
              <a:rPr lang="en-US" sz="1100" dirty="0"/>
              <a:t> </a:t>
            </a:r>
          </a:p>
        </p:txBody>
      </p:sp>
    </p:spTree>
    <p:extLst>
      <p:ext uri="{BB962C8B-B14F-4D97-AF65-F5344CB8AC3E}">
        <p14:creationId xmlns:p14="http://schemas.microsoft.com/office/powerpoint/2010/main" val="1571672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Bayesian Optimization Loop</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grpSp>
        <p:nvGrpSpPr>
          <p:cNvPr id="22" name="Group 21">
            <a:extLst>
              <a:ext uri="{FF2B5EF4-FFF2-40B4-BE49-F238E27FC236}">
                <a16:creationId xmlns:a16="http://schemas.microsoft.com/office/drawing/2014/main" id="{2601E81A-D2E5-1D80-E67A-67030CDCFBAB}"/>
              </a:ext>
            </a:extLst>
          </p:cNvPr>
          <p:cNvGrpSpPr/>
          <p:nvPr/>
        </p:nvGrpSpPr>
        <p:grpSpPr>
          <a:xfrm>
            <a:off x="7689385" y="1892140"/>
            <a:ext cx="4187952" cy="1188720"/>
            <a:chOff x="7689385" y="1892140"/>
            <a:chExt cx="4187952" cy="1188720"/>
          </a:xfrm>
        </p:grpSpPr>
        <p:sp>
          <p:nvSpPr>
            <p:cNvPr id="6" name="Rounded Rectangle 5"/>
            <p:cNvSpPr/>
            <p:nvPr/>
          </p:nvSpPr>
          <p:spPr>
            <a:xfrm>
              <a:off x="8631217" y="1892140"/>
              <a:ext cx="3246120" cy="1188720"/>
            </a:xfrm>
            <a:prstGeom prst="roundRect">
              <a:avLst>
                <a:gd name="adj" fmla="val 10000"/>
              </a:avLst>
            </a:prstGeom>
            <a:solidFill>
              <a:srgbClr val="EAF6F1"/>
            </a:solidFill>
            <a:ln w="19050">
              <a:noFill/>
            </a:ln>
            <a:effectLst/>
          </p:spPr>
          <p:style>
            <a:lnRef idx="1">
              <a:schemeClr val="accent1"/>
            </a:lnRef>
            <a:fillRef idx="3">
              <a:schemeClr val="accent1"/>
            </a:fillRef>
            <a:effectRef idx="2">
              <a:schemeClr val="accent1"/>
            </a:effectRef>
            <a:fontRef idx="minor">
              <a:schemeClr val="lt1"/>
            </a:fontRef>
          </p:style>
          <p:txBody>
            <a:bodyPr wrap="square" lIns="109728" tIns="64008" rIns="109728" bIns="64008" rtlCol="0" anchor="ctr"/>
            <a:lstStyle/>
            <a:p>
              <a:pPr algn="ctr">
                <a:spcAft>
                  <a:spcPts val="400"/>
                </a:spcAft>
              </a:pPr>
              <a:r>
                <a:rPr sz="1400" b="1" i="0" dirty="0">
                  <a:solidFill>
                    <a:sysClr val="windowText" lastClr="000000"/>
                  </a:solidFill>
                  <a:latin typeface="Aptos" panose="020B0004020202020204" pitchFamily="34" charset="0"/>
                </a:rPr>
                <a:t>2   ACQUISITION FUNCTION</a:t>
              </a:r>
            </a:p>
            <a:p>
              <a:pPr algn="ctr"/>
              <a:r>
                <a:rPr sz="1150" b="0" i="0" dirty="0">
                  <a:solidFill>
                    <a:sysClr val="windowText" lastClr="000000"/>
                  </a:solidFill>
                  <a:latin typeface="Aptos" panose="020B0004020202020204" pitchFamily="34" charset="0"/>
                </a:rPr>
                <a:t>score every candidate,</a:t>
              </a:r>
            </a:p>
            <a:p>
              <a:pPr algn="ctr"/>
              <a:r>
                <a:rPr sz="1150" b="0" i="0" dirty="0">
                  <a:solidFill>
                    <a:sysClr val="windowText" lastClr="000000"/>
                  </a:solidFill>
                  <a:latin typeface="Aptos" panose="020B0004020202020204" pitchFamily="34" charset="0"/>
                </a:rPr>
                <a:t>using the posterior</a:t>
              </a:r>
            </a:p>
          </p:txBody>
        </p:sp>
        <p:cxnSp>
          <p:nvCxnSpPr>
            <p:cNvPr id="9" name="Connector 8"/>
            <p:cNvCxnSpPr>
              <a:cxnSpLocks/>
              <a:stCxn id="5" idx="3"/>
              <a:endCxn id="6" idx="1"/>
            </p:cNvCxnSpPr>
            <p:nvPr/>
          </p:nvCxnSpPr>
          <p:spPr>
            <a:xfrm>
              <a:off x="7689385" y="2486500"/>
              <a:ext cx="941832" cy="0"/>
            </a:xfrm>
            <a:prstGeom prst="line">
              <a:avLst/>
            </a:prstGeom>
            <a:ln w="76200">
              <a:solidFill>
                <a:schemeClr val="tx1">
                  <a:lumMod val="75000"/>
                  <a:lumOff val="25000"/>
                </a:schemeClr>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AF58F502-238F-94DA-379A-F2EFFF9080C0}"/>
              </a:ext>
            </a:extLst>
          </p:cNvPr>
          <p:cNvGrpSpPr/>
          <p:nvPr/>
        </p:nvGrpSpPr>
        <p:grpSpPr>
          <a:xfrm>
            <a:off x="8631217" y="3080860"/>
            <a:ext cx="3246120" cy="2240280"/>
            <a:chOff x="8631217" y="3080860"/>
            <a:chExt cx="3246120" cy="2240280"/>
          </a:xfrm>
        </p:grpSpPr>
        <p:sp>
          <p:nvSpPr>
            <p:cNvPr id="7" name="Rounded Rectangle 6"/>
            <p:cNvSpPr/>
            <p:nvPr/>
          </p:nvSpPr>
          <p:spPr>
            <a:xfrm>
              <a:off x="8631217" y="4132420"/>
              <a:ext cx="3246120" cy="1188720"/>
            </a:xfrm>
            <a:prstGeom prst="roundRect">
              <a:avLst>
                <a:gd name="adj" fmla="val 10000"/>
              </a:avLst>
            </a:prstGeom>
            <a:solidFill>
              <a:srgbClr val="EAF6F1"/>
            </a:solidFill>
            <a:ln w="19050">
              <a:noFill/>
            </a:ln>
            <a:effectLst/>
          </p:spPr>
          <p:style>
            <a:lnRef idx="1">
              <a:schemeClr val="accent1"/>
            </a:lnRef>
            <a:fillRef idx="3">
              <a:schemeClr val="accent1"/>
            </a:fillRef>
            <a:effectRef idx="2">
              <a:schemeClr val="accent1"/>
            </a:effectRef>
            <a:fontRef idx="minor">
              <a:schemeClr val="lt1"/>
            </a:fontRef>
          </p:style>
          <p:txBody>
            <a:bodyPr wrap="square" lIns="109728" tIns="64008" rIns="109728" bIns="64008" rtlCol="0" anchor="ctr"/>
            <a:lstStyle/>
            <a:p>
              <a:pPr algn="ctr">
                <a:spcAft>
                  <a:spcPts val="400"/>
                </a:spcAft>
              </a:pPr>
              <a:r>
                <a:rPr sz="1400" b="1" i="0" dirty="0">
                  <a:solidFill>
                    <a:sysClr val="windowText" lastClr="000000"/>
                  </a:solidFill>
                  <a:latin typeface="Aptos" panose="020B0004020202020204" pitchFamily="34" charset="0"/>
                </a:rPr>
                <a:t>3   RUN THE EXPERIMENT</a:t>
              </a:r>
            </a:p>
            <a:p>
              <a:pPr algn="ctr"/>
              <a:r>
                <a:rPr lang="en-US" sz="1150" b="0" i="0" dirty="0">
                  <a:solidFill>
                    <a:sysClr val="windowText" lastClr="000000"/>
                  </a:solidFill>
                  <a:latin typeface="Aptos" panose="020B0004020202020204" pitchFamily="34" charset="0"/>
                </a:rPr>
                <a:t>$$$</a:t>
              </a:r>
              <a:endParaRPr sz="1150" b="0" i="0" dirty="0">
                <a:solidFill>
                  <a:sysClr val="windowText" lastClr="000000"/>
                </a:solidFill>
                <a:latin typeface="Aptos" panose="020B0004020202020204" pitchFamily="34" charset="0"/>
              </a:endParaRPr>
            </a:p>
          </p:txBody>
        </p:sp>
        <p:cxnSp>
          <p:nvCxnSpPr>
            <p:cNvPr id="10" name="Connector 9"/>
            <p:cNvCxnSpPr/>
            <p:nvPr/>
          </p:nvCxnSpPr>
          <p:spPr>
            <a:xfrm>
              <a:off x="10254277" y="3080860"/>
              <a:ext cx="0" cy="1051560"/>
            </a:xfrm>
            <a:prstGeom prst="line">
              <a:avLst/>
            </a:prstGeom>
            <a:ln w="76200">
              <a:solidFill>
                <a:schemeClr val="tx1">
                  <a:lumMod val="75000"/>
                  <a:lumOff val="25000"/>
                </a:schemeClr>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0375384E-04F2-F42F-9291-CB06EF7C9C70}"/>
              </a:ext>
            </a:extLst>
          </p:cNvPr>
          <p:cNvGrpSpPr/>
          <p:nvPr/>
        </p:nvGrpSpPr>
        <p:grpSpPr>
          <a:xfrm>
            <a:off x="4443265" y="4132420"/>
            <a:ext cx="4187952" cy="1188720"/>
            <a:chOff x="4443265" y="4132420"/>
            <a:chExt cx="4187952" cy="1188720"/>
          </a:xfrm>
        </p:grpSpPr>
        <p:sp>
          <p:nvSpPr>
            <p:cNvPr id="8" name="Rounded Rectangle 7"/>
            <p:cNvSpPr/>
            <p:nvPr/>
          </p:nvSpPr>
          <p:spPr>
            <a:xfrm>
              <a:off x="4443265" y="4132420"/>
              <a:ext cx="3246120" cy="1188720"/>
            </a:xfrm>
            <a:prstGeom prst="roundRect">
              <a:avLst>
                <a:gd name="adj" fmla="val 10000"/>
              </a:avLst>
            </a:prstGeom>
            <a:solidFill>
              <a:srgbClr val="EAF6F1"/>
            </a:solidFill>
            <a:ln w="19050">
              <a:noFill/>
            </a:ln>
            <a:effectLst/>
          </p:spPr>
          <p:style>
            <a:lnRef idx="1">
              <a:schemeClr val="accent1"/>
            </a:lnRef>
            <a:fillRef idx="3">
              <a:schemeClr val="accent1"/>
            </a:fillRef>
            <a:effectRef idx="2">
              <a:schemeClr val="accent1"/>
            </a:effectRef>
            <a:fontRef idx="minor">
              <a:schemeClr val="lt1"/>
            </a:fontRef>
          </p:style>
          <p:txBody>
            <a:bodyPr wrap="square" lIns="109728" tIns="64008" rIns="109728" bIns="64008" rtlCol="0" anchor="ctr"/>
            <a:lstStyle/>
            <a:p>
              <a:pPr algn="ctr">
                <a:spcAft>
                  <a:spcPts val="400"/>
                </a:spcAft>
              </a:pPr>
              <a:r>
                <a:rPr sz="1400" b="1" i="0" dirty="0">
                  <a:solidFill>
                    <a:sysClr val="windowText" lastClr="000000"/>
                  </a:solidFill>
                  <a:latin typeface="Aptos" panose="020B0004020202020204" pitchFamily="34" charset="0"/>
                </a:rPr>
                <a:t>4   UPDATE</a:t>
              </a:r>
            </a:p>
            <a:p>
              <a:pPr algn="ctr"/>
              <a:r>
                <a:rPr sz="1150" b="0" i="0" dirty="0">
                  <a:solidFill>
                    <a:sysClr val="windowText" lastClr="000000"/>
                  </a:solidFill>
                  <a:latin typeface="Aptos" panose="020B0004020202020204" pitchFamily="34" charset="0"/>
                </a:rPr>
                <a:t>recompute the posterior</a:t>
              </a:r>
            </a:p>
          </p:txBody>
        </p:sp>
        <p:cxnSp>
          <p:nvCxnSpPr>
            <p:cNvPr id="11" name="Connector 10"/>
            <p:cNvCxnSpPr>
              <a:cxnSpLocks/>
              <a:stCxn id="7" idx="1"/>
              <a:endCxn id="8" idx="3"/>
            </p:cNvCxnSpPr>
            <p:nvPr/>
          </p:nvCxnSpPr>
          <p:spPr>
            <a:xfrm flipH="1">
              <a:off x="7689385" y="4726780"/>
              <a:ext cx="941832" cy="0"/>
            </a:xfrm>
            <a:prstGeom prst="line">
              <a:avLst/>
            </a:prstGeom>
            <a:ln w="76200">
              <a:solidFill>
                <a:schemeClr val="tx1">
                  <a:lumMod val="75000"/>
                  <a:lumOff val="25000"/>
                </a:schemeClr>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2716F686-0058-F93F-B69F-0A324D709454}"/>
              </a:ext>
            </a:extLst>
          </p:cNvPr>
          <p:cNvGrpSpPr/>
          <p:nvPr/>
        </p:nvGrpSpPr>
        <p:grpSpPr>
          <a:xfrm>
            <a:off x="6066325" y="3080860"/>
            <a:ext cx="2802636" cy="1051560"/>
            <a:chOff x="6066325" y="3080860"/>
            <a:chExt cx="2802636" cy="1051560"/>
          </a:xfrm>
        </p:grpSpPr>
        <p:cxnSp>
          <p:nvCxnSpPr>
            <p:cNvPr id="12" name="Connector 11"/>
            <p:cNvCxnSpPr/>
            <p:nvPr/>
          </p:nvCxnSpPr>
          <p:spPr>
            <a:xfrm flipV="1">
              <a:off x="6066325" y="3080860"/>
              <a:ext cx="0" cy="1051560"/>
            </a:xfrm>
            <a:prstGeom prst="line">
              <a:avLst/>
            </a:prstGeom>
            <a:ln w="76200">
              <a:solidFill>
                <a:schemeClr val="tx1">
                  <a:lumMod val="75000"/>
                  <a:lumOff val="25000"/>
                </a:schemeClr>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51641" y="3316817"/>
              <a:ext cx="1417320" cy="579646"/>
            </a:xfrm>
            <a:prstGeom prst="rect">
              <a:avLst/>
            </a:prstGeom>
            <a:noFill/>
            <a:ln>
              <a:noFill/>
            </a:ln>
          </p:spPr>
          <p:txBody>
            <a:bodyPr wrap="square" lIns="0" tIns="0" rIns="0" bIns="0" anchor="ctr">
              <a:spAutoFit/>
            </a:bodyPr>
            <a:lstStyle/>
            <a:p>
              <a:pPr algn="ctr">
                <a:spcAft>
                  <a:spcPts val="200"/>
                </a:spcAft>
              </a:pPr>
              <a:r>
                <a:rPr sz="1200" b="0" i="1" dirty="0">
                  <a:solidFill>
                    <a:sysClr val="windowText" lastClr="000000"/>
                  </a:solidFill>
                  <a:latin typeface="Aptos" panose="020B0004020202020204" pitchFamily="34" charset="0"/>
                </a:rPr>
                <a:t>repeat until</a:t>
              </a:r>
            </a:p>
            <a:p>
              <a:pPr algn="ctr"/>
              <a:r>
                <a:rPr sz="1200" b="0" i="1" dirty="0">
                  <a:solidFill>
                    <a:sysClr val="windowText" lastClr="000000"/>
                  </a:solidFill>
                  <a:latin typeface="Aptos" panose="020B0004020202020204" pitchFamily="34" charset="0"/>
                </a:rPr>
                <a:t>the budget is spent</a:t>
              </a:r>
              <a:r>
                <a:rPr lang="en-US" sz="1200" b="0" i="1" dirty="0">
                  <a:solidFill>
                    <a:sysClr val="windowText" lastClr="000000"/>
                  </a:solidFill>
                  <a:latin typeface="Aptos" panose="020B0004020202020204" pitchFamily="34" charset="0"/>
                </a:rPr>
                <a:t> or objective is reached</a:t>
              </a:r>
              <a:endParaRPr sz="1200" b="0" i="1" dirty="0">
                <a:solidFill>
                  <a:sysClr val="windowText" lastClr="000000"/>
                </a:solidFill>
                <a:latin typeface="Aptos" panose="020B0004020202020204" pitchFamily="34" charset="0"/>
              </a:endParaRPr>
            </a:p>
          </p:txBody>
        </p:sp>
      </p:grpSp>
      <p:sp>
        <p:nvSpPr>
          <p:cNvPr id="15" name="Rounded Rectangle 14">
            <a:extLst>
              <a:ext uri="{FF2B5EF4-FFF2-40B4-BE49-F238E27FC236}">
                <a16:creationId xmlns:a16="http://schemas.microsoft.com/office/drawing/2014/main" id="{EC85BFE5-AE29-64E3-C9A0-36C62D733727}"/>
              </a:ext>
            </a:extLst>
          </p:cNvPr>
          <p:cNvSpPr/>
          <p:nvPr/>
        </p:nvSpPr>
        <p:spPr>
          <a:xfrm>
            <a:off x="265444" y="1892140"/>
            <a:ext cx="3246120" cy="1188720"/>
          </a:xfrm>
          <a:prstGeom prst="roundRect">
            <a:avLst>
              <a:gd name="adj" fmla="val 10000"/>
            </a:avLst>
          </a:prstGeom>
          <a:solidFill>
            <a:srgbClr val="EAF6F1"/>
          </a:solidFill>
          <a:ln w="19050">
            <a:noFill/>
          </a:ln>
          <a:effectLst/>
        </p:spPr>
        <p:style>
          <a:lnRef idx="1">
            <a:schemeClr val="accent1"/>
          </a:lnRef>
          <a:fillRef idx="3">
            <a:schemeClr val="accent1"/>
          </a:fillRef>
          <a:effectRef idx="2">
            <a:schemeClr val="accent1"/>
          </a:effectRef>
          <a:fontRef idx="minor">
            <a:schemeClr val="lt1"/>
          </a:fontRef>
        </p:style>
        <p:txBody>
          <a:bodyPr wrap="square" lIns="109728" tIns="64008" rIns="109728" bIns="64008" rtlCol="0" anchor="ctr"/>
          <a:lstStyle/>
          <a:p>
            <a:pPr algn="ctr">
              <a:spcAft>
                <a:spcPts val="400"/>
              </a:spcAft>
            </a:pPr>
            <a:r>
              <a:rPr lang="en-US" sz="1400" b="1" dirty="0">
                <a:solidFill>
                  <a:sysClr val="windowText" lastClr="000000"/>
                </a:solidFill>
                <a:latin typeface="Aptos" panose="020B0004020202020204" pitchFamily="34" charset="0"/>
              </a:rPr>
              <a:t>0</a:t>
            </a:r>
            <a:r>
              <a:rPr sz="1400" b="1" i="0" dirty="0">
                <a:solidFill>
                  <a:sysClr val="windowText" lastClr="000000"/>
                </a:solidFill>
                <a:latin typeface="Aptos" panose="020B0004020202020204" pitchFamily="34" charset="0"/>
              </a:rPr>
              <a:t>   </a:t>
            </a:r>
            <a:r>
              <a:rPr lang="en-US" sz="1400" b="1" i="0" dirty="0">
                <a:solidFill>
                  <a:sysClr val="windowText" lastClr="000000"/>
                </a:solidFill>
                <a:latin typeface="Aptos" panose="020B0004020202020204" pitchFamily="34" charset="0"/>
              </a:rPr>
              <a:t>INITIALIZATION</a:t>
            </a:r>
          </a:p>
          <a:p>
            <a:pPr algn="ctr"/>
            <a:r>
              <a:rPr lang="en-US" sz="1150" dirty="0">
                <a:solidFill>
                  <a:sysClr val="windowText" lastClr="000000"/>
                </a:solidFill>
                <a:latin typeface="Aptos" panose="020B0004020202020204" pitchFamily="34" charset="0"/>
              </a:rPr>
              <a:t>s</a:t>
            </a:r>
            <a:r>
              <a:rPr lang="en-US" sz="1150" b="0" i="0" dirty="0">
                <a:solidFill>
                  <a:sysClr val="windowText" lastClr="000000"/>
                </a:solidFill>
                <a:latin typeface="Aptos" panose="020B0004020202020204" pitchFamily="34" charset="0"/>
              </a:rPr>
              <a:t>elect few data points to label</a:t>
            </a:r>
          </a:p>
        </p:txBody>
      </p:sp>
      <p:grpSp>
        <p:nvGrpSpPr>
          <p:cNvPr id="21" name="Group 20">
            <a:extLst>
              <a:ext uri="{FF2B5EF4-FFF2-40B4-BE49-F238E27FC236}">
                <a16:creationId xmlns:a16="http://schemas.microsoft.com/office/drawing/2014/main" id="{7CF58631-6C3E-1D43-8829-27EEDC531C24}"/>
              </a:ext>
            </a:extLst>
          </p:cNvPr>
          <p:cNvGrpSpPr/>
          <p:nvPr/>
        </p:nvGrpSpPr>
        <p:grpSpPr>
          <a:xfrm>
            <a:off x="3501433" y="1892140"/>
            <a:ext cx="4187952" cy="1188720"/>
            <a:chOff x="3501433" y="1892140"/>
            <a:chExt cx="4187952" cy="1188720"/>
          </a:xfrm>
        </p:grpSpPr>
        <p:sp>
          <p:nvSpPr>
            <p:cNvPr id="5" name="Rounded Rectangle 4"/>
            <p:cNvSpPr/>
            <p:nvPr/>
          </p:nvSpPr>
          <p:spPr>
            <a:xfrm>
              <a:off x="4443265" y="1892140"/>
              <a:ext cx="3246120" cy="1188720"/>
            </a:xfrm>
            <a:prstGeom prst="roundRect">
              <a:avLst>
                <a:gd name="adj" fmla="val 10000"/>
              </a:avLst>
            </a:prstGeom>
            <a:solidFill>
              <a:srgbClr val="EAF6F1"/>
            </a:solidFill>
            <a:ln w="19050">
              <a:noFill/>
            </a:ln>
            <a:effectLst/>
          </p:spPr>
          <p:style>
            <a:lnRef idx="1">
              <a:schemeClr val="accent1"/>
            </a:lnRef>
            <a:fillRef idx="3">
              <a:schemeClr val="accent1"/>
            </a:fillRef>
            <a:effectRef idx="2">
              <a:schemeClr val="accent1"/>
            </a:effectRef>
            <a:fontRef idx="minor">
              <a:schemeClr val="lt1"/>
            </a:fontRef>
          </p:style>
          <p:txBody>
            <a:bodyPr wrap="square" lIns="109728" tIns="64008" rIns="109728" bIns="64008" rtlCol="0" anchor="ctr"/>
            <a:lstStyle/>
            <a:p>
              <a:pPr algn="ctr">
                <a:spcAft>
                  <a:spcPts val="400"/>
                </a:spcAft>
              </a:pPr>
              <a:r>
                <a:rPr sz="1400" b="1" i="0" dirty="0">
                  <a:solidFill>
                    <a:sysClr val="windowText" lastClr="000000"/>
                  </a:solidFill>
                  <a:latin typeface="Aptos" panose="020B0004020202020204" pitchFamily="34" charset="0"/>
                </a:rPr>
                <a:t>1   SURROGATE MODEL</a:t>
              </a:r>
            </a:p>
            <a:p>
              <a:pPr algn="ctr"/>
              <a:r>
                <a:rPr sz="1150" b="0" i="0" dirty="0">
                  <a:solidFill>
                    <a:sysClr val="windowText" lastClr="000000"/>
                  </a:solidFill>
                  <a:latin typeface="Aptos" panose="020B0004020202020204" pitchFamily="34" charset="0"/>
                </a:rPr>
                <a:t>a cheap probabilistic model of </a:t>
              </a:r>
              <a:r>
                <a:rPr lang="en-US" sz="1150" b="0" i="0" dirty="0">
                  <a:solidFill>
                    <a:sysClr val="windowText" lastClr="000000"/>
                  </a:solidFill>
                  <a:latin typeface="Aptos" panose="020B0004020202020204" pitchFamily="34" charset="0"/>
                </a:rPr>
                <a:t>f</a:t>
              </a:r>
              <a:endParaRPr sz="1150" b="0" i="0" dirty="0">
                <a:solidFill>
                  <a:sysClr val="windowText" lastClr="000000"/>
                </a:solidFill>
                <a:latin typeface="Aptos" panose="020B0004020202020204" pitchFamily="34" charset="0"/>
              </a:endParaRPr>
            </a:p>
            <a:p>
              <a:pPr algn="ctr"/>
              <a:r>
                <a:rPr sz="1150" b="1" i="0" dirty="0">
                  <a:solidFill>
                    <a:sysClr val="windowText" lastClr="000000"/>
                  </a:solidFill>
                  <a:latin typeface="Aptos" panose="020B0004020202020204" pitchFamily="34" charset="0"/>
                </a:rPr>
                <a:t>mean </a:t>
              </a:r>
              <a:r>
                <a:rPr lang="en-US" sz="1150" b="1" dirty="0">
                  <a:solidFill>
                    <a:sysClr val="windowText" lastClr="000000"/>
                  </a:solidFill>
                  <a:latin typeface="Aptos" panose="020B0004020202020204" pitchFamily="34" charset="0"/>
                </a:rPr>
                <a:t>+</a:t>
              </a:r>
              <a:r>
                <a:rPr sz="1150" b="1" i="0" dirty="0">
                  <a:solidFill>
                    <a:sysClr val="windowText" lastClr="000000"/>
                  </a:solidFill>
                  <a:latin typeface="Aptos" panose="020B0004020202020204" pitchFamily="34" charset="0"/>
                </a:rPr>
                <a:t> uncertainty</a:t>
              </a:r>
            </a:p>
          </p:txBody>
        </p:sp>
        <p:cxnSp>
          <p:nvCxnSpPr>
            <p:cNvPr id="20" name="Connector 8">
              <a:extLst>
                <a:ext uri="{FF2B5EF4-FFF2-40B4-BE49-F238E27FC236}">
                  <a16:creationId xmlns:a16="http://schemas.microsoft.com/office/drawing/2014/main" id="{94135916-DFD2-0BAE-A34C-BDE0DFF30225}"/>
                </a:ext>
              </a:extLst>
            </p:cNvPr>
            <p:cNvCxnSpPr>
              <a:cxnSpLocks/>
            </p:cNvCxnSpPr>
            <p:nvPr/>
          </p:nvCxnSpPr>
          <p:spPr>
            <a:xfrm>
              <a:off x="3501433" y="2486500"/>
              <a:ext cx="941832" cy="0"/>
            </a:xfrm>
            <a:prstGeom prst="line">
              <a:avLst/>
            </a:prstGeom>
            <a:ln w="76200">
              <a:solidFill>
                <a:schemeClr val="tx1">
                  <a:lumMod val="75000"/>
                  <a:lumOff val="25000"/>
                </a:schemeClr>
              </a:solidFill>
              <a:tailEnd type="triangle"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Bayes' law, stated over functions</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2606040" y="1657183"/>
            <a:ext cx="6949440" cy="96012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600" b="0" i="1" dirty="0">
                <a:solidFill>
                  <a:srgbClr val="123830"/>
                </a:solidFill>
                <a:latin typeface="Aptos" panose="020B0004020202020204" pitchFamily="34" charset="0"/>
              </a:rPr>
              <a:t>p( f | D )   </a:t>
            </a:r>
            <a:r>
              <a:rPr lang="en-US" sz="2600" b="0" i="1" dirty="0">
                <a:solidFill>
                  <a:srgbClr val="123830"/>
                </a:solidFill>
                <a:latin typeface="Aptos" panose="020B0004020202020204" pitchFamily="34" charset="0"/>
              </a:rPr>
              <a:t>⍺</a:t>
            </a:r>
            <a:r>
              <a:rPr sz="2600" b="0" i="1" dirty="0">
                <a:solidFill>
                  <a:srgbClr val="123830"/>
                </a:solidFill>
                <a:latin typeface="Aptos" panose="020B0004020202020204" pitchFamily="34" charset="0"/>
              </a:rPr>
              <a:t>   p( D | f )  ·  p( f )</a:t>
            </a:r>
          </a:p>
        </p:txBody>
      </p:sp>
      <p:sp>
        <p:nvSpPr>
          <p:cNvPr id="6" name="Rounded Rectangle 5"/>
          <p:cNvSpPr/>
          <p:nvPr/>
        </p:nvSpPr>
        <p:spPr>
          <a:xfrm>
            <a:off x="685800" y="2937343"/>
            <a:ext cx="3529584" cy="208523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1000"/>
              </a:spcAft>
            </a:pPr>
            <a:r>
              <a:rPr sz="1500" b="1" i="0" dirty="0">
                <a:solidFill>
                  <a:srgbClr val="1B8A98"/>
                </a:solidFill>
                <a:latin typeface="Aptos" panose="020B0004020202020204" pitchFamily="34" charset="0"/>
              </a:rPr>
              <a:t>PRIOR   </a:t>
            </a:r>
            <a:r>
              <a:rPr sz="1500" b="1" i="1" dirty="0">
                <a:solidFill>
                  <a:srgbClr val="1B8A98"/>
                </a:solidFill>
                <a:latin typeface="Aptos" panose="020B0004020202020204" pitchFamily="34" charset="0"/>
              </a:rPr>
              <a:t>p(f)</a:t>
            </a:r>
          </a:p>
          <a:p>
            <a:pPr algn="ctr">
              <a:spcAft>
                <a:spcPts val="600"/>
              </a:spcAft>
            </a:pPr>
            <a:r>
              <a:rPr lang="en-US" sz="1300" dirty="0">
                <a:solidFill>
                  <a:srgbClr val="123830"/>
                </a:solidFill>
                <a:latin typeface="Aptos" panose="020B0004020202020204" pitchFamily="34" charset="0"/>
              </a:rPr>
              <a:t>W</a:t>
            </a:r>
            <a:r>
              <a:rPr sz="1300" b="0" i="0" dirty="0">
                <a:solidFill>
                  <a:srgbClr val="123830"/>
                </a:solidFill>
                <a:latin typeface="Aptos" panose="020B0004020202020204" pitchFamily="34" charset="0"/>
              </a:rPr>
              <a:t>hat functions are plausible before any data.</a:t>
            </a:r>
          </a:p>
          <a:p>
            <a:pPr>
              <a:spcAft>
                <a:spcPts val="600"/>
              </a:spcAft>
            </a:pPr>
            <a:endParaRPr lang="en-US" sz="1300" b="0" i="0" dirty="0">
              <a:solidFill>
                <a:srgbClr val="123830"/>
              </a:solidFill>
              <a:latin typeface="Aptos" panose="020B0004020202020204" pitchFamily="34" charset="0"/>
            </a:endParaRPr>
          </a:p>
          <a:p>
            <a:pPr>
              <a:spcAft>
                <a:spcPts val="600"/>
              </a:spcAft>
            </a:pPr>
            <a:r>
              <a:rPr sz="1300" b="0" i="0" dirty="0">
                <a:solidFill>
                  <a:srgbClr val="123830"/>
                </a:solidFill>
                <a:latin typeface="Aptos" panose="020B0004020202020204" pitchFamily="34" charset="0"/>
              </a:rPr>
              <a:t>Not “yield is about 60%” but “yield varies smoothly with T, over tens of degrees”.</a:t>
            </a:r>
          </a:p>
        </p:txBody>
      </p:sp>
      <p:sp>
        <p:nvSpPr>
          <p:cNvPr id="7" name="Rounded Rectangle 6"/>
          <p:cNvSpPr/>
          <p:nvPr/>
        </p:nvSpPr>
        <p:spPr>
          <a:xfrm>
            <a:off x="4315968" y="2937343"/>
            <a:ext cx="3529584" cy="208523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1000"/>
              </a:spcAft>
            </a:pPr>
            <a:r>
              <a:rPr sz="1500" b="1" i="0" dirty="0">
                <a:solidFill>
                  <a:srgbClr val="E0A526"/>
                </a:solidFill>
                <a:latin typeface="Aptos" panose="020B0004020202020204" pitchFamily="34" charset="0"/>
              </a:rPr>
              <a:t>LIKELIHOOD   </a:t>
            </a:r>
            <a:r>
              <a:rPr sz="1500" b="1" i="1" dirty="0">
                <a:solidFill>
                  <a:srgbClr val="E0A526"/>
                </a:solidFill>
                <a:latin typeface="Aptos" panose="020B0004020202020204" pitchFamily="34" charset="0"/>
              </a:rPr>
              <a:t>p(</a:t>
            </a:r>
            <a:r>
              <a:rPr sz="1500" b="1" i="1" dirty="0" err="1">
                <a:solidFill>
                  <a:srgbClr val="E0A526"/>
                </a:solidFill>
                <a:latin typeface="Aptos" panose="020B0004020202020204" pitchFamily="34" charset="0"/>
              </a:rPr>
              <a:t>D|f</a:t>
            </a:r>
            <a:r>
              <a:rPr sz="1500" b="1" i="1" dirty="0">
                <a:solidFill>
                  <a:srgbClr val="E0A526"/>
                </a:solidFill>
                <a:latin typeface="Aptos" panose="020B0004020202020204" pitchFamily="34" charset="0"/>
              </a:rPr>
              <a:t>)</a:t>
            </a:r>
          </a:p>
          <a:p>
            <a:pPr algn="ctr">
              <a:spcAft>
                <a:spcPts val="600"/>
              </a:spcAft>
            </a:pPr>
            <a:r>
              <a:rPr lang="en-US" sz="1300" b="0" i="0" dirty="0">
                <a:solidFill>
                  <a:srgbClr val="123830"/>
                </a:solidFill>
                <a:latin typeface="Aptos" panose="020B0004020202020204" pitchFamily="34" charset="0"/>
              </a:rPr>
              <a:t>H</a:t>
            </a:r>
            <a:r>
              <a:rPr sz="1300" b="0" i="0" dirty="0">
                <a:solidFill>
                  <a:srgbClr val="123830"/>
                </a:solidFill>
                <a:latin typeface="Aptos" panose="020B0004020202020204" pitchFamily="34" charset="0"/>
              </a:rPr>
              <a:t>ow strongly the measurements constrain f.</a:t>
            </a:r>
          </a:p>
          <a:p>
            <a:pPr>
              <a:spcAft>
                <a:spcPts val="600"/>
              </a:spcAft>
            </a:pPr>
            <a:endParaRPr lang="en-US" sz="1300" b="0" i="0" dirty="0">
              <a:solidFill>
                <a:srgbClr val="123830"/>
              </a:solidFill>
              <a:latin typeface="Aptos" panose="020B0004020202020204" pitchFamily="34" charset="0"/>
            </a:endParaRPr>
          </a:p>
          <a:p>
            <a:pPr>
              <a:spcAft>
                <a:spcPts val="600"/>
              </a:spcAft>
            </a:pPr>
            <a:r>
              <a:rPr sz="1300" b="0" i="0" dirty="0">
                <a:solidFill>
                  <a:srgbClr val="123830"/>
                </a:solidFill>
                <a:latin typeface="Aptos" panose="020B0004020202020204" pitchFamily="34" charset="0"/>
              </a:rPr>
              <a:t>Contains the experimental noise model.</a:t>
            </a:r>
          </a:p>
          <a:p>
            <a:pPr>
              <a:spcAft>
                <a:spcPts val="600"/>
              </a:spcAft>
            </a:pPr>
            <a:r>
              <a:rPr sz="1300" b="0" i="0" dirty="0">
                <a:solidFill>
                  <a:srgbClr val="123830"/>
                </a:solidFill>
                <a:latin typeface="Aptos" panose="020B0004020202020204" pitchFamily="34" charset="0"/>
              </a:rPr>
              <a:t>Noiseless likelihood ⇒ the surrogate is forced through every point, including your bad ones.</a:t>
            </a:r>
          </a:p>
        </p:txBody>
      </p:sp>
      <p:sp>
        <p:nvSpPr>
          <p:cNvPr id="8" name="Rounded Rectangle 7"/>
          <p:cNvSpPr/>
          <p:nvPr/>
        </p:nvSpPr>
        <p:spPr>
          <a:xfrm>
            <a:off x="7946136" y="2937343"/>
            <a:ext cx="3529584" cy="208523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1000"/>
              </a:spcAft>
            </a:pPr>
            <a:r>
              <a:rPr sz="1500" b="1" i="0" dirty="0">
                <a:solidFill>
                  <a:srgbClr val="C00000"/>
                </a:solidFill>
                <a:latin typeface="Aptos" panose="020B0004020202020204" pitchFamily="34" charset="0"/>
              </a:rPr>
              <a:t>POSTERIOR   </a:t>
            </a:r>
            <a:r>
              <a:rPr sz="1500" b="1" i="1" dirty="0">
                <a:solidFill>
                  <a:srgbClr val="C00000"/>
                </a:solidFill>
                <a:latin typeface="Aptos" panose="020B0004020202020204" pitchFamily="34" charset="0"/>
              </a:rPr>
              <a:t>p(</a:t>
            </a:r>
            <a:r>
              <a:rPr sz="1500" b="1" i="1" dirty="0" err="1">
                <a:solidFill>
                  <a:srgbClr val="C00000"/>
                </a:solidFill>
                <a:latin typeface="Aptos" panose="020B0004020202020204" pitchFamily="34" charset="0"/>
              </a:rPr>
              <a:t>f|D</a:t>
            </a:r>
            <a:r>
              <a:rPr sz="1500" b="1" i="1" dirty="0">
                <a:solidFill>
                  <a:srgbClr val="C00000"/>
                </a:solidFill>
                <a:latin typeface="Aptos" panose="020B0004020202020204" pitchFamily="34" charset="0"/>
              </a:rPr>
              <a:t>)</a:t>
            </a:r>
          </a:p>
          <a:p>
            <a:pPr algn="ctr">
              <a:spcAft>
                <a:spcPts val="600"/>
              </a:spcAft>
            </a:pPr>
            <a:r>
              <a:rPr lang="en-US" sz="1300" dirty="0">
                <a:solidFill>
                  <a:srgbClr val="123830"/>
                </a:solidFill>
                <a:latin typeface="Aptos" panose="020B0004020202020204" pitchFamily="34" charset="0"/>
              </a:rPr>
              <a:t>T</a:t>
            </a:r>
            <a:r>
              <a:rPr sz="1300" b="0" i="0" dirty="0">
                <a:solidFill>
                  <a:srgbClr val="123830"/>
                </a:solidFill>
                <a:latin typeface="Aptos" panose="020B0004020202020204" pitchFamily="34" charset="0"/>
              </a:rPr>
              <a:t>he updated belief.</a:t>
            </a:r>
          </a:p>
          <a:p>
            <a:pPr>
              <a:spcAft>
                <a:spcPts val="600"/>
              </a:spcAft>
            </a:pPr>
            <a:endParaRPr lang="en-US" sz="1300" b="0" i="0" dirty="0">
              <a:solidFill>
                <a:srgbClr val="123830"/>
              </a:solidFill>
              <a:latin typeface="Aptos" panose="020B0004020202020204" pitchFamily="34" charset="0"/>
            </a:endParaRPr>
          </a:p>
          <a:p>
            <a:pPr>
              <a:spcAft>
                <a:spcPts val="600"/>
              </a:spcAft>
            </a:pPr>
            <a:r>
              <a:rPr sz="1300" b="0" i="0" dirty="0">
                <a:solidFill>
                  <a:srgbClr val="123830"/>
                </a:solidFill>
                <a:latin typeface="Aptos" panose="020B0004020202020204" pitchFamily="34" charset="0"/>
              </a:rPr>
              <a:t>Narrow where you have measured.</a:t>
            </a:r>
          </a:p>
          <a:p>
            <a:pPr>
              <a:spcAft>
                <a:spcPts val="600"/>
              </a:spcAft>
            </a:pPr>
            <a:r>
              <a:rPr sz="1300" b="0" i="0" dirty="0">
                <a:solidFill>
                  <a:srgbClr val="123830"/>
                </a:solidFill>
                <a:latin typeface="Aptos" panose="020B0004020202020204" pitchFamily="34" charset="0"/>
              </a:rPr>
              <a:t>Wide where you have not.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a:solidFill>
                  <a:srgbClr val="000000"/>
                </a:solidFill>
                <a:latin typeface="Avenir Book"/>
              </a:rPr>
              <a:t>The posterior is not a fit</a:t>
            </a:r>
            <a:r>
              <a:rPr lang="en-US" sz="2600" dirty="0">
                <a:solidFill>
                  <a:srgbClr val="000000"/>
                </a:solidFill>
                <a:latin typeface="Avenir Book"/>
              </a:rPr>
              <a:t> it is what survives</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pic>
        <p:nvPicPr>
          <p:cNvPr id="5" name="Picture 4" descr="fig_04_posterior_collapse.png"/>
          <p:cNvPicPr>
            <a:picLocks noChangeAspect="1"/>
          </p:cNvPicPr>
          <p:nvPr/>
        </p:nvPicPr>
        <p:blipFill>
          <a:blip r:embed="rId4"/>
          <a:srcRect t="3846"/>
          <a:stretch>
            <a:fillRect/>
          </a:stretch>
        </p:blipFill>
        <p:spPr>
          <a:xfrm>
            <a:off x="1559162" y="1593011"/>
            <a:ext cx="7369260" cy="4220269"/>
          </a:xfrm>
          <a:prstGeom prst="rect">
            <a:avLst/>
          </a:prstGeom>
        </p:spPr>
      </p:pic>
      <p:sp>
        <p:nvSpPr>
          <p:cNvPr id="6" name="TextBox 5"/>
          <p:cNvSpPr txBox="1"/>
          <p:nvPr/>
        </p:nvSpPr>
        <p:spPr>
          <a:xfrm>
            <a:off x="46634" y="6223132"/>
            <a:ext cx="10835640" cy="169277"/>
          </a:xfrm>
          <a:prstGeom prst="rect">
            <a:avLst/>
          </a:prstGeom>
          <a:noFill/>
        </p:spPr>
        <p:txBody>
          <a:bodyPr wrap="square" lIns="0" tIns="0" rIns="0" bIns="0" anchor="t">
            <a:spAutoFit/>
          </a:bodyPr>
          <a:lstStyle/>
          <a:p>
            <a:r>
              <a:rPr sz="1100" b="0" i="1" dirty="0">
                <a:solidFill>
                  <a:srgbClr val="777777"/>
                </a:solidFill>
                <a:latin typeface="Aptos" panose="020B0004020202020204" pitchFamily="34" charset="0"/>
              </a:rPr>
              <a:t>fig_04_posterior_collapse.ipynb</a:t>
            </a:r>
          </a:p>
        </p:txBody>
      </p:sp>
      <p:sp>
        <p:nvSpPr>
          <p:cNvPr id="8" name="TextBox 7">
            <a:extLst>
              <a:ext uri="{FF2B5EF4-FFF2-40B4-BE49-F238E27FC236}">
                <a16:creationId xmlns:a16="http://schemas.microsoft.com/office/drawing/2014/main" id="{D02BD4D8-D228-1CBA-D0E7-B61C443AA8E5}"/>
              </a:ext>
            </a:extLst>
          </p:cNvPr>
          <p:cNvSpPr txBox="1"/>
          <p:nvPr/>
        </p:nvSpPr>
        <p:spPr>
          <a:xfrm>
            <a:off x="9373119" y="1801702"/>
            <a:ext cx="1285461" cy="492443"/>
          </a:xfrm>
          <a:prstGeom prst="rect">
            <a:avLst/>
          </a:prstGeom>
          <a:noFill/>
        </p:spPr>
        <p:txBody>
          <a:bodyPr wrap="square">
            <a:spAutoFit/>
          </a:bodyPr>
          <a:lstStyle/>
          <a:p>
            <a:pPr algn="ctr"/>
            <a:r>
              <a:rPr lang="en-US" sz="2600" b="0" i="1" dirty="0">
                <a:solidFill>
                  <a:srgbClr val="123830"/>
                </a:solidFill>
                <a:latin typeface="Aptos" panose="020B0004020202020204" pitchFamily="34" charset="0"/>
              </a:rPr>
              <a:t>p( f )</a:t>
            </a:r>
            <a:endParaRPr lang="en-US" dirty="0"/>
          </a:p>
        </p:txBody>
      </p:sp>
      <p:sp>
        <p:nvSpPr>
          <p:cNvPr id="10" name="TextBox 9">
            <a:extLst>
              <a:ext uri="{FF2B5EF4-FFF2-40B4-BE49-F238E27FC236}">
                <a16:creationId xmlns:a16="http://schemas.microsoft.com/office/drawing/2014/main" id="{4CD1F449-013B-92EF-670B-529A6203E771}"/>
              </a:ext>
            </a:extLst>
          </p:cNvPr>
          <p:cNvSpPr txBox="1"/>
          <p:nvPr/>
        </p:nvSpPr>
        <p:spPr>
          <a:xfrm>
            <a:off x="9326736" y="4690231"/>
            <a:ext cx="1378226" cy="492443"/>
          </a:xfrm>
          <a:prstGeom prst="rect">
            <a:avLst/>
          </a:prstGeom>
          <a:noFill/>
        </p:spPr>
        <p:txBody>
          <a:bodyPr wrap="square">
            <a:spAutoFit/>
          </a:bodyPr>
          <a:lstStyle/>
          <a:p>
            <a:pPr algn="ctr"/>
            <a:r>
              <a:rPr lang="en-US" sz="2600" b="0" i="1" dirty="0">
                <a:solidFill>
                  <a:srgbClr val="123830"/>
                </a:solidFill>
                <a:latin typeface="Aptos" panose="020B0004020202020204" pitchFamily="34" charset="0"/>
              </a:rPr>
              <a:t>p( f | D ) </a:t>
            </a:r>
            <a:endParaRPr lang="en-US" dirty="0"/>
          </a:p>
        </p:txBody>
      </p:sp>
      <p:cxnSp>
        <p:nvCxnSpPr>
          <p:cNvPr id="14" name="Straight Arrow Connector 13">
            <a:extLst>
              <a:ext uri="{FF2B5EF4-FFF2-40B4-BE49-F238E27FC236}">
                <a16:creationId xmlns:a16="http://schemas.microsoft.com/office/drawing/2014/main" id="{17931F09-2764-A238-5972-A349B56C3EFE}"/>
              </a:ext>
            </a:extLst>
          </p:cNvPr>
          <p:cNvCxnSpPr>
            <a:cxnSpLocks/>
          </p:cNvCxnSpPr>
          <p:nvPr/>
        </p:nvCxnSpPr>
        <p:spPr>
          <a:xfrm>
            <a:off x="10015849" y="2495298"/>
            <a:ext cx="0" cy="20805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FBF7279-FCAA-44DE-4F76-1FF74F17D565}"/>
              </a:ext>
            </a:extLst>
          </p:cNvPr>
          <p:cNvSpPr txBox="1"/>
          <p:nvPr/>
        </p:nvSpPr>
        <p:spPr>
          <a:xfrm>
            <a:off x="10183090" y="3179617"/>
            <a:ext cx="1361270" cy="646331"/>
          </a:xfrm>
          <a:prstGeom prst="rect">
            <a:avLst/>
          </a:prstGeom>
          <a:noFill/>
        </p:spPr>
        <p:txBody>
          <a:bodyPr wrap="none" rtlCol="0">
            <a:spAutoFit/>
          </a:bodyPr>
          <a:lstStyle/>
          <a:p>
            <a:r>
              <a:rPr lang="en-US" b="1" dirty="0"/>
              <a:t>Data </a:t>
            </a:r>
          </a:p>
          <a:p>
            <a:r>
              <a:rPr lang="en-US" b="1" dirty="0"/>
              <a:t>acquisition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Decision Making</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3017520" y="1304053"/>
            <a:ext cx="6126480" cy="82296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400" b="0" i="1" dirty="0">
                <a:solidFill>
                  <a:srgbClr val="123830"/>
                </a:solidFill>
                <a:latin typeface="Aptos" panose="020B0004020202020204" pitchFamily="34" charset="0"/>
              </a:rPr>
              <a:t>p( f(x) | D )  =  N( </a:t>
            </a:r>
            <a:r>
              <a:rPr sz="2400" b="0" i="1" dirty="0" err="1">
                <a:solidFill>
                  <a:srgbClr val="123830"/>
                </a:solidFill>
                <a:latin typeface="Aptos" panose="020B0004020202020204" pitchFamily="34" charset="0"/>
              </a:rPr>
              <a:t>μ</a:t>
            </a:r>
            <a:r>
              <a:rPr sz="2400" b="0" i="1" dirty="0">
                <a:solidFill>
                  <a:srgbClr val="123830"/>
                </a:solidFill>
                <a:latin typeface="Aptos" panose="020B0004020202020204" pitchFamily="34" charset="0"/>
              </a:rPr>
              <a:t>(x), σ²(x) )</a:t>
            </a:r>
          </a:p>
        </p:txBody>
      </p:sp>
      <p:grpSp>
        <p:nvGrpSpPr>
          <p:cNvPr id="9" name="Group 8">
            <a:extLst>
              <a:ext uri="{FF2B5EF4-FFF2-40B4-BE49-F238E27FC236}">
                <a16:creationId xmlns:a16="http://schemas.microsoft.com/office/drawing/2014/main" id="{93B48458-A224-5E8F-DC4A-1BF2389D0537}"/>
              </a:ext>
            </a:extLst>
          </p:cNvPr>
          <p:cNvGrpSpPr/>
          <p:nvPr/>
        </p:nvGrpSpPr>
        <p:grpSpPr>
          <a:xfrm>
            <a:off x="1143000" y="2881211"/>
            <a:ext cx="9902952" cy="1823350"/>
            <a:chOff x="1143000" y="2881211"/>
            <a:chExt cx="9902952" cy="1823350"/>
          </a:xfrm>
        </p:grpSpPr>
        <p:sp>
          <p:nvSpPr>
            <p:cNvPr id="6" name="Rounded Rectangle 5"/>
            <p:cNvSpPr/>
            <p:nvPr/>
          </p:nvSpPr>
          <p:spPr>
            <a:xfrm>
              <a:off x="1143000" y="2881211"/>
              <a:ext cx="4837176" cy="137160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1700" b="1" i="0" dirty="0">
                  <a:solidFill>
                    <a:srgbClr val="123830"/>
                  </a:solidFill>
                  <a:latin typeface="Aptos" panose="020B0004020202020204" pitchFamily="34" charset="0"/>
                </a:rPr>
                <a:t>Candidate A</a:t>
              </a:r>
            </a:p>
            <a:p>
              <a:pPr algn="ctr"/>
              <a:r>
                <a:rPr sz="1700" b="0" i="0" dirty="0">
                  <a:solidFill>
                    <a:srgbClr val="123830"/>
                  </a:solidFill>
                  <a:latin typeface="Aptos" panose="020B0004020202020204" pitchFamily="34" charset="0"/>
                </a:rPr>
                <a:t>predicted 62%</a:t>
              </a:r>
              <a:endParaRPr lang="en-US" sz="1700" b="0" i="0" dirty="0">
                <a:solidFill>
                  <a:srgbClr val="123830"/>
                </a:solidFill>
                <a:latin typeface="Aptos" panose="020B0004020202020204" pitchFamily="34" charset="0"/>
              </a:endParaRPr>
            </a:p>
            <a:p>
              <a:pPr algn="ctr"/>
              <a:r>
                <a:rPr sz="1700" b="0" i="0" dirty="0">
                  <a:solidFill>
                    <a:srgbClr val="123830"/>
                  </a:solidFill>
                  <a:latin typeface="Aptos" panose="020B0004020202020204" pitchFamily="34" charset="0"/>
                </a:rPr>
                <a:t>  </a:t>
              </a:r>
              <a:endParaRPr lang="en-US" sz="1700" b="0" i="0" dirty="0">
                <a:solidFill>
                  <a:srgbClr val="123830"/>
                </a:solidFill>
                <a:latin typeface="Aptos" panose="020B0004020202020204" pitchFamily="34" charset="0"/>
              </a:endParaRPr>
            </a:p>
          </p:txBody>
        </p:sp>
        <p:sp>
          <p:nvSpPr>
            <p:cNvPr id="7" name="Rounded Rectangle 6"/>
            <p:cNvSpPr/>
            <p:nvPr/>
          </p:nvSpPr>
          <p:spPr>
            <a:xfrm>
              <a:off x="6208776" y="2881211"/>
              <a:ext cx="4837176" cy="137160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1700" b="1" i="0" dirty="0">
                  <a:solidFill>
                    <a:srgbClr val="123830"/>
                  </a:solidFill>
                  <a:latin typeface="Aptos" panose="020B0004020202020204" pitchFamily="34" charset="0"/>
                </a:rPr>
                <a:t>Candidate B</a:t>
              </a:r>
            </a:p>
            <a:p>
              <a:pPr algn="ctr"/>
              <a:r>
                <a:rPr sz="1700" b="0" i="0" dirty="0">
                  <a:solidFill>
                    <a:srgbClr val="123830"/>
                  </a:solidFill>
                  <a:latin typeface="Aptos" panose="020B0004020202020204" pitchFamily="34" charset="0"/>
                </a:rPr>
                <a:t>predicted 55%</a:t>
              </a:r>
              <a:endParaRPr lang="en-US" sz="1700" b="0" i="0" dirty="0">
                <a:solidFill>
                  <a:srgbClr val="123830"/>
                </a:solidFill>
                <a:latin typeface="Aptos" panose="020B0004020202020204" pitchFamily="34" charset="0"/>
              </a:endParaRPr>
            </a:p>
            <a:p>
              <a:pPr algn="ctr"/>
              <a:endParaRPr lang="en-US" sz="1700" b="0" i="0" dirty="0">
                <a:solidFill>
                  <a:srgbClr val="123830"/>
                </a:solidFill>
                <a:latin typeface="Aptos" panose="020B0004020202020204" pitchFamily="34" charset="0"/>
              </a:endParaRPr>
            </a:p>
          </p:txBody>
        </p:sp>
        <p:sp>
          <p:nvSpPr>
            <p:cNvPr id="8" name="TextBox 7"/>
            <p:cNvSpPr txBox="1"/>
            <p:nvPr/>
          </p:nvSpPr>
          <p:spPr>
            <a:xfrm>
              <a:off x="1376437" y="4427562"/>
              <a:ext cx="9464040" cy="276999"/>
            </a:xfrm>
            <a:prstGeom prst="rect">
              <a:avLst/>
            </a:prstGeom>
            <a:noFill/>
          </p:spPr>
          <p:txBody>
            <a:bodyPr wrap="square" lIns="0" tIns="0" rIns="0" bIns="0" anchor="t">
              <a:spAutoFit/>
            </a:bodyPr>
            <a:lstStyle/>
            <a:p>
              <a:pPr algn="ctr">
                <a:spcAft>
                  <a:spcPts val="1200"/>
                </a:spcAft>
              </a:pPr>
              <a:r>
                <a:rPr i="0" dirty="0">
                  <a:solidFill>
                    <a:srgbClr val="123830"/>
                  </a:solidFill>
                  <a:latin typeface="Aptos" panose="020B0004020202020204" pitchFamily="34" charset="0"/>
                </a:rPr>
                <a:t>Which do you run next?</a:t>
              </a:r>
            </a:p>
          </p:txBody>
        </p:sp>
      </p:grpSp>
      <p:sp>
        <p:nvSpPr>
          <p:cNvPr id="10" name="TextBox 9">
            <a:extLst>
              <a:ext uri="{FF2B5EF4-FFF2-40B4-BE49-F238E27FC236}">
                <a16:creationId xmlns:a16="http://schemas.microsoft.com/office/drawing/2014/main" id="{4323734B-1B8A-2148-CC01-07445D3F070C}"/>
              </a:ext>
            </a:extLst>
          </p:cNvPr>
          <p:cNvSpPr txBox="1"/>
          <p:nvPr/>
        </p:nvSpPr>
        <p:spPr>
          <a:xfrm>
            <a:off x="1373356" y="3815884"/>
            <a:ext cx="4376464" cy="353943"/>
          </a:xfrm>
          <a:prstGeom prst="rect">
            <a:avLst/>
          </a:prstGeom>
          <a:noFill/>
        </p:spPr>
        <p:txBody>
          <a:bodyPr wrap="square">
            <a:spAutoFit/>
          </a:bodyPr>
          <a:lstStyle/>
          <a:p>
            <a:pPr algn="ctr"/>
            <a:r>
              <a:rPr lang="el-GR" sz="1700" b="0" i="0" dirty="0">
                <a:solidFill>
                  <a:srgbClr val="123830"/>
                </a:solidFill>
                <a:latin typeface="Aptos" panose="020B0004020202020204" pitchFamily="34" charset="0"/>
              </a:rPr>
              <a:t>σ = 1%</a:t>
            </a:r>
          </a:p>
        </p:txBody>
      </p:sp>
      <p:sp>
        <p:nvSpPr>
          <p:cNvPr id="12" name="TextBox 11">
            <a:extLst>
              <a:ext uri="{FF2B5EF4-FFF2-40B4-BE49-F238E27FC236}">
                <a16:creationId xmlns:a16="http://schemas.microsoft.com/office/drawing/2014/main" id="{7A8C723A-3B60-7AE5-DFFF-4D3A47AF7FA3}"/>
              </a:ext>
            </a:extLst>
          </p:cNvPr>
          <p:cNvSpPr txBox="1"/>
          <p:nvPr/>
        </p:nvSpPr>
        <p:spPr>
          <a:xfrm>
            <a:off x="6414251" y="3815883"/>
            <a:ext cx="4426226" cy="353943"/>
          </a:xfrm>
          <a:prstGeom prst="rect">
            <a:avLst/>
          </a:prstGeom>
          <a:noFill/>
        </p:spPr>
        <p:txBody>
          <a:bodyPr wrap="square">
            <a:spAutoFit/>
          </a:bodyPr>
          <a:lstStyle/>
          <a:p>
            <a:pPr algn="ctr"/>
            <a:r>
              <a:rPr lang="el-GR" sz="1700" b="0" i="0" dirty="0">
                <a:solidFill>
                  <a:srgbClr val="123830"/>
                </a:solidFill>
                <a:latin typeface="Aptos" panose="020B0004020202020204" pitchFamily="34" charset="0"/>
              </a:rPr>
              <a:t>σ = 15%</a:t>
            </a:r>
          </a:p>
        </p:txBody>
      </p:sp>
      <p:sp>
        <p:nvSpPr>
          <p:cNvPr id="13" name="TextBox 12">
            <a:extLst>
              <a:ext uri="{FF2B5EF4-FFF2-40B4-BE49-F238E27FC236}">
                <a16:creationId xmlns:a16="http://schemas.microsoft.com/office/drawing/2014/main" id="{189A41CA-E699-C0EB-429E-1AED400DF28A}"/>
              </a:ext>
            </a:extLst>
          </p:cNvPr>
          <p:cNvSpPr txBox="1"/>
          <p:nvPr/>
        </p:nvSpPr>
        <p:spPr>
          <a:xfrm>
            <a:off x="2114482" y="5317619"/>
            <a:ext cx="7932556" cy="369332"/>
          </a:xfrm>
          <a:prstGeom prst="rect">
            <a:avLst/>
          </a:prstGeom>
          <a:noFill/>
        </p:spPr>
        <p:txBody>
          <a:bodyPr wrap="none" rtlCol="0">
            <a:spAutoFit/>
          </a:bodyPr>
          <a:lstStyle/>
          <a:p>
            <a:pPr algn="ctr"/>
            <a:r>
              <a:rPr lang="en-US" b="1" dirty="0">
                <a:solidFill>
                  <a:srgbClr val="000000"/>
                </a:solidFill>
              </a:rPr>
              <a:t>Expected Mean Value + Model Uncertainty</a:t>
            </a:r>
            <a:r>
              <a:rPr lang="en-US" b="1" dirty="0"/>
              <a:t> are needed for decision making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a:solidFill>
                  <a:srgbClr val="000000"/>
                </a:solidFill>
                <a:latin typeface="Avenir Book"/>
              </a:rPr>
              <a:t>Closed </a:t>
            </a:r>
            <a:r>
              <a:rPr lang="en-US" sz="2600" dirty="0">
                <a:solidFill>
                  <a:srgbClr val="000000"/>
                </a:solidFill>
                <a:latin typeface="Avenir Book"/>
              </a:rPr>
              <a:t>F</a:t>
            </a:r>
            <a:r>
              <a:rPr sz="2600" dirty="0">
                <a:solidFill>
                  <a:srgbClr val="000000"/>
                </a:solidFill>
                <a:latin typeface="Avenir Book"/>
              </a:rPr>
              <a:t>orm</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1143000" y="1298448"/>
            <a:ext cx="9902952" cy="12344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200" b="1" i="1" dirty="0" err="1">
                <a:solidFill>
                  <a:srgbClr val="123830"/>
                </a:solidFill>
                <a:latin typeface="Aptos" panose="020B0004020202020204" pitchFamily="34" charset="0"/>
              </a:rPr>
              <a:t>μ</a:t>
            </a:r>
            <a:r>
              <a:rPr sz="2200" b="1" i="1" dirty="0">
                <a:solidFill>
                  <a:srgbClr val="123830"/>
                </a:solidFill>
                <a:latin typeface="Aptos" panose="020B0004020202020204" pitchFamily="34" charset="0"/>
              </a:rPr>
              <a:t>(x) = kₓᵀ K⁻¹ y          σ²(x) = kₓₓ − kₓᵀ K⁻¹ kₓ</a:t>
            </a:r>
          </a:p>
          <a:p>
            <a:pPr algn="ctr">
              <a:spcAft>
                <a:spcPts val="600"/>
              </a:spcAft>
            </a:pPr>
            <a:r>
              <a:rPr b="0" i="1" dirty="0">
                <a:solidFill>
                  <a:srgbClr val="777777"/>
                </a:solidFill>
                <a:latin typeface="Aptos" panose="020B0004020202020204" pitchFamily="34" charset="0"/>
              </a:rPr>
              <a:t>with  K = K(X,X) + σₙ² I</a:t>
            </a:r>
          </a:p>
        </p:txBody>
      </p:sp>
      <p:sp>
        <p:nvSpPr>
          <p:cNvPr id="6" name="Rounded Rectangle 5"/>
          <p:cNvSpPr/>
          <p:nvPr/>
        </p:nvSpPr>
        <p:spPr>
          <a:xfrm>
            <a:off x="1143000" y="3169920"/>
            <a:ext cx="9902952" cy="114300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lang="el-GR" sz="2200" b="1" i="0" dirty="0">
                <a:solidFill>
                  <a:schemeClr val="tx1"/>
                </a:solidFill>
                <a:latin typeface="Aptos" panose="020B0004020202020204" pitchFamily="34" charset="0"/>
              </a:rPr>
              <a:t>σ</a:t>
            </a:r>
            <a:r>
              <a:rPr sz="2200" b="1" i="0" dirty="0">
                <a:solidFill>
                  <a:schemeClr val="tx1"/>
                </a:solidFill>
                <a:latin typeface="Aptos" panose="020B0004020202020204" pitchFamily="34" charset="0"/>
              </a:rPr>
              <a:t>² does not contain y.</a:t>
            </a:r>
          </a:p>
          <a:p>
            <a:pPr algn="ctr"/>
            <a:r>
              <a:rPr b="0" i="0" dirty="0">
                <a:solidFill>
                  <a:srgbClr val="123830"/>
                </a:solidFill>
                <a:latin typeface="Aptos" panose="020B0004020202020204" pitchFamily="34" charset="0"/>
              </a:rPr>
              <a:t>Where you sampled sets the uncertainty — not what you measured.</a:t>
            </a:r>
          </a:p>
        </p:txBody>
      </p:sp>
      <p:sp>
        <p:nvSpPr>
          <p:cNvPr id="7" name="TextBox 6"/>
          <p:cNvSpPr txBox="1"/>
          <p:nvPr/>
        </p:nvSpPr>
        <p:spPr>
          <a:xfrm>
            <a:off x="1143000" y="5021793"/>
            <a:ext cx="9902953" cy="933589"/>
          </a:xfrm>
          <a:prstGeom prst="rect">
            <a:avLst/>
          </a:prstGeom>
          <a:noFill/>
        </p:spPr>
        <p:txBody>
          <a:bodyPr wrap="square" lIns="0" tIns="0" rIns="0" bIns="0" anchor="t">
            <a:spAutoFit/>
          </a:bodyPr>
          <a:lstStyle/>
          <a:p>
            <a:pPr algn="l">
              <a:spcAft>
                <a:spcPts val="800"/>
              </a:spcAft>
            </a:pPr>
            <a:r>
              <a:rPr lang="en-US" b="0" i="0" dirty="0">
                <a:latin typeface="Aptos" panose="020B0004020202020204" pitchFamily="34" charset="0"/>
              </a:rPr>
              <a:t>If you only consider uncertainty,</a:t>
            </a:r>
            <a:r>
              <a:rPr b="0" i="0" dirty="0">
                <a:latin typeface="Aptos" panose="020B0004020202020204" pitchFamily="34" charset="0"/>
              </a:rPr>
              <a:t> </a:t>
            </a:r>
            <a:r>
              <a:rPr lang="en-US" dirty="0">
                <a:latin typeface="Aptos" panose="020B0004020202020204" pitchFamily="34" charset="0"/>
              </a:rPr>
              <a:t>y</a:t>
            </a:r>
            <a:r>
              <a:rPr b="0" i="0" dirty="0">
                <a:latin typeface="Aptos" panose="020B0004020202020204" pitchFamily="34" charset="0"/>
              </a:rPr>
              <a:t>ou can plan a campaign before running it. This is the seed of tomorrow's Active Learning lecture.</a:t>
            </a:r>
          </a:p>
          <a:p>
            <a:r>
              <a:rPr b="1" i="0" dirty="0">
                <a:latin typeface="Aptos" panose="020B0004020202020204" pitchFamily="34" charset="0"/>
              </a:rPr>
              <a:t>True only at </a:t>
            </a:r>
            <a:r>
              <a:rPr lang="en-US" b="1" dirty="0">
                <a:latin typeface="Aptos" panose="020B0004020202020204" pitchFamily="34" charset="0"/>
              </a:rPr>
              <a:t>fixed</a:t>
            </a:r>
            <a:r>
              <a:rPr b="1" i="0" dirty="0">
                <a:latin typeface="Aptos" panose="020B0004020202020204" pitchFamily="34" charset="0"/>
              </a:rPr>
              <a:t> hyperparameters</a:t>
            </a:r>
            <a:r>
              <a:rPr lang="en-US" b="1" i="0" dirty="0">
                <a:latin typeface="Aptos" panose="020B0004020202020204" pitchFamily="34" charset="0"/>
              </a:rPr>
              <a:t> (</a:t>
            </a:r>
            <a:r>
              <a:rPr lang="el-GR" b="1" dirty="0">
                <a:latin typeface="Aptos" panose="020B0004020202020204" pitchFamily="34" charset="0"/>
              </a:rPr>
              <a:t>θ</a:t>
            </a:r>
            <a:r>
              <a:rPr lang="en-US" b="1" dirty="0">
                <a:latin typeface="Aptos" panose="020B0004020202020204" pitchFamily="34" charset="0"/>
              </a:rPr>
              <a:t>)</a:t>
            </a:r>
            <a:r>
              <a:rPr b="1" i="0" dirty="0">
                <a:latin typeface="Aptos" panose="020B0004020202020204" pitchFamily="34" charset="0"/>
              </a:rPr>
              <a:t>. Once ℓ, </a:t>
            </a:r>
            <a:r>
              <a:rPr b="1" i="0" dirty="0" err="1">
                <a:latin typeface="Aptos" panose="020B0004020202020204" pitchFamily="34" charset="0"/>
              </a:rPr>
              <a:t>σf</a:t>
            </a:r>
            <a:r>
              <a:rPr b="1" i="0" dirty="0">
                <a:latin typeface="Aptos" panose="020B0004020202020204" pitchFamily="34" charset="0"/>
              </a:rPr>
              <a:t>, </a:t>
            </a:r>
            <a:r>
              <a:rPr b="1" i="0" dirty="0" err="1">
                <a:latin typeface="Aptos" panose="020B0004020202020204" pitchFamily="34" charset="0"/>
              </a:rPr>
              <a:t>σ</a:t>
            </a:r>
            <a:r>
              <a:rPr b="1" i="0" dirty="0">
                <a:latin typeface="Aptos" panose="020B0004020202020204" pitchFamily="34" charset="0"/>
              </a:rPr>
              <a:t>ₙ are fitted to the data, y re-enters through </a:t>
            </a:r>
            <a:r>
              <a:rPr b="1" i="0" dirty="0" err="1">
                <a:latin typeface="Aptos" panose="020B0004020202020204" pitchFamily="34" charset="0"/>
              </a:rPr>
              <a:t>θ</a:t>
            </a:r>
            <a:r>
              <a:rPr b="1" i="0" dirty="0">
                <a:latin typeface="Aptos" panose="020B00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Reminder on the Objective</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7095114" y="3239544"/>
            <a:ext cx="4565777" cy="1810437"/>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800"/>
              </a:spcAft>
            </a:pPr>
            <a:r>
              <a:rPr sz="2000" b="0" i="0" dirty="0">
                <a:solidFill>
                  <a:srgbClr val="123830"/>
                </a:solidFill>
                <a:latin typeface="Aptos" panose="020B0004020202020204" pitchFamily="34" charset="0"/>
              </a:rPr>
              <a:t>We cannot optimize </a:t>
            </a:r>
            <a:r>
              <a:rPr sz="2000" b="0" i="1" dirty="0">
                <a:solidFill>
                  <a:srgbClr val="123830"/>
                </a:solidFill>
                <a:latin typeface="Aptos" panose="020B0004020202020204" pitchFamily="34" charset="0"/>
              </a:rPr>
              <a:t>f</a:t>
            </a:r>
            <a:r>
              <a:rPr sz="2000" b="0" i="0" dirty="0">
                <a:solidFill>
                  <a:srgbClr val="123830"/>
                </a:solidFill>
                <a:latin typeface="Aptos" panose="020B0004020202020204" pitchFamily="34" charset="0"/>
              </a:rPr>
              <a:t> </a:t>
            </a:r>
            <a:r>
              <a:rPr lang="en-US" sz="2000" dirty="0">
                <a:solidFill>
                  <a:srgbClr val="123830"/>
                </a:solidFill>
                <a:latin typeface="Aptos" panose="020B0004020202020204" pitchFamily="34" charset="0"/>
              </a:rPr>
              <a:t>, too </a:t>
            </a:r>
            <a:r>
              <a:rPr sz="2000" b="0" i="0" dirty="0">
                <a:solidFill>
                  <a:srgbClr val="123830"/>
                </a:solidFill>
                <a:latin typeface="Aptos" panose="020B0004020202020204" pitchFamily="34" charset="0"/>
              </a:rPr>
              <a:t>expensive.</a:t>
            </a:r>
            <a:endParaRPr lang="en-US" sz="2000" dirty="0">
              <a:latin typeface="Aptos" panose="020B0004020202020204" pitchFamily="34" charset="0"/>
            </a:endParaRPr>
          </a:p>
          <a:p>
            <a:pPr algn="ctr">
              <a:spcAft>
                <a:spcPts val="800"/>
              </a:spcAft>
            </a:pPr>
            <a:r>
              <a:rPr lang="en-US" sz="2000" b="1" dirty="0">
                <a:solidFill>
                  <a:schemeClr val="tx1"/>
                </a:solidFill>
                <a:latin typeface="Aptos" panose="020B0004020202020204" pitchFamily="34" charset="0"/>
              </a:rPr>
              <a:t>Instead optimize a score for how useful an experiment would be</a:t>
            </a:r>
            <a:endParaRPr sz="2000" b="1" i="0" dirty="0">
              <a:solidFill>
                <a:schemeClr val="tx1"/>
              </a:solidFill>
              <a:latin typeface="Aptos" panose="020B0004020202020204" pitchFamily="34" charset="0"/>
            </a:endParaRPr>
          </a:p>
        </p:txBody>
      </p:sp>
      <p:pic>
        <p:nvPicPr>
          <p:cNvPr id="6" name="Picture 5" descr="fig1c_bo_1d.png"/>
          <p:cNvPicPr>
            <a:picLocks noChangeAspect="1"/>
          </p:cNvPicPr>
          <p:nvPr/>
        </p:nvPicPr>
        <p:blipFill>
          <a:blip r:embed="rId4"/>
          <a:srcRect t="8659"/>
          <a:stretch>
            <a:fillRect/>
          </a:stretch>
        </p:blipFill>
        <p:spPr>
          <a:xfrm>
            <a:off x="1075766" y="1468936"/>
            <a:ext cx="5314057" cy="3920128"/>
          </a:xfrm>
          <a:prstGeom prst="rect">
            <a:avLst/>
          </a:prstGeom>
        </p:spPr>
      </p:pic>
      <p:sp>
        <p:nvSpPr>
          <p:cNvPr id="9" name="Rounded Rectangle 8">
            <a:extLst>
              <a:ext uri="{FF2B5EF4-FFF2-40B4-BE49-F238E27FC236}">
                <a16:creationId xmlns:a16="http://schemas.microsoft.com/office/drawing/2014/main" id="{4BA0054D-540E-3FF9-621C-AB26D0951D72}"/>
              </a:ext>
            </a:extLst>
          </p:cNvPr>
          <p:cNvSpPr/>
          <p:nvPr/>
        </p:nvSpPr>
        <p:spPr>
          <a:xfrm>
            <a:off x="7095114" y="2119698"/>
            <a:ext cx="4565777" cy="86868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600" b="0" i="1" dirty="0">
                <a:solidFill>
                  <a:srgbClr val="123830"/>
                </a:solidFill>
                <a:latin typeface="Aptos" panose="020B0004020202020204" pitchFamily="34" charset="0"/>
              </a:rPr>
              <a:t>x*  =  argmax  f(x)</a:t>
            </a:r>
          </a:p>
        </p:txBody>
      </p:sp>
      <p:sp>
        <p:nvSpPr>
          <p:cNvPr id="10" name="Rectangle 9">
            <a:extLst>
              <a:ext uri="{FF2B5EF4-FFF2-40B4-BE49-F238E27FC236}">
                <a16:creationId xmlns:a16="http://schemas.microsoft.com/office/drawing/2014/main" id="{90895B05-D782-75FB-F395-07119DE2688D}"/>
              </a:ext>
            </a:extLst>
          </p:cNvPr>
          <p:cNvSpPr/>
          <p:nvPr/>
        </p:nvSpPr>
        <p:spPr>
          <a:xfrm>
            <a:off x="561109" y="3699164"/>
            <a:ext cx="6047509" cy="20366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95D7C8-AA4A-067C-CA9D-072119AD8E2B}"/>
              </a:ext>
            </a:extLst>
          </p:cNvPr>
          <p:cNvSpPr txBox="1"/>
          <p:nvPr/>
        </p:nvSpPr>
        <p:spPr>
          <a:xfrm>
            <a:off x="46634" y="6000057"/>
            <a:ext cx="11155680" cy="364202"/>
          </a:xfrm>
          <a:prstGeom prst="rect">
            <a:avLst/>
          </a:prstGeom>
          <a:noFill/>
        </p:spPr>
        <p:txBody>
          <a:bodyPr wrap="square" lIns="0" tIns="0" rIns="0" bIns="0" anchor="t">
            <a:spAutoFit/>
          </a:bodyPr>
          <a:lstStyle/>
          <a:p>
            <a:pPr>
              <a:spcAft>
                <a:spcPts val="200"/>
              </a:spcAft>
            </a:pPr>
            <a:endParaRPr lang="en-US" sz="1100" b="0" i="0" dirty="0">
              <a:solidFill>
                <a:srgbClr val="595959"/>
              </a:solidFill>
              <a:latin typeface="Aptos"/>
            </a:endParaRPr>
          </a:p>
          <a:p>
            <a:pPr>
              <a:spcAft>
                <a:spcPts val="200"/>
              </a:spcAft>
            </a:pPr>
            <a:r>
              <a:rPr sz="1100" b="0" i="0" dirty="0">
                <a:solidFill>
                  <a:srgbClr val="595959"/>
                </a:solidFill>
                <a:latin typeface="Aptos"/>
              </a:rPr>
              <a:t>Shields, B. J.; Stevens, J.; Li, J.; Parasram, M.; Damani, F.; Martinez Alvarado, J. I.; Janey, J. M.; Adams, R. P.; Doyle, A. G. </a:t>
            </a:r>
            <a:r>
              <a:rPr sz="1100" b="0" i="1" dirty="0">
                <a:solidFill>
                  <a:srgbClr val="595959"/>
                </a:solidFill>
                <a:latin typeface="Aptos"/>
              </a:rPr>
              <a:t>Nature</a:t>
            </a:r>
            <a:r>
              <a:rPr sz="1100" b="0" i="0" dirty="0">
                <a:solidFill>
                  <a:srgbClr val="595959"/>
                </a:solidFill>
                <a:latin typeface="Aptos"/>
              </a:rPr>
              <a:t> </a:t>
            </a:r>
            <a:r>
              <a:rPr sz="1100" b="1" i="0" dirty="0">
                <a:solidFill>
                  <a:srgbClr val="595959"/>
                </a:solidFill>
                <a:latin typeface="Aptos"/>
              </a:rPr>
              <a:t>2021</a:t>
            </a:r>
            <a:r>
              <a:rPr sz="1100" b="0" i="0" dirty="0">
                <a:solidFill>
                  <a:srgbClr val="595959"/>
                </a:solidFill>
                <a:latin typeface="Aptos"/>
              </a:rPr>
              <a:t>, 590 (7844), 89–96.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13BEFED-22C3-2506-8EC9-FEF5E6F16CCE}"/>
              </a:ext>
            </a:extLst>
          </p:cNvPr>
          <p:cNvPicPr>
            <a:picLocks noChangeAspect="1"/>
          </p:cNvPicPr>
          <p:nvPr/>
        </p:nvPicPr>
        <p:blipFill>
          <a:blip r:embed="rId3"/>
          <a:stretch>
            <a:fillRect/>
          </a:stretch>
        </p:blipFill>
        <p:spPr>
          <a:xfrm>
            <a:off x="2101450" y="1494287"/>
            <a:ext cx="7772400" cy="2853928"/>
          </a:xfrm>
          <a:prstGeom prst="rect">
            <a:avLst/>
          </a:prstGeom>
        </p:spPr>
      </p:pic>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Decision Making/Acquisition Function using the Posterior</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4"/>
          <a:stretch>
            <a:fillRect/>
          </a:stretch>
        </p:blipFill>
        <p:spPr>
          <a:xfrm>
            <a:off x="46634" y="6459778"/>
            <a:ext cx="1554480" cy="379476"/>
          </a:xfrm>
          <a:prstGeom prst="rect">
            <a:avLst/>
          </a:prstGeom>
        </p:spPr>
      </p:pic>
      <p:pic>
        <p:nvPicPr>
          <p:cNvPr id="10" name="Picture 9">
            <a:extLst>
              <a:ext uri="{FF2B5EF4-FFF2-40B4-BE49-F238E27FC236}">
                <a16:creationId xmlns:a16="http://schemas.microsoft.com/office/drawing/2014/main" id="{2599A6F5-6398-948A-AAB8-80C3EF90470E}"/>
              </a:ext>
            </a:extLst>
          </p:cNvPr>
          <p:cNvPicPr>
            <a:picLocks noChangeAspect="1"/>
          </p:cNvPicPr>
          <p:nvPr/>
        </p:nvPicPr>
        <p:blipFill>
          <a:blip r:embed="rId5"/>
          <a:stretch>
            <a:fillRect/>
          </a:stretch>
        </p:blipFill>
        <p:spPr>
          <a:xfrm>
            <a:off x="2101450" y="1494287"/>
            <a:ext cx="7772400" cy="3631168"/>
          </a:xfrm>
          <a:prstGeom prst="rect">
            <a:avLst/>
          </a:prstGeom>
        </p:spPr>
      </p:pic>
      <p:pic>
        <p:nvPicPr>
          <p:cNvPr id="8" name="Picture 7">
            <a:extLst>
              <a:ext uri="{FF2B5EF4-FFF2-40B4-BE49-F238E27FC236}">
                <a16:creationId xmlns:a16="http://schemas.microsoft.com/office/drawing/2014/main" id="{3711174B-3BB7-2CFB-074F-9D66BFE46A83}"/>
              </a:ext>
            </a:extLst>
          </p:cNvPr>
          <p:cNvPicPr>
            <a:picLocks noChangeAspect="1"/>
          </p:cNvPicPr>
          <p:nvPr/>
        </p:nvPicPr>
        <p:blipFill>
          <a:blip r:embed="rId6"/>
          <a:stretch>
            <a:fillRect/>
          </a:stretch>
        </p:blipFill>
        <p:spPr>
          <a:xfrm>
            <a:off x="2101450" y="1476672"/>
            <a:ext cx="7772400" cy="4408408"/>
          </a:xfrm>
          <a:prstGeom prst="rect">
            <a:avLst/>
          </a:prstGeom>
        </p:spPr>
      </p:pic>
      <p:sp>
        <p:nvSpPr>
          <p:cNvPr id="14" name="TextBox 13">
            <a:extLst>
              <a:ext uri="{FF2B5EF4-FFF2-40B4-BE49-F238E27FC236}">
                <a16:creationId xmlns:a16="http://schemas.microsoft.com/office/drawing/2014/main" id="{C16DD8DB-125A-F087-D237-CC1F9FC436A9}"/>
              </a:ext>
            </a:extLst>
          </p:cNvPr>
          <p:cNvSpPr txBox="1"/>
          <p:nvPr/>
        </p:nvSpPr>
        <p:spPr>
          <a:xfrm>
            <a:off x="9994739" y="977730"/>
            <a:ext cx="2196956" cy="646331"/>
          </a:xfrm>
          <a:prstGeom prst="rect">
            <a:avLst/>
          </a:prstGeom>
          <a:noFill/>
        </p:spPr>
        <p:txBody>
          <a:bodyPr wrap="square">
            <a:spAutoFit/>
          </a:bodyPr>
          <a:lstStyle/>
          <a:p>
            <a:r>
              <a:rPr lang="en-US" sz="1200" dirty="0"/>
              <a:t>PI: Probability of Improvement</a:t>
            </a:r>
          </a:p>
          <a:p>
            <a:r>
              <a:rPr lang="en-US" sz="1200" dirty="0"/>
              <a:t>EI: Expected Improvement</a:t>
            </a:r>
          </a:p>
          <a:p>
            <a:r>
              <a:rPr lang="en-US" sz="1200" dirty="0"/>
              <a:t>UCB: Upper Confidence Bond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a:solidFill>
                  <a:srgbClr val="000000"/>
                </a:solidFill>
                <a:latin typeface="Avenir Book"/>
              </a:rPr>
              <a:t>Expected </a:t>
            </a:r>
            <a:r>
              <a:rPr lang="en-US" sz="2600" dirty="0">
                <a:solidFill>
                  <a:srgbClr val="000000"/>
                </a:solidFill>
                <a:latin typeface="Avenir Book"/>
              </a:rPr>
              <a:t>I</a:t>
            </a:r>
            <a:r>
              <a:rPr sz="2600" dirty="0">
                <a:solidFill>
                  <a:srgbClr val="000000"/>
                </a:solidFill>
                <a:latin typeface="Avenir Book"/>
              </a:rPr>
              <a:t>mprovement</a:t>
            </a:r>
            <a:r>
              <a:rPr lang="en-US" sz="2600" dirty="0">
                <a:solidFill>
                  <a:srgbClr val="000000"/>
                </a:solidFill>
                <a:latin typeface="Avenir Book"/>
              </a:rPr>
              <a:t> (EI)</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1143000" y="1298448"/>
            <a:ext cx="9902952" cy="105156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200" b="1" i="1" dirty="0">
                <a:solidFill>
                  <a:srgbClr val="123830"/>
                </a:solidFill>
                <a:latin typeface="Aptos" panose="020B0004020202020204" pitchFamily="34" charset="0"/>
              </a:rPr>
              <a:t>α_EI(x)  =  E[ max(0, f(x) − f⁺) ]  =  </a:t>
            </a:r>
            <a:r>
              <a:rPr sz="2200" b="1" i="1" dirty="0">
                <a:solidFill>
                  <a:srgbClr val="C00000"/>
                </a:solidFill>
                <a:latin typeface="Aptos" panose="020B0004020202020204" pitchFamily="34" charset="0"/>
              </a:rPr>
              <a:t>(</a:t>
            </a:r>
            <a:r>
              <a:rPr sz="2200" b="1" i="1" dirty="0" err="1">
                <a:solidFill>
                  <a:srgbClr val="C00000"/>
                </a:solidFill>
                <a:latin typeface="Aptos" panose="020B0004020202020204" pitchFamily="34" charset="0"/>
              </a:rPr>
              <a:t>μ</a:t>
            </a:r>
            <a:r>
              <a:rPr sz="2200" b="1" i="1" dirty="0">
                <a:solidFill>
                  <a:srgbClr val="C00000"/>
                </a:solidFill>
                <a:latin typeface="Aptos" panose="020B0004020202020204" pitchFamily="34" charset="0"/>
              </a:rPr>
              <a:t> − f⁺)</a:t>
            </a:r>
            <a:r>
              <a:rPr sz="2200" b="1" i="1" dirty="0" err="1">
                <a:solidFill>
                  <a:srgbClr val="C00000"/>
                </a:solidFill>
                <a:latin typeface="Aptos" panose="020B0004020202020204" pitchFamily="34" charset="0"/>
              </a:rPr>
              <a:t>Φ</a:t>
            </a:r>
            <a:r>
              <a:rPr sz="2200" b="1" i="1" dirty="0">
                <a:solidFill>
                  <a:srgbClr val="C00000"/>
                </a:solidFill>
                <a:latin typeface="Aptos" panose="020B0004020202020204" pitchFamily="34" charset="0"/>
              </a:rPr>
              <a:t>(z)</a:t>
            </a:r>
            <a:r>
              <a:rPr sz="2200" b="1" i="1" dirty="0">
                <a:solidFill>
                  <a:srgbClr val="123830"/>
                </a:solidFill>
                <a:latin typeface="Aptos" panose="020B0004020202020204" pitchFamily="34" charset="0"/>
              </a:rPr>
              <a:t>  +  </a:t>
            </a:r>
            <a:r>
              <a:rPr sz="2200" b="1" i="1" dirty="0" err="1">
                <a:solidFill>
                  <a:schemeClr val="tx2">
                    <a:lumMod val="75000"/>
                    <a:lumOff val="25000"/>
                  </a:schemeClr>
                </a:solidFill>
                <a:latin typeface="Aptos" panose="020B0004020202020204" pitchFamily="34" charset="0"/>
              </a:rPr>
              <a:t>σφ</a:t>
            </a:r>
            <a:r>
              <a:rPr sz="2200" b="1" i="1" dirty="0">
                <a:solidFill>
                  <a:schemeClr val="tx2">
                    <a:lumMod val="75000"/>
                    <a:lumOff val="25000"/>
                  </a:schemeClr>
                </a:solidFill>
                <a:latin typeface="Aptos" panose="020B0004020202020204" pitchFamily="34" charset="0"/>
              </a:rPr>
              <a:t>(z)</a:t>
            </a:r>
          </a:p>
          <a:p>
            <a:pPr algn="ctr">
              <a:spcAft>
                <a:spcPts val="600"/>
              </a:spcAft>
            </a:pPr>
            <a:r>
              <a:rPr sz="1400" b="0" i="1" dirty="0">
                <a:solidFill>
                  <a:schemeClr val="tx1">
                    <a:lumMod val="95000"/>
                    <a:lumOff val="5000"/>
                  </a:schemeClr>
                </a:solidFill>
                <a:latin typeface="Aptos" panose="020B0004020202020204" pitchFamily="34" charset="0"/>
              </a:rPr>
              <a:t>z = (</a:t>
            </a:r>
            <a:r>
              <a:rPr sz="1400" b="0" i="1" dirty="0" err="1">
                <a:solidFill>
                  <a:schemeClr val="tx1">
                    <a:lumMod val="95000"/>
                    <a:lumOff val="5000"/>
                  </a:schemeClr>
                </a:solidFill>
                <a:latin typeface="Aptos" panose="020B0004020202020204" pitchFamily="34" charset="0"/>
              </a:rPr>
              <a:t>μ</a:t>
            </a:r>
            <a:r>
              <a:rPr sz="1400" b="0" i="1" dirty="0">
                <a:solidFill>
                  <a:schemeClr val="tx1">
                    <a:lumMod val="95000"/>
                    <a:lumOff val="5000"/>
                  </a:schemeClr>
                </a:solidFill>
                <a:latin typeface="Aptos" panose="020B0004020202020204" pitchFamily="34" charset="0"/>
              </a:rPr>
              <a:t> − f⁺) / </a:t>
            </a:r>
            <a:r>
              <a:rPr sz="1400" b="0" i="1" dirty="0" err="1">
                <a:solidFill>
                  <a:schemeClr val="tx1">
                    <a:lumMod val="95000"/>
                    <a:lumOff val="5000"/>
                  </a:schemeClr>
                </a:solidFill>
                <a:latin typeface="Aptos" panose="020B0004020202020204" pitchFamily="34" charset="0"/>
              </a:rPr>
              <a:t>σ</a:t>
            </a:r>
            <a:endParaRPr sz="1400" b="0" i="1" dirty="0">
              <a:solidFill>
                <a:schemeClr val="tx1">
                  <a:lumMod val="95000"/>
                  <a:lumOff val="5000"/>
                </a:schemeClr>
              </a:solidFill>
              <a:latin typeface="Aptos" panose="020B0004020202020204" pitchFamily="34" charset="0"/>
            </a:endParaRPr>
          </a:p>
        </p:txBody>
      </p:sp>
      <p:sp>
        <p:nvSpPr>
          <p:cNvPr id="6" name="Rounded Rectangle 5"/>
          <p:cNvSpPr/>
          <p:nvPr/>
        </p:nvSpPr>
        <p:spPr>
          <a:xfrm>
            <a:off x="1143000" y="2651760"/>
            <a:ext cx="4837176" cy="137160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000" b="1" i="1" dirty="0">
                <a:solidFill>
                  <a:srgbClr val="C00000"/>
                </a:solidFill>
                <a:latin typeface="Aptos" panose="020B0004020202020204" pitchFamily="34" charset="0"/>
              </a:rPr>
              <a:t>(</a:t>
            </a:r>
            <a:r>
              <a:rPr sz="2000" b="1" i="1" dirty="0" err="1">
                <a:solidFill>
                  <a:srgbClr val="C00000"/>
                </a:solidFill>
                <a:latin typeface="Aptos" panose="020B0004020202020204" pitchFamily="34" charset="0"/>
              </a:rPr>
              <a:t>μ</a:t>
            </a:r>
            <a:r>
              <a:rPr sz="2000" b="1" i="1" dirty="0">
                <a:solidFill>
                  <a:srgbClr val="C00000"/>
                </a:solidFill>
                <a:latin typeface="Aptos" panose="020B0004020202020204" pitchFamily="34" charset="0"/>
              </a:rPr>
              <a:t> − f⁺) </a:t>
            </a:r>
            <a:r>
              <a:rPr sz="2000" b="1" i="1" dirty="0" err="1">
                <a:solidFill>
                  <a:srgbClr val="C00000"/>
                </a:solidFill>
                <a:latin typeface="Aptos" panose="020B0004020202020204" pitchFamily="34" charset="0"/>
              </a:rPr>
              <a:t>Φ</a:t>
            </a:r>
            <a:r>
              <a:rPr sz="2000" b="1" i="1" dirty="0">
                <a:solidFill>
                  <a:srgbClr val="C00000"/>
                </a:solidFill>
                <a:latin typeface="Aptos" panose="020B0004020202020204" pitchFamily="34" charset="0"/>
              </a:rPr>
              <a:t>(z)</a:t>
            </a:r>
          </a:p>
          <a:p>
            <a:pPr algn="ctr"/>
            <a:r>
              <a:rPr sz="1500" b="0" i="0" dirty="0">
                <a:solidFill>
                  <a:srgbClr val="C00000"/>
                </a:solidFill>
                <a:latin typeface="Aptos" panose="020B0004020202020204" pitchFamily="34" charset="0"/>
              </a:rPr>
              <a:t>large where the mean is high  →  EXPLOITATION</a:t>
            </a:r>
          </a:p>
        </p:txBody>
      </p:sp>
      <p:sp>
        <p:nvSpPr>
          <p:cNvPr id="7" name="Rounded Rectangle 6"/>
          <p:cNvSpPr/>
          <p:nvPr/>
        </p:nvSpPr>
        <p:spPr>
          <a:xfrm>
            <a:off x="6208776" y="2651760"/>
            <a:ext cx="4837176" cy="137160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000" b="1" i="1" dirty="0" err="1">
                <a:solidFill>
                  <a:schemeClr val="tx2">
                    <a:lumMod val="75000"/>
                    <a:lumOff val="25000"/>
                  </a:schemeClr>
                </a:solidFill>
                <a:latin typeface="Aptos" panose="020B0004020202020204" pitchFamily="34" charset="0"/>
              </a:rPr>
              <a:t>σ</a:t>
            </a:r>
            <a:r>
              <a:rPr sz="2000" b="1" i="1" dirty="0">
                <a:solidFill>
                  <a:schemeClr val="tx2">
                    <a:lumMod val="75000"/>
                    <a:lumOff val="25000"/>
                  </a:schemeClr>
                </a:solidFill>
                <a:latin typeface="Aptos" panose="020B0004020202020204" pitchFamily="34" charset="0"/>
              </a:rPr>
              <a:t> </a:t>
            </a:r>
            <a:r>
              <a:rPr sz="2000" b="1" i="1" dirty="0" err="1">
                <a:solidFill>
                  <a:schemeClr val="tx2">
                    <a:lumMod val="75000"/>
                    <a:lumOff val="25000"/>
                  </a:schemeClr>
                </a:solidFill>
                <a:latin typeface="Aptos" panose="020B0004020202020204" pitchFamily="34" charset="0"/>
              </a:rPr>
              <a:t>φ</a:t>
            </a:r>
            <a:r>
              <a:rPr sz="2000" b="1" i="1" dirty="0">
                <a:solidFill>
                  <a:schemeClr val="tx2">
                    <a:lumMod val="75000"/>
                    <a:lumOff val="25000"/>
                  </a:schemeClr>
                </a:solidFill>
                <a:latin typeface="Aptos" panose="020B0004020202020204" pitchFamily="34" charset="0"/>
              </a:rPr>
              <a:t>(z)</a:t>
            </a:r>
          </a:p>
          <a:p>
            <a:pPr algn="ctr"/>
            <a:r>
              <a:rPr sz="1500" b="0" i="0" dirty="0">
                <a:solidFill>
                  <a:schemeClr val="tx2">
                    <a:lumMod val="75000"/>
                    <a:lumOff val="25000"/>
                  </a:schemeClr>
                </a:solidFill>
                <a:latin typeface="Aptos" panose="020B0004020202020204" pitchFamily="34" charset="0"/>
              </a:rPr>
              <a:t>grows with </a:t>
            </a:r>
            <a:r>
              <a:rPr sz="1500" b="0" i="0" dirty="0" err="1">
                <a:solidFill>
                  <a:schemeClr val="tx2">
                    <a:lumMod val="75000"/>
                    <a:lumOff val="25000"/>
                  </a:schemeClr>
                </a:solidFill>
                <a:latin typeface="Aptos" panose="020B0004020202020204" pitchFamily="34" charset="0"/>
              </a:rPr>
              <a:t>σ</a:t>
            </a:r>
            <a:r>
              <a:rPr sz="1500" b="0" i="0" dirty="0">
                <a:solidFill>
                  <a:schemeClr val="tx2">
                    <a:lumMod val="75000"/>
                    <a:lumOff val="25000"/>
                  </a:schemeClr>
                </a:solidFill>
                <a:latin typeface="Aptos" panose="020B0004020202020204" pitchFamily="34" charset="0"/>
              </a:rPr>
              <a:t>  →  EXPLORATION</a:t>
            </a:r>
          </a:p>
        </p:txBody>
      </p:sp>
      <p:sp>
        <p:nvSpPr>
          <p:cNvPr id="9" name="TextBox 8"/>
          <p:cNvSpPr txBox="1"/>
          <p:nvPr/>
        </p:nvSpPr>
        <p:spPr>
          <a:xfrm>
            <a:off x="46634" y="5927598"/>
            <a:ext cx="11185855" cy="502920"/>
          </a:xfrm>
          <a:prstGeom prst="rect">
            <a:avLst/>
          </a:prstGeom>
          <a:noFill/>
        </p:spPr>
        <p:txBody>
          <a:bodyPr wrap="square" lIns="0" tIns="0" rIns="0" bIns="0" anchor="ctr">
            <a:spAutoFit/>
          </a:bodyPr>
          <a:lstStyle/>
          <a:p>
            <a:pPr>
              <a:spcAft>
                <a:spcPts val="200"/>
              </a:spcAft>
            </a:pPr>
            <a:r>
              <a:rPr sz="1100" b="0" i="0" dirty="0">
                <a:solidFill>
                  <a:srgbClr val="595959"/>
                </a:solidFill>
                <a:latin typeface="Aptos"/>
              </a:rPr>
              <a:t>Note: </a:t>
            </a:r>
            <a:r>
              <a:rPr sz="1100" b="0" i="0" dirty="0" err="1">
                <a:solidFill>
                  <a:srgbClr val="595959"/>
                </a:solidFill>
                <a:latin typeface="Aptos"/>
              </a:rPr>
              <a:t>Φ</a:t>
            </a:r>
            <a:r>
              <a:rPr sz="1100" b="0" i="0" dirty="0">
                <a:solidFill>
                  <a:srgbClr val="595959"/>
                </a:solidFill>
                <a:latin typeface="Aptos"/>
              </a:rPr>
              <a:t>(z) alone is Probability of Improvement (PI). The EGO paper comes out of the design-of-computer-experiments tradition — the same lineage as DOE.</a:t>
            </a:r>
            <a:endParaRPr lang="en-US" sz="1100" b="0" dirty="0">
              <a:solidFill>
                <a:srgbClr val="777777"/>
              </a:solidFill>
              <a:latin typeface="Calibri"/>
            </a:endParaRPr>
          </a:p>
          <a:p>
            <a:pPr>
              <a:spcAft>
                <a:spcPts val="200"/>
              </a:spcAft>
            </a:pPr>
            <a:r>
              <a:rPr sz="1100" b="0" i="0" dirty="0">
                <a:solidFill>
                  <a:srgbClr val="595959"/>
                </a:solidFill>
                <a:latin typeface="Aptos"/>
              </a:rPr>
              <a:t>Jones, D. R.; Schonlau, M.; Welch, W. J. </a:t>
            </a:r>
            <a:r>
              <a:rPr sz="1100" b="0" i="1" dirty="0">
                <a:solidFill>
                  <a:srgbClr val="595959"/>
                </a:solidFill>
                <a:latin typeface="Aptos"/>
              </a:rPr>
              <a:t>J. Global </a:t>
            </a:r>
            <a:r>
              <a:rPr sz="1100" b="0" i="1" dirty="0" err="1">
                <a:solidFill>
                  <a:srgbClr val="595959"/>
                </a:solidFill>
                <a:latin typeface="Aptos"/>
              </a:rPr>
              <a:t>Optim</a:t>
            </a:r>
            <a:r>
              <a:rPr sz="1100" b="0" i="1" dirty="0">
                <a:solidFill>
                  <a:srgbClr val="595959"/>
                </a:solidFill>
                <a:latin typeface="Aptos"/>
              </a:rPr>
              <a:t>.</a:t>
            </a:r>
            <a:r>
              <a:rPr sz="1100" b="0" i="0" dirty="0">
                <a:solidFill>
                  <a:srgbClr val="595959"/>
                </a:solidFill>
                <a:latin typeface="Aptos"/>
              </a:rPr>
              <a:t> </a:t>
            </a:r>
            <a:r>
              <a:rPr sz="1100" b="1" i="0" dirty="0">
                <a:solidFill>
                  <a:srgbClr val="595959"/>
                </a:solidFill>
                <a:latin typeface="Aptos"/>
              </a:rPr>
              <a:t>1998</a:t>
            </a:r>
            <a:r>
              <a:rPr sz="1100" b="0" i="0" dirty="0">
                <a:solidFill>
                  <a:srgbClr val="595959"/>
                </a:solidFill>
                <a:latin typeface="Aptos"/>
              </a:rPr>
              <a:t>, 13 (4), 455–492.</a:t>
            </a:r>
          </a:p>
        </p:txBody>
      </p:sp>
      <p:pic>
        <p:nvPicPr>
          <p:cNvPr id="10" name="Picture 9" descr="Image of a graph lightbox">
            <a:extLst>
              <a:ext uri="{FF2B5EF4-FFF2-40B4-BE49-F238E27FC236}">
                <a16:creationId xmlns:a16="http://schemas.microsoft.com/office/drawing/2014/main" id="{EB7F8E99-B014-CAB7-A687-48E76524A19B}"/>
              </a:ext>
            </a:extLst>
          </p:cNvPr>
          <p:cNvPicPr>
            <a:picLocks noChangeAspect="1"/>
          </p:cNvPicPr>
          <p:nvPr/>
        </p:nvPicPr>
        <p:blipFill>
          <a:blip r:embed="rId4"/>
          <a:srcRect r="49351"/>
          <a:stretch>
            <a:fillRect/>
          </a:stretch>
        </p:blipFill>
        <p:spPr>
          <a:xfrm>
            <a:off x="7358914" y="4074700"/>
            <a:ext cx="2078911" cy="1687840"/>
          </a:xfrm>
          <a:prstGeom prst="rect">
            <a:avLst/>
          </a:prstGeom>
        </p:spPr>
      </p:pic>
      <p:pic>
        <p:nvPicPr>
          <p:cNvPr id="11" name="Picture 10" descr="Image of a graph lightbox">
            <a:extLst>
              <a:ext uri="{FF2B5EF4-FFF2-40B4-BE49-F238E27FC236}">
                <a16:creationId xmlns:a16="http://schemas.microsoft.com/office/drawing/2014/main" id="{955D2AFA-C084-4094-C58E-5FEDFE91F12E}"/>
              </a:ext>
            </a:extLst>
          </p:cNvPr>
          <p:cNvPicPr>
            <a:picLocks noChangeAspect="1"/>
          </p:cNvPicPr>
          <p:nvPr/>
        </p:nvPicPr>
        <p:blipFill>
          <a:blip r:embed="rId4"/>
          <a:srcRect l="50188"/>
          <a:stretch>
            <a:fillRect/>
          </a:stretch>
        </p:blipFill>
        <p:spPr>
          <a:xfrm>
            <a:off x="2403247" y="4074700"/>
            <a:ext cx="2044558" cy="1687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a:solidFill>
                  <a:srgbClr val="000000"/>
                </a:solidFill>
                <a:latin typeface="Avenir Book"/>
              </a:rPr>
              <a:t>Upper </a:t>
            </a:r>
            <a:r>
              <a:rPr lang="en-US" sz="2600" dirty="0">
                <a:solidFill>
                  <a:srgbClr val="000000"/>
                </a:solidFill>
                <a:latin typeface="Avenir Book"/>
              </a:rPr>
              <a:t>C</a:t>
            </a:r>
            <a:r>
              <a:rPr sz="2600" dirty="0">
                <a:solidFill>
                  <a:srgbClr val="000000"/>
                </a:solidFill>
                <a:latin typeface="Avenir Book"/>
              </a:rPr>
              <a:t>onfidence </a:t>
            </a:r>
            <a:r>
              <a:rPr lang="en-US" sz="2600" dirty="0">
                <a:solidFill>
                  <a:srgbClr val="000000"/>
                </a:solidFill>
                <a:latin typeface="Avenir Book"/>
              </a:rPr>
              <a:t>B</a:t>
            </a:r>
            <a:r>
              <a:rPr sz="2600" dirty="0">
                <a:solidFill>
                  <a:srgbClr val="000000"/>
                </a:solidFill>
                <a:latin typeface="Avenir Book"/>
              </a:rPr>
              <a:t>ound</a:t>
            </a:r>
            <a:r>
              <a:rPr lang="en-US" sz="2600" dirty="0">
                <a:solidFill>
                  <a:srgbClr val="000000"/>
                </a:solidFill>
                <a:latin typeface="Avenir Book"/>
              </a:rPr>
              <a:t> (UCB)</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3566160" y="1298448"/>
            <a:ext cx="5029200" cy="86868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400" b="1" i="1" dirty="0">
                <a:solidFill>
                  <a:srgbClr val="123830"/>
                </a:solidFill>
                <a:latin typeface="Aptos" panose="020B0004020202020204" pitchFamily="34" charset="0"/>
              </a:rPr>
              <a:t>α_UCB(x)  =  </a:t>
            </a:r>
            <a:r>
              <a:rPr sz="2400" b="1" i="1" dirty="0" err="1">
                <a:solidFill>
                  <a:srgbClr val="C00000"/>
                </a:solidFill>
                <a:latin typeface="Aptos" panose="020B0004020202020204" pitchFamily="34" charset="0"/>
              </a:rPr>
              <a:t>μ</a:t>
            </a:r>
            <a:r>
              <a:rPr sz="2400" b="1" i="1" dirty="0">
                <a:solidFill>
                  <a:srgbClr val="C00000"/>
                </a:solidFill>
                <a:latin typeface="Aptos" panose="020B0004020202020204" pitchFamily="34" charset="0"/>
              </a:rPr>
              <a:t>(x)</a:t>
            </a:r>
            <a:r>
              <a:rPr sz="2400" b="1" i="1" dirty="0">
                <a:solidFill>
                  <a:srgbClr val="123830"/>
                </a:solidFill>
                <a:latin typeface="Aptos" panose="020B0004020202020204" pitchFamily="34" charset="0"/>
              </a:rPr>
              <a:t>  +  </a:t>
            </a:r>
            <a:r>
              <a:rPr sz="2400" b="1" i="1" dirty="0">
                <a:solidFill>
                  <a:schemeClr val="tx2">
                    <a:lumMod val="75000"/>
                    <a:lumOff val="25000"/>
                  </a:schemeClr>
                </a:solidFill>
                <a:latin typeface="Aptos" panose="020B0004020202020204" pitchFamily="34" charset="0"/>
              </a:rPr>
              <a:t>β · </a:t>
            </a:r>
            <a:r>
              <a:rPr sz="2400" b="1" i="1" dirty="0" err="1">
                <a:solidFill>
                  <a:schemeClr val="tx2">
                    <a:lumMod val="75000"/>
                    <a:lumOff val="25000"/>
                  </a:schemeClr>
                </a:solidFill>
                <a:latin typeface="Aptos" panose="020B0004020202020204" pitchFamily="34" charset="0"/>
              </a:rPr>
              <a:t>σ</a:t>
            </a:r>
            <a:r>
              <a:rPr sz="2400" b="1" i="1" dirty="0">
                <a:solidFill>
                  <a:schemeClr val="tx2">
                    <a:lumMod val="75000"/>
                    <a:lumOff val="25000"/>
                  </a:schemeClr>
                </a:solidFill>
                <a:latin typeface="Aptos" panose="020B0004020202020204" pitchFamily="34" charset="0"/>
              </a:rPr>
              <a:t>(x)</a:t>
            </a:r>
          </a:p>
        </p:txBody>
      </p:sp>
      <p:pic>
        <p:nvPicPr>
          <p:cNvPr id="6" name="Picture 5" descr="fig_06_ucb_beta_sweep.png"/>
          <p:cNvPicPr>
            <a:picLocks noChangeAspect="1"/>
          </p:cNvPicPr>
          <p:nvPr/>
        </p:nvPicPr>
        <p:blipFill>
          <a:blip r:embed="rId4"/>
          <a:stretch>
            <a:fillRect/>
          </a:stretch>
        </p:blipFill>
        <p:spPr>
          <a:xfrm>
            <a:off x="3808290" y="2748199"/>
            <a:ext cx="4544939" cy="2559056"/>
          </a:xfrm>
          <a:prstGeom prst="rect">
            <a:avLst/>
          </a:prstGeom>
        </p:spPr>
      </p:pic>
      <p:sp>
        <p:nvSpPr>
          <p:cNvPr id="8" name="TextBox 7"/>
          <p:cNvSpPr txBox="1"/>
          <p:nvPr/>
        </p:nvSpPr>
        <p:spPr>
          <a:xfrm>
            <a:off x="9087787" y="3537850"/>
            <a:ext cx="3291840" cy="979755"/>
          </a:xfrm>
          <a:prstGeom prst="rect">
            <a:avLst/>
          </a:prstGeom>
          <a:noFill/>
        </p:spPr>
        <p:txBody>
          <a:bodyPr wrap="square" lIns="0" tIns="0" rIns="0" bIns="0" anchor="t">
            <a:spAutoFit/>
          </a:bodyPr>
          <a:lstStyle/>
          <a:p>
            <a:pPr algn="l">
              <a:spcAft>
                <a:spcPts val="1300"/>
              </a:spcAft>
            </a:pPr>
            <a:r>
              <a:rPr sz="1400" b="0" i="0" dirty="0">
                <a:solidFill>
                  <a:srgbClr val="C00000"/>
                </a:solidFill>
                <a:latin typeface="Aptos" panose="020B0004020202020204" pitchFamily="34" charset="0"/>
              </a:rPr>
              <a:t>β small → greedy</a:t>
            </a:r>
          </a:p>
          <a:p>
            <a:pPr>
              <a:spcAft>
                <a:spcPts val="1300"/>
              </a:spcAft>
            </a:pPr>
            <a:r>
              <a:rPr sz="1400" b="0" i="0" dirty="0">
                <a:solidFill>
                  <a:schemeClr val="tx2">
                    <a:lumMod val="75000"/>
                    <a:lumOff val="25000"/>
                  </a:schemeClr>
                </a:solidFill>
                <a:latin typeface="Aptos" panose="020B0004020202020204" pitchFamily="34" charset="0"/>
              </a:rPr>
              <a:t>β large → explorer</a:t>
            </a:r>
          </a:p>
          <a:p>
            <a:pPr>
              <a:spcAft>
                <a:spcPts val="1300"/>
              </a:spcAft>
            </a:pPr>
            <a:r>
              <a:rPr sz="1400" b="1" i="0" dirty="0">
                <a:solidFill>
                  <a:srgbClr val="123830"/>
                </a:solidFill>
                <a:latin typeface="Aptos" panose="020B0004020202020204" pitchFamily="34" charset="0"/>
              </a:rPr>
              <a:t>β = 2 is the usual default</a:t>
            </a:r>
          </a:p>
        </p:txBody>
      </p:sp>
      <p:sp>
        <p:nvSpPr>
          <p:cNvPr id="9" name="TextBox 8"/>
          <p:cNvSpPr txBox="1"/>
          <p:nvPr/>
        </p:nvSpPr>
        <p:spPr>
          <a:xfrm>
            <a:off x="46634" y="6007405"/>
            <a:ext cx="11155680" cy="502920"/>
          </a:xfrm>
          <a:prstGeom prst="rect">
            <a:avLst/>
          </a:prstGeom>
          <a:noFill/>
        </p:spPr>
        <p:txBody>
          <a:bodyPr wrap="square" lIns="0" tIns="0" rIns="0" bIns="0" anchor="t">
            <a:spAutoFit/>
          </a:bodyPr>
          <a:lstStyle/>
          <a:p>
            <a:pPr>
              <a:spcAft>
                <a:spcPts val="200"/>
              </a:spcAft>
            </a:pPr>
            <a:r>
              <a:rPr sz="1100" b="0" i="0" dirty="0">
                <a:solidFill>
                  <a:srgbClr val="595959"/>
                </a:solidFill>
                <a:latin typeface="Aptos"/>
              </a:rPr>
              <a:t>fig_06_ucb_beta_sweep.ipynb</a:t>
            </a:r>
          </a:p>
          <a:p>
            <a:pPr>
              <a:spcAft>
                <a:spcPts val="200"/>
              </a:spcAft>
            </a:pPr>
            <a:r>
              <a:rPr sz="1100" b="0" i="0" dirty="0">
                <a:solidFill>
                  <a:srgbClr val="595959"/>
                </a:solidFill>
                <a:latin typeface="Aptos"/>
              </a:rPr>
              <a:t>Srinivas, N.; Krause, A.; Kakade, S. M.; Seeger, M. W. </a:t>
            </a:r>
            <a:r>
              <a:rPr sz="1100" b="0" i="1" dirty="0">
                <a:solidFill>
                  <a:srgbClr val="595959"/>
                </a:solidFill>
                <a:latin typeface="Aptos"/>
              </a:rPr>
              <a:t>IEEE Trans. Inf. Theory</a:t>
            </a:r>
            <a:r>
              <a:rPr sz="1100" b="0" i="0" dirty="0">
                <a:solidFill>
                  <a:srgbClr val="595959"/>
                </a:solidFill>
                <a:latin typeface="Aptos"/>
              </a:rPr>
              <a:t> </a:t>
            </a:r>
            <a:r>
              <a:rPr sz="1100" b="1" i="0" dirty="0">
                <a:solidFill>
                  <a:srgbClr val="595959"/>
                </a:solidFill>
                <a:latin typeface="Aptos"/>
              </a:rPr>
              <a:t>2012</a:t>
            </a:r>
            <a:r>
              <a:rPr sz="1100" b="0" i="0" dirty="0">
                <a:solidFill>
                  <a:srgbClr val="595959"/>
                </a:solidFill>
                <a:latin typeface="Aptos"/>
              </a:rPr>
              <a:t>, 58 (5), 3250–3265.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5E3D5-C548-F3A5-D308-70375137FE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FAE40B2-6700-3EF9-C0EF-7D90ACE8B645}"/>
              </a:ext>
            </a:extLst>
          </p:cNvPr>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Exploration – Exploitation Trade-off</a:t>
            </a:r>
            <a:endParaRPr sz="2600" dirty="0">
              <a:solidFill>
                <a:srgbClr val="000000"/>
              </a:solidFill>
              <a:latin typeface="Avenir Book"/>
            </a:endParaRPr>
          </a:p>
        </p:txBody>
      </p:sp>
      <p:sp>
        <p:nvSpPr>
          <p:cNvPr id="3" name="Rectangle 2">
            <a:extLst>
              <a:ext uri="{FF2B5EF4-FFF2-40B4-BE49-F238E27FC236}">
                <a16:creationId xmlns:a16="http://schemas.microsoft.com/office/drawing/2014/main" id="{CD9C57E3-D884-5E1E-8D76-7C76885B72F6}"/>
              </a:ext>
            </a:extLst>
          </p:cNvPr>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a:extLst>
              <a:ext uri="{FF2B5EF4-FFF2-40B4-BE49-F238E27FC236}">
                <a16:creationId xmlns:a16="http://schemas.microsoft.com/office/drawing/2014/main" id="{AB580D20-A379-6105-CDBE-176452916F18}"/>
              </a:ext>
            </a:extLst>
          </p:cNvPr>
          <p:cNvPicPr>
            <a:picLocks noChangeAspect="1"/>
          </p:cNvPicPr>
          <p:nvPr/>
        </p:nvPicPr>
        <p:blipFill>
          <a:blip r:embed="rId3"/>
          <a:stretch>
            <a:fillRect/>
          </a:stretch>
        </p:blipFill>
        <p:spPr>
          <a:xfrm>
            <a:off x="46634" y="6459778"/>
            <a:ext cx="1554480" cy="379476"/>
          </a:xfrm>
          <a:prstGeom prst="rect">
            <a:avLst/>
          </a:prstGeom>
        </p:spPr>
      </p:pic>
      <p:pic>
        <p:nvPicPr>
          <p:cNvPr id="9" name="Picture 8" descr="fig3a_tsne_paths.png">
            <a:extLst>
              <a:ext uri="{FF2B5EF4-FFF2-40B4-BE49-F238E27FC236}">
                <a16:creationId xmlns:a16="http://schemas.microsoft.com/office/drawing/2014/main" id="{B82AE002-3041-4F67-326B-B17A7F580B5D}"/>
              </a:ext>
            </a:extLst>
          </p:cNvPr>
          <p:cNvPicPr>
            <a:picLocks noChangeAspect="1"/>
          </p:cNvPicPr>
          <p:nvPr/>
        </p:nvPicPr>
        <p:blipFill>
          <a:blip r:embed="rId4"/>
          <a:srcRect l="6474" t="4595"/>
          <a:stretch>
            <a:fillRect/>
          </a:stretch>
        </p:blipFill>
        <p:spPr>
          <a:xfrm>
            <a:off x="1128392" y="1308561"/>
            <a:ext cx="5066320" cy="4634930"/>
          </a:xfrm>
          <a:prstGeom prst="rect">
            <a:avLst/>
          </a:prstGeom>
        </p:spPr>
      </p:pic>
      <p:sp>
        <p:nvSpPr>
          <p:cNvPr id="10" name="TextBox 9">
            <a:extLst>
              <a:ext uri="{FF2B5EF4-FFF2-40B4-BE49-F238E27FC236}">
                <a16:creationId xmlns:a16="http://schemas.microsoft.com/office/drawing/2014/main" id="{8A168A9E-BF6E-174D-469A-2E8C3670B45C}"/>
              </a:ext>
            </a:extLst>
          </p:cNvPr>
          <p:cNvSpPr txBox="1"/>
          <p:nvPr/>
        </p:nvSpPr>
        <p:spPr>
          <a:xfrm>
            <a:off x="46634" y="6000057"/>
            <a:ext cx="11155680" cy="364202"/>
          </a:xfrm>
          <a:prstGeom prst="rect">
            <a:avLst/>
          </a:prstGeom>
          <a:noFill/>
        </p:spPr>
        <p:txBody>
          <a:bodyPr wrap="square" lIns="0" tIns="0" rIns="0" bIns="0" anchor="t">
            <a:spAutoFit/>
          </a:bodyPr>
          <a:lstStyle/>
          <a:p>
            <a:pPr>
              <a:spcAft>
                <a:spcPts val="200"/>
              </a:spcAft>
            </a:pPr>
            <a:r>
              <a:rPr sz="1100" b="0" i="0" dirty="0">
                <a:solidFill>
                  <a:srgbClr val="595959"/>
                </a:solidFill>
                <a:latin typeface="Aptos"/>
              </a:rPr>
              <a:t>Fig. 3a.</a:t>
            </a:r>
          </a:p>
          <a:p>
            <a:pPr>
              <a:spcAft>
                <a:spcPts val="200"/>
              </a:spcAft>
            </a:pPr>
            <a:r>
              <a:rPr sz="1100" b="0" i="0" dirty="0">
                <a:solidFill>
                  <a:srgbClr val="595959"/>
                </a:solidFill>
                <a:latin typeface="Aptos"/>
              </a:rPr>
              <a:t>Shields, B. J.; Stevens, J.; Li, J.; Parasram, M.; Damani, F.; Martinez Alvarado, J. I.; Janey, J. M.; Adams, R. P.; Doyle, A. G. </a:t>
            </a:r>
            <a:r>
              <a:rPr sz="1100" b="0" i="1" dirty="0">
                <a:solidFill>
                  <a:srgbClr val="595959"/>
                </a:solidFill>
                <a:latin typeface="Aptos"/>
              </a:rPr>
              <a:t>Nature</a:t>
            </a:r>
            <a:r>
              <a:rPr sz="1100" b="0" i="0" dirty="0">
                <a:solidFill>
                  <a:srgbClr val="595959"/>
                </a:solidFill>
                <a:latin typeface="Aptos"/>
              </a:rPr>
              <a:t> </a:t>
            </a:r>
            <a:r>
              <a:rPr sz="1100" b="1" i="0" dirty="0">
                <a:solidFill>
                  <a:srgbClr val="595959"/>
                </a:solidFill>
                <a:latin typeface="Aptos"/>
              </a:rPr>
              <a:t>2021</a:t>
            </a:r>
            <a:r>
              <a:rPr sz="1100" b="0" i="0" dirty="0">
                <a:solidFill>
                  <a:srgbClr val="595959"/>
                </a:solidFill>
                <a:latin typeface="Aptos"/>
              </a:rPr>
              <a:t>, 590 (7844), 89–96.</a:t>
            </a:r>
          </a:p>
        </p:txBody>
      </p:sp>
      <p:sp>
        <p:nvSpPr>
          <p:cNvPr id="11" name="Rounded Rectangle 10">
            <a:extLst>
              <a:ext uri="{FF2B5EF4-FFF2-40B4-BE49-F238E27FC236}">
                <a16:creationId xmlns:a16="http://schemas.microsoft.com/office/drawing/2014/main" id="{6E51DAA2-3697-F7DE-55D8-00D51E6E7DB0}"/>
              </a:ext>
            </a:extLst>
          </p:cNvPr>
          <p:cNvSpPr/>
          <p:nvPr/>
        </p:nvSpPr>
        <p:spPr>
          <a:xfrm>
            <a:off x="7240249" y="2407920"/>
            <a:ext cx="4281191" cy="219456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spcAft>
                <a:spcPts val="1100"/>
              </a:spcAft>
            </a:pPr>
            <a:r>
              <a:rPr sz="1400" b="0" i="0" dirty="0">
                <a:solidFill>
                  <a:srgbClr val="123830"/>
                </a:solidFill>
                <a:latin typeface="Aptos" panose="020B0004020202020204" pitchFamily="34" charset="0"/>
              </a:rPr>
              <a:t>→  Pure EXPLOIT stays in the cluster it started in.</a:t>
            </a:r>
            <a:endParaRPr lang="en-US" sz="1400" b="0" i="0" dirty="0">
              <a:solidFill>
                <a:srgbClr val="123830"/>
              </a:solidFill>
              <a:latin typeface="Aptos" panose="020B0004020202020204" pitchFamily="34" charset="0"/>
            </a:endParaRPr>
          </a:p>
          <a:p>
            <a:pPr>
              <a:spcAft>
                <a:spcPts val="1100"/>
              </a:spcAft>
            </a:pPr>
            <a:endParaRPr lang="en-US" sz="1400" b="0" i="0" dirty="0">
              <a:solidFill>
                <a:srgbClr val="123830"/>
              </a:solidFill>
              <a:latin typeface="Aptos" panose="020B0004020202020204" pitchFamily="34" charset="0"/>
            </a:endParaRPr>
          </a:p>
          <a:p>
            <a:pPr>
              <a:spcAft>
                <a:spcPts val="1100"/>
              </a:spcAft>
            </a:pPr>
            <a:r>
              <a:rPr sz="1400" b="0" i="0" dirty="0">
                <a:solidFill>
                  <a:srgbClr val="123830"/>
                </a:solidFill>
                <a:latin typeface="Aptos" panose="020B0004020202020204" pitchFamily="34" charset="0"/>
              </a:rPr>
              <a:t>→  Pure EXPLORE tours the whole space </a:t>
            </a:r>
            <a:endParaRPr lang="en-US" sz="1400" b="0" i="0" dirty="0">
              <a:solidFill>
                <a:srgbClr val="123830"/>
              </a:solidFill>
              <a:latin typeface="Aptos" panose="020B0004020202020204" pitchFamily="34" charset="0"/>
            </a:endParaRPr>
          </a:p>
          <a:p>
            <a:pPr>
              <a:spcAft>
                <a:spcPts val="1100"/>
              </a:spcAft>
            </a:pPr>
            <a:endParaRPr lang="en-US" sz="1400" b="1" i="0" dirty="0">
              <a:solidFill>
                <a:srgbClr val="2E6FBA"/>
              </a:solidFill>
              <a:latin typeface="Aptos" panose="020B0004020202020204" pitchFamily="34" charset="0"/>
            </a:endParaRPr>
          </a:p>
          <a:p>
            <a:pPr>
              <a:spcAft>
                <a:spcPts val="1100"/>
              </a:spcAft>
            </a:pPr>
            <a:r>
              <a:rPr sz="1400" b="1" i="0" dirty="0">
                <a:solidFill>
                  <a:srgbClr val="2E6FBA"/>
                </a:solidFill>
                <a:latin typeface="Aptos" panose="020B0004020202020204" pitchFamily="34" charset="0"/>
              </a:rPr>
              <a:t>→  BO with EI visits three of the five clusters, then commits.</a:t>
            </a:r>
          </a:p>
        </p:txBody>
      </p:sp>
    </p:spTree>
    <p:extLst>
      <p:ext uri="{BB962C8B-B14F-4D97-AF65-F5344CB8AC3E}">
        <p14:creationId xmlns:p14="http://schemas.microsoft.com/office/powerpoint/2010/main" val="347391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a:solidFill>
                  <a:srgbClr val="000000"/>
                </a:solidFill>
                <a:latin typeface="Avenir Book"/>
              </a:rPr>
              <a:t>The </a:t>
            </a:r>
            <a:r>
              <a:rPr lang="en-US" sz="2600" dirty="0">
                <a:solidFill>
                  <a:srgbClr val="000000"/>
                </a:solidFill>
                <a:latin typeface="Avenir Book"/>
              </a:rPr>
              <a:t>A</a:t>
            </a:r>
            <a:r>
              <a:rPr sz="2600" dirty="0">
                <a:solidFill>
                  <a:srgbClr val="000000"/>
                </a:solidFill>
                <a:latin typeface="Avenir Book"/>
              </a:rPr>
              <a:t>cquisition</a:t>
            </a:r>
            <a:r>
              <a:rPr lang="en-US" sz="2600" dirty="0">
                <a:solidFill>
                  <a:srgbClr val="000000"/>
                </a:solidFill>
                <a:latin typeface="Avenir Book"/>
              </a:rPr>
              <a:t> F</a:t>
            </a:r>
            <a:r>
              <a:rPr sz="2600" dirty="0">
                <a:solidFill>
                  <a:srgbClr val="000000"/>
                </a:solidFill>
                <a:latin typeface="Avenir Book"/>
              </a:rPr>
              <a:t>unction </a:t>
            </a:r>
            <a:r>
              <a:rPr lang="en-US" sz="2600" dirty="0">
                <a:solidFill>
                  <a:srgbClr val="000000"/>
                </a:solidFill>
                <a:latin typeface="Avenir Book"/>
              </a:rPr>
              <a:t>M</a:t>
            </a:r>
            <a:r>
              <a:rPr sz="2600" dirty="0">
                <a:solidFill>
                  <a:srgbClr val="000000"/>
                </a:solidFill>
                <a:latin typeface="Avenir Book"/>
              </a:rPr>
              <a:t>atters </a:t>
            </a:r>
            <a:r>
              <a:rPr lang="en-US" sz="2600" dirty="0">
                <a:solidFill>
                  <a:srgbClr val="000000"/>
                </a:solidFill>
                <a:latin typeface="Avenir Book"/>
              </a:rPr>
              <a:t>L</a:t>
            </a:r>
            <a:r>
              <a:rPr sz="2600" dirty="0">
                <a:solidFill>
                  <a:srgbClr val="000000"/>
                </a:solidFill>
                <a:latin typeface="Avenir Book"/>
              </a:rPr>
              <a:t>ess </a:t>
            </a:r>
            <a:r>
              <a:rPr lang="en-US" sz="2600" dirty="0">
                <a:solidFill>
                  <a:srgbClr val="000000"/>
                </a:solidFill>
                <a:latin typeface="Avenir Book"/>
              </a:rPr>
              <a:t>T</a:t>
            </a:r>
            <a:r>
              <a:rPr sz="2600" dirty="0">
                <a:solidFill>
                  <a:srgbClr val="000000"/>
                </a:solidFill>
                <a:latin typeface="Avenir Book"/>
              </a:rPr>
              <a:t>han </a:t>
            </a:r>
            <a:r>
              <a:rPr lang="en-US" sz="2600" dirty="0">
                <a:solidFill>
                  <a:srgbClr val="000000"/>
                </a:solidFill>
                <a:latin typeface="Avenir Book"/>
              </a:rPr>
              <a:t>Y</a:t>
            </a:r>
            <a:r>
              <a:rPr sz="2600" dirty="0">
                <a:solidFill>
                  <a:srgbClr val="000000"/>
                </a:solidFill>
                <a:latin typeface="Avenir Book"/>
              </a:rPr>
              <a:t>ou </a:t>
            </a:r>
            <a:r>
              <a:rPr lang="en-US" sz="2600" dirty="0">
                <a:solidFill>
                  <a:srgbClr val="000000"/>
                </a:solidFill>
                <a:latin typeface="Avenir Book"/>
              </a:rPr>
              <a:t>T</a:t>
            </a:r>
            <a:r>
              <a:rPr sz="2600" dirty="0">
                <a:solidFill>
                  <a:srgbClr val="000000"/>
                </a:solidFill>
                <a:latin typeface="Avenir Book"/>
              </a:rPr>
              <a:t>hink</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pic>
        <p:nvPicPr>
          <p:cNvPr id="5" name="Picture 4" descr="fig3cf_convergence_pair.png"/>
          <p:cNvPicPr>
            <a:picLocks noChangeAspect="1"/>
          </p:cNvPicPr>
          <p:nvPr/>
        </p:nvPicPr>
        <p:blipFill>
          <a:blip r:embed="rId4"/>
          <a:srcRect t="3484" r="52417"/>
          <a:stretch>
            <a:fillRect/>
          </a:stretch>
        </p:blipFill>
        <p:spPr>
          <a:xfrm>
            <a:off x="2581362" y="1586715"/>
            <a:ext cx="4030045" cy="4183283"/>
          </a:xfrm>
          <a:prstGeom prst="rect">
            <a:avLst/>
          </a:prstGeom>
        </p:spPr>
      </p:pic>
      <p:sp>
        <p:nvSpPr>
          <p:cNvPr id="6" name="TextBox 5"/>
          <p:cNvSpPr txBox="1"/>
          <p:nvPr/>
        </p:nvSpPr>
        <p:spPr>
          <a:xfrm>
            <a:off x="46634" y="6017852"/>
            <a:ext cx="11155680" cy="364202"/>
          </a:xfrm>
          <a:prstGeom prst="rect">
            <a:avLst/>
          </a:prstGeom>
          <a:noFill/>
        </p:spPr>
        <p:txBody>
          <a:bodyPr wrap="square" lIns="0" tIns="0" rIns="0" bIns="0" anchor="t">
            <a:spAutoFit/>
          </a:bodyPr>
          <a:lstStyle/>
          <a:p>
            <a:pPr>
              <a:spcAft>
                <a:spcPts val="200"/>
              </a:spcAft>
            </a:pPr>
            <a:r>
              <a:rPr sz="1100" b="0" i="0" dirty="0">
                <a:solidFill>
                  <a:srgbClr val="595959"/>
                </a:solidFill>
                <a:latin typeface="Aptos"/>
              </a:rPr>
              <a:t>Fig. 3c,f — average of 30 runs, error bars 0.5σ.</a:t>
            </a:r>
          </a:p>
          <a:p>
            <a:pPr>
              <a:spcAft>
                <a:spcPts val="200"/>
              </a:spcAft>
            </a:pPr>
            <a:r>
              <a:rPr sz="1100" b="0" i="0" dirty="0">
                <a:solidFill>
                  <a:srgbClr val="595959"/>
                </a:solidFill>
                <a:latin typeface="Aptos"/>
              </a:rPr>
              <a:t>Shields, B. J.; Stevens, J.; Li, J.; Parasram, M.; Damani, F.; Martinez Alvarado, J. I.; Janey, J. M.; Adams, R. P.; Doyle, A. G. </a:t>
            </a:r>
            <a:r>
              <a:rPr sz="1100" b="0" i="1" dirty="0">
                <a:solidFill>
                  <a:srgbClr val="595959"/>
                </a:solidFill>
                <a:latin typeface="Aptos"/>
              </a:rPr>
              <a:t>Nature</a:t>
            </a:r>
            <a:r>
              <a:rPr sz="1100" b="0" i="0" dirty="0">
                <a:solidFill>
                  <a:srgbClr val="595959"/>
                </a:solidFill>
                <a:latin typeface="Aptos"/>
              </a:rPr>
              <a:t> </a:t>
            </a:r>
            <a:r>
              <a:rPr sz="1100" b="1" i="0" dirty="0">
                <a:solidFill>
                  <a:srgbClr val="595959"/>
                </a:solidFill>
                <a:latin typeface="Aptos"/>
              </a:rPr>
              <a:t>2021</a:t>
            </a:r>
            <a:r>
              <a:rPr sz="1100" b="0" i="0" dirty="0">
                <a:solidFill>
                  <a:srgbClr val="595959"/>
                </a:solidFill>
                <a:latin typeface="Aptos"/>
              </a:rPr>
              <a:t>, 590 (7844), 89–96.</a:t>
            </a:r>
          </a:p>
        </p:txBody>
      </p:sp>
      <p:sp>
        <p:nvSpPr>
          <p:cNvPr id="7" name="TextBox 6"/>
          <p:cNvSpPr txBox="1"/>
          <p:nvPr/>
        </p:nvSpPr>
        <p:spPr>
          <a:xfrm>
            <a:off x="7595616" y="2339528"/>
            <a:ext cx="3925824" cy="1338828"/>
          </a:xfrm>
          <a:prstGeom prst="rect">
            <a:avLst/>
          </a:prstGeom>
          <a:noFill/>
        </p:spPr>
        <p:txBody>
          <a:bodyPr wrap="square" lIns="0" tIns="0" rIns="0" bIns="0" anchor="t">
            <a:spAutoFit/>
          </a:bodyPr>
          <a:lstStyle/>
          <a:p>
            <a:pPr algn="l">
              <a:spcAft>
                <a:spcPts val="1800"/>
              </a:spcAft>
            </a:pPr>
            <a:r>
              <a:rPr b="1" i="0" dirty="0">
                <a:solidFill>
                  <a:srgbClr val="123830"/>
                </a:solidFill>
                <a:latin typeface="Aptos" panose="020B0004020202020204" pitchFamily="34" charset="0"/>
              </a:rPr>
              <a:t>EI, Thompson sampling and </a:t>
            </a:r>
            <a:r>
              <a:rPr b="1" i="0" dirty="0" err="1">
                <a:solidFill>
                  <a:srgbClr val="123830"/>
                </a:solidFill>
                <a:latin typeface="Aptos" panose="020B0004020202020204" pitchFamily="34" charset="0"/>
              </a:rPr>
              <a:t>ε</a:t>
            </a:r>
            <a:r>
              <a:rPr b="1" i="0" dirty="0">
                <a:solidFill>
                  <a:srgbClr val="123830"/>
                </a:solidFill>
                <a:latin typeface="Aptos" panose="020B0004020202020204" pitchFamily="34" charset="0"/>
              </a:rPr>
              <a:t>-greedy all converge together.</a:t>
            </a:r>
          </a:p>
          <a:p>
            <a:pPr>
              <a:spcAft>
                <a:spcPts val="1800"/>
              </a:spcAft>
            </a:pPr>
            <a:r>
              <a:rPr b="0" i="0" dirty="0">
                <a:solidFill>
                  <a:srgbClr val="123830"/>
                </a:solidFill>
                <a:latin typeface="Aptos" panose="020B0004020202020204" pitchFamily="34" charset="0"/>
              </a:rPr>
              <a:t>Pure exploit and pure explore are the only ones that lose.</a:t>
            </a:r>
          </a:p>
        </p:txBody>
      </p:sp>
      <p:sp>
        <p:nvSpPr>
          <p:cNvPr id="8" name="Rectangle 7">
            <a:extLst>
              <a:ext uri="{FF2B5EF4-FFF2-40B4-BE49-F238E27FC236}">
                <a16:creationId xmlns:a16="http://schemas.microsoft.com/office/drawing/2014/main" id="{D2304F18-C053-7259-35C3-5C20E40AE462}"/>
              </a:ext>
            </a:extLst>
          </p:cNvPr>
          <p:cNvSpPr/>
          <p:nvPr/>
        </p:nvSpPr>
        <p:spPr>
          <a:xfrm>
            <a:off x="4922520" y="2987040"/>
            <a:ext cx="1539240" cy="1828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62CBC-31CC-6984-05A7-B83CD85AA0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EB72C6A-9026-8972-0994-796348F3D531}"/>
              </a:ext>
            </a:extLst>
          </p:cNvPr>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Role of the Representation and Kernel</a:t>
            </a:r>
            <a:endParaRPr sz="2600" dirty="0">
              <a:solidFill>
                <a:srgbClr val="000000"/>
              </a:solidFill>
              <a:latin typeface="Avenir Book"/>
            </a:endParaRPr>
          </a:p>
        </p:txBody>
      </p:sp>
      <p:sp>
        <p:nvSpPr>
          <p:cNvPr id="3" name="Rectangle 2">
            <a:extLst>
              <a:ext uri="{FF2B5EF4-FFF2-40B4-BE49-F238E27FC236}">
                <a16:creationId xmlns:a16="http://schemas.microsoft.com/office/drawing/2014/main" id="{DCECCCD2-0AC3-88A1-DFAD-9070A503F7AD}"/>
              </a:ext>
            </a:extLst>
          </p:cNvPr>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a:extLst>
              <a:ext uri="{FF2B5EF4-FFF2-40B4-BE49-F238E27FC236}">
                <a16:creationId xmlns:a16="http://schemas.microsoft.com/office/drawing/2014/main" id="{6C042BBB-EAD0-63C2-C88B-4FA74C6B7DD2}"/>
              </a:ext>
            </a:extLst>
          </p:cNvPr>
          <p:cNvPicPr>
            <a:picLocks noChangeAspect="1"/>
          </p:cNvPicPr>
          <p:nvPr/>
        </p:nvPicPr>
        <p:blipFill>
          <a:blip r:embed="rId3"/>
          <a:stretch>
            <a:fillRect/>
          </a:stretch>
        </p:blipFill>
        <p:spPr>
          <a:xfrm>
            <a:off x="46634" y="6459778"/>
            <a:ext cx="1554480" cy="379476"/>
          </a:xfrm>
          <a:prstGeom prst="rect">
            <a:avLst/>
          </a:prstGeom>
        </p:spPr>
      </p:pic>
      <p:sp>
        <p:nvSpPr>
          <p:cNvPr id="6" name="TextBox 5">
            <a:extLst>
              <a:ext uri="{FF2B5EF4-FFF2-40B4-BE49-F238E27FC236}">
                <a16:creationId xmlns:a16="http://schemas.microsoft.com/office/drawing/2014/main" id="{F6323AFF-29CD-C5A9-49BF-8261BC127C34}"/>
              </a:ext>
            </a:extLst>
          </p:cNvPr>
          <p:cNvSpPr txBox="1"/>
          <p:nvPr/>
        </p:nvSpPr>
        <p:spPr>
          <a:xfrm>
            <a:off x="46634" y="6010123"/>
            <a:ext cx="11155680" cy="364202"/>
          </a:xfrm>
          <a:prstGeom prst="rect">
            <a:avLst/>
          </a:prstGeom>
          <a:noFill/>
        </p:spPr>
        <p:txBody>
          <a:bodyPr wrap="square" lIns="0" tIns="0" rIns="0" bIns="0" anchor="t">
            <a:spAutoFit/>
          </a:bodyPr>
          <a:lstStyle/>
          <a:p>
            <a:pPr>
              <a:spcAft>
                <a:spcPts val="200"/>
              </a:spcAft>
            </a:pPr>
            <a:r>
              <a:rPr sz="1100" b="0" i="0" dirty="0">
                <a:solidFill>
                  <a:srgbClr val="595959"/>
                </a:solidFill>
                <a:latin typeface="Aptos"/>
              </a:rPr>
              <a:t>Shields, B. J.; Stevens, J.; Li, J.; Parasram, M.; Damani, F.; Martinez Alvarado, J. I.; Janey, J. M.; Adams, R. P.; Doyle, A. G. </a:t>
            </a:r>
            <a:r>
              <a:rPr sz="1100" b="0" i="1" dirty="0">
                <a:solidFill>
                  <a:srgbClr val="595959"/>
                </a:solidFill>
                <a:latin typeface="Aptos"/>
              </a:rPr>
              <a:t>Nature</a:t>
            </a:r>
            <a:r>
              <a:rPr sz="1100" b="0" i="0" dirty="0">
                <a:solidFill>
                  <a:srgbClr val="595959"/>
                </a:solidFill>
                <a:latin typeface="Aptos"/>
              </a:rPr>
              <a:t> </a:t>
            </a:r>
            <a:r>
              <a:rPr sz="1100" b="1" i="0" dirty="0">
                <a:solidFill>
                  <a:srgbClr val="595959"/>
                </a:solidFill>
                <a:latin typeface="Aptos"/>
              </a:rPr>
              <a:t>2021</a:t>
            </a:r>
            <a:r>
              <a:rPr sz="1100" b="0" i="0" dirty="0">
                <a:solidFill>
                  <a:srgbClr val="595959"/>
                </a:solidFill>
                <a:latin typeface="Aptos"/>
              </a:rPr>
              <a:t>, 590 (7844), 89–96.</a:t>
            </a:r>
          </a:p>
          <a:p>
            <a:pPr>
              <a:spcAft>
                <a:spcPts val="200"/>
              </a:spcAft>
            </a:pPr>
            <a:r>
              <a:rPr sz="1100" b="0" i="0" dirty="0" err="1">
                <a:solidFill>
                  <a:srgbClr val="595959"/>
                </a:solidFill>
                <a:latin typeface="Aptos"/>
              </a:rPr>
              <a:t>Ranković</a:t>
            </a:r>
            <a:r>
              <a:rPr sz="1100" b="0" i="0" dirty="0">
                <a:solidFill>
                  <a:srgbClr val="595959"/>
                </a:solidFill>
                <a:latin typeface="Aptos"/>
              </a:rPr>
              <a:t>, B.; Griffiths, R.-R.; Moss, H. B.; Schwaller, P. </a:t>
            </a:r>
            <a:r>
              <a:rPr sz="1100" b="0" i="1" dirty="0">
                <a:solidFill>
                  <a:srgbClr val="595959"/>
                </a:solidFill>
                <a:latin typeface="Aptos"/>
              </a:rPr>
              <a:t>Digital Discovery</a:t>
            </a:r>
            <a:r>
              <a:rPr sz="1100" b="0" i="0" dirty="0">
                <a:solidFill>
                  <a:srgbClr val="595959"/>
                </a:solidFill>
                <a:latin typeface="Aptos"/>
              </a:rPr>
              <a:t> </a:t>
            </a:r>
            <a:r>
              <a:rPr sz="1100" b="1" i="0" dirty="0">
                <a:solidFill>
                  <a:srgbClr val="595959"/>
                </a:solidFill>
                <a:latin typeface="Aptos"/>
              </a:rPr>
              <a:t>2024</a:t>
            </a:r>
            <a:r>
              <a:rPr sz="1100" b="0" i="0" dirty="0">
                <a:solidFill>
                  <a:srgbClr val="595959"/>
                </a:solidFill>
                <a:latin typeface="Aptos"/>
              </a:rPr>
              <a:t>, 3 (4), 654–666.</a:t>
            </a:r>
          </a:p>
        </p:txBody>
      </p:sp>
      <p:pic>
        <p:nvPicPr>
          <p:cNvPr id="9" name="Picture 8">
            <a:extLst>
              <a:ext uri="{FF2B5EF4-FFF2-40B4-BE49-F238E27FC236}">
                <a16:creationId xmlns:a16="http://schemas.microsoft.com/office/drawing/2014/main" id="{AC33C1A0-AF2D-0CE7-2329-0ADE1345A305}"/>
              </a:ext>
            </a:extLst>
          </p:cNvPr>
          <p:cNvPicPr>
            <a:picLocks noChangeAspect="1"/>
          </p:cNvPicPr>
          <p:nvPr/>
        </p:nvPicPr>
        <p:blipFill>
          <a:blip r:embed="rId4"/>
          <a:stretch>
            <a:fillRect/>
          </a:stretch>
        </p:blipFill>
        <p:spPr>
          <a:xfrm>
            <a:off x="46634" y="1897435"/>
            <a:ext cx="6575044" cy="3287522"/>
          </a:xfrm>
          <a:prstGeom prst="rect">
            <a:avLst/>
          </a:prstGeom>
        </p:spPr>
      </p:pic>
      <p:pic>
        <p:nvPicPr>
          <p:cNvPr id="11" name="Picture 10">
            <a:extLst>
              <a:ext uri="{FF2B5EF4-FFF2-40B4-BE49-F238E27FC236}">
                <a16:creationId xmlns:a16="http://schemas.microsoft.com/office/drawing/2014/main" id="{CD04E74C-00ED-212C-46DF-98EAFF5A6390}"/>
              </a:ext>
            </a:extLst>
          </p:cNvPr>
          <p:cNvPicPr>
            <a:picLocks noChangeAspect="1"/>
          </p:cNvPicPr>
          <p:nvPr/>
        </p:nvPicPr>
        <p:blipFill>
          <a:blip r:embed="rId5"/>
          <a:stretch>
            <a:fillRect/>
          </a:stretch>
        </p:blipFill>
        <p:spPr>
          <a:xfrm>
            <a:off x="6939026" y="1884012"/>
            <a:ext cx="5019549" cy="3588689"/>
          </a:xfrm>
          <a:prstGeom prst="rect">
            <a:avLst/>
          </a:prstGeom>
        </p:spPr>
      </p:pic>
    </p:spTree>
    <p:extLst>
      <p:ext uri="{BB962C8B-B14F-4D97-AF65-F5344CB8AC3E}">
        <p14:creationId xmlns:p14="http://schemas.microsoft.com/office/powerpoint/2010/main" val="190210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a:solidFill>
                  <a:srgbClr val="000000"/>
                </a:solidFill>
                <a:latin typeface="Avenir Book"/>
              </a:rPr>
              <a:t>Thompson </a:t>
            </a:r>
            <a:r>
              <a:rPr lang="en-US" sz="2600" dirty="0">
                <a:solidFill>
                  <a:srgbClr val="000000"/>
                </a:solidFill>
                <a:latin typeface="Avenir Book"/>
              </a:rPr>
              <a:t>S</a:t>
            </a:r>
            <a:r>
              <a:rPr sz="2600" dirty="0">
                <a:solidFill>
                  <a:srgbClr val="000000"/>
                </a:solidFill>
                <a:latin typeface="Avenir Book"/>
              </a:rPr>
              <a:t>ampling</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1143000" y="1325880"/>
            <a:ext cx="9902952" cy="132588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900" b="0" i="0" dirty="0">
                <a:solidFill>
                  <a:srgbClr val="123830"/>
                </a:solidFill>
                <a:latin typeface="Aptos" panose="020B0004020202020204" pitchFamily="34" charset="0"/>
              </a:rPr>
              <a:t>Draw one function from the posterior. </a:t>
            </a:r>
            <a:r>
              <a:rPr lang="en-US" sz="1900" b="0" i="0" dirty="0">
                <a:solidFill>
                  <a:srgbClr val="123830"/>
                </a:solidFill>
                <a:latin typeface="Aptos" panose="020B0004020202020204" pitchFamily="34" charset="0"/>
              </a:rPr>
              <a:t>Select x that </a:t>
            </a:r>
            <a:r>
              <a:rPr lang="en-US" sz="1900" dirty="0">
                <a:solidFill>
                  <a:srgbClr val="123830"/>
                </a:solidFill>
                <a:latin typeface="Aptos" panose="020B0004020202020204" pitchFamily="34" charset="0"/>
              </a:rPr>
              <a:t>m</a:t>
            </a:r>
            <a:r>
              <a:rPr sz="1900" b="0" i="0" dirty="0">
                <a:solidFill>
                  <a:srgbClr val="123830"/>
                </a:solidFill>
                <a:latin typeface="Aptos" panose="020B0004020202020204" pitchFamily="34" charset="0"/>
              </a:rPr>
              <a:t>aximi</a:t>
            </a:r>
            <a:r>
              <a:rPr lang="en-US" sz="1900" b="0" i="0" dirty="0">
                <a:solidFill>
                  <a:srgbClr val="123830"/>
                </a:solidFill>
                <a:latin typeface="Aptos" panose="020B0004020202020204" pitchFamily="34" charset="0"/>
              </a:rPr>
              <a:t>z</a:t>
            </a:r>
            <a:r>
              <a:rPr sz="1900" b="0" i="0" dirty="0">
                <a:solidFill>
                  <a:srgbClr val="123830"/>
                </a:solidFill>
                <a:latin typeface="Aptos" panose="020B0004020202020204" pitchFamily="34" charset="0"/>
              </a:rPr>
              <a:t>e</a:t>
            </a:r>
            <a:r>
              <a:rPr lang="en-US" sz="1900" b="0" i="0" dirty="0">
                <a:solidFill>
                  <a:srgbClr val="123830"/>
                </a:solidFill>
                <a:latin typeface="Aptos" panose="020B0004020202020204" pitchFamily="34" charset="0"/>
              </a:rPr>
              <a:t>s</a:t>
            </a:r>
            <a:r>
              <a:rPr sz="1900" b="0" i="0" dirty="0">
                <a:solidFill>
                  <a:srgbClr val="123830"/>
                </a:solidFill>
                <a:latin typeface="Aptos" panose="020B0004020202020204" pitchFamily="34" charset="0"/>
              </a:rPr>
              <a:t> that draw</a:t>
            </a:r>
            <a:r>
              <a:rPr lang="en-US" sz="1900" b="0" i="0" dirty="0">
                <a:solidFill>
                  <a:srgbClr val="123830"/>
                </a:solidFill>
                <a:latin typeface="Aptos" panose="020B0004020202020204" pitchFamily="34" charset="0"/>
              </a:rPr>
              <a:t> as a next experiment</a:t>
            </a:r>
            <a:endParaRPr sz="1900" b="0" i="0" dirty="0">
              <a:solidFill>
                <a:srgbClr val="123830"/>
              </a:solidFill>
              <a:latin typeface="Aptos" panose="020B0004020202020204" pitchFamily="34" charset="0"/>
            </a:endParaRPr>
          </a:p>
        </p:txBody>
      </p:sp>
      <p:pic>
        <p:nvPicPr>
          <p:cNvPr id="9" name="Picture 8" descr="fig_04_posterior_collapse.png">
            <a:extLst>
              <a:ext uri="{FF2B5EF4-FFF2-40B4-BE49-F238E27FC236}">
                <a16:creationId xmlns:a16="http://schemas.microsoft.com/office/drawing/2014/main" id="{E4E68F8D-F294-9209-8C85-AE1DAFC68FD0}"/>
              </a:ext>
            </a:extLst>
          </p:cNvPr>
          <p:cNvPicPr>
            <a:picLocks noChangeAspect="1"/>
          </p:cNvPicPr>
          <p:nvPr/>
        </p:nvPicPr>
        <p:blipFill>
          <a:blip r:embed="rId4"/>
          <a:srcRect l="-90" t="49427" r="11227" b="-501"/>
          <a:stretch>
            <a:fillRect/>
          </a:stretch>
        </p:blipFill>
        <p:spPr>
          <a:xfrm>
            <a:off x="2824843" y="3284368"/>
            <a:ext cx="6188529" cy="28411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Plan</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TextBox 4"/>
          <p:cNvSpPr txBox="1"/>
          <p:nvPr/>
        </p:nvSpPr>
        <p:spPr>
          <a:xfrm>
            <a:off x="2377440" y="1783080"/>
            <a:ext cx="7498079" cy="2795637"/>
          </a:xfrm>
          <a:prstGeom prst="rect">
            <a:avLst/>
          </a:prstGeom>
          <a:noFill/>
        </p:spPr>
        <p:txBody>
          <a:bodyPr wrap="square" lIns="0" tIns="0" rIns="0" bIns="0" anchor="t">
            <a:spAutoFit/>
          </a:bodyPr>
          <a:lstStyle/>
          <a:p>
            <a:pPr>
              <a:spcAft>
                <a:spcPts val="2000"/>
              </a:spcAft>
            </a:pPr>
            <a:r>
              <a:rPr lang="en-US" sz="2300" dirty="0">
                <a:latin typeface="Aptos" panose="020B0004020202020204" pitchFamily="34" charset="0"/>
              </a:rPr>
              <a:t>1 · Optimizing when data acquisition is expensive</a:t>
            </a:r>
          </a:p>
          <a:p>
            <a:pPr>
              <a:spcAft>
                <a:spcPts val="2000"/>
              </a:spcAft>
            </a:pPr>
            <a:r>
              <a:rPr lang="en-US" sz="2300" dirty="0">
                <a:latin typeface="Aptos" panose="020B0004020202020204" pitchFamily="34" charset="0"/>
              </a:rPr>
              <a:t>2 · The Bayesian optimization loop</a:t>
            </a:r>
          </a:p>
          <a:p>
            <a:pPr>
              <a:spcAft>
                <a:spcPts val="2000"/>
              </a:spcAft>
            </a:pPr>
            <a:r>
              <a:rPr lang="en-US" sz="2300" b="1" dirty="0">
                <a:latin typeface="Aptos" panose="020B0004020202020204" pitchFamily="34" charset="0"/>
              </a:rPr>
              <a:t>3 · Gaussian processes</a:t>
            </a:r>
          </a:p>
          <a:p>
            <a:pPr>
              <a:spcAft>
                <a:spcPts val="2000"/>
              </a:spcAft>
            </a:pPr>
            <a:r>
              <a:rPr lang="en-US" sz="2300" dirty="0">
                <a:latin typeface="Aptos" panose="020B0004020202020204" pitchFamily="34" charset="0"/>
              </a:rPr>
              <a:t>4 · Categorical variables and noise</a:t>
            </a:r>
          </a:p>
          <a:p>
            <a:pPr>
              <a:spcAft>
                <a:spcPts val="2000"/>
              </a:spcAft>
            </a:pPr>
            <a:r>
              <a:rPr lang="en-US" sz="2300" dirty="0">
                <a:latin typeface="Aptos" panose="020B0004020202020204" pitchFamily="34" charset="0"/>
              </a:rPr>
              <a:t>5 · Practical Scenarios: Multi-objective, batch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Kernel</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1463040" y="1681845"/>
            <a:ext cx="9235440" cy="105156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2100" b="1" i="0" dirty="0">
                <a:solidFill>
                  <a:srgbClr val="123830"/>
                </a:solidFill>
                <a:latin typeface="Aptos" panose="020B0004020202020204" pitchFamily="34" charset="0"/>
              </a:rPr>
              <a:t>If two conditions are similar, how similar should their outcomes be?</a:t>
            </a:r>
          </a:p>
        </p:txBody>
      </p:sp>
      <p:sp>
        <p:nvSpPr>
          <p:cNvPr id="6" name="Rounded Rectangle 5"/>
          <p:cNvSpPr/>
          <p:nvPr/>
        </p:nvSpPr>
        <p:spPr>
          <a:xfrm>
            <a:off x="1463040" y="2962005"/>
            <a:ext cx="4480560" cy="105156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1300" b="0" i="0" dirty="0">
                <a:solidFill>
                  <a:srgbClr val="777777"/>
                </a:solidFill>
                <a:latin typeface="Aptos" panose="020B0004020202020204" pitchFamily="34" charset="0"/>
              </a:rPr>
              <a:t>RBF</a:t>
            </a:r>
          </a:p>
          <a:p>
            <a:pPr algn="ctr">
              <a:spcAft>
                <a:spcPts val="600"/>
              </a:spcAft>
            </a:pPr>
            <a:r>
              <a:rPr sz="1700" b="0" i="1" dirty="0">
                <a:solidFill>
                  <a:srgbClr val="123830"/>
                </a:solidFill>
                <a:latin typeface="Aptos" panose="020B0004020202020204" pitchFamily="34" charset="0"/>
              </a:rPr>
              <a:t>k(</a:t>
            </a:r>
            <a:r>
              <a:rPr sz="1700" b="0" i="1" dirty="0" err="1">
                <a:solidFill>
                  <a:srgbClr val="123830"/>
                </a:solidFill>
                <a:latin typeface="Aptos" panose="020B0004020202020204" pitchFamily="34" charset="0"/>
              </a:rPr>
              <a:t>x,x</a:t>
            </a:r>
            <a:r>
              <a:rPr sz="1700" b="0" i="1" dirty="0">
                <a:solidFill>
                  <a:srgbClr val="123830"/>
                </a:solidFill>
                <a:latin typeface="Aptos" panose="020B0004020202020204" pitchFamily="34" charset="0"/>
              </a:rPr>
              <a:t>′) = σ</a:t>
            </a:r>
            <a:r>
              <a:rPr lang="en-US" sz="1700" b="0" i="1" baseline="-25000" dirty="0">
                <a:solidFill>
                  <a:srgbClr val="123830"/>
                </a:solidFill>
                <a:latin typeface="Aptos" panose="020B0004020202020204" pitchFamily="34" charset="0"/>
              </a:rPr>
              <a:t>f</a:t>
            </a:r>
            <a:r>
              <a:rPr sz="1700" b="0" i="1" dirty="0">
                <a:solidFill>
                  <a:srgbClr val="123830"/>
                </a:solidFill>
                <a:latin typeface="Aptos" panose="020B0004020202020204" pitchFamily="34" charset="0"/>
              </a:rPr>
              <a:t>² exp( −‖x−x′‖² / 2ℓ² )</a:t>
            </a:r>
          </a:p>
        </p:txBody>
      </p:sp>
      <p:sp>
        <p:nvSpPr>
          <p:cNvPr id="7" name="Rounded Rectangle 6"/>
          <p:cNvSpPr/>
          <p:nvPr/>
        </p:nvSpPr>
        <p:spPr>
          <a:xfrm>
            <a:off x="6217920" y="2962005"/>
            <a:ext cx="4480560" cy="105156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1300" b="0" i="0">
                <a:solidFill>
                  <a:srgbClr val="777777"/>
                </a:solidFill>
                <a:latin typeface="Aptos" panose="020B0004020202020204" pitchFamily="34" charset="0"/>
              </a:rPr>
              <a:t>MATÉRN 5/2</a:t>
            </a:r>
          </a:p>
          <a:p>
            <a:pPr algn="ctr">
              <a:spcAft>
                <a:spcPts val="600"/>
              </a:spcAft>
            </a:pPr>
            <a:r>
              <a:rPr sz="1700" b="0" i="1">
                <a:solidFill>
                  <a:srgbClr val="123830"/>
                </a:solidFill>
                <a:latin typeface="Aptos" panose="020B0004020202020204" pitchFamily="34" charset="0"/>
              </a:rPr>
              <a:t>same idea, rougher assumption about f</a:t>
            </a:r>
          </a:p>
        </p:txBody>
      </p:sp>
      <p:sp>
        <p:nvSpPr>
          <p:cNvPr id="8" name="TextBox 7"/>
          <p:cNvSpPr txBox="1"/>
          <p:nvPr/>
        </p:nvSpPr>
        <p:spPr>
          <a:xfrm>
            <a:off x="1463040" y="4287884"/>
            <a:ext cx="9235440" cy="461665"/>
          </a:xfrm>
          <a:prstGeom prst="rect">
            <a:avLst/>
          </a:prstGeom>
          <a:noFill/>
        </p:spPr>
        <p:txBody>
          <a:bodyPr wrap="square" lIns="0" tIns="0" rIns="0" bIns="0" anchor="t">
            <a:spAutoFit/>
          </a:bodyPr>
          <a:lstStyle/>
          <a:p>
            <a:pPr algn="l">
              <a:spcAft>
                <a:spcPts val="1000"/>
              </a:spcAft>
            </a:pPr>
            <a:r>
              <a:rPr sz="1500" b="0" i="0" dirty="0">
                <a:solidFill>
                  <a:srgbClr val="123830"/>
                </a:solidFill>
                <a:latin typeface="Aptos" panose="020B0004020202020204" pitchFamily="34" charset="0"/>
              </a:rPr>
              <a:t>RBF implies </a:t>
            </a:r>
            <a:r>
              <a:rPr sz="1500" b="0" i="1" dirty="0">
                <a:solidFill>
                  <a:srgbClr val="123830"/>
                </a:solidFill>
                <a:latin typeface="Aptos" panose="020B0004020202020204" pitchFamily="34" charset="0"/>
              </a:rPr>
              <a:t>f </a:t>
            </a:r>
            <a:r>
              <a:rPr sz="1500" b="0" i="0" dirty="0">
                <a:solidFill>
                  <a:srgbClr val="123830"/>
                </a:solidFill>
                <a:latin typeface="Aptos" panose="020B0004020202020204" pitchFamily="34" charset="0"/>
              </a:rPr>
              <a:t>is infinitely differentiable — a strong claim about a surface with phase boundaries and catalyst death. </a:t>
            </a:r>
            <a:r>
              <a:rPr sz="1500" b="0" i="0" dirty="0" err="1">
                <a:solidFill>
                  <a:srgbClr val="123830"/>
                </a:solidFill>
                <a:latin typeface="Aptos" panose="020B0004020202020204" pitchFamily="34" charset="0"/>
              </a:rPr>
              <a:t>Matérn</a:t>
            </a:r>
            <a:r>
              <a:rPr sz="1500" b="0" i="0" dirty="0">
                <a:solidFill>
                  <a:srgbClr val="123830"/>
                </a:solidFill>
                <a:latin typeface="Aptos" panose="020B0004020202020204" pitchFamily="34" charset="0"/>
              </a:rPr>
              <a:t> 5/2 assumes only twice-differentiable.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Hyperparameters</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608492" y="3084022"/>
            <a:ext cx="3538728" cy="2887855"/>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1000"/>
              </a:spcAft>
            </a:pPr>
            <a:r>
              <a:rPr sz="1700" b="1" i="0" dirty="0">
                <a:solidFill>
                  <a:schemeClr val="tx1">
                    <a:lumMod val="85000"/>
                    <a:lumOff val="15000"/>
                  </a:schemeClr>
                </a:solidFill>
                <a:latin typeface="Aptos" panose="020B0004020202020204" pitchFamily="34" charset="0"/>
              </a:rPr>
              <a:t>ℓ  length-scale</a:t>
            </a:r>
          </a:p>
          <a:p>
            <a:pPr>
              <a:spcAft>
                <a:spcPts val="400"/>
              </a:spcAft>
            </a:pPr>
            <a:r>
              <a:rPr sz="1250" b="0" i="0" dirty="0">
                <a:solidFill>
                  <a:schemeClr val="tx1">
                    <a:lumMod val="85000"/>
                    <a:lumOff val="15000"/>
                  </a:schemeClr>
                </a:solidFill>
                <a:latin typeface="Aptos" panose="020B0004020202020204" pitchFamily="34" charset="0"/>
              </a:rPr>
              <a:t>“How far must I move in temperature before the yield changes?”</a:t>
            </a:r>
          </a:p>
          <a:p>
            <a:pPr>
              <a:spcAft>
                <a:spcPts val="400"/>
              </a:spcAft>
            </a:pPr>
            <a:endParaRPr sz="1250" b="0" i="0" dirty="0">
              <a:solidFill>
                <a:schemeClr val="tx1">
                  <a:lumMod val="85000"/>
                  <a:lumOff val="15000"/>
                </a:schemeClr>
              </a:solidFill>
              <a:latin typeface="Aptos" panose="020B0004020202020204" pitchFamily="34" charset="0"/>
            </a:endParaRPr>
          </a:p>
          <a:p>
            <a:pPr>
              <a:spcAft>
                <a:spcPts val="400"/>
              </a:spcAft>
            </a:pPr>
            <a:r>
              <a:rPr sz="1250" b="0" i="0" dirty="0">
                <a:solidFill>
                  <a:schemeClr val="tx1">
                    <a:lumMod val="85000"/>
                    <a:lumOff val="15000"/>
                  </a:schemeClr>
                </a:solidFill>
                <a:latin typeface="Aptos" panose="020B0004020202020204" pitchFamily="34" charset="0"/>
              </a:rPr>
              <a:t>ℓ = 10 °C is a claim you can sanity-check.</a:t>
            </a:r>
          </a:p>
          <a:p>
            <a:pPr>
              <a:spcAft>
                <a:spcPts val="400"/>
              </a:spcAft>
            </a:pPr>
            <a:endParaRPr sz="1250" b="0" i="0" dirty="0">
              <a:solidFill>
                <a:schemeClr val="tx1">
                  <a:lumMod val="85000"/>
                  <a:lumOff val="15000"/>
                </a:schemeClr>
              </a:solidFill>
              <a:latin typeface="Aptos" panose="020B0004020202020204" pitchFamily="34" charset="0"/>
            </a:endParaRPr>
          </a:p>
          <a:p>
            <a:pPr>
              <a:spcAft>
                <a:spcPts val="400"/>
              </a:spcAft>
            </a:pPr>
            <a:r>
              <a:rPr sz="1250" b="0" i="0" dirty="0">
                <a:solidFill>
                  <a:schemeClr val="tx1">
                    <a:lumMod val="85000"/>
                    <a:lumOff val="15000"/>
                  </a:schemeClr>
                </a:solidFill>
                <a:latin typeface="Aptos" panose="020B0004020202020204" pitchFamily="34" charset="0"/>
              </a:rPr>
              <a:t>Too small → reverts to the mean between points; BO degenerates to random search.</a:t>
            </a:r>
          </a:p>
          <a:p>
            <a:pPr>
              <a:spcAft>
                <a:spcPts val="400"/>
              </a:spcAft>
            </a:pPr>
            <a:r>
              <a:rPr sz="1250" b="0" i="0" dirty="0">
                <a:solidFill>
                  <a:schemeClr val="tx1">
                    <a:lumMod val="85000"/>
                    <a:lumOff val="15000"/>
                  </a:schemeClr>
                </a:solidFill>
                <a:latin typeface="Aptos" panose="020B0004020202020204" pitchFamily="34" charset="0"/>
              </a:rPr>
              <a:t>Too large → </a:t>
            </a:r>
            <a:r>
              <a:rPr sz="1250" b="0" i="0" dirty="0" err="1">
                <a:solidFill>
                  <a:schemeClr val="tx1">
                    <a:lumMod val="85000"/>
                    <a:lumOff val="15000"/>
                  </a:schemeClr>
                </a:solidFill>
                <a:latin typeface="Aptos" panose="020B0004020202020204" pitchFamily="34" charset="0"/>
              </a:rPr>
              <a:t>oversmooths</a:t>
            </a:r>
            <a:r>
              <a:rPr sz="1250" b="0" i="0" dirty="0">
                <a:solidFill>
                  <a:schemeClr val="tx1">
                    <a:lumMod val="85000"/>
                    <a:lumOff val="15000"/>
                  </a:schemeClr>
                </a:solidFill>
                <a:latin typeface="Aptos" panose="020B0004020202020204" pitchFamily="34" charset="0"/>
              </a:rPr>
              <a:t>, misses a narrow optimum.</a:t>
            </a:r>
          </a:p>
        </p:txBody>
      </p:sp>
      <p:sp>
        <p:nvSpPr>
          <p:cNvPr id="6" name="Rounded Rectangle 5"/>
          <p:cNvSpPr/>
          <p:nvPr/>
        </p:nvSpPr>
        <p:spPr>
          <a:xfrm>
            <a:off x="4330100" y="3084022"/>
            <a:ext cx="3538728" cy="2887855"/>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1000"/>
              </a:spcAft>
            </a:pPr>
            <a:r>
              <a:rPr sz="1700" b="1" i="0" dirty="0">
                <a:solidFill>
                  <a:schemeClr val="tx1">
                    <a:lumMod val="85000"/>
                    <a:lumOff val="15000"/>
                  </a:schemeClr>
                </a:solidFill>
                <a:latin typeface="Aptos" panose="020B0004020202020204" pitchFamily="34" charset="0"/>
              </a:rPr>
              <a:t>σ</a:t>
            </a:r>
            <a:r>
              <a:rPr sz="1700" b="1" i="0" baseline="-25000" dirty="0">
                <a:solidFill>
                  <a:schemeClr val="tx1">
                    <a:lumMod val="85000"/>
                    <a:lumOff val="15000"/>
                  </a:schemeClr>
                </a:solidFill>
                <a:latin typeface="Aptos" panose="020B0004020202020204" pitchFamily="34" charset="0"/>
              </a:rPr>
              <a:t>f</a:t>
            </a:r>
            <a:r>
              <a:rPr sz="1700" b="1" i="0" dirty="0">
                <a:solidFill>
                  <a:schemeClr val="tx1">
                    <a:lumMod val="85000"/>
                    <a:lumOff val="15000"/>
                  </a:schemeClr>
                </a:solidFill>
                <a:latin typeface="Aptos" panose="020B0004020202020204" pitchFamily="34" charset="0"/>
              </a:rPr>
              <a:t>²  signal variance</a:t>
            </a:r>
          </a:p>
          <a:p>
            <a:pPr>
              <a:spcAft>
                <a:spcPts val="400"/>
              </a:spcAft>
            </a:pPr>
            <a:r>
              <a:rPr sz="1250" b="0" i="0" dirty="0">
                <a:solidFill>
                  <a:schemeClr val="tx1">
                    <a:lumMod val="85000"/>
                    <a:lumOff val="15000"/>
                  </a:schemeClr>
                </a:solidFill>
                <a:latin typeface="Aptos" panose="020B0004020202020204" pitchFamily="34" charset="0"/>
              </a:rPr>
              <a:t>“How much does yield vary across the whole space?”</a:t>
            </a:r>
          </a:p>
          <a:p>
            <a:pPr>
              <a:spcAft>
                <a:spcPts val="400"/>
              </a:spcAft>
            </a:pPr>
            <a:endParaRPr sz="1250" b="0" i="0" dirty="0">
              <a:solidFill>
                <a:schemeClr val="tx1">
                  <a:lumMod val="85000"/>
                  <a:lumOff val="15000"/>
                </a:schemeClr>
              </a:solidFill>
              <a:latin typeface="Aptos" panose="020B0004020202020204" pitchFamily="34" charset="0"/>
            </a:endParaRPr>
          </a:p>
          <a:p>
            <a:pPr>
              <a:spcAft>
                <a:spcPts val="400"/>
              </a:spcAft>
            </a:pPr>
            <a:r>
              <a:rPr sz="1250" b="0" i="0" dirty="0">
                <a:solidFill>
                  <a:schemeClr val="tx1">
                    <a:lumMod val="85000"/>
                    <a:lumOff val="15000"/>
                  </a:schemeClr>
                </a:solidFill>
                <a:latin typeface="Aptos" panose="020B0004020202020204" pitchFamily="34" charset="0"/>
              </a:rPr>
              <a:t>Sets the vertical scale of the prior.</a:t>
            </a:r>
          </a:p>
          <a:p>
            <a:pPr>
              <a:spcAft>
                <a:spcPts val="400"/>
              </a:spcAft>
            </a:pPr>
            <a:endParaRPr sz="1250" b="0" i="0" dirty="0">
              <a:solidFill>
                <a:schemeClr val="tx1">
                  <a:lumMod val="85000"/>
                  <a:lumOff val="15000"/>
                </a:schemeClr>
              </a:solidFill>
              <a:latin typeface="Aptos" panose="020B0004020202020204" pitchFamily="34" charset="0"/>
            </a:endParaRPr>
          </a:p>
          <a:p>
            <a:pPr>
              <a:spcAft>
                <a:spcPts val="400"/>
              </a:spcAft>
            </a:pPr>
            <a:r>
              <a:rPr sz="1250" b="0" i="0" dirty="0">
                <a:solidFill>
                  <a:schemeClr val="tx1">
                    <a:lumMod val="85000"/>
                    <a:lumOff val="15000"/>
                  </a:schemeClr>
                </a:solidFill>
                <a:latin typeface="Aptos" panose="020B0004020202020204" pitchFamily="34" charset="0"/>
              </a:rPr>
              <a:t>Too small → over-confident, under-explores.</a:t>
            </a:r>
          </a:p>
        </p:txBody>
      </p:sp>
      <p:sp>
        <p:nvSpPr>
          <p:cNvPr id="7" name="Rounded Rectangle 6"/>
          <p:cNvSpPr/>
          <p:nvPr/>
        </p:nvSpPr>
        <p:spPr>
          <a:xfrm>
            <a:off x="8051708" y="3084022"/>
            <a:ext cx="3538728" cy="2887855"/>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1000"/>
              </a:spcAft>
            </a:pPr>
            <a:r>
              <a:rPr sz="1700" b="1" i="0" dirty="0">
                <a:solidFill>
                  <a:schemeClr val="tx1">
                    <a:lumMod val="85000"/>
                    <a:lumOff val="15000"/>
                  </a:schemeClr>
                </a:solidFill>
                <a:latin typeface="Aptos" panose="020B0004020202020204" pitchFamily="34" charset="0"/>
              </a:rPr>
              <a:t>σₙ²  noise</a:t>
            </a:r>
          </a:p>
          <a:p>
            <a:pPr>
              <a:spcAft>
                <a:spcPts val="400"/>
              </a:spcAft>
            </a:pPr>
            <a:r>
              <a:rPr lang="en-US" sz="1250" b="0" i="0" dirty="0">
                <a:solidFill>
                  <a:schemeClr val="tx1">
                    <a:lumMod val="85000"/>
                    <a:lumOff val="15000"/>
                  </a:schemeClr>
                </a:solidFill>
                <a:latin typeface="Aptos" panose="020B0004020202020204" pitchFamily="34" charset="0"/>
              </a:rPr>
              <a:t>Your experimental error</a:t>
            </a:r>
            <a:r>
              <a:rPr sz="1250" b="0" i="0" dirty="0">
                <a:solidFill>
                  <a:schemeClr val="tx1">
                    <a:lumMod val="85000"/>
                    <a:lumOff val="15000"/>
                  </a:schemeClr>
                </a:solidFill>
                <a:latin typeface="Aptos" panose="020B0004020202020204" pitchFamily="34" charset="0"/>
              </a:rPr>
              <a:t>. The replicate error of your assay.</a:t>
            </a:r>
          </a:p>
          <a:p>
            <a:pPr>
              <a:spcAft>
                <a:spcPts val="400"/>
              </a:spcAft>
            </a:pPr>
            <a:endParaRPr sz="1250" b="0" i="0" dirty="0">
              <a:solidFill>
                <a:schemeClr val="tx1">
                  <a:lumMod val="85000"/>
                  <a:lumOff val="15000"/>
                </a:schemeClr>
              </a:solidFill>
              <a:latin typeface="Aptos" panose="020B0004020202020204" pitchFamily="34" charset="0"/>
            </a:endParaRPr>
          </a:p>
          <a:p>
            <a:pPr>
              <a:spcAft>
                <a:spcPts val="400"/>
              </a:spcAft>
            </a:pPr>
            <a:r>
              <a:rPr sz="1250" b="0" i="0" dirty="0">
                <a:solidFill>
                  <a:schemeClr val="tx1">
                    <a:lumMod val="85000"/>
                    <a:lumOff val="15000"/>
                  </a:schemeClr>
                </a:solidFill>
                <a:latin typeface="Aptos" panose="020B0004020202020204" pitchFamily="34" charset="0"/>
              </a:rPr>
              <a:t>Set to ~0 and the GP interpolates every point exactly — including one bad measurement — and BO chases a lucky outlier for the rest of the campaign.</a:t>
            </a:r>
          </a:p>
          <a:p>
            <a:pPr>
              <a:spcAft>
                <a:spcPts val="400"/>
              </a:spcAft>
            </a:pPr>
            <a:endParaRPr sz="1250" b="0" i="0" dirty="0">
              <a:solidFill>
                <a:schemeClr val="tx1">
                  <a:lumMod val="85000"/>
                  <a:lumOff val="15000"/>
                </a:schemeClr>
              </a:solidFill>
              <a:latin typeface="Aptos" panose="020B0004020202020204" pitchFamily="34" charset="0"/>
            </a:endParaRPr>
          </a:p>
          <a:p>
            <a:pPr>
              <a:spcAft>
                <a:spcPts val="400"/>
              </a:spcAft>
            </a:pPr>
            <a:r>
              <a:rPr sz="1250" b="0" i="0" dirty="0">
                <a:solidFill>
                  <a:schemeClr val="tx1">
                    <a:lumMod val="85000"/>
                    <a:lumOff val="15000"/>
                  </a:schemeClr>
                </a:solidFill>
                <a:latin typeface="Aptos" panose="020B0004020202020204" pitchFamily="34" charset="0"/>
              </a:rPr>
              <a:t>The single most common practical error in chemistry BO.</a:t>
            </a:r>
          </a:p>
        </p:txBody>
      </p:sp>
      <p:sp>
        <p:nvSpPr>
          <p:cNvPr id="9" name="Rounded Rectangle 8">
            <a:extLst>
              <a:ext uri="{FF2B5EF4-FFF2-40B4-BE49-F238E27FC236}">
                <a16:creationId xmlns:a16="http://schemas.microsoft.com/office/drawing/2014/main" id="{5B55232D-343A-2D97-670F-83CDF1377967}"/>
              </a:ext>
            </a:extLst>
          </p:cNvPr>
          <p:cNvSpPr/>
          <p:nvPr/>
        </p:nvSpPr>
        <p:spPr>
          <a:xfrm>
            <a:off x="3855567" y="1384836"/>
            <a:ext cx="4480560" cy="105156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1300" b="0" i="0" dirty="0">
                <a:solidFill>
                  <a:srgbClr val="777777"/>
                </a:solidFill>
                <a:latin typeface="Aptos" panose="020B0004020202020204" pitchFamily="34" charset="0"/>
              </a:rPr>
              <a:t>RBF</a:t>
            </a:r>
            <a:r>
              <a:rPr lang="en-US" sz="1300" b="0" i="0" dirty="0">
                <a:solidFill>
                  <a:srgbClr val="777777"/>
                </a:solidFill>
                <a:latin typeface="Aptos" panose="020B0004020202020204" pitchFamily="34" charset="0"/>
              </a:rPr>
              <a:t> kernel</a:t>
            </a:r>
            <a:endParaRPr sz="1300" b="0" i="0" dirty="0">
              <a:solidFill>
                <a:srgbClr val="777777"/>
              </a:solidFill>
              <a:latin typeface="Aptos" panose="020B0004020202020204" pitchFamily="34" charset="0"/>
            </a:endParaRPr>
          </a:p>
          <a:p>
            <a:pPr algn="ctr">
              <a:spcAft>
                <a:spcPts val="600"/>
              </a:spcAft>
            </a:pPr>
            <a:r>
              <a:rPr sz="1700" b="0" i="1" dirty="0">
                <a:solidFill>
                  <a:srgbClr val="123830"/>
                </a:solidFill>
                <a:latin typeface="Aptos" panose="020B0004020202020204" pitchFamily="34" charset="0"/>
              </a:rPr>
              <a:t>k(</a:t>
            </a:r>
            <a:r>
              <a:rPr sz="1700" b="0" i="1" dirty="0" err="1">
                <a:solidFill>
                  <a:srgbClr val="123830"/>
                </a:solidFill>
                <a:latin typeface="Aptos" panose="020B0004020202020204" pitchFamily="34" charset="0"/>
              </a:rPr>
              <a:t>x,x</a:t>
            </a:r>
            <a:r>
              <a:rPr sz="1700" b="0" i="1" dirty="0">
                <a:solidFill>
                  <a:srgbClr val="123830"/>
                </a:solidFill>
                <a:latin typeface="Aptos" panose="020B0004020202020204" pitchFamily="34" charset="0"/>
              </a:rPr>
              <a:t>′) = σ</a:t>
            </a:r>
            <a:r>
              <a:rPr lang="en-US" sz="1700" b="0" i="1" baseline="-25000" dirty="0">
                <a:solidFill>
                  <a:srgbClr val="123830"/>
                </a:solidFill>
                <a:latin typeface="Aptos" panose="020B0004020202020204" pitchFamily="34" charset="0"/>
              </a:rPr>
              <a:t>f</a:t>
            </a:r>
            <a:r>
              <a:rPr sz="1700" b="0" i="1" dirty="0">
                <a:solidFill>
                  <a:srgbClr val="123830"/>
                </a:solidFill>
                <a:latin typeface="Aptos" panose="020B0004020202020204" pitchFamily="34" charset="0"/>
              </a:rPr>
              <a:t>² exp( −‖x−x′‖² / 2ℓ²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Length Scale</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pic>
        <p:nvPicPr>
          <p:cNvPr id="5" name="Picture 4" descr="fig_08_hyperparameters.png"/>
          <p:cNvPicPr>
            <a:picLocks noChangeAspect="1"/>
          </p:cNvPicPr>
          <p:nvPr/>
        </p:nvPicPr>
        <p:blipFill>
          <a:blip r:embed="rId4"/>
          <a:stretch>
            <a:fillRect/>
          </a:stretch>
        </p:blipFill>
        <p:spPr>
          <a:xfrm>
            <a:off x="582558" y="1207008"/>
            <a:ext cx="10804379" cy="3525980"/>
          </a:xfrm>
          <a:prstGeom prst="rect">
            <a:avLst/>
          </a:prstGeom>
        </p:spPr>
      </p:pic>
      <p:sp>
        <p:nvSpPr>
          <p:cNvPr id="6" name="TextBox 5"/>
          <p:cNvSpPr txBox="1"/>
          <p:nvPr/>
        </p:nvSpPr>
        <p:spPr>
          <a:xfrm>
            <a:off x="45720" y="6233160"/>
            <a:ext cx="10835640" cy="169277"/>
          </a:xfrm>
          <a:prstGeom prst="rect">
            <a:avLst/>
          </a:prstGeom>
          <a:noFill/>
        </p:spPr>
        <p:txBody>
          <a:bodyPr wrap="square" lIns="0" tIns="0" rIns="0" bIns="0" anchor="t">
            <a:spAutoFit/>
          </a:bodyPr>
          <a:lstStyle/>
          <a:p>
            <a:r>
              <a:rPr sz="1100" b="0" i="1" dirty="0">
                <a:solidFill>
                  <a:srgbClr val="777777"/>
                </a:solidFill>
                <a:latin typeface="Aptos" panose="020B0004020202020204" pitchFamily="34" charset="0"/>
              </a:rPr>
              <a:t>fig_08_hyperparameters.ipynb  ·  same six observations, three length-scales</a:t>
            </a:r>
          </a:p>
        </p:txBody>
      </p:sp>
      <p:sp>
        <p:nvSpPr>
          <p:cNvPr id="7" name="Rounded Rectangle 6"/>
          <p:cNvSpPr/>
          <p:nvPr/>
        </p:nvSpPr>
        <p:spPr>
          <a:xfrm>
            <a:off x="566928" y="5196840"/>
            <a:ext cx="10835640" cy="7772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600" b="0" i="0" dirty="0">
                <a:solidFill>
                  <a:srgbClr val="123830"/>
                </a:solidFill>
                <a:latin typeface="Aptos" panose="020B0004020202020204" pitchFamily="34" charset="0"/>
              </a:rPr>
              <a:t>Too short and the posterior snaps back to the mean between points — BO degenerates towards random search. Too long and the optimum is smoothed away.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err="1">
                <a:solidFill>
                  <a:srgbClr val="000000"/>
                </a:solidFill>
                <a:latin typeface="Avenir Book"/>
              </a:rPr>
              <a:t>σ</a:t>
            </a:r>
            <a:r>
              <a:rPr sz="2600" baseline="-25000" dirty="0" err="1">
                <a:solidFill>
                  <a:srgbClr val="000000"/>
                </a:solidFill>
                <a:latin typeface="Avenir Book"/>
              </a:rPr>
              <a:t>f</a:t>
            </a:r>
            <a:r>
              <a:rPr sz="2600" dirty="0">
                <a:solidFill>
                  <a:srgbClr val="000000"/>
                </a:solidFill>
                <a:latin typeface="Avenir Book"/>
              </a:rPr>
              <a:t> — </a:t>
            </a:r>
            <a:r>
              <a:rPr lang="en-US" sz="2600" dirty="0">
                <a:solidFill>
                  <a:srgbClr val="000000"/>
                </a:solidFill>
                <a:latin typeface="Avenir Book"/>
              </a:rPr>
              <a:t>Signal Variance</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pic>
        <p:nvPicPr>
          <p:cNvPr id="5" name="Picture 4" descr="fig_18_sigma_f.png"/>
          <p:cNvPicPr>
            <a:picLocks noChangeAspect="1"/>
          </p:cNvPicPr>
          <p:nvPr/>
        </p:nvPicPr>
        <p:blipFill>
          <a:blip r:embed="rId4"/>
          <a:stretch>
            <a:fillRect/>
          </a:stretch>
        </p:blipFill>
        <p:spPr>
          <a:xfrm>
            <a:off x="1445910" y="1188720"/>
            <a:ext cx="9077675" cy="3611880"/>
          </a:xfrm>
          <a:prstGeom prst="rect">
            <a:avLst/>
          </a:prstGeom>
        </p:spPr>
      </p:pic>
      <p:sp>
        <p:nvSpPr>
          <p:cNvPr id="6" name="TextBox 5"/>
          <p:cNvSpPr txBox="1"/>
          <p:nvPr/>
        </p:nvSpPr>
        <p:spPr>
          <a:xfrm>
            <a:off x="31394" y="6243257"/>
            <a:ext cx="10835640" cy="169277"/>
          </a:xfrm>
          <a:prstGeom prst="rect">
            <a:avLst/>
          </a:prstGeom>
          <a:noFill/>
        </p:spPr>
        <p:txBody>
          <a:bodyPr wrap="square" lIns="0" tIns="0" rIns="0" bIns="0" anchor="t">
            <a:spAutoFit/>
          </a:bodyPr>
          <a:lstStyle/>
          <a:p>
            <a:r>
              <a:rPr sz="1100" b="0" i="1" dirty="0">
                <a:solidFill>
                  <a:srgbClr val="777777"/>
                </a:solidFill>
                <a:latin typeface="Aptos" panose="020B0004020202020204" pitchFamily="34" charset="0"/>
              </a:rPr>
              <a:t>fig_18_sigma_f.ipynb  ·  ℓ and </a:t>
            </a:r>
            <a:r>
              <a:rPr sz="1100" b="0" i="1" dirty="0" err="1">
                <a:solidFill>
                  <a:srgbClr val="777777"/>
                </a:solidFill>
                <a:latin typeface="Aptos" panose="020B0004020202020204" pitchFamily="34" charset="0"/>
              </a:rPr>
              <a:t>σ</a:t>
            </a:r>
            <a:r>
              <a:rPr sz="1100" b="0" i="1" dirty="0">
                <a:solidFill>
                  <a:srgbClr val="777777"/>
                </a:solidFill>
                <a:latin typeface="Aptos" panose="020B0004020202020204" pitchFamily="34" charset="0"/>
              </a:rPr>
              <a:t>ₙ identical in all three panels</a:t>
            </a:r>
          </a:p>
        </p:txBody>
      </p:sp>
      <p:sp>
        <p:nvSpPr>
          <p:cNvPr id="7" name="Rounded Rectangle 6"/>
          <p:cNvSpPr/>
          <p:nvPr/>
        </p:nvSpPr>
        <p:spPr>
          <a:xfrm>
            <a:off x="566928" y="5181600"/>
            <a:ext cx="10835640" cy="86868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600" b="0" i="0">
                <a:solidFill>
                  <a:srgbClr val="123830"/>
                </a:solidFill>
                <a:latin typeface="Aptos" panose="020B0004020202020204" pitchFamily="34" charset="0"/>
              </a:rPr>
              <a:t>All three fit the data equally well. σ_f changes nothing at the observations — it sets the CEILING of the band in the gaps, and therefore how much BO wants to explore.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err="1">
                <a:solidFill>
                  <a:srgbClr val="000000"/>
                </a:solidFill>
                <a:latin typeface="Avenir Book"/>
              </a:rPr>
              <a:t>σ</a:t>
            </a:r>
            <a:r>
              <a:rPr sz="2600" dirty="0">
                <a:solidFill>
                  <a:srgbClr val="000000"/>
                </a:solidFill>
                <a:latin typeface="Avenir Book"/>
              </a:rPr>
              <a:t>ₙ — </a:t>
            </a:r>
            <a:r>
              <a:rPr lang="en-US" sz="2600" dirty="0">
                <a:solidFill>
                  <a:srgbClr val="000000"/>
                </a:solidFill>
                <a:latin typeface="Avenir Book"/>
              </a:rPr>
              <a:t>Data Noise</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pic>
        <p:nvPicPr>
          <p:cNvPr id="5" name="Picture 4" descr="fig_19_sigma_n.png"/>
          <p:cNvPicPr>
            <a:picLocks noChangeAspect="1"/>
          </p:cNvPicPr>
          <p:nvPr/>
        </p:nvPicPr>
        <p:blipFill>
          <a:blip r:embed="rId4"/>
          <a:stretch>
            <a:fillRect/>
          </a:stretch>
        </p:blipFill>
        <p:spPr>
          <a:xfrm>
            <a:off x="1601114" y="1578621"/>
            <a:ext cx="8658705" cy="3611880"/>
          </a:xfrm>
          <a:prstGeom prst="rect">
            <a:avLst/>
          </a:prstGeom>
        </p:spPr>
      </p:pic>
      <p:sp>
        <p:nvSpPr>
          <p:cNvPr id="6" name="TextBox 5"/>
          <p:cNvSpPr txBox="1"/>
          <p:nvPr/>
        </p:nvSpPr>
        <p:spPr>
          <a:xfrm>
            <a:off x="31394" y="6248949"/>
            <a:ext cx="10835640" cy="169277"/>
          </a:xfrm>
          <a:prstGeom prst="rect">
            <a:avLst/>
          </a:prstGeom>
          <a:noFill/>
        </p:spPr>
        <p:txBody>
          <a:bodyPr wrap="square" lIns="0" tIns="0" rIns="0" bIns="0" anchor="t">
            <a:spAutoFit/>
          </a:bodyPr>
          <a:lstStyle/>
          <a:p>
            <a:r>
              <a:rPr sz="1100" b="0" i="1" dirty="0">
                <a:solidFill>
                  <a:srgbClr val="777777"/>
                </a:solidFill>
                <a:latin typeface="Aptos" panose="020B0004020202020204" pitchFamily="34" charset="0"/>
              </a:rPr>
              <a:t>fig_19_sigma_n.ipynb  ·  ℓ and </a:t>
            </a:r>
            <a:r>
              <a:rPr sz="1100" b="0" i="1" dirty="0" err="1">
                <a:solidFill>
                  <a:srgbClr val="777777"/>
                </a:solidFill>
                <a:latin typeface="Aptos" panose="020B0004020202020204" pitchFamily="34" charset="0"/>
              </a:rPr>
              <a:t>σ_f</a:t>
            </a:r>
            <a:r>
              <a:rPr sz="1100" b="0" i="1" dirty="0">
                <a:solidFill>
                  <a:srgbClr val="777777"/>
                </a:solidFill>
                <a:latin typeface="Aptos" panose="020B0004020202020204" pitchFamily="34" charset="0"/>
              </a:rPr>
              <a:t> identical; one pair of runs is a replicate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Hyperparameter Fitting</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1069134" y="2313470"/>
            <a:ext cx="9902952" cy="96012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600"/>
              </a:spcAft>
            </a:pPr>
            <a:r>
              <a:rPr sz="2100" b="0" i="1" dirty="0">
                <a:solidFill>
                  <a:srgbClr val="123830"/>
                </a:solidFill>
                <a:latin typeface="Aptos" panose="020B0004020202020204" pitchFamily="34" charset="0"/>
              </a:rPr>
              <a:t>log p(y | X, </a:t>
            </a:r>
            <a:r>
              <a:rPr sz="2100" b="0" i="1" dirty="0" err="1">
                <a:solidFill>
                  <a:srgbClr val="123830"/>
                </a:solidFill>
                <a:latin typeface="Aptos" panose="020B0004020202020204" pitchFamily="34" charset="0"/>
              </a:rPr>
              <a:t>θ</a:t>
            </a:r>
            <a:r>
              <a:rPr sz="2100" b="0" i="1" dirty="0">
                <a:solidFill>
                  <a:srgbClr val="123830"/>
                </a:solidFill>
                <a:latin typeface="Aptos" panose="020B0004020202020204" pitchFamily="34" charset="0"/>
              </a:rPr>
              <a:t>)  =  −½ yᵀK⁻¹y  −  ½ </a:t>
            </a:r>
            <a:r>
              <a:rPr sz="2100" b="0" i="1" dirty="0" err="1">
                <a:solidFill>
                  <a:srgbClr val="123830"/>
                </a:solidFill>
                <a:latin typeface="Aptos" panose="020B0004020202020204" pitchFamily="34" charset="0"/>
              </a:rPr>
              <a:t>log|K</a:t>
            </a:r>
            <a:r>
              <a:rPr sz="2100" b="0" i="1" dirty="0">
                <a:solidFill>
                  <a:srgbClr val="123830"/>
                </a:solidFill>
                <a:latin typeface="Aptos" panose="020B0004020202020204" pitchFamily="34" charset="0"/>
              </a:rPr>
              <a:t>|  −  (n/2) log 2π</a:t>
            </a:r>
          </a:p>
        </p:txBody>
      </p:sp>
      <p:sp>
        <p:nvSpPr>
          <p:cNvPr id="6" name="Rounded Rectangle 5"/>
          <p:cNvSpPr/>
          <p:nvPr/>
        </p:nvSpPr>
        <p:spPr>
          <a:xfrm>
            <a:off x="1069134" y="3575342"/>
            <a:ext cx="4837176" cy="12344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500"/>
              </a:spcAft>
            </a:pPr>
            <a:r>
              <a:rPr sz="1900" b="1" i="1" dirty="0">
                <a:solidFill>
                  <a:srgbClr val="123830"/>
                </a:solidFill>
                <a:latin typeface="Aptos" panose="020B0004020202020204" pitchFamily="34" charset="0"/>
              </a:rPr>
              <a:t>−½ y</a:t>
            </a:r>
            <a:r>
              <a:rPr sz="1368" b="1" i="1" baseline="30000" dirty="0">
                <a:solidFill>
                  <a:srgbClr val="123830"/>
                </a:solidFill>
                <a:latin typeface="Aptos" panose="020B0004020202020204" pitchFamily="34" charset="0"/>
              </a:rPr>
              <a:t>T</a:t>
            </a:r>
            <a:r>
              <a:rPr sz="1900" b="1" i="1" dirty="0">
                <a:solidFill>
                  <a:srgbClr val="123830"/>
                </a:solidFill>
                <a:latin typeface="Aptos" panose="020B0004020202020204" pitchFamily="34" charset="0"/>
              </a:rPr>
              <a:t>K</a:t>
            </a:r>
            <a:r>
              <a:rPr sz="1368" b="1" i="1" baseline="30000" dirty="0">
                <a:solidFill>
                  <a:srgbClr val="123830"/>
                </a:solidFill>
                <a:latin typeface="Aptos" panose="020B0004020202020204" pitchFamily="34" charset="0"/>
              </a:rPr>
              <a:t>−1</a:t>
            </a:r>
            <a:r>
              <a:rPr sz="1900" b="1" i="1" dirty="0">
                <a:solidFill>
                  <a:srgbClr val="123830"/>
                </a:solidFill>
                <a:latin typeface="Aptos" panose="020B0004020202020204" pitchFamily="34" charset="0"/>
              </a:rPr>
              <a:t>y</a:t>
            </a:r>
          </a:p>
          <a:p>
            <a:pPr algn="ctr"/>
            <a:r>
              <a:rPr sz="1400" b="0" i="0" dirty="0">
                <a:solidFill>
                  <a:srgbClr val="123830"/>
                </a:solidFill>
                <a:latin typeface="Aptos" panose="020B0004020202020204" pitchFamily="34" charset="0"/>
              </a:rPr>
              <a:t>data fit — rewards explaining the observations</a:t>
            </a:r>
          </a:p>
        </p:txBody>
      </p:sp>
      <p:sp>
        <p:nvSpPr>
          <p:cNvPr id="7" name="Rounded Rectangle 6"/>
          <p:cNvSpPr/>
          <p:nvPr/>
        </p:nvSpPr>
        <p:spPr>
          <a:xfrm>
            <a:off x="6134910" y="3575342"/>
            <a:ext cx="4837176" cy="12344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spcAft>
                <a:spcPts val="500"/>
              </a:spcAft>
            </a:pPr>
            <a:r>
              <a:rPr sz="1900" b="1" i="0" dirty="0">
                <a:solidFill>
                  <a:srgbClr val="C00000"/>
                </a:solidFill>
                <a:latin typeface="Aptos" panose="020B0004020202020204" pitchFamily="34" charset="0"/>
              </a:rPr>
              <a:t>−½ </a:t>
            </a:r>
            <a:r>
              <a:rPr sz="1900" b="1" i="0" dirty="0" err="1">
                <a:solidFill>
                  <a:srgbClr val="C00000"/>
                </a:solidFill>
                <a:latin typeface="Aptos" panose="020B0004020202020204" pitchFamily="34" charset="0"/>
              </a:rPr>
              <a:t>log|K</a:t>
            </a:r>
            <a:r>
              <a:rPr sz="1900" b="1" i="0" dirty="0">
                <a:solidFill>
                  <a:srgbClr val="C00000"/>
                </a:solidFill>
                <a:latin typeface="Aptos" panose="020B0004020202020204" pitchFamily="34" charset="0"/>
              </a:rPr>
              <a:t>|</a:t>
            </a:r>
          </a:p>
          <a:p>
            <a:pPr algn="ctr"/>
            <a:r>
              <a:rPr sz="1400" b="0" i="0" dirty="0">
                <a:solidFill>
                  <a:srgbClr val="C00000"/>
                </a:solidFill>
                <a:latin typeface="Aptos" panose="020B0004020202020204" pitchFamily="34" charset="0"/>
              </a:rPr>
              <a:t>complexity penalty — punishes over-flexible models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Plan</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TextBox 4"/>
          <p:cNvSpPr txBox="1"/>
          <p:nvPr/>
        </p:nvSpPr>
        <p:spPr>
          <a:xfrm>
            <a:off x="2377440" y="1783080"/>
            <a:ext cx="7498079" cy="2795637"/>
          </a:xfrm>
          <a:prstGeom prst="rect">
            <a:avLst/>
          </a:prstGeom>
          <a:noFill/>
        </p:spPr>
        <p:txBody>
          <a:bodyPr wrap="square" lIns="0" tIns="0" rIns="0" bIns="0" anchor="t">
            <a:spAutoFit/>
          </a:bodyPr>
          <a:lstStyle/>
          <a:p>
            <a:pPr>
              <a:spcAft>
                <a:spcPts val="2000"/>
              </a:spcAft>
            </a:pPr>
            <a:r>
              <a:rPr lang="en-US" sz="2300" dirty="0">
                <a:latin typeface="Aptos" panose="020B0004020202020204" pitchFamily="34" charset="0"/>
              </a:rPr>
              <a:t>1 · Optimizing when data acquisition is expensive</a:t>
            </a:r>
          </a:p>
          <a:p>
            <a:pPr>
              <a:spcAft>
                <a:spcPts val="2000"/>
              </a:spcAft>
            </a:pPr>
            <a:r>
              <a:rPr lang="en-US" sz="2300" dirty="0">
                <a:latin typeface="Aptos" panose="020B0004020202020204" pitchFamily="34" charset="0"/>
              </a:rPr>
              <a:t>2 · The Bayesian optimization loop</a:t>
            </a:r>
          </a:p>
          <a:p>
            <a:pPr>
              <a:spcAft>
                <a:spcPts val="2000"/>
              </a:spcAft>
            </a:pPr>
            <a:r>
              <a:rPr lang="en-US" sz="2300" dirty="0">
                <a:latin typeface="Aptos" panose="020B0004020202020204" pitchFamily="34" charset="0"/>
              </a:rPr>
              <a:t>3 · Gaussian processes</a:t>
            </a:r>
          </a:p>
          <a:p>
            <a:pPr>
              <a:spcAft>
                <a:spcPts val="2000"/>
              </a:spcAft>
            </a:pPr>
            <a:r>
              <a:rPr lang="en-US" sz="2300" b="1" dirty="0">
                <a:latin typeface="Aptos" panose="020B0004020202020204" pitchFamily="34" charset="0"/>
              </a:rPr>
              <a:t>4 · Categorical variables and noise</a:t>
            </a:r>
          </a:p>
          <a:p>
            <a:pPr>
              <a:spcAft>
                <a:spcPts val="2000"/>
              </a:spcAft>
            </a:pPr>
            <a:r>
              <a:rPr lang="en-US" sz="2300" dirty="0">
                <a:latin typeface="Aptos" panose="020B0004020202020204" pitchFamily="34" charset="0"/>
              </a:rPr>
              <a:t>5 · Practical Scenarios: Multi-objective, batch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Three different things get called “noise”</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566928" y="1261872"/>
            <a:ext cx="3538728" cy="2167128"/>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800"/>
              </a:spcAft>
            </a:pPr>
            <a:r>
              <a:rPr sz="1500" b="1" i="0" dirty="0">
                <a:solidFill>
                  <a:srgbClr val="1B8A98"/>
                </a:solidFill>
                <a:latin typeface="Aptos" panose="020B0004020202020204" pitchFamily="34" charset="0"/>
              </a:rPr>
              <a:t>HOMOSCEDASTIC</a:t>
            </a:r>
          </a:p>
          <a:p>
            <a:pPr>
              <a:spcAft>
                <a:spcPts val="1400"/>
              </a:spcAft>
            </a:pPr>
            <a:r>
              <a:rPr sz="1400" b="1" i="0" dirty="0">
                <a:solidFill>
                  <a:srgbClr val="123830"/>
                </a:solidFill>
                <a:latin typeface="Aptos" panose="020B0004020202020204" pitchFamily="34" charset="0"/>
              </a:rPr>
              <a:t>constant </a:t>
            </a:r>
            <a:r>
              <a:rPr sz="1400" b="1" i="0" dirty="0" err="1">
                <a:solidFill>
                  <a:srgbClr val="123830"/>
                </a:solidFill>
                <a:latin typeface="Aptos" panose="020B0004020202020204" pitchFamily="34" charset="0"/>
              </a:rPr>
              <a:t>σ</a:t>
            </a:r>
            <a:r>
              <a:rPr sz="1400" b="1" i="0" dirty="0">
                <a:solidFill>
                  <a:srgbClr val="123830"/>
                </a:solidFill>
                <a:latin typeface="Aptos" panose="020B0004020202020204" pitchFamily="34" charset="0"/>
              </a:rPr>
              <a:t>ₙ across the space</a:t>
            </a:r>
          </a:p>
          <a:p>
            <a:pPr>
              <a:spcAft>
                <a:spcPts val="1400"/>
              </a:spcAft>
            </a:pPr>
            <a:r>
              <a:rPr sz="1300" b="0" i="0" dirty="0">
                <a:solidFill>
                  <a:srgbClr val="123830"/>
                </a:solidFill>
                <a:latin typeface="Aptos" panose="020B0004020202020204" pitchFamily="34" charset="0"/>
              </a:rPr>
              <a:t>assay error roughly the same everywhere</a:t>
            </a:r>
          </a:p>
          <a:p>
            <a:endParaRPr lang="en-US" sz="1300" b="0" i="1" dirty="0">
              <a:solidFill>
                <a:srgbClr val="1B8A98"/>
              </a:solidFill>
              <a:latin typeface="Aptos" panose="020B0004020202020204" pitchFamily="34" charset="0"/>
            </a:endParaRPr>
          </a:p>
          <a:p>
            <a:endParaRPr lang="en-US" sz="1300" i="1" dirty="0">
              <a:solidFill>
                <a:srgbClr val="1B8A98"/>
              </a:solidFill>
              <a:latin typeface="Aptos" panose="020B0004020202020204" pitchFamily="34" charset="0"/>
            </a:endParaRPr>
          </a:p>
          <a:p>
            <a:r>
              <a:rPr sz="1300" b="0" i="1" dirty="0">
                <a:solidFill>
                  <a:srgbClr val="1B8A98"/>
                </a:solidFill>
                <a:latin typeface="Aptos" panose="020B0004020202020204" pitchFamily="34" charset="0"/>
              </a:rPr>
              <a:t>→ standard GP — just don't set </a:t>
            </a:r>
            <a:r>
              <a:rPr sz="1300" b="0" i="1" dirty="0" err="1">
                <a:solidFill>
                  <a:srgbClr val="1B8A98"/>
                </a:solidFill>
                <a:latin typeface="Aptos" panose="020B0004020202020204" pitchFamily="34" charset="0"/>
              </a:rPr>
              <a:t>σ</a:t>
            </a:r>
            <a:r>
              <a:rPr sz="1300" b="0" i="1" dirty="0">
                <a:solidFill>
                  <a:srgbClr val="1B8A98"/>
                </a:solidFill>
                <a:latin typeface="Aptos" panose="020B0004020202020204" pitchFamily="34" charset="0"/>
              </a:rPr>
              <a:t>ₙ ≈ 0</a:t>
            </a:r>
          </a:p>
        </p:txBody>
      </p:sp>
      <p:sp>
        <p:nvSpPr>
          <p:cNvPr id="6" name="Rounded Rectangle 5"/>
          <p:cNvSpPr/>
          <p:nvPr/>
        </p:nvSpPr>
        <p:spPr>
          <a:xfrm>
            <a:off x="4288536" y="1261872"/>
            <a:ext cx="3538728" cy="2167128"/>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800"/>
              </a:spcAft>
            </a:pPr>
            <a:r>
              <a:rPr sz="1500" b="1" i="0" dirty="0">
                <a:solidFill>
                  <a:srgbClr val="E0A526"/>
                </a:solidFill>
                <a:latin typeface="Aptos" panose="020B0004020202020204" pitchFamily="34" charset="0"/>
              </a:rPr>
              <a:t>HETEROSCEDASTIC</a:t>
            </a:r>
          </a:p>
          <a:p>
            <a:pPr>
              <a:spcAft>
                <a:spcPts val="1400"/>
              </a:spcAft>
            </a:pPr>
            <a:r>
              <a:rPr sz="1400" b="1" i="0" dirty="0" err="1">
                <a:solidFill>
                  <a:srgbClr val="123830"/>
                </a:solidFill>
                <a:latin typeface="Aptos" panose="020B0004020202020204" pitchFamily="34" charset="0"/>
              </a:rPr>
              <a:t>σ</a:t>
            </a:r>
            <a:r>
              <a:rPr sz="1400" b="1" i="0" dirty="0">
                <a:solidFill>
                  <a:srgbClr val="123830"/>
                </a:solidFill>
                <a:latin typeface="Aptos" panose="020B0004020202020204" pitchFamily="34" charset="0"/>
              </a:rPr>
              <a:t>ₙ varies with x</a:t>
            </a:r>
          </a:p>
          <a:p>
            <a:pPr>
              <a:spcAft>
                <a:spcPts val="1400"/>
              </a:spcAft>
            </a:pPr>
            <a:r>
              <a:rPr sz="1300" b="0" i="0" dirty="0">
                <a:solidFill>
                  <a:srgbClr val="123830"/>
                </a:solidFill>
                <a:latin typeface="Aptos" panose="020B0004020202020204" pitchFamily="34" charset="0"/>
              </a:rPr>
              <a:t>variance blows up at high T where the catalyst dies; low-conversion regions are proportionally noisier</a:t>
            </a:r>
          </a:p>
          <a:p>
            <a:r>
              <a:rPr sz="1300" b="0" i="1" dirty="0">
                <a:solidFill>
                  <a:srgbClr val="E0A526"/>
                </a:solidFill>
                <a:latin typeface="Aptos" panose="020B0004020202020204" pitchFamily="34" charset="0"/>
              </a:rPr>
              <a:t>→ heteroscedastic GP</a:t>
            </a:r>
          </a:p>
        </p:txBody>
      </p:sp>
      <p:sp>
        <p:nvSpPr>
          <p:cNvPr id="7" name="Rounded Rectangle 6"/>
          <p:cNvSpPr/>
          <p:nvPr/>
        </p:nvSpPr>
        <p:spPr>
          <a:xfrm>
            <a:off x="8010144" y="1261872"/>
            <a:ext cx="3538728" cy="2167128"/>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800"/>
              </a:spcAft>
            </a:pPr>
            <a:r>
              <a:rPr sz="1500" b="1" i="0" dirty="0">
                <a:solidFill>
                  <a:srgbClr val="C00000"/>
                </a:solidFill>
                <a:latin typeface="Aptos" panose="020B0004020202020204" pitchFamily="34" charset="0"/>
              </a:rPr>
              <a:t>INPUT NOISE</a:t>
            </a:r>
          </a:p>
          <a:p>
            <a:pPr>
              <a:spcAft>
                <a:spcPts val="1400"/>
              </a:spcAft>
            </a:pPr>
            <a:r>
              <a:rPr sz="1400" b="1" i="0" dirty="0">
                <a:solidFill>
                  <a:srgbClr val="123830"/>
                </a:solidFill>
                <a:latin typeface="Aptos" panose="020B0004020202020204" pitchFamily="34" charset="0"/>
              </a:rPr>
              <a:t>you cannot SET x exactly</a:t>
            </a:r>
          </a:p>
          <a:p>
            <a:pPr>
              <a:spcAft>
                <a:spcPts val="1400"/>
              </a:spcAft>
            </a:pPr>
            <a:r>
              <a:rPr sz="1300" b="0" i="0" dirty="0">
                <a:solidFill>
                  <a:srgbClr val="123830"/>
                </a:solidFill>
                <a:latin typeface="Aptos" panose="020B0004020202020204" pitchFamily="34" charset="0"/>
              </a:rPr>
              <a:t>the pump delivers 1.05 not 1.00 </a:t>
            </a:r>
            <a:r>
              <a:rPr sz="1300" b="0" i="0" dirty="0" err="1">
                <a:solidFill>
                  <a:srgbClr val="123830"/>
                </a:solidFill>
                <a:latin typeface="Aptos" panose="020B0004020202020204" pitchFamily="34" charset="0"/>
              </a:rPr>
              <a:t>equiv</a:t>
            </a:r>
            <a:r>
              <a:rPr sz="1300" b="0" i="0" dirty="0">
                <a:solidFill>
                  <a:srgbClr val="123830"/>
                </a:solidFill>
                <a:latin typeface="Aptos" panose="020B0004020202020204" pitchFamily="34" charset="0"/>
              </a:rPr>
              <a:t>; the reactor overshoots by 3 °C</a:t>
            </a:r>
          </a:p>
          <a:p>
            <a:endParaRPr lang="en-US" sz="1300" b="0" i="1" dirty="0">
              <a:solidFill>
                <a:srgbClr val="C00000"/>
              </a:solidFill>
              <a:latin typeface="Aptos" panose="020B0004020202020204" pitchFamily="34" charset="0"/>
            </a:endParaRPr>
          </a:p>
          <a:p>
            <a:r>
              <a:rPr sz="1300" b="0" i="1" dirty="0">
                <a:solidFill>
                  <a:srgbClr val="C00000"/>
                </a:solidFill>
                <a:latin typeface="Aptos" panose="020B0004020202020204" pitchFamily="34" charset="0"/>
              </a:rPr>
              <a:t>→ Golem — a different problem entirely</a:t>
            </a:r>
          </a:p>
        </p:txBody>
      </p:sp>
      <p:pic>
        <p:nvPicPr>
          <p:cNvPr id="8" name="Picture 7" descr="fig_10_noise_taxonomy.png">
            <a:extLst>
              <a:ext uri="{FF2B5EF4-FFF2-40B4-BE49-F238E27FC236}">
                <a16:creationId xmlns:a16="http://schemas.microsoft.com/office/drawing/2014/main" id="{A6C99FDB-237F-07A0-7943-0F8522C5EF7A}"/>
              </a:ext>
            </a:extLst>
          </p:cNvPr>
          <p:cNvPicPr>
            <a:picLocks noChangeAspect="1"/>
          </p:cNvPicPr>
          <p:nvPr/>
        </p:nvPicPr>
        <p:blipFill>
          <a:blip r:embed="rId4"/>
          <a:srcRect t="12706" r="62697"/>
          <a:stretch>
            <a:fillRect/>
          </a:stretch>
        </p:blipFill>
        <p:spPr>
          <a:xfrm>
            <a:off x="400672" y="3559677"/>
            <a:ext cx="3202063" cy="2775409"/>
          </a:xfrm>
          <a:prstGeom prst="rect">
            <a:avLst/>
          </a:prstGeom>
        </p:spPr>
      </p:pic>
      <p:pic>
        <p:nvPicPr>
          <p:cNvPr id="9" name="Picture 8" descr="fig_10_noise_taxonomy.png">
            <a:extLst>
              <a:ext uri="{FF2B5EF4-FFF2-40B4-BE49-F238E27FC236}">
                <a16:creationId xmlns:a16="http://schemas.microsoft.com/office/drawing/2014/main" id="{5D75FDBC-A49F-D9AE-E3AF-59C281B99EFD}"/>
              </a:ext>
            </a:extLst>
          </p:cNvPr>
          <p:cNvPicPr>
            <a:picLocks noChangeAspect="1"/>
          </p:cNvPicPr>
          <p:nvPr/>
        </p:nvPicPr>
        <p:blipFill>
          <a:blip r:embed="rId4"/>
          <a:srcRect l="36321" t="12706" r="31237"/>
          <a:stretch>
            <a:fillRect/>
          </a:stretch>
        </p:blipFill>
        <p:spPr>
          <a:xfrm>
            <a:off x="4603172" y="3559677"/>
            <a:ext cx="2784764" cy="2775409"/>
          </a:xfrm>
          <a:prstGeom prst="rect">
            <a:avLst/>
          </a:prstGeom>
        </p:spPr>
      </p:pic>
      <p:pic>
        <p:nvPicPr>
          <p:cNvPr id="10" name="Picture 9" descr="fig_10_noise_taxonomy.png">
            <a:extLst>
              <a:ext uri="{FF2B5EF4-FFF2-40B4-BE49-F238E27FC236}">
                <a16:creationId xmlns:a16="http://schemas.microsoft.com/office/drawing/2014/main" id="{24ACF1DA-FF24-CAE7-2803-419D4389B5CE}"/>
              </a:ext>
            </a:extLst>
          </p:cNvPr>
          <p:cNvPicPr>
            <a:picLocks noChangeAspect="1"/>
          </p:cNvPicPr>
          <p:nvPr/>
        </p:nvPicPr>
        <p:blipFill>
          <a:blip r:embed="rId4"/>
          <a:srcRect l="68371" t="12706" r="-2917"/>
          <a:stretch>
            <a:fillRect/>
          </a:stretch>
        </p:blipFill>
        <p:spPr>
          <a:xfrm>
            <a:off x="8296795" y="3559677"/>
            <a:ext cx="2965425" cy="27754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a:solidFill>
                  <a:srgbClr val="000000"/>
                </a:solidFill>
                <a:latin typeface="Avenir Book"/>
              </a:rPr>
              <a:t>Why noise biases BO, rather than just slowing it down</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1144524" y="2093001"/>
            <a:ext cx="9902952" cy="173736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spcAft>
                <a:spcPts val="900"/>
              </a:spcAft>
            </a:pPr>
            <a:r>
              <a:rPr sz="1800" b="0" i="0" dirty="0">
                <a:solidFill>
                  <a:schemeClr val="tx1">
                    <a:lumMod val="85000"/>
                    <a:lumOff val="15000"/>
                  </a:schemeClr>
                </a:solidFill>
                <a:latin typeface="Aptos" panose="020B0004020202020204" pitchFamily="34" charset="0"/>
              </a:rPr>
              <a:t>EI is defined against f⁺, the best value </a:t>
            </a:r>
            <a:r>
              <a:rPr lang="en-US" sz="1800" b="0" i="0" dirty="0">
                <a:solidFill>
                  <a:schemeClr val="tx1">
                    <a:lumMod val="85000"/>
                    <a:lumOff val="15000"/>
                  </a:schemeClr>
                </a:solidFill>
                <a:latin typeface="Aptos" panose="020B0004020202020204" pitchFamily="34" charset="0"/>
              </a:rPr>
              <a:t>observed</a:t>
            </a:r>
            <a:r>
              <a:rPr sz="1800" b="0" i="0" dirty="0">
                <a:solidFill>
                  <a:schemeClr val="tx1">
                    <a:lumMod val="85000"/>
                    <a:lumOff val="15000"/>
                  </a:schemeClr>
                </a:solidFill>
                <a:latin typeface="Aptos" panose="020B0004020202020204" pitchFamily="34" charset="0"/>
              </a:rPr>
              <a:t> so far — and treats it as truth.</a:t>
            </a:r>
          </a:p>
          <a:p>
            <a:pPr>
              <a:spcAft>
                <a:spcPts val="900"/>
              </a:spcAft>
            </a:pPr>
            <a:r>
              <a:rPr sz="1800" i="0" dirty="0">
                <a:solidFill>
                  <a:schemeClr val="tx1">
                    <a:lumMod val="85000"/>
                    <a:lumOff val="15000"/>
                  </a:schemeClr>
                </a:solidFill>
                <a:latin typeface="Aptos" panose="020B0004020202020204" pitchFamily="34" charset="0"/>
              </a:rPr>
              <a:t>Under noise, f⁺ is probably a lucky measurement.</a:t>
            </a:r>
          </a:p>
          <a:p>
            <a:r>
              <a:rPr lang="en-US" dirty="0">
                <a:solidFill>
                  <a:schemeClr val="tx1">
                    <a:lumMod val="85000"/>
                    <a:lumOff val="15000"/>
                  </a:schemeClr>
                </a:solidFill>
                <a:latin typeface="Aptos" panose="020B0004020202020204" pitchFamily="34" charset="0"/>
              </a:rPr>
              <a:t>If</a:t>
            </a:r>
            <a:r>
              <a:rPr sz="1800" b="0" i="0" dirty="0">
                <a:solidFill>
                  <a:schemeClr val="tx1">
                    <a:lumMod val="85000"/>
                    <a:lumOff val="15000"/>
                  </a:schemeClr>
                </a:solidFill>
                <a:latin typeface="Aptos" panose="020B0004020202020204" pitchFamily="34" charset="0"/>
              </a:rPr>
              <a:t> EI anchors to a number that is too high, </a:t>
            </a:r>
            <a:r>
              <a:rPr lang="en-US" sz="1800" b="0" i="0" dirty="0">
                <a:solidFill>
                  <a:schemeClr val="tx1">
                    <a:lumMod val="85000"/>
                    <a:lumOff val="15000"/>
                  </a:schemeClr>
                </a:solidFill>
                <a:latin typeface="Aptos" panose="020B0004020202020204" pitchFamily="34" charset="0"/>
              </a:rPr>
              <a:t>it </a:t>
            </a:r>
            <a:r>
              <a:rPr sz="1800" b="0" i="0" dirty="0">
                <a:solidFill>
                  <a:schemeClr val="tx1">
                    <a:lumMod val="85000"/>
                    <a:lumOff val="15000"/>
                  </a:schemeClr>
                </a:solidFill>
                <a:latin typeface="Aptos" panose="020B0004020202020204" pitchFamily="34" charset="0"/>
              </a:rPr>
              <a:t>under</a:t>
            </a:r>
            <a:r>
              <a:rPr lang="en-US" sz="1800" b="0" i="0" dirty="0">
                <a:solidFill>
                  <a:schemeClr val="tx1">
                    <a:lumMod val="85000"/>
                    <a:lumOff val="15000"/>
                  </a:schemeClr>
                </a:solidFill>
                <a:latin typeface="Aptos" panose="020B0004020202020204" pitchFamily="34" charset="0"/>
              </a:rPr>
              <a:t> </a:t>
            </a:r>
            <a:r>
              <a:rPr sz="1800" b="0" i="0" dirty="0">
                <a:solidFill>
                  <a:schemeClr val="tx1">
                    <a:lumMod val="85000"/>
                    <a:lumOff val="15000"/>
                  </a:schemeClr>
                </a:solidFill>
                <a:latin typeface="Aptos" panose="020B0004020202020204" pitchFamily="34" charset="0"/>
              </a:rPr>
              <a:t>explores, and spends the budget chasing an outlier.</a:t>
            </a:r>
          </a:p>
        </p:txBody>
      </p:sp>
      <p:sp>
        <p:nvSpPr>
          <p:cNvPr id="6" name="Rounded Rectangle 5"/>
          <p:cNvSpPr/>
          <p:nvPr/>
        </p:nvSpPr>
        <p:spPr>
          <a:xfrm>
            <a:off x="1144524" y="4147353"/>
            <a:ext cx="9902952" cy="91440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b="1" i="0" dirty="0">
                <a:solidFill>
                  <a:srgbClr val="123830"/>
                </a:solidFill>
                <a:latin typeface="Aptos" panose="020B0004020202020204" pitchFamily="34" charset="0"/>
              </a:rPr>
              <a:t>Standard EI trusts your best data point. Noisy EI does not.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Same noise, two assumptions, 28 campaigns each</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pic>
        <p:nvPicPr>
          <p:cNvPr id="5" name="Picture 4" descr="fig_11_noise_ablation.png"/>
          <p:cNvPicPr>
            <a:picLocks noChangeAspect="1"/>
          </p:cNvPicPr>
          <p:nvPr/>
        </p:nvPicPr>
        <p:blipFill>
          <a:blip r:embed="rId4"/>
          <a:stretch>
            <a:fillRect/>
          </a:stretch>
        </p:blipFill>
        <p:spPr>
          <a:xfrm>
            <a:off x="1353606" y="1311375"/>
            <a:ext cx="9262283" cy="3604312"/>
          </a:xfrm>
          <a:prstGeom prst="rect">
            <a:avLst/>
          </a:prstGeom>
        </p:spPr>
      </p:pic>
      <p:sp>
        <p:nvSpPr>
          <p:cNvPr id="6" name="TextBox 5"/>
          <p:cNvSpPr txBox="1"/>
          <p:nvPr/>
        </p:nvSpPr>
        <p:spPr>
          <a:xfrm>
            <a:off x="566928" y="5111496"/>
            <a:ext cx="10835640" cy="274320"/>
          </a:xfrm>
          <a:prstGeom prst="rect">
            <a:avLst/>
          </a:prstGeom>
          <a:noFill/>
        </p:spPr>
        <p:txBody>
          <a:bodyPr wrap="square" lIns="0" tIns="0" rIns="0" bIns="0" anchor="t">
            <a:spAutoFit/>
          </a:bodyPr>
          <a:lstStyle/>
          <a:p>
            <a:pPr algn="ctr"/>
            <a:r>
              <a:rPr sz="900" b="0" i="1">
                <a:solidFill>
                  <a:srgbClr val="777777"/>
                </a:solidFill>
                <a:latin typeface="Calibri"/>
              </a:rPr>
              <a:t>fig_11_noise_ablation.ipynb  ·  true σₙ = 6 percentage points</a:t>
            </a:r>
          </a:p>
        </p:txBody>
      </p:sp>
      <p:sp>
        <p:nvSpPr>
          <p:cNvPr id="7" name="Rounded Rectangle 6"/>
          <p:cNvSpPr/>
          <p:nvPr/>
        </p:nvSpPr>
        <p:spPr>
          <a:xfrm>
            <a:off x="566928" y="5532120"/>
            <a:ext cx="10835640" cy="73152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600" b="1" i="0">
                <a:solidFill>
                  <a:srgbClr val="C00000"/>
                </a:solidFill>
                <a:latin typeface="Aptos" panose="020B0004020202020204" pitchFamily="34" charset="0"/>
              </a:rPr>
              <a:t>Telling the GP σₙ ≈ 0 does not mainly cost you yield on average — it makes the outcome a lottery. Same lesson as the human benchmark.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Published: which acquisition function survives the noise</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png"/>
          <p:cNvPicPr>
            <a:picLocks noChangeAspect="1"/>
          </p:cNvPicPr>
          <p:nvPr/>
        </p:nvPicPr>
        <p:blipFill>
          <a:blip r:embed="rId3"/>
          <a:stretch>
            <a:fillRect/>
          </a:stretch>
        </p:blipFill>
        <p:spPr>
          <a:xfrm>
            <a:off x="45720" y="6455664"/>
            <a:ext cx="1554480" cy="374904"/>
          </a:xfrm>
          <a:prstGeom prst="rect">
            <a:avLst/>
          </a:prstGeom>
        </p:spPr>
      </p:pic>
      <p:pic>
        <p:nvPicPr>
          <p:cNvPr id="5" name="Picture 4" descr="fig3_noise_acquisition_grid.png"/>
          <p:cNvPicPr>
            <a:picLocks noChangeAspect="1"/>
          </p:cNvPicPr>
          <p:nvPr/>
        </p:nvPicPr>
        <p:blipFill>
          <a:blip r:embed="rId4"/>
          <a:stretch>
            <a:fillRect/>
          </a:stretch>
        </p:blipFill>
        <p:spPr>
          <a:xfrm>
            <a:off x="886728" y="1022756"/>
            <a:ext cx="4397197" cy="5036881"/>
          </a:xfrm>
          <a:prstGeom prst="rect">
            <a:avLst/>
          </a:prstGeom>
        </p:spPr>
      </p:pic>
      <p:sp>
        <p:nvSpPr>
          <p:cNvPr id="6" name="TextBox 5"/>
          <p:cNvSpPr txBox="1"/>
          <p:nvPr/>
        </p:nvSpPr>
        <p:spPr>
          <a:xfrm>
            <a:off x="-19050" y="5997364"/>
            <a:ext cx="11155680" cy="456535"/>
          </a:xfrm>
          <a:prstGeom prst="rect">
            <a:avLst/>
          </a:prstGeom>
          <a:noFill/>
        </p:spPr>
        <p:txBody>
          <a:bodyPr wrap="square">
            <a:spAutoFit/>
          </a:bodyPr>
          <a:lstStyle/>
          <a:p>
            <a:pPr algn="l">
              <a:spcAft>
                <a:spcPts val="200"/>
              </a:spcAft>
            </a:pPr>
            <a:endParaRPr lang="en-US" sz="1100" b="0" i="0" dirty="0">
              <a:solidFill>
                <a:srgbClr val="595959"/>
              </a:solidFill>
              <a:latin typeface="Aptos"/>
            </a:endParaRPr>
          </a:p>
          <a:p>
            <a:pPr algn="l">
              <a:spcAft>
                <a:spcPts val="200"/>
              </a:spcAft>
            </a:pPr>
            <a:r>
              <a:rPr sz="1100" b="0" i="0" dirty="0">
                <a:solidFill>
                  <a:srgbClr val="595959"/>
                </a:solidFill>
                <a:latin typeface="Aptos"/>
              </a:rPr>
              <a:t>Luo, G.; Yang, X.; Su, W.; Qi, T.; Xu, Q.; Su, A. </a:t>
            </a:r>
            <a:r>
              <a:rPr sz="1100" b="0" i="1" dirty="0">
                <a:solidFill>
                  <a:srgbClr val="595959"/>
                </a:solidFill>
                <a:latin typeface="Aptos"/>
              </a:rPr>
              <a:t>Chem. Eng. Sci.</a:t>
            </a:r>
            <a:r>
              <a:rPr sz="1100" b="0" i="0" dirty="0">
                <a:solidFill>
                  <a:srgbClr val="595959"/>
                </a:solidFill>
                <a:latin typeface="Aptos"/>
              </a:rPr>
              <a:t> </a:t>
            </a:r>
            <a:r>
              <a:rPr sz="1100" b="1" i="0" dirty="0">
                <a:solidFill>
                  <a:srgbClr val="595959"/>
                </a:solidFill>
                <a:latin typeface="Aptos"/>
              </a:rPr>
              <a:t>2024</a:t>
            </a:r>
            <a:r>
              <a:rPr sz="1100" b="0" i="0" dirty="0">
                <a:solidFill>
                  <a:srgbClr val="595959"/>
                </a:solidFill>
                <a:latin typeface="Aptos"/>
              </a:rPr>
              <a:t>, 298, 120434.</a:t>
            </a:r>
          </a:p>
        </p:txBody>
      </p:sp>
      <p:sp>
        <p:nvSpPr>
          <p:cNvPr id="7" name="TextBox 6"/>
          <p:cNvSpPr txBox="1"/>
          <p:nvPr/>
        </p:nvSpPr>
        <p:spPr>
          <a:xfrm>
            <a:off x="5283925" y="1290974"/>
            <a:ext cx="6675120" cy="369332"/>
          </a:xfrm>
          <a:prstGeom prst="rect">
            <a:avLst/>
          </a:prstGeom>
          <a:noFill/>
        </p:spPr>
        <p:txBody>
          <a:bodyPr wrap="square">
            <a:spAutoFit/>
          </a:bodyPr>
          <a:lstStyle/>
          <a:p>
            <a:pPr algn="l">
              <a:spcAft>
                <a:spcPts val="0"/>
              </a:spcAft>
            </a:pPr>
            <a:r>
              <a:rPr sz="1250" b="1" dirty="0" err="1">
                <a:solidFill>
                  <a:srgbClr val="000AC2"/>
                </a:solidFill>
                <a:latin typeface="Aptos" panose="020B0004020202020204" pitchFamily="34" charset="0"/>
              </a:rPr>
              <a:t>qNEHVI</a:t>
            </a:r>
            <a:r>
              <a:rPr sz="1250" b="1" dirty="0">
                <a:solidFill>
                  <a:srgbClr val="000AC2"/>
                </a:solidFill>
                <a:latin typeface="Aptos" panose="020B0004020202020204" pitchFamily="34" charset="0"/>
              </a:rPr>
              <a:t>  —  noisy expected hypervolume improvement</a:t>
            </a:r>
          </a:p>
        </p:txBody>
      </p:sp>
      <p:sp>
        <p:nvSpPr>
          <p:cNvPr id="8" name="TextBox 7"/>
          <p:cNvSpPr txBox="1"/>
          <p:nvPr/>
        </p:nvSpPr>
        <p:spPr>
          <a:xfrm>
            <a:off x="5283925" y="1586195"/>
            <a:ext cx="6675120" cy="446276"/>
          </a:xfrm>
          <a:prstGeom prst="rect">
            <a:avLst/>
          </a:prstGeom>
          <a:noFill/>
        </p:spPr>
        <p:txBody>
          <a:bodyPr wrap="square">
            <a:spAutoFit/>
          </a:bodyPr>
          <a:lstStyle/>
          <a:p>
            <a:pPr algn="l">
              <a:spcAft>
                <a:spcPts val="0"/>
              </a:spcAft>
            </a:pPr>
            <a:r>
              <a:rPr sz="1150" b="0" dirty="0">
                <a:solidFill>
                  <a:srgbClr val="123830"/>
                </a:solidFill>
                <a:latin typeface="Aptos" panose="020B0004020202020204" pitchFamily="34" charset="0"/>
              </a:rPr>
              <a:t>Integrates over the posterior at every point already run, so the current Pareto front is treated as uncertain rather than as fact. Top of all twelve panels.</a:t>
            </a:r>
          </a:p>
        </p:txBody>
      </p:sp>
      <p:sp>
        <p:nvSpPr>
          <p:cNvPr id="9" name="TextBox 8"/>
          <p:cNvSpPr txBox="1"/>
          <p:nvPr/>
        </p:nvSpPr>
        <p:spPr>
          <a:xfrm>
            <a:off x="5283925" y="2177942"/>
            <a:ext cx="6675120" cy="369332"/>
          </a:xfrm>
          <a:prstGeom prst="rect">
            <a:avLst/>
          </a:prstGeom>
          <a:noFill/>
        </p:spPr>
        <p:txBody>
          <a:bodyPr wrap="square">
            <a:spAutoFit/>
          </a:bodyPr>
          <a:lstStyle/>
          <a:p>
            <a:pPr algn="l">
              <a:spcAft>
                <a:spcPts val="0"/>
              </a:spcAft>
            </a:pPr>
            <a:r>
              <a:rPr sz="1250" b="1" dirty="0" err="1">
                <a:solidFill>
                  <a:srgbClr val="FF0000"/>
                </a:solidFill>
                <a:latin typeface="Aptos" panose="020B0004020202020204" pitchFamily="34" charset="0"/>
              </a:rPr>
              <a:t>qEHVI</a:t>
            </a:r>
            <a:r>
              <a:rPr sz="1250" b="1" dirty="0">
                <a:solidFill>
                  <a:srgbClr val="FF0000"/>
                </a:solidFill>
                <a:latin typeface="Aptos" panose="020B0004020202020204" pitchFamily="34" charset="0"/>
              </a:rPr>
              <a:t>  —  expected hypervolume improvement</a:t>
            </a:r>
          </a:p>
        </p:txBody>
      </p:sp>
      <p:sp>
        <p:nvSpPr>
          <p:cNvPr id="10" name="TextBox 9"/>
          <p:cNvSpPr txBox="1"/>
          <p:nvPr/>
        </p:nvSpPr>
        <p:spPr>
          <a:xfrm>
            <a:off x="5283925" y="2473163"/>
            <a:ext cx="6675120" cy="446276"/>
          </a:xfrm>
          <a:prstGeom prst="rect">
            <a:avLst/>
          </a:prstGeom>
          <a:noFill/>
        </p:spPr>
        <p:txBody>
          <a:bodyPr wrap="square">
            <a:spAutoFit/>
          </a:bodyPr>
          <a:lstStyle/>
          <a:p>
            <a:pPr algn="l">
              <a:spcAft>
                <a:spcPts val="0"/>
              </a:spcAft>
            </a:pPr>
            <a:r>
              <a:rPr sz="1150" b="0">
                <a:solidFill>
                  <a:srgbClr val="123830"/>
                </a:solidFill>
                <a:latin typeface="Aptos" panose="020B0004020202020204" pitchFamily="34" charset="0"/>
              </a:rPr>
              <a:t>Same hypervolume reward, but conditions on the observed front as if it were exact. Level with qNEHVI at 5 % noise; falls behind as noise grows.</a:t>
            </a:r>
          </a:p>
        </p:txBody>
      </p:sp>
      <p:sp>
        <p:nvSpPr>
          <p:cNvPr id="11" name="TextBox 10"/>
          <p:cNvSpPr txBox="1"/>
          <p:nvPr/>
        </p:nvSpPr>
        <p:spPr>
          <a:xfrm>
            <a:off x="5283925" y="3064909"/>
            <a:ext cx="6675120" cy="369332"/>
          </a:xfrm>
          <a:prstGeom prst="rect">
            <a:avLst/>
          </a:prstGeom>
          <a:noFill/>
        </p:spPr>
        <p:txBody>
          <a:bodyPr wrap="square">
            <a:spAutoFit/>
          </a:bodyPr>
          <a:lstStyle/>
          <a:p>
            <a:pPr algn="l">
              <a:spcAft>
                <a:spcPts val="0"/>
              </a:spcAft>
            </a:pPr>
            <a:r>
              <a:rPr sz="1250" b="1" dirty="0" err="1">
                <a:solidFill>
                  <a:srgbClr val="006400"/>
                </a:solidFill>
                <a:latin typeface="Aptos" panose="020B0004020202020204" pitchFamily="34" charset="0"/>
              </a:rPr>
              <a:t>qNParEGO</a:t>
            </a:r>
            <a:r>
              <a:rPr sz="1250" b="1" dirty="0">
                <a:solidFill>
                  <a:srgbClr val="006400"/>
                </a:solidFill>
                <a:latin typeface="Aptos" panose="020B0004020202020204" pitchFamily="34" charset="0"/>
              </a:rPr>
              <a:t>  —  random-weight </a:t>
            </a:r>
            <a:r>
              <a:rPr sz="1250" b="1" dirty="0" err="1">
                <a:solidFill>
                  <a:srgbClr val="006400"/>
                </a:solidFill>
                <a:latin typeface="Aptos" panose="020B0004020202020204" pitchFamily="34" charset="0"/>
              </a:rPr>
              <a:t>scalarisation</a:t>
            </a:r>
            <a:endParaRPr b="1" dirty="0">
              <a:solidFill>
                <a:srgbClr val="006400"/>
              </a:solidFill>
              <a:latin typeface="Aptos" panose="020B0004020202020204" pitchFamily="34" charset="0"/>
            </a:endParaRPr>
          </a:p>
        </p:txBody>
      </p:sp>
      <p:sp>
        <p:nvSpPr>
          <p:cNvPr id="12" name="TextBox 11"/>
          <p:cNvSpPr txBox="1"/>
          <p:nvPr/>
        </p:nvSpPr>
        <p:spPr>
          <a:xfrm>
            <a:off x="5283925" y="3360131"/>
            <a:ext cx="6675120" cy="446276"/>
          </a:xfrm>
          <a:prstGeom prst="rect">
            <a:avLst/>
          </a:prstGeom>
          <a:noFill/>
        </p:spPr>
        <p:txBody>
          <a:bodyPr wrap="square">
            <a:spAutoFit/>
          </a:bodyPr>
          <a:lstStyle/>
          <a:p>
            <a:pPr algn="l">
              <a:spcAft>
                <a:spcPts val="0"/>
              </a:spcAft>
            </a:pPr>
            <a:r>
              <a:rPr sz="1150" b="0" dirty="0">
                <a:solidFill>
                  <a:srgbClr val="123830"/>
                </a:solidFill>
                <a:latin typeface="Aptos" panose="020B0004020202020204" pitchFamily="34" charset="0"/>
              </a:rPr>
              <a:t>Draws a fresh weight vector per batch point, collapses the objectives with an augmented </a:t>
            </a:r>
            <a:r>
              <a:rPr sz="1150" b="0" dirty="0" err="1">
                <a:solidFill>
                  <a:srgbClr val="123830"/>
                </a:solidFill>
                <a:latin typeface="Aptos" panose="020B0004020202020204" pitchFamily="34" charset="0"/>
              </a:rPr>
              <a:t>Tchebycheff</a:t>
            </a:r>
            <a:r>
              <a:rPr sz="1150" b="0" dirty="0">
                <a:solidFill>
                  <a:srgbClr val="123830"/>
                </a:solidFill>
                <a:latin typeface="Aptos" panose="020B0004020202020204" pitchFamily="34" charset="0"/>
              </a:rPr>
              <a:t> function, then runs noisy EI. Cheap.</a:t>
            </a:r>
          </a:p>
        </p:txBody>
      </p:sp>
      <p:sp>
        <p:nvSpPr>
          <p:cNvPr id="13" name="TextBox 12"/>
          <p:cNvSpPr txBox="1"/>
          <p:nvPr/>
        </p:nvSpPr>
        <p:spPr>
          <a:xfrm>
            <a:off x="5283925" y="3951877"/>
            <a:ext cx="6675120" cy="369332"/>
          </a:xfrm>
          <a:prstGeom prst="rect">
            <a:avLst/>
          </a:prstGeom>
          <a:noFill/>
        </p:spPr>
        <p:txBody>
          <a:bodyPr wrap="square">
            <a:spAutoFit/>
          </a:bodyPr>
          <a:lstStyle/>
          <a:p>
            <a:pPr algn="l">
              <a:spcAft>
                <a:spcPts val="0"/>
              </a:spcAft>
            </a:pPr>
            <a:r>
              <a:rPr sz="1250" b="1" dirty="0">
                <a:solidFill>
                  <a:srgbClr val="FFA602"/>
                </a:solidFill>
                <a:latin typeface="Aptos" panose="020B0004020202020204" pitchFamily="34" charset="0"/>
              </a:rPr>
              <a:t>TSEMO  —  Thompson sampling, multi-objective</a:t>
            </a:r>
          </a:p>
        </p:txBody>
      </p:sp>
      <p:sp>
        <p:nvSpPr>
          <p:cNvPr id="14" name="TextBox 13"/>
          <p:cNvSpPr txBox="1"/>
          <p:nvPr/>
        </p:nvSpPr>
        <p:spPr>
          <a:xfrm>
            <a:off x="5283925" y="4247098"/>
            <a:ext cx="6675120" cy="446276"/>
          </a:xfrm>
          <a:prstGeom prst="rect">
            <a:avLst/>
          </a:prstGeom>
          <a:noFill/>
        </p:spPr>
        <p:txBody>
          <a:bodyPr wrap="square">
            <a:spAutoFit/>
          </a:bodyPr>
          <a:lstStyle/>
          <a:p>
            <a:pPr algn="l">
              <a:spcAft>
                <a:spcPts val="0"/>
              </a:spcAft>
            </a:pPr>
            <a:r>
              <a:rPr sz="1150" b="0" dirty="0">
                <a:solidFill>
                  <a:srgbClr val="123830"/>
                </a:solidFill>
                <a:latin typeface="Aptos" panose="020B0004020202020204" pitchFamily="34" charset="0"/>
              </a:rPr>
              <a:t>NSGA-II over random Fourier feature draws of the GPs. Strong at 5 %, degrades most once noise reaches 10 %.</a:t>
            </a:r>
          </a:p>
        </p:txBody>
      </p:sp>
      <p:sp>
        <p:nvSpPr>
          <p:cNvPr id="15" name="TextBox 14"/>
          <p:cNvSpPr txBox="1"/>
          <p:nvPr/>
        </p:nvSpPr>
        <p:spPr>
          <a:xfrm>
            <a:off x="5283925" y="4838845"/>
            <a:ext cx="6675120" cy="369332"/>
          </a:xfrm>
          <a:prstGeom prst="rect">
            <a:avLst/>
          </a:prstGeom>
          <a:noFill/>
        </p:spPr>
        <p:txBody>
          <a:bodyPr wrap="square">
            <a:spAutoFit/>
          </a:bodyPr>
          <a:lstStyle/>
          <a:p>
            <a:pPr algn="l">
              <a:spcAft>
                <a:spcPts val="0"/>
              </a:spcAft>
            </a:pPr>
            <a:r>
              <a:rPr sz="1250" b="1" dirty="0">
                <a:latin typeface="Aptos" panose="020B0004020202020204" pitchFamily="34" charset="0"/>
              </a:rPr>
              <a:t>Random</a:t>
            </a:r>
          </a:p>
        </p:txBody>
      </p:sp>
      <p:sp>
        <p:nvSpPr>
          <p:cNvPr id="16" name="TextBox 15"/>
          <p:cNvSpPr txBox="1"/>
          <p:nvPr/>
        </p:nvSpPr>
        <p:spPr>
          <a:xfrm>
            <a:off x="5283925" y="5134066"/>
            <a:ext cx="6675120" cy="269304"/>
          </a:xfrm>
          <a:prstGeom prst="rect">
            <a:avLst/>
          </a:prstGeom>
          <a:noFill/>
        </p:spPr>
        <p:txBody>
          <a:bodyPr wrap="square">
            <a:spAutoFit/>
          </a:bodyPr>
          <a:lstStyle/>
          <a:p>
            <a:pPr algn="l">
              <a:spcAft>
                <a:spcPts val="0"/>
              </a:spcAft>
            </a:pPr>
            <a:r>
              <a:rPr sz="1150" b="0" dirty="0">
                <a:solidFill>
                  <a:srgbClr val="123830"/>
                </a:solidFill>
                <a:latin typeface="Aptos" panose="020B0004020202020204" pitchFamily="34" charset="0"/>
              </a:rPr>
              <a:t>The control. Note how close it gets in Case 1 — that panel is a wash.</a:t>
            </a:r>
          </a:p>
        </p:txBody>
      </p:sp>
      <p:cxnSp>
        <p:nvCxnSpPr>
          <p:cNvPr id="19" name="Straight Arrow Connector 18">
            <a:extLst>
              <a:ext uri="{FF2B5EF4-FFF2-40B4-BE49-F238E27FC236}">
                <a16:creationId xmlns:a16="http://schemas.microsoft.com/office/drawing/2014/main" id="{356C2310-C4F7-025A-8791-8A459567EB43}"/>
              </a:ext>
            </a:extLst>
          </p:cNvPr>
          <p:cNvCxnSpPr/>
          <p:nvPr/>
        </p:nvCxnSpPr>
        <p:spPr>
          <a:xfrm>
            <a:off x="822960" y="1475640"/>
            <a:ext cx="0" cy="42482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3E52E06-6052-7228-8312-ACAB150C3D64}"/>
              </a:ext>
            </a:extLst>
          </p:cNvPr>
          <p:cNvSpPr txBox="1"/>
          <p:nvPr/>
        </p:nvSpPr>
        <p:spPr>
          <a:xfrm rot="16200000">
            <a:off x="-629256" y="3445224"/>
            <a:ext cx="2313454" cy="369332"/>
          </a:xfrm>
          <a:prstGeom prst="rect">
            <a:avLst/>
          </a:prstGeom>
          <a:noFill/>
        </p:spPr>
        <p:txBody>
          <a:bodyPr wrap="none" rtlCol="0">
            <a:spAutoFit/>
          </a:bodyPr>
          <a:lstStyle/>
          <a:p>
            <a:r>
              <a:rPr lang="en-US" dirty="0"/>
              <a:t>Increasing noise level</a:t>
            </a:r>
          </a:p>
        </p:txBody>
      </p:sp>
      <p:sp>
        <p:nvSpPr>
          <p:cNvPr id="22" name="Rectangle 21">
            <a:extLst>
              <a:ext uri="{FF2B5EF4-FFF2-40B4-BE49-F238E27FC236}">
                <a16:creationId xmlns:a16="http://schemas.microsoft.com/office/drawing/2014/main" id="{558FD7AB-F77D-C4FE-BCCC-F6BF3DDAE40E}"/>
              </a:ext>
            </a:extLst>
          </p:cNvPr>
          <p:cNvSpPr/>
          <p:nvPr/>
        </p:nvSpPr>
        <p:spPr>
          <a:xfrm>
            <a:off x="5172891" y="3064909"/>
            <a:ext cx="6786154" cy="1736881"/>
          </a:xfrm>
          <a:prstGeom prst="rect">
            <a:avLst/>
          </a:prstGeom>
          <a:solidFill>
            <a:schemeClr val="bg1">
              <a:alpha val="7801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Published evidence that getting the noise right changes the outcome</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704088" y="1234440"/>
            <a:ext cx="10716768" cy="1115568"/>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300"/>
              </a:spcAft>
            </a:pPr>
            <a:r>
              <a:rPr sz="1100" b="0" i="0">
                <a:solidFill>
                  <a:srgbClr val="123830"/>
                </a:solidFill>
                <a:latin typeface="Aptos"/>
              </a:rPr>
              <a:t>Picheny, V.; Wagner, T.; Ginsbourger, D. </a:t>
            </a:r>
            <a:r>
              <a:rPr sz="1100" b="0" i="1">
                <a:solidFill>
                  <a:srgbClr val="123830"/>
                </a:solidFill>
                <a:latin typeface="Aptos"/>
              </a:rPr>
              <a:t>Struct. Multidiscip. Optim.</a:t>
            </a:r>
            <a:r>
              <a:rPr sz="1100" b="0" i="0">
                <a:solidFill>
                  <a:srgbClr val="123830"/>
                </a:solidFill>
                <a:latin typeface="Aptos"/>
              </a:rPr>
              <a:t> </a:t>
            </a:r>
            <a:r>
              <a:rPr sz="1100" b="1" i="0">
                <a:solidFill>
                  <a:srgbClr val="123830"/>
                </a:solidFill>
                <a:latin typeface="Aptos"/>
              </a:rPr>
              <a:t>2013</a:t>
            </a:r>
            <a:r>
              <a:rPr sz="1100" b="0" i="0">
                <a:solidFill>
                  <a:srgbClr val="123830"/>
                </a:solidFill>
                <a:latin typeface="Aptos"/>
              </a:rPr>
              <a:t>, 48 (3), 607–626.</a:t>
            </a:r>
          </a:p>
          <a:p>
            <a:r>
              <a:rPr sz="1400">
                <a:solidFill>
                  <a:srgbClr val="123830"/>
                </a:solidFill>
                <a:latin typeface="Calibri"/>
              </a:rPr>
              <a:t>Ten kriging infill criteria benchmarked with noise level, budget and sample size varied systematically. The RANKING of criteria changes with noise.</a:t>
            </a:r>
          </a:p>
        </p:txBody>
      </p:sp>
      <p:sp>
        <p:nvSpPr>
          <p:cNvPr id="6" name="Rounded Rectangle 5"/>
          <p:cNvSpPr/>
          <p:nvPr/>
        </p:nvSpPr>
        <p:spPr>
          <a:xfrm>
            <a:off x="704088" y="2459736"/>
            <a:ext cx="10716768" cy="1115568"/>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300"/>
              </a:spcAft>
            </a:pPr>
            <a:r>
              <a:rPr sz="1100" b="0" i="0">
                <a:solidFill>
                  <a:srgbClr val="123830"/>
                </a:solidFill>
                <a:latin typeface="Aptos"/>
              </a:rPr>
              <a:t>Letham, B.; Karrer, B.; Ottoni, G.; Bakshy, E. </a:t>
            </a:r>
            <a:r>
              <a:rPr sz="1100" b="0" i="1">
                <a:solidFill>
                  <a:srgbClr val="123830"/>
                </a:solidFill>
                <a:latin typeface="Aptos"/>
              </a:rPr>
              <a:t>Bayesian Anal.</a:t>
            </a:r>
            <a:r>
              <a:rPr sz="1100" b="0" i="0">
                <a:solidFill>
                  <a:srgbClr val="123830"/>
                </a:solidFill>
                <a:latin typeface="Aptos"/>
              </a:rPr>
              <a:t> </a:t>
            </a:r>
            <a:r>
              <a:rPr sz="1100" b="1" i="0">
                <a:solidFill>
                  <a:srgbClr val="123830"/>
                </a:solidFill>
                <a:latin typeface="Aptos"/>
              </a:rPr>
              <a:t>2019</a:t>
            </a:r>
            <a:r>
              <a:rPr sz="1100" b="0" i="0">
                <a:solidFill>
                  <a:srgbClr val="123830"/>
                </a:solidFill>
                <a:latin typeface="Aptos"/>
              </a:rPr>
              <a:t>, 14 (2), 495–519.</a:t>
            </a:r>
          </a:p>
          <a:p>
            <a:r>
              <a:rPr sz="1400">
                <a:solidFill>
                  <a:srgbClr val="123830"/>
                </a:solidFill>
                <a:latin typeface="Calibri"/>
              </a:rPr>
              <a:t>Introduces Noisy EI. Standard methods degrade as noise rises; NEI does not. Ancestor of qNEI / qNEHVI in BoTorch.</a:t>
            </a:r>
          </a:p>
        </p:txBody>
      </p:sp>
      <p:sp>
        <p:nvSpPr>
          <p:cNvPr id="7" name="Rounded Rectangle 6"/>
          <p:cNvSpPr/>
          <p:nvPr/>
        </p:nvSpPr>
        <p:spPr>
          <a:xfrm>
            <a:off x="704088" y="3685032"/>
            <a:ext cx="10716768" cy="1115568"/>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300"/>
              </a:spcAft>
            </a:pPr>
            <a:r>
              <a:rPr sz="1100" b="0" i="0">
                <a:solidFill>
                  <a:srgbClr val="123830"/>
                </a:solidFill>
                <a:latin typeface="Aptos"/>
              </a:rPr>
              <a:t>Luo, G.; Yang, X.; Su, W.; Qi, T.; Xu, Q.; Su, A. </a:t>
            </a:r>
            <a:r>
              <a:rPr sz="1100" b="0" i="1">
                <a:solidFill>
                  <a:srgbClr val="123830"/>
                </a:solidFill>
                <a:latin typeface="Aptos"/>
              </a:rPr>
              <a:t>Chem. Eng. Sci.</a:t>
            </a:r>
            <a:r>
              <a:rPr sz="1100" b="0" i="0">
                <a:solidFill>
                  <a:srgbClr val="123830"/>
                </a:solidFill>
                <a:latin typeface="Aptos"/>
              </a:rPr>
              <a:t> </a:t>
            </a:r>
            <a:r>
              <a:rPr sz="1100" b="1" i="0">
                <a:solidFill>
                  <a:srgbClr val="123830"/>
                </a:solidFill>
                <a:latin typeface="Aptos"/>
              </a:rPr>
              <a:t>2024</a:t>
            </a:r>
            <a:r>
              <a:rPr sz="1100" b="0" i="0">
                <a:solidFill>
                  <a:srgbClr val="123830"/>
                </a:solidFill>
                <a:latin typeface="Aptos"/>
              </a:rPr>
              <a:t>, 298, 120434.</a:t>
            </a:r>
          </a:p>
          <a:p>
            <a:r>
              <a:rPr sz="1400">
                <a:solidFill>
                  <a:srgbClr val="123830"/>
                </a:solidFill>
                <a:latin typeface="Calibri"/>
              </a:rPr>
              <a:t>THE CHEMISTRY ONE. qNEHVI / qEHVI / qNParEGO / TSEMO / random on simulated amidation, acylation, SNAr ACROSS NOISE LEVELS — noise-aware qNEHVI wins. Then real two-step flow synthesis of hexafluoroisopropanol: 93.1% yield, E-factor 0.125, 29 runs.</a:t>
            </a:r>
          </a:p>
        </p:txBody>
      </p:sp>
      <p:sp>
        <p:nvSpPr>
          <p:cNvPr id="8" name="Rounded Rectangle 7"/>
          <p:cNvSpPr/>
          <p:nvPr/>
        </p:nvSpPr>
        <p:spPr>
          <a:xfrm>
            <a:off x="704088" y="4910328"/>
            <a:ext cx="10716768" cy="1115568"/>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300"/>
              </a:spcAft>
            </a:pPr>
            <a:r>
              <a:rPr sz="1100" b="0" i="0">
                <a:solidFill>
                  <a:srgbClr val="123830"/>
                </a:solidFill>
                <a:latin typeface="Aptos"/>
              </a:rPr>
              <a:t>Zhang, J.; Semochkina, D.; Sugisawa, N.; Woods, D. C.; Lapkin, A. A. </a:t>
            </a:r>
            <a:r>
              <a:rPr sz="1100" b="0" i="1">
                <a:solidFill>
                  <a:srgbClr val="123830"/>
                </a:solidFill>
                <a:latin typeface="Aptos"/>
              </a:rPr>
              <a:t>Comput. Chem. Eng.</a:t>
            </a:r>
            <a:r>
              <a:rPr sz="1100" b="0" i="0">
                <a:solidFill>
                  <a:srgbClr val="123830"/>
                </a:solidFill>
                <a:latin typeface="Aptos"/>
              </a:rPr>
              <a:t> </a:t>
            </a:r>
            <a:r>
              <a:rPr sz="1100" b="1" i="0">
                <a:solidFill>
                  <a:srgbClr val="123830"/>
                </a:solidFill>
                <a:latin typeface="Aptos"/>
              </a:rPr>
              <a:t>2025</a:t>
            </a:r>
            <a:r>
              <a:rPr sz="1100" b="0" i="0">
                <a:solidFill>
                  <a:srgbClr val="123830"/>
                </a:solidFill>
                <a:latin typeface="Aptos"/>
              </a:rPr>
              <a:t>, 194, 108983.</a:t>
            </a:r>
          </a:p>
          <a:p>
            <a:r>
              <a:rPr sz="1400">
                <a:solidFill>
                  <a:srgbClr val="123830"/>
                </a:solidFill>
                <a:latin typeface="Calibri"/>
              </a:rPr>
              <a:t>Heteroscedastic, multi-objective. Expected quantile improvement under linear and log-linear noise; esterification, space-time-yield vs E-factor.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Your real variables are not numbers</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1143000" y="1298448"/>
            <a:ext cx="9902952" cy="91440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2000" b="1" i="0">
                <a:solidFill>
                  <a:srgbClr val="123830"/>
                </a:solidFill>
                <a:latin typeface="Calibri"/>
              </a:rPr>
              <a:t>What is the distance between PPh₃ and XPhos?   Between DMF and toluene?</a:t>
            </a:r>
          </a:p>
        </p:txBody>
      </p:sp>
      <p:pic>
        <p:nvPicPr>
          <p:cNvPr id="6" name="Picture 5" descr="fig4a_ligand_grid.png"/>
          <p:cNvPicPr>
            <a:picLocks noChangeAspect="1"/>
          </p:cNvPicPr>
          <p:nvPr/>
        </p:nvPicPr>
        <p:blipFill>
          <a:blip r:embed="rId4"/>
          <a:stretch>
            <a:fillRect/>
          </a:stretch>
        </p:blipFill>
        <p:spPr>
          <a:xfrm>
            <a:off x="1290444" y="2286000"/>
            <a:ext cx="3362710" cy="3428999"/>
          </a:xfrm>
          <a:prstGeom prst="rect">
            <a:avLst/>
          </a:prstGeom>
        </p:spPr>
      </p:pic>
      <p:sp>
        <p:nvSpPr>
          <p:cNvPr id="7" name="TextBox 6"/>
          <p:cNvSpPr txBox="1"/>
          <p:nvPr/>
        </p:nvSpPr>
        <p:spPr>
          <a:xfrm>
            <a:off x="98828" y="6001669"/>
            <a:ext cx="11155680" cy="364202"/>
          </a:xfrm>
          <a:prstGeom prst="rect">
            <a:avLst/>
          </a:prstGeom>
          <a:noFill/>
        </p:spPr>
        <p:txBody>
          <a:bodyPr wrap="square" lIns="0" tIns="0" rIns="0" bIns="0" anchor="t">
            <a:spAutoFit/>
          </a:bodyPr>
          <a:lstStyle/>
          <a:p>
            <a:pPr>
              <a:spcAft>
                <a:spcPts val="200"/>
              </a:spcAft>
            </a:pPr>
            <a:r>
              <a:rPr sz="1100" b="0" i="0" dirty="0">
                <a:solidFill>
                  <a:srgbClr val="595959"/>
                </a:solidFill>
                <a:latin typeface="Aptos"/>
              </a:rPr>
              <a:t>Fig. 4a. </a:t>
            </a:r>
            <a:endParaRPr lang="en-US" sz="1100" b="0" i="0" dirty="0">
              <a:solidFill>
                <a:srgbClr val="595959"/>
              </a:solidFill>
              <a:latin typeface="Aptos"/>
            </a:endParaRPr>
          </a:p>
          <a:p>
            <a:pPr>
              <a:spcAft>
                <a:spcPts val="200"/>
              </a:spcAft>
            </a:pPr>
            <a:r>
              <a:rPr sz="1100" b="0" i="0" dirty="0">
                <a:solidFill>
                  <a:srgbClr val="595959"/>
                </a:solidFill>
                <a:latin typeface="Aptos"/>
              </a:rPr>
              <a:t>Shields, B. J.; Stevens, J.; Li, J.; Parasram, M.; Damani, F.; Martinez Alvarado, J. I.; Janey, J. M.; Adams, R. P.; Doyle, A. G. </a:t>
            </a:r>
            <a:r>
              <a:rPr sz="1100" b="0" i="1" dirty="0">
                <a:solidFill>
                  <a:srgbClr val="595959"/>
                </a:solidFill>
                <a:latin typeface="Aptos"/>
              </a:rPr>
              <a:t>Nature</a:t>
            </a:r>
            <a:r>
              <a:rPr sz="1100" b="0" i="0" dirty="0">
                <a:solidFill>
                  <a:srgbClr val="595959"/>
                </a:solidFill>
                <a:latin typeface="Aptos"/>
              </a:rPr>
              <a:t> </a:t>
            </a:r>
            <a:r>
              <a:rPr sz="1100" b="1" i="0" dirty="0">
                <a:solidFill>
                  <a:srgbClr val="595959"/>
                </a:solidFill>
                <a:latin typeface="Aptos"/>
              </a:rPr>
              <a:t>2021</a:t>
            </a:r>
            <a:r>
              <a:rPr sz="1100" b="0" i="0" dirty="0">
                <a:solidFill>
                  <a:srgbClr val="595959"/>
                </a:solidFill>
                <a:latin typeface="Aptos"/>
              </a:rPr>
              <a:t>, 590 (7844), 89–96.</a:t>
            </a:r>
          </a:p>
        </p:txBody>
      </p:sp>
      <p:pic>
        <p:nvPicPr>
          <p:cNvPr id="8" name="Picture 7" descr="fig_12_categorical_encoding.png"/>
          <p:cNvPicPr>
            <a:picLocks noChangeAspect="1"/>
          </p:cNvPicPr>
          <p:nvPr/>
        </p:nvPicPr>
        <p:blipFill>
          <a:blip r:embed="rId5"/>
          <a:stretch>
            <a:fillRect/>
          </a:stretch>
        </p:blipFill>
        <p:spPr>
          <a:xfrm>
            <a:off x="6138737" y="2432305"/>
            <a:ext cx="3955729" cy="2212848"/>
          </a:xfrm>
          <a:prstGeom prst="rect">
            <a:avLst/>
          </a:prstGeom>
        </p:spPr>
      </p:pic>
      <p:sp>
        <p:nvSpPr>
          <p:cNvPr id="9" name="TextBox 8"/>
          <p:cNvSpPr txBox="1"/>
          <p:nvPr/>
        </p:nvSpPr>
        <p:spPr>
          <a:xfrm>
            <a:off x="5532120" y="4480559"/>
            <a:ext cx="5989320" cy="274320"/>
          </a:xfrm>
          <a:prstGeom prst="rect">
            <a:avLst/>
          </a:prstGeom>
          <a:noFill/>
        </p:spPr>
        <p:txBody>
          <a:bodyPr wrap="square" lIns="0" tIns="0" rIns="0" bIns="0" anchor="t">
            <a:spAutoFit/>
          </a:bodyPr>
          <a:lstStyle/>
          <a:p>
            <a:pPr algn="ctr"/>
            <a:r>
              <a:rPr sz="900" b="0" i="1">
                <a:solidFill>
                  <a:srgbClr val="777777"/>
                </a:solidFill>
                <a:latin typeface="Calibri"/>
              </a:rPr>
              <a:t>fig_12_categorical_encoding.ipynb  ·  SMILES verbatim from EDBO</a:t>
            </a:r>
          </a:p>
        </p:txBody>
      </p:sp>
      <p:sp>
        <p:nvSpPr>
          <p:cNvPr id="10" name="TextBox 9"/>
          <p:cNvSpPr txBox="1"/>
          <p:nvPr/>
        </p:nvSpPr>
        <p:spPr>
          <a:xfrm>
            <a:off x="5806440" y="4828032"/>
            <a:ext cx="5715000" cy="820738"/>
          </a:xfrm>
          <a:prstGeom prst="rect">
            <a:avLst/>
          </a:prstGeom>
          <a:noFill/>
        </p:spPr>
        <p:txBody>
          <a:bodyPr wrap="square" lIns="0" tIns="0" rIns="0" bIns="0" anchor="t">
            <a:spAutoFit/>
          </a:bodyPr>
          <a:lstStyle/>
          <a:p>
            <a:pPr algn="l">
              <a:spcAft>
                <a:spcPts val="1000"/>
              </a:spcAft>
            </a:pPr>
            <a:r>
              <a:rPr sz="1500" b="0" i="0" dirty="0">
                <a:solidFill>
                  <a:srgbClr val="123830"/>
                </a:solidFill>
                <a:latin typeface="Aptos" panose="020B0004020202020204" pitchFamily="34" charset="0"/>
              </a:rPr>
              <a:t>These are all phosphines. They are obviously related — and one-hot encoding throws every bit of that away.</a:t>
            </a:r>
          </a:p>
          <a:p>
            <a:r>
              <a:rPr sz="1500" b="1" i="0" dirty="0">
                <a:solidFill>
                  <a:srgbClr val="C00000"/>
                </a:solidFill>
                <a:latin typeface="Aptos" panose="020B0004020202020204" pitchFamily="34" charset="0"/>
              </a:rPr>
              <a:t>12 ligands × 4 bases × 4 solvents × 3 T × 3 C = 1,728 experiments.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CBF5-DF87-DEFF-E6D3-64EA704D479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E776A85-8A84-BDBF-0DC4-B432EC5FC747}"/>
              </a:ext>
            </a:extLst>
          </p:cNvPr>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Role of the Representation and Kernel</a:t>
            </a:r>
            <a:endParaRPr sz="2600" dirty="0">
              <a:solidFill>
                <a:srgbClr val="000000"/>
              </a:solidFill>
              <a:latin typeface="Avenir Book"/>
            </a:endParaRPr>
          </a:p>
        </p:txBody>
      </p:sp>
      <p:sp>
        <p:nvSpPr>
          <p:cNvPr id="3" name="Rectangle 2">
            <a:extLst>
              <a:ext uri="{FF2B5EF4-FFF2-40B4-BE49-F238E27FC236}">
                <a16:creationId xmlns:a16="http://schemas.microsoft.com/office/drawing/2014/main" id="{59F4C804-E053-FBD4-9F23-047F9D0E5478}"/>
              </a:ext>
            </a:extLst>
          </p:cNvPr>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a:extLst>
              <a:ext uri="{FF2B5EF4-FFF2-40B4-BE49-F238E27FC236}">
                <a16:creationId xmlns:a16="http://schemas.microsoft.com/office/drawing/2014/main" id="{2FEC6E6A-EE4F-BC7C-DDF9-82F9C9B29D4B}"/>
              </a:ext>
            </a:extLst>
          </p:cNvPr>
          <p:cNvPicPr>
            <a:picLocks noChangeAspect="1"/>
          </p:cNvPicPr>
          <p:nvPr/>
        </p:nvPicPr>
        <p:blipFill>
          <a:blip r:embed="rId3"/>
          <a:stretch>
            <a:fillRect/>
          </a:stretch>
        </p:blipFill>
        <p:spPr>
          <a:xfrm>
            <a:off x="46634" y="6459778"/>
            <a:ext cx="1554480" cy="379476"/>
          </a:xfrm>
          <a:prstGeom prst="rect">
            <a:avLst/>
          </a:prstGeom>
        </p:spPr>
      </p:pic>
      <p:sp>
        <p:nvSpPr>
          <p:cNvPr id="6" name="TextBox 5">
            <a:extLst>
              <a:ext uri="{FF2B5EF4-FFF2-40B4-BE49-F238E27FC236}">
                <a16:creationId xmlns:a16="http://schemas.microsoft.com/office/drawing/2014/main" id="{5086ACD5-0FED-E813-2F00-0A7913D8A8AA}"/>
              </a:ext>
            </a:extLst>
          </p:cNvPr>
          <p:cNvSpPr txBox="1"/>
          <p:nvPr/>
        </p:nvSpPr>
        <p:spPr>
          <a:xfrm>
            <a:off x="46634" y="6010123"/>
            <a:ext cx="11155680" cy="364202"/>
          </a:xfrm>
          <a:prstGeom prst="rect">
            <a:avLst/>
          </a:prstGeom>
          <a:noFill/>
        </p:spPr>
        <p:txBody>
          <a:bodyPr wrap="square" lIns="0" tIns="0" rIns="0" bIns="0" anchor="t">
            <a:spAutoFit/>
          </a:bodyPr>
          <a:lstStyle/>
          <a:p>
            <a:pPr>
              <a:spcAft>
                <a:spcPts val="200"/>
              </a:spcAft>
            </a:pPr>
            <a:r>
              <a:rPr sz="1100" b="0" i="0" dirty="0">
                <a:solidFill>
                  <a:srgbClr val="595959"/>
                </a:solidFill>
                <a:latin typeface="Aptos"/>
              </a:rPr>
              <a:t>Shields, B. J.; Stevens, J.; Li, J.; Parasram, M.; Damani, F.; Martinez Alvarado, J. I.; Janey, J. M.; Adams, R. P.; Doyle, A. G. </a:t>
            </a:r>
            <a:r>
              <a:rPr sz="1100" b="0" i="1" dirty="0">
                <a:solidFill>
                  <a:srgbClr val="595959"/>
                </a:solidFill>
                <a:latin typeface="Aptos"/>
              </a:rPr>
              <a:t>Nature</a:t>
            </a:r>
            <a:r>
              <a:rPr sz="1100" b="0" i="0" dirty="0">
                <a:solidFill>
                  <a:srgbClr val="595959"/>
                </a:solidFill>
                <a:latin typeface="Aptos"/>
              </a:rPr>
              <a:t> </a:t>
            </a:r>
            <a:r>
              <a:rPr sz="1100" b="1" i="0" dirty="0">
                <a:solidFill>
                  <a:srgbClr val="595959"/>
                </a:solidFill>
                <a:latin typeface="Aptos"/>
              </a:rPr>
              <a:t>2021</a:t>
            </a:r>
            <a:r>
              <a:rPr sz="1100" b="0" i="0" dirty="0">
                <a:solidFill>
                  <a:srgbClr val="595959"/>
                </a:solidFill>
                <a:latin typeface="Aptos"/>
              </a:rPr>
              <a:t>, 590 (7844), 89–96.</a:t>
            </a:r>
          </a:p>
          <a:p>
            <a:pPr>
              <a:spcAft>
                <a:spcPts val="200"/>
              </a:spcAft>
            </a:pPr>
            <a:r>
              <a:rPr sz="1100" b="0" i="0" dirty="0" err="1">
                <a:solidFill>
                  <a:srgbClr val="595959"/>
                </a:solidFill>
                <a:latin typeface="Aptos"/>
              </a:rPr>
              <a:t>Ranković</a:t>
            </a:r>
            <a:r>
              <a:rPr sz="1100" b="0" i="0" dirty="0">
                <a:solidFill>
                  <a:srgbClr val="595959"/>
                </a:solidFill>
                <a:latin typeface="Aptos"/>
              </a:rPr>
              <a:t>, B.; Griffiths, R.-R.; Moss, H. B.; Schwaller, P. </a:t>
            </a:r>
            <a:r>
              <a:rPr sz="1100" b="0" i="1" dirty="0">
                <a:solidFill>
                  <a:srgbClr val="595959"/>
                </a:solidFill>
                <a:latin typeface="Aptos"/>
              </a:rPr>
              <a:t>Digital Discovery</a:t>
            </a:r>
            <a:r>
              <a:rPr sz="1100" b="0" i="0" dirty="0">
                <a:solidFill>
                  <a:srgbClr val="595959"/>
                </a:solidFill>
                <a:latin typeface="Aptos"/>
              </a:rPr>
              <a:t> </a:t>
            </a:r>
            <a:r>
              <a:rPr sz="1100" b="1" i="0" dirty="0">
                <a:solidFill>
                  <a:srgbClr val="595959"/>
                </a:solidFill>
                <a:latin typeface="Aptos"/>
              </a:rPr>
              <a:t>2024</a:t>
            </a:r>
            <a:r>
              <a:rPr sz="1100" b="0" i="0" dirty="0">
                <a:solidFill>
                  <a:srgbClr val="595959"/>
                </a:solidFill>
                <a:latin typeface="Aptos"/>
              </a:rPr>
              <a:t>, 3 (4), 654–666.</a:t>
            </a:r>
          </a:p>
        </p:txBody>
      </p:sp>
      <p:pic>
        <p:nvPicPr>
          <p:cNvPr id="9" name="Picture 8">
            <a:extLst>
              <a:ext uri="{FF2B5EF4-FFF2-40B4-BE49-F238E27FC236}">
                <a16:creationId xmlns:a16="http://schemas.microsoft.com/office/drawing/2014/main" id="{B85BC444-5A1F-928B-D406-43C8AA02D668}"/>
              </a:ext>
            </a:extLst>
          </p:cNvPr>
          <p:cNvPicPr>
            <a:picLocks noChangeAspect="1"/>
          </p:cNvPicPr>
          <p:nvPr/>
        </p:nvPicPr>
        <p:blipFill>
          <a:blip r:embed="rId4"/>
          <a:stretch>
            <a:fillRect/>
          </a:stretch>
        </p:blipFill>
        <p:spPr>
          <a:xfrm>
            <a:off x="46634" y="1897435"/>
            <a:ext cx="6575044" cy="3287522"/>
          </a:xfrm>
          <a:prstGeom prst="rect">
            <a:avLst/>
          </a:prstGeom>
        </p:spPr>
      </p:pic>
      <p:pic>
        <p:nvPicPr>
          <p:cNvPr id="11" name="Picture 10">
            <a:extLst>
              <a:ext uri="{FF2B5EF4-FFF2-40B4-BE49-F238E27FC236}">
                <a16:creationId xmlns:a16="http://schemas.microsoft.com/office/drawing/2014/main" id="{C89528C4-C463-22B3-C311-6E9C47A49937}"/>
              </a:ext>
            </a:extLst>
          </p:cNvPr>
          <p:cNvPicPr>
            <a:picLocks noChangeAspect="1"/>
          </p:cNvPicPr>
          <p:nvPr/>
        </p:nvPicPr>
        <p:blipFill>
          <a:blip r:embed="rId5"/>
          <a:stretch>
            <a:fillRect/>
          </a:stretch>
        </p:blipFill>
        <p:spPr>
          <a:xfrm>
            <a:off x="6939026" y="1884012"/>
            <a:ext cx="5019549" cy="3588689"/>
          </a:xfrm>
          <a:prstGeom prst="rect">
            <a:avLst/>
          </a:prstGeom>
        </p:spPr>
      </p:pic>
    </p:spTree>
    <p:extLst>
      <p:ext uri="{BB962C8B-B14F-4D97-AF65-F5344CB8AC3E}">
        <p14:creationId xmlns:p14="http://schemas.microsoft.com/office/powerpoint/2010/main" val="267319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DOE vs BO | When to choose which ?</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566928" y="1234440"/>
            <a:ext cx="10716768" cy="621792"/>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a:p>
        </p:txBody>
      </p:sp>
      <p:sp>
        <p:nvSpPr>
          <p:cNvPr id="6" name="Rounded Rectangle 5"/>
          <p:cNvSpPr/>
          <p:nvPr/>
        </p:nvSpPr>
        <p:spPr>
          <a:xfrm>
            <a:off x="566928" y="1892808"/>
            <a:ext cx="10716768" cy="621792"/>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a:p>
        </p:txBody>
      </p:sp>
      <p:sp>
        <p:nvSpPr>
          <p:cNvPr id="7" name="Rounded Rectangle 6"/>
          <p:cNvSpPr/>
          <p:nvPr/>
        </p:nvSpPr>
        <p:spPr>
          <a:xfrm>
            <a:off x="566928" y="2551176"/>
            <a:ext cx="10716768" cy="6217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a:p>
        </p:txBody>
      </p:sp>
      <p:sp>
        <p:nvSpPr>
          <p:cNvPr id="8" name="Rounded Rectangle 7"/>
          <p:cNvSpPr/>
          <p:nvPr/>
        </p:nvSpPr>
        <p:spPr>
          <a:xfrm>
            <a:off x="566928" y="3209544"/>
            <a:ext cx="10716768" cy="621792"/>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a:p>
        </p:txBody>
      </p:sp>
      <p:sp>
        <p:nvSpPr>
          <p:cNvPr id="9" name="Rounded Rectangle 8"/>
          <p:cNvSpPr/>
          <p:nvPr/>
        </p:nvSpPr>
        <p:spPr>
          <a:xfrm>
            <a:off x="566928" y="3867911"/>
            <a:ext cx="10716768" cy="6217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dirty="0"/>
          </a:p>
        </p:txBody>
      </p:sp>
      <p:sp>
        <p:nvSpPr>
          <p:cNvPr id="10" name="Rounded Rectangle 9"/>
          <p:cNvSpPr/>
          <p:nvPr/>
        </p:nvSpPr>
        <p:spPr>
          <a:xfrm>
            <a:off x="566928" y="4526279"/>
            <a:ext cx="10716768" cy="621792"/>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a:p>
        </p:txBody>
      </p:sp>
      <p:sp>
        <p:nvSpPr>
          <p:cNvPr id="11" name="Rounded Rectangle 10"/>
          <p:cNvSpPr/>
          <p:nvPr/>
        </p:nvSpPr>
        <p:spPr>
          <a:xfrm>
            <a:off x="566928" y="5184647"/>
            <a:ext cx="10716768" cy="6217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a:p>
        </p:txBody>
      </p:sp>
      <p:sp>
        <p:nvSpPr>
          <p:cNvPr id="12" name="TextBox 11"/>
          <p:cNvSpPr txBox="1"/>
          <p:nvPr/>
        </p:nvSpPr>
        <p:spPr>
          <a:xfrm>
            <a:off x="777240" y="1380744"/>
            <a:ext cx="2194560" cy="365760"/>
          </a:xfrm>
          <a:prstGeom prst="rect">
            <a:avLst/>
          </a:prstGeom>
          <a:noFill/>
        </p:spPr>
        <p:txBody>
          <a:bodyPr wrap="square" lIns="0" tIns="0" rIns="0" bIns="0" anchor="t">
            <a:spAutoFit/>
          </a:bodyPr>
          <a:lstStyle/>
          <a:p>
            <a:pPr algn="l"/>
            <a:endParaRPr/>
          </a:p>
        </p:txBody>
      </p:sp>
      <p:sp>
        <p:nvSpPr>
          <p:cNvPr id="13" name="TextBox 12"/>
          <p:cNvSpPr txBox="1"/>
          <p:nvPr/>
        </p:nvSpPr>
        <p:spPr>
          <a:xfrm>
            <a:off x="3154680" y="1380744"/>
            <a:ext cx="3931920" cy="365760"/>
          </a:xfrm>
          <a:prstGeom prst="rect">
            <a:avLst/>
          </a:prstGeom>
          <a:noFill/>
        </p:spPr>
        <p:txBody>
          <a:bodyPr wrap="square" lIns="0" tIns="0" rIns="0" bIns="0" anchor="t">
            <a:spAutoFit/>
          </a:bodyPr>
          <a:lstStyle/>
          <a:p>
            <a:pPr algn="l"/>
            <a:r>
              <a:rPr sz="1400" b="1" i="0">
                <a:solidFill>
                  <a:srgbClr val="2E6FBA"/>
                </a:solidFill>
                <a:latin typeface="Calibri"/>
              </a:rPr>
              <a:t>DOE  (factorial + RSM)</a:t>
            </a:r>
          </a:p>
        </p:txBody>
      </p:sp>
      <p:sp>
        <p:nvSpPr>
          <p:cNvPr id="14" name="TextBox 13"/>
          <p:cNvSpPr txBox="1"/>
          <p:nvPr/>
        </p:nvSpPr>
        <p:spPr>
          <a:xfrm>
            <a:off x="7315200" y="1380744"/>
            <a:ext cx="3840480" cy="365760"/>
          </a:xfrm>
          <a:prstGeom prst="rect">
            <a:avLst/>
          </a:prstGeom>
          <a:noFill/>
        </p:spPr>
        <p:txBody>
          <a:bodyPr wrap="square" lIns="0" tIns="0" rIns="0" bIns="0" anchor="t">
            <a:spAutoFit/>
          </a:bodyPr>
          <a:lstStyle/>
          <a:p>
            <a:pPr algn="l"/>
            <a:r>
              <a:rPr sz="1400" b="1" i="0">
                <a:solidFill>
                  <a:srgbClr val="C00000"/>
                </a:solidFill>
                <a:latin typeface="Calibri"/>
              </a:rPr>
              <a:t>Bayesian optimization</a:t>
            </a:r>
          </a:p>
        </p:txBody>
      </p:sp>
      <p:sp>
        <p:nvSpPr>
          <p:cNvPr id="15" name="TextBox 14"/>
          <p:cNvSpPr txBox="1"/>
          <p:nvPr/>
        </p:nvSpPr>
        <p:spPr>
          <a:xfrm>
            <a:off x="777240" y="2039112"/>
            <a:ext cx="2194560" cy="365760"/>
          </a:xfrm>
          <a:prstGeom prst="rect">
            <a:avLst/>
          </a:prstGeom>
          <a:noFill/>
        </p:spPr>
        <p:txBody>
          <a:bodyPr wrap="square" lIns="0" tIns="0" rIns="0" bIns="0" anchor="t">
            <a:spAutoFit/>
          </a:bodyPr>
          <a:lstStyle/>
          <a:p>
            <a:pPr algn="l"/>
            <a:r>
              <a:rPr sz="1400" b="1" i="0">
                <a:solidFill>
                  <a:srgbClr val="123830"/>
                </a:solidFill>
                <a:latin typeface="Calibri"/>
              </a:rPr>
              <a:t>Design</a:t>
            </a:r>
          </a:p>
        </p:txBody>
      </p:sp>
      <p:sp>
        <p:nvSpPr>
          <p:cNvPr id="16" name="TextBox 15"/>
          <p:cNvSpPr txBox="1"/>
          <p:nvPr/>
        </p:nvSpPr>
        <p:spPr>
          <a:xfrm>
            <a:off x="3154680" y="2039112"/>
            <a:ext cx="3931920" cy="365760"/>
          </a:xfrm>
          <a:prstGeom prst="rect">
            <a:avLst/>
          </a:prstGeom>
          <a:noFill/>
        </p:spPr>
        <p:txBody>
          <a:bodyPr wrap="square" lIns="0" tIns="0" rIns="0" bIns="0" anchor="t">
            <a:spAutoFit/>
          </a:bodyPr>
          <a:lstStyle/>
          <a:p>
            <a:pPr algn="l"/>
            <a:r>
              <a:rPr sz="1400" b="0" i="0">
                <a:solidFill>
                  <a:srgbClr val="123830"/>
                </a:solidFill>
                <a:latin typeface="Calibri"/>
              </a:rPr>
              <a:t>fixed, chosen up front, all at once</a:t>
            </a:r>
          </a:p>
        </p:txBody>
      </p:sp>
      <p:sp>
        <p:nvSpPr>
          <p:cNvPr id="17" name="TextBox 16"/>
          <p:cNvSpPr txBox="1"/>
          <p:nvPr/>
        </p:nvSpPr>
        <p:spPr>
          <a:xfrm>
            <a:off x="7315200" y="2039112"/>
            <a:ext cx="3840480" cy="365760"/>
          </a:xfrm>
          <a:prstGeom prst="rect">
            <a:avLst/>
          </a:prstGeom>
          <a:noFill/>
        </p:spPr>
        <p:txBody>
          <a:bodyPr wrap="square" lIns="0" tIns="0" rIns="0" bIns="0" anchor="t">
            <a:spAutoFit/>
          </a:bodyPr>
          <a:lstStyle/>
          <a:p>
            <a:pPr algn="l"/>
            <a:r>
              <a:rPr sz="1400" b="0" i="0">
                <a:solidFill>
                  <a:srgbClr val="123830"/>
                </a:solidFill>
                <a:latin typeface="Calibri"/>
              </a:rPr>
              <a:t>sequential, adapts after every result</a:t>
            </a:r>
          </a:p>
        </p:txBody>
      </p:sp>
      <p:sp>
        <p:nvSpPr>
          <p:cNvPr id="18" name="TextBox 17"/>
          <p:cNvSpPr txBox="1"/>
          <p:nvPr/>
        </p:nvSpPr>
        <p:spPr>
          <a:xfrm>
            <a:off x="777240" y="2697480"/>
            <a:ext cx="2194560" cy="365760"/>
          </a:xfrm>
          <a:prstGeom prst="rect">
            <a:avLst/>
          </a:prstGeom>
          <a:noFill/>
        </p:spPr>
        <p:txBody>
          <a:bodyPr wrap="square" lIns="0" tIns="0" rIns="0" bIns="0" anchor="t">
            <a:spAutoFit/>
          </a:bodyPr>
          <a:lstStyle/>
          <a:p>
            <a:pPr algn="l"/>
            <a:r>
              <a:rPr sz="1400" b="1" i="0">
                <a:solidFill>
                  <a:srgbClr val="123830"/>
                </a:solidFill>
                <a:latin typeface="Calibri"/>
              </a:rPr>
              <a:t>Model</a:t>
            </a:r>
          </a:p>
        </p:txBody>
      </p:sp>
      <p:sp>
        <p:nvSpPr>
          <p:cNvPr id="19" name="TextBox 18"/>
          <p:cNvSpPr txBox="1"/>
          <p:nvPr/>
        </p:nvSpPr>
        <p:spPr>
          <a:xfrm>
            <a:off x="3154680" y="2697480"/>
            <a:ext cx="3931920" cy="365760"/>
          </a:xfrm>
          <a:prstGeom prst="rect">
            <a:avLst/>
          </a:prstGeom>
          <a:noFill/>
        </p:spPr>
        <p:txBody>
          <a:bodyPr wrap="square" lIns="0" tIns="0" rIns="0" bIns="0" anchor="t">
            <a:spAutoFit/>
          </a:bodyPr>
          <a:lstStyle/>
          <a:p>
            <a:pPr algn="l"/>
            <a:r>
              <a:rPr sz="1400" b="0" i="0">
                <a:solidFill>
                  <a:srgbClr val="123830"/>
                </a:solidFill>
                <a:latin typeface="Calibri"/>
              </a:rPr>
              <a:t>polynomial of fixed form</a:t>
            </a:r>
          </a:p>
        </p:txBody>
      </p:sp>
      <p:sp>
        <p:nvSpPr>
          <p:cNvPr id="20" name="TextBox 19"/>
          <p:cNvSpPr txBox="1"/>
          <p:nvPr/>
        </p:nvSpPr>
        <p:spPr>
          <a:xfrm>
            <a:off x="7315200" y="2697480"/>
            <a:ext cx="3840480" cy="365760"/>
          </a:xfrm>
          <a:prstGeom prst="rect">
            <a:avLst/>
          </a:prstGeom>
          <a:noFill/>
        </p:spPr>
        <p:txBody>
          <a:bodyPr wrap="square" lIns="0" tIns="0" rIns="0" bIns="0" anchor="t">
            <a:spAutoFit/>
          </a:bodyPr>
          <a:lstStyle/>
          <a:p>
            <a:pPr algn="l"/>
            <a:r>
              <a:rPr sz="1400" b="0" i="0">
                <a:solidFill>
                  <a:srgbClr val="123830"/>
                </a:solidFill>
                <a:latin typeface="Calibri"/>
              </a:rPr>
              <a:t>non-parametric; flexibility grows with data</a:t>
            </a:r>
          </a:p>
        </p:txBody>
      </p:sp>
      <p:sp>
        <p:nvSpPr>
          <p:cNvPr id="21" name="TextBox 20"/>
          <p:cNvSpPr txBox="1"/>
          <p:nvPr/>
        </p:nvSpPr>
        <p:spPr>
          <a:xfrm>
            <a:off x="777240" y="3355848"/>
            <a:ext cx="2194560" cy="365760"/>
          </a:xfrm>
          <a:prstGeom prst="rect">
            <a:avLst/>
          </a:prstGeom>
          <a:noFill/>
        </p:spPr>
        <p:txBody>
          <a:bodyPr wrap="square" lIns="0" tIns="0" rIns="0" bIns="0" anchor="t">
            <a:spAutoFit/>
          </a:bodyPr>
          <a:lstStyle/>
          <a:p>
            <a:pPr algn="l"/>
            <a:r>
              <a:rPr sz="1400" b="1" i="0">
                <a:solidFill>
                  <a:srgbClr val="123830"/>
                </a:solidFill>
                <a:latin typeface="Calibri"/>
              </a:rPr>
              <a:t>Uncertainty</a:t>
            </a:r>
          </a:p>
        </p:txBody>
      </p:sp>
      <p:sp>
        <p:nvSpPr>
          <p:cNvPr id="22" name="TextBox 21"/>
          <p:cNvSpPr txBox="1"/>
          <p:nvPr/>
        </p:nvSpPr>
        <p:spPr>
          <a:xfrm>
            <a:off x="3154680" y="3355848"/>
            <a:ext cx="3931920" cy="365760"/>
          </a:xfrm>
          <a:prstGeom prst="rect">
            <a:avLst/>
          </a:prstGeom>
          <a:noFill/>
        </p:spPr>
        <p:txBody>
          <a:bodyPr wrap="square" lIns="0" tIns="0" rIns="0" bIns="0" anchor="t">
            <a:spAutoFit/>
          </a:bodyPr>
          <a:lstStyle/>
          <a:p>
            <a:pPr algn="l"/>
            <a:r>
              <a:rPr sz="1400" b="0" i="0">
                <a:solidFill>
                  <a:srgbClr val="123830"/>
                </a:solidFill>
                <a:latin typeface="Calibri"/>
              </a:rPr>
              <a:t>CIs on coefficients</a:t>
            </a:r>
          </a:p>
        </p:txBody>
      </p:sp>
      <p:sp>
        <p:nvSpPr>
          <p:cNvPr id="23" name="TextBox 22"/>
          <p:cNvSpPr txBox="1"/>
          <p:nvPr/>
        </p:nvSpPr>
        <p:spPr>
          <a:xfrm>
            <a:off x="7315200" y="3355848"/>
            <a:ext cx="3840480" cy="365760"/>
          </a:xfrm>
          <a:prstGeom prst="rect">
            <a:avLst/>
          </a:prstGeom>
          <a:noFill/>
        </p:spPr>
        <p:txBody>
          <a:bodyPr wrap="square" lIns="0" tIns="0" rIns="0" bIns="0" anchor="t">
            <a:spAutoFit/>
          </a:bodyPr>
          <a:lstStyle/>
          <a:p>
            <a:pPr algn="l"/>
            <a:r>
              <a:rPr sz="1400" b="0" i="0">
                <a:solidFill>
                  <a:srgbClr val="123830"/>
                </a:solidFill>
                <a:latin typeface="Calibri"/>
              </a:rPr>
              <a:t>full posterior at every point</a:t>
            </a:r>
          </a:p>
        </p:txBody>
      </p:sp>
      <p:sp>
        <p:nvSpPr>
          <p:cNvPr id="24" name="TextBox 23"/>
          <p:cNvSpPr txBox="1"/>
          <p:nvPr/>
        </p:nvSpPr>
        <p:spPr>
          <a:xfrm>
            <a:off x="777240" y="4014215"/>
            <a:ext cx="2194560" cy="365760"/>
          </a:xfrm>
          <a:prstGeom prst="rect">
            <a:avLst/>
          </a:prstGeom>
          <a:noFill/>
        </p:spPr>
        <p:txBody>
          <a:bodyPr wrap="square" lIns="0" tIns="0" rIns="0" bIns="0" anchor="t">
            <a:spAutoFit/>
          </a:bodyPr>
          <a:lstStyle/>
          <a:p>
            <a:pPr algn="l"/>
            <a:r>
              <a:rPr sz="1400" b="1" i="0">
                <a:solidFill>
                  <a:srgbClr val="123830"/>
                </a:solidFill>
                <a:latin typeface="Calibri"/>
              </a:rPr>
              <a:t>Primary goal</a:t>
            </a:r>
          </a:p>
        </p:txBody>
      </p:sp>
      <p:sp>
        <p:nvSpPr>
          <p:cNvPr id="25" name="TextBox 24"/>
          <p:cNvSpPr txBox="1"/>
          <p:nvPr/>
        </p:nvSpPr>
        <p:spPr>
          <a:xfrm>
            <a:off x="3154680" y="4014215"/>
            <a:ext cx="3931920" cy="215444"/>
          </a:xfrm>
          <a:prstGeom prst="rect">
            <a:avLst/>
          </a:prstGeom>
          <a:noFill/>
        </p:spPr>
        <p:txBody>
          <a:bodyPr wrap="square" lIns="0" tIns="0" rIns="0" bIns="0" anchor="t">
            <a:spAutoFit/>
          </a:bodyPr>
          <a:lstStyle/>
          <a:p>
            <a:pPr algn="l"/>
            <a:r>
              <a:rPr sz="1400" b="1" i="0" dirty="0">
                <a:solidFill>
                  <a:srgbClr val="123830"/>
                </a:solidFill>
                <a:latin typeface="Calibri"/>
              </a:rPr>
              <a:t>UNDERSTAND — main effects, interactions</a:t>
            </a:r>
          </a:p>
        </p:txBody>
      </p:sp>
      <p:sp>
        <p:nvSpPr>
          <p:cNvPr id="26" name="TextBox 25"/>
          <p:cNvSpPr txBox="1"/>
          <p:nvPr/>
        </p:nvSpPr>
        <p:spPr>
          <a:xfrm>
            <a:off x="7315200" y="4014215"/>
            <a:ext cx="3840480" cy="215444"/>
          </a:xfrm>
          <a:prstGeom prst="rect">
            <a:avLst/>
          </a:prstGeom>
          <a:noFill/>
        </p:spPr>
        <p:txBody>
          <a:bodyPr wrap="square" lIns="0" tIns="0" rIns="0" bIns="0" anchor="t">
            <a:spAutoFit/>
          </a:bodyPr>
          <a:lstStyle/>
          <a:p>
            <a:pPr algn="l"/>
            <a:r>
              <a:rPr sz="1400" b="1" i="0" dirty="0">
                <a:solidFill>
                  <a:srgbClr val="123830"/>
                </a:solidFill>
                <a:latin typeface="Calibri"/>
              </a:rPr>
              <a:t>FIND THE ARGMAX</a:t>
            </a:r>
          </a:p>
        </p:txBody>
      </p:sp>
      <p:sp>
        <p:nvSpPr>
          <p:cNvPr id="27" name="TextBox 26"/>
          <p:cNvSpPr txBox="1"/>
          <p:nvPr/>
        </p:nvSpPr>
        <p:spPr>
          <a:xfrm>
            <a:off x="777240" y="4672583"/>
            <a:ext cx="2194560" cy="365760"/>
          </a:xfrm>
          <a:prstGeom prst="rect">
            <a:avLst/>
          </a:prstGeom>
          <a:noFill/>
        </p:spPr>
        <p:txBody>
          <a:bodyPr wrap="square" lIns="0" tIns="0" rIns="0" bIns="0" anchor="t">
            <a:spAutoFit/>
          </a:bodyPr>
          <a:lstStyle/>
          <a:p>
            <a:pPr algn="l"/>
            <a:r>
              <a:rPr sz="1400" b="1" i="0">
                <a:solidFill>
                  <a:srgbClr val="123830"/>
                </a:solidFill>
                <a:latin typeface="Calibri"/>
              </a:rPr>
              <a:t>Categorical</a:t>
            </a:r>
          </a:p>
        </p:txBody>
      </p:sp>
      <p:sp>
        <p:nvSpPr>
          <p:cNvPr id="28" name="TextBox 27"/>
          <p:cNvSpPr txBox="1"/>
          <p:nvPr/>
        </p:nvSpPr>
        <p:spPr>
          <a:xfrm>
            <a:off x="3154680" y="4672583"/>
            <a:ext cx="3931920" cy="365760"/>
          </a:xfrm>
          <a:prstGeom prst="rect">
            <a:avLst/>
          </a:prstGeom>
          <a:noFill/>
        </p:spPr>
        <p:txBody>
          <a:bodyPr wrap="square" lIns="0" tIns="0" rIns="0" bIns="0" anchor="t">
            <a:spAutoFit/>
          </a:bodyPr>
          <a:lstStyle/>
          <a:p>
            <a:pPr algn="l"/>
            <a:r>
              <a:rPr sz="1400" b="0" i="0">
                <a:solidFill>
                  <a:srgbClr val="123830"/>
                </a:solidFill>
                <a:latin typeface="Calibri"/>
              </a:rPr>
              <a:t>levels; combinatorially expensive</a:t>
            </a:r>
          </a:p>
        </p:txBody>
      </p:sp>
      <p:sp>
        <p:nvSpPr>
          <p:cNvPr id="29" name="TextBox 28"/>
          <p:cNvSpPr txBox="1"/>
          <p:nvPr/>
        </p:nvSpPr>
        <p:spPr>
          <a:xfrm>
            <a:off x="7315200" y="4672583"/>
            <a:ext cx="3840480" cy="365760"/>
          </a:xfrm>
          <a:prstGeom prst="rect">
            <a:avLst/>
          </a:prstGeom>
          <a:noFill/>
        </p:spPr>
        <p:txBody>
          <a:bodyPr wrap="square" lIns="0" tIns="0" rIns="0" bIns="0" anchor="t">
            <a:spAutoFit/>
          </a:bodyPr>
          <a:lstStyle/>
          <a:p>
            <a:pPr algn="l"/>
            <a:r>
              <a:rPr sz="1400" b="0" i="0">
                <a:solidFill>
                  <a:srgbClr val="123830"/>
                </a:solidFill>
                <a:latin typeface="Calibri"/>
              </a:rPr>
              <a:t>descriptors let information transfer</a:t>
            </a:r>
          </a:p>
        </p:txBody>
      </p:sp>
      <p:sp>
        <p:nvSpPr>
          <p:cNvPr id="30" name="TextBox 29"/>
          <p:cNvSpPr txBox="1"/>
          <p:nvPr/>
        </p:nvSpPr>
        <p:spPr>
          <a:xfrm>
            <a:off x="777240" y="5330951"/>
            <a:ext cx="2194560" cy="365760"/>
          </a:xfrm>
          <a:prstGeom prst="rect">
            <a:avLst/>
          </a:prstGeom>
          <a:noFill/>
        </p:spPr>
        <p:txBody>
          <a:bodyPr wrap="square" lIns="0" tIns="0" rIns="0" bIns="0" anchor="t">
            <a:spAutoFit/>
          </a:bodyPr>
          <a:lstStyle/>
          <a:p>
            <a:pPr algn="l"/>
            <a:r>
              <a:rPr sz="1400" b="1" i="0">
                <a:solidFill>
                  <a:srgbClr val="123830"/>
                </a:solidFill>
                <a:latin typeface="Calibri"/>
              </a:rPr>
              <a:t>Best when</a:t>
            </a:r>
          </a:p>
        </p:txBody>
      </p:sp>
      <p:sp>
        <p:nvSpPr>
          <p:cNvPr id="31" name="TextBox 30"/>
          <p:cNvSpPr txBox="1"/>
          <p:nvPr/>
        </p:nvSpPr>
        <p:spPr>
          <a:xfrm>
            <a:off x="3154680" y="5330951"/>
            <a:ext cx="3931920" cy="365760"/>
          </a:xfrm>
          <a:prstGeom prst="rect">
            <a:avLst/>
          </a:prstGeom>
          <a:noFill/>
        </p:spPr>
        <p:txBody>
          <a:bodyPr wrap="square" lIns="0" tIns="0" rIns="0" bIns="0" anchor="t">
            <a:spAutoFit/>
          </a:bodyPr>
          <a:lstStyle/>
          <a:p>
            <a:pPr algn="l"/>
            <a:r>
              <a:rPr sz="1400" b="0" i="0" dirty="0">
                <a:solidFill>
                  <a:srgbClr val="123830"/>
                </a:solidFill>
                <a:latin typeface="Calibri"/>
              </a:rPr>
              <a:t>few factors, cheapish runs, you want a model</a:t>
            </a:r>
          </a:p>
        </p:txBody>
      </p:sp>
      <p:sp>
        <p:nvSpPr>
          <p:cNvPr id="32" name="TextBox 31"/>
          <p:cNvSpPr txBox="1"/>
          <p:nvPr/>
        </p:nvSpPr>
        <p:spPr>
          <a:xfrm>
            <a:off x="7315200" y="5330951"/>
            <a:ext cx="3840480" cy="365760"/>
          </a:xfrm>
          <a:prstGeom prst="rect">
            <a:avLst/>
          </a:prstGeom>
          <a:noFill/>
        </p:spPr>
        <p:txBody>
          <a:bodyPr wrap="square" lIns="0" tIns="0" rIns="0" bIns="0" anchor="t">
            <a:spAutoFit/>
          </a:bodyPr>
          <a:lstStyle/>
          <a:p>
            <a:pPr algn="l"/>
            <a:r>
              <a:rPr sz="1400" b="0" i="0" dirty="0">
                <a:solidFill>
                  <a:srgbClr val="123830"/>
                </a:solidFill>
                <a:latin typeface="Calibri"/>
              </a:rPr>
              <a:t>expensive runs, nonlinear, you want the best point</a:t>
            </a:r>
          </a:p>
        </p:txBody>
      </p:sp>
      <p:sp>
        <p:nvSpPr>
          <p:cNvPr id="33" name="Rounded Rectangle 32"/>
          <p:cNvSpPr/>
          <p:nvPr/>
        </p:nvSpPr>
        <p:spPr>
          <a:xfrm>
            <a:off x="605028" y="5756910"/>
            <a:ext cx="10716768" cy="566928"/>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600" b="0" i="1" dirty="0">
                <a:solidFill>
                  <a:srgbClr val="1B8A98"/>
                </a:solidFill>
                <a:latin typeface="Calibri"/>
              </a:rPr>
              <a:t>Complementary: screening DOE to drop irrelevant factors, then BO on what is left.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The same loop, in four other places</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566928" y="1280160"/>
            <a:ext cx="5184648" cy="21488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900"/>
              </a:spcAft>
            </a:pPr>
            <a:r>
              <a:rPr sz="1500" b="1">
                <a:solidFill>
                  <a:srgbClr val="1B8A98"/>
                </a:solidFill>
                <a:latin typeface="Calibri"/>
              </a:rPr>
              <a:t>MATERIALS</a:t>
            </a:r>
          </a:p>
          <a:p>
            <a:pPr>
              <a:spcAft>
                <a:spcPts val="400"/>
              </a:spcAft>
            </a:pPr>
            <a:r>
              <a:rPr sz="1400">
                <a:solidFill>
                  <a:srgbClr val="123830"/>
                </a:solidFill>
                <a:latin typeface="Calibri"/>
              </a:rPr>
              <a:t>Self-driving lab: robotic platform autonomously optimising hole mobility in thin films for perovskite solar cells.</a:t>
            </a:r>
          </a:p>
          <a:p>
            <a:r>
              <a:rPr sz="1100" b="0" i="0">
                <a:solidFill>
                  <a:srgbClr val="595959"/>
                </a:solidFill>
                <a:latin typeface="Aptos"/>
              </a:rPr>
              <a:t>MacLeod, B. P.; Parlane, F. G. L.; Morrissey, T. D.; Häse, F.; Roch, L. M.; Dettelbach, K. E.; Moreira, R.; Yunker, L. P. E.; Rooney, M. B.; Deeth, J. R.; Lai, V.; Ng, G. J.; Situ, H.; Zhang, R. H.; Elliott, M. S.; Haley, T. H.; Dvorak, D. J.; Aspuru-Guzik, A.; Hein, J. E.; Berlinguette, C. P. </a:t>
            </a:r>
            <a:r>
              <a:rPr sz="1100" b="0" i="1">
                <a:solidFill>
                  <a:srgbClr val="595959"/>
                </a:solidFill>
                <a:latin typeface="Aptos"/>
              </a:rPr>
              <a:t>Sci. Adv.</a:t>
            </a:r>
            <a:r>
              <a:rPr sz="1100" b="0" i="0">
                <a:solidFill>
                  <a:srgbClr val="595959"/>
                </a:solidFill>
                <a:latin typeface="Aptos"/>
              </a:rPr>
              <a:t> </a:t>
            </a:r>
            <a:r>
              <a:rPr sz="1100" b="1" i="0">
                <a:solidFill>
                  <a:srgbClr val="595959"/>
                </a:solidFill>
                <a:latin typeface="Aptos"/>
              </a:rPr>
              <a:t>2020</a:t>
            </a:r>
            <a:r>
              <a:rPr sz="1100" b="0" i="0">
                <a:solidFill>
                  <a:srgbClr val="595959"/>
                </a:solidFill>
                <a:latin typeface="Aptos"/>
              </a:rPr>
              <a:t>, 6 (20), eaaz8867.</a:t>
            </a:r>
          </a:p>
        </p:txBody>
      </p:sp>
      <p:sp>
        <p:nvSpPr>
          <p:cNvPr id="6" name="Rounded Rectangle 5"/>
          <p:cNvSpPr/>
          <p:nvPr/>
        </p:nvSpPr>
        <p:spPr>
          <a:xfrm>
            <a:off x="6099048" y="1280160"/>
            <a:ext cx="5184648" cy="214884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900"/>
              </a:spcAft>
            </a:pPr>
            <a:r>
              <a:rPr sz="1500" b="1">
                <a:solidFill>
                  <a:srgbClr val="1B8A98"/>
                </a:solidFill>
                <a:latin typeface="Calibri"/>
              </a:rPr>
              <a:t>ENERGY</a:t>
            </a:r>
          </a:p>
          <a:p>
            <a:pPr>
              <a:spcAft>
                <a:spcPts val="400"/>
              </a:spcAft>
            </a:pPr>
            <a:r>
              <a:rPr sz="1400">
                <a:solidFill>
                  <a:srgbClr val="123830"/>
                </a:solidFill>
                <a:latin typeface="Calibri"/>
              </a:rPr>
              <a:t>Fast-charging protocols for Li-ion batteries. Each experiment takes MONTHS — the strongest possible case for expense-driven method choice.</a:t>
            </a:r>
          </a:p>
          <a:p>
            <a:r>
              <a:rPr sz="1100" b="0" i="0">
                <a:solidFill>
                  <a:srgbClr val="595959"/>
                </a:solidFill>
                <a:latin typeface="Aptos"/>
              </a:rPr>
              <a:t>Attia, P. M.; Grover, A.; Jin, N.; Severson, K. A.; Markov, T. M.; Liao, Y.-H.; Chen, M. H.; Cheong, B.; Perkins, N.; Yang, Z.; Herring, P. K.; Aykol, M.; Harris, S. J.; Braatz, R. D.; Ermon, S.; Chueh, W. C. </a:t>
            </a:r>
            <a:r>
              <a:rPr sz="1100" b="0" i="1">
                <a:solidFill>
                  <a:srgbClr val="595959"/>
                </a:solidFill>
                <a:latin typeface="Aptos"/>
              </a:rPr>
              <a:t>Nature</a:t>
            </a:r>
            <a:r>
              <a:rPr sz="1100" b="0" i="0">
                <a:solidFill>
                  <a:srgbClr val="595959"/>
                </a:solidFill>
                <a:latin typeface="Aptos"/>
              </a:rPr>
              <a:t> </a:t>
            </a:r>
            <a:r>
              <a:rPr sz="1100" b="1" i="0">
                <a:solidFill>
                  <a:srgbClr val="595959"/>
                </a:solidFill>
                <a:latin typeface="Aptos"/>
              </a:rPr>
              <a:t>2020</a:t>
            </a:r>
            <a:r>
              <a:rPr sz="1100" b="0" i="0">
                <a:solidFill>
                  <a:srgbClr val="595959"/>
                </a:solidFill>
                <a:latin typeface="Aptos"/>
              </a:rPr>
              <a:t>, 578 (7795), 397–402.</a:t>
            </a:r>
          </a:p>
        </p:txBody>
      </p:sp>
      <p:sp>
        <p:nvSpPr>
          <p:cNvPr id="7" name="Rounded Rectangle 6"/>
          <p:cNvSpPr/>
          <p:nvPr/>
        </p:nvSpPr>
        <p:spPr>
          <a:xfrm>
            <a:off x="566928" y="3657600"/>
            <a:ext cx="5184648" cy="21488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900"/>
              </a:spcAft>
            </a:pPr>
            <a:r>
              <a:rPr sz="1500" b="1">
                <a:solidFill>
                  <a:srgbClr val="1B8A98"/>
                </a:solidFill>
                <a:latin typeface="Calibri"/>
              </a:rPr>
              <a:t>DRUG DESIGN</a:t>
            </a:r>
          </a:p>
          <a:p>
            <a:pPr>
              <a:spcAft>
                <a:spcPts val="400"/>
              </a:spcAft>
            </a:pPr>
            <a:r>
              <a:rPr sz="1400">
                <a:solidFill>
                  <a:srgbClr val="123830"/>
                </a:solidFill>
                <a:latin typeface="Calibri"/>
              </a:rPr>
              <a:t>Pool-based screening over 100M+ compounds. Surrogate is a NEURAL NETWORK ENSEMBLE, not a GP — n is far too large for O(n³).</a:t>
            </a:r>
          </a:p>
          <a:p>
            <a:r>
              <a:rPr sz="1100" b="0" i="0">
                <a:solidFill>
                  <a:srgbClr val="595959"/>
                </a:solidFill>
                <a:latin typeface="Aptos"/>
              </a:rPr>
              <a:t>Graff, D. E.; Shakhnovich, E. I.; Coley, C. W. </a:t>
            </a:r>
            <a:r>
              <a:rPr sz="1100" b="0" i="1">
                <a:solidFill>
                  <a:srgbClr val="595959"/>
                </a:solidFill>
                <a:latin typeface="Aptos"/>
              </a:rPr>
              <a:t>Chem. Sci.</a:t>
            </a:r>
            <a:r>
              <a:rPr sz="1100" b="0" i="0">
                <a:solidFill>
                  <a:srgbClr val="595959"/>
                </a:solidFill>
                <a:latin typeface="Aptos"/>
              </a:rPr>
              <a:t> </a:t>
            </a:r>
            <a:r>
              <a:rPr sz="1100" b="1" i="0">
                <a:solidFill>
                  <a:srgbClr val="595959"/>
                </a:solidFill>
                <a:latin typeface="Aptos"/>
              </a:rPr>
              <a:t>2021</a:t>
            </a:r>
            <a:r>
              <a:rPr sz="1100" b="0" i="0">
                <a:solidFill>
                  <a:srgbClr val="595959"/>
                </a:solidFill>
                <a:latin typeface="Aptos"/>
              </a:rPr>
              <a:t>, 12 (22), 7866–7881.</a:t>
            </a:r>
          </a:p>
        </p:txBody>
      </p:sp>
      <p:sp>
        <p:nvSpPr>
          <p:cNvPr id="8" name="Rounded Rectangle 7"/>
          <p:cNvSpPr/>
          <p:nvPr/>
        </p:nvSpPr>
        <p:spPr>
          <a:xfrm>
            <a:off x="6099048" y="3657600"/>
            <a:ext cx="5184648" cy="214884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900"/>
              </a:spcAft>
            </a:pPr>
            <a:r>
              <a:rPr sz="1500" b="1">
                <a:solidFill>
                  <a:srgbClr val="1B8A98"/>
                </a:solidFill>
                <a:latin typeface="Calibri"/>
              </a:rPr>
              <a:t>PROCESS</a:t>
            </a:r>
          </a:p>
          <a:p>
            <a:pPr>
              <a:spcAft>
                <a:spcPts val="400"/>
              </a:spcAft>
            </a:pPr>
            <a:r>
              <a:rPr sz="1400">
                <a:solidFill>
                  <a:srgbClr val="123830"/>
                </a:solidFill>
                <a:latin typeface="Calibri"/>
              </a:rPr>
              <a:t>Autonomous batch process optimization — categorical phosphine ligand choice dominated the outcome.</a:t>
            </a:r>
          </a:p>
          <a:p>
            <a:r>
              <a:rPr sz="1100" b="0" i="0">
                <a:solidFill>
                  <a:srgbClr val="595959"/>
                </a:solidFill>
                <a:latin typeface="Aptos"/>
              </a:rPr>
              <a:t>Christensen, M.; Yunker, L. P. E.; Adedeji, F.; Häse, F.; Roch, L. M.; Gensch, T.; dos Passos Gomes, G.; Zepel, T.; Sigman, M. S.; Aspuru-Guzik, A.; Hein, J. E. </a:t>
            </a:r>
            <a:r>
              <a:rPr sz="1100" b="0" i="1">
                <a:solidFill>
                  <a:srgbClr val="595959"/>
                </a:solidFill>
                <a:latin typeface="Aptos"/>
              </a:rPr>
              <a:t>Commun. Chem.</a:t>
            </a:r>
            <a:r>
              <a:rPr sz="1100" b="0" i="0">
                <a:solidFill>
                  <a:srgbClr val="595959"/>
                </a:solidFill>
                <a:latin typeface="Aptos"/>
              </a:rPr>
              <a:t> </a:t>
            </a:r>
            <a:r>
              <a:rPr sz="1100" b="1" i="0">
                <a:solidFill>
                  <a:srgbClr val="595959"/>
                </a:solidFill>
                <a:latin typeface="Aptos"/>
              </a:rPr>
              <a:t>2021</a:t>
            </a:r>
            <a:r>
              <a:rPr sz="1100" b="0" i="0">
                <a:solidFill>
                  <a:srgbClr val="595959"/>
                </a:solidFill>
                <a:latin typeface="Aptos"/>
              </a:rPr>
              <a:t>, 4 (1), 112.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Plan</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TextBox 4"/>
          <p:cNvSpPr txBox="1"/>
          <p:nvPr/>
        </p:nvSpPr>
        <p:spPr>
          <a:xfrm>
            <a:off x="2377440" y="1783080"/>
            <a:ext cx="7498079" cy="3406061"/>
          </a:xfrm>
          <a:prstGeom prst="rect">
            <a:avLst/>
          </a:prstGeom>
          <a:noFill/>
        </p:spPr>
        <p:txBody>
          <a:bodyPr wrap="square" lIns="0" tIns="0" rIns="0" bIns="0" anchor="t">
            <a:spAutoFit/>
          </a:bodyPr>
          <a:lstStyle/>
          <a:p>
            <a:pPr>
              <a:spcAft>
                <a:spcPts val="2000"/>
              </a:spcAft>
            </a:pPr>
            <a:r>
              <a:rPr lang="en-US" sz="2300" dirty="0">
                <a:latin typeface="Aptos" panose="020B0004020202020204" pitchFamily="34" charset="0"/>
              </a:rPr>
              <a:t>1 · Optimizing when data acquisition is expensive</a:t>
            </a:r>
          </a:p>
          <a:p>
            <a:pPr>
              <a:spcAft>
                <a:spcPts val="2000"/>
              </a:spcAft>
            </a:pPr>
            <a:r>
              <a:rPr lang="en-US" sz="2300" dirty="0">
                <a:latin typeface="Aptos" panose="020B0004020202020204" pitchFamily="34" charset="0"/>
              </a:rPr>
              <a:t>2 · The Bayesian optimization loop</a:t>
            </a:r>
          </a:p>
          <a:p>
            <a:pPr>
              <a:spcAft>
                <a:spcPts val="2000"/>
              </a:spcAft>
            </a:pPr>
            <a:r>
              <a:rPr lang="en-US" sz="2300" dirty="0">
                <a:latin typeface="Aptos" panose="020B0004020202020204" pitchFamily="34" charset="0"/>
              </a:rPr>
              <a:t>3 · Gaussian processes</a:t>
            </a:r>
          </a:p>
          <a:p>
            <a:pPr>
              <a:spcAft>
                <a:spcPts val="2000"/>
              </a:spcAft>
            </a:pPr>
            <a:r>
              <a:rPr lang="en-US" sz="2300" dirty="0">
                <a:latin typeface="Aptos" panose="020B0004020202020204" pitchFamily="34" charset="0"/>
              </a:rPr>
              <a:t>4 · Categorical variables and noise</a:t>
            </a:r>
          </a:p>
          <a:p>
            <a:pPr>
              <a:spcAft>
                <a:spcPts val="2000"/>
              </a:spcAft>
            </a:pPr>
            <a:r>
              <a:rPr lang="en-US" sz="2300" b="1" dirty="0">
                <a:latin typeface="Aptos" panose="020B0004020202020204" pitchFamily="34" charset="0"/>
              </a:rPr>
              <a:t>5 · Practical Scenarios: Multi-objective, batch</a:t>
            </a:r>
          </a:p>
          <a:p>
            <a:pPr algn="l">
              <a:spcAft>
                <a:spcPts val="2000"/>
              </a:spcAft>
            </a:pPr>
            <a:endParaRPr sz="2300" b="1" i="0" dirty="0">
              <a:solidFill>
                <a:srgbClr val="123830"/>
              </a:solidFill>
              <a:latin typeface="Aptos" panose="020B00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Multi-Objective</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TextBox 4"/>
          <p:cNvSpPr txBox="1"/>
          <p:nvPr/>
        </p:nvSpPr>
        <p:spPr>
          <a:xfrm>
            <a:off x="1188720" y="1150783"/>
            <a:ext cx="2103120" cy="246221"/>
          </a:xfrm>
          <a:prstGeom prst="rect">
            <a:avLst/>
          </a:prstGeom>
          <a:noFill/>
        </p:spPr>
        <p:txBody>
          <a:bodyPr wrap="square" lIns="0" tIns="0" rIns="0" bIns="0" anchor="t">
            <a:spAutoFit/>
          </a:bodyPr>
          <a:lstStyle/>
          <a:p>
            <a:pPr algn="l"/>
            <a:r>
              <a:rPr sz="1600" b="1" i="0">
                <a:solidFill>
                  <a:srgbClr val="1B8A98"/>
                </a:solidFill>
                <a:latin typeface="Aptos" panose="020B0004020202020204" pitchFamily="34" charset="0"/>
              </a:rPr>
              <a:t>Process</a:t>
            </a:r>
          </a:p>
        </p:txBody>
      </p:sp>
      <p:sp>
        <p:nvSpPr>
          <p:cNvPr id="6" name="TextBox 5"/>
          <p:cNvSpPr txBox="1"/>
          <p:nvPr/>
        </p:nvSpPr>
        <p:spPr>
          <a:xfrm>
            <a:off x="3429000" y="1150783"/>
            <a:ext cx="7589520" cy="246221"/>
          </a:xfrm>
          <a:prstGeom prst="rect">
            <a:avLst/>
          </a:prstGeom>
          <a:noFill/>
        </p:spPr>
        <p:txBody>
          <a:bodyPr wrap="square" lIns="0" tIns="0" rIns="0" bIns="0" anchor="t">
            <a:spAutoFit/>
          </a:bodyPr>
          <a:lstStyle/>
          <a:p>
            <a:pPr algn="l"/>
            <a:r>
              <a:rPr sz="1600" b="0" i="0">
                <a:solidFill>
                  <a:srgbClr val="123830"/>
                </a:solidFill>
                <a:latin typeface="Aptos" panose="020B0004020202020204" pitchFamily="34" charset="0"/>
              </a:rPr>
              <a:t>yield AND selectivity AND cost AND catalyst loading</a:t>
            </a:r>
          </a:p>
        </p:txBody>
      </p:sp>
      <p:sp>
        <p:nvSpPr>
          <p:cNvPr id="7" name="TextBox 6"/>
          <p:cNvSpPr txBox="1"/>
          <p:nvPr/>
        </p:nvSpPr>
        <p:spPr>
          <a:xfrm>
            <a:off x="1188720" y="1717710"/>
            <a:ext cx="2103120" cy="246221"/>
          </a:xfrm>
          <a:prstGeom prst="rect">
            <a:avLst/>
          </a:prstGeom>
          <a:noFill/>
        </p:spPr>
        <p:txBody>
          <a:bodyPr wrap="square" lIns="0" tIns="0" rIns="0" bIns="0" anchor="t">
            <a:spAutoFit/>
          </a:bodyPr>
          <a:lstStyle/>
          <a:p>
            <a:pPr algn="l"/>
            <a:r>
              <a:rPr sz="1600" b="1" i="0">
                <a:solidFill>
                  <a:srgbClr val="1B8A98"/>
                </a:solidFill>
                <a:latin typeface="Aptos" panose="020B0004020202020204" pitchFamily="34" charset="0"/>
              </a:rPr>
              <a:t>Medicinal</a:t>
            </a:r>
          </a:p>
        </p:txBody>
      </p:sp>
      <p:sp>
        <p:nvSpPr>
          <p:cNvPr id="8" name="TextBox 7"/>
          <p:cNvSpPr txBox="1"/>
          <p:nvPr/>
        </p:nvSpPr>
        <p:spPr>
          <a:xfrm>
            <a:off x="3429000" y="1717710"/>
            <a:ext cx="7589520" cy="246221"/>
          </a:xfrm>
          <a:prstGeom prst="rect">
            <a:avLst/>
          </a:prstGeom>
          <a:noFill/>
        </p:spPr>
        <p:txBody>
          <a:bodyPr wrap="square" lIns="0" tIns="0" rIns="0" bIns="0" anchor="t">
            <a:spAutoFit/>
          </a:bodyPr>
          <a:lstStyle/>
          <a:p>
            <a:pPr algn="l"/>
            <a:r>
              <a:rPr sz="1600" b="0" i="0">
                <a:solidFill>
                  <a:srgbClr val="123830"/>
                </a:solidFill>
                <a:latin typeface="Aptos" panose="020B0004020202020204" pitchFamily="34" charset="0"/>
              </a:rPr>
              <a:t>potency AND solubility AND metabolic stability AND low hERG</a:t>
            </a:r>
          </a:p>
        </p:txBody>
      </p:sp>
      <p:sp>
        <p:nvSpPr>
          <p:cNvPr id="9" name="TextBox 8"/>
          <p:cNvSpPr txBox="1"/>
          <p:nvPr/>
        </p:nvSpPr>
        <p:spPr>
          <a:xfrm>
            <a:off x="1188720" y="2284639"/>
            <a:ext cx="2103120" cy="246221"/>
          </a:xfrm>
          <a:prstGeom prst="rect">
            <a:avLst/>
          </a:prstGeom>
          <a:noFill/>
        </p:spPr>
        <p:txBody>
          <a:bodyPr wrap="square" lIns="0" tIns="0" rIns="0" bIns="0" anchor="t">
            <a:spAutoFit/>
          </a:bodyPr>
          <a:lstStyle/>
          <a:p>
            <a:pPr algn="l"/>
            <a:r>
              <a:rPr sz="1600" b="1" i="0">
                <a:solidFill>
                  <a:srgbClr val="1B8A98"/>
                </a:solidFill>
                <a:latin typeface="Aptos" panose="020B0004020202020204" pitchFamily="34" charset="0"/>
              </a:rPr>
              <a:t>Materials</a:t>
            </a:r>
          </a:p>
        </p:txBody>
      </p:sp>
      <p:sp>
        <p:nvSpPr>
          <p:cNvPr id="10" name="TextBox 9"/>
          <p:cNvSpPr txBox="1"/>
          <p:nvPr/>
        </p:nvSpPr>
        <p:spPr>
          <a:xfrm>
            <a:off x="3429000" y="2284639"/>
            <a:ext cx="7589520" cy="246221"/>
          </a:xfrm>
          <a:prstGeom prst="rect">
            <a:avLst/>
          </a:prstGeom>
          <a:noFill/>
        </p:spPr>
        <p:txBody>
          <a:bodyPr wrap="square" lIns="0" tIns="0" rIns="0" bIns="0" anchor="t">
            <a:spAutoFit/>
          </a:bodyPr>
          <a:lstStyle/>
          <a:p>
            <a:pPr algn="l"/>
            <a:r>
              <a:rPr sz="1600" b="0" i="0">
                <a:solidFill>
                  <a:srgbClr val="123830"/>
                </a:solidFill>
                <a:latin typeface="Aptos" panose="020B0004020202020204" pitchFamily="34" charset="0"/>
              </a:rPr>
              <a:t>conductivity AND stability AND processability</a:t>
            </a:r>
          </a:p>
        </p:txBody>
      </p:sp>
      <p:sp>
        <p:nvSpPr>
          <p:cNvPr id="12" name="TextBox 11"/>
          <p:cNvSpPr txBox="1"/>
          <p:nvPr/>
        </p:nvSpPr>
        <p:spPr>
          <a:xfrm>
            <a:off x="120905" y="6186386"/>
            <a:ext cx="2960418" cy="169277"/>
          </a:xfrm>
          <a:prstGeom prst="rect">
            <a:avLst/>
          </a:prstGeom>
          <a:noFill/>
        </p:spPr>
        <p:txBody>
          <a:bodyPr wrap="square" lIns="0" tIns="0" rIns="0" bIns="0" anchor="t">
            <a:spAutoFit/>
          </a:bodyPr>
          <a:lstStyle/>
          <a:p>
            <a:r>
              <a:rPr sz="1100" b="0" i="1" dirty="0">
                <a:solidFill>
                  <a:srgbClr val="777777"/>
                </a:solidFill>
                <a:latin typeface="Aptos" panose="020B0004020202020204" pitchFamily="34" charset="0"/>
              </a:rPr>
              <a:t>fig_16_pareto_front.ipynb</a:t>
            </a:r>
          </a:p>
        </p:txBody>
      </p:sp>
      <p:sp>
        <p:nvSpPr>
          <p:cNvPr id="13" name="TextBox 12"/>
          <p:cNvSpPr txBox="1"/>
          <p:nvPr/>
        </p:nvSpPr>
        <p:spPr>
          <a:xfrm>
            <a:off x="5795010" y="4327141"/>
            <a:ext cx="4709160" cy="800219"/>
          </a:xfrm>
          <a:prstGeom prst="rect">
            <a:avLst/>
          </a:prstGeom>
          <a:noFill/>
        </p:spPr>
        <p:txBody>
          <a:bodyPr wrap="square" lIns="0" tIns="0" rIns="0" bIns="0" anchor="t">
            <a:spAutoFit/>
          </a:bodyPr>
          <a:lstStyle/>
          <a:p>
            <a:pPr>
              <a:spcAft>
                <a:spcPts val="1200"/>
              </a:spcAft>
            </a:pPr>
            <a:r>
              <a:rPr sz="1400" b="1" i="0" dirty="0">
                <a:latin typeface="Aptos" panose="020B0004020202020204" pitchFamily="34" charset="0"/>
              </a:rPr>
              <a:t>EHVI </a:t>
            </a:r>
            <a:r>
              <a:rPr lang="en-US" sz="1400" b="1" dirty="0">
                <a:latin typeface="Aptos" panose="020B0004020202020204" pitchFamily="34" charset="0"/>
              </a:rPr>
              <a:t>:</a:t>
            </a:r>
            <a:r>
              <a:rPr sz="1400" b="1" i="0" dirty="0">
                <a:latin typeface="Aptos" panose="020B0004020202020204" pitchFamily="34" charset="0"/>
              </a:rPr>
              <a:t> expected hypervolume improvement. </a:t>
            </a:r>
            <a:endParaRPr lang="en-US" sz="1400" b="1" i="0" dirty="0">
              <a:latin typeface="Aptos" panose="020B0004020202020204" pitchFamily="34" charset="0"/>
            </a:endParaRPr>
          </a:p>
          <a:p>
            <a:pPr>
              <a:spcAft>
                <a:spcPts val="1200"/>
              </a:spcAft>
            </a:pPr>
            <a:r>
              <a:rPr sz="1400" b="1" i="0" dirty="0">
                <a:latin typeface="Aptos" panose="020B0004020202020204" pitchFamily="34" charset="0"/>
              </a:rPr>
              <a:t>“How much do I expect this experiment to grow the frontier?” </a:t>
            </a:r>
          </a:p>
        </p:txBody>
      </p:sp>
      <p:pic>
        <p:nvPicPr>
          <p:cNvPr id="16" name="Picture 15">
            <a:extLst>
              <a:ext uri="{FF2B5EF4-FFF2-40B4-BE49-F238E27FC236}">
                <a16:creationId xmlns:a16="http://schemas.microsoft.com/office/drawing/2014/main" id="{398D8CBD-FD7B-4909-A119-435D26D58858}"/>
              </a:ext>
            </a:extLst>
          </p:cNvPr>
          <p:cNvPicPr>
            <a:picLocks noChangeAspect="1"/>
          </p:cNvPicPr>
          <p:nvPr/>
        </p:nvPicPr>
        <p:blipFill>
          <a:blip r:embed="rId4"/>
          <a:stretch>
            <a:fillRect/>
          </a:stretch>
        </p:blipFill>
        <p:spPr>
          <a:xfrm>
            <a:off x="998421" y="3306026"/>
            <a:ext cx="3712463" cy="28803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3E4E2-BF3A-86C1-F8D9-D248ACD50A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F5700A8-1592-7480-A16E-4951AFB46AB5}"/>
              </a:ext>
            </a:extLst>
          </p:cNvPr>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Practical take away: Tells you when you can/should stop</a:t>
            </a:r>
            <a:endParaRPr sz="2600" dirty="0">
              <a:solidFill>
                <a:srgbClr val="000000"/>
              </a:solidFill>
              <a:latin typeface="Avenir Book"/>
            </a:endParaRPr>
          </a:p>
        </p:txBody>
      </p:sp>
      <p:sp>
        <p:nvSpPr>
          <p:cNvPr id="3" name="Rectangle 2">
            <a:extLst>
              <a:ext uri="{FF2B5EF4-FFF2-40B4-BE49-F238E27FC236}">
                <a16:creationId xmlns:a16="http://schemas.microsoft.com/office/drawing/2014/main" id="{1E2490DC-EE06-7B00-A750-B1CEAB72266F}"/>
              </a:ext>
            </a:extLst>
          </p:cNvPr>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a:extLst>
              <a:ext uri="{FF2B5EF4-FFF2-40B4-BE49-F238E27FC236}">
                <a16:creationId xmlns:a16="http://schemas.microsoft.com/office/drawing/2014/main" id="{977AEC63-5DBE-F664-0815-8A736EAF8B07}"/>
              </a:ext>
            </a:extLst>
          </p:cNvPr>
          <p:cNvPicPr>
            <a:picLocks noChangeAspect="1"/>
          </p:cNvPicPr>
          <p:nvPr/>
        </p:nvPicPr>
        <p:blipFill>
          <a:blip r:embed="rId3"/>
          <a:stretch>
            <a:fillRect/>
          </a:stretch>
        </p:blipFill>
        <p:spPr>
          <a:xfrm>
            <a:off x="46634" y="6459778"/>
            <a:ext cx="1554480" cy="379476"/>
          </a:xfrm>
          <a:prstGeom prst="rect">
            <a:avLst/>
          </a:prstGeom>
        </p:spPr>
      </p:pic>
      <p:pic>
        <p:nvPicPr>
          <p:cNvPr id="20" name="Picture 19" descr="A close-up of a graph&#10;&#10;AI-generated content may be incorrect.">
            <a:extLst>
              <a:ext uri="{FF2B5EF4-FFF2-40B4-BE49-F238E27FC236}">
                <a16:creationId xmlns:a16="http://schemas.microsoft.com/office/drawing/2014/main" id="{4D0624A9-92FC-1351-A422-5226A16BB41E}"/>
              </a:ext>
            </a:extLst>
          </p:cNvPr>
          <p:cNvPicPr>
            <a:picLocks noChangeAspect="1"/>
          </p:cNvPicPr>
          <p:nvPr/>
        </p:nvPicPr>
        <p:blipFill>
          <a:blip r:embed="rId4"/>
          <a:srcRect t="54266" b="2297"/>
          <a:stretch>
            <a:fillRect/>
          </a:stretch>
        </p:blipFill>
        <p:spPr>
          <a:xfrm>
            <a:off x="1907591" y="975051"/>
            <a:ext cx="8108689" cy="2804144"/>
          </a:xfrm>
          <a:prstGeom prst="rect">
            <a:avLst/>
          </a:prstGeom>
        </p:spPr>
      </p:pic>
      <p:sp>
        <p:nvSpPr>
          <p:cNvPr id="21" name="Rectangle 20">
            <a:extLst>
              <a:ext uri="{FF2B5EF4-FFF2-40B4-BE49-F238E27FC236}">
                <a16:creationId xmlns:a16="http://schemas.microsoft.com/office/drawing/2014/main" id="{95126BA3-7D6E-8AD3-ED9D-2A15AF001D48}"/>
              </a:ext>
            </a:extLst>
          </p:cNvPr>
          <p:cNvSpPr/>
          <p:nvPr/>
        </p:nvSpPr>
        <p:spPr>
          <a:xfrm>
            <a:off x="1288509" y="946706"/>
            <a:ext cx="3121825" cy="3034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AB984C1-83B3-60F7-4415-A69BA701C91E}"/>
              </a:ext>
            </a:extLst>
          </p:cNvPr>
          <p:cNvSpPr/>
          <p:nvPr/>
        </p:nvSpPr>
        <p:spPr>
          <a:xfrm>
            <a:off x="3156220" y="4224188"/>
            <a:ext cx="2285269" cy="1902681"/>
          </a:xfrm>
          <a:prstGeom prst="rect">
            <a:avLst/>
          </a:prstGeom>
          <a:solidFill>
            <a:srgbClr val="069EB3">
              <a:alpha val="50000"/>
            </a:srgbClr>
          </a:solidFill>
          <a:ln>
            <a:solidFill>
              <a:srgbClr val="069E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3" name="TextBox 22">
            <a:extLst>
              <a:ext uri="{FF2B5EF4-FFF2-40B4-BE49-F238E27FC236}">
                <a16:creationId xmlns:a16="http://schemas.microsoft.com/office/drawing/2014/main" id="{CD7458A2-07DF-A073-563B-001B23B427C7}"/>
              </a:ext>
            </a:extLst>
          </p:cNvPr>
          <p:cNvSpPr txBox="1"/>
          <p:nvPr/>
        </p:nvSpPr>
        <p:spPr>
          <a:xfrm>
            <a:off x="3244236" y="4074786"/>
            <a:ext cx="2109235" cy="2246769"/>
          </a:xfrm>
          <a:prstGeom prst="rect">
            <a:avLst/>
          </a:prstGeom>
          <a:noFill/>
          <a:ln>
            <a:noFill/>
          </a:ln>
        </p:spPr>
        <p:txBody>
          <a:bodyPr wrap="square" rtlCol="0">
            <a:spAutoFit/>
          </a:bodyPr>
          <a:lstStyle/>
          <a:p>
            <a:pPr algn="ctr"/>
            <a:endParaRPr lang="en-US" sz="1400" b="1" i="1" u="sng" dirty="0"/>
          </a:p>
          <a:p>
            <a:pPr algn="ctr"/>
            <a:r>
              <a:rPr lang="en-US" sz="1400" b="1" i="1" u="sng" dirty="0"/>
              <a:t>Rounds 1 – 4:</a:t>
            </a:r>
          </a:p>
          <a:p>
            <a:pPr marL="285750" indent="-285750" algn="ctr">
              <a:buFont typeface="Arial" panose="020B0604020202020204" pitchFamily="34" charset="0"/>
              <a:buChar char="•"/>
            </a:pPr>
            <a:r>
              <a:rPr lang="en-US" sz="1400" dirty="0"/>
              <a:t>Solvent</a:t>
            </a:r>
          </a:p>
          <a:p>
            <a:pPr marL="285750" indent="-285750" algn="ctr">
              <a:buFont typeface="Arial" panose="020B0604020202020204" pitchFamily="34" charset="0"/>
              <a:buChar char="•"/>
            </a:pPr>
            <a:r>
              <a:rPr lang="en-US" sz="1400" dirty="0"/>
              <a:t>Additive</a:t>
            </a:r>
          </a:p>
          <a:p>
            <a:pPr marL="285750" indent="-285750" algn="ctr">
              <a:buFont typeface="Arial" panose="020B0604020202020204" pitchFamily="34" charset="0"/>
              <a:buChar char="•"/>
            </a:pPr>
            <a:r>
              <a:rPr lang="en-US" sz="1400" dirty="0"/>
              <a:t>Reductant</a:t>
            </a:r>
          </a:p>
          <a:p>
            <a:pPr marL="285750" indent="-285750" algn="ctr">
              <a:buFont typeface="Arial" panose="020B0604020202020204" pitchFamily="34" charset="0"/>
              <a:buChar char="•"/>
            </a:pPr>
            <a:r>
              <a:rPr lang="en-US" sz="1400" dirty="0"/>
              <a:t>Ligand</a:t>
            </a:r>
          </a:p>
          <a:p>
            <a:pPr marL="285750" indent="-285750" algn="ctr">
              <a:buFont typeface="Arial" panose="020B0604020202020204" pitchFamily="34" charset="0"/>
              <a:buChar char="•"/>
            </a:pPr>
            <a:r>
              <a:rPr lang="en-US" sz="1400" dirty="0" err="1"/>
              <a:t>Precatalyst</a:t>
            </a:r>
            <a:endParaRPr lang="en-US" sz="1400" dirty="0"/>
          </a:p>
          <a:p>
            <a:pPr marL="285750" indent="-285750" algn="ctr">
              <a:buFont typeface="Arial" panose="020B0604020202020204" pitchFamily="34" charset="0"/>
              <a:buChar char="•"/>
            </a:pPr>
            <a:r>
              <a:rPr lang="en-US" sz="1400" dirty="0"/>
              <a:t>L/M ratio</a:t>
            </a:r>
          </a:p>
          <a:p>
            <a:pPr marL="285750" indent="-285750" algn="ctr">
              <a:buFont typeface="Arial" panose="020B0604020202020204" pitchFamily="34" charset="0"/>
              <a:buChar char="•"/>
            </a:pPr>
            <a:r>
              <a:rPr lang="en-US" sz="1400" dirty="0"/>
              <a:t>Concentration</a:t>
            </a:r>
          </a:p>
          <a:p>
            <a:pPr algn="ctr"/>
            <a:endParaRPr lang="en-US" sz="1400" dirty="0"/>
          </a:p>
        </p:txBody>
      </p:sp>
      <p:sp>
        <p:nvSpPr>
          <p:cNvPr id="24" name="Rectangle 23">
            <a:extLst>
              <a:ext uri="{FF2B5EF4-FFF2-40B4-BE49-F238E27FC236}">
                <a16:creationId xmlns:a16="http://schemas.microsoft.com/office/drawing/2014/main" id="{51CF97F1-BCE4-1364-6F66-1B6AC2E2ACC3}"/>
              </a:ext>
            </a:extLst>
          </p:cNvPr>
          <p:cNvSpPr/>
          <p:nvPr/>
        </p:nvSpPr>
        <p:spPr>
          <a:xfrm>
            <a:off x="6436359" y="4236741"/>
            <a:ext cx="2285269" cy="1890128"/>
          </a:xfrm>
          <a:prstGeom prst="rect">
            <a:avLst/>
          </a:prstGeom>
          <a:solidFill>
            <a:srgbClr val="00B0F0">
              <a:alpha val="50000"/>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5" name="TextBox 24">
            <a:extLst>
              <a:ext uri="{FF2B5EF4-FFF2-40B4-BE49-F238E27FC236}">
                <a16:creationId xmlns:a16="http://schemas.microsoft.com/office/drawing/2014/main" id="{23E7528A-2CD2-F4F9-9AE1-F7617B2EDFCD}"/>
              </a:ext>
            </a:extLst>
          </p:cNvPr>
          <p:cNvSpPr txBox="1"/>
          <p:nvPr/>
        </p:nvSpPr>
        <p:spPr>
          <a:xfrm>
            <a:off x="6551228" y="4137747"/>
            <a:ext cx="2031533" cy="2031325"/>
          </a:xfrm>
          <a:prstGeom prst="rect">
            <a:avLst/>
          </a:prstGeom>
          <a:noFill/>
          <a:ln>
            <a:noFill/>
          </a:ln>
        </p:spPr>
        <p:txBody>
          <a:bodyPr wrap="square" rtlCol="0">
            <a:spAutoFit/>
          </a:bodyPr>
          <a:lstStyle/>
          <a:p>
            <a:pPr algn="ctr"/>
            <a:endParaRPr lang="en-US" sz="1400" b="1" i="1" u="sng" dirty="0"/>
          </a:p>
          <a:p>
            <a:pPr algn="ctr"/>
            <a:r>
              <a:rPr lang="en-US" sz="1400" b="1" i="1" u="sng" dirty="0"/>
              <a:t>Rounds 5 – 8:</a:t>
            </a:r>
          </a:p>
          <a:p>
            <a:pPr marL="285750" indent="-285750" algn="ctr">
              <a:buFont typeface="Arial" panose="020B0604020202020204" pitchFamily="34" charset="0"/>
              <a:buChar char="•"/>
            </a:pPr>
            <a:r>
              <a:rPr lang="en-US" sz="1400" dirty="0"/>
              <a:t>Co-solvent</a:t>
            </a:r>
          </a:p>
          <a:p>
            <a:pPr marL="285750" indent="-285750" algn="ctr">
              <a:buFont typeface="Arial" panose="020B0604020202020204" pitchFamily="34" charset="0"/>
              <a:buChar char="•"/>
            </a:pPr>
            <a:r>
              <a:rPr lang="en-US" sz="1400" dirty="0"/>
              <a:t>Co-solvent %</a:t>
            </a:r>
          </a:p>
          <a:p>
            <a:pPr marL="285750" indent="-285750" algn="ctr">
              <a:buFont typeface="Arial" panose="020B0604020202020204" pitchFamily="34" charset="0"/>
              <a:buChar char="•"/>
            </a:pPr>
            <a:r>
              <a:rPr lang="en-US" sz="1400" dirty="0"/>
              <a:t>Concentration</a:t>
            </a:r>
          </a:p>
          <a:p>
            <a:pPr marL="285750" indent="-285750" algn="ctr">
              <a:buFont typeface="Arial" panose="020B0604020202020204" pitchFamily="34" charset="0"/>
              <a:buChar char="•"/>
            </a:pPr>
            <a:r>
              <a:rPr lang="en-US" sz="1400" dirty="0"/>
              <a:t>Acid identity</a:t>
            </a:r>
          </a:p>
          <a:p>
            <a:pPr marL="285750" indent="-285750" algn="ctr">
              <a:buFont typeface="Arial" panose="020B0604020202020204" pitchFamily="34" charset="0"/>
              <a:buChar char="•"/>
            </a:pPr>
            <a:r>
              <a:rPr lang="en-US" sz="1400" dirty="0"/>
              <a:t>Acid equivalent</a:t>
            </a:r>
          </a:p>
          <a:p>
            <a:pPr marL="285750" indent="-285750" algn="ctr">
              <a:buFont typeface="Arial" panose="020B0604020202020204" pitchFamily="34" charset="0"/>
              <a:buChar char="•"/>
            </a:pPr>
            <a:r>
              <a:rPr lang="en-US" sz="1400" b="1" dirty="0"/>
              <a:t>S5 </a:t>
            </a:r>
            <a:r>
              <a:rPr lang="en-US" sz="1400" dirty="0"/>
              <a:t>equivalents</a:t>
            </a:r>
          </a:p>
          <a:p>
            <a:pPr algn="ctr"/>
            <a:endParaRPr lang="en-US" sz="1400" b="1" dirty="0"/>
          </a:p>
        </p:txBody>
      </p:sp>
      <p:sp>
        <p:nvSpPr>
          <p:cNvPr id="26" name="TextBox 25">
            <a:extLst>
              <a:ext uri="{FF2B5EF4-FFF2-40B4-BE49-F238E27FC236}">
                <a16:creationId xmlns:a16="http://schemas.microsoft.com/office/drawing/2014/main" id="{1BC3C820-5C99-0779-FA47-E7C6AF0FD75B}"/>
              </a:ext>
            </a:extLst>
          </p:cNvPr>
          <p:cNvSpPr txBox="1"/>
          <p:nvPr/>
        </p:nvSpPr>
        <p:spPr>
          <a:xfrm>
            <a:off x="2906571" y="3905881"/>
            <a:ext cx="6332898" cy="307777"/>
          </a:xfrm>
          <a:prstGeom prst="rect">
            <a:avLst/>
          </a:prstGeom>
          <a:noFill/>
        </p:spPr>
        <p:txBody>
          <a:bodyPr wrap="square" rtlCol="0">
            <a:spAutoFit/>
          </a:bodyPr>
          <a:lstStyle/>
          <a:p>
            <a:pPr algn="ctr"/>
            <a:r>
              <a:rPr lang="en-US" sz="1400" b="1" dirty="0"/>
              <a:t>Condition space update after optimization plateau</a:t>
            </a:r>
          </a:p>
        </p:txBody>
      </p:sp>
      <p:sp>
        <p:nvSpPr>
          <p:cNvPr id="27" name="TextBox 26">
            <a:extLst>
              <a:ext uri="{FF2B5EF4-FFF2-40B4-BE49-F238E27FC236}">
                <a16:creationId xmlns:a16="http://schemas.microsoft.com/office/drawing/2014/main" id="{A970A76B-729B-F840-E209-7DEE5A8FB889}"/>
              </a:ext>
            </a:extLst>
          </p:cNvPr>
          <p:cNvSpPr txBox="1"/>
          <p:nvPr/>
        </p:nvSpPr>
        <p:spPr>
          <a:xfrm>
            <a:off x="1907591" y="9091661"/>
            <a:ext cx="9313201" cy="707886"/>
          </a:xfrm>
          <a:prstGeom prst="rect">
            <a:avLst/>
          </a:prstGeom>
          <a:noFill/>
        </p:spPr>
        <p:txBody>
          <a:bodyPr wrap="square" rtlCol="0">
            <a:spAutoFit/>
          </a:bodyPr>
          <a:lstStyle/>
          <a:p>
            <a:pPr algn="ctr"/>
            <a:r>
              <a:rPr lang="en-US" sz="2000" dirty="0"/>
              <a:t>Data-science guided approaches informed by chemists’ decisions were instrumental for further optimization</a:t>
            </a:r>
          </a:p>
        </p:txBody>
      </p:sp>
      <p:sp>
        <p:nvSpPr>
          <p:cNvPr id="28" name="TextBox 27">
            <a:extLst>
              <a:ext uri="{FF2B5EF4-FFF2-40B4-BE49-F238E27FC236}">
                <a16:creationId xmlns:a16="http://schemas.microsoft.com/office/drawing/2014/main" id="{87D231B4-2384-33BC-AEE8-A3D7F1B29957}"/>
              </a:ext>
            </a:extLst>
          </p:cNvPr>
          <p:cNvSpPr txBox="1"/>
          <p:nvPr/>
        </p:nvSpPr>
        <p:spPr>
          <a:xfrm>
            <a:off x="46634" y="6231929"/>
            <a:ext cx="11155680" cy="169277"/>
          </a:xfrm>
          <a:prstGeom prst="rect">
            <a:avLst/>
          </a:prstGeom>
          <a:noFill/>
        </p:spPr>
        <p:txBody>
          <a:bodyPr wrap="square" lIns="0" tIns="0" rIns="0" bIns="0" anchor="t">
            <a:spAutoFit/>
          </a:bodyPr>
          <a:lstStyle/>
          <a:p>
            <a:pPr>
              <a:spcAft>
                <a:spcPts val="200"/>
              </a:spcAft>
            </a:pPr>
            <a:r>
              <a:rPr lang="en-US" sz="1100" dirty="0">
                <a:solidFill>
                  <a:srgbClr val="595959"/>
                </a:solidFill>
              </a:rPr>
              <a:t>Gutiérrez-Valencia, N. E.; Schleinitz, J.; Wild, T. H.; Williams, W. L.; Mantin, D.; Doyle, A. G.; Reisman, S. E.; Sigman, M. S. </a:t>
            </a:r>
            <a:r>
              <a:rPr lang="en-US" sz="1100" i="1" dirty="0">
                <a:solidFill>
                  <a:srgbClr val="595959"/>
                </a:solidFill>
              </a:rPr>
              <a:t>ACS </a:t>
            </a:r>
            <a:r>
              <a:rPr lang="en-US" sz="1100" i="1" dirty="0" err="1">
                <a:solidFill>
                  <a:srgbClr val="595959"/>
                </a:solidFill>
              </a:rPr>
              <a:t>Catal</a:t>
            </a:r>
            <a:r>
              <a:rPr lang="en-US" sz="1100" i="1" dirty="0">
                <a:solidFill>
                  <a:srgbClr val="595959"/>
                </a:solidFill>
              </a:rPr>
              <a:t>. </a:t>
            </a:r>
            <a:r>
              <a:rPr lang="en-US" sz="1100" b="1" dirty="0">
                <a:solidFill>
                  <a:srgbClr val="595959"/>
                </a:solidFill>
              </a:rPr>
              <a:t>2026</a:t>
            </a:r>
            <a:r>
              <a:rPr lang="en-US" sz="1100" dirty="0">
                <a:solidFill>
                  <a:srgbClr val="595959"/>
                </a:solidFill>
              </a:rPr>
              <a:t>. https://</a:t>
            </a:r>
            <a:r>
              <a:rPr lang="en-US" sz="1100" dirty="0" err="1">
                <a:solidFill>
                  <a:srgbClr val="595959"/>
                </a:solidFill>
              </a:rPr>
              <a:t>doi.org</a:t>
            </a:r>
            <a:r>
              <a:rPr lang="en-US" sz="1100" dirty="0">
                <a:solidFill>
                  <a:srgbClr val="595959"/>
                </a:solidFill>
              </a:rPr>
              <a:t>/10.1021/acscatal.6c02585.</a:t>
            </a:r>
          </a:p>
        </p:txBody>
      </p:sp>
    </p:spTree>
    <p:extLst>
      <p:ext uri="{BB962C8B-B14F-4D97-AF65-F5344CB8AC3E}">
        <p14:creationId xmlns:p14="http://schemas.microsoft.com/office/powerpoint/2010/main" val="365574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animBg="1"/>
      <p:bldP spid="25" grpId="0"/>
      <p:bldP spid="2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lang="en-US" sz="2600" dirty="0">
                <a:solidFill>
                  <a:srgbClr val="000000"/>
                </a:solidFill>
                <a:latin typeface="Avenir Book"/>
              </a:rPr>
              <a:t>Batching</a:t>
            </a:r>
            <a:endParaRPr sz="2600" dirty="0">
              <a:solidFill>
                <a:srgbClr val="000000"/>
              </a:solidFill>
              <a:latin typeface="Avenir Book"/>
            </a:endParaRP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Rounded Rectangle 4"/>
          <p:cNvSpPr/>
          <p:nvPr/>
        </p:nvSpPr>
        <p:spPr>
          <a:xfrm>
            <a:off x="1143000" y="1223804"/>
            <a:ext cx="9902952" cy="86868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800" i="0" dirty="0">
                <a:solidFill>
                  <a:schemeClr val="tx1"/>
                </a:solidFill>
                <a:latin typeface="Aptos" panose="020B0004020202020204" pitchFamily="34" charset="0"/>
              </a:rPr>
              <a:t>Take the top q points of α(x) and they cluster — eight wells answering the same question.</a:t>
            </a:r>
          </a:p>
        </p:txBody>
      </p:sp>
      <p:pic>
        <p:nvPicPr>
          <p:cNvPr id="6" name="Picture 5" descr="fig_17_batch_selection.png"/>
          <p:cNvPicPr>
            <a:picLocks noChangeAspect="1"/>
          </p:cNvPicPr>
          <p:nvPr/>
        </p:nvPicPr>
        <p:blipFill>
          <a:blip r:embed="rId4"/>
          <a:srcRect t="-1" b="54964"/>
          <a:stretch>
            <a:fillRect/>
          </a:stretch>
        </p:blipFill>
        <p:spPr>
          <a:xfrm>
            <a:off x="452326" y="2312731"/>
            <a:ext cx="6813958" cy="2287336"/>
          </a:xfrm>
          <a:prstGeom prst="rect">
            <a:avLst/>
          </a:prstGeom>
        </p:spPr>
      </p:pic>
      <p:sp>
        <p:nvSpPr>
          <p:cNvPr id="7" name="TextBox 6"/>
          <p:cNvSpPr txBox="1"/>
          <p:nvPr/>
        </p:nvSpPr>
        <p:spPr>
          <a:xfrm>
            <a:off x="-1449977" y="6226604"/>
            <a:ext cx="4892040" cy="274320"/>
          </a:xfrm>
          <a:prstGeom prst="rect">
            <a:avLst/>
          </a:prstGeom>
          <a:noFill/>
        </p:spPr>
        <p:txBody>
          <a:bodyPr wrap="square" lIns="0" tIns="0" rIns="0" bIns="0" anchor="t">
            <a:spAutoFit/>
          </a:bodyPr>
          <a:lstStyle/>
          <a:p>
            <a:pPr algn="ctr"/>
            <a:r>
              <a:rPr sz="900" b="0" i="1">
                <a:solidFill>
                  <a:srgbClr val="777777"/>
                </a:solidFill>
                <a:latin typeface="Calibri"/>
              </a:rPr>
              <a:t>fig_17_batch_selection.ipynb  ·  q = 6</a:t>
            </a:r>
          </a:p>
        </p:txBody>
      </p:sp>
      <p:sp>
        <p:nvSpPr>
          <p:cNvPr id="8" name="TextBox 7"/>
          <p:cNvSpPr txBox="1"/>
          <p:nvPr/>
        </p:nvSpPr>
        <p:spPr>
          <a:xfrm>
            <a:off x="6390434" y="2105923"/>
            <a:ext cx="5349240" cy="656590"/>
          </a:xfrm>
          <a:prstGeom prst="rect">
            <a:avLst/>
          </a:prstGeom>
          <a:noFill/>
        </p:spPr>
        <p:txBody>
          <a:bodyPr wrap="square" lIns="0" tIns="0" rIns="0" bIns="0" anchor="t">
            <a:spAutoFit/>
          </a:bodyPr>
          <a:lstStyle/>
          <a:p>
            <a:pPr algn="l">
              <a:spcAft>
                <a:spcPts val="200"/>
              </a:spcAft>
            </a:pPr>
            <a:r>
              <a:rPr sz="1500" b="1" i="0" dirty="0">
                <a:solidFill>
                  <a:srgbClr val="1B8A98"/>
                </a:solidFill>
                <a:latin typeface="Aptos" panose="020B0004020202020204" pitchFamily="34" charset="0"/>
              </a:rPr>
              <a:t>q-EI</a:t>
            </a:r>
          </a:p>
          <a:p>
            <a:r>
              <a:rPr sz="1300" b="0" i="0" dirty="0">
                <a:solidFill>
                  <a:srgbClr val="123830"/>
                </a:solidFill>
                <a:latin typeface="Aptos" panose="020B0004020202020204" pitchFamily="34" charset="0"/>
              </a:rPr>
              <a:t>joint expected improvement of a SET of q points. Principled, pricier, standard in </a:t>
            </a:r>
            <a:r>
              <a:rPr sz="1300" b="0" i="0" dirty="0" err="1">
                <a:solidFill>
                  <a:srgbClr val="123830"/>
                </a:solidFill>
                <a:latin typeface="Aptos" panose="020B0004020202020204" pitchFamily="34" charset="0"/>
              </a:rPr>
              <a:t>BoTorch</a:t>
            </a:r>
            <a:r>
              <a:rPr sz="1300" b="0" i="0" dirty="0">
                <a:solidFill>
                  <a:srgbClr val="123830"/>
                </a:solidFill>
                <a:latin typeface="Aptos" panose="020B0004020202020204" pitchFamily="34" charset="0"/>
              </a:rPr>
              <a:t>.</a:t>
            </a:r>
          </a:p>
        </p:txBody>
      </p:sp>
      <p:sp>
        <p:nvSpPr>
          <p:cNvPr id="9" name="TextBox 8"/>
          <p:cNvSpPr txBox="1"/>
          <p:nvPr/>
        </p:nvSpPr>
        <p:spPr>
          <a:xfrm>
            <a:off x="6390434" y="2947171"/>
            <a:ext cx="5349240" cy="656590"/>
          </a:xfrm>
          <a:prstGeom prst="rect">
            <a:avLst/>
          </a:prstGeom>
          <a:noFill/>
        </p:spPr>
        <p:txBody>
          <a:bodyPr wrap="square" lIns="0" tIns="0" rIns="0" bIns="0" anchor="t">
            <a:spAutoFit/>
          </a:bodyPr>
          <a:lstStyle/>
          <a:p>
            <a:pPr algn="l">
              <a:spcAft>
                <a:spcPts val="200"/>
              </a:spcAft>
            </a:pPr>
            <a:r>
              <a:rPr sz="1500" b="1" i="0" dirty="0">
                <a:solidFill>
                  <a:srgbClr val="1B8A98"/>
                </a:solidFill>
                <a:latin typeface="Aptos" panose="020B0004020202020204" pitchFamily="34" charset="0"/>
              </a:rPr>
              <a:t>Thompson sampling</a:t>
            </a:r>
          </a:p>
          <a:p>
            <a:r>
              <a:rPr sz="1300" b="0" i="0" dirty="0">
                <a:solidFill>
                  <a:srgbClr val="123830"/>
                </a:solidFill>
                <a:latin typeface="Aptos" panose="020B0004020202020204" pitchFamily="34" charset="0"/>
              </a:rPr>
              <a:t>draw q posterior functions, </a:t>
            </a:r>
            <a:r>
              <a:rPr sz="1300" b="0" i="0" dirty="0" err="1">
                <a:solidFill>
                  <a:srgbClr val="123830"/>
                </a:solidFill>
                <a:latin typeface="Aptos" panose="020B0004020202020204" pitchFamily="34" charset="0"/>
              </a:rPr>
              <a:t>maximise</a:t>
            </a:r>
            <a:r>
              <a:rPr sz="1300" b="0" i="0" dirty="0">
                <a:solidFill>
                  <a:srgbClr val="123830"/>
                </a:solidFill>
                <a:latin typeface="Aptos" panose="020B0004020202020204" pitchFamily="34" charset="0"/>
              </a:rPr>
              <a:t> each. Diversity is automatic — you planted this earlier.</a:t>
            </a:r>
          </a:p>
        </p:txBody>
      </p:sp>
      <p:sp>
        <p:nvSpPr>
          <p:cNvPr id="10" name="TextBox 9"/>
          <p:cNvSpPr txBox="1"/>
          <p:nvPr/>
        </p:nvSpPr>
        <p:spPr>
          <a:xfrm>
            <a:off x="6390434" y="3788419"/>
            <a:ext cx="5349240" cy="656590"/>
          </a:xfrm>
          <a:prstGeom prst="rect">
            <a:avLst/>
          </a:prstGeom>
          <a:noFill/>
        </p:spPr>
        <p:txBody>
          <a:bodyPr wrap="square" lIns="0" tIns="0" rIns="0" bIns="0" anchor="t">
            <a:spAutoFit/>
          </a:bodyPr>
          <a:lstStyle/>
          <a:p>
            <a:pPr algn="l">
              <a:spcAft>
                <a:spcPts val="200"/>
              </a:spcAft>
            </a:pPr>
            <a:r>
              <a:rPr sz="1500" b="1" i="0" dirty="0">
                <a:solidFill>
                  <a:srgbClr val="1B8A98"/>
                </a:solidFill>
                <a:latin typeface="Aptos" panose="020B0004020202020204" pitchFamily="34" charset="0"/>
              </a:rPr>
              <a:t>Greedy + fake data</a:t>
            </a:r>
          </a:p>
          <a:p>
            <a:r>
              <a:rPr sz="1300" b="0" i="0" dirty="0">
                <a:solidFill>
                  <a:srgbClr val="123830"/>
                </a:solidFill>
                <a:latin typeface="Aptos" panose="020B0004020202020204" pitchFamily="34" charset="0"/>
              </a:rPr>
              <a:t>constant liar inserts a FIXED constant; Kriging believer inserts the MODEL'S prediction. Not the same thing.</a:t>
            </a:r>
          </a:p>
        </p:txBody>
      </p:sp>
      <p:sp>
        <p:nvSpPr>
          <p:cNvPr id="11" name="TextBox 10"/>
          <p:cNvSpPr txBox="1"/>
          <p:nvPr/>
        </p:nvSpPr>
        <p:spPr>
          <a:xfrm>
            <a:off x="6390434" y="4629667"/>
            <a:ext cx="5349240" cy="656590"/>
          </a:xfrm>
          <a:prstGeom prst="rect">
            <a:avLst/>
          </a:prstGeom>
          <a:noFill/>
        </p:spPr>
        <p:txBody>
          <a:bodyPr wrap="square" lIns="0" tIns="0" rIns="0" bIns="0" anchor="t">
            <a:spAutoFit/>
          </a:bodyPr>
          <a:lstStyle/>
          <a:p>
            <a:pPr algn="l">
              <a:spcAft>
                <a:spcPts val="200"/>
              </a:spcAft>
            </a:pPr>
            <a:r>
              <a:rPr sz="1500" b="1" i="0" dirty="0">
                <a:solidFill>
                  <a:srgbClr val="1B8A98"/>
                </a:solidFill>
                <a:latin typeface="Aptos" panose="020B0004020202020204" pitchFamily="34" charset="0"/>
              </a:rPr>
              <a:t>Local penalization</a:t>
            </a:r>
          </a:p>
          <a:p>
            <a:r>
              <a:rPr sz="1300" b="0" i="0" dirty="0">
                <a:solidFill>
                  <a:srgbClr val="123830"/>
                </a:solidFill>
                <a:latin typeface="Aptos" panose="020B0004020202020204" pitchFamily="34" charset="0"/>
              </a:rPr>
              <a:t>no fabricated data at all — multiply α by a penalty around each point already chosen.</a:t>
            </a:r>
          </a:p>
        </p:txBody>
      </p:sp>
      <p:sp>
        <p:nvSpPr>
          <p:cNvPr id="12" name="Rounded Rectangle 11"/>
          <p:cNvSpPr/>
          <p:nvPr/>
        </p:nvSpPr>
        <p:spPr>
          <a:xfrm>
            <a:off x="1143000" y="5324545"/>
            <a:ext cx="9902952" cy="7772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500" b="0" i="1" dirty="0">
                <a:solidFill>
                  <a:srgbClr val="123830"/>
                </a:solidFill>
                <a:latin typeface="Aptos" panose="020B0004020202020204" pitchFamily="34" charset="0"/>
              </a:rPr>
              <a:t>With parallelism you stop minimi</a:t>
            </a:r>
            <a:r>
              <a:rPr lang="en-US" sz="1500" b="0" i="1" dirty="0">
                <a:solidFill>
                  <a:srgbClr val="123830"/>
                </a:solidFill>
                <a:latin typeface="Aptos" panose="020B0004020202020204" pitchFamily="34" charset="0"/>
              </a:rPr>
              <a:t>z</a:t>
            </a:r>
            <a:r>
              <a:rPr sz="1500" b="0" i="1" dirty="0">
                <a:solidFill>
                  <a:srgbClr val="123830"/>
                </a:solidFill>
                <a:latin typeface="Aptos" panose="020B0004020202020204" pitchFamily="34" charset="0"/>
              </a:rPr>
              <a:t>ing the NUMBER of experiments and start minimi</a:t>
            </a:r>
            <a:r>
              <a:rPr lang="en-US" sz="1500" b="0" i="1" dirty="0">
                <a:solidFill>
                  <a:srgbClr val="123830"/>
                </a:solidFill>
                <a:latin typeface="Aptos" panose="020B0004020202020204" pitchFamily="34" charset="0"/>
              </a:rPr>
              <a:t>z</a:t>
            </a:r>
            <a:r>
              <a:rPr sz="1500" b="0" i="1" dirty="0">
                <a:solidFill>
                  <a:srgbClr val="123830"/>
                </a:solidFill>
                <a:latin typeface="Aptos" panose="020B0004020202020204" pitchFamily="34" charset="0"/>
              </a:rPr>
              <a:t>ing wall-clock time or cost — and those give different designs.</a:t>
            </a:r>
          </a:p>
        </p:txBody>
      </p:sp>
      <p:pic>
        <p:nvPicPr>
          <p:cNvPr id="14" name="Picture 13" descr="fig_17_batch_selection.png">
            <a:extLst>
              <a:ext uri="{FF2B5EF4-FFF2-40B4-BE49-F238E27FC236}">
                <a16:creationId xmlns:a16="http://schemas.microsoft.com/office/drawing/2014/main" id="{FA51AFA1-9862-4A8F-D536-F8844A524A7A}"/>
              </a:ext>
            </a:extLst>
          </p:cNvPr>
          <p:cNvPicPr>
            <a:picLocks noChangeAspect="1"/>
          </p:cNvPicPr>
          <p:nvPr/>
        </p:nvPicPr>
        <p:blipFill>
          <a:blip r:embed="rId4"/>
          <a:srcRect l="3115" t="93988" r="-3115" b="-39025"/>
          <a:stretch>
            <a:fillRect/>
          </a:stretch>
        </p:blipFill>
        <p:spPr>
          <a:xfrm>
            <a:off x="823874" y="4720116"/>
            <a:ext cx="5695956" cy="19120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q-EI, formally</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png"/>
          <p:cNvPicPr>
            <a:picLocks noChangeAspect="1"/>
          </p:cNvPicPr>
          <p:nvPr/>
        </p:nvPicPr>
        <p:blipFill>
          <a:blip r:embed="rId3"/>
          <a:stretch>
            <a:fillRect/>
          </a:stretch>
        </p:blipFill>
        <p:spPr>
          <a:xfrm>
            <a:off x="45720" y="6455664"/>
            <a:ext cx="1554480" cy="374904"/>
          </a:xfrm>
          <a:prstGeom prst="rect">
            <a:avLst/>
          </a:prstGeom>
        </p:spPr>
      </p:pic>
      <p:sp>
        <p:nvSpPr>
          <p:cNvPr id="7" name="Rounded Rectangle 6"/>
          <p:cNvSpPr/>
          <p:nvPr/>
        </p:nvSpPr>
        <p:spPr>
          <a:xfrm>
            <a:off x="640080" y="1188720"/>
            <a:ext cx="10972800" cy="566928"/>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b="1" dirty="0">
                <a:solidFill>
                  <a:schemeClr val="tx1"/>
                </a:solidFill>
                <a:latin typeface="Aptos" panose="020B0004020202020204" pitchFamily="34" charset="0"/>
              </a:rPr>
              <a:t>A batch is one decision about q points</a:t>
            </a:r>
          </a:p>
        </p:txBody>
      </p:sp>
      <p:sp>
        <p:nvSpPr>
          <p:cNvPr id="8" name="TextBox 7"/>
          <p:cNvSpPr txBox="1"/>
          <p:nvPr/>
        </p:nvSpPr>
        <p:spPr>
          <a:xfrm>
            <a:off x="1143000" y="2423162"/>
            <a:ext cx="9902952" cy="400110"/>
          </a:xfrm>
          <a:prstGeom prst="rect">
            <a:avLst/>
          </a:prstGeom>
          <a:noFill/>
        </p:spPr>
        <p:txBody>
          <a:bodyPr wrap="square">
            <a:spAutoFit/>
          </a:bodyPr>
          <a:lstStyle/>
          <a:p>
            <a:pPr algn="ctr">
              <a:spcAft>
                <a:spcPts val="0"/>
              </a:spcAft>
            </a:pPr>
            <a:r>
              <a:rPr sz="2000" b="1" i="1" dirty="0">
                <a:latin typeface="Aptos" panose="020B0004020202020204" pitchFamily="34" charset="0"/>
              </a:rPr>
              <a:t>α_</a:t>
            </a:r>
            <a:r>
              <a:rPr sz="2000" b="1" i="1" dirty="0" err="1">
                <a:latin typeface="Aptos" panose="020B0004020202020204" pitchFamily="34" charset="0"/>
              </a:rPr>
              <a:t>qEI</a:t>
            </a:r>
            <a:r>
              <a:rPr sz="2000" b="1" i="1" dirty="0">
                <a:latin typeface="Aptos" panose="020B0004020202020204" pitchFamily="34" charset="0"/>
              </a:rPr>
              <a:t>(X)  =  E[ maxᵢ max(0, f(xᵢ) − f⁺) ]        X = {x_1, …, </a:t>
            </a:r>
            <a:r>
              <a:rPr sz="2000" b="1" i="1" dirty="0" err="1">
                <a:latin typeface="Aptos" panose="020B0004020202020204" pitchFamily="34" charset="0"/>
              </a:rPr>
              <a:t>x_q</a:t>
            </a:r>
            <a:r>
              <a:rPr sz="2000" b="1" i="1" dirty="0">
                <a:latin typeface="Aptos" panose="020B0004020202020204" pitchFamily="34" charset="0"/>
              </a:rPr>
              <a:t>}</a:t>
            </a:r>
          </a:p>
        </p:txBody>
      </p:sp>
      <p:sp>
        <p:nvSpPr>
          <p:cNvPr id="12" name="TextBox 11"/>
          <p:cNvSpPr txBox="1"/>
          <p:nvPr/>
        </p:nvSpPr>
        <p:spPr>
          <a:xfrm>
            <a:off x="640080" y="3639312"/>
            <a:ext cx="3108960" cy="307777"/>
          </a:xfrm>
          <a:prstGeom prst="rect">
            <a:avLst/>
          </a:prstGeom>
          <a:noFill/>
        </p:spPr>
        <p:txBody>
          <a:bodyPr wrap="square">
            <a:spAutoFit/>
          </a:bodyPr>
          <a:lstStyle/>
          <a:p>
            <a:pPr algn="l">
              <a:spcAft>
                <a:spcPts val="0"/>
              </a:spcAft>
            </a:pPr>
            <a:r>
              <a:rPr sz="1300" b="1" dirty="0">
                <a:latin typeface="Aptos" panose="020B0004020202020204" pitchFamily="34" charset="0"/>
              </a:rPr>
              <a:t>Why not just take the top q of EI?</a:t>
            </a:r>
          </a:p>
        </p:txBody>
      </p:sp>
      <p:sp>
        <p:nvSpPr>
          <p:cNvPr id="13" name="TextBox 12"/>
          <p:cNvSpPr txBox="1"/>
          <p:nvPr/>
        </p:nvSpPr>
        <p:spPr>
          <a:xfrm>
            <a:off x="640080" y="4133087"/>
            <a:ext cx="3108960" cy="1325880"/>
          </a:xfrm>
          <a:prstGeom prst="rect">
            <a:avLst/>
          </a:prstGeom>
          <a:noFill/>
        </p:spPr>
        <p:txBody>
          <a:bodyPr wrap="square">
            <a:spAutoFit/>
          </a:bodyPr>
          <a:lstStyle/>
          <a:p>
            <a:pPr algn="l">
              <a:spcAft>
                <a:spcPts val="0"/>
              </a:spcAft>
            </a:pPr>
            <a:r>
              <a:rPr sz="1050" b="0" dirty="0">
                <a:latin typeface="Aptos" panose="020B0004020202020204" pitchFamily="34" charset="0"/>
              </a:rPr>
              <a:t>Sum of individual EIs is maximi</a:t>
            </a:r>
            <a:r>
              <a:rPr lang="en-US" sz="1050" b="0" dirty="0">
                <a:latin typeface="Aptos" panose="020B0004020202020204" pitchFamily="34" charset="0"/>
              </a:rPr>
              <a:t>z</a:t>
            </a:r>
            <a:r>
              <a:rPr sz="1050" b="0" dirty="0">
                <a:latin typeface="Aptos" panose="020B0004020202020204" pitchFamily="34" charset="0"/>
              </a:rPr>
              <a:t>ed by q copies of the same point. The inner max pays the batch ONCE however many of its members improve, so redundancy earns nothing and diversity is automatic.</a:t>
            </a:r>
          </a:p>
        </p:txBody>
      </p:sp>
      <p:sp>
        <p:nvSpPr>
          <p:cNvPr id="14" name="TextBox 13"/>
          <p:cNvSpPr txBox="1"/>
          <p:nvPr/>
        </p:nvSpPr>
        <p:spPr>
          <a:xfrm>
            <a:off x="4617720" y="3639312"/>
            <a:ext cx="3108960" cy="307777"/>
          </a:xfrm>
          <a:prstGeom prst="rect">
            <a:avLst/>
          </a:prstGeom>
          <a:noFill/>
        </p:spPr>
        <p:txBody>
          <a:bodyPr wrap="square">
            <a:spAutoFit/>
          </a:bodyPr>
          <a:lstStyle/>
          <a:p>
            <a:pPr algn="l">
              <a:spcAft>
                <a:spcPts val="0"/>
              </a:spcAft>
            </a:pPr>
            <a:r>
              <a:rPr sz="1300" b="1">
                <a:latin typeface="Aptos" panose="020B0004020202020204" pitchFamily="34" charset="0"/>
              </a:rPr>
              <a:t>What it costs</a:t>
            </a:r>
          </a:p>
        </p:txBody>
      </p:sp>
      <p:sp>
        <p:nvSpPr>
          <p:cNvPr id="15" name="TextBox 14"/>
          <p:cNvSpPr txBox="1"/>
          <p:nvPr/>
        </p:nvSpPr>
        <p:spPr>
          <a:xfrm>
            <a:off x="4617720" y="4133087"/>
            <a:ext cx="3108960" cy="1325880"/>
          </a:xfrm>
          <a:prstGeom prst="rect">
            <a:avLst/>
          </a:prstGeom>
          <a:noFill/>
        </p:spPr>
        <p:txBody>
          <a:bodyPr wrap="square">
            <a:spAutoFit/>
          </a:bodyPr>
          <a:lstStyle/>
          <a:p>
            <a:pPr algn="l">
              <a:spcAft>
                <a:spcPts val="0"/>
              </a:spcAft>
            </a:pPr>
            <a:r>
              <a:rPr sz="1050" b="0" dirty="0">
                <a:latin typeface="Aptos" panose="020B0004020202020204" pitchFamily="34" charset="0"/>
              </a:rPr>
              <a:t>You now optimi</a:t>
            </a:r>
            <a:r>
              <a:rPr lang="en-US" sz="1050" b="0" dirty="0">
                <a:latin typeface="Aptos" panose="020B0004020202020204" pitchFamily="34" charset="0"/>
              </a:rPr>
              <a:t>z</a:t>
            </a:r>
            <a:r>
              <a:rPr sz="1050" b="0" dirty="0">
                <a:latin typeface="Aptos" panose="020B0004020202020204" pitchFamily="34" charset="0"/>
              </a:rPr>
              <a:t>e jointly over </a:t>
            </a:r>
            <a:r>
              <a:rPr sz="1050" b="0" dirty="0" err="1">
                <a:latin typeface="Aptos" panose="020B0004020202020204" pitchFamily="34" charset="0"/>
              </a:rPr>
              <a:t>q·d</a:t>
            </a:r>
            <a:r>
              <a:rPr sz="1050" b="0" dirty="0">
                <a:latin typeface="Aptos" panose="020B0004020202020204" pitchFamily="34" charset="0"/>
              </a:rPr>
              <a:t> dimensions, and each evaluation is an N-sample average. </a:t>
            </a:r>
            <a:endParaRPr lang="en-US" sz="1400" b="0" dirty="0">
              <a:latin typeface="Aptos" panose="020B0004020202020204" pitchFamily="34" charset="0"/>
            </a:endParaRPr>
          </a:p>
          <a:p>
            <a:pPr algn="l">
              <a:spcAft>
                <a:spcPts val="0"/>
              </a:spcAft>
            </a:pPr>
            <a:r>
              <a:rPr sz="1050" b="0" dirty="0">
                <a:latin typeface="Aptos" panose="020B0004020202020204" pitchFamily="34" charset="0"/>
              </a:rPr>
              <a:t>This is why sequential-greedy approximations exist — and why </a:t>
            </a:r>
            <a:r>
              <a:rPr sz="1050" b="0" dirty="0" err="1">
                <a:latin typeface="Aptos" panose="020B0004020202020204" pitchFamily="34" charset="0"/>
              </a:rPr>
              <a:t>BoTorch</a:t>
            </a:r>
            <a:r>
              <a:rPr sz="1050" b="0" dirty="0">
                <a:latin typeface="Aptos" panose="020B0004020202020204" pitchFamily="34" charset="0"/>
              </a:rPr>
              <a:t> ships both.</a:t>
            </a:r>
          </a:p>
        </p:txBody>
      </p:sp>
      <p:sp>
        <p:nvSpPr>
          <p:cNvPr id="16" name="TextBox 15"/>
          <p:cNvSpPr txBox="1"/>
          <p:nvPr/>
        </p:nvSpPr>
        <p:spPr>
          <a:xfrm>
            <a:off x="8595360" y="3639312"/>
            <a:ext cx="3108960" cy="307777"/>
          </a:xfrm>
          <a:prstGeom prst="rect">
            <a:avLst/>
          </a:prstGeom>
          <a:noFill/>
        </p:spPr>
        <p:txBody>
          <a:bodyPr wrap="square">
            <a:spAutoFit/>
          </a:bodyPr>
          <a:lstStyle/>
          <a:p>
            <a:pPr algn="l">
              <a:spcAft>
                <a:spcPts val="0"/>
              </a:spcAft>
            </a:pPr>
            <a:r>
              <a:rPr sz="1300" b="1" dirty="0">
                <a:latin typeface="Aptos" panose="020B0004020202020204" pitchFamily="34" charset="0"/>
              </a:rPr>
              <a:t>Under noise: q-NEI</a:t>
            </a:r>
          </a:p>
        </p:txBody>
      </p:sp>
      <p:sp>
        <p:nvSpPr>
          <p:cNvPr id="17" name="TextBox 16"/>
          <p:cNvSpPr txBox="1"/>
          <p:nvPr/>
        </p:nvSpPr>
        <p:spPr>
          <a:xfrm>
            <a:off x="8595360" y="4133087"/>
            <a:ext cx="3108960" cy="1325880"/>
          </a:xfrm>
          <a:prstGeom prst="rect">
            <a:avLst/>
          </a:prstGeom>
          <a:noFill/>
        </p:spPr>
        <p:txBody>
          <a:bodyPr wrap="square">
            <a:spAutoFit/>
          </a:bodyPr>
          <a:lstStyle/>
          <a:p>
            <a:pPr algn="l">
              <a:spcAft>
                <a:spcPts val="0"/>
              </a:spcAft>
            </a:pPr>
            <a:r>
              <a:rPr sz="1050" b="0" dirty="0">
                <a:latin typeface="Aptos" panose="020B0004020202020204" pitchFamily="34" charset="0"/>
              </a:rPr>
              <a:t>f⁺ is replaced by the max of posterior samples at the points already run. Same fix as slide 30, now inside a batch. </a:t>
            </a:r>
            <a:r>
              <a:rPr sz="1050" b="0" dirty="0" err="1">
                <a:latin typeface="Aptos" panose="020B0004020202020204" pitchFamily="34" charset="0"/>
              </a:rPr>
              <a:t>qNEI</a:t>
            </a:r>
            <a:r>
              <a:rPr sz="1050" b="0" dirty="0">
                <a:latin typeface="Aptos" panose="020B0004020202020204" pitchFamily="34" charset="0"/>
              </a:rPr>
              <a:t> → </a:t>
            </a:r>
            <a:r>
              <a:rPr sz="1050" b="0" dirty="0" err="1">
                <a:latin typeface="Aptos" panose="020B0004020202020204" pitchFamily="34" charset="0"/>
              </a:rPr>
              <a:t>qNEHVI</a:t>
            </a:r>
            <a:r>
              <a:rPr sz="1050" b="0" dirty="0">
                <a:latin typeface="Aptos" panose="020B0004020202020204" pitchFamily="34" charset="0"/>
              </a:rPr>
              <a:t> is the multi-objective version on slide 32.</a:t>
            </a:r>
          </a:p>
        </p:txBody>
      </p:sp>
      <p:sp>
        <p:nvSpPr>
          <p:cNvPr id="18" name="TextBox 17"/>
          <p:cNvSpPr txBox="1"/>
          <p:nvPr/>
        </p:nvSpPr>
        <p:spPr>
          <a:xfrm>
            <a:off x="-49531" y="5777969"/>
            <a:ext cx="12527281" cy="651460"/>
          </a:xfrm>
          <a:prstGeom prst="rect">
            <a:avLst/>
          </a:prstGeom>
          <a:noFill/>
        </p:spPr>
        <p:txBody>
          <a:bodyPr wrap="square">
            <a:spAutoFit/>
          </a:bodyPr>
          <a:lstStyle/>
          <a:p>
            <a:pPr algn="l">
              <a:spcAft>
                <a:spcPts val="200"/>
              </a:spcAft>
            </a:pPr>
            <a:r>
              <a:rPr sz="1100" b="0" i="0" dirty="0" err="1">
                <a:solidFill>
                  <a:srgbClr val="595959"/>
                </a:solidFill>
                <a:latin typeface="Aptos"/>
              </a:rPr>
              <a:t>Ginsbourger</a:t>
            </a:r>
            <a:r>
              <a:rPr sz="1100" b="0" i="0" dirty="0">
                <a:solidFill>
                  <a:srgbClr val="595959"/>
                </a:solidFill>
                <a:latin typeface="Aptos"/>
              </a:rPr>
              <a:t>, D.; Le Riche, R.; Carraro, L. In </a:t>
            </a:r>
            <a:r>
              <a:rPr sz="1100" b="0" i="1" dirty="0">
                <a:solidFill>
                  <a:srgbClr val="595959"/>
                </a:solidFill>
                <a:latin typeface="Aptos"/>
              </a:rPr>
              <a:t>Computational Intelligence in Expensive Optimization Problems</a:t>
            </a:r>
            <a:r>
              <a:rPr sz="1100" b="0" i="0" dirty="0">
                <a:solidFill>
                  <a:srgbClr val="595959"/>
                </a:solidFill>
                <a:latin typeface="Aptos"/>
              </a:rPr>
              <a:t>; Tenne, Y., Goh, C.-K., Eds.; Springer: Berlin, 2010; pp 131–162.</a:t>
            </a:r>
          </a:p>
          <a:p>
            <a:pPr>
              <a:spcAft>
                <a:spcPts val="200"/>
              </a:spcAft>
            </a:pPr>
            <a:r>
              <a:rPr sz="1100" b="0" i="0" dirty="0">
                <a:solidFill>
                  <a:srgbClr val="595959"/>
                </a:solidFill>
                <a:latin typeface="Aptos"/>
              </a:rPr>
              <a:t>Wang, J.; Clark, S. C.; Liu, E.; Frazier, P. I. </a:t>
            </a:r>
            <a:r>
              <a:rPr sz="1100" b="0" i="1" dirty="0">
                <a:solidFill>
                  <a:srgbClr val="595959"/>
                </a:solidFill>
                <a:latin typeface="Aptos"/>
              </a:rPr>
              <a:t>Oper. Res.</a:t>
            </a:r>
            <a:r>
              <a:rPr sz="1100" b="0" i="0" dirty="0">
                <a:solidFill>
                  <a:srgbClr val="595959"/>
                </a:solidFill>
                <a:latin typeface="Aptos"/>
              </a:rPr>
              <a:t> </a:t>
            </a:r>
            <a:r>
              <a:rPr sz="1100" b="1" i="0" dirty="0">
                <a:solidFill>
                  <a:srgbClr val="595959"/>
                </a:solidFill>
                <a:latin typeface="Aptos"/>
              </a:rPr>
              <a:t>2020</a:t>
            </a:r>
            <a:r>
              <a:rPr sz="1100" b="0" i="0" dirty="0">
                <a:solidFill>
                  <a:srgbClr val="595959"/>
                </a:solidFill>
                <a:latin typeface="Aptos"/>
              </a:rPr>
              <a:t>, 68 (6), 1850–1865.</a:t>
            </a:r>
          </a:p>
          <a:p>
            <a:pPr>
              <a:spcAft>
                <a:spcPts val="200"/>
              </a:spcAft>
            </a:pPr>
            <a:r>
              <a:rPr sz="1100" b="0" i="0" dirty="0" err="1">
                <a:solidFill>
                  <a:srgbClr val="595959"/>
                </a:solidFill>
                <a:latin typeface="Aptos"/>
              </a:rPr>
              <a:t>Balandat</a:t>
            </a:r>
            <a:r>
              <a:rPr sz="1100" b="0" i="0" dirty="0">
                <a:solidFill>
                  <a:srgbClr val="595959"/>
                </a:solidFill>
                <a:latin typeface="Aptos"/>
              </a:rPr>
              <a:t>, M.; Karrer, B.; Jiang, D. R.; Daulton, S.; Letham, B.; Wilson, A. G.; </a:t>
            </a:r>
            <a:r>
              <a:rPr sz="1100" b="0" i="0" dirty="0" err="1">
                <a:solidFill>
                  <a:srgbClr val="595959"/>
                </a:solidFill>
                <a:latin typeface="Aptos"/>
              </a:rPr>
              <a:t>Bakshy</a:t>
            </a:r>
            <a:r>
              <a:rPr sz="1100" b="0" i="0" dirty="0">
                <a:solidFill>
                  <a:srgbClr val="595959"/>
                </a:solidFill>
                <a:latin typeface="Aptos"/>
              </a:rPr>
              <a:t>, E. In </a:t>
            </a:r>
            <a:r>
              <a:rPr sz="1100" b="0" i="1" dirty="0">
                <a:solidFill>
                  <a:srgbClr val="595959"/>
                </a:solidFill>
                <a:latin typeface="Aptos"/>
              </a:rPr>
              <a:t>Advances in Neural Information Processing Systems 33</a:t>
            </a:r>
            <a:r>
              <a:rPr sz="1100" b="0" i="0" dirty="0">
                <a:solidFill>
                  <a:srgbClr val="595959"/>
                </a:solidFill>
                <a:latin typeface="Aptos"/>
              </a:rPr>
              <a:t>; Curran Associates: Red Hook, NY, 2020; pp 21524–21538.</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dirty="0">
                <a:solidFill>
                  <a:srgbClr val="000000"/>
                </a:solidFill>
                <a:latin typeface="Avenir Book"/>
              </a:rPr>
              <a:t>You will hit at least two of these</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TextBox 4"/>
          <p:cNvSpPr txBox="1"/>
          <p:nvPr/>
        </p:nvSpPr>
        <p:spPr>
          <a:xfrm>
            <a:off x="777240" y="1234440"/>
            <a:ext cx="2880360" cy="457200"/>
          </a:xfrm>
          <a:prstGeom prst="rect">
            <a:avLst/>
          </a:prstGeom>
          <a:noFill/>
        </p:spPr>
        <p:txBody>
          <a:bodyPr wrap="square" lIns="0" tIns="0" rIns="0" bIns="0" anchor="t">
            <a:spAutoFit/>
          </a:bodyPr>
          <a:lstStyle/>
          <a:p>
            <a:pPr algn="l"/>
            <a:r>
              <a:rPr sz="1500" b="1" i="0">
                <a:solidFill>
                  <a:srgbClr val="C00000"/>
                </a:solidFill>
                <a:latin typeface="Calibri"/>
              </a:rPr>
              <a:t>Too few seed points</a:t>
            </a:r>
          </a:p>
        </p:txBody>
      </p:sp>
      <p:sp>
        <p:nvSpPr>
          <p:cNvPr id="6" name="TextBox 5"/>
          <p:cNvSpPr txBox="1"/>
          <p:nvPr/>
        </p:nvSpPr>
        <p:spPr>
          <a:xfrm>
            <a:off x="3840480" y="1234440"/>
            <a:ext cx="7498079" cy="457200"/>
          </a:xfrm>
          <a:prstGeom prst="rect">
            <a:avLst/>
          </a:prstGeom>
          <a:noFill/>
        </p:spPr>
        <p:txBody>
          <a:bodyPr wrap="square" lIns="0" tIns="0" rIns="0" bIns="0" anchor="t">
            <a:spAutoFit/>
          </a:bodyPr>
          <a:lstStyle/>
          <a:p>
            <a:pPr algn="l"/>
            <a:r>
              <a:rPr sz="1400" b="0" i="0">
                <a:solidFill>
                  <a:srgbClr val="123830"/>
                </a:solidFill>
                <a:latin typeface="Calibri"/>
              </a:rPr>
              <a:t>BO with 3 initial points is not BO. ~5–10 per dimension, or a DOE screen.</a:t>
            </a:r>
          </a:p>
        </p:txBody>
      </p:sp>
      <p:sp>
        <p:nvSpPr>
          <p:cNvPr id="7" name="TextBox 6"/>
          <p:cNvSpPr txBox="1"/>
          <p:nvPr/>
        </p:nvSpPr>
        <p:spPr>
          <a:xfrm>
            <a:off x="777240" y="1920240"/>
            <a:ext cx="2880360" cy="457200"/>
          </a:xfrm>
          <a:prstGeom prst="rect">
            <a:avLst/>
          </a:prstGeom>
          <a:noFill/>
        </p:spPr>
        <p:txBody>
          <a:bodyPr wrap="square" lIns="0" tIns="0" rIns="0" bIns="0" anchor="t">
            <a:spAutoFit/>
          </a:bodyPr>
          <a:lstStyle/>
          <a:p>
            <a:pPr algn="l"/>
            <a:r>
              <a:rPr sz="1500" b="1" i="0">
                <a:solidFill>
                  <a:srgbClr val="C00000"/>
                </a:solidFill>
                <a:latin typeface="Calibri"/>
              </a:rPr>
              <a:t>Bounds set wrong</a:t>
            </a:r>
          </a:p>
        </p:txBody>
      </p:sp>
      <p:sp>
        <p:nvSpPr>
          <p:cNvPr id="8" name="TextBox 7"/>
          <p:cNvSpPr txBox="1"/>
          <p:nvPr/>
        </p:nvSpPr>
        <p:spPr>
          <a:xfrm>
            <a:off x="3840480" y="1920240"/>
            <a:ext cx="7498079" cy="457200"/>
          </a:xfrm>
          <a:prstGeom prst="rect">
            <a:avLst/>
          </a:prstGeom>
          <a:noFill/>
        </p:spPr>
        <p:txBody>
          <a:bodyPr wrap="square" lIns="0" tIns="0" rIns="0" bIns="0" anchor="t">
            <a:spAutoFit/>
          </a:bodyPr>
          <a:lstStyle/>
          <a:p>
            <a:pPr algn="l"/>
            <a:r>
              <a:rPr sz="1400" b="0" i="0">
                <a:solidFill>
                  <a:srgbClr val="123830"/>
                </a:solidFill>
                <a:latin typeface="Calibri"/>
              </a:rPr>
              <a:t>The optimum is at 150 °C; you bounded at 120. It converges beautifully to the wrong answer.</a:t>
            </a:r>
          </a:p>
        </p:txBody>
      </p:sp>
      <p:sp>
        <p:nvSpPr>
          <p:cNvPr id="9" name="TextBox 8"/>
          <p:cNvSpPr txBox="1"/>
          <p:nvPr/>
        </p:nvSpPr>
        <p:spPr>
          <a:xfrm>
            <a:off x="777240" y="2606040"/>
            <a:ext cx="2880360" cy="457200"/>
          </a:xfrm>
          <a:prstGeom prst="rect">
            <a:avLst/>
          </a:prstGeom>
          <a:noFill/>
        </p:spPr>
        <p:txBody>
          <a:bodyPr wrap="square" lIns="0" tIns="0" rIns="0" bIns="0" anchor="t">
            <a:spAutoFit/>
          </a:bodyPr>
          <a:lstStyle/>
          <a:p>
            <a:pPr algn="l"/>
            <a:r>
              <a:rPr sz="1500" b="1" i="0">
                <a:solidFill>
                  <a:srgbClr val="C00000"/>
                </a:solidFill>
                <a:latin typeface="Calibri"/>
              </a:rPr>
              <a:t>Noise ignored</a:t>
            </a:r>
          </a:p>
        </p:txBody>
      </p:sp>
      <p:sp>
        <p:nvSpPr>
          <p:cNvPr id="10" name="TextBox 9"/>
          <p:cNvSpPr txBox="1"/>
          <p:nvPr/>
        </p:nvSpPr>
        <p:spPr>
          <a:xfrm>
            <a:off x="3840480" y="2606040"/>
            <a:ext cx="7498079" cy="457200"/>
          </a:xfrm>
          <a:prstGeom prst="rect">
            <a:avLst/>
          </a:prstGeom>
          <a:noFill/>
        </p:spPr>
        <p:txBody>
          <a:bodyPr wrap="square" lIns="0" tIns="0" rIns="0" bIns="0" anchor="t">
            <a:spAutoFit/>
          </a:bodyPr>
          <a:lstStyle/>
          <a:p>
            <a:pPr algn="l"/>
            <a:r>
              <a:rPr sz="1400" b="0" i="0">
                <a:solidFill>
                  <a:srgbClr val="123830"/>
                </a:solidFill>
                <a:latin typeface="Calibri"/>
              </a:rPr>
              <a:t>σₙ ≈ 0 → interpolates a lucky replicate → 15 experiments revisiting it.</a:t>
            </a:r>
          </a:p>
        </p:txBody>
      </p:sp>
      <p:sp>
        <p:nvSpPr>
          <p:cNvPr id="11" name="TextBox 10"/>
          <p:cNvSpPr txBox="1"/>
          <p:nvPr/>
        </p:nvSpPr>
        <p:spPr>
          <a:xfrm>
            <a:off x="777240" y="3291840"/>
            <a:ext cx="2880360" cy="457200"/>
          </a:xfrm>
          <a:prstGeom prst="rect">
            <a:avLst/>
          </a:prstGeom>
          <a:noFill/>
        </p:spPr>
        <p:txBody>
          <a:bodyPr wrap="square" lIns="0" tIns="0" rIns="0" bIns="0" anchor="t">
            <a:spAutoFit/>
          </a:bodyPr>
          <a:lstStyle/>
          <a:p>
            <a:pPr algn="l"/>
            <a:r>
              <a:rPr sz="1500" b="1" i="0">
                <a:solidFill>
                  <a:srgbClr val="123830"/>
                </a:solidFill>
                <a:latin typeface="Calibri"/>
              </a:rPr>
              <a:t>Dimension too high</a:t>
            </a:r>
          </a:p>
        </p:txBody>
      </p:sp>
      <p:sp>
        <p:nvSpPr>
          <p:cNvPr id="12" name="TextBox 11"/>
          <p:cNvSpPr txBox="1"/>
          <p:nvPr/>
        </p:nvSpPr>
        <p:spPr>
          <a:xfrm>
            <a:off x="3840480" y="3291840"/>
            <a:ext cx="7498079" cy="457200"/>
          </a:xfrm>
          <a:prstGeom prst="rect">
            <a:avLst/>
          </a:prstGeom>
          <a:noFill/>
        </p:spPr>
        <p:txBody>
          <a:bodyPr wrap="square" lIns="0" tIns="0" rIns="0" bIns="0" anchor="t">
            <a:spAutoFit/>
          </a:bodyPr>
          <a:lstStyle/>
          <a:p>
            <a:pPr algn="l"/>
            <a:r>
              <a:rPr sz="1400" b="0" i="0">
                <a:solidFill>
                  <a:srgbClr val="123830"/>
                </a:solidFill>
                <a:latin typeface="Calibri"/>
              </a:rPr>
              <a:t>Degrades toward random search without structure. Reduce the space first — that is what a screening DOE is for.</a:t>
            </a:r>
          </a:p>
        </p:txBody>
      </p:sp>
      <p:sp>
        <p:nvSpPr>
          <p:cNvPr id="13" name="TextBox 12"/>
          <p:cNvSpPr txBox="1"/>
          <p:nvPr/>
        </p:nvSpPr>
        <p:spPr>
          <a:xfrm>
            <a:off x="777240" y="3977639"/>
            <a:ext cx="2880360" cy="457200"/>
          </a:xfrm>
          <a:prstGeom prst="rect">
            <a:avLst/>
          </a:prstGeom>
          <a:noFill/>
        </p:spPr>
        <p:txBody>
          <a:bodyPr wrap="square" lIns="0" tIns="0" rIns="0" bIns="0" anchor="t">
            <a:spAutoFit/>
          </a:bodyPr>
          <a:lstStyle/>
          <a:p>
            <a:pPr algn="l"/>
            <a:r>
              <a:rPr sz="1500" b="1" i="0">
                <a:solidFill>
                  <a:srgbClr val="123830"/>
                </a:solidFill>
                <a:latin typeface="Calibri"/>
              </a:rPr>
              <a:t>Deceptive landscapes</a:t>
            </a:r>
          </a:p>
        </p:txBody>
      </p:sp>
      <p:sp>
        <p:nvSpPr>
          <p:cNvPr id="14" name="TextBox 13"/>
          <p:cNvSpPr txBox="1"/>
          <p:nvPr/>
        </p:nvSpPr>
        <p:spPr>
          <a:xfrm>
            <a:off x="3840480" y="3977639"/>
            <a:ext cx="7498079" cy="457200"/>
          </a:xfrm>
          <a:prstGeom prst="rect">
            <a:avLst/>
          </a:prstGeom>
          <a:noFill/>
        </p:spPr>
        <p:txBody>
          <a:bodyPr wrap="square" lIns="0" tIns="0" rIns="0" bIns="0" anchor="t">
            <a:spAutoFit/>
          </a:bodyPr>
          <a:lstStyle/>
          <a:p>
            <a:pPr algn="l"/>
            <a:r>
              <a:rPr sz="1400" b="0" i="0">
                <a:solidFill>
                  <a:srgbClr val="123830"/>
                </a:solidFill>
                <a:latin typeface="Calibri"/>
              </a:rPr>
              <a:t>Phase changes, precipitation, catalyst death. The smoothness prior is simply wrong across the discontinuity.</a:t>
            </a:r>
          </a:p>
        </p:txBody>
      </p:sp>
      <p:sp>
        <p:nvSpPr>
          <p:cNvPr id="15" name="TextBox 14"/>
          <p:cNvSpPr txBox="1"/>
          <p:nvPr/>
        </p:nvSpPr>
        <p:spPr>
          <a:xfrm>
            <a:off x="777240" y="4663440"/>
            <a:ext cx="2880360" cy="457200"/>
          </a:xfrm>
          <a:prstGeom prst="rect">
            <a:avLst/>
          </a:prstGeom>
          <a:noFill/>
        </p:spPr>
        <p:txBody>
          <a:bodyPr wrap="square" lIns="0" tIns="0" rIns="0" bIns="0" anchor="t">
            <a:spAutoFit/>
          </a:bodyPr>
          <a:lstStyle/>
          <a:p>
            <a:pPr algn="l"/>
            <a:r>
              <a:rPr sz="1500" b="1" i="0">
                <a:solidFill>
                  <a:srgbClr val="123830"/>
                </a:solidFill>
                <a:latin typeface="Calibri"/>
              </a:rPr>
              <a:t>Badly posed objective</a:t>
            </a:r>
          </a:p>
        </p:txBody>
      </p:sp>
      <p:sp>
        <p:nvSpPr>
          <p:cNvPr id="16" name="TextBox 15"/>
          <p:cNvSpPr txBox="1"/>
          <p:nvPr/>
        </p:nvSpPr>
        <p:spPr>
          <a:xfrm>
            <a:off x="3840480" y="4663440"/>
            <a:ext cx="7498079" cy="457200"/>
          </a:xfrm>
          <a:prstGeom prst="rect">
            <a:avLst/>
          </a:prstGeom>
          <a:noFill/>
        </p:spPr>
        <p:txBody>
          <a:bodyPr wrap="square" lIns="0" tIns="0" rIns="0" bIns="0" anchor="t">
            <a:spAutoFit/>
          </a:bodyPr>
          <a:lstStyle/>
          <a:p>
            <a:pPr algn="l"/>
            <a:r>
              <a:rPr sz="1400" b="0" i="0">
                <a:solidFill>
                  <a:srgbClr val="123830"/>
                </a:solidFill>
                <a:latin typeface="Calibri"/>
              </a:rPr>
              <a:t>Optimise yield alone → 99% yield at 200 equivalents and 72 hours. It optimises exactly what you asked.</a:t>
            </a:r>
          </a:p>
        </p:txBody>
      </p:sp>
      <p:sp>
        <p:nvSpPr>
          <p:cNvPr id="17" name="TextBox 16"/>
          <p:cNvSpPr txBox="1"/>
          <p:nvPr/>
        </p:nvSpPr>
        <p:spPr>
          <a:xfrm>
            <a:off x="777240" y="5349240"/>
            <a:ext cx="2880360" cy="457200"/>
          </a:xfrm>
          <a:prstGeom prst="rect">
            <a:avLst/>
          </a:prstGeom>
          <a:noFill/>
        </p:spPr>
        <p:txBody>
          <a:bodyPr wrap="square" lIns="0" tIns="0" rIns="0" bIns="0" anchor="t">
            <a:spAutoFit/>
          </a:bodyPr>
          <a:lstStyle/>
          <a:p>
            <a:pPr algn="l"/>
            <a:r>
              <a:rPr sz="1500" b="1" i="0">
                <a:solidFill>
                  <a:srgbClr val="1B8A98"/>
                </a:solidFill>
                <a:latin typeface="Calibri"/>
              </a:rPr>
              <a:t>Robustness</a:t>
            </a:r>
          </a:p>
        </p:txBody>
      </p:sp>
      <p:sp>
        <p:nvSpPr>
          <p:cNvPr id="18" name="TextBox 17"/>
          <p:cNvSpPr txBox="1"/>
          <p:nvPr/>
        </p:nvSpPr>
        <p:spPr>
          <a:xfrm>
            <a:off x="3840480" y="5349240"/>
            <a:ext cx="7498079" cy="457200"/>
          </a:xfrm>
          <a:prstGeom prst="rect">
            <a:avLst/>
          </a:prstGeom>
          <a:noFill/>
        </p:spPr>
        <p:txBody>
          <a:bodyPr wrap="square" lIns="0" tIns="0" rIns="0" bIns="0" anchor="t">
            <a:spAutoFit/>
          </a:bodyPr>
          <a:lstStyle/>
          <a:p>
            <a:pPr algn="l"/>
            <a:r>
              <a:rPr sz="1400" b="0" i="0">
                <a:solidFill>
                  <a:srgbClr val="123830"/>
                </a:solidFill>
                <a:latin typeface="Calibri"/>
              </a:rPr>
              <a:t>The sharp optimum may not survive process variation. A lower, broader one is often the better manufacturing answer.</a:t>
            </a:r>
          </a:p>
        </p:txBody>
      </p:sp>
      <p:sp>
        <p:nvSpPr>
          <p:cNvPr id="19" name="TextBox 18"/>
          <p:cNvSpPr txBox="1"/>
          <p:nvPr/>
        </p:nvSpPr>
        <p:spPr>
          <a:xfrm>
            <a:off x="46634" y="6199845"/>
            <a:ext cx="11155680" cy="365760"/>
          </a:xfrm>
          <a:prstGeom prst="rect">
            <a:avLst/>
          </a:prstGeom>
          <a:noFill/>
        </p:spPr>
        <p:txBody>
          <a:bodyPr wrap="square" lIns="0" tIns="0" rIns="0" bIns="0" anchor="t">
            <a:spAutoFit/>
          </a:bodyPr>
          <a:lstStyle/>
          <a:p>
            <a:pPr algn="l">
              <a:spcAft>
                <a:spcPts val="200"/>
              </a:spcAft>
            </a:pPr>
            <a:r>
              <a:rPr sz="1100" b="0" i="0">
                <a:solidFill>
                  <a:srgbClr val="595959"/>
                </a:solidFill>
                <a:latin typeface="Aptos"/>
              </a:rPr>
              <a:t>Robustness (Golem). Aldeghi, M.; Häse, F.; Hickman, R. J.; Tamblyn, I.; Aspuru-Guzik, A. </a:t>
            </a:r>
            <a:r>
              <a:rPr sz="1100" b="0" i="1">
                <a:solidFill>
                  <a:srgbClr val="595959"/>
                </a:solidFill>
                <a:latin typeface="Aptos"/>
              </a:rPr>
              <a:t>Chem. Sci.</a:t>
            </a:r>
            <a:r>
              <a:rPr sz="1100" b="0" i="0">
                <a:solidFill>
                  <a:srgbClr val="595959"/>
                </a:solidFill>
                <a:latin typeface="Aptos"/>
              </a:rPr>
              <a:t> </a:t>
            </a:r>
            <a:r>
              <a:rPr sz="1100" b="1" i="0">
                <a:solidFill>
                  <a:srgbClr val="595959"/>
                </a:solidFill>
                <a:latin typeface="Aptos"/>
              </a:rPr>
              <a:t>2021</a:t>
            </a:r>
            <a:r>
              <a:rPr sz="1100" b="0" i="0">
                <a:solidFill>
                  <a:srgbClr val="595959"/>
                </a:solidFill>
                <a:latin typeface="Aptos"/>
              </a:rPr>
              <a:t>, 12 (44), 14792–14807.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The framework does not need a Gaussian process</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TextBox 4"/>
          <p:cNvSpPr txBox="1"/>
          <p:nvPr/>
        </p:nvSpPr>
        <p:spPr>
          <a:xfrm>
            <a:off x="777240" y="1688490"/>
            <a:ext cx="3108960" cy="184666"/>
          </a:xfrm>
          <a:prstGeom prst="rect">
            <a:avLst/>
          </a:prstGeom>
          <a:noFill/>
        </p:spPr>
        <p:txBody>
          <a:bodyPr wrap="square" lIns="0" tIns="0" rIns="0" bIns="0" anchor="t">
            <a:spAutoFit/>
          </a:bodyPr>
          <a:lstStyle/>
          <a:p>
            <a:pPr algn="l"/>
            <a:r>
              <a:rPr sz="1200" b="1" i="0">
                <a:solidFill>
                  <a:srgbClr val="777777"/>
                </a:solidFill>
                <a:latin typeface="Aptos" panose="020B0004020202020204" pitchFamily="34" charset="0"/>
              </a:rPr>
              <a:t>SURROGATE</a:t>
            </a:r>
          </a:p>
        </p:txBody>
      </p:sp>
      <p:sp>
        <p:nvSpPr>
          <p:cNvPr id="6" name="TextBox 5"/>
          <p:cNvSpPr txBox="1"/>
          <p:nvPr/>
        </p:nvSpPr>
        <p:spPr>
          <a:xfrm>
            <a:off x="4114800" y="1688490"/>
            <a:ext cx="3017520" cy="184666"/>
          </a:xfrm>
          <a:prstGeom prst="rect">
            <a:avLst/>
          </a:prstGeom>
          <a:noFill/>
        </p:spPr>
        <p:txBody>
          <a:bodyPr wrap="square" lIns="0" tIns="0" rIns="0" bIns="0" anchor="t">
            <a:spAutoFit/>
          </a:bodyPr>
          <a:lstStyle/>
          <a:p>
            <a:pPr algn="l"/>
            <a:r>
              <a:rPr sz="1200" b="1" i="0">
                <a:solidFill>
                  <a:srgbClr val="777777"/>
                </a:solidFill>
                <a:latin typeface="Aptos" panose="020B0004020202020204" pitchFamily="34" charset="0"/>
              </a:rPr>
              <a:t>UNCERTAINTY FROM</a:t>
            </a:r>
          </a:p>
        </p:txBody>
      </p:sp>
      <p:sp>
        <p:nvSpPr>
          <p:cNvPr id="7" name="TextBox 6"/>
          <p:cNvSpPr txBox="1"/>
          <p:nvPr/>
        </p:nvSpPr>
        <p:spPr>
          <a:xfrm>
            <a:off x="7315200" y="1688490"/>
            <a:ext cx="4023360" cy="184666"/>
          </a:xfrm>
          <a:prstGeom prst="rect">
            <a:avLst/>
          </a:prstGeom>
          <a:noFill/>
        </p:spPr>
        <p:txBody>
          <a:bodyPr wrap="square" lIns="0" tIns="0" rIns="0" bIns="0" anchor="t">
            <a:spAutoFit/>
          </a:bodyPr>
          <a:lstStyle/>
          <a:p>
            <a:pPr algn="l"/>
            <a:r>
              <a:rPr sz="1200" b="1" i="0">
                <a:solidFill>
                  <a:srgbClr val="777777"/>
                </a:solidFill>
                <a:latin typeface="Aptos" panose="020B0004020202020204" pitchFamily="34" charset="0"/>
              </a:rPr>
              <a:t>GOOD WHEN</a:t>
            </a:r>
          </a:p>
        </p:txBody>
      </p:sp>
      <p:sp>
        <p:nvSpPr>
          <p:cNvPr id="8" name="Rounded Rectangle 7"/>
          <p:cNvSpPr/>
          <p:nvPr/>
        </p:nvSpPr>
        <p:spPr>
          <a:xfrm>
            <a:off x="566928" y="2096817"/>
            <a:ext cx="10716768" cy="777240"/>
          </a:xfrm>
          <a:prstGeom prst="roundRect">
            <a:avLst>
              <a:gd name="adj" fmla="val 4000"/>
            </a:avLst>
          </a:prstGeom>
          <a:solidFill>
            <a:srgbClr val="DCE9E4"/>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a:latin typeface="Aptos" panose="020B0004020202020204" pitchFamily="34" charset="0"/>
            </a:endParaRPr>
          </a:p>
        </p:txBody>
      </p:sp>
      <p:sp>
        <p:nvSpPr>
          <p:cNvPr id="9" name="Rounded Rectangle 8"/>
          <p:cNvSpPr/>
          <p:nvPr/>
        </p:nvSpPr>
        <p:spPr>
          <a:xfrm>
            <a:off x="566928" y="2965497"/>
            <a:ext cx="10716768" cy="7772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a:latin typeface="Aptos" panose="020B0004020202020204" pitchFamily="34" charset="0"/>
            </a:endParaRPr>
          </a:p>
        </p:txBody>
      </p:sp>
      <p:sp>
        <p:nvSpPr>
          <p:cNvPr id="11" name="Rounded Rectangle 10"/>
          <p:cNvSpPr/>
          <p:nvPr/>
        </p:nvSpPr>
        <p:spPr>
          <a:xfrm>
            <a:off x="566928" y="3835746"/>
            <a:ext cx="10716768" cy="7772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endParaRPr>
              <a:latin typeface="Aptos" panose="020B0004020202020204" pitchFamily="34" charset="0"/>
            </a:endParaRPr>
          </a:p>
        </p:txBody>
      </p:sp>
      <p:sp>
        <p:nvSpPr>
          <p:cNvPr id="12" name="TextBox 11"/>
          <p:cNvSpPr txBox="1"/>
          <p:nvPr/>
        </p:nvSpPr>
        <p:spPr>
          <a:xfrm>
            <a:off x="777240" y="2334560"/>
            <a:ext cx="3108960" cy="230832"/>
          </a:xfrm>
          <a:prstGeom prst="rect">
            <a:avLst/>
          </a:prstGeom>
          <a:noFill/>
        </p:spPr>
        <p:txBody>
          <a:bodyPr wrap="square" lIns="0" tIns="0" rIns="0" bIns="0" anchor="t">
            <a:spAutoFit/>
          </a:bodyPr>
          <a:lstStyle/>
          <a:p>
            <a:pPr algn="l"/>
            <a:r>
              <a:rPr sz="1500" b="1" i="0">
                <a:solidFill>
                  <a:srgbClr val="C00000"/>
                </a:solidFill>
                <a:latin typeface="Aptos" panose="020B0004020202020204" pitchFamily="34" charset="0"/>
              </a:rPr>
              <a:t>Gaussian process</a:t>
            </a:r>
          </a:p>
        </p:txBody>
      </p:sp>
      <p:sp>
        <p:nvSpPr>
          <p:cNvPr id="13" name="TextBox 12"/>
          <p:cNvSpPr txBox="1"/>
          <p:nvPr/>
        </p:nvSpPr>
        <p:spPr>
          <a:xfrm>
            <a:off x="4114800" y="2334560"/>
            <a:ext cx="3017520" cy="215444"/>
          </a:xfrm>
          <a:prstGeom prst="rect">
            <a:avLst/>
          </a:prstGeom>
          <a:noFill/>
        </p:spPr>
        <p:txBody>
          <a:bodyPr wrap="square" lIns="0" tIns="0" rIns="0" bIns="0" anchor="t">
            <a:spAutoFit/>
          </a:bodyPr>
          <a:lstStyle/>
          <a:p>
            <a:pPr algn="l"/>
            <a:r>
              <a:rPr sz="1400" b="0" i="0">
                <a:solidFill>
                  <a:srgbClr val="123830"/>
                </a:solidFill>
                <a:latin typeface="Aptos" panose="020B0004020202020204" pitchFamily="34" charset="0"/>
              </a:rPr>
              <a:t>closed-form posterior</a:t>
            </a:r>
          </a:p>
        </p:txBody>
      </p:sp>
      <p:sp>
        <p:nvSpPr>
          <p:cNvPr id="14" name="TextBox 13"/>
          <p:cNvSpPr txBox="1"/>
          <p:nvPr/>
        </p:nvSpPr>
        <p:spPr>
          <a:xfrm>
            <a:off x="7315200" y="2334560"/>
            <a:ext cx="3657600" cy="215444"/>
          </a:xfrm>
          <a:prstGeom prst="rect">
            <a:avLst/>
          </a:prstGeom>
          <a:noFill/>
        </p:spPr>
        <p:txBody>
          <a:bodyPr wrap="square" lIns="0" tIns="0" rIns="0" bIns="0" anchor="t">
            <a:spAutoFit/>
          </a:bodyPr>
          <a:lstStyle/>
          <a:p>
            <a:pPr algn="l"/>
            <a:r>
              <a:rPr sz="1400" b="0" i="0" dirty="0">
                <a:solidFill>
                  <a:srgbClr val="123830"/>
                </a:solidFill>
                <a:latin typeface="Aptos" panose="020B0004020202020204" pitchFamily="34" charset="0"/>
              </a:rPr>
              <a:t>n ≲ 10³, continuous, low-d</a:t>
            </a:r>
          </a:p>
        </p:txBody>
      </p:sp>
      <p:sp>
        <p:nvSpPr>
          <p:cNvPr id="15" name="TextBox 14"/>
          <p:cNvSpPr txBox="1"/>
          <p:nvPr/>
        </p:nvSpPr>
        <p:spPr>
          <a:xfrm>
            <a:off x="777240" y="3203241"/>
            <a:ext cx="3108960" cy="230832"/>
          </a:xfrm>
          <a:prstGeom prst="rect">
            <a:avLst/>
          </a:prstGeom>
          <a:noFill/>
        </p:spPr>
        <p:txBody>
          <a:bodyPr wrap="square" lIns="0" tIns="0" rIns="0" bIns="0" anchor="t">
            <a:spAutoFit/>
          </a:bodyPr>
          <a:lstStyle/>
          <a:p>
            <a:pPr algn="l"/>
            <a:r>
              <a:rPr sz="1500" b="1" i="0">
                <a:solidFill>
                  <a:srgbClr val="123830"/>
                </a:solidFill>
                <a:latin typeface="Aptos" panose="020B0004020202020204" pitchFamily="34" charset="0"/>
              </a:rPr>
              <a:t>Random forest</a:t>
            </a:r>
          </a:p>
        </p:txBody>
      </p:sp>
      <p:sp>
        <p:nvSpPr>
          <p:cNvPr id="16" name="TextBox 15"/>
          <p:cNvSpPr txBox="1"/>
          <p:nvPr/>
        </p:nvSpPr>
        <p:spPr>
          <a:xfrm>
            <a:off x="4114800" y="3203241"/>
            <a:ext cx="3017520" cy="215444"/>
          </a:xfrm>
          <a:prstGeom prst="rect">
            <a:avLst/>
          </a:prstGeom>
          <a:noFill/>
        </p:spPr>
        <p:txBody>
          <a:bodyPr wrap="square" lIns="0" tIns="0" rIns="0" bIns="0" anchor="t">
            <a:spAutoFit/>
          </a:bodyPr>
          <a:lstStyle/>
          <a:p>
            <a:pPr algn="l"/>
            <a:r>
              <a:rPr sz="1400" b="0" i="0">
                <a:solidFill>
                  <a:srgbClr val="123830"/>
                </a:solidFill>
                <a:latin typeface="Aptos" panose="020B0004020202020204" pitchFamily="34" charset="0"/>
              </a:rPr>
              <a:t>variance across trees</a:t>
            </a:r>
          </a:p>
        </p:txBody>
      </p:sp>
      <p:sp>
        <p:nvSpPr>
          <p:cNvPr id="17" name="TextBox 16"/>
          <p:cNvSpPr txBox="1"/>
          <p:nvPr/>
        </p:nvSpPr>
        <p:spPr>
          <a:xfrm>
            <a:off x="7315200" y="3203241"/>
            <a:ext cx="3657600" cy="215444"/>
          </a:xfrm>
          <a:prstGeom prst="rect">
            <a:avLst/>
          </a:prstGeom>
          <a:noFill/>
        </p:spPr>
        <p:txBody>
          <a:bodyPr wrap="square" lIns="0" tIns="0" rIns="0" bIns="0" anchor="t">
            <a:spAutoFit/>
          </a:bodyPr>
          <a:lstStyle/>
          <a:p>
            <a:pPr algn="l"/>
            <a:r>
              <a:rPr sz="1400" b="0" i="0" dirty="0">
                <a:solidFill>
                  <a:srgbClr val="123830"/>
                </a:solidFill>
                <a:latin typeface="Aptos" panose="020B0004020202020204" pitchFamily="34" charset="0"/>
              </a:rPr>
              <a:t>categorical / conditional spaces; used in SMAC</a:t>
            </a:r>
          </a:p>
        </p:txBody>
      </p:sp>
      <p:sp>
        <p:nvSpPr>
          <p:cNvPr id="21" name="TextBox 20"/>
          <p:cNvSpPr txBox="1"/>
          <p:nvPr/>
        </p:nvSpPr>
        <p:spPr>
          <a:xfrm>
            <a:off x="777240" y="4073490"/>
            <a:ext cx="3108960" cy="230832"/>
          </a:xfrm>
          <a:prstGeom prst="rect">
            <a:avLst/>
          </a:prstGeom>
          <a:noFill/>
        </p:spPr>
        <p:txBody>
          <a:bodyPr wrap="square" lIns="0" tIns="0" rIns="0" bIns="0" anchor="t">
            <a:spAutoFit/>
          </a:bodyPr>
          <a:lstStyle/>
          <a:p>
            <a:pPr algn="l"/>
            <a:r>
              <a:rPr sz="1500" b="1" i="0">
                <a:solidFill>
                  <a:srgbClr val="123830"/>
                </a:solidFill>
                <a:latin typeface="Aptos" panose="020B0004020202020204" pitchFamily="34" charset="0"/>
              </a:rPr>
              <a:t>NN ensembles, MC dropout</a:t>
            </a:r>
          </a:p>
        </p:txBody>
      </p:sp>
      <p:sp>
        <p:nvSpPr>
          <p:cNvPr id="22" name="TextBox 21"/>
          <p:cNvSpPr txBox="1"/>
          <p:nvPr/>
        </p:nvSpPr>
        <p:spPr>
          <a:xfrm>
            <a:off x="4114800" y="4073490"/>
            <a:ext cx="3017520" cy="215444"/>
          </a:xfrm>
          <a:prstGeom prst="rect">
            <a:avLst/>
          </a:prstGeom>
          <a:noFill/>
        </p:spPr>
        <p:txBody>
          <a:bodyPr wrap="square" lIns="0" tIns="0" rIns="0" bIns="0" anchor="t">
            <a:spAutoFit/>
          </a:bodyPr>
          <a:lstStyle/>
          <a:p>
            <a:pPr algn="l"/>
            <a:r>
              <a:rPr sz="1400" b="0" i="0">
                <a:solidFill>
                  <a:srgbClr val="123830"/>
                </a:solidFill>
                <a:latin typeface="Aptos" panose="020B0004020202020204" pitchFamily="34" charset="0"/>
              </a:rPr>
              <a:t>disagreement between members</a:t>
            </a:r>
          </a:p>
        </p:txBody>
      </p:sp>
      <p:sp>
        <p:nvSpPr>
          <p:cNvPr id="23" name="TextBox 22"/>
          <p:cNvSpPr txBox="1"/>
          <p:nvPr/>
        </p:nvSpPr>
        <p:spPr>
          <a:xfrm>
            <a:off x="7315200" y="4073490"/>
            <a:ext cx="3657600" cy="215444"/>
          </a:xfrm>
          <a:prstGeom prst="rect">
            <a:avLst/>
          </a:prstGeom>
          <a:noFill/>
        </p:spPr>
        <p:txBody>
          <a:bodyPr wrap="square" lIns="0" tIns="0" rIns="0" bIns="0" anchor="t">
            <a:spAutoFit/>
          </a:bodyPr>
          <a:lstStyle/>
          <a:p>
            <a:pPr algn="l"/>
            <a:r>
              <a:rPr sz="1400" b="0" i="0">
                <a:solidFill>
                  <a:srgbClr val="123830"/>
                </a:solidFill>
                <a:latin typeface="Aptos" panose="020B0004020202020204" pitchFamily="34" charset="0"/>
              </a:rPr>
              <a:t>n ≫ 10³, structured inputs — MolPAL</a:t>
            </a:r>
          </a:p>
        </p:txBody>
      </p:sp>
      <p:sp>
        <p:nvSpPr>
          <p:cNvPr id="24" name="Rounded Rectangle 23"/>
          <p:cNvSpPr/>
          <p:nvPr/>
        </p:nvSpPr>
        <p:spPr>
          <a:xfrm>
            <a:off x="566928" y="5440680"/>
            <a:ext cx="10716768" cy="68580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700" b="1" i="0" dirty="0">
                <a:solidFill>
                  <a:srgbClr val="123830"/>
                </a:solidFill>
                <a:latin typeface="Aptos" panose="020B0004020202020204" pitchFamily="34" charset="0"/>
              </a:rPr>
              <a:t>Stay with a GP until </a:t>
            </a:r>
            <a:r>
              <a:rPr lang="en-US" sz="1700" b="1" dirty="0">
                <a:solidFill>
                  <a:srgbClr val="123830"/>
                </a:solidFill>
                <a:latin typeface="Aptos" panose="020B0004020202020204" pitchFamily="34" charset="0"/>
              </a:rPr>
              <a:t>experiment number</a:t>
            </a:r>
            <a:r>
              <a:rPr sz="1700" b="1" i="0" dirty="0">
                <a:solidFill>
                  <a:srgbClr val="123830"/>
                </a:solidFill>
                <a:latin typeface="Aptos" panose="020B0004020202020204" pitchFamily="34" charset="0"/>
              </a:rPr>
              <a:t> exceeds a few thousand, or your inputs stop being vectors.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Where this goes next</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pic>
        <p:nvPicPr>
          <p:cNvPr id="11" name="Picture 10">
            <a:extLst>
              <a:ext uri="{FF2B5EF4-FFF2-40B4-BE49-F238E27FC236}">
                <a16:creationId xmlns:a16="http://schemas.microsoft.com/office/drawing/2014/main" id="{C8B51254-D9A7-3CB6-AAAD-8939CD27DD2B}"/>
              </a:ext>
            </a:extLst>
          </p:cNvPr>
          <p:cNvPicPr>
            <a:picLocks noChangeAspect="1"/>
          </p:cNvPicPr>
          <p:nvPr/>
        </p:nvPicPr>
        <p:blipFill>
          <a:blip r:embed="rId4"/>
          <a:srcRect l="3333" t="2329"/>
          <a:stretch>
            <a:fillRect/>
          </a:stretch>
        </p:blipFill>
        <p:spPr>
          <a:xfrm>
            <a:off x="2916194" y="1267019"/>
            <a:ext cx="5684109" cy="4883085"/>
          </a:xfrm>
          <a:prstGeom prst="rect">
            <a:avLst/>
          </a:prstGeom>
        </p:spPr>
      </p:pic>
      <p:sp>
        <p:nvSpPr>
          <p:cNvPr id="12" name="TextBox 11">
            <a:extLst>
              <a:ext uri="{FF2B5EF4-FFF2-40B4-BE49-F238E27FC236}">
                <a16:creationId xmlns:a16="http://schemas.microsoft.com/office/drawing/2014/main" id="{B7940965-B29B-6165-0B75-C68920E6A482}"/>
              </a:ext>
            </a:extLst>
          </p:cNvPr>
          <p:cNvSpPr txBox="1"/>
          <p:nvPr/>
        </p:nvSpPr>
        <p:spPr>
          <a:xfrm>
            <a:off x="46634" y="6231929"/>
            <a:ext cx="11155680" cy="169277"/>
          </a:xfrm>
          <a:prstGeom prst="rect">
            <a:avLst/>
          </a:prstGeom>
          <a:noFill/>
        </p:spPr>
        <p:txBody>
          <a:bodyPr wrap="square" lIns="0" tIns="0" rIns="0" bIns="0" anchor="t">
            <a:spAutoFit/>
          </a:bodyPr>
          <a:lstStyle/>
          <a:p>
            <a:pPr>
              <a:spcAft>
                <a:spcPts val="200"/>
              </a:spcAft>
            </a:pPr>
            <a:r>
              <a:rPr lang="en-US" sz="1100" dirty="0">
                <a:solidFill>
                  <a:srgbClr val="595959"/>
                </a:solidFill>
              </a:rPr>
              <a:t>Gutiérrez-Valencia, N. E.; Schleinitz, J.; Wild, T. H.; Williams, W. L.; Mantin, D.; Doyle, A. G.; Reisman, S. E.; Sigman, M. S. </a:t>
            </a:r>
            <a:r>
              <a:rPr lang="en-US" sz="1100" i="1" dirty="0">
                <a:solidFill>
                  <a:srgbClr val="595959"/>
                </a:solidFill>
              </a:rPr>
              <a:t>ACS </a:t>
            </a:r>
            <a:r>
              <a:rPr lang="en-US" sz="1100" i="1" dirty="0" err="1">
                <a:solidFill>
                  <a:srgbClr val="595959"/>
                </a:solidFill>
              </a:rPr>
              <a:t>Catal</a:t>
            </a:r>
            <a:r>
              <a:rPr lang="en-US" sz="1100" i="1" dirty="0">
                <a:solidFill>
                  <a:srgbClr val="595959"/>
                </a:solidFill>
              </a:rPr>
              <a:t>. </a:t>
            </a:r>
            <a:r>
              <a:rPr lang="en-US" sz="1100" b="1" dirty="0">
                <a:solidFill>
                  <a:srgbClr val="595959"/>
                </a:solidFill>
              </a:rPr>
              <a:t>2026</a:t>
            </a:r>
            <a:r>
              <a:rPr lang="en-US" sz="1100" dirty="0">
                <a:solidFill>
                  <a:srgbClr val="595959"/>
                </a:solidFill>
              </a:rPr>
              <a:t>. https://</a:t>
            </a:r>
            <a:r>
              <a:rPr lang="en-US" sz="1100" dirty="0" err="1">
                <a:solidFill>
                  <a:srgbClr val="595959"/>
                </a:solidFill>
              </a:rPr>
              <a:t>doi.org</a:t>
            </a:r>
            <a:r>
              <a:rPr lang="en-US" sz="1100" dirty="0">
                <a:solidFill>
                  <a:srgbClr val="595959"/>
                </a:solidFill>
              </a:rPr>
              <a:t>/10.1021/acscatal.6c02585.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600">
                <a:solidFill>
                  <a:srgbClr val="000000"/>
                </a:solidFill>
                <a:latin typeface="Avenir Book"/>
              </a:rPr>
              <a:t>References</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TextBox 4"/>
          <p:cNvSpPr txBox="1"/>
          <p:nvPr/>
        </p:nvSpPr>
        <p:spPr>
          <a:xfrm>
            <a:off x="640080" y="1207008"/>
            <a:ext cx="10881360" cy="237744"/>
          </a:xfrm>
          <a:prstGeom prst="rect">
            <a:avLst/>
          </a:prstGeom>
          <a:noFill/>
        </p:spPr>
        <p:txBody>
          <a:bodyPr wrap="none">
            <a:spAutoFit/>
          </a:bodyPr>
          <a:lstStyle/>
          <a:p>
            <a:r>
              <a:rPr sz="1200" b="1" i="0">
                <a:solidFill>
                  <a:srgbClr val="1B8A98"/>
                </a:solidFill>
                <a:latin typeface="Aptos"/>
              </a:rPr>
              <a:t>METHOD</a:t>
            </a:r>
          </a:p>
        </p:txBody>
      </p:sp>
      <p:sp>
        <p:nvSpPr>
          <p:cNvPr id="6" name="TextBox 5"/>
          <p:cNvSpPr txBox="1"/>
          <p:nvPr/>
        </p:nvSpPr>
        <p:spPr>
          <a:xfrm>
            <a:off x="685800" y="1481328"/>
            <a:ext cx="10881360" cy="237744"/>
          </a:xfrm>
          <a:prstGeom prst="rect">
            <a:avLst/>
          </a:prstGeom>
          <a:noFill/>
        </p:spPr>
        <p:txBody>
          <a:bodyPr wrap="square">
            <a:spAutoFit/>
          </a:bodyPr>
          <a:lstStyle/>
          <a:p>
            <a:r>
              <a:rPr sz="1050" b="0" i="0">
                <a:solidFill>
                  <a:srgbClr val="123830"/>
                </a:solidFill>
                <a:latin typeface="Aptos"/>
              </a:rPr>
              <a:t>Jones, D. R.; Schonlau, M.; Welch, W. J. </a:t>
            </a:r>
            <a:r>
              <a:rPr sz="1050" b="0" i="1">
                <a:solidFill>
                  <a:srgbClr val="123830"/>
                </a:solidFill>
                <a:latin typeface="Aptos"/>
              </a:rPr>
              <a:t>J. Global Optim.</a:t>
            </a:r>
            <a:r>
              <a:rPr sz="1050" b="0" i="0">
                <a:solidFill>
                  <a:srgbClr val="123830"/>
                </a:solidFill>
                <a:latin typeface="Aptos"/>
              </a:rPr>
              <a:t> </a:t>
            </a:r>
            <a:r>
              <a:rPr sz="1050" b="1" i="0">
                <a:solidFill>
                  <a:srgbClr val="123830"/>
                </a:solidFill>
                <a:latin typeface="Aptos"/>
              </a:rPr>
              <a:t>1998</a:t>
            </a:r>
            <a:r>
              <a:rPr sz="1050" b="0" i="0">
                <a:solidFill>
                  <a:srgbClr val="123830"/>
                </a:solidFill>
                <a:latin typeface="Aptos"/>
              </a:rPr>
              <a:t>, 13 (4), 455–492.  (EGO / expected improvement)</a:t>
            </a:r>
          </a:p>
        </p:txBody>
      </p:sp>
      <p:sp>
        <p:nvSpPr>
          <p:cNvPr id="7" name="TextBox 6"/>
          <p:cNvSpPr txBox="1"/>
          <p:nvPr/>
        </p:nvSpPr>
        <p:spPr>
          <a:xfrm>
            <a:off x="685800" y="1801368"/>
            <a:ext cx="10881360" cy="237744"/>
          </a:xfrm>
          <a:prstGeom prst="rect">
            <a:avLst/>
          </a:prstGeom>
          <a:noFill/>
        </p:spPr>
        <p:txBody>
          <a:bodyPr wrap="square">
            <a:spAutoFit/>
          </a:bodyPr>
          <a:lstStyle/>
          <a:p>
            <a:r>
              <a:rPr sz="1050" b="0" i="0">
                <a:solidFill>
                  <a:srgbClr val="123830"/>
                </a:solidFill>
                <a:latin typeface="Aptos"/>
              </a:rPr>
              <a:t>Shahriari, B.; Swersky, K.; Wang, Z.; Adams, R. P.; de Freitas, N. </a:t>
            </a:r>
            <a:r>
              <a:rPr sz="1050" b="0" i="1">
                <a:solidFill>
                  <a:srgbClr val="123830"/>
                </a:solidFill>
                <a:latin typeface="Aptos"/>
              </a:rPr>
              <a:t>Proc. IEEE</a:t>
            </a:r>
            <a:r>
              <a:rPr sz="1050" b="0" i="0">
                <a:solidFill>
                  <a:srgbClr val="123830"/>
                </a:solidFill>
                <a:latin typeface="Aptos"/>
              </a:rPr>
              <a:t> </a:t>
            </a:r>
            <a:r>
              <a:rPr sz="1050" b="1" i="0">
                <a:solidFill>
                  <a:srgbClr val="123830"/>
                </a:solidFill>
                <a:latin typeface="Aptos"/>
              </a:rPr>
              <a:t>2016</a:t>
            </a:r>
            <a:r>
              <a:rPr sz="1050" b="0" i="0">
                <a:solidFill>
                  <a:srgbClr val="123830"/>
                </a:solidFill>
                <a:latin typeface="Aptos"/>
              </a:rPr>
              <a:t>, 104 (1), 148–175.  (review)</a:t>
            </a:r>
          </a:p>
        </p:txBody>
      </p:sp>
      <p:sp>
        <p:nvSpPr>
          <p:cNvPr id="8" name="TextBox 7"/>
          <p:cNvSpPr txBox="1"/>
          <p:nvPr/>
        </p:nvSpPr>
        <p:spPr>
          <a:xfrm>
            <a:off x="685800" y="2121408"/>
            <a:ext cx="10881360" cy="237744"/>
          </a:xfrm>
          <a:prstGeom prst="rect">
            <a:avLst/>
          </a:prstGeom>
          <a:noFill/>
        </p:spPr>
        <p:txBody>
          <a:bodyPr wrap="square">
            <a:spAutoFit/>
          </a:bodyPr>
          <a:lstStyle/>
          <a:p>
            <a:r>
              <a:rPr sz="1050" b="0" i="0">
                <a:solidFill>
                  <a:srgbClr val="123830"/>
                </a:solidFill>
                <a:latin typeface="Aptos"/>
              </a:rPr>
              <a:t>Srinivas, N.; Krause, A.; Kakade, S. M.; Seeger, M. W. </a:t>
            </a:r>
            <a:r>
              <a:rPr sz="1050" b="0" i="1">
                <a:solidFill>
                  <a:srgbClr val="123830"/>
                </a:solidFill>
                <a:latin typeface="Aptos"/>
              </a:rPr>
              <a:t>IEEE Trans. Inf. Theory</a:t>
            </a:r>
            <a:r>
              <a:rPr sz="1050" b="0" i="0">
                <a:solidFill>
                  <a:srgbClr val="123830"/>
                </a:solidFill>
                <a:latin typeface="Aptos"/>
              </a:rPr>
              <a:t> </a:t>
            </a:r>
            <a:r>
              <a:rPr sz="1050" b="1" i="0">
                <a:solidFill>
                  <a:srgbClr val="123830"/>
                </a:solidFill>
                <a:latin typeface="Aptos"/>
              </a:rPr>
              <a:t>2012</a:t>
            </a:r>
            <a:r>
              <a:rPr sz="1050" b="0" i="0">
                <a:solidFill>
                  <a:srgbClr val="123830"/>
                </a:solidFill>
                <a:latin typeface="Aptos"/>
              </a:rPr>
              <a:t>, 58 (5), 3250–3265.  (GP-UCB)</a:t>
            </a:r>
          </a:p>
        </p:txBody>
      </p:sp>
      <p:sp>
        <p:nvSpPr>
          <p:cNvPr id="9" name="TextBox 8"/>
          <p:cNvSpPr txBox="1"/>
          <p:nvPr/>
        </p:nvSpPr>
        <p:spPr>
          <a:xfrm>
            <a:off x="685800" y="2441448"/>
            <a:ext cx="10881360" cy="237744"/>
          </a:xfrm>
          <a:prstGeom prst="rect">
            <a:avLst/>
          </a:prstGeom>
          <a:noFill/>
        </p:spPr>
        <p:txBody>
          <a:bodyPr wrap="square">
            <a:spAutoFit/>
          </a:bodyPr>
          <a:lstStyle/>
          <a:p>
            <a:r>
              <a:rPr sz="1050" b="0" i="0">
                <a:solidFill>
                  <a:srgbClr val="123830"/>
                </a:solidFill>
                <a:latin typeface="Aptos"/>
              </a:rPr>
              <a:t>Rasmussen, C. E.; Williams, C. K. I. </a:t>
            </a:r>
            <a:r>
              <a:rPr sz="1050" b="0" i="1">
                <a:solidFill>
                  <a:srgbClr val="123830"/>
                </a:solidFill>
                <a:latin typeface="Aptos"/>
              </a:rPr>
              <a:t>Gaussian Processes for Machine Learning</a:t>
            </a:r>
            <a:r>
              <a:rPr sz="1050" b="0" i="0">
                <a:solidFill>
                  <a:srgbClr val="123830"/>
                </a:solidFill>
                <a:latin typeface="Aptos"/>
              </a:rPr>
              <a:t>; MIT Press: Cambridge, MA, 2006.  (chapters 2 and 5)</a:t>
            </a:r>
          </a:p>
        </p:txBody>
      </p:sp>
      <p:sp>
        <p:nvSpPr>
          <p:cNvPr id="10" name="TextBox 9"/>
          <p:cNvSpPr txBox="1"/>
          <p:nvPr/>
        </p:nvSpPr>
        <p:spPr>
          <a:xfrm>
            <a:off x="640080" y="2761488"/>
            <a:ext cx="10881360" cy="237744"/>
          </a:xfrm>
          <a:prstGeom prst="rect">
            <a:avLst/>
          </a:prstGeom>
          <a:noFill/>
        </p:spPr>
        <p:txBody>
          <a:bodyPr wrap="none">
            <a:spAutoFit/>
          </a:bodyPr>
          <a:lstStyle/>
          <a:p>
            <a:r>
              <a:rPr sz="1200" b="1" i="0">
                <a:solidFill>
                  <a:srgbClr val="1B8A98"/>
                </a:solidFill>
                <a:latin typeface="Aptos"/>
              </a:rPr>
              <a:t>CHEMISTRY AND BENCHMARKS</a:t>
            </a:r>
          </a:p>
        </p:txBody>
      </p:sp>
      <p:sp>
        <p:nvSpPr>
          <p:cNvPr id="11" name="TextBox 10"/>
          <p:cNvSpPr txBox="1"/>
          <p:nvPr/>
        </p:nvSpPr>
        <p:spPr>
          <a:xfrm>
            <a:off x="685800" y="3035808"/>
            <a:ext cx="10881360" cy="420624"/>
          </a:xfrm>
          <a:prstGeom prst="rect">
            <a:avLst/>
          </a:prstGeom>
          <a:noFill/>
        </p:spPr>
        <p:txBody>
          <a:bodyPr wrap="square">
            <a:spAutoFit/>
          </a:bodyPr>
          <a:lstStyle/>
          <a:p>
            <a:r>
              <a:rPr sz="1050" b="0" i="0">
                <a:solidFill>
                  <a:srgbClr val="123830"/>
                </a:solidFill>
                <a:latin typeface="Aptos"/>
              </a:rPr>
              <a:t>Shields, B. J.; Stevens, J.; Li, J.; Parasram, M.; Damani, F.; Martinez Alvarado, J. I.; Janey, J. M.; Adams, R. P.; Doyle, A. G. </a:t>
            </a:r>
            <a:r>
              <a:rPr sz="1050" b="0" i="1">
                <a:solidFill>
                  <a:srgbClr val="123830"/>
                </a:solidFill>
                <a:latin typeface="Aptos"/>
              </a:rPr>
              <a:t>Nature</a:t>
            </a:r>
            <a:r>
              <a:rPr sz="1050" b="0" i="0">
                <a:solidFill>
                  <a:srgbClr val="123830"/>
                </a:solidFill>
                <a:latin typeface="Aptos"/>
              </a:rPr>
              <a:t> </a:t>
            </a:r>
            <a:r>
              <a:rPr sz="1050" b="1" i="0">
                <a:solidFill>
                  <a:srgbClr val="123830"/>
                </a:solidFill>
                <a:latin typeface="Aptos"/>
              </a:rPr>
              <a:t>2021</a:t>
            </a:r>
            <a:r>
              <a:rPr sz="1050" b="0" i="0">
                <a:solidFill>
                  <a:srgbClr val="123830"/>
                </a:solidFill>
                <a:latin typeface="Aptos"/>
              </a:rPr>
              <a:t>, 590 (7844), 89–96.  (EDBO; the human benchmark)</a:t>
            </a:r>
          </a:p>
        </p:txBody>
      </p:sp>
      <p:sp>
        <p:nvSpPr>
          <p:cNvPr id="12" name="TextBox 11"/>
          <p:cNvSpPr txBox="1"/>
          <p:nvPr/>
        </p:nvSpPr>
        <p:spPr>
          <a:xfrm>
            <a:off x="685800" y="3538728"/>
            <a:ext cx="10881360" cy="237744"/>
          </a:xfrm>
          <a:prstGeom prst="rect">
            <a:avLst/>
          </a:prstGeom>
          <a:noFill/>
        </p:spPr>
        <p:txBody>
          <a:bodyPr wrap="square">
            <a:spAutoFit/>
          </a:bodyPr>
          <a:lstStyle/>
          <a:p>
            <a:r>
              <a:rPr sz="1050" b="0" i="0">
                <a:solidFill>
                  <a:srgbClr val="123830"/>
                </a:solidFill>
                <a:latin typeface="Aptos"/>
              </a:rPr>
              <a:t>Felton, K. C.; Rittig, J. G.; Lapkin, A. A. </a:t>
            </a:r>
            <a:r>
              <a:rPr sz="1050" b="0" i="1">
                <a:solidFill>
                  <a:srgbClr val="123830"/>
                </a:solidFill>
                <a:latin typeface="Aptos"/>
              </a:rPr>
              <a:t>Chem. Methods</a:t>
            </a:r>
            <a:r>
              <a:rPr sz="1050" b="0" i="0">
                <a:solidFill>
                  <a:srgbClr val="123830"/>
                </a:solidFill>
                <a:latin typeface="Aptos"/>
              </a:rPr>
              <a:t> </a:t>
            </a:r>
            <a:r>
              <a:rPr sz="1050" b="1" i="0">
                <a:solidFill>
                  <a:srgbClr val="123830"/>
                </a:solidFill>
                <a:latin typeface="Aptos"/>
              </a:rPr>
              <a:t>2021</a:t>
            </a:r>
            <a:r>
              <a:rPr sz="1050" b="0" i="0">
                <a:solidFill>
                  <a:srgbClr val="123830"/>
                </a:solidFill>
                <a:latin typeface="Aptos"/>
              </a:rPr>
              <a:t>, 1 (2), 116–122.  (Summit benchmarks)</a:t>
            </a:r>
          </a:p>
        </p:txBody>
      </p:sp>
      <p:sp>
        <p:nvSpPr>
          <p:cNvPr id="13" name="TextBox 12"/>
          <p:cNvSpPr txBox="1"/>
          <p:nvPr/>
        </p:nvSpPr>
        <p:spPr>
          <a:xfrm>
            <a:off x="685800" y="3858768"/>
            <a:ext cx="10881360" cy="603504"/>
          </a:xfrm>
          <a:prstGeom prst="rect">
            <a:avLst/>
          </a:prstGeom>
          <a:noFill/>
        </p:spPr>
        <p:txBody>
          <a:bodyPr wrap="square">
            <a:spAutoFit/>
          </a:bodyPr>
          <a:lstStyle/>
          <a:p>
            <a:r>
              <a:rPr sz="1050" b="0" i="0">
                <a:solidFill>
                  <a:srgbClr val="123830"/>
                </a:solidFill>
                <a:latin typeface="Aptos"/>
              </a:rPr>
              <a:t>MacLeod, B. P.; Parlane, F. G. L.; Morrissey, T. D.; Häse, F.; Roch, L. M.; Dettelbach, K. E.; Moreira, R.; Yunker, L. P. E.; Rooney, M. B.; Deeth, J. R.; Lai, V.; Ng, G. J.; Situ, H.; Zhang, R. H.; Elliott, M. S.; Haley, T. H.; Dvorak, D. J.; Aspuru-Guzik, A.; Hein, J. E.; Berlinguette, C. P. </a:t>
            </a:r>
            <a:r>
              <a:rPr sz="1050" b="0" i="1">
                <a:solidFill>
                  <a:srgbClr val="123830"/>
                </a:solidFill>
                <a:latin typeface="Aptos"/>
              </a:rPr>
              <a:t>Sci. Adv.</a:t>
            </a:r>
            <a:r>
              <a:rPr sz="1050" b="0" i="0">
                <a:solidFill>
                  <a:srgbClr val="123830"/>
                </a:solidFill>
                <a:latin typeface="Aptos"/>
              </a:rPr>
              <a:t> </a:t>
            </a:r>
            <a:r>
              <a:rPr sz="1050" b="1" i="0">
                <a:solidFill>
                  <a:srgbClr val="123830"/>
                </a:solidFill>
                <a:latin typeface="Aptos"/>
              </a:rPr>
              <a:t>2020</a:t>
            </a:r>
            <a:r>
              <a:rPr sz="1050" b="0" i="0">
                <a:solidFill>
                  <a:srgbClr val="123830"/>
                </a:solidFill>
                <a:latin typeface="Aptos"/>
              </a:rPr>
              <a:t>, 6 (20), eaaz8867.</a:t>
            </a:r>
          </a:p>
        </p:txBody>
      </p:sp>
      <p:sp>
        <p:nvSpPr>
          <p:cNvPr id="14" name="TextBox 13"/>
          <p:cNvSpPr txBox="1"/>
          <p:nvPr/>
        </p:nvSpPr>
        <p:spPr>
          <a:xfrm>
            <a:off x="685800" y="4544568"/>
            <a:ext cx="10881360" cy="420624"/>
          </a:xfrm>
          <a:prstGeom prst="rect">
            <a:avLst/>
          </a:prstGeom>
          <a:noFill/>
        </p:spPr>
        <p:txBody>
          <a:bodyPr wrap="square">
            <a:spAutoFit/>
          </a:bodyPr>
          <a:lstStyle/>
          <a:p>
            <a:r>
              <a:rPr sz="1050" b="0" i="0">
                <a:solidFill>
                  <a:srgbClr val="123830"/>
                </a:solidFill>
                <a:latin typeface="Aptos"/>
              </a:rPr>
              <a:t>Attia, P. M.; Grover, A.; Jin, N.; Severson, K. A.; Markov, T. M.; Liao, Y.-H.; Chen, M. H.; Cheong, B.; Perkins, N.; Yang, Z.; Herring, P. K.; Aykol, M.; Harris, S. J.; Braatz, R. D.; Ermon, S.; Chueh, W. C. </a:t>
            </a:r>
            <a:r>
              <a:rPr sz="1050" b="0" i="1">
                <a:solidFill>
                  <a:srgbClr val="123830"/>
                </a:solidFill>
                <a:latin typeface="Aptos"/>
              </a:rPr>
              <a:t>Nature</a:t>
            </a:r>
            <a:r>
              <a:rPr sz="1050" b="0" i="0">
                <a:solidFill>
                  <a:srgbClr val="123830"/>
                </a:solidFill>
                <a:latin typeface="Aptos"/>
              </a:rPr>
              <a:t> </a:t>
            </a:r>
            <a:r>
              <a:rPr sz="1050" b="1" i="0">
                <a:solidFill>
                  <a:srgbClr val="123830"/>
                </a:solidFill>
                <a:latin typeface="Aptos"/>
              </a:rPr>
              <a:t>2020</a:t>
            </a:r>
            <a:r>
              <a:rPr sz="1050" b="0" i="0">
                <a:solidFill>
                  <a:srgbClr val="123830"/>
                </a:solidFill>
                <a:latin typeface="Aptos"/>
              </a:rPr>
              <a:t>, 578 (7795), 397–402.</a:t>
            </a:r>
          </a:p>
        </p:txBody>
      </p:sp>
      <p:sp>
        <p:nvSpPr>
          <p:cNvPr id="15" name="TextBox 14"/>
          <p:cNvSpPr txBox="1"/>
          <p:nvPr/>
        </p:nvSpPr>
        <p:spPr>
          <a:xfrm>
            <a:off x="685800" y="5047488"/>
            <a:ext cx="10881360" cy="237744"/>
          </a:xfrm>
          <a:prstGeom prst="rect">
            <a:avLst/>
          </a:prstGeom>
          <a:noFill/>
        </p:spPr>
        <p:txBody>
          <a:bodyPr wrap="square">
            <a:spAutoFit/>
          </a:bodyPr>
          <a:lstStyle/>
          <a:p>
            <a:r>
              <a:rPr sz="1050" b="0" i="0">
                <a:solidFill>
                  <a:srgbClr val="123830"/>
                </a:solidFill>
                <a:latin typeface="Aptos"/>
              </a:rPr>
              <a:t>Graff, D. E.; Shakhnovich, E. I.; Coley, C. W. </a:t>
            </a:r>
            <a:r>
              <a:rPr sz="1050" b="0" i="1">
                <a:solidFill>
                  <a:srgbClr val="123830"/>
                </a:solidFill>
                <a:latin typeface="Aptos"/>
              </a:rPr>
              <a:t>Chem. Sci.</a:t>
            </a:r>
            <a:r>
              <a:rPr sz="1050" b="0" i="0">
                <a:solidFill>
                  <a:srgbClr val="123830"/>
                </a:solidFill>
                <a:latin typeface="Aptos"/>
              </a:rPr>
              <a:t> </a:t>
            </a:r>
            <a:r>
              <a:rPr sz="1050" b="1" i="0">
                <a:solidFill>
                  <a:srgbClr val="123830"/>
                </a:solidFill>
                <a:latin typeface="Aptos"/>
              </a:rPr>
              <a:t>2021</a:t>
            </a:r>
            <a:r>
              <a:rPr sz="1050" b="0" i="0">
                <a:solidFill>
                  <a:srgbClr val="123830"/>
                </a:solidFill>
                <a:latin typeface="Aptos"/>
              </a:rPr>
              <a:t>, 12 (22), 7866–7881.</a:t>
            </a:r>
          </a:p>
        </p:txBody>
      </p:sp>
      <p:sp>
        <p:nvSpPr>
          <p:cNvPr id="16" name="TextBox 15"/>
          <p:cNvSpPr txBox="1"/>
          <p:nvPr/>
        </p:nvSpPr>
        <p:spPr>
          <a:xfrm>
            <a:off x="685800" y="5367527"/>
            <a:ext cx="10881360" cy="420624"/>
          </a:xfrm>
          <a:prstGeom prst="rect">
            <a:avLst/>
          </a:prstGeom>
          <a:noFill/>
        </p:spPr>
        <p:txBody>
          <a:bodyPr wrap="square">
            <a:spAutoFit/>
          </a:bodyPr>
          <a:lstStyle/>
          <a:p>
            <a:r>
              <a:rPr sz="1050" b="0" i="0">
                <a:solidFill>
                  <a:srgbClr val="123830"/>
                </a:solidFill>
                <a:latin typeface="Aptos"/>
              </a:rPr>
              <a:t>Christensen, M.; Yunker, L. P. E.; Adedeji, F.; Häse, F.; Roch, L. M.; Gensch, T.; dos Passos Gomes, G.; Zepel, T.; Sigman, M. S.; Aspuru-Guzik, A.; Hein, J. E. </a:t>
            </a:r>
            <a:r>
              <a:rPr sz="1050" b="0" i="1">
                <a:solidFill>
                  <a:srgbClr val="123830"/>
                </a:solidFill>
                <a:latin typeface="Aptos"/>
              </a:rPr>
              <a:t>Commun. Chem.</a:t>
            </a:r>
            <a:r>
              <a:rPr sz="1050" b="0" i="0">
                <a:solidFill>
                  <a:srgbClr val="123830"/>
                </a:solidFill>
                <a:latin typeface="Aptos"/>
              </a:rPr>
              <a:t> </a:t>
            </a:r>
            <a:r>
              <a:rPr sz="1050" b="1" i="0">
                <a:solidFill>
                  <a:srgbClr val="123830"/>
                </a:solidFill>
                <a:latin typeface="Aptos"/>
              </a:rPr>
              <a:t>2021</a:t>
            </a:r>
            <a:r>
              <a:rPr sz="1050" b="0" i="0">
                <a:solidFill>
                  <a:srgbClr val="123830"/>
                </a:solidFill>
                <a:latin typeface="Aptos"/>
              </a:rPr>
              <a:t>, 4 (1), 112.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5888"/>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0" rIns="320040" bIns="0" rtlCol="0" anchor="ctr"/>
          <a:lstStyle/>
          <a:p>
            <a:pPr algn="ctr"/>
            <a:r>
              <a:rPr sz="2400">
                <a:solidFill>
                  <a:srgbClr val="000000"/>
                </a:solidFill>
                <a:latin typeface="Avenir Book"/>
              </a:rPr>
              <a:t>References — categorical, multi-objective, noise</a:t>
            </a:r>
          </a:p>
        </p:txBody>
      </p:sp>
      <p:sp>
        <p:nvSpPr>
          <p:cNvPr id="3" name="Rectangle 2"/>
          <p:cNvSpPr/>
          <p:nvPr/>
        </p:nvSpPr>
        <p:spPr>
          <a:xfrm>
            <a:off x="0" y="6420825"/>
            <a:ext cx="12191695" cy="4572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228600" bIns="0" rtlCol="0" anchor="ctr"/>
          <a:lstStyle/>
          <a:p>
            <a:pPr algn="r"/>
            <a:r>
              <a:rPr sz="1600">
                <a:solidFill>
                  <a:srgbClr val="000000"/>
                </a:solidFill>
                <a:latin typeface="Avenir Book"/>
              </a:rPr>
              <a:t>AI4ChemicalSciences BootCamp 2026</a:t>
            </a:r>
          </a:p>
        </p:txBody>
      </p:sp>
      <p:pic>
        <p:nvPicPr>
          <p:cNvPr id="4" name="Picture 3" descr="image1.png"/>
          <p:cNvPicPr>
            <a:picLocks noChangeAspect="1"/>
          </p:cNvPicPr>
          <p:nvPr/>
        </p:nvPicPr>
        <p:blipFill>
          <a:blip r:embed="rId3"/>
          <a:stretch>
            <a:fillRect/>
          </a:stretch>
        </p:blipFill>
        <p:spPr>
          <a:xfrm>
            <a:off x="46634" y="6459778"/>
            <a:ext cx="1554480" cy="379476"/>
          </a:xfrm>
          <a:prstGeom prst="rect">
            <a:avLst/>
          </a:prstGeom>
        </p:spPr>
      </p:pic>
      <p:sp>
        <p:nvSpPr>
          <p:cNvPr id="5" name="TextBox 4"/>
          <p:cNvSpPr txBox="1"/>
          <p:nvPr/>
        </p:nvSpPr>
        <p:spPr>
          <a:xfrm>
            <a:off x="640080" y="1133856"/>
            <a:ext cx="10881360" cy="237744"/>
          </a:xfrm>
          <a:prstGeom prst="rect">
            <a:avLst/>
          </a:prstGeom>
          <a:noFill/>
        </p:spPr>
        <p:txBody>
          <a:bodyPr wrap="none">
            <a:spAutoFit/>
          </a:bodyPr>
          <a:lstStyle/>
          <a:p>
            <a:r>
              <a:rPr sz="1200" b="1" i="0">
                <a:solidFill>
                  <a:srgbClr val="1B8A98"/>
                </a:solidFill>
                <a:latin typeface="Aptos"/>
              </a:rPr>
              <a:t>CATEGORICAL VARIABLES AND ENCODING</a:t>
            </a:r>
          </a:p>
        </p:txBody>
      </p:sp>
      <p:sp>
        <p:nvSpPr>
          <p:cNvPr id="6" name="TextBox 5"/>
          <p:cNvSpPr txBox="1"/>
          <p:nvPr/>
        </p:nvSpPr>
        <p:spPr>
          <a:xfrm>
            <a:off x="685800" y="1408176"/>
            <a:ext cx="10881360" cy="237744"/>
          </a:xfrm>
          <a:prstGeom prst="rect">
            <a:avLst/>
          </a:prstGeom>
          <a:noFill/>
        </p:spPr>
        <p:txBody>
          <a:bodyPr wrap="square">
            <a:spAutoFit/>
          </a:bodyPr>
          <a:lstStyle/>
          <a:p>
            <a:r>
              <a:rPr sz="950" b="0" i="0">
                <a:solidFill>
                  <a:srgbClr val="123830"/>
                </a:solidFill>
                <a:latin typeface="Aptos"/>
              </a:rPr>
              <a:t>Häse, F.; Aldeghi, M.; Hickman, R. J.; Roch, L. M.; Aspuru-Guzik, A. </a:t>
            </a:r>
            <a:r>
              <a:rPr sz="950" b="0" i="1">
                <a:solidFill>
                  <a:srgbClr val="123830"/>
                </a:solidFill>
                <a:latin typeface="Aptos"/>
              </a:rPr>
              <a:t>Appl. Phys. Rev.</a:t>
            </a:r>
            <a:r>
              <a:rPr sz="950" b="0" i="0">
                <a:solidFill>
                  <a:srgbClr val="123830"/>
                </a:solidFill>
                <a:latin typeface="Aptos"/>
              </a:rPr>
              <a:t> </a:t>
            </a:r>
            <a:r>
              <a:rPr sz="950" b="1" i="0">
                <a:solidFill>
                  <a:srgbClr val="123830"/>
                </a:solidFill>
                <a:latin typeface="Aptos"/>
              </a:rPr>
              <a:t>2021</a:t>
            </a:r>
            <a:r>
              <a:rPr sz="950" b="0" i="0">
                <a:solidFill>
                  <a:srgbClr val="123830"/>
                </a:solidFill>
                <a:latin typeface="Aptos"/>
              </a:rPr>
              <a:t>, 8 (3), 031406.  (Gryffin)</a:t>
            </a:r>
          </a:p>
        </p:txBody>
      </p:sp>
      <p:sp>
        <p:nvSpPr>
          <p:cNvPr id="7" name="TextBox 6"/>
          <p:cNvSpPr txBox="1"/>
          <p:nvPr/>
        </p:nvSpPr>
        <p:spPr>
          <a:xfrm>
            <a:off x="685800" y="1691640"/>
            <a:ext cx="10881360" cy="237744"/>
          </a:xfrm>
          <a:prstGeom prst="rect">
            <a:avLst/>
          </a:prstGeom>
          <a:noFill/>
        </p:spPr>
        <p:txBody>
          <a:bodyPr wrap="square">
            <a:spAutoFit/>
          </a:bodyPr>
          <a:lstStyle/>
          <a:p>
            <a:r>
              <a:rPr sz="950" b="0" i="0">
                <a:solidFill>
                  <a:srgbClr val="123830"/>
                </a:solidFill>
                <a:latin typeface="Aptos"/>
              </a:rPr>
              <a:t>Häse, F.; Roch, L. M.; Kreisbeck, C.; Aspuru-Guzik, A. </a:t>
            </a:r>
            <a:r>
              <a:rPr sz="950" b="0" i="1">
                <a:solidFill>
                  <a:srgbClr val="123830"/>
                </a:solidFill>
                <a:latin typeface="Aptos"/>
              </a:rPr>
              <a:t>ACS Cent. Sci.</a:t>
            </a:r>
            <a:r>
              <a:rPr sz="950" b="0" i="0">
                <a:solidFill>
                  <a:srgbClr val="123830"/>
                </a:solidFill>
                <a:latin typeface="Aptos"/>
              </a:rPr>
              <a:t> </a:t>
            </a:r>
            <a:r>
              <a:rPr sz="950" b="1" i="0">
                <a:solidFill>
                  <a:srgbClr val="123830"/>
                </a:solidFill>
                <a:latin typeface="Aptos"/>
              </a:rPr>
              <a:t>2018</a:t>
            </a:r>
            <a:r>
              <a:rPr sz="950" b="0" i="0">
                <a:solidFill>
                  <a:srgbClr val="123830"/>
                </a:solidFill>
                <a:latin typeface="Aptos"/>
              </a:rPr>
              <a:t>, 4 (9), 1134–1145.  (Phoenics)</a:t>
            </a:r>
          </a:p>
        </p:txBody>
      </p:sp>
      <p:sp>
        <p:nvSpPr>
          <p:cNvPr id="8" name="TextBox 7"/>
          <p:cNvSpPr txBox="1"/>
          <p:nvPr/>
        </p:nvSpPr>
        <p:spPr>
          <a:xfrm>
            <a:off x="685800" y="1975104"/>
            <a:ext cx="10881360" cy="237744"/>
          </a:xfrm>
          <a:prstGeom prst="rect">
            <a:avLst/>
          </a:prstGeom>
          <a:noFill/>
        </p:spPr>
        <p:txBody>
          <a:bodyPr wrap="square">
            <a:spAutoFit/>
          </a:bodyPr>
          <a:lstStyle/>
          <a:p>
            <a:r>
              <a:rPr sz="950" b="0" i="0">
                <a:solidFill>
                  <a:srgbClr val="123830"/>
                </a:solidFill>
                <a:latin typeface="Aptos"/>
              </a:rPr>
              <a:t>Ranković, B.; Griffiths, R.-R.; Moss, H. B.; Schwaller, P. </a:t>
            </a:r>
            <a:r>
              <a:rPr sz="950" b="0" i="1">
                <a:solidFill>
                  <a:srgbClr val="123830"/>
                </a:solidFill>
                <a:latin typeface="Aptos"/>
              </a:rPr>
              <a:t>Digital Discovery</a:t>
            </a:r>
            <a:r>
              <a:rPr sz="950" b="0" i="0">
                <a:solidFill>
                  <a:srgbClr val="123830"/>
                </a:solidFill>
                <a:latin typeface="Aptos"/>
              </a:rPr>
              <a:t> </a:t>
            </a:r>
            <a:r>
              <a:rPr sz="950" b="1" i="0">
                <a:solidFill>
                  <a:srgbClr val="123830"/>
                </a:solidFill>
                <a:latin typeface="Aptos"/>
              </a:rPr>
              <a:t>2024</a:t>
            </a:r>
            <a:r>
              <a:rPr sz="950" b="0" i="0">
                <a:solidFill>
                  <a:srgbClr val="123830"/>
                </a:solidFill>
                <a:latin typeface="Aptos"/>
              </a:rPr>
              <a:t>, 3 (4), 654–666.  (representation beats acquisition)</a:t>
            </a:r>
          </a:p>
        </p:txBody>
      </p:sp>
      <p:sp>
        <p:nvSpPr>
          <p:cNvPr id="9" name="TextBox 8"/>
          <p:cNvSpPr txBox="1"/>
          <p:nvPr/>
        </p:nvSpPr>
        <p:spPr>
          <a:xfrm>
            <a:off x="640080" y="2258568"/>
            <a:ext cx="10881360" cy="237744"/>
          </a:xfrm>
          <a:prstGeom prst="rect">
            <a:avLst/>
          </a:prstGeom>
          <a:noFill/>
        </p:spPr>
        <p:txBody>
          <a:bodyPr wrap="none">
            <a:spAutoFit/>
          </a:bodyPr>
          <a:lstStyle/>
          <a:p>
            <a:r>
              <a:rPr sz="1200" b="1" i="0">
                <a:solidFill>
                  <a:srgbClr val="1B8A98"/>
                </a:solidFill>
                <a:latin typeface="Aptos"/>
              </a:rPr>
              <a:t>MULTI-OBJECTIVE, BATCH AND ROBUSTNESS</a:t>
            </a:r>
          </a:p>
        </p:txBody>
      </p:sp>
      <p:sp>
        <p:nvSpPr>
          <p:cNvPr id="10" name="TextBox 9"/>
          <p:cNvSpPr txBox="1"/>
          <p:nvPr/>
        </p:nvSpPr>
        <p:spPr>
          <a:xfrm>
            <a:off x="685800" y="2532888"/>
            <a:ext cx="10881360" cy="420624"/>
          </a:xfrm>
          <a:prstGeom prst="rect">
            <a:avLst/>
          </a:prstGeom>
          <a:noFill/>
        </p:spPr>
        <p:txBody>
          <a:bodyPr wrap="square">
            <a:spAutoFit/>
          </a:bodyPr>
          <a:lstStyle/>
          <a:p>
            <a:r>
              <a:rPr sz="950" b="0" i="0">
                <a:solidFill>
                  <a:srgbClr val="123830"/>
                </a:solidFill>
                <a:latin typeface="Aptos"/>
              </a:rPr>
              <a:t>Torres, J. A. G.; Lau, S. H.; Anchuri, P.; Stevens, J. M.; Tabora, J. E.; Li, J.; Borovika, A.; Adams, R. P.; Doyle, A. G. </a:t>
            </a:r>
            <a:r>
              <a:rPr sz="950" b="0" i="1">
                <a:solidFill>
                  <a:srgbClr val="123830"/>
                </a:solidFill>
                <a:latin typeface="Aptos"/>
              </a:rPr>
              <a:t>J. Am. Chem. Soc.</a:t>
            </a:r>
            <a:r>
              <a:rPr sz="950" b="0" i="0">
                <a:solidFill>
                  <a:srgbClr val="123830"/>
                </a:solidFill>
                <a:latin typeface="Aptos"/>
              </a:rPr>
              <a:t> </a:t>
            </a:r>
            <a:r>
              <a:rPr sz="950" b="1" i="0">
                <a:solidFill>
                  <a:srgbClr val="123830"/>
                </a:solidFill>
                <a:latin typeface="Aptos"/>
              </a:rPr>
              <a:t>2022</a:t>
            </a:r>
            <a:r>
              <a:rPr sz="950" b="0" i="0">
                <a:solidFill>
                  <a:srgbClr val="123830"/>
                </a:solidFill>
                <a:latin typeface="Aptos"/>
              </a:rPr>
              <a:t>, 144 (43), 19999–20007.  (multi-objective platform + web app)</a:t>
            </a:r>
          </a:p>
        </p:txBody>
      </p:sp>
      <p:sp>
        <p:nvSpPr>
          <p:cNvPr id="11" name="TextBox 10"/>
          <p:cNvSpPr txBox="1"/>
          <p:nvPr/>
        </p:nvSpPr>
        <p:spPr>
          <a:xfrm>
            <a:off x="685800" y="2999232"/>
            <a:ext cx="10881360" cy="237744"/>
          </a:xfrm>
          <a:prstGeom prst="rect">
            <a:avLst/>
          </a:prstGeom>
          <a:noFill/>
        </p:spPr>
        <p:txBody>
          <a:bodyPr wrap="square">
            <a:spAutoFit/>
          </a:bodyPr>
          <a:lstStyle/>
          <a:p>
            <a:r>
              <a:rPr sz="950" b="0" i="0">
                <a:solidFill>
                  <a:srgbClr val="123830"/>
                </a:solidFill>
                <a:latin typeface="Aptos"/>
              </a:rPr>
              <a:t>Aldeghi, M.; Häse, F.; Hickman, R. J.; Tamblyn, I.; Aspuru-Guzik, A. </a:t>
            </a:r>
            <a:r>
              <a:rPr sz="950" b="0" i="1">
                <a:solidFill>
                  <a:srgbClr val="123830"/>
                </a:solidFill>
                <a:latin typeface="Aptos"/>
              </a:rPr>
              <a:t>Chem. Sci.</a:t>
            </a:r>
            <a:r>
              <a:rPr sz="950" b="0" i="0">
                <a:solidFill>
                  <a:srgbClr val="123830"/>
                </a:solidFill>
                <a:latin typeface="Aptos"/>
              </a:rPr>
              <a:t> </a:t>
            </a:r>
            <a:r>
              <a:rPr sz="950" b="1" i="0">
                <a:solidFill>
                  <a:srgbClr val="123830"/>
                </a:solidFill>
                <a:latin typeface="Aptos"/>
              </a:rPr>
              <a:t>2021</a:t>
            </a:r>
            <a:r>
              <a:rPr sz="950" b="0" i="0">
                <a:solidFill>
                  <a:srgbClr val="123830"/>
                </a:solidFill>
                <a:latin typeface="Aptos"/>
              </a:rPr>
              <a:t>, 12 (44), 14792–14807.  (Golem)</a:t>
            </a:r>
          </a:p>
        </p:txBody>
      </p:sp>
      <p:sp>
        <p:nvSpPr>
          <p:cNvPr id="12" name="TextBox 11"/>
          <p:cNvSpPr txBox="1"/>
          <p:nvPr/>
        </p:nvSpPr>
        <p:spPr>
          <a:xfrm>
            <a:off x="685800" y="3282696"/>
            <a:ext cx="10881360" cy="420624"/>
          </a:xfrm>
          <a:prstGeom prst="rect">
            <a:avLst/>
          </a:prstGeom>
          <a:noFill/>
        </p:spPr>
        <p:txBody>
          <a:bodyPr wrap="square">
            <a:spAutoFit/>
          </a:bodyPr>
          <a:lstStyle/>
          <a:p>
            <a:r>
              <a:rPr sz="950" b="0" i="0">
                <a:solidFill>
                  <a:srgbClr val="123830"/>
                </a:solidFill>
                <a:latin typeface="Aptos"/>
              </a:rPr>
              <a:t>Ginsbourger, D.; Le Riche, R.; Carraro, L. In </a:t>
            </a:r>
            <a:r>
              <a:rPr sz="950" b="0" i="1">
                <a:solidFill>
                  <a:srgbClr val="123830"/>
                </a:solidFill>
                <a:latin typeface="Aptos"/>
              </a:rPr>
              <a:t>Computational Intelligence in Expensive Optimization Problems</a:t>
            </a:r>
            <a:r>
              <a:rPr sz="950" b="0" i="0">
                <a:solidFill>
                  <a:srgbClr val="123830"/>
                </a:solidFill>
                <a:latin typeface="Aptos"/>
              </a:rPr>
              <a:t>; Tenne, Y., Goh, C.-K., Eds.; Springer: Berlin, 2010; pp 131–162.  (constant liar / Kriging believer)</a:t>
            </a:r>
          </a:p>
        </p:txBody>
      </p:sp>
      <p:sp>
        <p:nvSpPr>
          <p:cNvPr id="13" name="TextBox 12"/>
          <p:cNvSpPr txBox="1"/>
          <p:nvPr/>
        </p:nvSpPr>
        <p:spPr>
          <a:xfrm>
            <a:off x="685800" y="3749040"/>
            <a:ext cx="10881360" cy="420624"/>
          </a:xfrm>
          <a:prstGeom prst="rect">
            <a:avLst/>
          </a:prstGeom>
          <a:noFill/>
        </p:spPr>
        <p:txBody>
          <a:bodyPr wrap="square">
            <a:spAutoFit/>
          </a:bodyPr>
          <a:lstStyle/>
          <a:p>
            <a:r>
              <a:rPr sz="950" b="0" i="0">
                <a:solidFill>
                  <a:srgbClr val="123830"/>
                </a:solidFill>
                <a:latin typeface="Aptos"/>
              </a:rPr>
              <a:t>González, J.; Dai, Z.; Hennig, P.; Lawrence, N. In </a:t>
            </a:r>
            <a:r>
              <a:rPr sz="950" b="0" i="1">
                <a:solidFill>
                  <a:srgbClr val="123830"/>
                </a:solidFill>
                <a:latin typeface="Aptos"/>
              </a:rPr>
              <a:t>Proceedings of the 19th International Conference on Artificial Intelligence and Statistics</a:t>
            </a:r>
            <a:r>
              <a:rPr sz="950" b="0" i="0">
                <a:solidFill>
                  <a:srgbClr val="123830"/>
                </a:solidFill>
                <a:latin typeface="Aptos"/>
              </a:rPr>
              <a:t>; PMLR, 2016; Vol. 51, pp 648–657.  (local penalization)</a:t>
            </a:r>
          </a:p>
        </p:txBody>
      </p:sp>
      <p:sp>
        <p:nvSpPr>
          <p:cNvPr id="14" name="TextBox 13"/>
          <p:cNvSpPr txBox="1"/>
          <p:nvPr/>
        </p:nvSpPr>
        <p:spPr>
          <a:xfrm>
            <a:off x="640080" y="4215384"/>
            <a:ext cx="10881360" cy="237744"/>
          </a:xfrm>
          <a:prstGeom prst="rect">
            <a:avLst/>
          </a:prstGeom>
          <a:noFill/>
        </p:spPr>
        <p:txBody>
          <a:bodyPr wrap="none">
            <a:spAutoFit/>
          </a:bodyPr>
          <a:lstStyle/>
          <a:p>
            <a:r>
              <a:rPr sz="1200" b="1" i="0">
                <a:solidFill>
                  <a:srgbClr val="1B8A98"/>
                </a:solidFill>
                <a:latin typeface="Aptos"/>
              </a:rPr>
              <a:t>NOISE</a:t>
            </a:r>
          </a:p>
        </p:txBody>
      </p:sp>
      <p:sp>
        <p:nvSpPr>
          <p:cNvPr id="15" name="TextBox 14"/>
          <p:cNvSpPr txBox="1"/>
          <p:nvPr/>
        </p:nvSpPr>
        <p:spPr>
          <a:xfrm>
            <a:off x="685800" y="4489704"/>
            <a:ext cx="10881360" cy="237744"/>
          </a:xfrm>
          <a:prstGeom prst="rect">
            <a:avLst/>
          </a:prstGeom>
          <a:noFill/>
        </p:spPr>
        <p:txBody>
          <a:bodyPr wrap="square">
            <a:spAutoFit/>
          </a:bodyPr>
          <a:lstStyle/>
          <a:p>
            <a:r>
              <a:rPr sz="950" b="0" i="0">
                <a:solidFill>
                  <a:srgbClr val="123830"/>
                </a:solidFill>
                <a:latin typeface="Aptos"/>
              </a:rPr>
              <a:t>Picheny, V.; Wagner, T.; Ginsbourger, D. </a:t>
            </a:r>
            <a:r>
              <a:rPr sz="950" b="0" i="1">
                <a:solidFill>
                  <a:srgbClr val="123830"/>
                </a:solidFill>
                <a:latin typeface="Aptos"/>
              </a:rPr>
              <a:t>Struct. Multidiscip. Optim.</a:t>
            </a:r>
            <a:r>
              <a:rPr sz="950" b="0" i="0">
                <a:solidFill>
                  <a:srgbClr val="123830"/>
                </a:solidFill>
                <a:latin typeface="Aptos"/>
              </a:rPr>
              <a:t> </a:t>
            </a:r>
            <a:r>
              <a:rPr sz="950" b="1" i="0">
                <a:solidFill>
                  <a:srgbClr val="123830"/>
                </a:solidFill>
                <a:latin typeface="Aptos"/>
              </a:rPr>
              <a:t>2013</a:t>
            </a:r>
            <a:r>
              <a:rPr sz="950" b="0" i="0">
                <a:solidFill>
                  <a:srgbClr val="123830"/>
                </a:solidFill>
                <a:latin typeface="Aptos"/>
              </a:rPr>
              <a:t>, 48 (3), 607–626.</a:t>
            </a:r>
          </a:p>
        </p:txBody>
      </p:sp>
      <p:sp>
        <p:nvSpPr>
          <p:cNvPr id="16" name="TextBox 15"/>
          <p:cNvSpPr txBox="1"/>
          <p:nvPr/>
        </p:nvSpPr>
        <p:spPr>
          <a:xfrm>
            <a:off x="685800" y="4773168"/>
            <a:ext cx="10881360" cy="237744"/>
          </a:xfrm>
          <a:prstGeom prst="rect">
            <a:avLst/>
          </a:prstGeom>
          <a:noFill/>
        </p:spPr>
        <p:txBody>
          <a:bodyPr wrap="square">
            <a:spAutoFit/>
          </a:bodyPr>
          <a:lstStyle/>
          <a:p>
            <a:r>
              <a:rPr sz="950" b="0" i="0">
                <a:solidFill>
                  <a:srgbClr val="123830"/>
                </a:solidFill>
                <a:latin typeface="Aptos"/>
              </a:rPr>
              <a:t>Letham, B.; Karrer, B.; Ottoni, G.; Bakshy, E. </a:t>
            </a:r>
            <a:r>
              <a:rPr sz="950" b="0" i="1">
                <a:solidFill>
                  <a:srgbClr val="123830"/>
                </a:solidFill>
                <a:latin typeface="Aptos"/>
              </a:rPr>
              <a:t>Bayesian Anal.</a:t>
            </a:r>
            <a:r>
              <a:rPr sz="950" b="0" i="0">
                <a:solidFill>
                  <a:srgbClr val="123830"/>
                </a:solidFill>
                <a:latin typeface="Aptos"/>
              </a:rPr>
              <a:t> </a:t>
            </a:r>
            <a:r>
              <a:rPr sz="950" b="1" i="0">
                <a:solidFill>
                  <a:srgbClr val="123830"/>
                </a:solidFill>
                <a:latin typeface="Aptos"/>
              </a:rPr>
              <a:t>2019</a:t>
            </a:r>
            <a:r>
              <a:rPr sz="950" b="0" i="0">
                <a:solidFill>
                  <a:srgbClr val="123830"/>
                </a:solidFill>
                <a:latin typeface="Aptos"/>
              </a:rPr>
              <a:t>, 14 (2), 495–519.  (Noisy EI)</a:t>
            </a:r>
          </a:p>
        </p:txBody>
      </p:sp>
      <p:sp>
        <p:nvSpPr>
          <p:cNvPr id="17" name="TextBox 16"/>
          <p:cNvSpPr txBox="1"/>
          <p:nvPr/>
        </p:nvSpPr>
        <p:spPr>
          <a:xfrm>
            <a:off x="685800" y="5056631"/>
            <a:ext cx="10881360" cy="237744"/>
          </a:xfrm>
          <a:prstGeom prst="rect">
            <a:avLst/>
          </a:prstGeom>
          <a:noFill/>
        </p:spPr>
        <p:txBody>
          <a:bodyPr wrap="square">
            <a:spAutoFit/>
          </a:bodyPr>
          <a:lstStyle/>
          <a:p>
            <a:r>
              <a:rPr sz="950" b="0" i="0">
                <a:solidFill>
                  <a:srgbClr val="123830"/>
                </a:solidFill>
                <a:latin typeface="Aptos"/>
              </a:rPr>
              <a:t>Griffiths, R.-R.; Aldrick, A. A.; Garcia-Ortegon, M.; Lalchand, V.; Lee, A. A. </a:t>
            </a:r>
            <a:r>
              <a:rPr sz="950" b="0" i="1">
                <a:solidFill>
                  <a:srgbClr val="123830"/>
                </a:solidFill>
                <a:latin typeface="Aptos"/>
              </a:rPr>
              <a:t>Mach. Learn.: Sci. Technol.</a:t>
            </a:r>
            <a:r>
              <a:rPr sz="950" b="0" i="0">
                <a:solidFill>
                  <a:srgbClr val="123830"/>
                </a:solidFill>
                <a:latin typeface="Aptos"/>
              </a:rPr>
              <a:t> </a:t>
            </a:r>
            <a:r>
              <a:rPr sz="950" b="1" i="0">
                <a:solidFill>
                  <a:srgbClr val="123830"/>
                </a:solidFill>
                <a:latin typeface="Aptos"/>
              </a:rPr>
              <a:t>2022</a:t>
            </a:r>
            <a:r>
              <a:rPr sz="950" b="0" i="0">
                <a:solidFill>
                  <a:srgbClr val="123830"/>
                </a:solidFill>
                <a:latin typeface="Aptos"/>
              </a:rPr>
              <a:t>, 3 (1), 015004.</a:t>
            </a:r>
          </a:p>
        </p:txBody>
      </p:sp>
      <p:sp>
        <p:nvSpPr>
          <p:cNvPr id="18" name="TextBox 17"/>
          <p:cNvSpPr txBox="1"/>
          <p:nvPr/>
        </p:nvSpPr>
        <p:spPr>
          <a:xfrm>
            <a:off x="685800" y="5340095"/>
            <a:ext cx="10881360" cy="237744"/>
          </a:xfrm>
          <a:prstGeom prst="rect">
            <a:avLst/>
          </a:prstGeom>
          <a:noFill/>
        </p:spPr>
        <p:txBody>
          <a:bodyPr wrap="square">
            <a:spAutoFit/>
          </a:bodyPr>
          <a:lstStyle/>
          <a:p>
            <a:r>
              <a:rPr sz="950" b="0" i="0">
                <a:solidFill>
                  <a:srgbClr val="123830"/>
                </a:solidFill>
                <a:latin typeface="Aptos"/>
              </a:rPr>
              <a:t>Binois, M.; Huang, J.; Gramacy, R. B.; Ludkovski, M. </a:t>
            </a:r>
            <a:r>
              <a:rPr sz="950" b="0" i="1">
                <a:solidFill>
                  <a:srgbClr val="123830"/>
                </a:solidFill>
                <a:latin typeface="Aptos"/>
              </a:rPr>
              <a:t>Technometrics</a:t>
            </a:r>
            <a:r>
              <a:rPr sz="950" b="0" i="0">
                <a:solidFill>
                  <a:srgbClr val="123830"/>
                </a:solidFill>
                <a:latin typeface="Aptos"/>
              </a:rPr>
              <a:t> </a:t>
            </a:r>
            <a:r>
              <a:rPr sz="950" b="1" i="0">
                <a:solidFill>
                  <a:srgbClr val="123830"/>
                </a:solidFill>
                <a:latin typeface="Aptos"/>
              </a:rPr>
              <a:t>2019</a:t>
            </a:r>
            <a:r>
              <a:rPr sz="950" b="0" i="0">
                <a:solidFill>
                  <a:srgbClr val="123830"/>
                </a:solidFill>
                <a:latin typeface="Aptos"/>
              </a:rPr>
              <a:t>, 61 (1), 7–23.  (replicate vs explore)</a:t>
            </a:r>
          </a:p>
        </p:txBody>
      </p:sp>
      <p:sp>
        <p:nvSpPr>
          <p:cNvPr id="19" name="TextBox 18"/>
          <p:cNvSpPr txBox="1"/>
          <p:nvPr/>
        </p:nvSpPr>
        <p:spPr>
          <a:xfrm>
            <a:off x="685800" y="5623559"/>
            <a:ext cx="10881360" cy="237744"/>
          </a:xfrm>
          <a:prstGeom prst="rect">
            <a:avLst/>
          </a:prstGeom>
          <a:noFill/>
        </p:spPr>
        <p:txBody>
          <a:bodyPr wrap="square">
            <a:spAutoFit/>
          </a:bodyPr>
          <a:lstStyle/>
          <a:p>
            <a:r>
              <a:rPr sz="950" b="0" i="0">
                <a:solidFill>
                  <a:srgbClr val="123830"/>
                </a:solidFill>
                <a:latin typeface="Aptos"/>
              </a:rPr>
              <a:t>Luo, G.; Yang, X.; Su, W.; Qi, T.; Xu, Q.; Su, A. </a:t>
            </a:r>
            <a:r>
              <a:rPr sz="950" b="0" i="1">
                <a:solidFill>
                  <a:srgbClr val="123830"/>
                </a:solidFill>
                <a:latin typeface="Aptos"/>
              </a:rPr>
              <a:t>Chem. Eng. Sci.</a:t>
            </a:r>
            <a:r>
              <a:rPr sz="950" b="0" i="0">
                <a:solidFill>
                  <a:srgbClr val="123830"/>
                </a:solidFill>
                <a:latin typeface="Aptos"/>
              </a:rPr>
              <a:t> </a:t>
            </a:r>
            <a:r>
              <a:rPr sz="950" b="1" i="0">
                <a:solidFill>
                  <a:srgbClr val="123830"/>
                </a:solidFill>
                <a:latin typeface="Aptos"/>
              </a:rPr>
              <a:t>2024</a:t>
            </a:r>
            <a:r>
              <a:rPr sz="950" b="0" i="0">
                <a:solidFill>
                  <a:srgbClr val="123830"/>
                </a:solidFill>
                <a:latin typeface="Aptos"/>
              </a:rPr>
              <a:t>, 298, 120434.  (noise-resilient MOBO, chemistry)</a:t>
            </a:r>
          </a:p>
        </p:txBody>
      </p:sp>
      <p:sp>
        <p:nvSpPr>
          <p:cNvPr id="20" name="TextBox 19"/>
          <p:cNvSpPr txBox="1"/>
          <p:nvPr/>
        </p:nvSpPr>
        <p:spPr>
          <a:xfrm>
            <a:off x="685800" y="5907023"/>
            <a:ext cx="10881360" cy="237744"/>
          </a:xfrm>
          <a:prstGeom prst="rect">
            <a:avLst/>
          </a:prstGeom>
          <a:noFill/>
        </p:spPr>
        <p:txBody>
          <a:bodyPr wrap="square">
            <a:spAutoFit/>
          </a:bodyPr>
          <a:lstStyle/>
          <a:p>
            <a:r>
              <a:rPr sz="950" b="0" i="0">
                <a:solidFill>
                  <a:srgbClr val="123830"/>
                </a:solidFill>
                <a:latin typeface="Aptos"/>
              </a:rPr>
              <a:t>Zhang, J.; Semochkina, D.; Sugisawa, N.; Woods, D. C.; Lapkin, A. A. </a:t>
            </a:r>
            <a:r>
              <a:rPr sz="950" b="0" i="1">
                <a:solidFill>
                  <a:srgbClr val="123830"/>
                </a:solidFill>
                <a:latin typeface="Aptos"/>
              </a:rPr>
              <a:t>Comput. Chem. Eng.</a:t>
            </a:r>
            <a:r>
              <a:rPr sz="950" b="0" i="0">
                <a:solidFill>
                  <a:srgbClr val="123830"/>
                </a:solidFill>
                <a:latin typeface="Aptos"/>
              </a:rPr>
              <a:t> </a:t>
            </a:r>
            <a:r>
              <a:rPr sz="950" b="1" i="0">
                <a:solidFill>
                  <a:srgbClr val="123830"/>
                </a:solidFill>
                <a:latin typeface="Aptos"/>
              </a:rPr>
              <a:t>2025</a:t>
            </a:r>
            <a:r>
              <a:rPr sz="950" b="0" i="0">
                <a:solidFill>
                  <a:srgbClr val="123830"/>
                </a:solidFill>
                <a:latin typeface="Aptos"/>
              </a:rPr>
              <a:t>, 194, 108983.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20005</TotalTime>
  <Words>15046</Words>
  <Application>Microsoft Macintosh PowerPoint</Application>
  <PresentationFormat>Widescreen</PresentationFormat>
  <Paragraphs>1203</Paragraphs>
  <Slides>47</Slides>
  <Notes>47</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Aptos</vt:lpstr>
      <vt:lpstr>Aptos Display</vt:lpstr>
      <vt:lpstr>Arial</vt:lpstr>
      <vt:lpstr>Avenir Book</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Schleinitz, Jules</dc:creator>
  <cp:lastModifiedBy>Schleinitz, Jules</cp:lastModifiedBy>
  <cp:revision>167</cp:revision>
  <dcterms:created xsi:type="dcterms:W3CDTF">2026-07-17T19:13:41Z</dcterms:created>
  <dcterms:modified xsi:type="dcterms:W3CDTF">2026-08-18T20:05:52Z</dcterms:modified>
</cp:coreProperties>
</file>