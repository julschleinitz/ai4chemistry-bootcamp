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8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35.xml" ContentType="application/vnd.openxmlformats-officedocument.presentationml.notesSlide+xml"/>
  <Override PartName="/ppt/charts/chart11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2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13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14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304" r:id="rId11"/>
    <p:sldId id="263" r:id="rId12"/>
    <p:sldId id="264" r:id="rId13"/>
    <p:sldId id="266" r:id="rId14"/>
    <p:sldId id="267" r:id="rId15"/>
    <p:sldId id="305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79" r:id="rId28"/>
    <p:sldId id="283" r:id="rId29"/>
    <p:sldId id="284" r:id="rId30"/>
    <p:sldId id="306" r:id="rId31"/>
    <p:sldId id="285" r:id="rId32"/>
    <p:sldId id="286" r:id="rId33"/>
    <p:sldId id="308" r:id="rId34"/>
    <p:sldId id="309" r:id="rId35"/>
    <p:sldId id="271" r:id="rId36"/>
    <p:sldId id="287" r:id="rId37"/>
    <p:sldId id="310" r:id="rId38"/>
    <p:sldId id="288" r:id="rId39"/>
    <p:sldId id="290" r:id="rId40"/>
    <p:sldId id="289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699"/>
    <p:restoredTop sz="72734"/>
  </p:normalViewPr>
  <p:slideViewPr>
    <p:cSldViewPr snapToGrid="0" snapToObjects="1">
      <p:cViewPr>
        <p:scale>
          <a:sx n="88" d="100"/>
          <a:sy n="88" d="100"/>
        </p:scale>
        <p:origin x="1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log10 molecules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1-D752-334B-9792-4FD263DFADDE}"/>
              </c:ext>
            </c:extLst>
          </c:dPt>
          <c:dPt>
            <c:idx val="1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3-D752-334B-9792-4FD263DFADDE}"/>
              </c:ext>
            </c:extLst>
          </c:dPt>
          <c:dPt>
            <c:idx val="2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5-D752-334B-9792-4FD263DFADDE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D752-334B-9792-4FD263DFADDE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9-D752-334B-9792-4FD263DFADDE}"/>
              </c:ext>
            </c:extLst>
          </c:dPt>
          <c:dPt>
            <c:idx val="5"/>
            <c:invertIfNegative val="1"/>
            <c:bubble3D val="0"/>
            <c:spPr>
              <a:solidFill>
                <a:srgbClr val="B4551F"/>
              </a:solidFill>
            </c:spPr>
            <c:extLst>
              <c:ext xmlns:c16="http://schemas.microsoft.com/office/drawing/2014/chart" uri="{C3380CC4-5D6E-409C-BE32-E72D297353CC}">
                <c16:uniqueId val="{0000000B-D752-334B-9792-4FD263DFADDE}"/>
              </c:ext>
            </c:extLst>
          </c:dPt>
          <c:cat>
            <c:strRef>
              <c:f>Sheet1!$A$2:$A$7</c:f>
              <c:strCache>
                <c:ptCount val="6"/>
                <c:pt idx="0">
                  <c:v>GDB-17
enumerated
1.7 × 10¹¹</c:v>
                </c:pt>
                <c:pt idx="1">
                  <c:v>Enamine REAL
orderable
9.6 × 10⁹</c:v>
                </c:pt>
                <c:pt idx="2">
                  <c:v>PubChem
catalogued
1.2 × 10⁸</c:v>
                </c:pt>
                <c:pt idx="3">
                  <c:v>ChEMBL
bioactivity
2.4 × 10⁶</c:v>
                </c:pt>
                <c:pt idx="4">
                  <c:v>MoleculeNet
typical task
~2 × 10³</c:v>
                </c:pt>
                <c:pt idx="5">
                  <c:v>Experimental data
10-1000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11.22</c:v>
                </c:pt>
                <c:pt idx="1">
                  <c:v>9.98</c:v>
                </c:pt>
                <c:pt idx="2">
                  <c:v>8.08</c:v>
                </c:pt>
                <c:pt idx="3">
                  <c:v>6.38</c:v>
                </c:pt>
                <c:pt idx="4">
                  <c:v>3.3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52-334B-9792-4FD263DFA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molecules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 of drugs covered</c:v>
                </c:pt>
              </c:strCache>
            </c:strRef>
          </c:tx>
          <c:spPr>
            <a:ln w="33020">
              <a:solidFill>
                <a:srgbClr val="156082"/>
              </a:solidFill>
            </a:ln>
          </c:spPr>
          <c:marker>
            <c:symbol val="circle"/>
            <c:size val="6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32</c:v>
                </c:pt>
                <c:pt idx="5">
                  <c:v>60</c:v>
                </c:pt>
                <c:pt idx="6">
                  <c:v>120</c:v>
                </c:pt>
                <c:pt idx="7">
                  <c:v>300</c:v>
                </c:pt>
                <c:pt idx="8">
                  <c:v>700</c:v>
                </c:pt>
                <c:pt idx="9">
                  <c:v>1179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21</c:v>
                </c:pt>
                <c:pt idx="2">
                  <c:v>32</c:v>
                </c:pt>
                <c:pt idx="3">
                  <c:v>42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82</c:v>
                </c:pt>
                <c:pt idx="8">
                  <c:v>92</c:v>
                </c:pt>
                <c:pt idx="9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4B-8942-B0ED-DD91D43AC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200"/>
          <c:min val="0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number of distinct frameworks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% of the 5,120 drugs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F292-CB45-A9C7-B39ADE27F073}"/>
              </c:ext>
            </c:extLst>
          </c:dPt>
          <c:dPt>
            <c:idx val="1"/>
            <c:invertIfNegative val="1"/>
            <c:bubble3D val="0"/>
            <c:spPr>
              <a:solidFill>
                <a:srgbClr val="A02B93"/>
              </a:solidFill>
            </c:spPr>
            <c:extLst>
              <c:ext xmlns:c16="http://schemas.microsoft.com/office/drawing/2014/chart" uri="{C3380CC4-5D6E-409C-BE32-E72D297353CC}">
                <c16:uniqueId val="{00000003-F292-CB45-A9C7-B39ADE27F073}"/>
              </c:ext>
            </c:extLst>
          </c:dPt>
          <c:dPt>
            <c:idx val="2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5-F292-CB45-A9C7-B39ADE27F073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F292-CB45-A9C7-B39ADE27F073}"/>
              </c:ext>
            </c:extLst>
          </c:dPt>
          <c:dPt>
            <c:idx val="4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9-F292-CB45-A9C7-B39ADE27F073}"/>
              </c:ext>
            </c:extLst>
          </c:dPt>
          <c:dPt>
            <c:idx val="5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B-F292-CB45-A9C7-B39ADE27F073}"/>
              </c:ext>
            </c:extLst>
          </c:dPt>
          <c:dPt>
            <c:idx val="6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D-F292-CB45-A9C7-B39ADE27F073}"/>
              </c:ext>
            </c:extLst>
          </c:dPt>
          <c:dPt>
            <c:idx val="7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F-F292-CB45-A9C7-B39ADE27F073}"/>
              </c:ext>
            </c:extLst>
          </c:dPt>
          <c:cat>
            <c:strRef>
              <c:f>Sheet1!$A$2:$A$9</c:f>
              <c:strCache>
                <c:ptCount val="8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</c:v>
                </c:pt>
                <c:pt idx="7">
                  <c:v>PC8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19</c:v>
                </c:pt>
                <c:pt idx="2">
                  <c:v>11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292-CB45-A9C7-B39ADE27F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variance explained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TMAP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100 k</c:v>
                </c:pt>
                <c:pt idx="2">
                  <c:v>500 k</c:v>
                </c:pt>
                <c:pt idx="3">
                  <c:v>1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4.9000000000000004</c:v>
                </c:pt>
                <c:pt idx="1">
                  <c:v>33.5</c:v>
                </c:pt>
                <c:pt idx="2">
                  <c:v>175.9</c:v>
                </c:pt>
                <c:pt idx="3">
                  <c:v>355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AE-494F-8EE9-039095C55F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UMAP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100 k</c:v>
                </c:pt>
                <c:pt idx="2">
                  <c:v>500 k</c:v>
                </c:pt>
                <c:pt idx="3">
                  <c:v>1 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115.7</c:v>
                </c:pt>
                <c:pt idx="2">
                  <c:v>3578</c:v>
                </c:pt>
                <c:pt idx="3">
                  <c:v>41326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0AE-494F-8EE9-039095C55F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wall-clock seconds  (log scale)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random latent points that decode to a valid molecule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75EB-614E-A4E9-9C1B2D814B8D}"/>
              </c:ext>
            </c:extLst>
          </c:dPt>
          <c:dPt>
            <c:idx val="1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3-75EB-614E-A4E9-9C1B2D814B8D}"/>
              </c:ext>
            </c:extLst>
          </c:dPt>
          <c:dPt>
            <c:idx val="2"/>
            <c:invertIfNegative val="1"/>
            <c:bubble3D val="0"/>
            <c:spPr>
              <a:solidFill>
                <a:srgbClr val="B4551F"/>
              </a:solidFill>
            </c:spPr>
            <c:extLst>
              <c:ext xmlns:c16="http://schemas.microsoft.com/office/drawing/2014/chart" uri="{C3380CC4-5D6E-409C-BE32-E72D297353CC}">
                <c16:uniqueId val="{00000005-75EB-614E-A4E9-9C1B2D814B8D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75EB-614E-A4E9-9C1B2D814B8D}"/>
              </c:ext>
            </c:extLst>
          </c:dPt>
          <c:dPt>
            <c:idx val="4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9-75EB-614E-A4E9-9C1B2D814B8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character VAE
(ChemVAE)</c:v>
                </c:pt>
                <c:pt idx="1">
                  <c:v>grammar VAE</c:v>
                </c:pt>
                <c:pt idx="2">
                  <c:v>syntax-directed
VAE</c:v>
                </c:pt>
                <c:pt idx="3">
                  <c:v>junction-tree VAE</c:v>
                </c:pt>
                <c:pt idx="4">
                  <c:v>SELFIES
(any model)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7.2</c:v>
                </c:pt>
                <c:pt idx="2">
                  <c:v>43.5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EB-614E-A4E9-9C1B2D814B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prior validity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novelty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C4BE-7D4C-A5B2-E3828D755D63}"/>
              </c:ext>
            </c:extLst>
          </c:dPt>
          <c:dPt>
            <c:idx val="1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3-C4BE-7D4C-A5B2-E3828D755D63}"/>
              </c:ext>
            </c:extLst>
          </c:dPt>
          <c:cat>
            <c:strRef>
              <c:f>Sheet1!$A$2:$A$3</c:f>
              <c:strCache>
                <c:ptCount val="2"/>
                <c:pt idx="0">
                  <c:v>char-RNN</c:v>
                </c:pt>
                <c:pt idx="1">
                  <c:v>VAE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0.84199999999999997</c:v>
                </c:pt>
                <c:pt idx="1">
                  <c:v>0.69499999999999995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BE-7D4C-A5B2-E3828D755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novelty (MOSES)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1-F7F1-1740-AFDA-6A7A72F0DA84}"/>
              </c:ext>
            </c:extLst>
          </c:dPt>
          <c:dPt>
            <c:idx val="1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3-F7F1-1740-AFDA-6A7A72F0DA84}"/>
              </c:ext>
            </c:extLst>
          </c:dPt>
          <c:dPt>
            <c:idx val="2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5-F7F1-1740-AFDA-6A7A72F0DA84}"/>
              </c:ext>
            </c:extLst>
          </c:dPt>
          <c:cat>
            <c:strRef>
              <c:f>Sheet1!$A$2:$A$4</c:f>
              <c:strCache>
                <c:ptCount val="3"/>
                <c:pt idx="0">
                  <c:v>graph GA
30 s</c:v>
                </c:pt>
                <c:pt idx="1">
                  <c:v>ChemTS
8 h</c:v>
                </c:pt>
                <c:pt idx="2">
                  <c:v>char-VAE
+ BO, 8 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5.6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F1-1740-AFDA-6A7A72F0D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.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best penalised logP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 accuracy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1-CE39-1645-905B-9261D39F63C8}"/>
              </c:ext>
            </c:extLst>
          </c:dPt>
          <c:dPt>
            <c:idx val="1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3-CE39-1645-905B-9261D39F63C8}"/>
              </c:ext>
            </c:extLst>
          </c:dPt>
          <c:dPt>
            <c:idx val="2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5-CE39-1645-905B-9261D39F63C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hand-crafted
fingerprint + 5-NN</c:v>
                </c:pt>
                <c:pt idx="1">
                  <c:v>self-supervised
pre-training only + 5-NN</c:v>
                </c:pt>
                <c:pt idx="2">
                  <c:v>fine-tuned
BERT + 5-NN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81.900000000000006</c:v>
                </c:pt>
                <c:pt idx="2">
                  <c:v>98.9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39-1645-905B-9261D39F63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E7480"/>
                    </a:solidFill>
                    <a:latin typeface="Avenir Book"/>
                  </a:rPr>
                  <a:t>accuracy over 792 reaction classes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Avenir Book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BBBP ROC-AUC</c:v>
                </c:pt>
              </c:strCache>
            </c:strRef>
          </c:tx>
          <c:spPr>
            <a:ln w="33020">
              <a:solidFill>
                <a:srgbClr val="156082"/>
              </a:solidFill>
            </a:ln>
          </c:spPr>
          <c:marker>
            <c:symbol val="circle"/>
            <c:size val="8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9.0399999999999991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64.3</c:v>
                </c:pt>
                <c:pt idx="1">
                  <c:v>90.9</c:v>
                </c:pt>
                <c:pt idx="2">
                  <c:v>91.5</c:v>
                </c:pt>
                <c:pt idx="3">
                  <c:v>93.7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75-A945-8724-9829C73A6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.6"/>
          <c:min val="5.5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pre-training corpus  (log₁₀ molecules)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6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BBBP ROC-AUC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ClinTox ROC-AUC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872A-734A-8A07-794B4EC5EF27}"/>
              </c:ext>
            </c:extLst>
          </c:dPt>
          <c:dPt>
            <c:idx val="1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3-872A-734A-8A07-794B4EC5EF27}"/>
              </c:ext>
            </c:extLst>
          </c:dPt>
          <c:dPt>
            <c:idx val="2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5-872A-734A-8A07-794B4EC5EF27}"/>
              </c:ext>
            </c:extLst>
          </c:dPt>
          <c:cat>
            <c:strRef>
              <c:f>Sheet1!$A$2:$A$4</c:f>
              <c:strCache>
                <c:ptCount val="3"/>
                <c:pt idx="0">
                  <c:v>5 M</c:v>
                </c:pt>
                <c:pt idx="1">
                  <c:v>10 M</c:v>
                </c:pt>
                <c:pt idx="2">
                  <c:v>77 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0.34100000000000003</c:v>
                </c:pt>
                <c:pt idx="1">
                  <c:v>0.34899999999999998</c:v>
                </c:pt>
                <c:pt idx="2">
                  <c:v>0.23899999999999999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2A-734A-8A07-794B4EC5E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ClinTox ROC-AUC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ROC-AUC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1-4B29-5641-A40F-B73A18CFD1D1}"/>
              </c:ext>
            </c:extLst>
          </c:dPt>
          <c:dPt>
            <c:idx val="1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3-4B29-5641-A40F-B73A18CFD1D1}"/>
              </c:ext>
            </c:extLst>
          </c:dPt>
          <c:dPt>
            <c:idx val="2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5-4B29-5641-A40F-B73A18CFD1D1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4B29-5641-A40F-B73A18CFD1D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
pre-training</c:v>
                </c:pt>
                <c:pt idx="1">
                  <c:v>node-level
only</c:v>
                </c:pt>
                <c:pt idx="2">
                  <c:v>graph-level
only</c:v>
                </c:pt>
                <c:pt idx="3">
                  <c:v>node + graph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71.099999999999994</c:v>
                </c:pt>
                <c:pt idx="2">
                  <c:v>70</c:v>
                </c:pt>
                <c:pt idx="3">
                  <c:v>74.2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29-5641-A40F-B73A18CFD1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8"/>
          <c:min val="6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average ROC-AUC over 8 datasets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pre-trained on DFT, then fine-tuned</c:v>
                </c:pt>
              </c:strCache>
            </c:strRef>
          </c:tx>
          <c:spPr>
            <a:ln w="35560">
              <a:solidFill>
                <a:srgbClr val="156082"/>
              </a:solidFill>
            </a:ln>
          </c:spPr>
          <c:marker>
            <c:symbol val="circle"/>
            <c:size val="8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97</c:v>
                </c:pt>
                <c:pt idx="1">
                  <c:v>386</c:v>
                </c:pt>
                <c:pt idx="2">
                  <c:v>676</c:v>
                </c:pt>
                <c:pt idx="3">
                  <c:v>966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0.43</c:v>
                </c:pt>
                <c:pt idx="1">
                  <c:v>0.37</c:v>
                </c:pt>
                <c:pt idx="2">
                  <c:v>0.34</c:v>
                </c:pt>
                <c:pt idx="3">
                  <c:v>0.33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C3-7247-B203-915B3C9137F5}"/>
            </c:ext>
          </c:extLst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trained from scratch on experiment</c:v>
                </c:pt>
              </c:strCache>
            </c:strRef>
          </c:tx>
          <c:spPr>
            <a:ln w="35560">
              <a:solidFill>
                <a:srgbClr val="E97132"/>
              </a:solidFill>
              <a:prstDash val="dash"/>
            </a:ln>
          </c:spPr>
          <c:marker>
            <c:symbol val="circle"/>
            <c:size val="8"/>
            <c:spPr>
              <a:solidFill>
                <a:srgbClr val="E97132"/>
              </a:solidFill>
              <a:ln w="9525">
                <a:solidFill>
                  <a:srgbClr val="E97132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97</c:v>
                </c:pt>
                <c:pt idx="1">
                  <c:v>386</c:v>
                </c:pt>
                <c:pt idx="2">
                  <c:v>676</c:v>
                </c:pt>
                <c:pt idx="3">
                  <c:v>966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1.35</c:v>
                </c:pt>
                <c:pt idx="1">
                  <c:v>0.41</c:v>
                </c:pt>
                <c:pt idx="2">
                  <c:v>0.4</c:v>
                </c:pt>
                <c:pt idx="3">
                  <c:v>0.39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C3-7247-B203-915B3C913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50"/>
          <c:min val="0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experimental training molecules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¹H chemical-shift MAE  (ppm)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Matbench Discovery F1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5.27</c:v>
                </c:pt>
                <c:pt idx="1">
                  <c:v>6.2</c:v>
                </c:pt>
                <c:pt idx="2">
                  <c:v>7.51</c:v>
                </c:pt>
                <c:pt idx="3">
                  <c:v>8.1199999999999992</c:v>
                </c:pt>
                <c:pt idx="4">
                  <c:v>8.0500000000000007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0.56899999999999995</c:v>
                </c:pt>
                <c:pt idx="1">
                  <c:v>0.66900000000000004</c:v>
                </c:pt>
                <c:pt idx="2">
                  <c:v>0.86199999999999999</c:v>
                </c:pt>
                <c:pt idx="3">
                  <c:v>0.90500000000000003</c:v>
                </c:pt>
                <c:pt idx="4">
                  <c:v>0.92500000000000004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9C-244E-8063-522A33A30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.6"/>
          <c:min val="5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pre-training structures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"/>
          <c:min val="0.5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Matbench Discovery  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ECFP + random forest</c:v>
                </c:pt>
              </c:strCache>
            </c:strRef>
          </c:tx>
          <c:spPr>
            <a:ln w="3810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0.68</c:v>
                </c:pt>
                <c:pt idx="2">
                  <c:v>0.73</c:v>
                </c:pt>
                <c:pt idx="3">
                  <c:v>0.76500000000000001</c:v>
                </c:pt>
                <c:pt idx="4">
                  <c:v>0.78500000000000003</c:v>
                </c:pt>
                <c:pt idx="5">
                  <c:v>0.79500000000000004</c:v>
                </c:pt>
                <c:pt idx="6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65-AB4B-99C3-B0B26EC2252C}"/>
            </c:ext>
          </c:extLst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deep model, from scratch</c:v>
                </c:pt>
              </c:strCache>
            </c:strRef>
          </c:tx>
          <c:spPr>
            <a:ln w="381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Sheet1!$A$11:$A$17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0.3</c:v>
                </c:pt>
                <c:pt idx="1">
                  <c:v>0.42</c:v>
                </c:pt>
                <c:pt idx="2">
                  <c:v>0.57999999999999996</c:v>
                </c:pt>
                <c:pt idx="3">
                  <c:v>0.72</c:v>
                </c:pt>
                <c:pt idx="4">
                  <c:v>0.83</c:v>
                </c:pt>
                <c:pt idx="5">
                  <c:v>0.89</c:v>
                </c:pt>
                <c:pt idx="6">
                  <c:v>0.92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65-AB4B-99C3-B0B26EC2252C}"/>
            </c:ext>
          </c:extLst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pre-trained encoder, fine-tuned</c:v>
                </c:pt>
              </c:strCache>
            </c:strRef>
          </c:tx>
          <c:spPr>
            <a:ln w="38100">
              <a:solidFill>
                <a:srgbClr val="A02B93"/>
              </a:solidFill>
            </a:ln>
          </c:spPr>
          <c:marker>
            <c:symbol val="none"/>
          </c:marker>
          <c:xVal>
            <c:numRef>
              <c:f>Sheet1!$A$20:$A$26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Sheet1!$B$20:$B$26</c:f>
              <c:numCache>
                <c:formatCode>General</c:formatCode>
                <c:ptCount val="7"/>
                <c:pt idx="0">
                  <c:v>0.57999999999999996</c:v>
                </c:pt>
                <c:pt idx="1">
                  <c:v>0.68</c:v>
                </c:pt>
                <c:pt idx="2">
                  <c:v>0.77</c:v>
                </c:pt>
                <c:pt idx="3">
                  <c:v>0.84</c:v>
                </c:pt>
                <c:pt idx="4">
                  <c:v>0.89</c:v>
                </c:pt>
                <c:pt idx="5">
                  <c:v>0.92</c:v>
                </c:pt>
                <c:pt idx="6">
                  <c:v>0.94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565-AB4B-99C3-B0B26EC22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"/>
          <c:min val="2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labelled training molecules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"/>
          <c:min val="0.2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predictive performance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95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back. Yesterday morning you did supervised learning, yesterday afternoon</a:t>
            </a:r>
          </a:p>
          <a:p>
            <a:r>
              <a:rPr dirty="0"/>
              <a:t>neural networks. Monday you did molecular representations — SMILES, fingerprints,</a:t>
            </a:r>
          </a:p>
          <a:p>
            <a:r>
              <a:rPr dirty="0"/>
              <a:t>descriptors, graphs.</a:t>
            </a:r>
          </a:p>
          <a:p>
            <a:endParaRPr dirty="0"/>
          </a:p>
          <a:p>
            <a:r>
              <a:rPr dirty="0"/>
              <a:t>This lecture sits exactly at the join between those two. Every representation you</a:t>
            </a:r>
          </a:p>
          <a:p>
            <a:r>
              <a:rPr dirty="0"/>
              <a:t>met on Monday was something a human designed: someone decided that a radius-2</a:t>
            </a:r>
          </a:p>
          <a:p>
            <a:r>
              <a:rPr dirty="0"/>
              <a:t>circular environment was the right unit of chemistry, or that these 200 </a:t>
            </a:r>
            <a:r>
              <a:rPr dirty="0" err="1"/>
              <a:t>RDKit</a:t>
            </a:r>
            <a:endParaRPr dirty="0"/>
          </a:p>
          <a:p>
            <a:r>
              <a:rPr dirty="0"/>
              <a:t>descriptors were the right summary. Today the question is what happens when you</a:t>
            </a:r>
          </a:p>
          <a:p>
            <a:r>
              <a:rPr dirty="0"/>
              <a:t>stop deciding, and let the model work out its own description of a molecule</a:t>
            </a:r>
          </a:p>
          <a:p>
            <a:r>
              <a:rPr dirty="0"/>
              <a:t>from data.</a:t>
            </a:r>
          </a:p>
          <a:p>
            <a:endParaRPr dirty="0"/>
          </a:p>
          <a:p>
            <a:r>
              <a:rPr dirty="0"/>
              <a:t>Point at the figure: top row is Monday. Bottom row is today. The only thing that</a:t>
            </a:r>
          </a:p>
          <a:p>
            <a:r>
              <a:rPr dirty="0"/>
              <a:t>changes is which box is fitted to data — but that one change is what makes</a:t>
            </a:r>
          </a:p>
          <a:p>
            <a:r>
              <a:rPr dirty="0"/>
              <a:t>pre-training, foundation models and chemical language models possible.</a:t>
            </a:r>
          </a:p>
          <a:p>
            <a:endParaRPr dirty="0"/>
          </a:p>
          <a:p>
            <a:r>
              <a:rPr dirty="0"/>
              <a:t>Three promises for the next 90 minutes:</a:t>
            </a:r>
          </a:p>
          <a:p>
            <a:r>
              <a:rPr dirty="0"/>
              <a:t> 1. You will know what "unsupervised" and "self-supervised" actually mean, and</a:t>
            </a:r>
          </a:p>
          <a:p>
            <a:r>
              <a:rPr dirty="0"/>
              <a:t>    why chemists should care.</a:t>
            </a:r>
          </a:p>
          <a:p>
            <a:r>
              <a:rPr dirty="0"/>
              <a:t> 2. You will be able to read a VAE figure in a paper and know what is and is not</a:t>
            </a:r>
          </a:p>
          <a:p>
            <a:r>
              <a:rPr dirty="0"/>
              <a:t>    being claimed.</a:t>
            </a:r>
          </a:p>
          <a:p>
            <a:r>
              <a:rPr dirty="0"/>
              <a:t> 3. You will have a defensible rule for when to reach for a pre-trained model —</a:t>
            </a:r>
          </a:p>
          <a:p>
            <a:r>
              <a:rPr dirty="0"/>
              <a:t>    and, just as importantly, when not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Rough timings are on the slide. Two structural things to flag.</a:t>
            </a:r>
          </a:p>
          <a:p>
            <a:endParaRPr dirty="0"/>
          </a:p>
          <a:p>
            <a:r>
              <a:rPr dirty="0"/>
              <a:t>First, there is a deliberate turn in the middle of Part 3. I am going to spend</a:t>
            </a:r>
          </a:p>
          <a:p>
            <a:r>
              <a:rPr dirty="0"/>
              <a:t>fifteen minutes explaining why VAEs are elegant, and then five minutes showing you</a:t>
            </a:r>
          </a:p>
          <a:p>
            <a:r>
              <a:rPr dirty="0"/>
              <a:t>that as molecule generators they lose to a genetic algorithm from 2019. That is not</a:t>
            </a:r>
          </a:p>
          <a:p>
            <a:r>
              <a:rPr dirty="0"/>
              <a:t>me wasting your time — the encoder half of that architecture is what the whole</a:t>
            </a:r>
          </a:p>
          <a:p>
            <a:r>
              <a:rPr dirty="0"/>
              <a:t>modern pre-training field is built on, and you need to understand it. But I do not</a:t>
            </a:r>
          </a:p>
          <a:p>
            <a:r>
              <a:rPr dirty="0"/>
              <a:t>want anybody leaving here thinking a VAE is the state of the art in generation.</a:t>
            </a:r>
          </a:p>
          <a:p>
            <a:r>
              <a:rPr dirty="0"/>
              <a:t>Thursday's diffusion lecture picks that thread up.</a:t>
            </a:r>
          </a:p>
          <a:p>
            <a:endParaRPr dirty="0"/>
          </a:p>
          <a:p>
            <a:r>
              <a:rPr dirty="0"/>
              <a:t>Second, Part 6 is the part I would keep if I only had ten minutes. The literature</a:t>
            </a:r>
          </a:p>
          <a:p>
            <a:r>
              <a:rPr dirty="0"/>
              <a:t>on learned representations has a serious replication problem, and knowing that is</a:t>
            </a:r>
          </a:p>
          <a:p>
            <a:r>
              <a:rPr dirty="0"/>
              <a:t>more useful to you as </a:t>
            </a:r>
            <a:r>
              <a:rPr dirty="0" err="1"/>
              <a:t>practising</a:t>
            </a:r>
            <a:r>
              <a:rPr dirty="0"/>
              <a:t> chemists than any architecture diagram.</a:t>
            </a:r>
          </a:p>
          <a:p>
            <a:endParaRPr dirty="0"/>
          </a:p>
          <a:p>
            <a:r>
              <a:rPr dirty="0"/>
              <a:t>Ask: who here has fewer than 1,000 data points in the project they came here with?</a:t>
            </a:r>
          </a:p>
          <a:p>
            <a:r>
              <a:rPr dirty="0"/>
              <a:t>(Usually most hands.) Good — Part 5 and Part 6 are written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single slide that motivates everything else today. Note the axis is</a:t>
            </a:r>
          </a:p>
          <a:p>
            <a:r>
              <a:rPr dirty="0"/>
              <a:t>log10 — every bar is a factor of ten.</a:t>
            </a:r>
          </a:p>
          <a:p>
            <a:endParaRPr dirty="0"/>
          </a:p>
          <a:p>
            <a:r>
              <a:rPr dirty="0"/>
              <a:t>Top: GDB-17, the exhaustive enumeration of everything you can draw with up to 17</a:t>
            </a:r>
          </a:p>
          <a:p>
            <a:r>
              <a:rPr dirty="0"/>
              <a:t>heavy atoms from C, N, O, S and halogens under simple stability and synthesizability</a:t>
            </a:r>
          </a:p>
          <a:p>
            <a:r>
              <a:rPr dirty="0"/>
              <a:t>rules. 166 billion molecules. Enamine REAL, which is molecules you can actually</a:t>
            </a:r>
          </a:p>
          <a:p>
            <a:r>
              <a:rPr dirty="0"/>
              <a:t>order and get in two weeks: 9.6 billion. PubChem, catalogued: about 120 million.</a:t>
            </a:r>
          </a:p>
          <a:p>
            <a:r>
              <a:rPr dirty="0" err="1"/>
              <a:t>ChEMBL</a:t>
            </a:r>
            <a:r>
              <a:rPr dirty="0"/>
              <a:t>, molecules with a measured bioactivity: a few million.</a:t>
            </a:r>
          </a:p>
          <a:p>
            <a:endParaRPr dirty="0"/>
          </a:p>
          <a:p>
            <a:r>
              <a:rPr dirty="0"/>
              <a:t>Now the bottom two bars. A typical </a:t>
            </a:r>
            <a:r>
              <a:rPr dirty="0" err="1"/>
              <a:t>MoleculeNet</a:t>
            </a:r>
            <a:r>
              <a:rPr dirty="0"/>
              <a:t> task is one to eight thousand</a:t>
            </a:r>
          </a:p>
          <a:p>
            <a:r>
              <a:rPr dirty="0"/>
              <a:t>molecules. Your own HTE campaign is a few hundred wells.</a:t>
            </a:r>
          </a:p>
          <a:p>
            <a:endParaRPr dirty="0"/>
          </a:p>
          <a:p>
            <a:r>
              <a:rPr dirty="0"/>
              <a:t>So: molecules are essentially free, and labels are the scarcest thing in the room.</a:t>
            </a:r>
          </a:p>
          <a:p>
            <a:r>
              <a:rPr dirty="0"/>
              <a:t>Eight orders of magnitude between what we can enumerate and what we have measured.</a:t>
            </a:r>
          </a:p>
          <a:p>
            <a:endParaRPr dirty="0"/>
          </a:p>
          <a:p>
            <a:r>
              <a:rPr dirty="0"/>
              <a:t>Every idea in this lecture is an attempt to exploit the top of this chart to make</a:t>
            </a:r>
          </a:p>
          <a:p>
            <a:r>
              <a:rPr dirty="0"/>
              <a:t>up for the bottom of it. That is the whole game. If you remember nothing else,</a:t>
            </a:r>
          </a:p>
          <a:p>
            <a:r>
              <a:rPr dirty="0"/>
              <a:t>remember that learned representations are a response to label scarcity.</a:t>
            </a:r>
          </a:p>
          <a:p>
            <a:endParaRPr dirty="0"/>
          </a:p>
          <a:p>
            <a:r>
              <a:rPr dirty="0"/>
              <a:t>Caveat worth saying out loud: GDB-17 is enumerated, not made. Only a tiny</a:t>
            </a:r>
          </a:p>
          <a:p>
            <a:r>
              <a:rPr dirty="0"/>
              <a:t>fraction has ever been </a:t>
            </a:r>
            <a:r>
              <a:rPr dirty="0" err="1"/>
              <a:t>synthesised</a:t>
            </a:r>
            <a:r>
              <a:rPr dirty="0"/>
              <a:t>. But even </a:t>
            </a:r>
            <a:r>
              <a:rPr dirty="0" err="1"/>
              <a:t>ChEMBL</a:t>
            </a:r>
            <a:r>
              <a:rPr dirty="0"/>
              <a:t> versus your assay is four</a:t>
            </a:r>
          </a:p>
          <a:p>
            <a:r>
              <a:rPr dirty="0"/>
              <a:t>orders of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Set up the vocabulary carefully here; students confuse the last two constantly.</a:t>
            </a:r>
          </a:p>
          <a:p>
            <a:endParaRPr dirty="0"/>
          </a:p>
          <a:p>
            <a:r>
              <a:rPr dirty="0"/>
              <a:t>SUPERVISED — what you did yesterday. Pairs of (molecule, measured property). The</a:t>
            </a:r>
          </a:p>
          <a:p>
            <a:r>
              <a:rPr dirty="0"/>
              <a:t>label is the expensive part: someone ran the assay, someone did the DFT.</a:t>
            </a:r>
          </a:p>
          <a:p>
            <a:endParaRPr dirty="0"/>
          </a:p>
          <a:p>
            <a:r>
              <a:rPr dirty="0"/>
              <a:t>UNSUPERVISED — you hand the algorithm molecules and nothing else. It can only tell</a:t>
            </a:r>
          </a:p>
          <a:p>
            <a:r>
              <a:rPr dirty="0"/>
              <a:t>you about the shape of the data: which molecules group together, what the main axes</a:t>
            </a:r>
          </a:p>
          <a:p>
            <a:r>
              <a:rPr dirty="0"/>
              <a:t>of variation are, what a typical molecule looks like. No property is being predicted.</a:t>
            </a:r>
          </a:p>
          <a:p>
            <a:endParaRPr dirty="0"/>
          </a:p>
          <a:p>
            <a:r>
              <a:rPr dirty="0"/>
              <a:t>SELF-SUPERVISED — the clever middle. You take </a:t>
            </a:r>
            <a:r>
              <a:rPr dirty="0" err="1"/>
              <a:t>unlabelled</a:t>
            </a:r>
            <a:r>
              <a:rPr dirty="0"/>
              <a:t> data and manufacture a</a:t>
            </a:r>
          </a:p>
          <a:p>
            <a:r>
              <a:rPr dirty="0"/>
              <a:t>supervised problem out of it by hiding part of the input and asking the model to</a:t>
            </a:r>
          </a:p>
          <a:p>
            <a:r>
              <a:rPr dirty="0"/>
              <a:t>recover it. Nobody annotated anything, but you now have a loss function with a</a:t>
            </a:r>
          </a:p>
          <a:p>
            <a:r>
              <a:rPr dirty="0"/>
              <a:t>correct answer, so you can use all the supervised machinery — backprop, big models,</a:t>
            </a:r>
          </a:p>
          <a:p>
            <a:r>
              <a:rPr dirty="0"/>
              <a:t>the lot.</a:t>
            </a:r>
          </a:p>
          <a:p>
            <a:endParaRPr dirty="0"/>
          </a:p>
          <a:p>
            <a:r>
              <a:rPr dirty="0"/>
              <a:t>The point to land: self-supervised learning is how you convert the enormous</a:t>
            </a:r>
          </a:p>
          <a:p>
            <a:r>
              <a:rPr dirty="0"/>
              <a:t>top-of-chart data from the previous slide into something a neural network can</a:t>
            </a:r>
          </a:p>
          <a:p>
            <a:r>
              <a:rPr dirty="0"/>
              <a:t>actually be trained on. It is the bridge.</a:t>
            </a:r>
          </a:p>
          <a:p>
            <a:endParaRPr dirty="0"/>
          </a:p>
          <a:p>
            <a:r>
              <a:rPr dirty="0"/>
              <a:t>A useful analogy if they are struggling: a chemist who reads ten thousand papers</a:t>
            </a:r>
          </a:p>
          <a:p>
            <a:r>
              <a:rPr dirty="0"/>
              <a:t>without ever running a reaction still develops good intuition about what will work.</a:t>
            </a:r>
          </a:p>
          <a:p>
            <a:r>
              <a:rPr dirty="0"/>
              <a:t>Nobody graded them. They were predicting the next step and checking against what</a:t>
            </a:r>
          </a:p>
          <a:p>
            <a:r>
              <a:rPr dirty="0"/>
              <a:t>the paper said. That is self-supervision.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jobs, and it is worth naming which one you want before you open a notebook,</a:t>
            </a:r>
          </a:p>
          <a:p>
            <a:r>
              <a:rPr dirty="0"/>
              <a:t>because people reach for UMAP when they actually wanted clustering.</a:t>
            </a:r>
          </a:p>
          <a:p>
            <a:endParaRPr dirty="0"/>
          </a:p>
          <a:p>
            <a:r>
              <a:rPr dirty="0"/>
              <a:t>CLUSTERING gives you group memberships and no coordinates. Use it when the question</a:t>
            </a:r>
          </a:p>
          <a:p>
            <a:r>
              <a:rPr dirty="0"/>
              <a:t>is "how many distinct chemotypes are in my screening deck", or when you need to pick</a:t>
            </a:r>
          </a:p>
          <a:p>
            <a:r>
              <a:rPr dirty="0"/>
              <a:t>a diverse subset to buy.</a:t>
            </a:r>
          </a:p>
          <a:p>
            <a:endParaRPr dirty="0"/>
          </a:p>
          <a:p>
            <a:r>
              <a:rPr dirty="0"/>
              <a:t>DIMENSIONALITY REDUCTION gives you coordinates and no groups. Use it when you want</a:t>
            </a:r>
          </a:p>
          <a:p>
            <a:r>
              <a:rPr dirty="0"/>
              <a:t>to look at your data. Crucially: the fact that you can see clusters in a UMAP does</a:t>
            </a:r>
          </a:p>
          <a:p>
            <a:r>
              <a:rPr dirty="0"/>
              <a:t>not mean the clustering algorithm would find them.</a:t>
            </a:r>
          </a:p>
          <a:p>
            <a:endParaRPr dirty="0"/>
          </a:p>
          <a:p>
            <a:r>
              <a:rPr dirty="0"/>
              <a:t>DENSITY AND GENERATION gives you a model of what a plausible molecule looks like,</a:t>
            </a:r>
          </a:p>
          <a:p>
            <a:r>
              <a:rPr dirty="0"/>
              <a:t>which you can sample from. This is where VAEs live, and it is where we go in Part 3.</a:t>
            </a:r>
          </a:p>
          <a:p>
            <a:endParaRPr dirty="0"/>
          </a:p>
          <a:p>
            <a:r>
              <a:rPr dirty="0"/>
              <a:t>The thing all three share: no labels anywhere. Which means you can run them on</a:t>
            </a:r>
          </a:p>
          <a:p>
            <a:r>
              <a:rPr dirty="0"/>
              <a:t>every molecule you have, not just the ones you measured. For most groups in this</a:t>
            </a:r>
          </a:p>
          <a:p>
            <a:r>
              <a:rPr dirty="0"/>
              <a:t>room that is the difference between 400 compounds and 40,000.</a:t>
            </a:r>
          </a:p>
          <a:p>
            <a:endParaRPr dirty="0"/>
          </a:p>
          <a:p>
            <a:r>
              <a:rPr dirty="0"/>
              <a:t>Practical aside: this is also the cheapest possible first thing to do with a new</a:t>
            </a:r>
          </a:p>
          <a:p>
            <a:r>
              <a:rPr dirty="0"/>
              <a:t>dataset. Before you fit anything, cluster it and look at it. You will find the</a:t>
            </a:r>
          </a:p>
          <a:p>
            <a:r>
              <a:rPr dirty="0"/>
              <a:t>duplicate series, the one bad plate, and the fact that all your actives came from</a:t>
            </a:r>
          </a:p>
          <a:p>
            <a:r>
              <a:rPr dirty="0"/>
              <a:t>one scaffold.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Quick and practical, because this is the one people actually run.</a:t>
            </a:r>
          </a:p>
          <a:p>
            <a:endParaRPr dirty="0"/>
          </a:p>
          <a:p>
            <a:r>
              <a:rPr dirty="0"/>
              <a:t>Butina is sphere exclusion. Pick a Tanimoto cut-off — 0.4 to 0.65 depending on the</a:t>
            </a:r>
          </a:p>
          <a:p>
            <a:r>
              <a:rPr dirty="0"/>
              <a:t>fingerprint and how tight you want your clusters. For every molecule, count how many</a:t>
            </a:r>
          </a:p>
          <a:p>
            <a:r>
              <a:rPr dirty="0"/>
              <a:t>molecules fall within that cut-off. Take the molecule with the most </a:t>
            </a:r>
            <a:r>
              <a:rPr dirty="0" err="1"/>
              <a:t>neighbours</a:t>
            </a:r>
            <a:r>
              <a:rPr dirty="0"/>
              <a:t>, call</a:t>
            </a:r>
          </a:p>
          <a:p>
            <a:r>
              <a:rPr dirty="0"/>
              <a:t>it a cluster </a:t>
            </a:r>
            <a:r>
              <a:rPr dirty="0" err="1"/>
              <a:t>centre</a:t>
            </a:r>
            <a:r>
              <a:rPr dirty="0"/>
              <a:t>, and remove it and all its </a:t>
            </a:r>
            <a:r>
              <a:rPr dirty="0" err="1"/>
              <a:t>neighbours</a:t>
            </a:r>
            <a:r>
              <a:rPr dirty="0"/>
              <a:t> from the pool. Repeat on</a:t>
            </a:r>
          </a:p>
          <a:p>
            <a:r>
              <a:rPr dirty="0"/>
              <a:t>what is left.</a:t>
            </a:r>
          </a:p>
          <a:p>
            <a:endParaRPr dirty="0"/>
          </a:p>
          <a:p>
            <a:r>
              <a:rPr dirty="0"/>
              <a:t>Why chemists like it: no k to choose, it is deterministic, it runs on a laptop, and</a:t>
            </a:r>
          </a:p>
          <a:p>
            <a:r>
              <a:rPr dirty="0"/>
              <a:t>the cluster </a:t>
            </a:r>
            <a:r>
              <a:rPr dirty="0" err="1"/>
              <a:t>centres</a:t>
            </a:r>
            <a:r>
              <a:rPr dirty="0"/>
              <a:t> are real molecules you can order rather than abstract centroids.</a:t>
            </a:r>
          </a:p>
          <a:p>
            <a:r>
              <a:rPr dirty="0"/>
              <a:t>It is the standard way to pick a diverse subset for a screen.</a:t>
            </a:r>
          </a:p>
          <a:p>
            <a:endParaRPr dirty="0"/>
          </a:p>
          <a:p>
            <a:r>
              <a:rPr dirty="0"/>
              <a:t>Two honest weaknesses. It is greedy — the first sphere claims everything nearby,</a:t>
            </a:r>
          </a:p>
          <a:p>
            <a:r>
              <a:rPr dirty="0"/>
              <a:t>so a molecule that would have been a great </a:t>
            </a:r>
            <a:r>
              <a:rPr dirty="0" err="1"/>
              <a:t>centre</a:t>
            </a:r>
            <a:r>
              <a:rPr dirty="0"/>
              <a:t> can end up as a singleton simply</a:t>
            </a:r>
          </a:p>
          <a:p>
            <a:r>
              <a:rPr dirty="0"/>
              <a:t>because it got absorbed. And it is very sensitive to the cut-off; changing 0.6 to</a:t>
            </a:r>
          </a:p>
          <a:p>
            <a:r>
              <a:rPr dirty="0"/>
              <a:t>0.65 can change the number of clusters substantially. Run it at two or three</a:t>
            </a:r>
          </a:p>
          <a:p>
            <a:r>
              <a:rPr dirty="0"/>
              <a:t>thresholds and see whether your conclusion survives.</a:t>
            </a:r>
          </a:p>
          <a:p>
            <a:endParaRPr dirty="0"/>
          </a:p>
          <a:p>
            <a:r>
              <a:rPr dirty="0"/>
              <a:t>Contrast with k-means: k-means needs a k, needs a Euclidean space, and produces</a:t>
            </a:r>
          </a:p>
          <a:p>
            <a:r>
              <a:rPr dirty="0"/>
              <a:t>centroids that are not molecules. For fingerprints, Butina is usually the better</a:t>
            </a:r>
          </a:p>
          <a:p>
            <a:r>
              <a:rPr dirty="0"/>
              <a:t>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Bemis and Murcko, 1996 — the single most quoted piece of cheminformatics, and it</a:t>
            </a:r>
          </a:p>
          <a:p>
            <a:r>
              <a:rPr dirty="0"/>
              <a:t>is a purely unsupervised analysis.</a:t>
            </a:r>
          </a:p>
          <a:p>
            <a:endParaRPr dirty="0"/>
          </a:p>
          <a:p>
            <a:r>
              <a:rPr dirty="0"/>
              <a:t>Take a drug, strip every side chain, keep the ring systems and the linkers between</a:t>
            </a:r>
          </a:p>
          <a:p>
            <a:r>
              <a:rPr dirty="0"/>
              <a:t>them. If you also throw away atom types and bond orders you get the graph framework.</a:t>
            </a:r>
          </a:p>
          <a:p>
            <a:r>
              <a:rPr dirty="0"/>
              <a:t>Do this to the 5,120 drugs known at the time and you get 1,179 distinct frameworks.</a:t>
            </a:r>
          </a:p>
          <a:p>
            <a:endParaRPr dirty="0"/>
          </a:p>
          <a:p>
            <a:r>
              <a:rPr dirty="0"/>
              <a:t>The number that should surprise you is on the chart: thirty-two frameworks account</a:t>
            </a:r>
          </a:p>
          <a:p>
            <a:r>
              <a:rPr dirty="0"/>
              <a:t>for half of all known drugs. Medicinal chemistry, for all its apparent diversity,</a:t>
            </a:r>
          </a:p>
          <a:p>
            <a:r>
              <a:rPr dirty="0"/>
              <a:t>lives on a very small number of ring systems.</a:t>
            </a:r>
          </a:p>
          <a:p>
            <a:endParaRPr dirty="0"/>
          </a:p>
          <a:p>
            <a:r>
              <a:rPr dirty="0"/>
              <a:t>Two consequences, both of which bite you in machine learning.</a:t>
            </a:r>
          </a:p>
          <a:p>
            <a:endParaRPr dirty="0"/>
          </a:p>
          <a:p>
            <a:r>
              <a:rPr dirty="0"/>
              <a:t>First, if you split a dataset at random, near-identical analogues end up in both</a:t>
            </a:r>
          </a:p>
          <a:p>
            <a:r>
              <a:rPr dirty="0"/>
              <a:t>train and test, your model looks brilliant, and it has learned nothing that</a:t>
            </a:r>
          </a:p>
          <a:p>
            <a:r>
              <a:rPr dirty="0" err="1"/>
              <a:t>generalises</a:t>
            </a:r>
            <a:r>
              <a:rPr dirty="0"/>
              <a:t>. That is why every serious paper today uses a SCAFFOLD SPLIT — hold out</a:t>
            </a:r>
          </a:p>
          <a:p>
            <a:r>
              <a:rPr dirty="0"/>
              <a:t>whole frameworks. Expect your numbers to get worse. They were never real.</a:t>
            </a:r>
          </a:p>
          <a:p>
            <a:endParaRPr dirty="0"/>
          </a:p>
          <a:p>
            <a:r>
              <a:rPr dirty="0"/>
              <a:t>Second, this is why molecular datasets are so much smaller than they appear.</a:t>
            </a:r>
          </a:p>
          <a:p>
            <a:r>
              <a:rPr dirty="0"/>
              <a:t>Four thousand compounds from a med-chem </a:t>
            </a:r>
            <a:r>
              <a:rPr dirty="0" err="1"/>
              <a:t>programme</a:t>
            </a:r>
            <a:r>
              <a:rPr dirty="0"/>
              <a:t> might be forty scaffolds. Your</a:t>
            </a:r>
          </a:p>
          <a:p>
            <a:r>
              <a:rPr dirty="0"/>
              <a:t>effective sample size is forty.</a:t>
            </a:r>
          </a:p>
          <a:p>
            <a:endParaRPr dirty="0"/>
          </a:p>
          <a:p>
            <a:r>
              <a:rPr dirty="0"/>
              <a:t>You will do a random split and a scaffold split on the same data in the tutorial</a:t>
            </a:r>
          </a:p>
          <a:p>
            <a:r>
              <a:rPr dirty="0"/>
              <a:t>and watch the score fall. That gap is the most honest number in your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0D13A-A90B-1CEE-7512-9AE02966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85267-FCED-C1D9-0AA0-AD9460311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987DB-2D8A-6510-76D1-8E9CEF5BE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jobs, and it is worth naming which one you want before you open a notebook,</a:t>
            </a:r>
          </a:p>
          <a:p>
            <a:r>
              <a:rPr dirty="0"/>
              <a:t>because people reach for UMAP when they actually wanted clustering.</a:t>
            </a:r>
          </a:p>
          <a:p>
            <a:endParaRPr dirty="0"/>
          </a:p>
          <a:p>
            <a:r>
              <a:rPr dirty="0"/>
              <a:t>CLUSTERING gives you group memberships and no coordinates. Use it when the question</a:t>
            </a:r>
          </a:p>
          <a:p>
            <a:r>
              <a:rPr dirty="0"/>
              <a:t>is "how many distinct chemotypes are in my screening deck", or when you need to pick</a:t>
            </a:r>
          </a:p>
          <a:p>
            <a:r>
              <a:rPr dirty="0"/>
              <a:t>a diverse subset to buy.</a:t>
            </a:r>
          </a:p>
          <a:p>
            <a:endParaRPr dirty="0"/>
          </a:p>
          <a:p>
            <a:r>
              <a:rPr dirty="0"/>
              <a:t>DIMENSIONALITY REDUCTION gives you coordinates and no groups. Use it when you want</a:t>
            </a:r>
          </a:p>
          <a:p>
            <a:r>
              <a:rPr dirty="0"/>
              <a:t>to look at your data. Crucially: the fact that you can see clusters in a UMAP does</a:t>
            </a:r>
          </a:p>
          <a:p>
            <a:r>
              <a:rPr dirty="0"/>
              <a:t>not mean the clustering algorithm would find them.</a:t>
            </a:r>
          </a:p>
          <a:p>
            <a:endParaRPr dirty="0"/>
          </a:p>
          <a:p>
            <a:r>
              <a:rPr dirty="0"/>
              <a:t>DENSITY AND GENERATION gives you a model of what a plausible molecule looks like,</a:t>
            </a:r>
          </a:p>
          <a:p>
            <a:r>
              <a:rPr dirty="0"/>
              <a:t>which you can sample from. This is where VAEs live, and it is where we go in Part 3.</a:t>
            </a:r>
          </a:p>
          <a:p>
            <a:endParaRPr dirty="0"/>
          </a:p>
          <a:p>
            <a:r>
              <a:rPr dirty="0"/>
              <a:t>The thing all three share: no labels anywhere. Which means you can run them on</a:t>
            </a:r>
          </a:p>
          <a:p>
            <a:r>
              <a:rPr dirty="0"/>
              <a:t>every molecule you have, not just the ones you measured. For most groups in this</a:t>
            </a:r>
          </a:p>
          <a:p>
            <a:r>
              <a:rPr dirty="0"/>
              <a:t>room that is the difference between 400 compounds and 40,000.</a:t>
            </a:r>
          </a:p>
          <a:p>
            <a:endParaRPr dirty="0"/>
          </a:p>
          <a:p>
            <a:r>
              <a:rPr dirty="0"/>
              <a:t>Practical aside: this is also the cheapest possible first thing to do with a new</a:t>
            </a:r>
          </a:p>
          <a:p>
            <a:r>
              <a:rPr dirty="0"/>
              <a:t>dataset. Before you fit anything, cluster it and look at it. You will find the</a:t>
            </a:r>
          </a:p>
          <a:p>
            <a:r>
              <a:rPr dirty="0"/>
              <a:t>duplicate series, the one bad plate, and the fact that all your actives came from</a:t>
            </a:r>
          </a:p>
          <a:p>
            <a:r>
              <a:rPr dirty="0"/>
              <a:t>one scaffold.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1A964-53A4-ED41-EF83-F5CFAC24A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31904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Start with PCA because it is the one method here that is completely transparent,</a:t>
            </a:r>
          </a:p>
          <a:p>
            <a:r>
              <a:rPr dirty="0"/>
              <a:t>and because it sets up why we need the nonlinear ones.</a:t>
            </a:r>
          </a:p>
          <a:p>
            <a:endParaRPr dirty="0"/>
          </a:p>
          <a:p>
            <a:r>
              <a:rPr dirty="0"/>
              <a:t>PCA finds the directions of greatest variance and rotates your coordinate system</a:t>
            </a:r>
          </a:p>
          <a:p>
            <a:r>
              <a:rPr dirty="0"/>
              <a:t>onto them. That is all it does. It is linear, deterministic, has a closed-form</a:t>
            </a:r>
          </a:p>
          <a:p>
            <a:r>
              <a:rPr dirty="0"/>
              <a:t>solution, and — the property people forget — it is invertible. You can go back.</a:t>
            </a:r>
          </a:p>
          <a:p>
            <a:r>
              <a:rPr dirty="0"/>
              <a:t>Every point in PCA space corresponds to a real position in the original space.</a:t>
            </a:r>
          </a:p>
          <a:p>
            <a:endParaRPr dirty="0"/>
          </a:p>
          <a:p>
            <a:r>
              <a:rPr dirty="0"/>
              <a:t>Now the scree plot, which is the honest part. On molecular fingerprints, the first</a:t>
            </a:r>
          </a:p>
          <a:p>
            <a:r>
              <a:rPr dirty="0"/>
              <a:t>two components typically capture something like half to sixty percent of the</a:t>
            </a:r>
          </a:p>
          <a:p>
            <a:r>
              <a:rPr dirty="0"/>
              <a:t>variance. People show you the PC1-PC2 plot and imply you are looking at the data.</a:t>
            </a:r>
          </a:p>
          <a:p>
            <a:r>
              <a:rPr dirty="0"/>
              <a:t>You are looking at a shadow of the data, and the forty percent you cannot see is</a:t>
            </a:r>
          </a:p>
          <a:p>
            <a:r>
              <a:rPr dirty="0"/>
              <a:t>not noise — it is chemistry that happens to vary along directions three through</a:t>
            </a:r>
          </a:p>
          <a:p>
            <a:r>
              <a:rPr dirty="0"/>
              <a:t>two thousand.</a:t>
            </a:r>
          </a:p>
          <a:p>
            <a:endParaRPr dirty="0"/>
          </a:p>
          <a:p>
            <a:r>
              <a:rPr dirty="0"/>
              <a:t>So: PCA is a good sanity check and a good preprocessing step. It is a bad way to</a:t>
            </a:r>
          </a:p>
          <a:p>
            <a:r>
              <a:rPr dirty="0"/>
              <a:t>claim two clusters are distinct.</a:t>
            </a:r>
          </a:p>
          <a:p>
            <a:endParaRPr dirty="0"/>
          </a:p>
          <a:p>
            <a:r>
              <a:rPr dirty="0"/>
              <a:t>If asked why fingerprints need so many components: ECFP bits are sparse and</a:t>
            </a:r>
          </a:p>
          <a:p>
            <a:r>
              <a:rPr dirty="0"/>
              <a:t>near-orthogonal by construction. There genuinely is no low-dimensional linear</a:t>
            </a:r>
          </a:p>
          <a:p>
            <a:r>
              <a:rPr dirty="0"/>
              <a:t>structure. That is the motivation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move from PCA to t-SNE or UMAP is a trade. You give up the global geometry to</a:t>
            </a:r>
          </a:p>
          <a:p>
            <a:r>
              <a:rPr dirty="0"/>
              <a:t>buy local faithfulness.</a:t>
            </a:r>
          </a:p>
          <a:p>
            <a:endParaRPr dirty="0"/>
          </a:p>
          <a:p>
            <a:r>
              <a:rPr dirty="0"/>
              <a:t>Both methods do roughly the same thing: build a graph of who is near whom in the</a:t>
            </a:r>
          </a:p>
          <a:p>
            <a:r>
              <a:rPr dirty="0"/>
              <a:t>high-dimensional space, then find a 2-D arrangement whose </a:t>
            </a:r>
            <a:r>
              <a:rPr dirty="0" err="1"/>
              <a:t>neighbourhood</a:t>
            </a:r>
            <a:r>
              <a:rPr dirty="0"/>
              <a:t> graph looks</a:t>
            </a:r>
          </a:p>
          <a:p>
            <a:r>
              <a:rPr dirty="0"/>
              <a:t>as similar as possible. UMAP does it with a fuzzy simplicial set and is faster and</a:t>
            </a:r>
          </a:p>
          <a:p>
            <a:r>
              <a:rPr dirty="0"/>
              <a:t>somewhat more global; t-SNE does it with a Student-t kernel and is more aggressive</a:t>
            </a:r>
          </a:p>
          <a:p>
            <a:r>
              <a:rPr dirty="0"/>
              <a:t>about separating clusters. For our purposes they behave similarly.</a:t>
            </a:r>
          </a:p>
          <a:p>
            <a:endParaRPr dirty="0"/>
          </a:p>
          <a:p>
            <a:r>
              <a:rPr dirty="0"/>
              <a:t>Why this matters in fingerprint space specifically: in 2048 dimensions with sparse</a:t>
            </a:r>
          </a:p>
          <a:p>
            <a:r>
              <a:rPr dirty="0"/>
              <a:t>binary vectors, almost every pair of molecules has Tanimoto similarity around 0.1.</a:t>
            </a:r>
          </a:p>
          <a:p>
            <a:r>
              <a:rPr dirty="0"/>
              <a:t>Distances are nearly all the same and therefore nearly meaningless. But the *ranking*</a:t>
            </a:r>
          </a:p>
          <a:p>
            <a:r>
              <a:rPr dirty="0"/>
              <a:t>of nearest </a:t>
            </a:r>
            <a:r>
              <a:rPr dirty="0" err="1"/>
              <a:t>neighbours</a:t>
            </a:r>
            <a:r>
              <a:rPr dirty="0"/>
              <a:t> is still informative. </a:t>
            </a:r>
            <a:r>
              <a:rPr dirty="0" err="1"/>
              <a:t>Neighbour</a:t>
            </a:r>
            <a:r>
              <a:rPr dirty="0"/>
              <a:t> embeddings throw away the</a:t>
            </a:r>
          </a:p>
          <a:p>
            <a:r>
              <a:rPr dirty="0"/>
              <a:t>distances and keep the ranking. That is exactly the right trade for this data.</a:t>
            </a:r>
          </a:p>
          <a:p>
            <a:endParaRPr dirty="0"/>
          </a:p>
          <a:p>
            <a:r>
              <a:rPr dirty="0"/>
              <a:t>The cost is on the right in red, and it is the subject of the next slide, so do not</a:t>
            </a:r>
          </a:p>
          <a:p>
            <a:r>
              <a:rPr dirty="0"/>
              <a:t>dwell — just plant it: the gaps between the islands, and the sizes of the islands,</a:t>
            </a:r>
          </a:p>
          <a:p>
            <a:r>
              <a:rPr dirty="0"/>
              <a:t>are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concrete example of the engineering, because chemical space has got big enough</a:t>
            </a:r>
          </a:p>
          <a:p>
            <a:r>
              <a:rPr dirty="0"/>
              <a:t>that the method has to change.</a:t>
            </a:r>
          </a:p>
          <a:p>
            <a:endParaRPr dirty="0"/>
          </a:p>
          <a:p>
            <a:r>
              <a:rPr dirty="0"/>
              <a:t>TMAP, from the Reymond group, swaps the scatter plot for a tree. It builds an</a:t>
            </a:r>
          </a:p>
          <a:p>
            <a:r>
              <a:rPr dirty="0"/>
              <a:t>approximate k-nearest-</a:t>
            </a:r>
            <a:r>
              <a:rPr dirty="0" err="1"/>
              <a:t>neighbour</a:t>
            </a:r>
            <a:r>
              <a:rPr dirty="0"/>
              <a:t> graph using locality-sensitive hashing, takes the</a:t>
            </a:r>
          </a:p>
          <a:p>
            <a:r>
              <a:rPr dirty="0"/>
              <a:t>minimum spanning tree of that graph, and lays the tree out. You get branches instead</a:t>
            </a:r>
          </a:p>
          <a:p>
            <a:r>
              <a:rPr dirty="0"/>
              <a:t>of blobs — and a branch is usually a series of analogues, which is a chemically</a:t>
            </a:r>
          </a:p>
          <a:p>
            <a:r>
              <a:rPr dirty="0"/>
              <a:t>meaningful object in a way that a blob is not.</a:t>
            </a:r>
          </a:p>
          <a:p>
            <a:endParaRPr dirty="0"/>
          </a:p>
          <a:p>
            <a:r>
              <a:rPr dirty="0"/>
              <a:t>The numbers on the right are from their benchmark on </a:t>
            </a:r>
            <a:r>
              <a:rPr dirty="0" err="1"/>
              <a:t>ChEMBL</a:t>
            </a:r>
            <a:r>
              <a:rPr dirty="0"/>
              <a:t> subsets. At one million</a:t>
            </a:r>
          </a:p>
          <a:p>
            <a:r>
              <a:rPr dirty="0"/>
              <a:t>molecules TMAP takes about six minutes; UMAP takes eleven and a half hours. Roughly</a:t>
            </a:r>
          </a:p>
          <a:p>
            <a:r>
              <a:rPr dirty="0"/>
              <a:t>117-fold, and about six times less memory. TMAP is also deterministic — run it twice,</a:t>
            </a:r>
          </a:p>
          <a:p>
            <a:r>
              <a:rPr dirty="0"/>
              <a:t>get the same map — which UMAP is not.</a:t>
            </a:r>
          </a:p>
          <a:p>
            <a:endParaRPr dirty="0"/>
          </a:p>
          <a:p>
            <a:r>
              <a:rPr dirty="0"/>
              <a:t>The 2026 follow-up nests these maps and handles Enamine REAL at 9.6 billion</a:t>
            </a:r>
          </a:p>
          <a:p>
            <a:r>
              <a:rPr dirty="0"/>
              <a:t>molecules. That is the scale at which "let me just have a look at my library" now</a:t>
            </a:r>
          </a:p>
          <a:p>
            <a:r>
              <a:rPr dirty="0"/>
              <a:t>operates.</a:t>
            </a:r>
          </a:p>
          <a:p>
            <a:endParaRPr dirty="0"/>
          </a:p>
          <a:p>
            <a:r>
              <a:rPr dirty="0"/>
              <a:t>Do not oversell: TMAP is a </a:t>
            </a:r>
            <a:r>
              <a:rPr dirty="0" err="1"/>
              <a:t>visualisation</a:t>
            </a:r>
            <a:r>
              <a:rPr dirty="0"/>
              <a:t> tool, not a representation learner. I am</a:t>
            </a:r>
          </a:p>
          <a:p>
            <a:r>
              <a:rPr dirty="0"/>
              <a:t>showing it because it is the workhorse people actually use, and because the</a:t>
            </a:r>
          </a:p>
          <a:p>
            <a:r>
              <a:rPr dirty="0"/>
              <a:t>tree-versus-scatter distinction is a nice illustration that the layout is a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slide I most want you to photograph. These are not pedantic caveats;</a:t>
            </a:r>
          </a:p>
          <a:p>
            <a:r>
              <a:rPr dirty="0"/>
              <a:t>they are the three ways published chemical space figures mislead people.</a:t>
            </a:r>
          </a:p>
          <a:p>
            <a:endParaRPr dirty="0"/>
          </a:p>
          <a:p>
            <a:r>
              <a:rPr dirty="0"/>
              <a:t>ONE — gap width means nothing. t-SNE and UMAP have no notion of how far apart two</a:t>
            </a:r>
          </a:p>
          <a:p>
            <a:r>
              <a:rPr dirty="0"/>
              <a:t>clusters should be. Change the perplexity or the </a:t>
            </a:r>
            <a:r>
              <a:rPr dirty="0" err="1"/>
              <a:t>n_neighbors</a:t>
            </a:r>
            <a:r>
              <a:rPr dirty="0"/>
              <a:t> parameter and the gaps</a:t>
            </a:r>
          </a:p>
          <a:p>
            <a:r>
              <a:rPr dirty="0"/>
              <a:t>change. Two islands sitting far apart on your plot are not necessarily more different</a:t>
            </a:r>
          </a:p>
          <a:p>
            <a:r>
              <a:rPr dirty="0"/>
              <a:t>than two islands sitting close.</a:t>
            </a:r>
          </a:p>
          <a:p>
            <a:endParaRPr dirty="0"/>
          </a:p>
          <a:p>
            <a:r>
              <a:rPr dirty="0"/>
              <a:t>TWO — cluster size means nothing. Both algorithms tend to expand sparse regions and</a:t>
            </a:r>
          </a:p>
          <a:p>
            <a:r>
              <a:rPr dirty="0"/>
              <a:t>compress dense ones. A blob containing seven molecules and a blob containing two</a:t>
            </a:r>
          </a:p>
          <a:p>
            <a:r>
              <a:rPr dirty="0"/>
              <a:t>hundred and forty can be drawn almost the same size. So never say "this cluster is</a:t>
            </a:r>
          </a:p>
          <a:p>
            <a:r>
              <a:rPr dirty="0"/>
              <a:t>bigger, therefore this chemotype is over-represented" from a UMAP.</a:t>
            </a:r>
          </a:p>
          <a:p>
            <a:endParaRPr dirty="0"/>
          </a:p>
          <a:p>
            <a:r>
              <a:rPr dirty="0"/>
              <a:t>THREE — and this is the one that gets people into real trouble — these methods will</a:t>
            </a:r>
          </a:p>
          <a:p>
            <a:r>
              <a:rPr dirty="0"/>
              <a:t>produce clean, convincing clusters from pure random noise. There is a well-known</a:t>
            </a:r>
          </a:p>
          <a:p>
            <a:r>
              <a:rPr dirty="0"/>
              <a:t>demonstration where uniform random data in high dimensions comes out of t-SNE</a:t>
            </a:r>
          </a:p>
          <a:p>
            <a:r>
              <a:rPr dirty="0"/>
              <a:t>looking like five beautiful, well-separated groups. Seeing clusters is not evidence</a:t>
            </a:r>
          </a:p>
          <a:p>
            <a:r>
              <a:rPr dirty="0"/>
              <a:t>that clusters exist.</a:t>
            </a:r>
          </a:p>
          <a:p>
            <a:endParaRPr dirty="0"/>
          </a:p>
          <a:p>
            <a:r>
              <a:rPr dirty="0"/>
              <a:t>The remedy in one line: if the clustering matters to your argument, cluster</a:t>
            </a:r>
          </a:p>
          <a:p>
            <a:r>
              <a:rPr dirty="0"/>
              <a:t>explicitly in the original space — Butina, k-medoids, whatever — and use the map</a:t>
            </a:r>
          </a:p>
          <a:p>
            <a:r>
              <a:rPr dirty="0"/>
              <a:t>only to display the result. Never read the clusters off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8199-E57A-433C-1354-D20D6795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EAAFA-9925-9B8F-CA58-AC3433255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72C2A-B990-CA46-8216-76A4A16D5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jobs, and it is worth naming which one you want before you open a notebook,</a:t>
            </a:r>
          </a:p>
          <a:p>
            <a:r>
              <a:rPr dirty="0"/>
              <a:t>because people reach for UMAP when they actually wanted clustering.</a:t>
            </a:r>
          </a:p>
          <a:p>
            <a:endParaRPr dirty="0"/>
          </a:p>
          <a:p>
            <a:r>
              <a:rPr dirty="0"/>
              <a:t>CLUSTERING gives you group memberships and no coordinates. Use it when the question</a:t>
            </a:r>
          </a:p>
          <a:p>
            <a:r>
              <a:rPr dirty="0"/>
              <a:t>is "how many distinct chemotypes are in my screening deck", or when you need to pick</a:t>
            </a:r>
          </a:p>
          <a:p>
            <a:r>
              <a:rPr dirty="0"/>
              <a:t>a diverse subset to buy.</a:t>
            </a:r>
          </a:p>
          <a:p>
            <a:endParaRPr dirty="0"/>
          </a:p>
          <a:p>
            <a:r>
              <a:rPr dirty="0"/>
              <a:t>DIMENSIONALITY REDUCTION gives you coordinates and no groups. Use it when you want</a:t>
            </a:r>
          </a:p>
          <a:p>
            <a:r>
              <a:rPr dirty="0"/>
              <a:t>to look at your data. Crucially: the fact that you can see clusters in a UMAP does</a:t>
            </a:r>
          </a:p>
          <a:p>
            <a:r>
              <a:rPr dirty="0"/>
              <a:t>not mean the clustering algorithm would find them.</a:t>
            </a:r>
          </a:p>
          <a:p>
            <a:endParaRPr dirty="0"/>
          </a:p>
          <a:p>
            <a:r>
              <a:rPr dirty="0"/>
              <a:t>DENSITY AND GENERATION gives you a model of what a plausible molecule looks like,</a:t>
            </a:r>
          </a:p>
          <a:p>
            <a:r>
              <a:rPr dirty="0"/>
              <a:t>which you can sample from. This is where VAEs live, and it is where we go in Part 3.</a:t>
            </a:r>
          </a:p>
          <a:p>
            <a:endParaRPr dirty="0"/>
          </a:p>
          <a:p>
            <a:r>
              <a:rPr dirty="0"/>
              <a:t>The thing all three share: no labels anywhere. Which means you can run them on</a:t>
            </a:r>
          </a:p>
          <a:p>
            <a:r>
              <a:rPr dirty="0"/>
              <a:t>every molecule you have, not just the ones you measured. For most groups in this</a:t>
            </a:r>
          </a:p>
          <a:p>
            <a:r>
              <a:rPr dirty="0"/>
              <a:t>room that is the difference between 400 compounds and 40,000.</a:t>
            </a:r>
          </a:p>
          <a:p>
            <a:endParaRPr dirty="0"/>
          </a:p>
          <a:p>
            <a:r>
              <a:rPr dirty="0"/>
              <a:t>Practical aside: this is also the cheapest possible first thing to do with a new</a:t>
            </a:r>
          </a:p>
          <a:p>
            <a:r>
              <a:rPr dirty="0"/>
              <a:t>dataset. Before you fit anything, cluster it and look at it. You will find the</a:t>
            </a:r>
          </a:p>
          <a:p>
            <a:r>
              <a:rPr dirty="0"/>
              <a:t>duplicate series, the one bad plate, and the fact that all your actives came from</a:t>
            </a:r>
          </a:p>
          <a:p>
            <a:r>
              <a:rPr dirty="0"/>
              <a:t>one scaffold.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C8C93-634C-8979-1A26-4A7FEE71A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54593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My </a:t>
            </a:r>
            <a:r>
              <a:rPr dirty="0" err="1"/>
              <a:t>favourite</a:t>
            </a:r>
            <a:r>
              <a:rPr dirty="0"/>
              <a:t> result in this whole area, and the cleanest possible demonstration that</a:t>
            </a:r>
          </a:p>
          <a:p>
            <a:r>
              <a:rPr dirty="0"/>
              <a:t>unsupervised learning finds real structure.</a:t>
            </a:r>
          </a:p>
          <a:p>
            <a:endParaRPr dirty="0"/>
          </a:p>
          <a:p>
            <a:r>
              <a:rPr dirty="0" err="1"/>
              <a:t>Tshitoyan</a:t>
            </a:r>
            <a:r>
              <a:rPr dirty="0"/>
              <a:t> and co-workers took 3.3 million materials science abstracts, filtered to</a:t>
            </a:r>
          </a:p>
          <a:p>
            <a:r>
              <a:rPr dirty="0"/>
              <a:t>1.5 million, and trained word2vec on them. Word2vec is self-supervised in the sense</a:t>
            </a:r>
          </a:p>
          <a:p>
            <a:r>
              <a:rPr dirty="0"/>
              <a:t>we defined earlier: predict a word from its </a:t>
            </a:r>
            <a:r>
              <a:rPr dirty="0" err="1"/>
              <a:t>neighbours</a:t>
            </a:r>
            <a:r>
              <a:rPr dirty="0"/>
              <a:t>. It knows nothing about</a:t>
            </a:r>
          </a:p>
          <a:p>
            <a:r>
              <a:rPr dirty="0"/>
              <a:t>chemistry. It has never seen a periodic table, an atomic number, or an electron</a:t>
            </a:r>
          </a:p>
          <a:p>
            <a:r>
              <a:rPr dirty="0"/>
              <a:t>configuration. It has only seen which words appear near which other words.</a:t>
            </a:r>
          </a:p>
          <a:p>
            <a:endParaRPr dirty="0"/>
          </a:p>
          <a:p>
            <a:r>
              <a:rPr dirty="0"/>
              <a:t>Then they took the hundred element symbols, pulled out their 200-dimensional</a:t>
            </a:r>
          </a:p>
          <a:p>
            <a:r>
              <a:rPr dirty="0"/>
              <a:t>vectors, and ran t-SNE. What comes out is the periodic table. The alkali metals sit</a:t>
            </a:r>
          </a:p>
          <a:p>
            <a:r>
              <a:rPr dirty="0"/>
              <a:t>together. The halogens sit together. The noble gases are off on their own. The</a:t>
            </a:r>
          </a:p>
          <a:p>
            <a:r>
              <a:rPr dirty="0"/>
              <a:t>transition metals form a band.</a:t>
            </a:r>
          </a:p>
          <a:p>
            <a:endParaRPr dirty="0"/>
          </a:p>
          <a:p>
            <a:r>
              <a:rPr dirty="0"/>
              <a:t>Why: because chemists write about lithium in sentences that look like sentences</a:t>
            </a:r>
          </a:p>
          <a:p>
            <a:r>
              <a:rPr dirty="0"/>
              <a:t>about sodium. The structure of the language mirrors the structure of the chemistry,</a:t>
            </a:r>
          </a:p>
          <a:p>
            <a:r>
              <a:rPr dirty="0"/>
              <a:t>and the model recovers the chemistry from the language.</a:t>
            </a:r>
          </a:p>
          <a:p>
            <a:endParaRPr dirty="0"/>
          </a:p>
          <a:p>
            <a:r>
              <a:rPr dirty="0"/>
              <a:t>Then they went further and used it prospectively: element embeddings as features</a:t>
            </a:r>
          </a:p>
          <a:p>
            <a:r>
              <a:rPr dirty="0"/>
              <a:t>predicted </a:t>
            </a:r>
            <a:r>
              <a:rPr dirty="0" err="1"/>
              <a:t>elpasolite</a:t>
            </a:r>
            <a:r>
              <a:rPr dirty="0"/>
              <a:t> formation energies to 0.056 eV per atom, better than</a:t>
            </a:r>
          </a:p>
          <a:p>
            <a:r>
              <a:rPr dirty="0"/>
              <a:t>hand-crafted descriptors. And their thermoelectric predictions were about eight</a:t>
            </a:r>
          </a:p>
          <a:p>
            <a:r>
              <a:rPr dirty="0"/>
              <a:t>times more likely than chance to be reported as </a:t>
            </a:r>
            <a:r>
              <a:rPr dirty="0" err="1"/>
              <a:t>thermoelectrics</a:t>
            </a:r>
            <a:r>
              <a:rPr dirty="0"/>
              <a:t> in the following</a:t>
            </a:r>
          </a:p>
          <a:p>
            <a:r>
              <a:rPr dirty="0"/>
              <a:t>five years. CuGaTe2 would have been a top-five pick four years before it was</a:t>
            </a:r>
          </a:p>
          <a:p>
            <a:r>
              <a:rPr dirty="0"/>
              <a:t>published.</a:t>
            </a:r>
          </a:p>
          <a:p>
            <a:endParaRPr dirty="0"/>
          </a:p>
          <a:p>
            <a:r>
              <a:rPr dirty="0"/>
              <a:t>One correction, since it circulates in talks: the "8x" is an enrichment over random,</a:t>
            </a:r>
          </a:p>
          <a:p>
            <a:r>
              <a:rPr dirty="0"/>
              <a:t>not "8 of the top 10 worked".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 is the architecture that starts the modern story.</a:t>
            </a:r>
          </a:p>
          <a:p>
            <a:endParaRPr dirty="0"/>
          </a:p>
          <a:p>
            <a:r>
              <a:rPr dirty="0"/>
              <a:t>An encoder squeezes the molecule down to a small vector z. A decoder tries to rebuild</a:t>
            </a:r>
          </a:p>
          <a:p>
            <a:r>
              <a:rPr dirty="0"/>
              <a:t>the original molecule from z alone. The loss is simply: did you get the input back.</a:t>
            </a:r>
          </a:p>
          <a:p>
            <a:endParaRPr dirty="0"/>
          </a:p>
          <a:p>
            <a:r>
              <a:rPr dirty="0"/>
              <a:t>Note what is NOT here. No property. No assay. No label of any kind. The molecule is</a:t>
            </a:r>
          </a:p>
          <a:p>
            <a:r>
              <a:rPr dirty="0"/>
              <a:t>its own target. This is self-supervision in its purest form, and it means you can</a:t>
            </a:r>
          </a:p>
          <a:p>
            <a:r>
              <a:rPr dirty="0"/>
              <a:t>train on every molecule in ZINC.</a:t>
            </a:r>
          </a:p>
          <a:p>
            <a:endParaRPr dirty="0"/>
          </a:p>
          <a:p>
            <a:r>
              <a:rPr dirty="0"/>
              <a:t>Now the important bit conceptually. If the decoder can rebuild the molecule from</a:t>
            </a:r>
          </a:p>
          <a:p>
            <a:r>
              <a:rPr dirty="0"/>
              <a:t>196 numbers, then those 196 numbers must contain essentially everything about the</a:t>
            </a:r>
          </a:p>
          <a:p>
            <a:r>
              <a:rPr dirty="0"/>
              <a:t>molecule that matters. z is a learned representation — a compressed description that</a:t>
            </a:r>
          </a:p>
          <a:p>
            <a:r>
              <a:rPr dirty="0"/>
              <a:t>the model invented, rather than one you specified.</a:t>
            </a:r>
          </a:p>
          <a:p>
            <a:endParaRPr dirty="0"/>
          </a:p>
          <a:p>
            <a:r>
              <a:rPr dirty="0"/>
              <a:t>The word "bottleneck" is doing real work here, and the next slide unpacks it.</a:t>
            </a:r>
          </a:p>
          <a:p>
            <a:endParaRPr dirty="0"/>
          </a:p>
          <a:p>
            <a:r>
              <a:rPr dirty="0"/>
              <a:t>Historical aside if you have time: this idea is old, it goes back to the 1980s. What</a:t>
            </a:r>
          </a:p>
          <a:p>
            <a:r>
              <a:rPr dirty="0"/>
              <a:t>changed is that we got enough </a:t>
            </a:r>
            <a:r>
              <a:rPr dirty="0" err="1"/>
              <a:t>unlabelled</a:t>
            </a:r>
            <a:r>
              <a:rPr dirty="0"/>
              <a:t> molecules and enough GPU to make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does compression produce something useful? Because it forces a choice.</a:t>
            </a:r>
          </a:p>
          <a:p>
            <a:endParaRPr/>
          </a:p>
          <a:p>
            <a:r>
              <a:t>If z is as wide as the input, the network learns the identity function. It copies</a:t>
            </a:r>
          </a:p>
          <a:p>
            <a:r>
              <a:t>the input across and reconstructs perfectly, and z tells you nothing. This is a real</a:t>
            </a:r>
          </a:p>
          <a:p>
            <a:r>
              <a:t>failure mode, not a hypothetical.</a:t>
            </a:r>
          </a:p>
          <a:p>
            <a:endParaRPr/>
          </a:p>
          <a:p>
            <a:r>
              <a:t>If z is far too narrow — say two numbers — nothing reconstructs, and everything</a:t>
            </a:r>
          </a:p>
          <a:p>
            <a:r>
              <a:t>decodes to something like benzene.</a:t>
            </a:r>
          </a:p>
          <a:p>
            <a:endParaRPr/>
          </a:p>
          <a:p>
            <a:r>
              <a:t>In between, the model is forced to triage. It has, say, 196 numbers to describe an</a:t>
            </a:r>
          </a:p>
          <a:p>
            <a:r>
              <a:t>arbitrary drug-like molecule. It cannot store the SMILES string. So it has to work</a:t>
            </a:r>
          </a:p>
          <a:p>
            <a:r>
              <a:t>out what is worth keeping: ring systems, molecular size, the presence of a carbonyl,</a:t>
            </a:r>
          </a:p>
          <a:p>
            <a:r>
              <a:t>halogen substitution, roughly where things are attached. And it discovers those</a:t>
            </a:r>
          </a:p>
          <a:p>
            <a:r>
              <a:t>features itself, because they are the ones that buy the most reconstruction accuracy</a:t>
            </a:r>
          </a:p>
          <a:p>
            <a:r>
              <a:t>per bit.</a:t>
            </a:r>
          </a:p>
          <a:p>
            <a:endParaRPr/>
          </a:p>
          <a:p>
            <a:r>
              <a:t>That is the sentence to take away: what survives the bottleneck is what the data says</a:t>
            </a:r>
          </a:p>
          <a:p>
            <a:r>
              <a:t>matters. Compare that with ECFP, where what survives is what Rogers and Hahn decided</a:t>
            </a:r>
          </a:p>
          <a:p>
            <a:r>
              <a:t>mattered in 2010.</a:t>
            </a:r>
          </a:p>
          <a:p>
            <a:endParaRPr/>
          </a:p>
          <a:p>
            <a:r>
              <a:t>Which is better? Genuinely open — Part 6. But they are different in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the failure that motivates the VAE, and it is worth being concrete because this</a:t>
            </a:r>
          </a:p>
          <a:p>
            <a:r>
              <a:rPr dirty="0"/>
              <a:t>is where students' intuition usually breaks.</a:t>
            </a:r>
          </a:p>
          <a:p>
            <a:endParaRPr dirty="0"/>
          </a:p>
          <a:p>
            <a:r>
              <a:rPr dirty="0"/>
              <a:t>The autoencoder was only ever asked to do one thing: reconstruct the molecules in the</a:t>
            </a:r>
          </a:p>
          <a:p>
            <a:r>
              <a:rPr dirty="0"/>
              <a:t>training set. Nothing in the loss says anything about the space between them. So the</a:t>
            </a:r>
          </a:p>
          <a:p>
            <a:r>
              <a:rPr dirty="0" err="1"/>
              <a:t>optimiser</a:t>
            </a:r>
            <a:r>
              <a:rPr dirty="0"/>
              <a:t> does the easiest thing — it scatters the training molecules into isolated</a:t>
            </a:r>
          </a:p>
          <a:p>
            <a:r>
              <a:rPr dirty="0"/>
              <a:t>islands, as far from each other as possible, because that makes them maximally easy</a:t>
            </a:r>
          </a:p>
          <a:p>
            <a:r>
              <a:rPr dirty="0"/>
              <a:t>to tell apart and reconstruct.</a:t>
            </a:r>
          </a:p>
          <a:p>
            <a:endParaRPr dirty="0"/>
          </a:p>
          <a:p>
            <a:r>
              <a:rPr dirty="0"/>
              <a:t>The result is on the left: a latent space that is mostly empty. And if you pick a</a:t>
            </a:r>
          </a:p>
          <a:p>
            <a:r>
              <a:rPr dirty="0"/>
              <a:t>point in one of those empty regions and decode it — the red star — you get the mess</a:t>
            </a:r>
          </a:p>
          <a:p>
            <a:r>
              <a:rPr dirty="0"/>
              <a:t>on the right. </a:t>
            </a:r>
            <a:r>
              <a:rPr dirty="0" err="1"/>
              <a:t>Unparseable</a:t>
            </a:r>
            <a:r>
              <a:rPr dirty="0"/>
              <a:t> strings, pentavalent carbons, absurd structures.</a:t>
            </a:r>
          </a:p>
          <a:p>
            <a:endParaRPr dirty="0"/>
          </a:p>
          <a:p>
            <a:r>
              <a:rPr dirty="0"/>
              <a:t>Why does this matter? Because a representation you cannot move around in is much less</a:t>
            </a:r>
          </a:p>
          <a:p>
            <a:r>
              <a:rPr dirty="0"/>
              <a:t>useful. If you want to </a:t>
            </a:r>
            <a:r>
              <a:rPr dirty="0" err="1"/>
              <a:t>optimise</a:t>
            </a:r>
            <a:r>
              <a:rPr dirty="0"/>
              <a:t> a molecule, or interpolate between two molecules, or</a:t>
            </a:r>
          </a:p>
          <a:p>
            <a:r>
              <a:rPr dirty="0"/>
              <a:t>sample a new one, you need the space between the data to mean something.</a:t>
            </a:r>
          </a:p>
          <a:p>
            <a:endParaRPr dirty="0"/>
          </a:p>
          <a:p>
            <a:r>
              <a:rPr dirty="0"/>
              <a:t>The VAE is precisely the fix for this, and it is one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 is the entire conceptual content of a variational autoencoder. Everything else</a:t>
            </a:r>
          </a:p>
          <a:p>
            <a:r>
              <a:rPr dirty="0"/>
              <a:t>is machinery.</a:t>
            </a:r>
          </a:p>
          <a:p>
            <a:endParaRPr dirty="0"/>
          </a:p>
          <a:p>
            <a:r>
              <a:rPr dirty="0"/>
              <a:t>Instead of mapping each molecule to a single point in latent space, map it to a small</a:t>
            </a:r>
          </a:p>
          <a:p>
            <a:r>
              <a:rPr dirty="0"/>
              <a:t>region — a mean and a spread. Then, during training, do not decode the mean. Decode a</a:t>
            </a:r>
          </a:p>
          <a:p>
            <a:r>
              <a:rPr dirty="0"/>
              <a:t>random sample drawn from that region.</a:t>
            </a:r>
          </a:p>
          <a:p>
            <a:endParaRPr dirty="0"/>
          </a:p>
          <a:p>
            <a:r>
              <a:rPr dirty="0"/>
              <a:t>Think about what that does. The model is now being told: every point in this little</a:t>
            </a:r>
          </a:p>
          <a:p>
            <a:r>
              <a:rPr dirty="0"/>
              <a:t>cloud has to decode back to aspirin. Not just the </a:t>
            </a:r>
            <a:r>
              <a:rPr dirty="0" err="1"/>
              <a:t>centre</a:t>
            </a:r>
            <a:r>
              <a:rPr dirty="0"/>
              <a:t> — the whole </a:t>
            </a:r>
            <a:r>
              <a:rPr dirty="0" err="1"/>
              <a:t>neighbourhood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Do that for every molecule in the training set, and the clouds start to overlap and</a:t>
            </a:r>
          </a:p>
          <a:p>
            <a:r>
              <a:rPr dirty="0"/>
              <a:t>tile the space. The holes fill in. The space becomes continuous, in the sense that</a:t>
            </a:r>
          </a:p>
          <a:p>
            <a:r>
              <a:rPr dirty="0"/>
              <a:t>moving a small distance changes the molecule a small amount, rather than falling off</a:t>
            </a:r>
          </a:p>
          <a:p>
            <a:r>
              <a:rPr dirty="0"/>
              <a:t>a cliff into garbage.</a:t>
            </a:r>
          </a:p>
          <a:p>
            <a:endParaRPr dirty="0"/>
          </a:p>
          <a:p>
            <a:r>
              <a:rPr dirty="0"/>
              <a:t>That is it. That is the idea. The mathematics — variational inference, the ELBO, the</a:t>
            </a:r>
          </a:p>
          <a:p>
            <a:r>
              <a:rPr dirty="0" err="1"/>
              <a:t>reparameterisation</a:t>
            </a:r>
            <a:r>
              <a:rPr dirty="0"/>
              <a:t> trick — is machinery for making that trainable, and I am</a:t>
            </a:r>
          </a:p>
          <a:p>
            <a:r>
              <a:rPr dirty="0"/>
              <a:t>deliberately not showing it. If you want it, Kingma and Welling 2013, and the</a:t>
            </a:r>
          </a:p>
          <a:p>
            <a:r>
              <a:rPr dirty="0" err="1"/>
              <a:t>reparameterisation</a:t>
            </a:r>
            <a:r>
              <a:rPr dirty="0"/>
              <a:t> trick is the one piece genuinely worth reading about.</a:t>
            </a:r>
          </a:p>
          <a:p>
            <a:endParaRPr dirty="0"/>
          </a:p>
          <a:p>
            <a:r>
              <a:rPr dirty="0"/>
              <a:t>Check for understanding: ask why we sample instead of just adding noise to the</a:t>
            </a:r>
          </a:p>
          <a:p>
            <a:r>
              <a:rPr dirty="0"/>
              <a:t>output. Answer: because the model also gets to CHOOSE the spread, and that choice is</a:t>
            </a:r>
          </a:p>
          <a:p>
            <a:r>
              <a:rPr dirty="0"/>
              <a:t>what gets </a:t>
            </a:r>
            <a:r>
              <a:rPr dirty="0" err="1"/>
              <a:t>regularised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VAE loss has two terms pulling in opposite directions, and understanding the</a:t>
            </a:r>
          </a:p>
          <a:p>
            <a:r>
              <a:t>tension is enough to read any VAE paper.</a:t>
            </a:r>
          </a:p>
          <a:p>
            <a:endParaRPr/>
          </a:p>
          <a:p>
            <a:r>
              <a:t>RECONSTRUCTION wants every molecule to be perfectly recoverable. The way to achieve</a:t>
            </a:r>
          </a:p>
          <a:p>
            <a:r>
              <a:t>that is to make the clouds tiny and far apart, so no two molecules can be confused.</a:t>
            </a:r>
          </a:p>
          <a:p>
            <a:r>
              <a:t>That is the autoencoder failure mode coming back in.</a:t>
            </a:r>
          </a:p>
          <a:p>
            <a:endParaRPr/>
          </a:p>
          <a:p>
            <a:r>
              <a:t>REGULARISATION wants all the clouds to look like one standard blob centred at the</a:t>
            </a:r>
          </a:p>
          <a:p>
            <a:r>
              <a:t>origin. Taken alone, that collapses everything on top of everything else and you can</a:t>
            </a:r>
          </a:p>
          <a:p>
            <a:r>
              <a:t>reconstruct nothing.</a:t>
            </a:r>
          </a:p>
          <a:p>
            <a:endParaRPr/>
          </a:p>
          <a:p>
            <a:r>
              <a:t>Beta is the dial between them. Turn it down and you have an autoencoder with holes.</a:t>
            </a:r>
          </a:p>
          <a:p>
            <a:r>
              <a:t>Turn it up and you get mush — in the worst case the model ignores z entirely and the</a:t>
            </a:r>
          </a:p>
          <a:p>
            <a:r>
              <a:t>decoder just produces generic molecules. That failure has a name, posterior collapse,</a:t>
            </a:r>
          </a:p>
          <a:p>
            <a:r>
              <a:t>and it is common enough that a lot of practical VAE work is about scheduling beta.</a:t>
            </a:r>
          </a:p>
          <a:p>
            <a:endParaRPr/>
          </a:p>
          <a:p>
            <a:r>
              <a:t>The original chemical VAE annealed beta on a sigmoid schedule after 29 epochs, for</a:t>
            </a:r>
          </a:p>
          <a:p>
            <a:r>
              <a:t>exactly this reason.</a:t>
            </a:r>
          </a:p>
          <a:p>
            <a:endParaRPr/>
          </a:p>
          <a:p>
            <a:r>
              <a:t>What to take away: when someone shows you a beautiful smooth latent space, ask what</a:t>
            </a:r>
          </a:p>
          <a:p>
            <a:r>
              <a:t>beta was, and ask what the reconstruction accuracy was. There is always a trade, and</a:t>
            </a:r>
          </a:p>
          <a:p>
            <a:r>
              <a:t>the pretty picture usually costs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picture that made the field excited in 2016, and it is worth</a:t>
            </a:r>
          </a:p>
          <a:p>
            <a:r>
              <a:t>understanding why.</a:t>
            </a:r>
          </a:p>
          <a:p>
            <a:endParaRPr/>
          </a:p>
          <a:p>
            <a:r>
              <a:t>Take two molecules. Encode both to get two points in latent space. Draw the straight</a:t>
            </a:r>
          </a:p>
          <a:p>
            <a:r>
              <a:t>line between them. Decode at intervals along the line. You get a series of molecules</a:t>
            </a:r>
          </a:p>
          <a:p>
            <a:r>
              <a:t>that morph gradually from one to the other.</a:t>
            </a:r>
          </a:p>
          <a:p>
            <a:endParaRPr/>
          </a:p>
          <a:p>
            <a:r>
              <a:t>Notice what that means. Chemical structure is discrete — you cannot have half a</a:t>
            </a:r>
          </a:p>
          <a:p>
            <a:r>
              <a:t>nitrogen. But the latent space is continuous. The VAE has given you a continuous</a:t>
            </a:r>
          </a:p>
          <a:p>
            <a:r>
              <a:t>handle on a discrete object, and continuous is what every optimisation algorithm in</a:t>
            </a:r>
          </a:p>
          <a:p>
            <a:r>
              <a:t>existence wants: gradients, Bayesian optimisation, gradient descent on a property.</a:t>
            </a:r>
          </a:p>
          <a:p>
            <a:endParaRPr/>
          </a:p>
          <a:p>
            <a:r>
              <a:t>That is the promise: turn molecular design into continuous optimisation. Encode your</a:t>
            </a:r>
          </a:p>
          <a:p>
            <a:r>
              <a:t>library, train a property predictor on the latent vectors, follow the gradient</a:t>
            </a:r>
          </a:p>
          <a:p>
            <a:r>
              <a:t>uphill, decode.</a:t>
            </a:r>
          </a:p>
          <a:p>
            <a:endParaRPr/>
          </a:p>
          <a:p>
            <a:r>
              <a:t>Hold onto that promise for two slides, because we are going to test it.</a:t>
            </a:r>
          </a:p>
          <a:p>
            <a:endParaRPr/>
          </a:p>
          <a:p>
            <a:r>
              <a:t>Note for honesty: real interpolations are choppier than this cartoon. Papers show you</a:t>
            </a:r>
          </a:p>
          <a:p>
            <a:r>
              <a:t>the good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4% number set off five years of work, and this chart is that story.</a:t>
            </a:r>
          </a:p>
          <a:p>
            <a:endParaRPr/>
          </a:p>
          <a:p>
            <a:r>
              <a:t>Character-level VAE — the JT-VAE authors reproduced it at 0.7% prior validity.</a:t>
            </a:r>
          </a:p>
          <a:p>
            <a:r>
              <a:t>Grammar VAE, which forces the output to follow a SMILES grammar: 7.2%. Syntax-directed</a:t>
            </a:r>
          </a:p>
          <a:p>
            <a:r>
              <a:t>VAE, which adds semantics on top: 43.5%. Junction-tree VAE: 100%. SELFIES: 100%.</a:t>
            </a:r>
          </a:p>
          <a:p>
            <a:endParaRPr/>
          </a:p>
          <a:p>
            <a:r>
              <a:t>Now the honest reading, which is the line above the last two bars. Those hundreds are</a:t>
            </a:r>
          </a:p>
          <a:p>
            <a:r>
              <a:t>not achieved by learning. They are achieved by construction — by making it</a:t>
            </a:r>
          </a:p>
          <a:p>
            <a:r>
              <a:t>structurally impossible to emit an invalid molecule. The model did not get better at</a:t>
            </a:r>
          </a:p>
          <a:p>
            <a:r>
              <a:t>chemistry. The output format got stricter.</a:t>
            </a:r>
          </a:p>
          <a:p>
            <a:endParaRPr/>
          </a:p>
          <a:p>
            <a:r>
              <a:t>The JT-VAE authors say this themselves, and I like them for it: a degenerate model</a:t>
            </a:r>
          </a:p>
          <a:p>
            <a:r>
              <a:t>could hit 100% validity by only ever generating long alkane chains.</a:t>
            </a:r>
          </a:p>
          <a:p>
            <a:endParaRPr/>
          </a:p>
          <a:p>
            <a:r>
              <a:t>So the right question is not "is it valid". Validity is table stakes and it is solved.</a:t>
            </a:r>
          </a:p>
          <a:p>
            <a:r>
              <a:t>The right question is "is it any good", and that turns out to be much harder to</a:t>
            </a:r>
          </a:p>
          <a:p>
            <a:r>
              <a:t>measure — and much less flattering.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worth knowing because you will meet both.</a:t>
            </a:r>
          </a:p>
          <a:p>
            <a:endParaRPr/>
          </a:p>
          <a:p>
            <a:r>
              <a:t>JT-VAE, on the left. Do not generate atom by atom — generate at the level of</a:t>
            </a:r>
          </a:p>
          <a:p>
            <a:r>
              <a:t>chemically valid pieces. Decompose each molecule into a junction tree whose nodes are</a:t>
            </a:r>
          </a:p>
          <a:p>
            <a:r>
              <a:t>rings, bonds and single atoms, with a vocabulary of 780 substructures learned from</a:t>
            </a:r>
          </a:p>
          <a:p>
            <a:r>
              <a:t>ZINC. Generate the tree first, then assemble the pieces into a graph, masking out any</a:t>
            </a:r>
          </a:p>
          <a:p>
            <a:r>
              <a:t>join that would be chemically illegal. You cannot produce an invalid molecule because</a:t>
            </a:r>
          </a:p>
          <a:p>
            <a:r>
              <a:t>you are only ever gluing together valid parts in legal ways.</a:t>
            </a:r>
          </a:p>
          <a:p>
            <a:endParaRPr/>
          </a:p>
          <a:p>
            <a:r>
              <a:t>SELFIES, on the right, is more elegant. It is a formal grammar with a state machine.</a:t>
            </a:r>
          </a:p>
          <a:p>
            <a:r>
              <a:t>Each symbol is not a fixed token — it is an index into a rule table, and which rule</a:t>
            </a:r>
          </a:p>
          <a:p>
            <a:r>
              <a:t>fires depends on how much valence is left. Follow the example: we are in state X1</a:t>
            </a:r>
          </a:p>
          <a:p>
            <a:r>
              <a:t>with one bond available, the string asks for a double bond to carbon, so the grammar</a:t>
            </a:r>
          </a:p>
          <a:p>
            <a:r>
              <a:t>CLAMPS it to a single bond. It never rejects; it absorbs. Combined with encoding</a:t>
            </a:r>
          </a:p>
          <a:p>
            <a:r>
              <a:t>branch lengths and ring sizes as counts rather than paired brackets, there is</a:t>
            </a:r>
          </a:p>
          <a:p>
            <a:r>
              <a:t>literally no string of SELFIES symbols that fails to decode.</a:t>
            </a:r>
          </a:p>
          <a:p>
            <a:endParaRPr/>
          </a:p>
          <a:p>
            <a:r>
              <a:t>The limitation, and say it clearly: SELFIES enforces local valence only. Not</a:t>
            </a:r>
          </a:p>
          <a:p>
            <a:r>
              <a:t>aromaticity, not ring strain, not stability, not synthesizability. A 100%-valid</a:t>
            </a:r>
          </a:p>
          <a:p>
            <a:r>
              <a:t>SELFIES molecule can still be something no chemist would ever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slide where I ask you to update. Three results, all from people inside</a:t>
            </a:r>
          </a:p>
          <a:p>
            <a:r>
              <a:rPr dirty="0"/>
              <a:t>the field.</a:t>
            </a:r>
          </a:p>
          <a:p>
            <a:endParaRPr dirty="0"/>
          </a:p>
          <a:p>
            <a:r>
              <a:rPr dirty="0"/>
              <a:t>LEFT — </a:t>
            </a:r>
            <a:r>
              <a:rPr dirty="0" err="1"/>
              <a:t>memorisation</a:t>
            </a:r>
            <a:r>
              <a:rPr dirty="0"/>
              <a:t>. On the MOSES benchmark the VAE's novelty score is 0.695. Nearly</a:t>
            </a:r>
          </a:p>
          <a:p>
            <a:r>
              <a:rPr dirty="0"/>
              <a:t>a third of what it "designs" is literally already in the training set. The benchmark</a:t>
            </a:r>
          </a:p>
          <a:p>
            <a:r>
              <a:rPr dirty="0"/>
              <a:t>authors' own words: autoencoder-based models overfit to the training set. A</a:t>
            </a:r>
          </a:p>
          <a:p>
            <a:r>
              <a:rPr dirty="0"/>
              <a:t>character-RNN — a much simpler model — is more novel.</a:t>
            </a:r>
          </a:p>
          <a:p>
            <a:endParaRPr dirty="0"/>
          </a:p>
          <a:p>
            <a:r>
              <a:rPr dirty="0"/>
              <a:t>MIDDLE — validity does not buy quality. FCD measures how close your generated</a:t>
            </a:r>
          </a:p>
          <a:p>
            <a:r>
              <a:rPr dirty="0"/>
              <a:t>distribution is to real chemistry. Look at CGVAE: 100% valid, and by a wide margin the</a:t>
            </a:r>
          </a:p>
          <a:p>
            <a:r>
              <a:rPr dirty="0"/>
              <a:t>worst distribution match in the table. Molecule Chef, at 99% valid, is sixteen times</a:t>
            </a:r>
          </a:p>
          <a:p>
            <a:r>
              <a:rPr dirty="0"/>
              <a:t>better on FCD. The relationship between validity and quality is not just weak, in this</a:t>
            </a:r>
          </a:p>
          <a:p>
            <a:r>
              <a:rPr dirty="0"/>
              <a:t>table it is inverted.</a:t>
            </a:r>
          </a:p>
          <a:p>
            <a:endParaRPr dirty="0"/>
          </a:p>
          <a:p>
            <a:r>
              <a:rPr dirty="0"/>
              <a:t>RIGHT — and this is the one that should sting. Jan Jensen took a graph-based genetic</a:t>
            </a:r>
          </a:p>
          <a:p>
            <a:r>
              <a:rPr dirty="0"/>
              <a:t>algorithm, a technique from the 1970s, and ran it for thirty seconds on a laptop. It</a:t>
            </a:r>
          </a:p>
          <a:p>
            <a:r>
              <a:rPr dirty="0"/>
              <a:t>scored 7.4 on </a:t>
            </a:r>
            <a:r>
              <a:rPr dirty="0" err="1"/>
              <a:t>penalised</a:t>
            </a:r>
            <a:r>
              <a:rPr dirty="0"/>
              <a:t> </a:t>
            </a:r>
            <a:r>
              <a:rPr dirty="0" err="1"/>
              <a:t>logP</a:t>
            </a:r>
            <a:r>
              <a:rPr dirty="0"/>
              <a:t>. </a:t>
            </a:r>
            <a:r>
              <a:rPr dirty="0" err="1"/>
              <a:t>ChemVAE</a:t>
            </a:r>
            <a:r>
              <a:rPr dirty="0"/>
              <a:t> with Bayesian </a:t>
            </a:r>
            <a:r>
              <a:rPr dirty="0" err="1"/>
              <a:t>optimisation</a:t>
            </a:r>
            <a:r>
              <a:rPr dirty="0"/>
              <a:t>, eight hours: 0.0.</a:t>
            </a:r>
          </a:p>
          <a:p>
            <a:endParaRPr dirty="0"/>
          </a:p>
          <a:p>
            <a:r>
              <a:rPr dirty="0"/>
              <a:t>Add to that: on the PMO benchmark, randomly screening ZINC beats both JT-VAE and</a:t>
            </a:r>
          </a:p>
          <a:p>
            <a:r>
              <a:rPr dirty="0"/>
              <a:t>SMILES-VAE. And Gao and Coley found that only about 30% of top-scoring generated</a:t>
            </a:r>
          </a:p>
          <a:p>
            <a:r>
              <a:rPr dirty="0"/>
              <a:t>molecules have a findable synthetic route.</a:t>
            </a:r>
          </a:p>
          <a:p>
            <a:endParaRPr dirty="0"/>
          </a:p>
          <a:p>
            <a:r>
              <a:rPr dirty="0"/>
              <a:t>Pause here. Let it sit. Then ask: so why did I spend fifteen minutes on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Gómez-</a:t>
            </a:r>
            <a:r>
              <a:rPr dirty="0" err="1"/>
              <a:t>Bombarelli</a:t>
            </a:r>
            <a:r>
              <a:rPr dirty="0"/>
              <a:t> and </a:t>
            </a:r>
            <a:r>
              <a:rPr dirty="0" err="1"/>
              <a:t>Aspuru</a:t>
            </a:r>
            <a:r>
              <a:rPr dirty="0"/>
              <a:t>-Guzik, ACS Central Science 2018 — the reference everyone</a:t>
            </a:r>
          </a:p>
          <a:p>
            <a:r>
              <a:rPr dirty="0"/>
              <a:t>cites.</a:t>
            </a:r>
          </a:p>
          <a:p>
            <a:endParaRPr dirty="0"/>
          </a:p>
          <a:p>
            <a:r>
              <a:rPr dirty="0"/>
              <a:t>Architecture: SMILES in, convolutional encoder, 196-dimensional latent space for the</a:t>
            </a:r>
          </a:p>
          <a:p>
            <a:r>
              <a:rPr dirty="0"/>
              <a:t>ZINC model, GRU decoder, SMILES out. Trained on 250,000 drug-like ZINC molecules.</a:t>
            </a:r>
          </a:p>
          <a:p>
            <a:endParaRPr dirty="0"/>
          </a:p>
          <a:p>
            <a:r>
              <a:rPr dirty="0"/>
              <a:t>The clever addition is the purple box. Alongside the decoder they attached a small</a:t>
            </a:r>
          </a:p>
          <a:p>
            <a:r>
              <a:rPr dirty="0"/>
              <a:t>property predictor that reads z and predicts </a:t>
            </a:r>
            <a:r>
              <a:rPr dirty="0" err="1"/>
              <a:t>logP</a:t>
            </a:r>
            <a:r>
              <a:rPr dirty="0"/>
              <a:t>, QED, synthetic accessibility.</a:t>
            </a:r>
          </a:p>
          <a:p>
            <a:r>
              <a:rPr dirty="0"/>
              <a:t>Trained jointly. And that changes the geometry of the latent space: instead of</a:t>
            </a:r>
          </a:p>
          <a:p>
            <a:r>
              <a:rPr dirty="0" err="1"/>
              <a:t>organising</a:t>
            </a:r>
            <a:r>
              <a:rPr dirty="0"/>
              <a:t> molecules by whatever is easiest to reconstruct, it </a:t>
            </a:r>
            <a:r>
              <a:rPr dirty="0" err="1"/>
              <a:t>organises</a:t>
            </a:r>
            <a:r>
              <a:rPr dirty="0"/>
              <a:t> them</a:t>
            </a:r>
          </a:p>
          <a:p>
            <a:r>
              <a:rPr dirty="0"/>
              <a:t>partly by property. Their own ablation says that without the property head there is</a:t>
            </a:r>
          </a:p>
          <a:p>
            <a:r>
              <a:rPr dirty="0"/>
              <a:t>no discernible pattern in the latent space.</a:t>
            </a:r>
          </a:p>
          <a:p>
            <a:endParaRPr dirty="0"/>
          </a:p>
          <a:p>
            <a:r>
              <a:rPr dirty="0"/>
              <a:t>That is a genuinely important idea and it survives: if you want a representation</a:t>
            </a:r>
          </a:p>
          <a:p>
            <a:r>
              <a:rPr dirty="0"/>
              <a:t>that is useful for a task, giving it a whiff of the task during training helps a lot.</a:t>
            </a:r>
          </a:p>
          <a:p>
            <a:r>
              <a:rPr dirty="0"/>
              <a:t>You will see the same idea in Part 4 as multi-task regression pre-training.</a:t>
            </a:r>
          </a:p>
          <a:p>
            <a:endParaRPr dirty="0"/>
          </a:p>
          <a:p>
            <a:r>
              <a:rPr dirty="0"/>
              <a:t>Now the number in red, and I want to be careful because the literature is messy here.</a:t>
            </a:r>
          </a:p>
          <a:p>
            <a:r>
              <a:rPr dirty="0"/>
              <a:t>Take random points from the latent space and decode them: roughly 4% give a valid</a:t>
            </a:r>
          </a:p>
          <a:p>
            <a:r>
              <a:rPr dirty="0"/>
              <a:t>molecule, according to the published main text. Near real molecules it is much better,</a:t>
            </a:r>
          </a:p>
          <a:p>
            <a:r>
              <a:rPr dirty="0"/>
              <a:t>70-80%. The </a:t>
            </a:r>
            <a:r>
              <a:rPr dirty="0" err="1"/>
              <a:t>arXiv</a:t>
            </a:r>
            <a:r>
              <a:rPr dirty="0"/>
              <a:t> version reports these differently and the definitions vary. But the</a:t>
            </a:r>
          </a:p>
          <a:p>
            <a:r>
              <a:rPr dirty="0"/>
              <a:t>qualitative fact is not in dispute: most of that beautiful continuous space decodes</a:t>
            </a:r>
          </a:p>
          <a:p>
            <a:r>
              <a:rPr dirty="0"/>
              <a:t>to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answer to the question I just asked, and it is the hinge of the lecture.</a:t>
            </a:r>
          </a:p>
          <a:p>
            <a:endParaRPr/>
          </a:p>
          <a:p>
            <a:r>
              <a:t>As a molecule GENERATOR, the VAE lost. It lost to genetic algorithms, to plain SMILES</a:t>
            </a:r>
          </a:p>
          <a:p>
            <a:r>
              <a:t>language models, and on some benchmarks to random screening. The generative baton has</a:t>
            </a:r>
          </a:p>
          <a:p>
            <a:r>
              <a:t>passed to diffusion models — which is Thursday afternoon with Chenru — and to</a:t>
            </a:r>
          </a:p>
          <a:p>
            <a:r>
              <a:t>LLM-based approaches, which is next week.</a:t>
            </a:r>
          </a:p>
          <a:p>
            <a:endParaRPr/>
          </a:p>
          <a:p>
            <a:r>
              <a:t>But look at what the architecture actually gave us. A way to map any molecule to a</a:t>
            </a:r>
          </a:p>
          <a:p>
            <a:r>
              <a:t>fixed-length vector. Trained on hundreds of thousands of molecules with zero labels.</a:t>
            </a:r>
          </a:p>
          <a:p>
            <a:r>
              <a:t>Where the geometry means something. And where the encoder can be pulled off and</a:t>
            </a:r>
          </a:p>
          <a:p>
            <a:r>
              <a:t>reused for anything.</a:t>
            </a:r>
          </a:p>
          <a:p>
            <a:endParaRPr/>
          </a:p>
          <a:p>
            <a:r>
              <a:t>The decoder was the part that disappointed. The ENCODER is the part that became the</a:t>
            </a:r>
          </a:p>
          <a:p>
            <a:r>
              <a:t>foundation of everything in the second half of this lecture. Every chemical language</a:t>
            </a:r>
          </a:p>
          <a:p>
            <a:r>
              <a:t>model, every pre-trained GNN, every foundation MLIP is running the same play: train an</a:t>
            </a:r>
          </a:p>
          <a:p>
            <a:r>
              <a:t>encoder on a pretext task using unlabelled data, then throw away the pretext head and</a:t>
            </a:r>
          </a:p>
          <a:p>
            <a:r>
              <a:t>keep the encoder.</a:t>
            </a:r>
          </a:p>
          <a:p>
            <a:endParaRPr/>
          </a:p>
          <a:p>
            <a:r>
              <a:t>The VAE's pretext task was reconstruction. Part 4 is about better pretext tasks.</a:t>
            </a:r>
          </a:p>
          <a:p>
            <a:endParaRPr/>
          </a:p>
          <a:p>
            <a:r>
              <a:t>Break here —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minutes. When we come back: the second half is the practical half — this is the</a:t>
            </a:r>
          </a:p>
          <a:p>
            <a:r>
              <a:t>part you will actually use.</a:t>
            </a:r>
          </a:p>
          <a:p>
            <a:endParaRPr/>
          </a:p>
          <a:p>
            <a:r>
              <a:t>If anyone asks during the break why VAEs are still taught: because the encoder-latent-</a:t>
            </a:r>
          </a:p>
          <a:p>
            <a:r>
              <a:t>decoder pattern is everywhere, and because you cannot read the 2018-2022 chemistry ML</a:t>
            </a:r>
          </a:p>
          <a:p>
            <a:r>
              <a:t>literature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1834-CBE9-02F6-7507-999B53A2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23AFC-8126-5467-0783-1A107600F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BA387-C4F0-937E-3A7D-9CC1B35FD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Set up the vocabulary carefully here; students confuse the last two constantly.</a:t>
            </a:r>
          </a:p>
          <a:p>
            <a:endParaRPr dirty="0"/>
          </a:p>
          <a:p>
            <a:r>
              <a:rPr dirty="0"/>
              <a:t>SUPERVISED — what you did yesterday. Pairs of (molecule, measured property). The</a:t>
            </a:r>
          </a:p>
          <a:p>
            <a:r>
              <a:rPr dirty="0"/>
              <a:t>label is the expensive part: someone ran the assay, someone did the DFT.</a:t>
            </a:r>
          </a:p>
          <a:p>
            <a:endParaRPr dirty="0"/>
          </a:p>
          <a:p>
            <a:r>
              <a:rPr dirty="0"/>
              <a:t>UNSUPERVISED — you hand the algorithm molecules and nothing else. It can only tell</a:t>
            </a:r>
          </a:p>
          <a:p>
            <a:r>
              <a:rPr dirty="0"/>
              <a:t>you about the shape of the data: which molecules group together, what the main axes</a:t>
            </a:r>
          </a:p>
          <a:p>
            <a:r>
              <a:rPr dirty="0"/>
              <a:t>of variation are, what a typical molecule looks like. No property is being predicted.</a:t>
            </a:r>
          </a:p>
          <a:p>
            <a:endParaRPr dirty="0"/>
          </a:p>
          <a:p>
            <a:r>
              <a:rPr dirty="0"/>
              <a:t>SELF-SUPERVISED — the clever middle. You take </a:t>
            </a:r>
            <a:r>
              <a:rPr dirty="0" err="1"/>
              <a:t>unlabelled</a:t>
            </a:r>
            <a:r>
              <a:rPr dirty="0"/>
              <a:t> data and manufacture a</a:t>
            </a:r>
          </a:p>
          <a:p>
            <a:r>
              <a:rPr dirty="0"/>
              <a:t>supervised problem out of it by hiding part of the input and asking the model to</a:t>
            </a:r>
          </a:p>
          <a:p>
            <a:r>
              <a:rPr dirty="0"/>
              <a:t>recover it. Nobody annotated anything, but you now have a loss function with a</a:t>
            </a:r>
          </a:p>
          <a:p>
            <a:r>
              <a:rPr dirty="0"/>
              <a:t>correct answer, so you can use all the supervised machinery — backprop, big models,</a:t>
            </a:r>
          </a:p>
          <a:p>
            <a:r>
              <a:rPr dirty="0"/>
              <a:t>the lot.</a:t>
            </a:r>
          </a:p>
          <a:p>
            <a:endParaRPr dirty="0"/>
          </a:p>
          <a:p>
            <a:r>
              <a:rPr dirty="0"/>
              <a:t>The point to land: self-supervised learning is how you convert the enormous</a:t>
            </a:r>
          </a:p>
          <a:p>
            <a:r>
              <a:rPr dirty="0"/>
              <a:t>top-of-chart data from the previous slide into something a neural network can</a:t>
            </a:r>
          </a:p>
          <a:p>
            <a:r>
              <a:rPr dirty="0"/>
              <a:t>actually be trained on. It is the bridge.</a:t>
            </a:r>
          </a:p>
          <a:p>
            <a:endParaRPr dirty="0"/>
          </a:p>
          <a:p>
            <a:r>
              <a:rPr dirty="0"/>
              <a:t>A useful analogy if they are struggling: a chemist who reads ten thousand papers</a:t>
            </a:r>
          </a:p>
          <a:p>
            <a:r>
              <a:rPr dirty="0"/>
              <a:t>without ever running a reaction still develops good intuition about what will work.</a:t>
            </a:r>
          </a:p>
          <a:p>
            <a:r>
              <a:rPr dirty="0"/>
              <a:t>Nobody graded them. They were predicting the next step and checking against what</a:t>
            </a:r>
          </a:p>
          <a:p>
            <a:r>
              <a:rPr dirty="0"/>
              <a:t>the paper said. That is self-supervision.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22678-C994-0C24-C9E2-404A7F94D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8076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families. Nearly everything you will meet is one of these or a combination.</a:t>
            </a:r>
          </a:p>
          <a:p>
            <a:endParaRPr/>
          </a:p>
          <a:p>
            <a:r>
              <a:t>MASKED PREDICTION. Hide part of the input, predict it back. On SMILES you mask</a:t>
            </a:r>
          </a:p>
          <a:p>
            <a:r>
              <a:t>tokens, exactly as BERT does for English. On graphs you mask atom or bond attributes.</a:t>
            </a:r>
          </a:p>
          <a:p>
            <a:r>
              <a:t>The insight: to fill in that gap correctly the model has to have internalised valence</a:t>
            </a:r>
          </a:p>
          <a:p>
            <a:r>
              <a:t>rules, ring closure, which functional groups co-occur, what makes a molecule</a:t>
            </a:r>
          </a:p>
          <a:p>
            <a:r>
              <a:t>plausible. You never told it any of that. It had to learn chemistry to solve the</a:t>
            </a:r>
          </a:p>
          <a:p>
            <a:r>
              <a:t>puzzle. ChemBERTa and MoLFormer are this family.</a:t>
            </a:r>
          </a:p>
          <a:p>
            <a:endParaRPr/>
          </a:p>
          <a:p>
            <a:r>
              <a:t>CONTRASTIVE. Make two corrupted views of the same molecule. Push their embeddings</a:t>
            </a:r>
          </a:p>
          <a:p>
            <a:r>
              <a:t>together. Push embeddings of different molecules apart. The insight here is different:</a:t>
            </a:r>
          </a:p>
          <a:p>
            <a:r>
              <a:t>you are teaching the model what to IGNORE. If deleting a bond or masking an atom</a:t>
            </a:r>
          </a:p>
          <a:p>
            <a:r>
              <a:t>should not change the embedding much, the model learns representations that are</a:t>
            </a:r>
          </a:p>
          <a:p>
            <a:r>
              <a:t>robust to small perturbations and that capture the overall identity of the molecule.</a:t>
            </a:r>
          </a:p>
          <a:p>
            <a:r>
              <a:t>MolCLR is the reference here.</a:t>
            </a:r>
          </a:p>
          <a:p>
            <a:endParaRPr/>
          </a:p>
          <a:p>
            <a:r>
              <a:t>Trade-off worth stating: masked prediction gives you fine-grained local knowledge;</a:t>
            </a:r>
          </a:p>
          <a:p>
            <a:r>
              <a:t>contrastive gives you a more global, invariance-flavoured representation. Contrastive</a:t>
            </a:r>
          </a:p>
          <a:p>
            <a:r>
              <a:t>is very sensitive to which augmentations you pick —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57203-DF73-74DF-E61E-8607A94B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3B1FD-7D2E-5893-7559-75B1C3E41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22E51-5B89-5BA4-E53D-BFC3275D6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MolCLR's</a:t>
            </a:r>
            <a:r>
              <a:rPr dirty="0"/>
              <a:t> three augmentations, and the reason this slide exists is the red line at</a:t>
            </a:r>
          </a:p>
          <a:p>
            <a:r>
              <a:rPr dirty="0"/>
              <a:t>the bottom.</a:t>
            </a:r>
          </a:p>
          <a:p>
            <a:endParaRPr dirty="0"/>
          </a:p>
          <a:p>
            <a:r>
              <a:rPr dirty="0"/>
              <a:t>Atom masking: replace an atom's identity with a dummy. Bond deletion: remove a bond</a:t>
            </a:r>
          </a:p>
          <a:p>
            <a:r>
              <a:rPr dirty="0"/>
              <a:t>but keep the atoms. Subgraph removal: delete a whole connected region.</a:t>
            </a:r>
          </a:p>
          <a:p>
            <a:endParaRPr dirty="0"/>
          </a:p>
          <a:p>
            <a:r>
              <a:rPr dirty="0"/>
              <a:t>Here is the conceptual problem, and it is specific to chemistry. In computer vision,</a:t>
            </a:r>
          </a:p>
          <a:p>
            <a:r>
              <a:rPr dirty="0"/>
              <a:t>contrastive learning works because the augmentations are obviously label-preserving —</a:t>
            </a:r>
          </a:p>
          <a:p>
            <a:r>
              <a:rPr dirty="0"/>
              <a:t>a rotated cat is a cat, a cropped cat is a cat. In chemistry that is not true. Delete</a:t>
            </a:r>
          </a:p>
          <a:p>
            <a:r>
              <a:rPr dirty="0"/>
              <a:t>a bond and you may have changed the molecule from an agonist to an antagonist. Every</a:t>
            </a:r>
          </a:p>
          <a:p>
            <a:r>
              <a:rPr dirty="0"/>
              <a:t>augmentation is a claim that some perturbation does not matter, and in chemistry that</a:t>
            </a:r>
          </a:p>
          <a:p>
            <a:r>
              <a:rPr dirty="0"/>
              <a:t>claim is often false.</a:t>
            </a:r>
          </a:p>
          <a:p>
            <a:endParaRPr dirty="0"/>
          </a:p>
          <a:p>
            <a:r>
              <a:rPr dirty="0"/>
              <a:t>Their own ablation shows it. Subgraph removal alone works best. Combining all three</a:t>
            </a:r>
          </a:p>
          <a:p>
            <a:r>
              <a:rPr dirty="0"/>
              <a:t>makes things worse, because you destroy too much structure. And specifically on</a:t>
            </a:r>
          </a:p>
          <a:p>
            <a:r>
              <a:rPr dirty="0"/>
              <a:t>BBBP — blood-brain barrier penetration — the fixed augmentation ratio hurts, because</a:t>
            </a:r>
          </a:p>
          <a:p>
            <a:r>
              <a:rPr dirty="0"/>
              <a:t>small topological changes really do flip that property.</a:t>
            </a:r>
          </a:p>
          <a:p>
            <a:endParaRPr dirty="0"/>
          </a:p>
          <a:p>
            <a:r>
              <a:rPr dirty="0"/>
              <a:t>Their honest conclusion: the optimal augmentation is task-dependent. Which is</a:t>
            </a:r>
          </a:p>
          <a:p>
            <a:r>
              <a:rPr dirty="0"/>
              <a:t>awkward, because the whole point of pre-training is to do it once, before you know</a:t>
            </a:r>
          </a:p>
          <a:p>
            <a:r>
              <a:rPr dirty="0"/>
              <a:t>the task.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AF591-AD39-B1A3-67EB-13E4F4C4D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356754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223FD-A34C-7ECD-4C5C-7C446219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9C100-F714-876C-82EB-72E2B152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4DB55-0DF1-FE87-FED2-62C270964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MolCLR's</a:t>
            </a:r>
            <a:r>
              <a:rPr dirty="0"/>
              <a:t> three augmentations, and the reason this slide exists is the red line at</a:t>
            </a:r>
          </a:p>
          <a:p>
            <a:r>
              <a:rPr dirty="0"/>
              <a:t>the bottom.</a:t>
            </a:r>
          </a:p>
          <a:p>
            <a:endParaRPr dirty="0"/>
          </a:p>
          <a:p>
            <a:r>
              <a:rPr dirty="0"/>
              <a:t>Atom masking: replace an atom's identity with a dummy. Bond deletion: remove a bond</a:t>
            </a:r>
          </a:p>
          <a:p>
            <a:r>
              <a:rPr dirty="0"/>
              <a:t>but keep the atoms. Subgraph removal: delete a whole connected region.</a:t>
            </a:r>
          </a:p>
          <a:p>
            <a:endParaRPr dirty="0"/>
          </a:p>
          <a:p>
            <a:r>
              <a:rPr dirty="0"/>
              <a:t>Here is the conceptual problem, and it is specific to chemistry. In computer vision,</a:t>
            </a:r>
          </a:p>
          <a:p>
            <a:r>
              <a:rPr dirty="0"/>
              <a:t>contrastive learning works because the augmentations are obviously label-preserving —</a:t>
            </a:r>
          </a:p>
          <a:p>
            <a:r>
              <a:rPr dirty="0"/>
              <a:t>a rotated cat is a cat, a cropped cat is a cat. In chemistry that is not true. Delete</a:t>
            </a:r>
          </a:p>
          <a:p>
            <a:r>
              <a:rPr dirty="0"/>
              <a:t>a bond and you may have changed the molecule from an agonist to an antagonist. Every</a:t>
            </a:r>
          </a:p>
          <a:p>
            <a:r>
              <a:rPr dirty="0"/>
              <a:t>augmentation is a claim that some perturbation does not matter, and in chemistry that</a:t>
            </a:r>
          </a:p>
          <a:p>
            <a:r>
              <a:rPr dirty="0"/>
              <a:t>claim is often false.</a:t>
            </a:r>
          </a:p>
          <a:p>
            <a:endParaRPr dirty="0"/>
          </a:p>
          <a:p>
            <a:r>
              <a:rPr dirty="0"/>
              <a:t>Their own ablation shows it. Subgraph removal alone works best. Combining all three</a:t>
            </a:r>
          </a:p>
          <a:p>
            <a:r>
              <a:rPr dirty="0"/>
              <a:t>makes things worse, because you destroy too much structure. And specifically on</a:t>
            </a:r>
          </a:p>
          <a:p>
            <a:r>
              <a:rPr dirty="0"/>
              <a:t>BBBP — blood-brain barrier penetration — the fixed augmentation ratio hurts, because</a:t>
            </a:r>
          </a:p>
          <a:p>
            <a:r>
              <a:rPr dirty="0"/>
              <a:t>small topological changes really do flip that property.</a:t>
            </a:r>
          </a:p>
          <a:p>
            <a:endParaRPr dirty="0"/>
          </a:p>
          <a:p>
            <a:r>
              <a:rPr dirty="0"/>
              <a:t>Their honest conclusion: the optimal augmentation is task-dependent. Which is</a:t>
            </a:r>
          </a:p>
          <a:p>
            <a:r>
              <a:rPr dirty="0"/>
              <a:t>awkward, because the whole point of pre-training is to do it once, before you know</a:t>
            </a:r>
          </a:p>
          <a:p>
            <a:r>
              <a:rPr dirty="0"/>
              <a:t>the task.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0803-58AD-6568-2673-63B40F52C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99056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same phenomenon in reaction space, and closer to what most of you do.</a:t>
            </a:r>
          </a:p>
          <a:p>
            <a:endParaRPr dirty="0"/>
          </a:p>
          <a:p>
            <a:r>
              <a:rPr dirty="0"/>
              <a:t>Schwaller and colleagues trained a BERT model on 2.6 million reaction SMILES from</a:t>
            </a:r>
          </a:p>
          <a:p>
            <a:r>
              <a:rPr dirty="0"/>
              <a:t>Pistachio with a masked-token objective. No reaction class labels. Then they took</a:t>
            </a:r>
          </a:p>
          <a:p>
            <a:r>
              <a:rPr dirty="0"/>
              <a:t>the embeddings and asked a simple 5-nearest-neighbour classifier to recover the 792</a:t>
            </a:r>
          </a:p>
          <a:p>
            <a:r>
              <a:rPr dirty="0"/>
              <a:t>reaction classes.</a:t>
            </a:r>
          </a:p>
          <a:p>
            <a:endParaRPr dirty="0"/>
          </a:p>
          <a:p>
            <a:r>
              <a:rPr dirty="0"/>
              <a:t>A traditional reaction fingerprint gets 41%. The self-supervised embedding, with no</a:t>
            </a:r>
          </a:p>
          <a:p>
            <a:r>
              <a:rPr dirty="0"/>
              <a:t>labels at any point, gets 81.9%. Fine-tune the same model with labels and you get</a:t>
            </a:r>
          </a:p>
          <a:p>
            <a:r>
              <a:rPr dirty="0"/>
              <a:t>98.9%.</a:t>
            </a:r>
          </a:p>
          <a:p>
            <a:endParaRPr dirty="0"/>
          </a:p>
          <a:p>
            <a:r>
              <a:rPr dirty="0"/>
              <a:t>So: masked-language-model pre-training on reaction strings discovers most of the</a:t>
            </a:r>
          </a:p>
          <a:p>
            <a:r>
              <a:rPr dirty="0"/>
              <a:t>reaction taxonomy on its own. That is a strong statement — the model worked out what</a:t>
            </a:r>
          </a:p>
          <a:p>
            <a:r>
              <a:rPr dirty="0"/>
              <a:t>a Suzuki coupling is from nothing but co-occurrence statistics in reaction strings.</a:t>
            </a:r>
          </a:p>
          <a:p>
            <a:endParaRPr dirty="0"/>
          </a:p>
          <a:p>
            <a:r>
              <a:rPr dirty="0"/>
              <a:t>Be precise about one thing, because the paper is often overstated: the fully clean,</a:t>
            </a:r>
          </a:p>
          <a:p>
            <a:r>
              <a:rPr dirty="0"/>
              <a:t>beautifully separated reaction atlas that people show is from the FINE-TUNED</a:t>
            </a:r>
          </a:p>
          <a:p>
            <a:r>
              <a:rPr dirty="0"/>
              <a:t>fingerprint. The purely self-supervised one shows substantial but partial class</a:t>
            </a:r>
          </a:p>
          <a:p>
            <a:r>
              <a:rPr dirty="0"/>
              <a:t>structure. 81.9% is the honest number and it is impressive enough.</a:t>
            </a:r>
          </a:p>
          <a:p>
            <a:endParaRPr dirty="0"/>
          </a:p>
          <a:p>
            <a:r>
              <a:rPr dirty="0"/>
              <a:t>The counterpoint I like to pair with this: DRFP, a hand-crafted, training-free</a:t>
            </a:r>
          </a:p>
          <a:p>
            <a:r>
              <a:rPr dirty="0"/>
              <a:t>reaction fingerprint, matches the learned one on both classification and yield</a:t>
            </a:r>
          </a:p>
          <a:p>
            <a:r>
              <a:rPr dirty="0"/>
              <a:t>prediction. Which is a preview of 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MolCLR's</a:t>
            </a:r>
            <a:r>
              <a:rPr dirty="0"/>
              <a:t> three augmentations, and the reason this slide exists is the red line at</a:t>
            </a:r>
          </a:p>
          <a:p>
            <a:r>
              <a:rPr dirty="0"/>
              <a:t>the bottom.</a:t>
            </a:r>
          </a:p>
          <a:p>
            <a:endParaRPr dirty="0"/>
          </a:p>
          <a:p>
            <a:r>
              <a:rPr dirty="0"/>
              <a:t>Atom masking: replace an atom's identity with a dummy. Bond deletion: remove a bond</a:t>
            </a:r>
          </a:p>
          <a:p>
            <a:r>
              <a:rPr dirty="0"/>
              <a:t>but keep the atoms. Subgraph removal: delete a whole connected region.</a:t>
            </a:r>
          </a:p>
          <a:p>
            <a:endParaRPr dirty="0"/>
          </a:p>
          <a:p>
            <a:r>
              <a:rPr dirty="0"/>
              <a:t>Here is the conceptual problem, and it is specific to chemistry. In computer vision,</a:t>
            </a:r>
          </a:p>
          <a:p>
            <a:r>
              <a:rPr dirty="0"/>
              <a:t>contrastive learning works because the augmentations are obviously label-preserving —</a:t>
            </a:r>
          </a:p>
          <a:p>
            <a:r>
              <a:rPr dirty="0"/>
              <a:t>a rotated cat is a cat, a cropped cat is a cat. In chemistry that is not true. Delete</a:t>
            </a:r>
          </a:p>
          <a:p>
            <a:r>
              <a:rPr dirty="0"/>
              <a:t>a bond and you may have changed the molecule from an agonist to an antagonist. Every</a:t>
            </a:r>
          </a:p>
          <a:p>
            <a:r>
              <a:rPr dirty="0"/>
              <a:t>augmentation is a claim that some perturbation does not matter, and in chemistry that</a:t>
            </a:r>
          </a:p>
          <a:p>
            <a:r>
              <a:rPr dirty="0"/>
              <a:t>claim is often false.</a:t>
            </a:r>
          </a:p>
          <a:p>
            <a:endParaRPr dirty="0"/>
          </a:p>
          <a:p>
            <a:r>
              <a:rPr dirty="0"/>
              <a:t>Their own ablation shows it. Subgraph removal alone works best. Combining all three</a:t>
            </a:r>
          </a:p>
          <a:p>
            <a:r>
              <a:rPr dirty="0"/>
              <a:t>makes things worse, because you destroy too much structure. And specifically on</a:t>
            </a:r>
          </a:p>
          <a:p>
            <a:r>
              <a:rPr dirty="0"/>
              <a:t>BBBP — blood-brain barrier penetration — the fixed augmentation ratio hurts, because</a:t>
            </a:r>
          </a:p>
          <a:p>
            <a:r>
              <a:rPr dirty="0"/>
              <a:t>small topological changes really do flip that property.</a:t>
            </a:r>
          </a:p>
          <a:p>
            <a:endParaRPr dirty="0"/>
          </a:p>
          <a:p>
            <a:r>
              <a:rPr dirty="0"/>
              <a:t>Their honest conclusion: the optimal augmentation is task-dependent. Which is</a:t>
            </a:r>
          </a:p>
          <a:p>
            <a:r>
              <a:rPr dirty="0"/>
              <a:t>awkward, because the whole point of pre-training is to do it once, before you know</a:t>
            </a:r>
          </a:p>
          <a:p>
            <a:r>
              <a:rPr dirty="0"/>
              <a:t>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86B18-D7ED-2EE8-5747-39CB5B20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92BF6-1C0E-BE1D-ECB0-D67609E49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9046D-2EE8-8953-C410-764BFD0A4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MolCLR's</a:t>
            </a:r>
            <a:r>
              <a:rPr dirty="0"/>
              <a:t> three augmentations, and the reason this slide exists is the red line at</a:t>
            </a:r>
          </a:p>
          <a:p>
            <a:r>
              <a:rPr dirty="0"/>
              <a:t>the bottom.</a:t>
            </a:r>
          </a:p>
          <a:p>
            <a:endParaRPr dirty="0"/>
          </a:p>
          <a:p>
            <a:r>
              <a:rPr dirty="0"/>
              <a:t>Atom masking: replace an atom's identity with a dummy. Bond deletion: remove a bond</a:t>
            </a:r>
          </a:p>
          <a:p>
            <a:r>
              <a:rPr dirty="0"/>
              <a:t>but keep the atoms. Subgraph removal: delete a whole connected region.</a:t>
            </a:r>
          </a:p>
          <a:p>
            <a:endParaRPr dirty="0"/>
          </a:p>
          <a:p>
            <a:r>
              <a:rPr dirty="0"/>
              <a:t>Here is the conceptual problem, and it is specific to chemistry. In computer vision,</a:t>
            </a:r>
          </a:p>
          <a:p>
            <a:r>
              <a:rPr dirty="0"/>
              <a:t>contrastive learning works because the augmentations are obviously label-preserving —</a:t>
            </a:r>
          </a:p>
          <a:p>
            <a:r>
              <a:rPr dirty="0"/>
              <a:t>a rotated cat is a cat, a cropped cat is a cat. In chemistry that is not true. Delete</a:t>
            </a:r>
          </a:p>
          <a:p>
            <a:r>
              <a:rPr dirty="0"/>
              <a:t>a bond and you may have changed the molecule from an agonist to an antagonist. Every</a:t>
            </a:r>
          </a:p>
          <a:p>
            <a:r>
              <a:rPr dirty="0"/>
              <a:t>augmentation is a claim that some perturbation does not matter, and in chemistry that</a:t>
            </a:r>
          </a:p>
          <a:p>
            <a:r>
              <a:rPr dirty="0"/>
              <a:t>claim is often false.</a:t>
            </a:r>
          </a:p>
          <a:p>
            <a:endParaRPr dirty="0"/>
          </a:p>
          <a:p>
            <a:r>
              <a:rPr dirty="0"/>
              <a:t>Their own ablation shows it. Subgraph removal alone works best. Combining all three</a:t>
            </a:r>
          </a:p>
          <a:p>
            <a:r>
              <a:rPr dirty="0"/>
              <a:t>makes things worse, because you destroy too much structure. And specifically on</a:t>
            </a:r>
          </a:p>
          <a:p>
            <a:r>
              <a:rPr dirty="0"/>
              <a:t>BBBP — blood-brain barrier penetration — the fixed augmentation ratio hurts, because</a:t>
            </a:r>
          </a:p>
          <a:p>
            <a:r>
              <a:rPr dirty="0"/>
              <a:t>small topological changes really do flip that property.</a:t>
            </a:r>
          </a:p>
          <a:p>
            <a:endParaRPr dirty="0"/>
          </a:p>
          <a:p>
            <a:r>
              <a:rPr dirty="0"/>
              <a:t>Their honest conclusion: the optimal augmentation is task-dependent. Which is</a:t>
            </a:r>
          </a:p>
          <a:p>
            <a:r>
              <a:rPr dirty="0"/>
              <a:t>awkward, because the whole point of pre-training is to do it once, before you know</a:t>
            </a:r>
          </a:p>
          <a:p>
            <a:r>
              <a:rPr dirty="0"/>
              <a:t>the task.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A27B4-8191-28BB-9C9A-5CCFE425F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45456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halves, and you need both.</a:t>
            </a:r>
          </a:p>
          <a:p>
            <a:endParaRPr dirty="0"/>
          </a:p>
          <a:p>
            <a:r>
              <a:rPr dirty="0"/>
              <a:t>LEFT: the scaling story. </a:t>
            </a:r>
            <a:r>
              <a:rPr dirty="0" err="1"/>
              <a:t>ChemBERTa</a:t>
            </a:r>
            <a:r>
              <a:rPr dirty="0"/>
              <a:t>, 10 million SMILES, BBBP 64.3. </a:t>
            </a:r>
            <a:r>
              <a:rPr dirty="0" err="1"/>
              <a:t>MoLFormer</a:t>
            </a:r>
            <a:r>
              <a:rPr dirty="0"/>
              <a:t>-XL, 1.1</a:t>
            </a:r>
          </a:p>
          <a:p>
            <a:r>
              <a:rPr dirty="0"/>
              <a:t>billion SMILES from PubChem and ZINC, BBBP 93.7. That is a real and large jump. The</a:t>
            </a:r>
          </a:p>
          <a:p>
            <a:r>
              <a:rPr dirty="0"/>
              <a:t>engineering matters too: linear attention plus length bucketing took this from</a:t>
            </a:r>
          </a:p>
          <a:p>
            <a:r>
              <a:rPr dirty="0"/>
              <a:t>needing roughly a thousand GPUs to sixteen. That is the difference between a national</a:t>
            </a:r>
          </a:p>
          <a:p>
            <a:r>
              <a:rPr dirty="0"/>
              <a:t>lab and a well-funded group.</a:t>
            </a:r>
          </a:p>
          <a:p>
            <a:endParaRPr dirty="0"/>
          </a:p>
          <a:p>
            <a:r>
              <a:rPr dirty="0"/>
              <a:t>RIGHT: the part that does not get put on slides. ChemBERTa-2's masked-language model,</a:t>
            </a:r>
          </a:p>
          <a:p>
            <a:r>
              <a:rPr dirty="0"/>
              <a:t>same architecture, same everything, corpus grown from 5 million to 77 million.</a:t>
            </a:r>
          </a:p>
          <a:p>
            <a:r>
              <a:rPr dirty="0" err="1"/>
              <a:t>ClinTox</a:t>
            </a:r>
            <a:r>
              <a:rPr dirty="0"/>
              <a:t> ROC-AUC goes 0.341, then 0.349, then 0.239. Fifteen times more pre-training</a:t>
            </a:r>
          </a:p>
          <a:p>
            <a:r>
              <a:rPr dirty="0"/>
              <a:t>data made that task substantially worse.</a:t>
            </a:r>
          </a:p>
          <a:p>
            <a:endParaRPr dirty="0"/>
          </a:p>
          <a:p>
            <a:r>
              <a:rPr dirty="0"/>
              <a:t>And there is a diversity effect in </a:t>
            </a:r>
            <a:r>
              <a:rPr dirty="0" err="1"/>
              <a:t>MoLFormer's</a:t>
            </a:r>
            <a:r>
              <a:rPr dirty="0"/>
              <a:t> own ablation: 10% of ZINC plus 10% of</a:t>
            </a:r>
          </a:p>
          <a:p>
            <a:r>
              <a:rPr dirty="0"/>
              <a:t>PubChem beats 100% of ZINC on five of six tasks. A smaller, more chemically diverse</a:t>
            </a:r>
          </a:p>
          <a:p>
            <a:r>
              <a:rPr dirty="0"/>
              <a:t>corpus beats a bigger, narrower one.</a:t>
            </a:r>
          </a:p>
          <a:p>
            <a:endParaRPr dirty="0"/>
          </a:p>
          <a:p>
            <a:r>
              <a:rPr dirty="0"/>
              <a:t>So the rule is not "more data is better". It is "more data that resembles your</a:t>
            </a:r>
          </a:p>
          <a:p>
            <a:r>
              <a:rPr dirty="0"/>
              <a:t>problem is better". If your chemistry is organometallic and the corpus is drug-like,</a:t>
            </a:r>
          </a:p>
          <a:p>
            <a:r>
              <a:rPr dirty="0"/>
              <a:t>scale will not save you.</a:t>
            </a:r>
          </a:p>
          <a:p>
            <a:endParaRPr dirty="0"/>
          </a:p>
          <a:p>
            <a:r>
              <a:rPr dirty="0"/>
              <a:t>One more caveat on all these tables: </a:t>
            </a:r>
            <a:r>
              <a:rPr dirty="0" err="1"/>
              <a:t>MoLFormer's</a:t>
            </a:r>
            <a:r>
              <a:rPr dirty="0"/>
              <a:t> classification numbers are scaffold</a:t>
            </a:r>
          </a:p>
          <a:p>
            <a:r>
              <a:rPr dirty="0"/>
              <a:t>split, its regression numbers are random split, and the baselines are copied from</a:t>
            </a:r>
          </a:p>
          <a:p>
            <a:r>
              <a:rPr dirty="0"/>
              <a:t>other papers rather than re-run. Read benchmark tables with that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most instructive pre-training paper in chemistry, because half its message is</a:t>
            </a:r>
          </a:p>
          <a:p>
            <a:r>
              <a:rPr dirty="0"/>
              <a:t>about failure.</a:t>
            </a:r>
          </a:p>
          <a:p>
            <a:endParaRPr dirty="0"/>
          </a:p>
          <a:p>
            <a:r>
              <a:rPr dirty="0"/>
              <a:t>Hu and colleagues tried node-level self-supervision alone: average ROC-AUC across</a:t>
            </a:r>
          </a:p>
          <a:p>
            <a:r>
              <a:rPr dirty="0"/>
              <a:t>eight datasets goes from 67.0 to about 71. They tried graph-level supervised</a:t>
            </a:r>
          </a:p>
          <a:p>
            <a:r>
              <a:rPr dirty="0"/>
              <a:t>pre-training alone on </a:t>
            </a:r>
            <a:r>
              <a:rPr dirty="0" err="1"/>
              <a:t>ChEMBL</a:t>
            </a:r>
            <a:r>
              <a:rPr dirty="0"/>
              <a:t>: 70.0. Combine them — node-level context prediction plus</a:t>
            </a:r>
          </a:p>
          <a:p>
            <a:r>
              <a:rPr dirty="0"/>
              <a:t>graph-level multi-task supervision — and you get 74.2. Plus 7.2 over no pre-training.</a:t>
            </a:r>
          </a:p>
          <a:p>
            <a:endParaRPr dirty="0"/>
          </a:p>
          <a:p>
            <a:r>
              <a:rPr dirty="0"/>
              <a:t>The interpretation: node-level pre-training teaches local chemistry, what a</a:t>
            </a:r>
          </a:p>
          <a:p>
            <a:r>
              <a:rPr dirty="0"/>
              <a:t>substructure is. Graph-level teaches what makes a whole molecule active. Do only the</a:t>
            </a:r>
          </a:p>
          <a:p>
            <a:r>
              <a:rPr dirty="0"/>
              <a:t>first and the readout layer is untrained garbage. Do only the second and you overfit</a:t>
            </a:r>
          </a:p>
          <a:p>
            <a:r>
              <a:rPr dirty="0"/>
              <a:t>to </a:t>
            </a:r>
            <a:r>
              <a:rPr dirty="0" err="1"/>
              <a:t>ChEMBL's</a:t>
            </a:r>
            <a:r>
              <a:rPr dirty="0"/>
              <a:t> particular tasks. You need both.</a:t>
            </a:r>
          </a:p>
          <a:p>
            <a:endParaRPr dirty="0"/>
          </a:p>
          <a:p>
            <a:r>
              <a:rPr dirty="0"/>
              <a:t>Now the right panel, which is the bit to remember. Same recipe, different backbone.</a:t>
            </a:r>
          </a:p>
          <a:p>
            <a:r>
              <a:rPr dirty="0"/>
              <a:t>GIN gains 7.2. GCN gains 3.4. </a:t>
            </a:r>
            <a:r>
              <a:rPr dirty="0" err="1"/>
              <a:t>GraphSAGE</a:t>
            </a:r>
            <a:r>
              <a:rPr dirty="0"/>
              <a:t> gains 2.0. GAT LOSES 6.5.</a:t>
            </a:r>
          </a:p>
          <a:p>
            <a:endParaRPr dirty="0"/>
          </a:p>
          <a:p>
            <a:r>
              <a:rPr dirty="0"/>
              <a:t>Pre-training a less expressive architecture actively hurt. And in their tables,</a:t>
            </a:r>
          </a:p>
          <a:p>
            <a:r>
              <a:rPr dirty="0"/>
              <a:t>graph-level pre-training alone caused negative transfer on two of the eight molecular</a:t>
            </a:r>
          </a:p>
          <a:p>
            <a:r>
              <a:rPr dirty="0"/>
              <a:t>datasets outright.</a:t>
            </a:r>
          </a:p>
          <a:p>
            <a:endParaRPr dirty="0"/>
          </a:p>
          <a:p>
            <a:r>
              <a:rPr dirty="0"/>
              <a:t>So "we pre-trained it" is not a guarantee of anything. It is a hypothesis you have to</a:t>
            </a:r>
          </a:p>
          <a:p>
            <a:r>
              <a:rPr dirty="0"/>
              <a:t>test against the un-pre-trained model. That is a habit, not a technique, and it is</a:t>
            </a:r>
          </a:p>
          <a:p>
            <a:r>
              <a:rPr dirty="0"/>
              <a:t>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economics of this is the reason it took over, so lead with that.</a:t>
            </a:r>
          </a:p>
          <a:p>
            <a:endParaRPr dirty="0"/>
          </a:p>
          <a:p>
            <a:r>
              <a:rPr dirty="0"/>
              <a:t>Stage one is done once, by someone with a cluster, on millions to billions of</a:t>
            </a:r>
          </a:p>
          <a:p>
            <a:r>
              <a:rPr dirty="0" err="1"/>
              <a:t>unlabelled</a:t>
            </a:r>
            <a:r>
              <a:rPr dirty="0"/>
              <a:t> molecules, using one of the pretext tasks from Part 4. It costs days of</a:t>
            </a:r>
          </a:p>
          <a:p>
            <a:r>
              <a:rPr dirty="0"/>
              <a:t>GPU time. The output is a set of encoder weights.</a:t>
            </a:r>
          </a:p>
          <a:p>
            <a:endParaRPr dirty="0"/>
          </a:p>
          <a:p>
            <a:r>
              <a:rPr dirty="0"/>
              <a:t>Stage two is done by you. You download those weights, attach a small head for your</a:t>
            </a:r>
          </a:p>
          <a:p>
            <a:r>
              <a:rPr dirty="0"/>
              <a:t>task, and train on the two hundred molecules you actually measured. It takes minutes</a:t>
            </a:r>
          </a:p>
          <a:p>
            <a:r>
              <a:rPr dirty="0"/>
              <a:t>on a laptop, or a free </a:t>
            </a:r>
            <a:r>
              <a:rPr dirty="0" err="1"/>
              <a:t>Colab</a:t>
            </a:r>
            <a:r>
              <a:rPr dirty="0"/>
              <a:t> GPU.</a:t>
            </a:r>
          </a:p>
          <a:p>
            <a:endParaRPr dirty="0"/>
          </a:p>
          <a:p>
            <a:r>
              <a:rPr dirty="0"/>
              <a:t>The asymmetry is the point: the expensive part is </a:t>
            </a:r>
            <a:r>
              <a:rPr dirty="0" err="1"/>
              <a:t>amortised</a:t>
            </a:r>
            <a:r>
              <a:rPr dirty="0"/>
              <a:t> across the entire</a:t>
            </a:r>
          </a:p>
          <a:p>
            <a:r>
              <a:rPr dirty="0"/>
              <a:t>community. You are buying the chemistry that a model learned from a billion molecules</a:t>
            </a:r>
          </a:p>
          <a:p>
            <a:r>
              <a:rPr dirty="0"/>
              <a:t>for the cost of a coffee break.</a:t>
            </a:r>
          </a:p>
          <a:p>
            <a:endParaRPr dirty="0"/>
          </a:p>
          <a:p>
            <a:r>
              <a:rPr dirty="0"/>
              <a:t>The analogy chemists like: you do not re-derive quantum mechanics every time you run</a:t>
            </a:r>
          </a:p>
          <a:p>
            <a:r>
              <a:rPr dirty="0"/>
              <a:t>a DFT calculation. You use a functional someone else </a:t>
            </a:r>
            <a:r>
              <a:rPr dirty="0" err="1"/>
              <a:t>parameterised</a:t>
            </a:r>
            <a:r>
              <a:rPr dirty="0"/>
              <a:t>. Same idea —</a:t>
            </a:r>
          </a:p>
          <a:p>
            <a:r>
              <a:rPr dirty="0"/>
              <a:t>someone else paid for the general knowledge, you supply the specific.</a:t>
            </a:r>
          </a:p>
          <a:p>
            <a:endParaRPr dirty="0"/>
          </a:p>
          <a:p>
            <a:r>
              <a:rPr dirty="0"/>
              <a:t>Terminology, since papers are sloppy about it: "transfer learning" is the general</a:t>
            </a:r>
          </a:p>
          <a:p>
            <a:r>
              <a:rPr dirty="0"/>
              <a:t>idea of reusing knowledge; "fine-tuning" is the specific act of continuing to train</a:t>
            </a:r>
          </a:p>
          <a:p>
            <a:r>
              <a:rPr dirty="0"/>
              <a:t>pre-trained weights on new data; "pre-training" is stage one. Foundation model is</a:t>
            </a:r>
          </a:p>
          <a:p>
            <a:r>
              <a:rPr dirty="0"/>
              <a:t>marketing for a stage-one model big enough to be worth reusing.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practical decision you will actually make, and it is essentially determined by</a:t>
            </a:r>
          </a:p>
          <a:p>
            <a:r>
              <a:rPr dirty="0"/>
              <a:t>how many labels you have.</a:t>
            </a:r>
          </a:p>
          <a:p>
            <a:endParaRPr dirty="0"/>
          </a:p>
          <a:p>
            <a:r>
              <a:rPr dirty="0"/>
              <a:t>FROZEN, also called a linear probe. Do not touch the encoder at all. Push your</a:t>
            </a:r>
          </a:p>
          <a:p>
            <a:r>
              <a:rPr dirty="0"/>
              <a:t>molecules through, get embeddings, fit a ridge regression or a random forest on top.</a:t>
            </a:r>
          </a:p>
          <a:p>
            <a:r>
              <a:rPr dirty="0"/>
              <a:t>Fast, needs almost no data, and you cannot overfit the encoder because you are not</a:t>
            </a:r>
          </a:p>
          <a:p>
            <a:r>
              <a:rPr dirty="0"/>
              <a:t>training it. This is the correct default below a few hundred labels, and it is also</a:t>
            </a:r>
          </a:p>
          <a:p>
            <a:r>
              <a:rPr dirty="0"/>
              <a:t>the correct FIRST experiment at any size, because it tells you cheaply whether the</a:t>
            </a:r>
          </a:p>
          <a:p>
            <a:r>
              <a:rPr dirty="0"/>
              <a:t>representation contains anything useful for your task.</a:t>
            </a:r>
          </a:p>
          <a:p>
            <a:endParaRPr dirty="0"/>
          </a:p>
          <a:p>
            <a:r>
              <a:rPr dirty="0"/>
              <a:t>PARTIAL. Unfreeze the last few layers. The early layers hold general chemistry, the</a:t>
            </a:r>
          </a:p>
          <a:p>
            <a:r>
              <a:rPr dirty="0"/>
              <a:t>later ones are more task-specific, so this adapts the specific part while protecting</a:t>
            </a:r>
          </a:p>
          <a:p>
            <a:r>
              <a:rPr dirty="0"/>
              <a:t>the general part. Reach for it in the low thousands.</a:t>
            </a:r>
          </a:p>
          <a:p>
            <a:endParaRPr dirty="0"/>
          </a:p>
          <a:p>
            <a:r>
              <a:rPr dirty="0"/>
              <a:t>FULL. Train everything. Highest ceiling, most data-hungry, and the one that goes</a:t>
            </a:r>
          </a:p>
          <a:p>
            <a:r>
              <a:rPr dirty="0"/>
              <a:t>wrong. The failure mode is catastrophic forgetting: with a normal learning rate your</a:t>
            </a:r>
          </a:p>
          <a:p>
            <a:r>
              <a:rPr dirty="0"/>
              <a:t>first few gradient steps on 300 molecules will wreck weights that encode knowledge</a:t>
            </a:r>
          </a:p>
          <a:p>
            <a:r>
              <a:rPr dirty="0"/>
              <a:t>from a billion. The fixes are standard — learning rate ten to a hundred times smaller</a:t>
            </a:r>
          </a:p>
          <a:p>
            <a:r>
              <a:rPr dirty="0"/>
              <a:t>than you would use from scratch, a warm-up, and often a lower rate for early layers</a:t>
            </a:r>
          </a:p>
          <a:p>
            <a:r>
              <a:rPr dirty="0"/>
              <a:t>than late ones.</a:t>
            </a:r>
          </a:p>
          <a:p>
            <a:endParaRPr dirty="0"/>
          </a:p>
          <a:p>
            <a:r>
              <a:rPr dirty="0"/>
              <a:t>Practical advice: run frozen first, always. It takes two minutes and it is your</a:t>
            </a:r>
          </a:p>
          <a:p>
            <a:r>
              <a:rPr dirty="0"/>
              <a:t>sanity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most important figure in the lecture. If you photograph one slide, this</a:t>
            </a:r>
          </a:p>
          <a:p>
            <a:r>
              <a:rPr dirty="0"/>
              <a:t>one.</a:t>
            </a:r>
          </a:p>
          <a:p>
            <a:endParaRPr dirty="0"/>
          </a:p>
          <a:p>
            <a:r>
              <a:rPr dirty="0"/>
              <a:t>Han and Choi, predicting NMR chemical shifts. Pre-train a GNN on DFT-computed</a:t>
            </a:r>
          </a:p>
          <a:p>
            <a:r>
              <a:rPr dirty="0"/>
              <a:t>shielding constants — cheap, you can generate as much as you like. Then fine-tune on</a:t>
            </a:r>
          </a:p>
          <a:p>
            <a:r>
              <a:rPr dirty="0"/>
              <a:t>experimental shifts, which are expensive and scarce.</a:t>
            </a:r>
          </a:p>
          <a:p>
            <a:endParaRPr dirty="0"/>
          </a:p>
          <a:p>
            <a:r>
              <a:rPr dirty="0"/>
              <a:t>Follow the two curves. At about a hundred experimental molecules, the from-scratch</a:t>
            </a:r>
          </a:p>
          <a:p>
            <a:r>
              <a:rPr dirty="0"/>
              <a:t>model has an error of 1.35 ppm; the pre-trained one is at 0.43. Three times better.</a:t>
            </a:r>
          </a:p>
          <a:p>
            <a:r>
              <a:rPr dirty="0"/>
              <a:t>That is the difference between useless and useful.</a:t>
            </a:r>
          </a:p>
          <a:p>
            <a:endParaRPr dirty="0"/>
          </a:p>
          <a:p>
            <a:r>
              <a:rPr dirty="0"/>
              <a:t>Now follow them right. At about 400 molecules the gap has narrowed to almost nothing.</a:t>
            </a:r>
          </a:p>
          <a:p>
            <a:r>
              <a:rPr dirty="0"/>
              <a:t>By a thousand, they have converged. And — this is in their supplementary and it is the</a:t>
            </a:r>
          </a:p>
          <a:p>
            <a:r>
              <a:rPr dirty="0"/>
              <a:t>honest part — for carbon-13 at the larger training sizes the transferred model is</a:t>
            </a:r>
          </a:p>
          <a:p>
            <a:r>
              <a:rPr dirty="0"/>
              <a:t>actually slightly WORSE than training from scratch.</a:t>
            </a:r>
          </a:p>
          <a:p>
            <a:endParaRPr dirty="0"/>
          </a:p>
          <a:p>
            <a:r>
              <a:rPr dirty="0"/>
              <a:t>So the shape to </a:t>
            </a:r>
            <a:r>
              <a:rPr dirty="0" err="1"/>
              <a:t>internalise</a:t>
            </a:r>
            <a:r>
              <a:rPr dirty="0"/>
              <a:t>: the value of pre-training is largest when you have almost</a:t>
            </a:r>
          </a:p>
          <a:p>
            <a:r>
              <a:rPr dirty="0"/>
              <a:t>nothing, and it decays towards zero, and it can go negative.</a:t>
            </a:r>
          </a:p>
          <a:p>
            <a:endParaRPr dirty="0"/>
          </a:p>
          <a:p>
            <a:r>
              <a:rPr dirty="0"/>
              <a:t>This makes sense if you think about what pre-training is. It is a prior. When you have</a:t>
            </a:r>
          </a:p>
          <a:p>
            <a:r>
              <a:rPr dirty="0"/>
              <a:t>no data, a decent prior is everything. When you have plenty, the prior is at best</a:t>
            </a:r>
          </a:p>
          <a:p>
            <a:r>
              <a:rPr dirty="0"/>
              <a:t>irrelevant and at worst a bias you now have to overcome.</a:t>
            </a:r>
          </a:p>
          <a:p>
            <a:endParaRPr dirty="0"/>
          </a:p>
          <a:p>
            <a:r>
              <a:rPr dirty="0"/>
              <a:t>Note the domain shift here too: the DFT set was small molecules with H, C, N, O, F.</a:t>
            </a:r>
          </a:p>
          <a:p>
            <a:r>
              <a:rPr dirty="0"/>
              <a:t>The experimental set goes up to forty-plus heavy atoms with sulfur and chlorine. It</a:t>
            </a:r>
          </a:p>
          <a:p>
            <a:r>
              <a:rPr dirty="0"/>
              <a:t>transferred anyway. That is encouraging.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independent confirmations that the low-data regime is where this lives.</a:t>
            </a:r>
          </a:p>
          <a:p>
            <a:endParaRPr/>
          </a:p>
          <a:p>
            <a:r>
              <a:t>REACTION YIELD. Schwaller's Yield-BERT, pre-trained on unlabelled reaction SMILES,</a:t>
            </a:r>
          </a:p>
          <a:p>
            <a:r>
              <a:t>fine-tuned on the Buchwald-Hartwig HTE set. Ninety-eight reactions — about 2.5% of the</a:t>
            </a:r>
          </a:p>
          <a:p>
            <a:r>
              <a:t>plate — is enough to match DFT descriptors plus a random forest. Think about what that</a:t>
            </a:r>
          </a:p>
          <a:p>
            <a:r>
              <a:t>saves: the DFT route needs you to build and compute descriptors for every ligand,</a:t>
            </a:r>
          </a:p>
          <a:p>
            <a:r>
              <a:t>base and additive. The pre-trained route needs the reaction SMILES.</a:t>
            </a:r>
          </a:p>
          <a:p>
            <a:endParaRPr/>
          </a:p>
          <a:p>
            <a:r>
              <a:t>INTERATOMIC POTENTIALS. MatterSim, pre-trained on 17 million structures. To specialise</a:t>
            </a:r>
          </a:p>
          <a:p>
            <a:r>
              <a:t>it to liquid water at DFT quality you need 3% of the data a from-scratch model needs.</a:t>
            </a:r>
          </a:p>
          <a:p>
            <a:r>
              <a:t>They quote up to a 97% reduction in data requirements.</a:t>
            </a:r>
          </a:p>
          <a:p>
            <a:endParaRPr/>
          </a:p>
          <a:p>
            <a:r>
              <a:t>SUBLIMATION ENTHALPIES. Fine-tuning MACE-MP-0 needs, in the authors' words, a few tens</a:t>
            </a:r>
          </a:p>
          <a:p>
            <a:r>
              <a:t>of training structures for sub-kJ/mol accuracy. Tens. For a property that requires</a:t>
            </a:r>
          </a:p>
          <a:p>
            <a:r>
              <a:t>careful periodic DFT.</a:t>
            </a:r>
          </a:p>
          <a:p>
            <a:endParaRPr/>
          </a:p>
          <a:p>
            <a:r>
              <a:t>Different fields, different architectures, same shape. When labels cost you money or</a:t>
            </a:r>
          </a:p>
          <a:p>
            <a:r>
              <a:t>a week of cluster time, pre-training is the single highest-leverage thing available.</a:t>
            </a:r>
          </a:p>
          <a:p>
            <a:endParaRPr/>
          </a:p>
          <a:p>
            <a:r>
              <a:t>Aside: notice the second and third are potentials, not properties. Same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Worth its own slide because several of you work on materials and this is moving fast.</a:t>
            </a:r>
          </a:p>
          <a:p>
            <a:endParaRPr/>
          </a:p>
          <a:p>
            <a:r>
              <a:t>The universal machine-learned interatomic potentials are the most successful example</a:t>
            </a:r>
          </a:p>
          <a:p>
            <a:r>
              <a:t>of pre-training in the chemical sciences right now. M3GNet in 2022 trained on about</a:t>
            </a:r>
          </a:p>
          <a:p>
            <a:r>
              <a:t>190 thousand structures. MACE-MP-0 in 2023, 1.6 million frames from the Materials</a:t>
            </a:r>
          </a:p>
          <a:p>
            <a:r>
              <a:t>Project trajectories. MatterSim, 17 million. Then OMat24 and friends, and Meta's UMA</a:t>
            </a:r>
          </a:p>
          <a:p>
            <a:r>
              <a:t>was trained on roughly 459 million samples.</a:t>
            </a:r>
          </a:p>
          <a:p>
            <a:endParaRPr/>
          </a:p>
          <a:p>
            <a:r>
              <a:t>Roughly six hundred times more training data in three years, and the Matbench</a:t>
            </a:r>
          </a:p>
          <a:p>
            <a:r>
              <a:t>Discovery F1 goes from 0.57 to about 0.92 while the thermal conductivity error metric</a:t>
            </a:r>
          </a:p>
          <a:p>
            <a:r>
              <a:t>drops by more than an order of magnitude.</a:t>
            </a:r>
          </a:p>
          <a:p>
            <a:endParaRPr/>
          </a:p>
          <a:p>
            <a:r>
              <a:t>The practical point is the box on the right. You will essentially never train one of</a:t>
            </a:r>
          </a:p>
          <a:p>
            <a:r>
              <a:t>these. You download it. Then, because your system is a surface with an adsorbate that</a:t>
            </a:r>
          </a:p>
          <a:p>
            <a:r>
              <a:t>was never in the Materials Project, you fine-tune on the fifty to five hundred</a:t>
            </a:r>
          </a:p>
          <a:p>
            <a:r>
              <a:t>structures you can afford to compute yourself.</a:t>
            </a:r>
          </a:p>
          <a:p>
            <a:endParaRPr/>
          </a:p>
          <a:p>
            <a:r>
              <a:t>That is exactly the recipe from two slides ago, applied to potentials rather than</a:t>
            </a:r>
          </a:p>
          <a:p>
            <a:r>
              <a:t>properties. Michael covered MLIPs on Wednesday morning — this is the transfer-learning</a:t>
            </a:r>
          </a:p>
          <a:p>
            <a:r>
              <a:t>view of the same objects.</a:t>
            </a:r>
          </a:p>
          <a:p>
            <a:endParaRPr/>
          </a:p>
          <a:p>
            <a:r>
              <a:t>Fair warning: this leaderboard moves monthly. Check Matbench Discovery rather than</a:t>
            </a:r>
          </a:p>
          <a:p>
            <a:r>
              <a:t>trusting a number from a talk in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want to end on this rather than on the success stories, because it is the part that</a:t>
            </a:r>
          </a:p>
          <a:p>
            <a:r>
              <a:t>will keep you out of trouble.</a:t>
            </a:r>
          </a:p>
          <a:p>
            <a:endParaRPr/>
          </a:p>
          <a:p>
            <a:r>
              <a:t>Praski, Adamczyk and Czech, August 2025. They took twenty-five pre-trained molecular</a:t>
            </a:r>
          </a:p>
          <a:p>
            <a:r>
              <a:t>embedding models and twenty-five datasets, and re-evaluated everything under a</a:t>
            </a:r>
          </a:p>
          <a:p>
            <a:r>
              <a:t>consistent protocol with hierarchical Bayesian testing rather than comparing</a:t>
            </a:r>
          </a:p>
          <a:p>
            <a:r>
              <a:t>leaderboard means.</a:t>
            </a:r>
          </a:p>
          <a:p>
            <a:endParaRPr/>
          </a:p>
          <a:p>
            <a:r>
              <a:t>The result is the quote. Nearly all of the neural models show negligible or no</a:t>
            </a:r>
          </a:p>
          <a:p>
            <a:r>
              <a:t>improvement over plain ECFP fingerprints. Exactly one model was significantly better</a:t>
            </a:r>
          </a:p>
          <a:p>
            <a:r>
              <a:t>— CLAMP — and CLAMP is itself fingerprint-based.</a:t>
            </a:r>
          </a:p>
          <a:p>
            <a:endParaRPr/>
          </a:p>
          <a:p>
            <a:r>
              <a:t>This is consistent with a run of earlier work. Jiang and co-workers found</a:t>
            </a:r>
          </a:p>
          <a:p>
            <a:r>
              <a:t>descriptor-based models beat graph-based ones on average across eleven datasets. Deng</a:t>
            </a:r>
          </a:p>
          <a:p>
            <a:r>
              <a:t>and colleagues trained sixty-two thousand models and found random forest on RDKit</a:t>
            </a:r>
          </a:p>
          <a:p>
            <a:r>
              <a:t>descriptors significantly best on BACE, BBBP, ESOL and Lipophilicity under scaffold</a:t>
            </a:r>
          </a:p>
          <a:p>
            <a:r>
              <a:t>splits.</a:t>
            </a:r>
          </a:p>
          <a:p>
            <a:endParaRPr/>
          </a:p>
          <a:p>
            <a:r>
              <a:t>How to hold this. It does not mean learned representations are worthless — the NMR</a:t>
            </a:r>
          </a:p>
          <a:p>
            <a:r>
              <a:t>and MLIP results two slides ago are real. It means the published gains are much more</a:t>
            </a:r>
          </a:p>
          <a:p>
            <a:r>
              <a:t>fragile and much more dataset-specific than the abstracts suggest, and that the field</a:t>
            </a:r>
          </a:p>
          <a:p>
            <a:r>
              <a:t>has a benchmarking problem: random splits, cherry-picked datasets, baselines copied</a:t>
            </a:r>
          </a:p>
          <a:p>
            <a:r>
              <a:t>rather than tuned.</a:t>
            </a:r>
          </a:p>
          <a:p>
            <a:endParaRPr/>
          </a:p>
          <a:p>
            <a:r>
              <a:t>The actionable conclusion is in the green box, and it is the single most useful</a:t>
            </a:r>
          </a:p>
          <a:p>
            <a:r>
              <a:t>sentence in this lecture: always run ECFP plus random forest first. If your fancy</a:t>
            </a:r>
          </a:p>
          <a:p>
            <a:r>
              <a:t>model cannot beat it, you have learned something valuable and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specific failure mode that matters most for anyone doing medicinal chemistry, and</a:t>
            </a:r>
          </a:p>
          <a:p>
            <a:r>
              <a:rPr dirty="0"/>
              <a:t>it is a direct attack on the central assumption of learned representations.</a:t>
            </a:r>
          </a:p>
          <a:p>
            <a:endParaRPr dirty="0"/>
          </a:p>
          <a:p>
            <a:r>
              <a:rPr dirty="0"/>
              <a:t>Everything we have built today assumes similar molecules should have similar</a:t>
            </a:r>
          </a:p>
          <a:p>
            <a:r>
              <a:rPr dirty="0"/>
              <a:t>embeddings and therefore similar properties. Activity cliffs are pairs of molecules</a:t>
            </a:r>
          </a:p>
          <a:p>
            <a:r>
              <a:rPr dirty="0"/>
              <a:t>that violate that: Tanimoto similarity 0.95, and a two- or three-order-of-magnitude</a:t>
            </a:r>
          </a:p>
          <a:p>
            <a:r>
              <a:rPr dirty="0"/>
              <a:t>difference in potency. One methyl group that happens to break a hydrogen bond.</a:t>
            </a:r>
          </a:p>
          <a:p>
            <a:endParaRPr dirty="0"/>
          </a:p>
          <a:p>
            <a:r>
              <a:rPr dirty="0"/>
              <a:t>A smooth representation puts these two molecules in nearly the same place, so by</a:t>
            </a:r>
          </a:p>
          <a:p>
            <a:r>
              <a:rPr dirty="0"/>
              <a:t>construction it cannot predict both correctly.</a:t>
            </a:r>
          </a:p>
          <a:p>
            <a:endParaRPr dirty="0"/>
          </a:p>
          <a:p>
            <a:r>
              <a:rPr dirty="0"/>
              <a:t>Van </a:t>
            </a:r>
            <a:r>
              <a:rPr dirty="0" err="1"/>
              <a:t>Tilborg</a:t>
            </a:r>
            <a:r>
              <a:rPr dirty="0"/>
              <a:t>, </a:t>
            </a:r>
            <a:r>
              <a:rPr dirty="0" err="1"/>
              <a:t>Alenicheva</a:t>
            </a:r>
            <a:r>
              <a:rPr dirty="0"/>
              <a:t> and </a:t>
            </a:r>
            <a:r>
              <a:rPr dirty="0" err="1"/>
              <a:t>Grisoni</a:t>
            </a:r>
            <a:r>
              <a:rPr dirty="0"/>
              <a:t> quantified it across thirty targets and</a:t>
            </a:r>
          </a:p>
          <a:p>
            <a:r>
              <a:rPr dirty="0"/>
              <a:t>twenty-four methods. Errors on cliff compounds run from 0.68 to 1.44 log units. And</a:t>
            </a:r>
          </a:p>
          <a:p>
            <a:r>
              <a:rPr dirty="0"/>
              <a:t>SVM on ECFP was the best method overall — better than every deep model tested.</a:t>
            </a:r>
          </a:p>
          <a:p>
            <a:endParaRPr dirty="0"/>
          </a:p>
          <a:p>
            <a:r>
              <a:rPr dirty="0"/>
              <a:t>Two findings from that paper worth repeating. They tried four self-supervised</a:t>
            </a:r>
          </a:p>
          <a:p>
            <a:r>
              <a:rPr dirty="0"/>
              <a:t>pre-training schemes on their GNNs; none gave a notable improvement, so they dropped</a:t>
            </a:r>
          </a:p>
          <a:p>
            <a:r>
              <a:rPr dirty="0"/>
              <a:t>transfer learning from the study. And transformers pre-trained on ten million SMILES</a:t>
            </a:r>
          </a:p>
          <a:p>
            <a:r>
              <a:rPr dirty="0"/>
              <a:t>did not beat LSTMs pre-trained on thirty-six thousand.</a:t>
            </a:r>
          </a:p>
          <a:p>
            <a:endParaRPr dirty="0"/>
          </a:p>
          <a:p>
            <a:r>
              <a:rPr dirty="0"/>
              <a:t>Why this matters practically: your overall RMSE hides this. It looks fine because</a:t>
            </a:r>
          </a:p>
          <a:p>
            <a:r>
              <a:rPr dirty="0"/>
              <a:t>most pairs are not cliffs. But the cliffs are exactly the compounds a med chemist</a:t>
            </a:r>
          </a:p>
          <a:p>
            <a:r>
              <a:rPr dirty="0"/>
              <a:t>cares about, because they are where the SAR is. Report cliff performance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 me try to put the whole lecture into one picture. And I want to be explicit: the</a:t>
            </a:r>
          </a:p>
          <a:p>
            <a:r>
              <a:rPr dirty="0"/>
              <a:t>SHAPES here are well supported, the exact position of the crossover is not.</a:t>
            </a:r>
          </a:p>
          <a:p>
            <a:endParaRPr dirty="0"/>
          </a:p>
          <a:p>
            <a:r>
              <a:rPr dirty="0"/>
              <a:t>Orange, fingerprints plus a random forest: good immediately, because there is almost</a:t>
            </a:r>
          </a:p>
          <a:p>
            <a:r>
              <a:rPr dirty="0"/>
              <a:t>nothing to fit, and it plateaus early because the representation is fixed.</a:t>
            </a:r>
          </a:p>
          <a:p>
            <a:endParaRPr dirty="0"/>
          </a:p>
          <a:p>
            <a:r>
              <a:rPr dirty="0"/>
              <a:t>Teal, a deep model from scratch: terrible with little data, because you are fitting</a:t>
            </a:r>
          </a:p>
          <a:p>
            <a:r>
              <a:rPr dirty="0"/>
              <a:t>millions of parameters from a few hundred examples, and eventually the best, because</a:t>
            </a:r>
          </a:p>
          <a:p>
            <a:r>
              <a:rPr dirty="0"/>
              <a:t>it can learn features tuned to your problem.</a:t>
            </a:r>
          </a:p>
          <a:p>
            <a:endParaRPr dirty="0"/>
          </a:p>
          <a:p>
            <a:r>
              <a:rPr dirty="0"/>
              <a:t>Purple, a pre-trained encoder fine-tuned: it starts high, because the features are</a:t>
            </a:r>
          </a:p>
          <a:p>
            <a:r>
              <a:rPr dirty="0"/>
              <a:t>already good, and it keeps most of the deep model's ceiling.</a:t>
            </a:r>
          </a:p>
          <a:p>
            <a:endParaRPr dirty="0"/>
          </a:p>
          <a:p>
            <a:r>
              <a:rPr dirty="0"/>
              <a:t>Read off the three regimes. Below roughly a thousand labels, fingerprints win or tie</a:t>
            </a:r>
          </a:p>
          <a:p>
            <a:r>
              <a:rPr dirty="0"/>
              <a:t>and cost you nothing. Between roughly a thousand and ten thousand is where</a:t>
            </a:r>
          </a:p>
          <a:p>
            <a:r>
              <a:rPr dirty="0"/>
              <a:t>pre-training earns its keep — this is the band most of you are in. Above ten thousand</a:t>
            </a:r>
          </a:p>
          <a:p>
            <a:r>
              <a:rPr dirty="0"/>
              <a:t>everything converges and the choice stops mattering much.</a:t>
            </a:r>
          </a:p>
          <a:p>
            <a:endParaRPr dirty="0"/>
          </a:p>
          <a:p>
            <a:r>
              <a:rPr dirty="0"/>
              <a:t>Where does the crossover really sit? Deng and colleagues put it around six to ten</a:t>
            </a:r>
          </a:p>
          <a:p>
            <a:r>
              <a:rPr dirty="0"/>
              <a:t>thousand for the deep models, and noted that pre-trained models were competitive far</a:t>
            </a:r>
          </a:p>
          <a:p>
            <a:r>
              <a:rPr dirty="0"/>
              <a:t>earlier. A companion comment in the same issue says deep learning only became</a:t>
            </a:r>
          </a:p>
          <a:p>
            <a:r>
              <a:rPr dirty="0"/>
              <a:t>competitive above about a thousand.</a:t>
            </a:r>
          </a:p>
          <a:p>
            <a:endParaRPr dirty="0"/>
          </a:p>
          <a:p>
            <a:r>
              <a:rPr dirty="0"/>
              <a:t>And it moves. Noisier labels push it right. Scaffold splits push it right. Narrow,</a:t>
            </a:r>
          </a:p>
          <a:p>
            <a:r>
              <a:rPr dirty="0"/>
              <a:t>homogeneous chemistry pushes it left. So measure it on your own data — which is</a:t>
            </a:r>
          </a:p>
          <a:p>
            <a:r>
              <a:rPr dirty="0"/>
              <a:t>exactly what the tutorial has you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practical decision, reduced to one question and three answers. This is the slide</a:t>
            </a:r>
          </a:p>
          <a:p>
            <a:r>
              <a:rPr dirty="0"/>
              <a:t>to photograph if you did not photograph the NMR one.</a:t>
            </a:r>
          </a:p>
          <a:p>
            <a:endParaRPr dirty="0"/>
          </a:p>
          <a:p>
            <a:r>
              <a:rPr dirty="0"/>
              <a:t>Under a hundred labelled examples: do not train a deep model, you will fool yourself.</a:t>
            </a:r>
          </a:p>
          <a:p>
            <a:r>
              <a:rPr dirty="0"/>
              <a:t>ECFP plus random forest, or a Gaussian process if you want uncertainty — Ashley covers</a:t>
            </a:r>
          </a:p>
          <a:p>
            <a:r>
              <a:rPr dirty="0"/>
              <a:t>that next week with Bayesian </a:t>
            </a:r>
            <a:r>
              <a:rPr dirty="0" err="1"/>
              <a:t>optimisation</a:t>
            </a:r>
            <a:r>
              <a:rPr dirty="0"/>
              <a:t>. If you want to try something clever, use</a:t>
            </a:r>
          </a:p>
          <a:p>
            <a:r>
              <a:rPr dirty="0"/>
              <a:t>frozen pre-trained embeddings as EXTRA FEATURES alongside your descriptors, not as a</a:t>
            </a:r>
          </a:p>
          <a:p>
            <a:r>
              <a:rPr dirty="0"/>
              <a:t>replacement.</a:t>
            </a:r>
          </a:p>
          <a:p>
            <a:endParaRPr dirty="0"/>
          </a:p>
          <a:p>
            <a:r>
              <a:rPr dirty="0"/>
              <a:t>A hundred to five thousand: this is the sweet spot. Frozen embeddings first. If that</a:t>
            </a:r>
          </a:p>
          <a:p>
            <a:r>
              <a:rPr dirty="0"/>
              <a:t>beats the baseline, try unfreezing the top layers. Report the baseline in your paper</a:t>
            </a:r>
          </a:p>
          <a:p>
            <a:r>
              <a:rPr dirty="0"/>
              <a:t>regardless of what happens.</a:t>
            </a:r>
          </a:p>
          <a:p>
            <a:endParaRPr dirty="0"/>
          </a:p>
          <a:p>
            <a:r>
              <a:rPr dirty="0"/>
              <a:t>Over ten thousand: train on your own data. Pre-training becomes a convenience — a</a:t>
            </a:r>
          </a:p>
          <a:p>
            <a:r>
              <a:rPr dirty="0"/>
              <a:t>better </a:t>
            </a:r>
            <a:r>
              <a:rPr dirty="0" err="1"/>
              <a:t>initialisation</a:t>
            </a:r>
            <a:r>
              <a:rPr dirty="0"/>
              <a:t>, faster convergence — rather than a necessity.</a:t>
            </a:r>
          </a:p>
          <a:p>
            <a:endParaRPr dirty="0"/>
          </a:p>
          <a:p>
            <a:r>
              <a:rPr dirty="0"/>
              <a:t>The bottom bar applies to all three and it is where most published chemistry ML goes</a:t>
            </a:r>
          </a:p>
          <a:p>
            <a:r>
              <a:rPr dirty="0"/>
              <a:t>wrong. Run the baseline. Split by scaffold, not at random. If those two things are in</a:t>
            </a:r>
          </a:p>
          <a:p>
            <a:r>
              <a:rPr dirty="0"/>
              <a:t>your workflow you are already ahead of a good fraction of the literature.</a:t>
            </a:r>
          </a:p>
          <a:p>
            <a:endParaRPr dirty="0"/>
          </a:p>
          <a:p>
            <a:r>
              <a:rPr dirty="0"/>
              <a:t>And one meta-point: everything in the middle column is testable in an afternoon. The</a:t>
            </a:r>
          </a:p>
          <a:p>
            <a:r>
              <a:rPr dirty="0"/>
              <a:t>cost of checking whether pre-training helps YOUR problem is much lower than the cost</a:t>
            </a:r>
          </a:p>
          <a:p>
            <a:r>
              <a:rPr dirty="0"/>
              <a:t>of assuming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six, slowly. Then the closing frame:</a:t>
            </a:r>
          </a:p>
          <a:p>
            <a:endParaRPr/>
          </a:p>
          <a:p>
            <a:r>
              <a:t>The honest summary of this field in 2026 is that learned representations are a</a:t>
            </a:r>
          </a:p>
          <a:p>
            <a:r>
              <a:t>genuine advance whose benefits are much narrower and much more conditional than the</a:t>
            </a:r>
          </a:p>
          <a:p>
            <a:r>
              <a:t>headline papers suggest. They are transformative for interatomic potentials. They are</a:t>
            </a:r>
          </a:p>
          <a:p>
            <a:r>
              <a:t>valuable in the hundreds-to-low-thousands label regime. They are frequently no better</a:t>
            </a:r>
          </a:p>
          <a:p>
            <a:r>
              <a:t>than a 2010 fingerprint on standard property prediction benchmarks.</a:t>
            </a:r>
          </a:p>
          <a:p>
            <a:endParaRPr/>
          </a:p>
          <a:p>
            <a:r>
              <a:t>Knowing which of those three situations you are in is the skill. That is what I</a:t>
            </a:r>
          </a:p>
          <a:p>
            <a:r>
              <a:t>wanted to give you today.</a:t>
            </a:r>
          </a:p>
          <a:p>
            <a:endParaRPr/>
          </a:p>
          <a:p>
            <a:r>
              <a:t>This afternoon at 15:15 you will build a chemical space map, compare a hand-crafted</a:t>
            </a:r>
          </a:p>
          <a:p>
            <a:r>
              <a:t>representation against a pre-trained one on the same task, and plot the learning</a:t>
            </a:r>
          </a:p>
          <a:p>
            <a:r>
              <a:t>curve that decides which one you should use. Bring the question from your own</a:t>
            </a:r>
          </a:p>
          <a:p>
            <a:r>
              <a:t>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read only two: Hu et al. for how pre-training is done and how it fails, and</a:t>
            </a:r>
          </a:p>
          <a:p>
            <a:r>
              <a:t>Praski et al. for the current reality check.</a:t>
            </a:r>
          </a:p>
          <a:p>
            <a:endParaRPr/>
          </a:p>
          <a:p>
            <a:r>
              <a:t>If you want the most enjoyable one: Skinnider's paper arguing that invalid SMILES are</a:t>
            </a:r>
          </a:p>
          <a:p>
            <a:r>
              <a:t>actively beneficial. He deliberately broke SELFIES by allowing pentavalent carbon and</a:t>
            </a:r>
          </a:p>
          <a:p>
            <a:r>
              <a:t>the models got better. It is a lovely piece of scientific mischief and it will teach</a:t>
            </a:r>
          </a:p>
          <a:p>
            <a:r>
              <a:t>you more about benchmark design than any methods paper.</a:t>
            </a:r>
          </a:p>
          <a:p>
            <a:endParaRPr/>
          </a:p>
          <a:p>
            <a:r>
              <a:t>All of these are linked from the lecture page on the bootcamp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Questions I usually get, with short answers:</a:t>
            </a:r>
          </a:p>
          <a:p>
            <a:endParaRPr/>
          </a:p>
          <a:p>
            <a:r>
              <a:t>"Which pre-trained model should I actually download?" For SMILES, ChemBERTa-77M-MTR</a:t>
            </a:r>
          </a:p>
          <a:p>
            <a:r>
              <a:t>is a reasonable small default and it is what the tutorial uses. For materials,</a:t>
            </a:r>
          </a:p>
          <a:p>
            <a:r>
              <a:t>MACE-MP-0 or whatever is currently top of Matbench Discovery. But run the frozen</a:t>
            </a:r>
          </a:p>
          <a:p>
            <a:r>
              <a:t>probe before committing.</a:t>
            </a:r>
          </a:p>
          <a:p>
            <a:endParaRPr/>
          </a:p>
          <a:p>
            <a:r>
              <a:t>"Can I pre-train on my own in-house data?" Yes, and it is often better than a public</a:t>
            </a:r>
          </a:p>
          <a:p>
            <a:r>
              <a:t>model if your chemistry is unusual — recall the diversity result. You need roughly</a:t>
            </a:r>
          </a:p>
          <a:p>
            <a:r>
              <a:t>10^5 molecules to make it worthwhile.</a:t>
            </a:r>
          </a:p>
          <a:p>
            <a:endParaRPr/>
          </a:p>
          <a:p>
            <a:r>
              <a:t>"Is a fingerprint a learned representation?" No — but CLAMP shows the line is blurry.</a:t>
            </a:r>
          </a:p>
          <a:p>
            <a:r>
              <a:t>Learned fingerprint-based models are doing well.</a:t>
            </a:r>
          </a:p>
          <a:p>
            <a:endParaRPr/>
          </a:p>
          <a:p>
            <a:r>
              <a:t>"What about LLMs?" Next week, twice: Thursday's assistants lecture and the</a:t>
            </a:r>
          </a:p>
          <a:p>
            <a:r>
              <a:t>transformers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tmap.gdb.tools/src/chembl/chembl.html" TargetMode="Externa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Learned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580" y="1327291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1">
                <a:solidFill>
                  <a:srgbClr val="6E7480"/>
                </a:solidFill>
                <a:latin typeface="Avenir Book"/>
              </a:rPr>
              <a:t>Letting the model choose the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89" y="1747915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97132"/>
                </a:solidFill>
                <a:latin typeface="Avenir Book"/>
              </a:rPr>
              <a:t>YOU choose the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81" y="1967371"/>
            <a:ext cx="11186129" cy="1024128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82389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molecule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2629" y="2479435"/>
            <a:ext cx="292608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0957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rules you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wrote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61197" y="2479435"/>
            <a:ext cx="292608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99525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fixed vector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(ECFP, descriptors)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9765" y="2479435"/>
            <a:ext cx="292607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8092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small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8333" y="2479435"/>
            <a:ext cx="292607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16661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89" y="3851035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THE MODEL chooses the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3981" y="4070491"/>
            <a:ext cx="11186129" cy="1024128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82389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 dirty="0">
                <a:solidFill>
                  <a:srgbClr val="20242E"/>
                </a:solidFill>
                <a:latin typeface="Avenir Book"/>
              </a:rPr>
              <a:t>molecule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2629" y="4582555"/>
            <a:ext cx="292608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40957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encoder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(learned)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61197" y="4582555"/>
            <a:ext cx="292608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99525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embedding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(learned vector)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9765" y="4582555"/>
            <a:ext cx="292607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8092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head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8333" y="4582555"/>
            <a:ext cx="292607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6661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0957" y="2991499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B4551F"/>
                </a:solidFill>
                <a:latin typeface="Avenir Book"/>
              </a:rPr>
              <a:t>fixed before you see the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0957" y="5094618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156082"/>
                </a:solidFill>
                <a:latin typeface="Avenir Book"/>
              </a:rPr>
              <a:t>fitted from data — this is the learned representation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596188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J. Schleinitz  ·  Wednesday, August 12, 2026  ·  RSC 275, Caltech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3395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3352" y="1353312"/>
            <a:ext cx="943660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Why learn a representation?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the label bottleneck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9737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911095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Unsupervised learning: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clustering, chemical space maps, what they do and do not tell you (20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2033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734056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Autoencoders and VAEs: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compression, latent spaces, and an honest look at molecular generation (20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4329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3557015"/>
            <a:ext cx="943660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20242E"/>
                </a:solidFill>
                <a:latin typeface="Avenir Book"/>
              </a:rPr>
              <a:t>— break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0108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411480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Self-supervised pre-training: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masked prediction and contrastive learning (15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240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493776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Transfer learning: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frozen, partial, full — and where it genuinely pays (15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74700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576072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When it fails: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negative transfer, activity cliffs, and the baseline you must always run (10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9143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44007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Tutorial at 15:15</a:t>
            </a:r>
            <a:r>
              <a:rPr sz="1500" b="0" i="0">
                <a:solidFill>
                  <a:srgbClr val="20242E"/>
                </a:solidFill>
                <a:latin typeface="Avenir Book"/>
              </a:rPr>
              <a:t> — you will build the map and measure the crossover yourself, on real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Why learn a representation?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Hand-crafted vs learned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The label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Three kinds of supervision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Labels are expensive not inputs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Labels are the scarce resource</a:t>
            </a:r>
            <a:endParaRPr sz="1350" b="0" i="0" dirty="0">
              <a:solidFill>
                <a:srgbClr val="20242E"/>
              </a:solidFill>
              <a:latin typeface="Avenir Book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59566"/>
              </p:ext>
            </p:extLst>
          </p:nvPr>
        </p:nvGraphicFramePr>
        <p:xfrm>
          <a:off x="960120" y="1280160"/>
          <a:ext cx="10271729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144" y="621277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GDB-17: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Ruddigkeit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J. Chem. Inf. Model. 2012, 52, 2864 · Enamine REAL (2026) · PubChem ·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ChEMBL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Learning modes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4065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4065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97132"/>
                </a:solidFill>
                <a:latin typeface="Avenir Book"/>
              </a:rPr>
              <a:t>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065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y</a:t>
            </a:r>
          </a:p>
        </p:txBody>
      </p:sp>
      <p:sp>
        <p:nvSpPr>
          <p:cNvPr id="10" name="Oval 9"/>
          <p:cNvSpPr/>
          <p:nvPr/>
        </p:nvSpPr>
        <p:spPr>
          <a:xfrm>
            <a:off x="2605181" y="3077340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87164" y="3042513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47760" y="319310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90657" y="280226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71768" y="265083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64050" y="330060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67194" y="2818116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90813" y="370793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0737" y="364987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787911" y="2931651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84779" y="3573509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2475" y="376836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85313" y="383976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11291" y="318281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9750" y="261629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05718" y="3729284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6759" y="301759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817275" y="280474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4065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every point carries a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065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venir Book"/>
              </a:rPr>
              <a:t>labels are expensive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6257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6257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UNSUPERVISED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6257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the shape of x</a:t>
            </a:r>
          </a:p>
        </p:txBody>
      </p:sp>
      <p:sp>
        <p:nvSpPr>
          <p:cNvPr id="33" name="Oval 32"/>
          <p:cNvSpPr/>
          <p:nvPr/>
        </p:nvSpPr>
        <p:spPr>
          <a:xfrm>
            <a:off x="4922329" y="2631643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083617" y="3198571"/>
            <a:ext cx="1280160" cy="7680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96054" y="304722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325026" y="313335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71969" y="285291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44526" y="312067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878926" y="298399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27035" y="309908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08519" y="316273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687286" y="296190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68058" y="3032948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726793" y="305812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678647" y="280053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024970" y="285772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64577" y="33081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50820" y="357013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772486" y="37591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22297" y="34296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270960" y="344299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635431" y="371164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276602" y="3356397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55597" y="347403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215646" y="339647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982659" y="36057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319836" y="363518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55191" y="340981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6257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E"/>
                </a:solidFill>
                <a:latin typeface="Avenir Book"/>
              </a:rPr>
              <a:t>no labels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6257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 dirty="0">
                <a:solidFill>
                  <a:srgbClr val="196B24"/>
                </a:solidFill>
                <a:latin typeface="Avenir Book"/>
              </a:rPr>
              <a:t>unlimited data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8448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68448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02B93"/>
                </a:solidFill>
                <a:latin typeface="Avenir Book"/>
              </a:rPr>
              <a:t>SELF-SUPERVISED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68448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part of 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61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188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760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A02B93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32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904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=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847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O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33240" y="3125419"/>
            <a:ext cx="0" cy="384048"/>
          </a:xfrm>
          <a:prstGeom prst="line">
            <a:avLst/>
          </a:prstGeom>
          <a:ln w="2286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156000" y="3546043"/>
            <a:ext cx="1554480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A02B93"/>
                </a:solidFill>
                <a:latin typeface="Avenir Book"/>
              </a:rPr>
              <a:t>predict “O”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68448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20242E"/>
                </a:solidFill>
                <a:latin typeface="Avenir Book"/>
              </a:rPr>
              <a:t>a</a:t>
            </a:r>
            <a:r>
              <a:rPr lang="en-US" sz="1100" b="0" i="0" dirty="0">
                <a:solidFill>
                  <a:srgbClr val="20242E"/>
                </a:solidFill>
                <a:latin typeface="Avenir Book"/>
              </a:rPr>
              <a:t>utomated </a:t>
            </a:r>
            <a:r>
              <a:rPr sz="1100" b="0" i="0" dirty="0">
                <a:solidFill>
                  <a:srgbClr val="20242E"/>
                </a:solidFill>
                <a:latin typeface="Avenir Book"/>
              </a:rPr>
              <a:t>labels </a:t>
            </a:r>
            <a:r>
              <a:rPr lang="en-US" sz="1100" dirty="0">
                <a:solidFill>
                  <a:srgbClr val="20242E"/>
                </a:solidFill>
                <a:latin typeface="Avenir Book"/>
              </a:rPr>
              <a:t>generation</a:t>
            </a:r>
            <a:endParaRPr sz="110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68448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96B24"/>
                </a:solidFill>
                <a:latin typeface="Avenir Book"/>
              </a:rPr>
              <a:t>supervised signal, no annotation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Clustering, dimensionality reduction,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Chemical space maps — and how to read them honestly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0" i="0" dirty="0">
                <a:solidFill>
                  <a:srgbClr val="6E7480"/>
                </a:solidFill>
                <a:latin typeface="Avenir Book"/>
              </a:rPr>
              <a:t>VAEs treated separately</a:t>
            </a:r>
            <a:endParaRPr sz="1500" b="0" i="0" dirty="0">
              <a:solidFill>
                <a:srgbClr val="6E7480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7431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59623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81814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431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 ·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431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which molecules belong together?</a:t>
            </a:r>
          </a:p>
        </p:txBody>
      </p:sp>
      <p:sp>
        <p:nvSpPr>
          <p:cNvPr id="12" name="Oval 11"/>
          <p:cNvSpPr/>
          <p:nvPr/>
        </p:nvSpPr>
        <p:spPr>
          <a:xfrm>
            <a:off x="1113503" y="2836824"/>
            <a:ext cx="950976" cy="7607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8018" y="32591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49757" y="325169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03717" y="318951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65729" y="305169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680619" y="32692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95525" y="304112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21372" y="305869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717317" y="305850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512535" y="2670403"/>
            <a:ext cx="841248" cy="6729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789502" y="27664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884165" y="299154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658204" y="282390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17798" y="296444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16467" y="311080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02086" y="31730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20319" y="291002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20157" y="28485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881598" y="3780485"/>
            <a:ext cx="877824" cy="70225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14133" y="418300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253492" y="415407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214015" y="431509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233924" y="402681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8798" y="396324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072677" y="422555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26762" y="406640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377892" y="404123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7431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groups, no coordinates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9623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2 · DIMENSIONALITY REDUCTION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623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can I see 2048 dimensions?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79662" y="2805735"/>
            <a:ext cx="566928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4743671" y="2915462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43671" y="3057194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743671" y="319892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43671" y="3340658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43671" y="3482391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43671" y="3624122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671" y="3765854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43671" y="390758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43671" y="4049319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43671" y="4191051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05927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2048-D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65463" y="3537255"/>
            <a:ext cx="475488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932391" y="2805735"/>
            <a:ext cx="1691640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68235" y="355165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688652" y="348291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202688" y="33211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199975" y="343499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857275" y="364004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080154" y="336943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854254" y="359552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106586" y="311941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477992" y="394875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255105" y="31783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006132" y="31576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475372" y="362029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124426" y="367308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345471" y="35480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326015" y="36021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708001" y="325620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472626" y="367609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831398" y="38712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006051" y="322451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67301" y="313761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373816" y="371087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713712" y="3762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645303" y="34609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111810" y="32087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972164" y="335056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259327" y="35630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25582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2-D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59623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coordinates you can plot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1814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3 · DENSITY &amp; GENERATION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81814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what does a plausible molecule look like?</a:t>
            </a:r>
          </a:p>
        </p:txBody>
      </p:sp>
      <p:sp>
        <p:nvSpPr>
          <p:cNvPr id="86" name="Oval 85"/>
          <p:cNvSpPr/>
          <p:nvPr/>
        </p:nvSpPr>
        <p:spPr>
          <a:xfrm>
            <a:off x="8757886" y="2650287"/>
            <a:ext cx="2377440" cy="1865376"/>
          </a:xfrm>
          <a:prstGeom prst="ellipse">
            <a:avLst/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9077927" y="2906319"/>
            <a:ext cx="1737360" cy="1353312"/>
          </a:xfrm>
          <a:prstGeom prst="ellipse">
            <a:avLst/>
          </a:prstGeom>
          <a:solidFill>
            <a:srgbClr val="C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9397966" y="3162351"/>
            <a:ext cx="1097280" cy="8412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777442" y="3441243"/>
            <a:ext cx="155448" cy="1554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879294" y="410418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81814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sample new points from the model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82A7643-B418-9183-78FD-A241EAFD6C4D}"/>
              </a:ext>
            </a:extLst>
          </p:cNvPr>
          <p:cNvSpPr/>
          <p:nvPr/>
        </p:nvSpPr>
        <p:spPr>
          <a:xfrm>
            <a:off x="4194215" y="1295869"/>
            <a:ext cx="7963620" cy="493058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Butina clustering: the cheminformatics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No k to choose, deterministic.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Run it at two or three cut-offs and check your conclusion survives.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1 · count neighbours within t</a:t>
            </a:r>
          </a:p>
        </p:txBody>
      </p:sp>
      <p:sp>
        <p:nvSpPr>
          <p:cNvPr id="9" name="Oval 8"/>
          <p:cNvSpPr/>
          <p:nvPr/>
        </p:nvSpPr>
        <p:spPr>
          <a:xfrm>
            <a:off x="1554480" y="240487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84248" y="27249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99032" y="29535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74520" y="32735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86000" y="231343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08960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29000" y="30449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71800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66160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77440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508760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291840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t = Tanimoto cut-off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2 · densest molecule claims its sphere</a:t>
            </a:r>
          </a:p>
        </p:txBody>
      </p:sp>
      <p:sp>
        <p:nvSpPr>
          <p:cNvPr id="24" name="Oval 23"/>
          <p:cNvSpPr/>
          <p:nvPr/>
        </p:nvSpPr>
        <p:spPr>
          <a:xfrm>
            <a:off x="5138928" y="2130552"/>
            <a:ext cx="1463040" cy="1316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76671" y="240487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79008" y="2697479"/>
            <a:ext cx="182880" cy="1828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21223" y="295351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96712" y="327355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08192" y="231343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31152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251192" y="30449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93992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88352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99631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330952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14031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cluster centre + members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1311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11311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3 · repeat on what is left</a:t>
            </a:r>
          </a:p>
        </p:txBody>
      </p:sp>
      <p:sp>
        <p:nvSpPr>
          <p:cNvPr id="40" name="Oval 39"/>
          <p:cNvSpPr/>
          <p:nvPr/>
        </p:nvSpPr>
        <p:spPr>
          <a:xfrm>
            <a:off x="8961119" y="2130552"/>
            <a:ext cx="1463040" cy="1316736"/>
          </a:xfrm>
          <a:prstGeom prst="ellipse">
            <a:avLst/>
          </a:prstGeom>
          <a:solidFill>
            <a:srgbClr val="F0F1F3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79024" y="2505456"/>
            <a:ext cx="1316736" cy="1207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98863" y="240487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28631" y="272491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043415" y="295351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518903" y="327355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30383" y="231343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753343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045952" y="3017520"/>
            <a:ext cx="182880" cy="182880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616184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10543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021823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153143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936223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11311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greedy, deterministic, no k to choose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76" y="619353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Butina, J. Chem. Inf. Comput. Sci. 1999, 39, 747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300">
                <a:solidFill>
                  <a:srgbClr val="20242E"/>
                </a:solidFill>
                <a:latin typeface="Avenir Book"/>
              </a:rPr>
              <a:t>Scaffolds: chemistry is far more clustered than it looks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32 frameworks cover half of all known drugs.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484632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1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strip side chains → keep the framework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2258568"/>
            <a:ext cx="356352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47992" y="2464308"/>
            <a:ext cx="0" cy="41148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91640" y="2875788"/>
            <a:ext cx="356352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335287" y="2875788"/>
            <a:ext cx="356353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35287" y="2464308"/>
            <a:ext cx="0" cy="41148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35287" y="2258568"/>
            <a:ext cx="356353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91640" y="1901951"/>
            <a:ext cx="0" cy="356617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26449" y="2875788"/>
            <a:ext cx="308838" cy="178308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47992" y="2286000"/>
            <a:ext cx="308838" cy="178308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15190" y="1812797"/>
            <a:ext cx="178308" cy="1783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670048"/>
            <a:ext cx="594360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0520" y="2258568"/>
            <a:ext cx="356352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16872" y="2464308"/>
            <a:ext cx="0" cy="41148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160520" y="2875788"/>
            <a:ext cx="356352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804167" y="2875788"/>
            <a:ext cx="356353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04167" y="2464308"/>
            <a:ext cx="0" cy="41148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04167" y="2258568"/>
            <a:ext cx="356353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34747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molecule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Bemis–Murcko
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0791"/>
            <a:ext cx="4434840" cy="749808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23944"/>
            <a:ext cx="44348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scaffold split = hold out whole frameworks,
not random molecules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806440" y="1463039"/>
          <a:ext cx="580644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7699248" y="2724912"/>
            <a:ext cx="3675887" cy="87782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99248" y="2798063"/>
            <a:ext cx="3675887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4551F"/>
                </a:solidFill>
                <a:latin typeface="Avenir Book"/>
              </a:rPr>
              <a:t>32 frameworks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136391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cover half of all known drugs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709159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20242E"/>
                </a:solidFill>
                <a:latin typeface="Avenir Book"/>
              </a:rPr>
              <a:t>1,179 distinct frameworks among 5,120 drugs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" y="620420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Bemis &amp; Murcko, J. Med. Chem. 1996, 39, 2887 — 1,179 frameworks among 5,120 drugs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CFA487D-5534-F83C-715E-29AB0DD9E560}"/>
              </a:ext>
            </a:extLst>
          </p:cNvPr>
          <p:cNvSpPr/>
          <p:nvPr/>
        </p:nvSpPr>
        <p:spPr>
          <a:xfrm>
            <a:off x="2276903" y="2196846"/>
            <a:ext cx="178308" cy="1783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F3C3E8-641E-1688-3D6A-93B764C38A3C}"/>
              </a:ext>
            </a:extLst>
          </p:cNvPr>
          <p:cNvSpPr/>
          <p:nvPr/>
        </p:nvSpPr>
        <p:spPr>
          <a:xfrm>
            <a:off x="927219" y="2975743"/>
            <a:ext cx="178308" cy="1783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D85-0CA2-EC2C-23FC-121A7C6A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6EBE8A-9419-A10D-1A90-75A18ABEB69C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7A8C6-640C-6190-12D3-4986F354D275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9DC5D769-976B-F6DB-3663-20D5CF1AA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F51148-A5F8-D4D8-7762-A24CE6D011A7}"/>
              </a:ext>
            </a:extLst>
          </p:cNvPr>
          <p:cNvSpPr/>
          <p:nvPr/>
        </p:nvSpPr>
        <p:spPr>
          <a:xfrm>
            <a:off x="537431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BA300F-CA73-FDE3-0543-4FD59DCFE85C}"/>
              </a:ext>
            </a:extLst>
          </p:cNvPr>
          <p:cNvSpPr/>
          <p:nvPr/>
        </p:nvSpPr>
        <p:spPr>
          <a:xfrm>
            <a:off x="4359623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905B86-383C-D95F-353A-EF1C765F18FC}"/>
              </a:ext>
            </a:extLst>
          </p:cNvPr>
          <p:cNvSpPr/>
          <p:nvPr/>
        </p:nvSpPr>
        <p:spPr>
          <a:xfrm>
            <a:off x="8181814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49C72-7DDF-7715-BC55-EE0C6E843EFD}"/>
              </a:ext>
            </a:extLst>
          </p:cNvPr>
          <p:cNvSpPr txBox="1"/>
          <p:nvPr/>
        </p:nvSpPr>
        <p:spPr>
          <a:xfrm>
            <a:off x="537431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 · CLUSTERING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CED81-DCC9-C9B2-C016-79FBF9675578}"/>
              </a:ext>
            </a:extLst>
          </p:cNvPr>
          <p:cNvSpPr txBox="1"/>
          <p:nvPr/>
        </p:nvSpPr>
        <p:spPr>
          <a:xfrm>
            <a:off x="537431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which molecules belong together?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6992F9-E946-85E4-662C-E24BA8E4306E}"/>
              </a:ext>
            </a:extLst>
          </p:cNvPr>
          <p:cNvSpPr/>
          <p:nvPr/>
        </p:nvSpPr>
        <p:spPr>
          <a:xfrm>
            <a:off x="1113503" y="2836824"/>
            <a:ext cx="950976" cy="7607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A119CF-154E-DA40-6D53-57F7094B7010}"/>
              </a:ext>
            </a:extLst>
          </p:cNvPr>
          <p:cNvSpPr/>
          <p:nvPr/>
        </p:nvSpPr>
        <p:spPr>
          <a:xfrm>
            <a:off x="1788018" y="32591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C9BB0A-9C2D-E87B-FC25-AFC1AE3D12A3}"/>
              </a:ext>
            </a:extLst>
          </p:cNvPr>
          <p:cNvSpPr/>
          <p:nvPr/>
        </p:nvSpPr>
        <p:spPr>
          <a:xfrm>
            <a:off x="1849757" y="325169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45E830-E805-5A32-2F7A-18AFA9A687BE}"/>
              </a:ext>
            </a:extLst>
          </p:cNvPr>
          <p:cNvSpPr/>
          <p:nvPr/>
        </p:nvSpPr>
        <p:spPr>
          <a:xfrm>
            <a:off x="1803717" y="318951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5E72FB-9AB2-4064-3E5B-B613E23D4553}"/>
              </a:ext>
            </a:extLst>
          </p:cNvPr>
          <p:cNvSpPr/>
          <p:nvPr/>
        </p:nvSpPr>
        <p:spPr>
          <a:xfrm>
            <a:off x="1765729" y="305169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5DF5CE-FD06-C673-7582-4BF17FFB72B3}"/>
              </a:ext>
            </a:extLst>
          </p:cNvPr>
          <p:cNvSpPr/>
          <p:nvPr/>
        </p:nvSpPr>
        <p:spPr>
          <a:xfrm>
            <a:off x="1680619" y="32692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E060CB-019F-5820-2D2D-CCF0B6F4DF71}"/>
              </a:ext>
            </a:extLst>
          </p:cNvPr>
          <p:cNvSpPr/>
          <p:nvPr/>
        </p:nvSpPr>
        <p:spPr>
          <a:xfrm>
            <a:off x="1695525" y="304112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9FB5E8E-6978-C557-9F90-1DD5FEEDEE3C}"/>
              </a:ext>
            </a:extLst>
          </p:cNvPr>
          <p:cNvSpPr/>
          <p:nvPr/>
        </p:nvSpPr>
        <p:spPr>
          <a:xfrm>
            <a:off x="1221372" y="305869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2EE9C8-93DC-D44E-311A-EDD1F7615F34}"/>
              </a:ext>
            </a:extLst>
          </p:cNvPr>
          <p:cNvSpPr/>
          <p:nvPr/>
        </p:nvSpPr>
        <p:spPr>
          <a:xfrm>
            <a:off x="1717317" y="305850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FC2EDD-229A-5B02-4838-15145B338D0E}"/>
              </a:ext>
            </a:extLst>
          </p:cNvPr>
          <p:cNvSpPr/>
          <p:nvPr/>
        </p:nvSpPr>
        <p:spPr>
          <a:xfrm>
            <a:off x="2512535" y="2670403"/>
            <a:ext cx="841248" cy="6729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A17305-3DB1-86AF-58E3-84B3718A6BAB}"/>
              </a:ext>
            </a:extLst>
          </p:cNvPr>
          <p:cNvSpPr/>
          <p:nvPr/>
        </p:nvSpPr>
        <p:spPr>
          <a:xfrm>
            <a:off x="2789502" y="27664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105F5F-FCD2-023D-5341-45EC797C9652}"/>
              </a:ext>
            </a:extLst>
          </p:cNvPr>
          <p:cNvSpPr/>
          <p:nvPr/>
        </p:nvSpPr>
        <p:spPr>
          <a:xfrm>
            <a:off x="2884165" y="299154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52CD63-1659-0887-1732-F051F4B32D8E}"/>
              </a:ext>
            </a:extLst>
          </p:cNvPr>
          <p:cNvSpPr/>
          <p:nvPr/>
        </p:nvSpPr>
        <p:spPr>
          <a:xfrm>
            <a:off x="2658204" y="282390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F8EFF84-5899-10FA-9CFB-9061CCFB77B5}"/>
              </a:ext>
            </a:extLst>
          </p:cNvPr>
          <p:cNvSpPr/>
          <p:nvPr/>
        </p:nvSpPr>
        <p:spPr>
          <a:xfrm>
            <a:off x="2717798" y="296444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90DF8FB-5920-DFEC-8EBC-4CEF2B39DC01}"/>
              </a:ext>
            </a:extLst>
          </p:cNvPr>
          <p:cNvSpPr/>
          <p:nvPr/>
        </p:nvSpPr>
        <p:spPr>
          <a:xfrm>
            <a:off x="2916467" y="311080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919791-DAD3-ED37-72B9-98EA3F28C73F}"/>
              </a:ext>
            </a:extLst>
          </p:cNvPr>
          <p:cNvSpPr/>
          <p:nvPr/>
        </p:nvSpPr>
        <p:spPr>
          <a:xfrm>
            <a:off x="2802086" y="31730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D3F4CB-A6AA-E2C6-C680-00DDF9936F4D}"/>
              </a:ext>
            </a:extLst>
          </p:cNvPr>
          <p:cNvSpPr/>
          <p:nvPr/>
        </p:nvSpPr>
        <p:spPr>
          <a:xfrm>
            <a:off x="2720319" y="291002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2E09F3-F3AA-37BB-302A-4CCF6CC05571}"/>
              </a:ext>
            </a:extLst>
          </p:cNvPr>
          <p:cNvSpPr/>
          <p:nvPr/>
        </p:nvSpPr>
        <p:spPr>
          <a:xfrm>
            <a:off x="2920157" y="28485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AC3ECEF-5C1E-3718-2DD6-9F33E4A39870}"/>
              </a:ext>
            </a:extLst>
          </p:cNvPr>
          <p:cNvSpPr/>
          <p:nvPr/>
        </p:nvSpPr>
        <p:spPr>
          <a:xfrm>
            <a:off x="1881598" y="3780485"/>
            <a:ext cx="877824" cy="70225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84BF84-4126-BD5A-2083-4AAE64EF8329}"/>
              </a:ext>
            </a:extLst>
          </p:cNvPr>
          <p:cNvSpPr/>
          <p:nvPr/>
        </p:nvSpPr>
        <p:spPr>
          <a:xfrm>
            <a:off x="2114133" y="418300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7BCCC0-FE71-01FF-9D88-3805B43535D6}"/>
              </a:ext>
            </a:extLst>
          </p:cNvPr>
          <p:cNvSpPr/>
          <p:nvPr/>
        </p:nvSpPr>
        <p:spPr>
          <a:xfrm>
            <a:off x="2253492" y="415407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B8F30D0-C39A-F1F3-6913-882662D754F6}"/>
              </a:ext>
            </a:extLst>
          </p:cNvPr>
          <p:cNvSpPr/>
          <p:nvPr/>
        </p:nvSpPr>
        <p:spPr>
          <a:xfrm>
            <a:off x="2214015" y="431509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18B9ECA-A0BD-0C56-AE0E-D7BADA51FB81}"/>
              </a:ext>
            </a:extLst>
          </p:cNvPr>
          <p:cNvSpPr/>
          <p:nvPr/>
        </p:nvSpPr>
        <p:spPr>
          <a:xfrm>
            <a:off x="2233924" y="402681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042515-0BE7-EBB8-7403-6E256518431E}"/>
              </a:ext>
            </a:extLst>
          </p:cNvPr>
          <p:cNvSpPr/>
          <p:nvPr/>
        </p:nvSpPr>
        <p:spPr>
          <a:xfrm>
            <a:off x="2008798" y="396324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D2D10E-CF2C-38CA-D529-132CA3335966}"/>
              </a:ext>
            </a:extLst>
          </p:cNvPr>
          <p:cNvSpPr/>
          <p:nvPr/>
        </p:nvSpPr>
        <p:spPr>
          <a:xfrm>
            <a:off x="2072677" y="422555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235655-378C-1246-6EB4-C2B418AF95EE}"/>
              </a:ext>
            </a:extLst>
          </p:cNvPr>
          <p:cNvSpPr/>
          <p:nvPr/>
        </p:nvSpPr>
        <p:spPr>
          <a:xfrm>
            <a:off x="2126762" y="406640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D0DA91-0A9B-E906-022A-D5A0BC265FA4}"/>
              </a:ext>
            </a:extLst>
          </p:cNvPr>
          <p:cNvSpPr/>
          <p:nvPr/>
        </p:nvSpPr>
        <p:spPr>
          <a:xfrm>
            <a:off x="2377892" y="404123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F10CF9-6627-7E91-F126-C622366C86D6}"/>
              </a:ext>
            </a:extLst>
          </p:cNvPr>
          <p:cNvSpPr txBox="1"/>
          <p:nvPr/>
        </p:nvSpPr>
        <p:spPr>
          <a:xfrm>
            <a:off x="537431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groups, no coordinates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A3E165-6C24-900D-D918-88CACE3C8E08}"/>
              </a:ext>
            </a:extLst>
          </p:cNvPr>
          <p:cNvSpPr txBox="1"/>
          <p:nvPr/>
        </p:nvSpPr>
        <p:spPr>
          <a:xfrm>
            <a:off x="4359623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2 · DIMENSIONALITY REDUCTION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9A3710-DF15-40CF-ECC4-10155A8A7D50}"/>
              </a:ext>
            </a:extLst>
          </p:cNvPr>
          <p:cNvSpPr txBox="1"/>
          <p:nvPr/>
        </p:nvSpPr>
        <p:spPr>
          <a:xfrm>
            <a:off x="4359623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can I see 2048 dimensions?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6D834B2-44A7-FD82-9873-97DA689F7579}"/>
              </a:ext>
            </a:extLst>
          </p:cNvPr>
          <p:cNvSpPr/>
          <p:nvPr/>
        </p:nvSpPr>
        <p:spPr>
          <a:xfrm>
            <a:off x="4679662" y="2805735"/>
            <a:ext cx="566928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6406EA8F-65BE-FAD8-8B8C-4E2DE1DB90B7}"/>
              </a:ext>
            </a:extLst>
          </p:cNvPr>
          <p:cNvCxnSpPr/>
          <p:nvPr/>
        </p:nvCxnSpPr>
        <p:spPr>
          <a:xfrm>
            <a:off x="4743671" y="2915462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04DE7DF8-6684-EE0F-12C3-11287FBB9743}"/>
              </a:ext>
            </a:extLst>
          </p:cNvPr>
          <p:cNvCxnSpPr/>
          <p:nvPr/>
        </p:nvCxnSpPr>
        <p:spPr>
          <a:xfrm>
            <a:off x="4743671" y="3057194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303DF466-31DE-EF68-93D9-88C88E846031}"/>
              </a:ext>
            </a:extLst>
          </p:cNvPr>
          <p:cNvCxnSpPr/>
          <p:nvPr/>
        </p:nvCxnSpPr>
        <p:spPr>
          <a:xfrm>
            <a:off x="4743671" y="319892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94863649-0787-B509-F420-921CBEF176BB}"/>
              </a:ext>
            </a:extLst>
          </p:cNvPr>
          <p:cNvCxnSpPr/>
          <p:nvPr/>
        </p:nvCxnSpPr>
        <p:spPr>
          <a:xfrm>
            <a:off x="4743671" y="3340658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ACCA2D5C-B372-D036-D3DF-E19A55F4CD20}"/>
              </a:ext>
            </a:extLst>
          </p:cNvPr>
          <p:cNvCxnSpPr/>
          <p:nvPr/>
        </p:nvCxnSpPr>
        <p:spPr>
          <a:xfrm>
            <a:off x="4743671" y="3482391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13B74E69-8D37-902D-FA50-AFDA1FB7FBE7}"/>
              </a:ext>
            </a:extLst>
          </p:cNvPr>
          <p:cNvCxnSpPr/>
          <p:nvPr/>
        </p:nvCxnSpPr>
        <p:spPr>
          <a:xfrm>
            <a:off x="4743671" y="3624122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EC1E2C65-F440-60C6-AA25-6CB25F18DD86}"/>
              </a:ext>
            </a:extLst>
          </p:cNvPr>
          <p:cNvCxnSpPr/>
          <p:nvPr/>
        </p:nvCxnSpPr>
        <p:spPr>
          <a:xfrm>
            <a:off x="4743671" y="3765854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D3306AB9-E4F9-41D0-EC8B-D74B61EC34A8}"/>
              </a:ext>
            </a:extLst>
          </p:cNvPr>
          <p:cNvCxnSpPr/>
          <p:nvPr/>
        </p:nvCxnSpPr>
        <p:spPr>
          <a:xfrm>
            <a:off x="4743671" y="390758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D7D747D0-F030-51E9-70C0-86AD4057CBFD}"/>
              </a:ext>
            </a:extLst>
          </p:cNvPr>
          <p:cNvCxnSpPr/>
          <p:nvPr/>
        </p:nvCxnSpPr>
        <p:spPr>
          <a:xfrm>
            <a:off x="4743671" y="4049319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5C9EA506-9B92-976B-FFCB-6CA03D3FA731}"/>
              </a:ext>
            </a:extLst>
          </p:cNvPr>
          <p:cNvCxnSpPr/>
          <p:nvPr/>
        </p:nvCxnSpPr>
        <p:spPr>
          <a:xfrm>
            <a:off x="4743671" y="4191051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3980381-6504-5294-666A-44F5195722BF}"/>
              </a:ext>
            </a:extLst>
          </p:cNvPr>
          <p:cNvSpPr txBox="1"/>
          <p:nvPr/>
        </p:nvSpPr>
        <p:spPr>
          <a:xfrm>
            <a:off x="4505927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2048-D</a:t>
            </a:r>
          </a:p>
        </p:txBody>
      </p: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EE89F115-3970-A5E6-A9FA-140D00528A23}"/>
              </a:ext>
            </a:extLst>
          </p:cNvPr>
          <p:cNvCxnSpPr/>
          <p:nvPr/>
        </p:nvCxnSpPr>
        <p:spPr>
          <a:xfrm>
            <a:off x="5365463" y="3537255"/>
            <a:ext cx="475488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8EAD385-F0B2-1125-7B77-944F068A30E0}"/>
              </a:ext>
            </a:extLst>
          </p:cNvPr>
          <p:cNvSpPr/>
          <p:nvPr/>
        </p:nvSpPr>
        <p:spPr>
          <a:xfrm>
            <a:off x="5932391" y="2805735"/>
            <a:ext cx="1691640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CFD0D29-A6F0-EAFC-6D54-9B13F31F0EF1}"/>
              </a:ext>
            </a:extLst>
          </p:cNvPr>
          <p:cNvSpPr/>
          <p:nvPr/>
        </p:nvSpPr>
        <p:spPr>
          <a:xfrm>
            <a:off x="6868235" y="355165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ACA172D-3944-414E-F963-488AE5231B8B}"/>
              </a:ext>
            </a:extLst>
          </p:cNvPr>
          <p:cNvSpPr/>
          <p:nvPr/>
        </p:nvSpPr>
        <p:spPr>
          <a:xfrm>
            <a:off x="6688652" y="348291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5A6CCCD-C4DD-A8D7-0ECD-63C39BB799E2}"/>
              </a:ext>
            </a:extLst>
          </p:cNvPr>
          <p:cNvSpPr/>
          <p:nvPr/>
        </p:nvSpPr>
        <p:spPr>
          <a:xfrm>
            <a:off x="6202688" y="33211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517D057-F6B8-F0B9-9A55-0DB54B93B041}"/>
              </a:ext>
            </a:extLst>
          </p:cNvPr>
          <p:cNvSpPr/>
          <p:nvPr/>
        </p:nvSpPr>
        <p:spPr>
          <a:xfrm>
            <a:off x="7199975" y="343499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9147678-F0CC-A6FF-278B-5CBC18C2549A}"/>
              </a:ext>
            </a:extLst>
          </p:cNvPr>
          <p:cNvSpPr/>
          <p:nvPr/>
        </p:nvSpPr>
        <p:spPr>
          <a:xfrm>
            <a:off x="6857275" y="364004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08B26D4-7364-EAF5-3FE4-99434646ABA8}"/>
              </a:ext>
            </a:extLst>
          </p:cNvPr>
          <p:cNvSpPr/>
          <p:nvPr/>
        </p:nvSpPr>
        <p:spPr>
          <a:xfrm>
            <a:off x="7080154" y="336943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93E9509-E9F8-02F3-8711-ABF4DED10541}"/>
              </a:ext>
            </a:extLst>
          </p:cNvPr>
          <p:cNvSpPr/>
          <p:nvPr/>
        </p:nvSpPr>
        <p:spPr>
          <a:xfrm>
            <a:off x="6854254" y="359552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417AA2A-401D-E8A9-B6CB-1284B1793C4D}"/>
              </a:ext>
            </a:extLst>
          </p:cNvPr>
          <p:cNvSpPr/>
          <p:nvPr/>
        </p:nvSpPr>
        <p:spPr>
          <a:xfrm>
            <a:off x="7106586" y="311941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2EF8501-91F2-6DCE-A960-E19052FA9454}"/>
              </a:ext>
            </a:extLst>
          </p:cNvPr>
          <p:cNvSpPr/>
          <p:nvPr/>
        </p:nvSpPr>
        <p:spPr>
          <a:xfrm>
            <a:off x="6477992" y="394875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379BBF2-4E1A-C96E-9A58-9CEBB051E16E}"/>
              </a:ext>
            </a:extLst>
          </p:cNvPr>
          <p:cNvSpPr/>
          <p:nvPr/>
        </p:nvSpPr>
        <p:spPr>
          <a:xfrm>
            <a:off x="6255105" y="31783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8E0C659-C23C-F0E4-8A1E-1013F1128438}"/>
              </a:ext>
            </a:extLst>
          </p:cNvPr>
          <p:cNvSpPr/>
          <p:nvPr/>
        </p:nvSpPr>
        <p:spPr>
          <a:xfrm>
            <a:off x="7006132" y="31576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A020340-8CD8-7D76-A9D5-F8CA4B4DE4EA}"/>
              </a:ext>
            </a:extLst>
          </p:cNvPr>
          <p:cNvSpPr/>
          <p:nvPr/>
        </p:nvSpPr>
        <p:spPr>
          <a:xfrm>
            <a:off x="6475372" y="362029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57AB20A-1F71-E958-A7F4-65481C349518}"/>
              </a:ext>
            </a:extLst>
          </p:cNvPr>
          <p:cNvSpPr/>
          <p:nvPr/>
        </p:nvSpPr>
        <p:spPr>
          <a:xfrm>
            <a:off x="7124426" y="367308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148D792-9BFE-DB04-08F4-BEB407407BBF}"/>
              </a:ext>
            </a:extLst>
          </p:cNvPr>
          <p:cNvSpPr/>
          <p:nvPr/>
        </p:nvSpPr>
        <p:spPr>
          <a:xfrm>
            <a:off x="7345471" y="35480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206DF34-DA08-4597-A8E6-45326BEA9605}"/>
              </a:ext>
            </a:extLst>
          </p:cNvPr>
          <p:cNvSpPr/>
          <p:nvPr/>
        </p:nvSpPr>
        <p:spPr>
          <a:xfrm>
            <a:off x="7326015" y="36021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B2442C0-6046-4694-6D1B-099ADCF65CF7}"/>
              </a:ext>
            </a:extLst>
          </p:cNvPr>
          <p:cNvSpPr/>
          <p:nvPr/>
        </p:nvSpPr>
        <p:spPr>
          <a:xfrm>
            <a:off x="6708001" y="325620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3A2271F-F0BE-3C74-6B92-7B606BD2A173}"/>
              </a:ext>
            </a:extLst>
          </p:cNvPr>
          <p:cNvSpPr/>
          <p:nvPr/>
        </p:nvSpPr>
        <p:spPr>
          <a:xfrm>
            <a:off x="6472626" y="367609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39B8610-DCF9-C06A-16C1-289E85D352DD}"/>
              </a:ext>
            </a:extLst>
          </p:cNvPr>
          <p:cNvSpPr/>
          <p:nvPr/>
        </p:nvSpPr>
        <p:spPr>
          <a:xfrm>
            <a:off x="6831398" y="38712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BC2FFAC-1289-86E8-E42A-0C942BCBBFC8}"/>
              </a:ext>
            </a:extLst>
          </p:cNvPr>
          <p:cNvSpPr/>
          <p:nvPr/>
        </p:nvSpPr>
        <p:spPr>
          <a:xfrm>
            <a:off x="7006051" y="322451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393B57-F0DD-D04E-7B27-A859A2DC74EA}"/>
              </a:ext>
            </a:extLst>
          </p:cNvPr>
          <p:cNvSpPr/>
          <p:nvPr/>
        </p:nvSpPr>
        <p:spPr>
          <a:xfrm>
            <a:off x="6367301" y="313761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427AA28-E956-DB57-3264-456416077B08}"/>
              </a:ext>
            </a:extLst>
          </p:cNvPr>
          <p:cNvSpPr/>
          <p:nvPr/>
        </p:nvSpPr>
        <p:spPr>
          <a:xfrm>
            <a:off x="6373816" y="371087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4A38708-2143-7A55-80FC-8F8B87675C2F}"/>
              </a:ext>
            </a:extLst>
          </p:cNvPr>
          <p:cNvSpPr/>
          <p:nvPr/>
        </p:nvSpPr>
        <p:spPr>
          <a:xfrm>
            <a:off x="6713712" y="3762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4B6FB23-955A-420C-5B7C-A9F38F50C19D}"/>
              </a:ext>
            </a:extLst>
          </p:cNvPr>
          <p:cNvSpPr/>
          <p:nvPr/>
        </p:nvSpPr>
        <p:spPr>
          <a:xfrm>
            <a:off x="6645303" y="34609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816E41C-4307-FCE1-A5D5-1A546775ECDD}"/>
              </a:ext>
            </a:extLst>
          </p:cNvPr>
          <p:cNvSpPr/>
          <p:nvPr/>
        </p:nvSpPr>
        <p:spPr>
          <a:xfrm>
            <a:off x="7111810" y="32087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8E7125E-A0DD-534C-ACC8-3FDF51178547}"/>
              </a:ext>
            </a:extLst>
          </p:cNvPr>
          <p:cNvSpPr/>
          <p:nvPr/>
        </p:nvSpPr>
        <p:spPr>
          <a:xfrm>
            <a:off x="6972164" y="335056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3E544DE-080E-1760-1034-14156CE10F27}"/>
              </a:ext>
            </a:extLst>
          </p:cNvPr>
          <p:cNvSpPr/>
          <p:nvPr/>
        </p:nvSpPr>
        <p:spPr>
          <a:xfrm>
            <a:off x="6259327" y="35630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684B38-1DFF-9E59-6270-740DC7515046}"/>
              </a:ext>
            </a:extLst>
          </p:cNvPr>
          <p:cNvSpPr txBox="1"/>
          <p:nvPr/>
        </p:nvSpPr>
        <p:spPr>
          <a:xfrm>
            <a:off x="6325582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2-D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2F321D-4154-DC32-40EA-8FB284B1F386}"/>
              </a:ext>
            </a:extLst>
          </p:cNvPr>
          <p:cNvSpPr txBox="1"/>
          <p:nvPr/>
        </p:nvSpPr>
        <p:spPr>
          <a:xfrm>
            <a:off x="4359623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coordinates you can plot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021A81-DA34-DBED-CAD5-777434C3ADB6}"/>
              </a:ext>
            </a:extLst>
          </p:cNvPr>
          <p:cNvSpPr txBox="1"/>
          <p:nvPr/>
        </p:nvSpPr>
        <p:spPr>
          <a:xfrm>
            <a:off x="8181814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3 · DENSITY &amp; GENERATION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974635-5750-40A2-7C2A-C821F3D31F67}"/>
              </a:ext>
            </a:extLst>
          </p:cNvPr>
          <p:cNvSpPr txBox="1"/>
          <p:nvPr/>
        </p:nvSpPr>
        <p:spPr>
          <a:xfrm>
            <a:off x="8181814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what does a plausible molecule look like?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8492462-0995-3256-6FEE-3145DA340481}"/>
              </a:ext>
            </a:extLst>
          </p:cNvPr>
          <p:cNvSpPr/>
          <p:nvPr/>
        </p:nvSpPr>
        <p:spPr>
          <a:xfrm>
            <a:off x="8757886" y="2650287"/>
            <a:ext cx="2377440" cy="1865376"/>
          </a:xfrm>
          <a:prstGeom prst="ellipse">
            <a:avLst/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5D77C85-08A9-1085-8B40-E1F27E3EDE17}"/>
              </a:ext>
            </a:extLst>
          </p:cNvPr>
          <p:cNvSpPr/>
          <p:nvPr/>
        </p:nvSpPr>
        <p:spPr>
          <a:xfrm>
            <a:off x="9077927" y="2906319"/>
            <a:ext cx="1737360" cy="1353312"/>
          </a:xfrm>
          <a:prstGeom prst="ellipse">
            <a:avLst/>
          </a:prstGeom>
          <a:solidFill>
            <a:srgbClr val="C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FB0EC56-0C13-124B-B93F-9CB30D2D1FA6}"/>
              </a:ext>
            </a:extLst>
          </p:cNvPr>
          <p:cNvSpPr/>
          <p:nvPr/>
        </p:nvSpPr>
        <p:spPr>
          <a:xfrm>
            <a:off x="9397966" y="3162351"/>
            <a:ext cx="1097280" cy="8412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A1AE31-1C9F-A885-0A2E-BF735C2A110C}"/>
              </a:ext>
            </a:extLst>
          </p:cNvPr>
          <p:cNvSpPr/>
          <p:nvPr/>
        </p:nvSpPr>
        <p:spPr>
          <a:xfrm>
            <a:off x="9777442" y="3441243"/>
            <a:ext cx="155448" cy="1554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27C635-C310-C4FB-78DA-D6B6C64DDC7D}"/>
              </a:ext>
            </a:extLst>
          </p:cNvPr>
          <p:cNvSpPr txBox="1"/>
          <p:nvPr/>
        </p:nvSpPr>
        <p:spPr>
          <a:xfrm>
            <a:off x="10879294" y="410418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350F5AF-B613-6268-04EC-03B15E5AB0B1}"/>
              </a:ext>
            </a:extLst>
          </p:cNvPr>
          <p:cNvSpPr txBox="1"/>
          <p:nvPr/>
        </p:nvSpPr>
        <p:spPr>
          <a:xfrm>
            <a:off x="8181814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sample new points from the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E781F-8571-9F8A-D84C-2869CEE5816C}"/>
              </a:ext>
            </a:extLst>
          </p:cNvPr>
          <p:cNvSpPr/>
          <p:nvPr/>
        </p:nvSpPr>
        <p:spPr>
          <a:xfrm>
            <a:off x="218194" y="1245577"/>
            <a:ext cx="4018175" cy="493058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6A06BAD-F011-058A-2489-BFF0971FE297}"/>
              </a:ext>
            </a:extLst>
          </p:cNvPr>
          <p:cNvSpPr/>
          <p:nvPr/>
        </p:nvSpPr>
        <p:spPr>
          <a:xfrm>
            <a:off x="8113058" y="1130231"/>
            <a:ext cx="4018175" cy="493058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9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PCA: a rotation, and an honest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905799"/>
            <a:ext cx="576072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25000" y="361850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28938" y="309534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3879" y="278779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00977" y="353379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83074" y="313652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83184" y="376126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4237" y="388761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22949" y="34171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25159" y="314546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57213" y="314448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56408" y="338448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82544" y="330862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36283" y="376731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81022" y="303880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722632" y="37252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64145" y="369490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65703" y="4178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04074" y="333029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0950" y="293399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89263" y="397058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10373" y="322907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230786" y="32380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15045" y="333473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466340" y="38094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89889" y="35881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15873" y="345865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84037" y="289372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361279" y="394464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324168" y="240497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993728" y="349301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09785" y="367136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09926" y="388826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52433" y="30782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80745" y="372947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118227" y="32691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468154" y="321950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35090" y="39675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504047" y="365503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289869" y="32219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819473" y="305159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608788" y="346570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337429" y="355267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058681" y="335903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682615" y="367888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754008" y="303322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766276" y="342481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 flipV="1">
            <a:off x="2250612" y="2587027"/>
            <a:ext cx="3088295" cy="1783080"/>
          </a:xfrm>
          <a:prstGeom prst="line">
            <a:avLst/>
          </a:prstGeom>
          <a:ln w="3302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406140" y="2805477"/>
            <a:ext cx="777240" cy="1346179"/>
          </a:xfrm>
          <a:prstGeom prst="line">
            <a:avLst/>
          </a:prstGeom>
          <a:ln w="27940">
            <a:solidFill>
              <a:srgbClr val="A02B9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61688" y="208867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7132"/>
                </a:solidFill>
                <a:latin typeface="Avenir Book"/>
              </a:rPr>
              <a:t>PC1 — most variance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2381287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A02B93"/>
                </a:solidFill>
                <a:latin typeface="Avenir Book"/>
              </a:rPr>
              <a:t>PC2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22507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a rotation, nothing more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5379"/>
              </p:ext>
            </p:extLst>
          </p:nvPr>
        </p:nvGraphicFramePr>
        <p:xfrm>
          <a:off x="6720840" y="2180119"/>
          <a:ext cx="484632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6720840" y="522507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C0392B"/>
                </a:solidFill>
                <a:latin typeface="Avenir Book"/>
              </a:rPr>
              <a:t>2 components ≈ 60% of the variance — the rest is not noise, it is chemistry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t-SNE and UMAP: keep the neighbors, lose the distances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 dirty="0">
                <a:solidFill>
                  <a:srgbClr val="20242E"/>
                </a:solidFill>
                <a:latin typeface="Avenir Book"/>
              </a:rPr>
              <a:t>The trade is deliberate: </a:t>
            </a:r>
            <a:r>
              <a:rPr sz="1350" b="1" i="0" dirty="0">
                <a:solidFill>
                  <a:srgbClr val="156082"/>
                </a:solidFill>
                <a:latin typeface="Avenir Book"/>
              </a:rPr>
              <a:t>neighborhoods are preserved, distances are not.</a:t>
            </a:r>
            <a:endParaRPr sz="135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high-dimensional fingerprint space</a:t>
            </a:r>
          </a:p>
        </p:txBody>
      </p:sp>
      <p:sp>
        <p:nvSpPr>
          <p:cNvPr id="9" name="Oval 8"/>
          <p:cNvSpPr/>
          <p:nvPr/>
        </p:nvSpPr>
        <p:spPr>
          <a:xfrm>
            <a:off x="1307591" y="2020824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01067" y="219494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679320" y="211773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83565" y="215246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3516" y="257581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50705" y="21684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20277" y="247366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83597" y="238797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34533" y="220566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56970" y="266164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10711" y="1865376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29237" y="24472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12829" y="239039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969709" y="211624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71505" y="231005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831743" y="204326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72863" y="239320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37661" y="209952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03697" y="2008151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78474" y="240879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67712" y="3026664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84908" y="348705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776160" y="339961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398137" y="350144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795861" y="358836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865673" y="3581397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02246" y="342832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034910" y="323845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449" y="338173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26784" y="335601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178808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C0392B"/>
                </a:solidFill>
                <a:latin typeface="Avenir Book"/>
              </a:rPr>
              <a:t>distances here are mostly meaningless
(everything is far from everything)</a:t>
            </a:r>
          </a:p>
        </p:txBody>
      </p:sp>
      <p:sp>
        <p:nvSpPr>
          <p:cNvPr id="40" name="Chevron 39"/>
          <p:cNvSpPr/>
          <p:nvPr/>
        </p:nvSpPr>
        <p:spPr>
          <a:xfrm>
            <a:off x="5705856" y="2468880"/>
            <a:ext cx="1280160" cy="822960"/>
          </a:xfrm>
          <a:prstGeom prst="chevron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Book"/>
              </a:rPr>
              <a:t>t-SNE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venir Book"/>
              </a:rPr>
              <a:t>UMAP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1968" y="1298448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142646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2-D neighbour-preserving map</a:t>
            </a:r>
          </a:p>
        </p:txBody>
      </p:sp>
      <p:sp>
        <p:nvSpPr>
          <p:cNvPr id="43" name="Oval 42"/>
          <p:cNvSpPr/>
          <p:nvPr/>
        </p:nvSpPr>
        <p:spPr>
          <a:xfrm>
            <a:off x="7470648" y="2011679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566061" y="232650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981311" y="23737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848535" y="23352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72420" y="232590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50112" y="240415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9807" y="245502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942092" y="213574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795320" y="2574414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957677" y="22252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848088" y="2221992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403124" y="236527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442387" y="23403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075527" y="2554581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984662" y="246973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198122" y="233199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251646" y="264287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232888" y="274686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992418" y="244506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32178" y="236128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76488" y="3044952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59017" y="326091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731844" y="324510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935250" y="318902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039390" y="342698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28591" y="332915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866085" y="342206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792735" y="315261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605253" y="333624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797584" y="362328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12280" y="41788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neighbours stay neighbours 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12280" y="447141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gap widths and cluster sizes are not meaningful 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Algorithm matters at large scale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TMAP: ~117× faster than UMAP at 10⁶ molecules, and reproducible.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TMAP: lay out a minimum spanning tree, not a scatter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9943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branches = series of analogues · no overplotting at 10⁶ molecules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172200" y="1682495"/>
          <a:ext cx="5440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172200" y="4544568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1 M molecules:  TMAP 6 min   vs   UMAP 11.5 h   ( ~117×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" y="618583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Probst &amp; Reymond, J.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Cheminform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. 2020, 12, 12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; 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Flores Sepúlveda &amp; Reymond, J. Chem. Inf. Model. 2026, 66, 5595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;</a:t>
            </a:r>
            <a:r>
              <a:rPr lang="en-US" sz="1050" i="1" dirty="0">
                <a:solidFill>
                  <a:srgbClr val="6E7480"/>
                </a:solidFill>
                <a:latin typeface="Avenir Book"/>
              </a:rPr>
              <a:t> </a:t>
            </a:r>
            <a:r>
              <a:rPr lang="en-US" sz="1050" i="1" dirty="0">
                <a:solidFill>
                  <a:srgbClr val="6E7480"/>
                </a:solidFill>
                <a:latin typeface="Avenir Book"/>
                <a:hlinkClick r:id="rId5"/>
              </a:rPr>
              <a:t>https://tmap.gdb.tools/src/chembl/chembl.html</a:t>
            </a:r>
            <a:endParaRPr lang="en-US" sz="1050" i="1" dirty="0">
              <a:solidFill>
                <a:srgbClr val="6E7480"/>
              </a:solidFill>
              <a:latin typeface="Avenir Book"/>
            </a:endParaRPr>
          </a:p>
          <a:p>
            <a:pPr>
              <a:lnSpc>
                <a:spcPct val="115000"/>
              </a:lnSpc>
            </a:pP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3C9508E-DB02-8AA7-1B89-F90FE2DCE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183" y="1789353"/>
            <a:ext cx="2886561" cy="26849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Three things your map is not telling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Never read clusters off a map.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Cluster explicitly in the original space, then use the map only to display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gap width means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cluster size means nothing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1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1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clusters appear in pure noise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7" y="2359152"/>
            <a:ext cx="100584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70048" y="2359152"/>
            <a:ext cx="100584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22898" y="257419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3974" y="288687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10581" y="284584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1445" y="280114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15012" y="280302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57381" y="272651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54688" y="2867744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34534" y="283766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703662" y="258113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92163" y="291029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863480" y="268507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11997" y="2625775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39297" y="269527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15017" y="25460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37380" y="284414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51950" y="257772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31515" y="293580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345053" y="281035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2048256" y="2770632"/>
            <a:ext cx="603504" cy="0"/>
          </a:xfrm>
          <a:prstGeom prst="line">
            <a:avLst/>
          </a:prstGeom>
          <a:ln w="1778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12848" y="2834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Avenir Book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9651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perplexity changes it</a:t>
            </a:r>
          </a:p>
        </p:txBody>
      </p:sp>
      <p:sp>
        <p:nvSpPr>
          <p:cNvPr id="36" name="Oval 35"/>
          <p:cNvSpPr/>
          <p:nvPr/>
        </p:nvSpPr>
        <p:spPr>
          <a:xfrm>
            <a:off x="4782312" y="2286000"/>
            <a:ext cx="1316736" cy="10607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23375" y="280108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15306" y="295955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079857" y="283379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55957" y="253189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943308" y="263711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250306" y="295781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100192" y="281355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28232" y="2359152"/>
            <a:ext cx="1133856" cy="914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58986" y="267015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818864" y="271668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00812" y="2717946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872200" y="258960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948394" y="249154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174109" y="3039962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124524" y="2776087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365085" y="271838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693387" y="2913555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872090" y="2687940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773959" y="285596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989065" y="289791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750482" y="282041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927994" y="263775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256876" y="296306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854303" y="2459917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20384" y="262686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567574" y="274996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065928" y="298547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062035" y="259219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852793" y="249728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710086" y="3015300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581950" y="264749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966017" y="2526475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45152" y="345643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7 molecules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1" y="345643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97132"/>
                </a:solidFill>
                <a:latin typeface="Avenir Book"/>
              </a:rPr>
              <a:t>240 molecules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416052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drawn almost the same size</a:t>
            </a:r>
          </a:p>
        </p:txBody>
      </p:sp>
      <p:sp>
        <p:nvSpPr>
          <p:cNvPr id="72" name="Oval 71"/>
          <p:cNvSpPr/>
          <p:nvPr/>
        </p:nvSpPr>
        <p:spPr>
          <a:xfrm>
            <a:off x="8714232" y="222199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070950" y="244617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906124" y="270469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949525" y="2366593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039105" y="244094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063468" y="252508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283562" y="2389034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971780" y="241800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034503" y="256956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268711" y="217627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638530" y="239646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627957" y="232854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355831" y="248239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538508" y="252714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586182" y="225330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686751" y="2515343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689142" y="257030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0449452" y="236813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537191" y="313639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898963" y="321676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946934" y="329470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936839" y="365792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138206" y="342094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024035" y="351144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181406" y="340023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47820" y="356213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9917339" y="345178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11311" y="409651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input was uniform random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F342-C90B-3293-32A8-AF799928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C5231C-5C54-A6AC-44B8-2D6FE4956C99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50C54-8029-9BE8-F798-0509E41E502E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4A13BD6D-372E-0E70-453A-9D67D46B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27F146-A3B4-F9B4-91A9-39BB322F5B71}"/>
              </a:ext>
            </a:extLst>
          </p:cNvPr>
          <p:cNvSpPr/>
          <p:nvPr/>
        </p:nvSpPr>
        <p:spPr>
          <a:xfrm>
            <a:off x="537431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5D0121-6F22-5904-9924-AD1A4F0ADA5C}"/>
              </a:ext>
            </a:extLst>
          </p:cNvPr>
          <p:cNvSpPr/>
          <p:nvPr/>
        </p:nvSpPr>
        <p:spPr>
          <a:xfrm>
            <a:off x="4359623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9E1FE0-8199-2BCB-E79B-853F8050EE86}"/>
              </a:ext>
            </a:extLst>
          </p:cNvPr>
          <p:cNvSpPr/>
          <p:nvPr/>
        </p:nvSpPr>
        <p:spPr>
          <a:xfrm>
            <a:off x="8181814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BF98-E856-7B11-DBB9-A72AD7A5F910}"/>
              </a:ext>
            </a:extLst>
          </p:cNvPr>
          <p:cNvSpPr txBox="1"/>
          <p:nvPr/>
        </p:nvSpPr>
        <p:spPr>
          <a:xfrm>
            <a:off x="537431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 · CLUSTERING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B7D51-F1EF-976C-57C0-0458C7DB41BE}"/>
              </a:ext>
            </a:extLst>
          </p:cNvPr>
          <p:cNvSpPr txBox="1"/>
          <p:nvPr/>
        </p:nvSpPr>
        <p:spPr>
          <a:xfrm>
            <a:off x="537431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which molecules belong together?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FA51E8-975B-AAE1-D7E0-BE26ED482847}"/>
              </a:ext>
            </a:extLst>
          </p:cNvPr>
          <p:cNvSpPr/>
          <p:nvPr/>
        </p:nvSpPr>
        <p:spPr>
          <a:xfrm>
            <a:off x="1113503" y="2836824"/>
            <a:ext cx="950976" cy="7607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9C66C1-728F-6039-3C7D-32D64E48F60E}"/>
              </a:ext>
            </a:extLst>
          </p:cNvPr>
          <p:cNvSpPr/>
          <p:nvPr/>
        </p:nvSpPr>
        <p:spPr>
          <a:xfrm>
            <a:off x="1788018" y="32591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017413-2E7A-2FA0-DE7F-2FD612E0DE49}"/>
              </a:ext>
            </a:extLst>
          </p:cNvPr>
          <p:cNvSpPr/>
          <p:nvPr/>
        </p:nvSpPr>
        <p:spPr>
          <a:xfrm>
            <a:off x="1849757" y="325169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9A317E-3E50-75EE-E71F-20B8D69D61B3}"/>
              </a:ext>
            </a:extLst>
          </p:cNvPr>
          <p:cNvSpPr/>
          <p:nvPr/>
        </p:nvSpPr>
        <p:spPr>
          <a:xfrm>
            <a:off x="1803717" y="318951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39DF91-6813-B193-8AD9-AC6DDD45E2A1}"/>
              </a:ext>
            </a:extLst>
          </p:cNvPr>
          <p:cNvSpPr/>
          <p:nvPr/>
        </p:nvSpPr>
        <p:spPr>
          <a:xfrm>
            <a:off x="1765729" y="305169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26DF17-9B52-9C92-D3D9-E1861A49B9C5}"/>
              </a:ext>
            </a:extLst>
          </p:cNvPr>
          <p:cNvSpPr/>
          <p:nvPr/>
        </p:nvSpPr>
        <p:spPr>
          <a:xfrm>
            <a:off x="1680619" y="32692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92A17D-255C-E27B-E204-13EDAABA477B}"/>
              </a:ext>
            </a:extLst>
          </p:cNvPr>
          <p:cNvSpPr/>
          <p:nvPr/>
        </p:nvSpPr>
        <p:spPr>
          <a:xfrm>
            <a:off x="1695525" y="304112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6B2CEC-BACF-0A32-F140-109B45C61A10}"/>
              </a:ext>
            </a:extLst>
          </p:cNvPr>
          <p:cNvSpPr/>
          <p:nvPr/>
        </p:nvSpPr>
        <p:spPr>
          <a:xfrm>
            <a:off x="1221372" y="305869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6265D8-D623-9919-ADCA-F581200458DE}"/>
              </a:ext>
            </a:extLst>
          </p:cNvPr>
          <p:cNvSpPr/>
          <p:nvPr/>
        </p:nvSpPr>
        <p:spPr>
          <a:xfrm>
            <a:off x="1717317" y="305850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CE2195-E67D-6870-CCB7-C424D499F81B}"/>
              </a:ext>
            </a:extLst>
          </p:cNvPr>
          <p:cNvSpPr/>
          <p:nvPr/>
        </p:nvSpPr>
        <p:spPr>
          <a:xfrm>
            <a:off x="2512535" y="2670403"/>
            <a:ext cx="841248" cy="6729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F66505-7ECA-719B-08B0-AFB0EAFA5573}"/>
              </a:ext>
            </a:extLst>
          </p:cNvPr>
          <p:cNvSpPr/>
          <p:nvPr/>
        </p:nvSpPr>
        <p:spPr>
          <a:xfrm>
            <a:off x="2789502" y="27664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1B7961C-E351-9DE6-8422-C1EDBAFC471E}"/>
              </a:ext>
            </a:extLst>
          </p:cNvPr>
          <p:cNvSpPr/>
          <p:nvPr/>
        </p:nvSpPr>
        <p:spPr>
          <a:xfrm>
            <a:off x="2884165" y="299154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EB5BFB0-BC7D-36E5-A7A1-763B4A9DF687}"/>
              </a:ext>
            </a:extLst>
          </p:cNvPr>
          <p:cNvSpPr/>
          <p:nvPr/>
        </p:nvSpPr>
        <p:spPr>
          <a:xfrm>
            <a:off x="2658204" y="282390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47AB4A-8F11-9ED8-EE8A-6E6E4CB1169F}"/>
              </a:ext>
            </a:extLst>
          </p:cNvPr>
          <p:cNvSpPr/>
          <p:nvPr/>
        </p:nvSpPr>
        <p:spPr>
          <a:xfrm>
            <a:off x="2717798" y="296444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D24D8D-3F47-AFD7-BD7B-443447CF6E2C}"/>
              </a:ext>
            </a:extLst>
          </p:cNvPr>
          <p:cNvSpPr/>
          <p:nvPr/>
        </p:nvSpPr>
        <p:spPr>
          <a:xfrm>
            <a:off x="2916467" y="311080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540CD8-B186-3FDB-CBEA-A79A242B3C67}"/>
              </a:ext>
            </a:extLst>
          </p:cNvPr>
          <p:cNvSpPr/>
          <p:nvPr/>
        </p:nvSpPr>
        <p:spPr>
          <a:xfrm>
            <a:off x="2802086" y="31730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B551909-57AB-55A2-C49E-931428C3C459}"/>
              </a:ext>
            </a:extLst>
          </p:cNvPr>
          <p:cNvSpPr/>
          <p:nvPr/>
        </p:nvSpPr>
        <p:spPr>
          <a:xfrm>
            <a:off x="2720319" y="291002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B167B4-A992-740B-D62B-31F484F5FAC5}"/>
              </a:ext>
            </a:extLst>
          </p:cNvPr>
          <p:cNvSpPr/>
          <p:nvPr/>
        </p:nvSpPr>
        <p:spPr>
          <a:xfrm>
            <a:off x="2920157" y="28485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B52BB16-54D0-F885-31E3-4EDACD0AE596}"/>
              </a:ext>
            </a:extLst>
          </p:cNvPr>
          <p:cNvSpPr/>
          <p:nvPr/>
        </p:nvSpPr>
        <p:spPr>
          <a:xfrm>
            <a:off x="1881598" y="3780485"/>
            <a:ext cx="877824" cy="70225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36A4FDD-E5CA-14AF-1BFB-56FB0A768B71}"/>
              </a:ext>
            </a:extLst>
          </p:cNvPr>
          <p:cNvSpPr/>
          <p:nvPr/>
        </p:nvSpPr>
        <p:spPr>
          <a:xfrm>
            <a:off x="2114133" y="418300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015C09-34A0-D438-DF3C-D586DC47A4DD}"/>
              </a:ext>
            </a:extLst>
          </p:cNvPr>
          <p:cNvSpPr/>
          <p:nvPr/>
        </p:nvSpPr>
        <p:spPr>
          <a:xfrm>
            <a:off x="2253492" y="415407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BD3DDC-569B-F9DF-3F38-6CB7B115E143}"/>
              </a:ext>
            </a:extLst>
          </p:cNvPr>
          <p:cNvSpPr/>
          <p:nvPr/>
        </p:nvSpPr>
        <p:spPr>
          <a:xfrm>
            <a:off x="2214015" y="431509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E84F72-9B69-CB9F-DCAB-9B62D817F35D}"/>
              </a:ext>
            </a:extLst>
          </p:cNvPr>
          <p:cNvSpPr/>
          <p:nvPr/>
        </p:nvSpPr>
        <p:spPr>
          <a:xfrm>
            <a:off x="2233924" y="402681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8828837-7DD7-7A01-E734-C7A3581E51AC}"/>
              </a:ext>
            </a:extLst>
          </p:cNvPr>
          <p:cNvSpPr/>
          <p:nvPr/>
        </p:nvSpPr>
        <p:spPr>
          <a:xfrm>
            <a:off x="2008798" y="396324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D22B724-70A1-8C1F-2CCB-5B354E846B26}"/>
              </a:ext>
            </a:extLst>
          </p:cNvPr>
          <p:cNvSpPr/>
          <p:nvPr/>
        </p:nvSpPr>
        <p:spPr>
          <a:xfrm>
            <a:off x="2072677" y="422555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6F62987-BEEF-83AD-9B45-3202D7C7B835}"/>
              </a:ext>
            </a:extLst>
          </p:cNvPr>
          <p:cNvSpPr/>
          <p:nvPr/>
        </p:nvSpPr>
        <p:spPr>
          <a:xfrm>
            <a:off x="2126762" y="406640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2C065FB-5114-4B4E-F922-D903583AE1C5}"/>
              </a:ext>
            </a:extLst>
          </p:cNvPr>
          <p:cNvSpPr/>
          <p:nvPr/>
        </p:nvSpPr>
        <p:spPr>
          <a:xfrm>
            <a:off x="2377892" y="404123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26ED77-511A-4B0D-3D0E-07F7FFE2B02D}"/>
              </a:ext>
            </a:extLst>
          </p:cNvPr>
          <p:cNvSpPr txBox="1"/>
          <p:nvPr/>
        </p:nvSpPr>
        <p:spPr>
          <a:xfrm>
            <a:off x="537431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groups, no coordinates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482E2A-7D67-CA6C-911B-3CC4F55D4DEE}"/>
              </a:ext>
            </a:extLst>
          </p:cNvPr>
          <p:cNvSpPr txBox="1"/>
          <p:nvPr/>
        </p:nvSpPr>
        <p:spPr>
          <a:xfrm>
            <a:off x="4359623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2 · DIMENSIONALITY REDUCTION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0BC5E8-6964-DE83-DAF9-131C2BDD967C}"/>
              </a:ext>
            </a:extLst>
          </p:cNvPr>
          <p:cNvSpPr txBox="1"/>
          <p:nvPr/>
        </p:nvSpPr>
        <p:spPr>
          <a:xfrm>
            <a:off x="4359623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can I see 2048 dimensions?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AE4BDAA-C2B5-329F-8DC5-08ACADD3F1A2}"/>
              </a:ext>
            </a:extLst>
          </p:cNvPr>
          <p:cNvSpPr/>
          <p:nvPr/>
        </p:nvSpPr>
        <p:spPr>
          <a:xfrm>
            <a:off x="4679662" y="2805735"/>
            <a:ext cx="566928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6392C1AE-9A50-F8B9-7410-9AB068A866DC}"/>
              </a:ext>
            </a:extLst>
          </p:cNvPr>
          <p:cNvCxnSpPr/>
          <p:nvPr/>
        </p:nvCxnSpPr>
        <p:spPr>
          <a:xfrm>
            <a:off x="4743671" y="2915462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CCBD1BA5-EDBD-9688-DFB6-A4DE26ED785B}"/>
              </a:ext>
            </a:extLst>
          </p:cNvPr>
          <p:cNvCxnSpPr/>
          <p:nvPr/>
        </p:nvCxnSpPr>
        <p:spPr>
          <a:xfrm>
            <a:off x="4743671" y="3057194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1508D2B9-F3FB-6DC1-6C98-17B935927F7E}"/>
              </a:ext>
            </a:extLst>
          </p:cNvPr>
          <p:cNvCxnSpPr/>
          <p:nvPr/>
        </p:nvCxnSpPr>
        <p:spPr>
          <a:xfrm>
            <a:off x="4743671" y="319892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0B745625-E90F-AB2D-4173-B362C76BEC16}"/>
              </a:ext>
            </a:extLst>
          </p:cNvPr>
          <p:cNvCxnSpPr/>
          <p:nvPr/>
        </p:nvCxnSpPr>
        <p:spPr>
          <a:xfrm>
            <a:off x="4743671" y="3340658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D1DCBBA8-325C-C6C2-D47F-B7580993D34C}"/>
              </a:ext>
            </a:extLst>
          </p:cNvPr>
          <p:cNvCxnSpPr/>
          <p:nvPr/>
        </p:nvCxnSpPr>
        <p:spPr>
          <a:xfrm>
            <a:off x="4743671" y="3482391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112AD511-0558-0B34-A290-E7498AFF3DD8}"/>
              </a:ext>
            </a:extLst>
          </p:cNvPr>
          <p:cNvCxnSpPr/>
          <p:nvPr/>
        </p:nvCxnSpPr>
        <p:spPr>
          <a:xfrm>
            <a:off x="4743671" y="3624122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AD265AAD-19FE-8782-09CC-956C4B39CF0D}"/>
              </a:ext>
            </a:extLst>
          </p:cNvPr>
          <p:cNvCxnSpPr/>
          <p:nvPr/>
        </p:nvCxnSpPr>
        <p:spPr>
          <a:xfrm>
            <a:off x="4743671" y="3765854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260121B1-2ACC-1ADE-A603-7D90DDAB4D85}"/>
              </a:ext>
            </a:extLst>
          </p:cNvPr>
          <p:cNvCxnSpPr/>
          <p:nvPr/>
        </p:nvCxnSpPr>
        <p:spPr>
          <a:xfrm>
            <a:off x="4743671" y="390758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C7E25C68-2ACC-6F29-82E5-7A8036949CDC}"/>
              </a:ext>
            </a:extLst>
          </p:cNvPr>
          <p:cNvCxnSpPr/>
          <p:nvPr/>
        </p:nvCxnSpPr>
        <p:spPr>
          <a:xfrm>
            <a:off x="4743671" y="4049319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BF40F95F-0AD7-9015-D517-7F6481F8264D}"/>
              </a:ext>
            </a:extLst>
          </p:cNvPr>
          <p:cNvCxnSpPr/>
          <p:nvPr/>
        </p:nvCxnSpPr>
        <p:spPr>
          <a:xfrm>
            <a:off x="4743671" y="4191051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153263F-C4DA-AE1D-1384-8CBD506A59E8}"/>
              </a:ext>
            </a:extLst>
          </p:cNvPr>
          <p:cNvSpPr txBox="1"/>
          <p:nvPr/>
        </p:nvSpPr>
        <p:spPr>
          <a:xfrm>
            <a:off x="4505927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2048-D</a:t>
            </a:r>
          </a:p>
        </p:txBody>
      </p: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BF30F656-398A-F2FB-4855-318BAF7DB29D}"/>
              </a:ext>
            </a:extLst>
          </p:cNvPr>
          <p:cNvCxnSpPr/>
          <p:nvPr/>
        </p:nvCxnSpPr>
        <p:spPr>
          <a:xfrm>
            <a:off x="5365463" y="3537255"/>
            <a:ext cx="475488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9A8E3B6-A7B0-FD7E-11BB-14EC8AB3171D}"/>
              </a:ext>
            </a:extLst>
          </p:cNvPr>
          <p:cNvSpPr/>
          <p:nvPr/>
        </p:nvSpPr>
        <p:spPr>
          <a:xfrm>
            <a:off x="5932391" y="2805735"/>
            <a:ext cx="1691640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54E5E5E-039B-0ECD-B97D-C39389A401CA}"/>
              </a:ext>
            </a:extLst>
          </p:cNvPr>
          <p:cNvSpPr/>
          <p:nvPr/>
        </p:nvSpPr>
        <p:spPr>
          <a:xfrm>
            <a:off x="6868235" y="355165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B7B94A8-3D70-AC6E-13FC-2241EF89AFC0}"/>
              </a:ext>
            </a:extLst>
          </p:cNvPr>
          <p:cNvSpPr/>
          <p:nvPr/>
        </p:nvSpPr>
        <p:spPr>
          <a:xfrm>
            <a:off x="6688652" y="348291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275233B-F975-13B9-4757-CD7C7C4D4C29}"/>
              </a:ext>
            </a:extLst>
          </p:cNvPr>
          <p:cNvSpPr/>
          <p:nvPr/>
        </p:nvSpPr>
        <p:spPr>
          <a:xfrm>
            <a:off x="6202688" y="33211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895B4D9-2DD8-8168-DCBF-340BDE2DE53F}"/>
              </a:ext>
            </a:extLst>
          </p:cNvPr>
          <p:cNvSpPr/>
          <p:nvPr/>
        </p:nvSpPr>
        <p:spPr>
          <a:xfrm>
            <a:off x="7199975" y="343499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CD12F0A-C170-9D0C-5D6D-36CD808753F8}"/>
              </a:ext>
            </a:extLst>
          </p:cNvPr>
          <p:cNvSpPr/>
          <p:nvPr/>
        </p:nvSpPr>
        <p:spPr>
          <a:xfrm>
            <a:off x="6857275" y="364004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35B50B6-DDEB-EEEE-A354-D39954861F6A}"/>
              </a:ext>
            </a:extLst>
          </p:cNvPr>
          <p:cNvSpPr/>
          <p:nvPr/>
        </p:nvSpPr>
        <p:spPr>
          <a:xfrm>
            <a:off x="7080154" y="336943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6F66301-8C4C-9B56-0592-60F2F47A0E1B}"/>
              </a:ext>
            </a:extLst>
          </p:cNvPr>
          <p:cNvSpPr/>
          <p:nvPr/>
        </p:nvSpPr>
        <p:spPr>
          <a:xfrm>
            <a:off x="6854254" y="359552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0DADD2C-05DD-80E0-63FF-432388142865}"/>
              </a:ext>
            </a:extLst>
          </p:cNvPr>
          <p:cNvSpPr/>
          <p:nvPr/>
        </p:nvSpPr>
        <p:spPr>
          <a:xfrm>
            <a:off x="7106586" y="311941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6B84EFF-64BC-2A3F-4330-762AE6DCB6BD}"/>
              </a:ext>
            </a:extLst>
          </p:cNvPr>
          <p:cNvSpPr/>
          <p:nvPr/>
        </p:nvSpPr>
        <p:spPr>
          <a:xfrm>
            <a:off x="6477992" y="394875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28F6240-A927-FB07-2F21-327E7B798EA8}"/>
              </a:ext>
            </a:extLst>
          </p:cNvPr>
          <p:cNvSpPr/>
          <p:nvPr/>
        </p:nvSpPr>
        <p:spPr>
          <a:xfrm>
            <a:off x="6255105" y="31783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0F040EA-69DF-2117-A8F8-41C760C7FECD}"/>
              </a:ext>
            </a:extLst>
          </p:cNvPr>
          <p:cNvSpPr/>
          <p:nvPr/>
        </p:nvSpPr>
        <p:spPr>
          <a:xfrm>
            <a:off x="7006132" y="31576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19F880C-C7AB-281D-7A39-FB772D47D299}"/>
              </a:ext>
            </a:extLst>
          </p:cNvPr>
          <p:cNvSpPr/>
          <p:nvPr/>
        </p:nvSpPr>
        <p:spPr>
          <a:xfrm>
            <a:off x="6475372" y="362029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4D91B1A-CA15-9155-3901-B0EBAFA36109}"/>
              </a:ext>
            </a:extLst>
          </p:cNvPr>
          <p:cNvSpPr/>
          <p:nvPr/>
        </p:nvSpPr>
        <p:spPr>
          <a:xfrm>
            <a:off x="7124426" y="367308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807CC5D-7C3B-E6DB-4680-081C9FA8DE94}"/>
              </a:ext>
            </a:extLst>
          </p:cNvPr>
          <p:cNvSpPr/>
          <p:nvPr/>
        </p:nvSpPr>
        <p:spPr>
          <a:xfrm>
            <a:off x="7345471" y="35480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9A37E50-E7F9-EBC3-5B8A-53CF2E1C3873}"/>
              </a:ext>
            </a:extLst>
          </p:cNvPr>
          <p:cNvSpPr/>
          <p:nvPr/>
        </p:nvSpPr>
        <p:spPr>
          <a:xfrm>
            <a:off x="7326015" y="36021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A96323D-D929-AF81-048E-F35DF9935213}"/>
              </a:ext>
            </a:extLst>
          </p:cNvPr>
          <p:cNvSpPr/>
          <p:nvPr/>
        </p:nvSpPr>
        <p:spPr>
          <a:xfrm>
            <a:off x="6708001" y="325620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7395FB4-7809-04C5-77B3-F1A6A37B24D2}"/>
              </a:ext>
            </a:extLst>
          </p:cNvPr>
          <p:cNvSpPr/>
          <p:nvPr/>
        </p:nvSpPr>
        <p:spPr>
          <a:xfrm>
            <a:off x="6472626" y="367609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6F98D95-69DC-7D7D-7F7F-0D6E6A02D85E}"/>
              </a:ext>
            </a:extLst>
          </p:cNvPr>
          <p:cNvSpPr/>
          <p:nvPr/>
        </p:nvSpPr>
        <p:spPr>
          <a:xfrm>
            <a:off x="6831398" y="38712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E5924B9-7911-1635-BB2E-16BAE8C6B86C}"/>
              </a:ext>
            </a:extLst>
          </p:cNvPr>
          <p:cNvSpPr/>
          <p:nvPr/>
        </p:nvSpPr>
        <p:spPr>
          <a:xfrm>
            <a:off x="7006051" y="322451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DE8CAA2-547C-8832-0FFC-A4F014EEBF68}"/>
              </a:ext>
            </a:extLst>
          </p:cNvPr>
          <p:cNvSpPr/>
          <p:nvPr/>
        </p:nvSpPr>
        <p:spPr>
          <a:xfrm>
            <a:off x="6367301" y="313761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9C11C9-9D75-6B3B-C62D-65F8ECA60A0E}"/>
              </a:ext>
            </a:extLst>
          </p:cNvPr>
          <p:cNvSpPr/>
          <p:nvPr/>
        </p:nvSpPr>
        <p:spPr>
          <a:xfrm>
            <a:off x="6373816" y="371087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CA9525E-5947-B24B-D41C-E580DF285D3E}"/>
              </a:ext>
            </a:extLst>
          </p:cNvPr>
          <p:cNvSpPr/>
          <p:nvPr/>
        </p:nvSpPr>
        <p:spPr>
          <a:xfrm>
            <a:off x="6713712" y="3762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E60A83-F2AA-1F11-1EDA-03B8AA94FD2E}"/>
              </a:ext>
            </a:extLst>
          </p:cNvPr>
          <p:cNvSpPr/>
          <p:nvPr/>
        </p:nvSpPr>
        <p:spPr>
          <a:xfrm>
            <a:off x="6645303" y="34609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D853AA0-E414-49CA-0A8F-E8F3752527CE}"/>
              </a:ext>
            </a:extLst>
          </p:cNvPr>
          <p:cNvSpPr/>
          <p:nvPr/>
        </p:nvSpPr>
        <p:spPr>
          <a:xfrm>
            <a:off x="7111810" y="32087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46E929-246D-76A7-DA00-5A580FCE11A9}"/>
              </a:ext>
            </a:extLst>
          </p:cNvPr>
          <p:cNvSpPr/>
          <p:nvPr/>
        </p:nvSpPr>
        <p:spPr>
          <a:xfrm>
            <a:off x="6972164" y="335056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3B4A032-D383-401E-917A-FED68FB3B196}"/>
              </a:ext>
            </a:extLst>
          </p:cNvPr>
          <p:cNvSpPr/>
          <p:nvPr/>
        </p:nvSpPr>
        <p:spPr>
          <a:xfrm>
            <a:off x="6259327" y="35630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F81052-2ED7-6C01-A149-0E67912D7E0B}"/>
              </a:ext>
            </a:extLst>
          </p:cNvPr>
          <p:cNvSpPr txBox="1"/>
          <p:nvPr/>
        </p:nvSpPr>
        <p:spPr>
          <a:xfrm>
            <a:off x="6325582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2-D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F195DD-3C0C-3A4D-2B7F-94BF2BB60662}"/>
              </a:ext>
            </a:extLst>
          </p:cNvPr>
          <p:cNvSpPr txBox="1"/>
          <p:nvPr/>
        </p:nvSpPr>
        <p:spPr>
          <a:xfrm>
            <a:off x="4359623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coordinates you can plot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F957B9-3836-7D2D-78E8-192DCCA8EA47}"/>
              </a:ext>
            </a:extLst>
          </p:cNvPr>
          <p:cNvSpPr txBox="1"/>
          <p:nvPr/>
        </p:nvSpPr>
        <p:spPr>
          <a:xfrm>
            <a:off x="8181814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3 · DENSITY &amp; GENERATION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0CAA1B-B2E0-A3F2-C3F1-FDFD27C0058F}"/>
              </a:ext>
            </a:extLst>
          </p:cNvPr>
          <p:cNvSpPr txBox="1"/>
          <p:nvPr/>
        </p:nvSpPr>
        <p:spPr>
          <a:xfrm>
            <a:off x="8181814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what does a plausible molecule look like?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5AE74CB-8026-D419-E0EB-B8D18467E94B}"/>
              </a:ext>
            </a:extLst>
          </p:cNvPr>
          <p:cNvSpPr/>
          <p:nvPr/>
        </p:nvSpPr>
        <p:spPr>
          <a:xfrm>
            <a:off x="8757886" y="2650287"/>
            <a:ext cx="2377440" cy="1865376"/>
          </a:xfrm>
          <a:prstGeom prst="ellipse">
            <a:avLst/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5313C6C-95EC-5DD2-630F-B24362A110AD}"/>
              </a:ext>
            </a:extLst>
          </p:cNvPr>
          <p:cNvSpPr/>
          <p:nvPr/>
        </p:nvSpPr>
        <p:spPr>
          <a:xfrm>
            <a:off x="9077927" y="2906319"/>
            <a:ext cx="1737360" cy="1353312"/>
          </a:xfrm>
          <a:prstGeom prst="ellipse">
            <a:avLst/>
          </a:prstGeom>
          <a:solidFill>
            <a:srgbClr val="C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8550F19-09E0-DA2E-4DBA-2F53A4A12873}"/>
              </a:ext>
            </a:extLst>
          </p:cNvPr>
          <p:cNvSpPr/>
          <p:nvPr/>
        </p:nvSpPr>
        <p:spPr>
          <a:xfrm>
            <a:off x="9397966" y="3162351"/>
            <a:ext cx="1097280" cy="8412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B007908-9FB8-5DDC-626D-E7510EE5AD44}"/>
              </a:ext>
            </a:extLst>
          </p:cNvPr>
          <p:cNvSpPr/>
          <p:nvPr/>
        </p:nvSpPr>
        <p:spPr>
          <a:xfrm>
            <a:off x="9777442" y="3441243"/>
            <a:ext cx="155448" cy="1554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FFBC1A-2E92-915E-DA36-913E4B5ACDDC}"/>
              </a:ext>
            </a:extLst>
          </p:cNvPr>
          <p:cNvSpPr txBox="1"/>
          <p:nvPr/>
        </p:nvSpPr>
        <p:spPr>
          <a:xfrm>
            <a:off x="10879294" y="410418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0A72A7-2DD5-7CC5-165E-ADFA56A16585}"/>
              </a:ext>
            </a:extLst>
          </p:cNvPr>
          <p:cNvSpPr txBox="1"/>
          <p:nvPr/>
        </p:nvSpPr>
        <p:spPr>
          <a:xfrm>
            <a:off x="8181814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sample new points from the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722E70-250C-0A21-5698-3B0894DCF5EF}"/>
              </a:ext>
            </a:extLst>
          </p:cNvPr>
          <p:cNvSpPr/>
          <p:nvPr/>
        </p:nvSpPr>
        <p:spPr>
          <a:xfrm>
            <a:off x="218194" y="1245577"/>
            <a:ext cx="7814182" cy="4930588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18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Case study: the periodic table, from text 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Unsupervised learning on </a:t>
            </a:r>
            <a:r>
              <a:rPr lang="en-US" sz="1350" b="1" dirty="0">
                <a:solidFill>
                  <a:srgbClr val="156082"/>
                </a:solidFill>
                <a:latin typeface="Avenir Book"/>
              </a:rPr>
              <a:t>~1</a:t>
            </a:r>
            <a:r>
              <a:rPr sz="1350" b="1" i="0" dirty="0">
                <a:solidFill>
                  <a:srgbClr val="156082"/>
                </a:solidFill>
                <a:latin typeface="Avenir Book"/>
              </a:rPr>
              <a:t> M abstracts </a:t>
            </a:r>
            <a:r>
              <a:rPr lang="en-US" sz="1350" b="1" i="0" dirty="0">
                <a:solidFill>
                  <a:srgbClr val="156082"/>
                </a:solidFill>
                <a:latin typeface="Avenir Book"/>
              </a:rPr>
              <a:t>pr</a:t>
            </a:r>
            <a:r>
              <a:rPr lang="en-US" sz="1350" b="1" dirty="0">
                <a:solidFill>
                  <a:srgbClr val="156082"/>
                </a:solidFill>
                <a:latin typeface="Avenir Book"/>
              </a:rPr>
              <a:t>oduce a representation.</a:t>
            </a:r>
            <a:endParaRPr sz="135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4160520" cy="365760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no chemistry was taught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28800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LiFePO₄ cathodes show …”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304288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we anneal the CoSb₃ skutterudite 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779776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Bi₂Te₃ thermoelectric performance …”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83279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3.3 M materials-science abstracts
1.5 M used · word2vec · 200-D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80560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the only signal is which words co-occur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791" y="6204922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Tshitoyan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Nature 2019, 571, 95</a:t>
            </a:r>
          </a:p>
        </p:txBody>
      </p:sp>
      <p:pic>
        <p:nvPicPr>
          <p:cNvPr id="61" name="Picture 60" descr="Fig. 1: Word2vec skip-gram and analogies.">
            <a:extLst>
              <a:ext uri="{FF2B5EF4-FFF2-40B4-BE49-F238E27FC236}">
                <a16:creationId xmlns:a16="http://schemas.microsoft.com/office/drawing/2014/main" id="{D0297021-12B5-A83F-0542-4A462F6D6E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038"/>
          <a:stretch>
            <a:fillRect/>
          </a:stretch>
        </p:blipFill>
        <p:spPr>
          <a:xfrm>
            <a:off x="5682353" y="1194702"/>
            <a:ext cx="5025022" cy="38312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Autoencoders and VAEs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Compression as representation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Why a plain autoencoder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What VAEs are — and are not — good for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rapezoid 35"/>
          <p:cNvSpPr/>
          <p:nvPr/>
        </p:nvSpPr>
        <p:spPr>
          <a:xfrm rot="5400000">
            <a:off x="2708910" y="2431736"/>
            <a:ext cx="1737360" cy="141732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autoencoder: learn by rebuilding the 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225996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408176" y="2678624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8892" y="2863790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08176" y="3234122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087459" y="3234122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87459" y="2863790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87459" y="2678624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8176" y="2357669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9504" y="3234122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8892" y="2703312"/>
            <a:ext cx="277955" cy="160478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27937" y="2277431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7530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input  x</a:t>
            </a:r>
          </a:p>
        </p:txBody>
      </p:sp>
      <p:sp>
        <p:nvSpPr>
          <p:cNvPr id="19" name="Trapezoid 18"/>
          <p:cNvSpPr/>
          <p:nvPr/>
        </p:nvSpPr>
        <p:spPr>
          <a:xfrm rot="16200000">
            <a:off x="7264908" y="2431735"/>
            <a:ext cx="1737360" cy="141732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78608" y="29940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56432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32120" y="2783779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32120" y="300323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32120" y="322269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32120" y="344214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32120" y="366160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57800" y="2381444"/>
            <a:ext cx="1097280" cy="170078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32120" y="256432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532120" y="2783779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532120" y="300323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32120" y="322269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532120" y="344214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532120" y="366160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7800" y="411880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4551F"/>
                </a:solidFill>
                <a:latin typeface="Avenir Book"/>
              </a:rPr>
              <a:t>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29940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2225996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10945368" y="2678624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66084" y="2863790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945368" y="3234122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0624651" y="3234122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624651" y="2863790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624651" y="2678624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945368" y="2357669"/>
            <a:ext cx="0" cy="320955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346696" y="3234122"/>
            <a:ext cx="277955" cy="160477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266084" y="2703312"/>
            <a:ext cx="277955" cy="160478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04120" y="37530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output  x̂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04288" y="3140396"/>
            <a:ext cx="329184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62272" y="3140396"/>
            <a:ext cx="102412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327648" y="3140396"/>
            <a:ext cx="9326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070848" y="3140396"/>
            <a:ext cx="9875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08176" y="4118803"/>
            <a:ext cx="0" cy="1005841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945368" y="4118803"/>
            <a:ext cx="0" cy="1005841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08176" y="5124644"/>
            <a:ext cx="9537192" cy="0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846320" y="4905188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6320" y="4983484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1" i="0" dirty="0">
                <a:solidFill>
                  <a:srgbClr val="C0392B"/>
                </a:solidFill>
                <a:latin typeface="Avenir Book"/>
              </a:rPr>
              <a:t>Loss: </a:t>
            </a:r>
            <a:r>
              <a:rPr sz="1250" b="1" i="0" dirty="0">
                <a:solidFill>
                  <a:srgbClr val="C0392B"/>
                </a:solidFill>
                <a:latin typeface="Avenir Book"/>
              </a:rPr>
              <a:t>x̂ </a:t>
            </a:r>
            <a:r>
              <a:rPr lang="en-US" sz="1250" b="1" dirty="0">
                <a:solidFill>
                  <a:srgbClr val="C0392B"/>
                </a:solidFill>
                <a:latin typeface="Avenir Book"/>
              </a:rPr>
              <a:t>=</a:t>
            </a:r>
            <a:r>
              <a:rPr sz="1250" b="1" i="0" dirty="0">
                <a:solidFill>
                  <a:srgbClr val="C0392B"/>
                </a:solidFill>
                <a:latin typeface="Avenir Book"/>
              </a:rPr>
              <a:t> x</a:t>
            </a:r>
            <a:r>
              <a:rPr lang="en-US" sz="1250" b="1" i="0" dirty="0">
                <a:solidFill>
                  <a:srgbClr val="C0392B"/>
                </a:solidFill>
                <a:latin typeface="Avenir Book"/>
              </a:rPr>
              <a:t> ?</a:t>
            </a:r>
            <a:endParaRPr sz="1250" b="1" i="0" dirty="0">
              <a:solidFill>
                <a:srgbClr val="C0392B"/>
              </a:solidFill>
              <a:latin typeface="Avenir Book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498D791-8158-9142-9655-AABE25E4ACB2}"/>
              </a:ext>
            </a:extLst>
          </p:cNvPr>
          <p:cNvSpPr/>
          <p:nvPr/>
        </p:nvSpPr>
        <p:spPr>
          <a:xfrm>
            <a:off x="1903291" y="2636323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5A8BF88-E894-6424-CF31-062B3084590B}"/>
              </a:ext>
            </a:extLst>
          </p:cNvPr>
          <p:cNvSpPr/>
          <p:nvPr/>
        </p:nvSpPr>
        <p:spPr>
          <a:xfrm>
            <a:off x="740383" y="3323505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5FED526-EF2E-78D9-1BBF-1278A47A337B}"/>
              </a:ext>
            </a:extLst>
          </p:cNvPr>
          <p:cNvSpPr/>
          <p:nvPr/>
        </p:nvSpPr>
        <p:spPr>
          <a:xfrm>
            <a:off x="10865223" y="2265682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3B404F8-FE01-C451-97D0-7FD30386B833}"/>
              </a:ext>
            </a:extLst>
          </p:cNvPr>
          <p:cNvSpPr/>
          <p:nvPr/>
        </p:nvSpPr>
        <p:spPr>
          <a:xfrm>
            <a:off x="11449908" y="2624574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9537455-94EF-66F8-3525-274937A72119}"/>
              </a:ext>
            </a:extLst>
          </p:cNvPr>
          <p:cNvSpPr/>
          <p:nvPr/>
        </p:nvSpPr>
        <p:spPr>
          <a:xfrm>
            <a:off x="10287000" y="3293094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Compressing the representation 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4065" y="3725037"/>
            <a:ext cx="3529584" cy="2508656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4065" y="3871341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bottleneck too 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065" y="416394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is as big as 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257" y="3725037"/>
            <a:ext cx="3529584" cy="250865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6257" y="3871341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96B24"/>
                </a:solidFill>
                <a:latin typeface="Avenir Book"/>
              </a:rPr>
              <a:t>bottleneck just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6257" y="416394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≪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448" y="3725037"/>
            <a:ext cx="3529584" cy="2508656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448" y="3871341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bottleneck too 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48" y="416394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≈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6249" y="4481703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96249" y="4623435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96249" y="4765167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996249" y="4906899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996249" y="5048631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996249" y="5190363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996249" y="5332095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996249" y="5473827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996249" y="5615559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996249" y="5757291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96249" y="5899023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18440" y="4906899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18440" y="5048631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818440" y="5190363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818440" y="5332095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818440" y="5473827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40632" y="5190363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8DCEDDA8-D291-8817-EC01-B50AFBA9851D}"/>
              </a:ext>
            </a:extLst>
          </p:cNvPr>
          <p:cNvSpPr/>
          <p:nvPr/>
        </p:nvSpPr>
        <p:spPr>
          <a:xfrm rot="5400000">
            <a:off x="2649470" y="1544764"/>
            <a:ext cx="1737360" cy="141732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18EE586-E1FE-B278-02AD-CAED8EF2A957}"/>
              </a:ext>
            </a:extLst>
          </p:cNvPr>
          <p:cNvSpPr/>
          <p:nvPr/>
        </p:nvSpPr>
        <p:spPr>
          <a:xfrm>
            <a:off x="507488" y="1339024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7">
            <a:extLst>
              <a:ext uri="{FF2B5EF4-FFF2-40B4-BE49-F238E27FC236}">
                <a16:creationId xmlns:a16="http://schemas.microsoft.com/office/drawing/2014/main" id="{4C3A2A06-4B8A-FF95-BEFC-23B99D695660}"/>
              </a:ext>
            </a:extLst>
          </p:cNvPr>
          <p:cNvCxnSpPr/>
          <p:nvPr/>
        </p:nvCxnSpPr>
        <p:spPr>
          <a:xfrm>
            <a:off x="1348736" y="1791652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8">
            <a:extLst>
              <a:ext uri="{FF2B5EF4-FFF2-40B4-BE49-F238E27FC236}">
                <a16:creationId xmlns:a16="http://schemas.microsoft.com/office/drawing/2014/main" id="{0BB411EB-B3B0-E6F1-35FE-5AEBFDF8A611}"/>
              </a:ext>
            </a:extLst>
          </p:cNvPr>
          <p:cNvCxnSpPr/>
          <p:nvPr/>
        </p:nvCxnSpPr>
        <p:spPr>
          <a:xfrm>
            <a:off x="1669452" y="1976818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9">
            <a:extLst>
              <a:ext uri="{FF2B5EF4-FFF2-40B4-BE49-F238E27FC236}">
                <a16:creationId xmlns:a16="http://schemas.microsoft.com/office/drawing/2014/main" id="{E9783A3C-D53F-3663-EC1C-2FDFABEE502F}"/>
              </a:ext>
            </a:extLst>
          </p:cNvPr>
          <p:cNvCxnSpPr/>
          <p:nvPr/>
        </p:nvCxnSpPr>
        <p:spPr>
          <a:xfrm flipH="1">
            <a:off x="1348736" y="2347150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0">
            <a:extLst>
              <a:ext uri="{FF2B5EF4-FFF2-40B4-BE49-F238E27FC236}">
                <a16:creationId xmlns:a16="http://schemas.microsoft.com/office/drawing/2014/main" id="{466EF0F8-A4B2-16E6-0603-EC224390A7B5}"/>
              </a:ext>
            </a:extLst>
          </p:cNvPr>
          <p:cNvCxnSpPr/>
          <p:nvPr/>
        </p:nvCxnSpPr>
        <p:spPr>
          <a:xfrm flipH="1" flipV="1">
            <a:off x="1028019" y="2347150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1">
            <a:extLst>
              <a:ext uri="{FF2B5EF4-FFF2-40B4-BE49-F238E27FC236}">
                <a16:creationId xmlns:a16="http://schemas.microsoft.com/office/drawing/2014/main" id="{66E91295-809A-250E-73B8-6F271FDCBF21}"/>
              </a:ext>
            </a:extLst>
          </p:cNvPr>
          <p:cNvCxnSpPr/>
          <p:nvPr/>
        </p:nvCxnSpPr>
        <p:spPr>
          <a:xfrm flipV="1">
            <a:off x="1028019" y="1976818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12">
            <a:extLst>
              <a:ext uri="{FF2B5EF4-FFF2-40B4-BE49-F238E27FC236}">
                <a16:creationId xmlns:a16="http://schemas.microsoft.com/office/drawing/2014/main" id="{C1DDF9B7-43F5-9239-C54C-5FEAD080C6EC}"/>
              </a:ext>
            </a:extLst>
          </p:cNvPr>
          <p:cNvCxnSpPr/>
          <p:nvPr/>
        </p:nvCxnSpPr>
        <p:spPr>
          <a:xfrm flipV="1">
            <a:off x="1028019" y="1791652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13">
            <a:extLst>
              <a:ext uri="{FF2B5EF4-FFF2-40B4-BE49-F238E27FC236}">
                <a16:creationId xmlns:a16="http://schemas.microsoft.com/office/drawing/2014/main" id="{A06583A8-EF38-4499-B3A7-4D4117693FC1}"/>
              </a:ext>
            </a:extLst>
          </p:cNvPr>
          <p:cNvCxnSpPr/>
          <p:nvPr/>
        </p:nvCxnSpPr>
        <p:spPr>
          <a:xfrm flipV="1">
            <a:off x="1348736" y="1470697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14">
            <a:extLst>
              <a:ext uri="{FF2B5EF4-FFF2-40B4-BE49-F238E27FC236}">
                <a16:creationId xmlns:a16="http://schemas.microsoft.com/office/drawing/2014/main" id="{25DC7158-5B22-DD03-B830-8AEDC1C8DAA7}"/>
              </a:ext>
            </a:extLst>
          </p:cNvPr>
          <p:cNvCxnSpPr/>
          <p:nvPr/>
        </p:nvCxnSpPr>
        <p:spPr>
          <a:xfrm flipH="1">
            <a:off x="750064" y="2347150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5">
            <a:extLst>
              <a:ext uri="{FF2B5EF4-FFF2-40B4-BE49-F238E27FC236}">
                <a16:creationId xmlns:a16="http://schemas.microsoft.com/office/drawing/2014/main" id="{DE92E064-1AD8-FE1D-B5A3-70D106FF947E}"/>
              </a:ext>
            </a:extLst>
          </p:cNvPr>
          <p:cNvCxnSpPr/>
          <p:nvPr/>
        </p:nvCxnSpPr>
        <p:spPr>
          <a:xfrm flipV="1">
            <a:off x="1669452" y="1816340"/>
            <a:ext cx="277955" cy="160478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5C5DFC0B-2D82-E345-197C-1B66CAE4AA18}"/>
              </a:ext>
            </a:extLst>
          </p:cNvPr>
          <p:cNvSpPr/>
          <p:nvPr/>
        </p:nvSpPr>
        <p:spPr>
          <a:xfrm>
            <a:off x="1268497" y="1390459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F8E937-89BB-9D3F-5271-5DA850088B2E}"/>
              </a:ext>
            </a:extLst>
          </p:cNvPr>
          <p:cNvSpPr txBox="1"/>
          <p:nvPr/>
        </p:nvSpPr>
        <p:spPr>
          <a:xfrm>
            <a:off x="507488" y="28660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input  x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47F8DCC7-A53F-277A-8730-2F8ABC3B20D3}"/>
              </a:ext>
            </a:extLst>
          </p:cNvPr>
          <p:cNvSpPr/>
          <p:nvPr/>
        </p:nvSpPr>
        <p:spPr>
          <a:xfrm rot="16200000">
            <a:off x="7205468" y="1544763"/>
            <a:ext cx="1737360" cy="141732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BB63D1-DF74-7035-3774-FEB34134C279}"/>
              </a:ext>
            </a:extLst>
          </p:cNvPr>
          <p:cNvSpPr txBox="1"/>
          <p:nvPr/>
        </p:nvSpPr>
        <p:spPr>
          <a:xfrm>
            <a:off x="2519168" y="2107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B7D8C7F-C367-5DB8-16AE-7E66F6E1C76B}"/>
              </a:ext>
            </a:extLst>
          </p:cNvPr>
          <p:cNvSpPr/>
          <p:nvPr/>
        </p:nvSpPr>
        <p:spPr>
          <a:xfrm>
            <a:off x="5472680" y="167735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48C2E3F-D740-181C-4B09-31ECB209FEE6}"/>
              </a:ext>
            </a:extLst>
          </p:cNvPr>
          <p:cNvSpPr/>
          <p:nvPr/>
        </p:nvSpPr>
        <p:spPr>
          <a:xfrm>
            <a:off x="5472680" y="1896807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5D46DBD-ABBE-EB42-933D-4CE433D2F36F}"/>
              </a:ext>
            </a:extLst>
          </p:cNvPr>
          <p:cNvSpPr/>
          <p:nvPr/>
        </p:nvSpPr>
        <p:spPr>
          <a:xfrm>
            <a:off x="5472680" y="211626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CFFA317-979C-B644-4232-CF0917F2CBC1}"/>
              </a:ext>
            </a:extLst>
          </p:cNvPr>
          <p:cNvSpPr/>
          <p:nvPr/>
        </p:nvSpPr>
        <p:spPr>
          <a:xfrm>
            <a:off x="5472680" y="2335720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4A097AB-69EF-66D4-79A3-57C0B510ACFF}"/>
              </a:ext>
            </a:extLst>
          </p:cNvPr>
          <p:cNvSpPr/>
          <p:nvPr/>
        </p:nvSpPr>
        <p:spPr>
          <a:xfrm>
            <a:off x="5472680" y="255517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C20CC53-D81E-3D06-30B1-1544225748B6}"/>
              </a:ext>
            </a:extLst>
          </p:cNvPr>
          <p:cNvSpPr/>
          <p:nvPr/>
        </p:nvSpPr>
        <p:spPr>
          <a:xfrm>
            <a:off x="5472680" y="2774631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25E4629-9081-CB14-84B9-5B402D506F0C}"/>
              </a:ext>
            </a:extLst>
          </p:cNvPr>
          <p:cNvSpPr/>
          <p:nvPr/>
        </p:nvSpPr>
        <p:spPr>
          <a:xfrm>
            <a:off x="5198360" y="1494472"/>
            <a:ext cx="1097280" cy="170078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FF3ACEC-D3D7-A63F-E221-BA129794EFE5}"/>
              </a:ext>
            </a:extLst>
          </p:cNvPr>
          <p:cNvSpPr/>
          <p:nvPr/>
        </p:nvSpPr>
        <p:spPr>
          <a:xfrm>
            <a:off x="5472680" y="167735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7BA274A-756C-F26A-61DB-EC66644A6060}"/>
              </a:ext>
            </a:extLst>
          </p:cNvPr>
          <p:cNvSpPr/>
          <p:nvPr/>
        </p:nvSpPr>
        <p:spPr>
          <a:xfrm>
            <a:off x="5472680" y="1896807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1ED9393-DCA7-9FF4-930B-01F37BE18B3B}"/>
              </a:ext>
            </a:extLst>
          </p:cNvPr>
          <p:cNvSpPr/>
          <p:nvPr/>
        </p:nvSpPr>
        <p:spPr>
          <a:xfrm>
            <a:off x="5472680" y="211626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73D0E98-F2A6-39A8-5792-2AB18824FF07}"/>
              </a:ext>
            </a:extLst>
          </p:cNvPr>
          <p:cNvSpPr/>
          <p:nvPr/>
        </p:nvSpPr>
        <p:spPr>
          <a:xfrm>
            <a:off x="5472680" y="2335720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D1B082D-3569-C0FA-78FB-04772A04F0C4}"/>
              </a:ext>
            </a:extLst>
          </p:cNvPr>
          <p:cNvSpPr/>
          <p:nvPr/>
        </p:nvSpPr>
        <p:spPr>
          <a:xfrm>
            <a:off x="5472680" y="255517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8B29D9E-2D25-ECFB-EEC2-C20D024A20C1}"/>
              </a:ext>
            </a:extLst>
          </p:cNvPr>
          <p:cNvSpPr/>
          <p:nvPr/>
        </p:nvSpPr>
        <p:spPr>
          <a:xfrm>
            <a:off x="5472680" y="2774631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1D6992-33E6-FFAF-9EB3-7BD7B98F73B4}"/>
              </a:ext>
            </a:extLst>
          </p:cNvPr>
          <p:cNvSpPr txBox="1"/>
          <p:nvPr/>
        </p:nvSpPr>
        <p:spPr>
          <a:xfrm>
            <a:off x="7146032" y="2107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5E708D9-27B9-2FB4-B432-DC3A32BFA6EA}"/>
              </a:ext>
            </a:extLst>
          </p:cNvPr>
          <p:cNvSpPr/>
          <p:nvPr/>
        </p:nvSpPr>
        <p:spPr>
          <a:xfrm>
            <a:off x="10044680" y="1339024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38">
            <a:extLst>
              <a:ext uri="{FF2B5EF4-FFF2-40B4-BE49-F238E27FC236}">
                <a16:creationId xmlns:a16="http://schemas.microsoft.com/office/drawing/2014/main" id="{4D2AC2F8-8451-BA3D-F400-49AAC1A6062C}"/>
              </a:ext>
            </a:extLst>
          </p:cNvPr>
          <p:cNvCxnSpPr/>
          <p:nvPr/>
        </p:nvCxnSpPr>
        <p:spPr>
          <a:xfrm>
            <a:off x="10885928" y="1791652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39">
            <a:extLst>
              <a:ext uri="{FF2B5EF4-FFF2-40B4-BE49-F238E27FC236}">
                <a16:creationId xmlns:a16="http://schemas.microsoft.com/office/drawing/2014/main" id="{BF0A29DF-FB69-9582-30CC-DDB0AA65E5D8}"/>
              </a:ext>
            </a:extLst>
          </p:cNvPr>
          <p:cNvCxnSpPr/>
          <p:nvPr/>
        </p:nvCxnSpPr>
        <p:spPr>
          <a:xfrm>
            <a:off x="11206644" y="1976818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40">
            <a:extLst>
              <a:ext uri="{FF2B5EF4-FFF2-40B4-BE49-F238E27FC236}">
                <a16:creationId xmlns:a16="http://schemas.microsoft.com/office/drawing/2014/main" id="{EFDBAC30-724E-164F-382E-0852E2E030AA}"/>
              </a:ext>
            </a:extLst>
          </p:cNvPr>
          <p:cNvCxnSpPr/>
          <p:nvPr/>
        </p:nvCxnSpPr>
        <p:spPr>
          <a:xfrm flipH="1">
            <a:off x="10885928" y="2347150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41">
            <a:extLst>
              <a:ext uri="{FF2B5EF4-FFF2-40B4-BE49-F238E27FC236}">
                <a16:creationId xmlns:a16="http://schemas.microsoft.com/office/drawing/2014/main" id="{11E21D9F-AC28-F98E-952F-5A19B8A3EE94}"/>
              </a:ext>
            </a:extLst>
          </p:cNvPr>
          <p:cNvCxnSpPr/>
          <p:nvPr/>
        </p:nvCxnSpPr>
        <p:spPr>
          <a:xfrm flipH="1" flipV="1">
            <a:off x="10565211" y="2347150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42">
            <a:extLst>
              <a:ext uri="{FF2B5EF4-FFF2-40B4-BE49-F238E27FC236}">
                <a16:creationId xmlns:a16="http://schemas.microsoft.com/office/drawing/2014/main" id="{2B54BBBE-1E15-EF2D-9808-557D360F44CC}"/>
              </a:ext>
            </a:extLst>
          </p:cNvPr>
          <p:cNvCxnSpPr/>
          <p:nvPr/>
        </p:nvCxnSpPr>
        <p:spPr>
          <a:xfrm flipV="1">
            <a:off x="10565211" y="1976818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3">
            <a:extLst>
              <a:ext uri="{FF2B5EF4-FFF2-40B4-BE49-F238E27FC236}">
                <a16:creationId xmlns:a16="http://schemas.microsoft.com/office/drawing/2014/main" id="{1CB36768-71B6-C9E2-1635-8B17DBB2392B}"/>
              </a:ext>
            </a:extLst>
          </p:cNvPr>
          <p:cNvCxnSpPr/>
          <p:nvPr/>
        </p:nvCxnSpPr>
        <p:spPr>
          <a:xfrm flipV="1">
            <a:off x="10565211" y="1791652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44">
            <a:extLst>
              <a:ext uri="{FF2B5EF4-FFF2-40B4-BE49-F238E27FC236}">
                <a16:creationId xmlns:a16="http://schemas.microsoft.com/office/drawing/2014/main" id="{CBB1A3B0-C790-8F75-7A04-C4265D619F9F}"/>
              </a:ext>
            </a:extLst>
          </p:cNvPr>
          <p:cNvCxnSpPr/>
          <p:nvPr/>
        </p:nvCxnSpPr>
        <p:spPr>
          <a:xfrm flipV="1">
            <a:off x="10885928" y="1470697"/>
            <a:ext cx="0" cy="320955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45">
            <a:extLst>
              <a:ext uri="{FF2B5EF4-FFF2-40B4-BE49-F238E27FC236}">
                <a16:creationId xmlns:a16="http://schemas.microsoft.com/office/drawing/2014/main" id="{8A46FAF5-F749-3315-0507-0DA515178860}"/>
              </a:ext>
            </a:extLst>
          </p:cNvPr>
          <p:cNvCxnSpPr/>
          <p:nvPr/>
        </p:nvCxnSpPr>
        <p:spPr>
          <a:xfrm flipH="1">
            <a:off x="10287256" y="2347150"/>
            <a:ext cx="277955" cy="160477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46">
            <a:extLst>
              <a:ext uri="{FF2B5EF4-FFF2-40B4-BE49-F238E27FC236}">
                <a16:creationId xmlns:a16="http://schemas.microsoft.com/office/drawing/2014/main" id="{8E91EC71-D8CC-F57D-888B-F22FF0E00D9C}"/>
              </a:ext>
            </a:extLst>
          </p:cNvPr>
          <p:cNvCxnSpPr/>
          <p:nvPr/>
        </p:nvCxnSpPr>
        <p:spPr>
          <a:xfrm flipV="1">
            <a:off x="11206644" y="1816340"/>
            <a:ext cx="277955" cy="160478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3F3CF60-00C4-CF9E-2FA7-D868A55B1C80}"/>
              </a:ext>
            </a:extLst>
          </p:cNvPr>
          <p:cNvSpPr txBox="1"/>
          <p:nvPr/>
        </p:nvSpPr>
        <p:spPr>
          <a:xfrm>
            <a:off x="10044680" y="28660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output  x̂</a:t>
            </a:r>
          </a:p>
        </p:txBody>
      </p:sp>
      <p:cxnSp>
        <p:nvCxnSpPr>
          <p:cNvPr id="76" name="Connector 48">
            <a:extLst>
              <a:ext uri="{FF2B5EF4-FFF2-40B4-BE49-F238E27FC236}">
                <a16:creationId xmlns:a16="http://schemas.microsoft.com/office/drawing/2014/main" id="{61503FA9-2CF4-80C2-92B1-03546EFEC82F}"/>
              </a:ext>
            </a:extLst>
          </p:cNvPr>
          <p:cNvCxnSpPr/>
          <p:nvPr/>
        </p:nvCxnSpPr>
        <p:spPr>
          <a:xfrm>
            <a:off x="2244848" y="2253424"/>
            <a:ext cx="329184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49">
            <a:extLst>
              <a:ext uri="{FF2B5EF4-FFF2-40B4-BE49-F238E27FC236}">
                <a16:creationId xmlns:a16="http://schemas.microsoft.com/office/drawing/2014/main" id="{425DC162-F4A3-60D7-3954-D9E333AC4F9B}"/>
              </a:ext>
            </a:extLst>
          </p:cNvPr>
          <p:cNvCxnSpPr/>
          <p:nvPr/>
        </p:nvCxnSpPr>
        <p:spPr>
          <a:xfrm>
            <a:off x="4402832" y="2253424"/>
            <a:ext cx="102412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50">
            <a:extLst>
              <a:ext uri="{FF2B5EF4-FFF2-40B4-BE49-F238E27FC236}">
                <a16:creationId xmlns:a16="http://schemas.microsoft.com/office/drawing/2014/main" id="{A2848DE8-0589-D051-1FA3-E1807720582A}"/>
              </a:ext>
            </a:extLst>
          </p:cNvPr>
          <p:cNvCxnSpPr/>
          <p:nvPr/>
        </p:nvCxnSpPr>
        <p:spPr>
          <a:xfrm>
            <a:off x="6268208" y="2253424"/>
            <a:ext cx="9326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51">
            <a:extLst>
              <a:ext uri="{FF2B5EF4-FFF2-40B4-BE49-F238E27FC236}">
                <a16:creationId xmlns:a16="http://schemas.microsoft.com/office/drawing/2014/main" id="{189EB9AD-798D-4A1E-A4AB-21ACE1EFDB00}"/>
              </a:ext>
            </a:extLst>
          </p:cNvPr>
          <p:cNvCxnSpPr/>
          <p:nvPr/>
        </p:nvCxnSpPr>
        <p:spPr>
          <a:xfrm>
            <a:off x="9011408" y="2253424"/>
            <a:ext cx="9875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12220D07-D339-DC26-C4A3-54ACF15B94DE}"/>
              </a:ext>
            </a:extLst>
          </p:cNvPr>
          <p:cNvSpPr/>
          <p:nvPr/>
        </p:nvSpPr>
        <p:spPr>
          <a:xfrm>
            <a:off x="1843851" y="1749351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3FDA9A3-B2AC-8F6D-3452-D55861636145}"/>
              </a:ext>
            </a:extLst>
          </p:cNvPr>
          <p:cNvSpPr/>
          <p:nvPr/>
        </p:nvSpPr>
        <p:spPr>
          <a:xfrm>
            <a:off x="680943" y="2436533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CE4B3A5-A4C2-90E9-9026-DAB2A3DE7224}"/>
              </a:ext>
            </a:extLst>
          </p:cNvPr>
          <p:cNvSpPr/>
          <p:nvPr/>
        </p:nvSpPr>
        <p:spPr>
          <a:xfrm>
            <a:off x="10805783" y="1378710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09470C0-8A44-D48F-CE0C-530C8AECA1FC}"/>
              </a:ext>
            </a:extLst>
          </p:cNvPr>
          <p:cNvSpPr/>
          <p:nvPr/>
        </p:nvSpPr>
        <p:spPr>
          <a:xfrm>
            <a:off x="11390468" y="1737602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242D916-90F7-6B1E-02E0-9DC6949CFBAD}"/>
              </a:ext>
            </a:extLst>
          </p:cNvPr>
          <p:cNvSpPr/>
          <p:nvPr/>
        </p:nvSpPr>
        <p:spPr>
          <a:xfrm>
            <a:off x="10227560" y="2406122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The problem: a plain autoencoder learns islands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27090"/>
            <a:ext cx="534924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45961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20242E"/>
                </a:solidFill>
                <a:latin typeface="Avenir Book"/>
              </a:rPr>
              <a:t>A</a:t>
            </a:r>
            <a:r>
              <a:rPr sz="1150" b="1" i="0" dirty="0">
                <a:solidFill>
                  <a:srgbClr val="20242E"/>
                </a:solidFill>
                <a:latin typeface="Avenir Book"/>
              </a:rPr>
              <a:t>utoencoder latent space</a:t>
            </a:r>
          </a:p>
        </p:txBody>
      </p:sp>
      <p:sp>
        <p:nvSpPr>
          <p:cNvPr id="9" name="Oval 8"/>
          <p:cNvSpPr/>
          <p:nvPr/>
        </p:nvSpPr>
        <p:spPr>
          <a:xfrm>
            <a:off x="1854436" y="286912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1473" y="320675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91471" y="292209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63234" y="311489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7156" y="302361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90781" y="303584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45878" y="304782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09048" y="293763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79520" y="308602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124041" y="288329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2937" y="326757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872920" y="285352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38273" y="301823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9077" y="320291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73348" y="282655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914643" y="264978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12458" y="286779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4101" y="297459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08286" y="272261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21004" y="292757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96829" y="274989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40786" y="282048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10893" y="274308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805668" y="270786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972945" y="290372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02537" y="276148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901226" y="26491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128303" y="30815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74450" y="438726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53044" y="390042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66596" y="398896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652938" y="428715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854452" y="420313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535294" y="396474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555143" y="411061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012338" y="392014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993662" y="429869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31416" y="428652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415629" y="420617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732553" y="391146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960014" y="393629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531754" y="404103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25152" y="422224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651777" y="444224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315110" y="416919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805420" y="438140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651227" y="438895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810823" y="420083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343165" y="418267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344502" y="416353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509682" y="440713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772953" y="412456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278491" y="422330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651330" y="40505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675522" y="440419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465851" y="398517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454184" y="449722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725855" y="435635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20187" y="440836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313700" y="457004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681469" y="455968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42374" y="439748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411513" y="466405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211890" y="43176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510972" y="43128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681828" y="440558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82971" y="451688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278337" y="42282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399418" y="436051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390455" y="439700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926079" y="3473010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871215" y="318040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82112" y="3436433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venir Book"/>
              </a:rPr>
              <a:t>sample here…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053328" y="3381570"/>
            <a:ext cx="713232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89320" y="303409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0392B"/>
                </a:solidFill>
                <a:latin typeface="Avenir Book"/>
              </a:rPr>
              <a:t>decode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49440" y="1827090"/>
            <a:ext cx="4681728" cy="361188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78040" y="1945961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what comes out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23760" y="2394018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C1=CC=CC=C1C(=O)N(C)(C)(C)C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28832" y="243059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23760" y="2851218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c1ccc2cc(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28832" y="288779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223760" y="3308418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CC(C)(C)(C)(C)C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28832" y="334499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223760" y="3765618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N#N#N=O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28832" y="380219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23760" y="4222818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C1CC1CC1CC1CC…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28832" y="425939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78040" y="503663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venir Book"/>
              </a:rPr>
              <a:t>invalid, unparseable, or chemically absurd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VAE in one idea: encode a cloud, not a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754510"/>
            <a:ext cx="5358384" cy="35204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882525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250" b="1" i="0" dirty="0">
                <a:solidFill>
                  <a:srgbClr val="6E7480"/>
                </a:solidFill>
                <a:latin typeface="Avenir Book"/>
              </a:rPr>
              <a:t>A</a:t>
            </a:r>
            <a:r>
              <a:rPr sz="1250" b="1" i="0" dirty="0">
                <a:solidFill>
                  <a:srgbClr val="6E7480"/>
                </a:solidFill>
                <a:latin typeface="Avenir Book"/>
              </a:rPr>
              <a:t>utoencoder</a:t>
            </a:r>
            <a:r>
              <a:rPr lang="en-US" sz="1250" b="1" i="0" dirty="0">
                <a:solidFill>
                  <a:srgbClr val="6E7480"/>
                </a:solidFill>
                <a:latin typeface="Avenir Book"/>
              </a:rPr>
              <a:t> (AE)</a:t>
            </a:r>
            <a:r>
              <a:rPr sz="1250" b="1" i="0" dirty="0">
                <a:solidFill>
                  <a:srgbClr val="6E7480"/>
                </a:solidFill>
                <a:latin typeface="Avenir Book"/>
              </a:rPr>
              <a:t>: x → one 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7" y="3039242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08811" y="319697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35607" y="3512444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1162404" y="3512444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62404" y="319697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62404" y="3039242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35607" y="2765836"/>
            <a:ext cx="0" cy="273406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25628" y="3512444"/>
            <a:ext cx="236776" cy="136702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29968" y="3354710"/>
            <a:ext cx="685800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986783" y="3254126"/>
            <a:ext cx="201168" cy="20116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33672" y="302552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54510"/>
            <a:ext cx="5358384" cy="35204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1882525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VAE: x → a small cloud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41464" y="3039242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14667" y="319697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141464" y="3512444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868260" y="3512444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68260" y="319697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68260" y="3039242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41464" y="2765836"/>
            <a:ext cx="0" cy="273406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631484" y="3512444"/>
            <a:ext cx="236776" cy="136702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35824" y="3354710"/>
            <a:ext cx="685800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79992" y="2787782"/>
            <a:ext cx="1426464" cy="1133856"/>
          </a:xfrm>
          <a:prstGeom prst="ellipse">
            <a:avLst/>
          </a:prstGeom>
          <a:solidFill>
            <a:srgbClr val="EC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17736" y="2979806"/>
            <a:ext cx="950976" cy="749808"/>
          </a:xfrm>
          <a:prstGeom prst="ellipse">
            <a:avLst/>
          </a:prstGeom>
          <a:solidFill>
            <a:srgbClr val="D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555480" y="3162686"/>
            <a:ext cx="475488" cy="3840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0072" y="3281558"/>
            <a:ext cx="146304" cy="14630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8884" y="3505586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62972" y="3048386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852660" y="3670178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468612" y="2993522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41664" y="413195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56082"/>
                </a:solidFill>
                <a:latin typeface="Avenir Book"/>
              </a:rPr>
              <a:t>mean  +  spread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Two forces, and a dial between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β is the whole design decision.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Too small and you are back to islands; too large and the decoder ignores z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44751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4551F"/>
                </a:solidFill>
                <a:latin typeface="Avenir Book"/>
              </a:rPr>
              <a:t>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“keep every molecule distinguishable”</a:t>
            </a:r>
          </a:p>
        </p:txBody>
      </p:sp>
      <p:sp>
        <p:nvSpPr>
          <p:cNvPr id="10" name="Oval 9"/>
          <p:cNvSpPr/>
          <p:nvPr/>
        </p:nvSpPr>
        <p:spPr>
          <a:xfrm>
            <a:off x="1050350" y="232609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71104" y="2119163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598" y="231429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54831" y="243613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45579" y="227054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0833" y="23625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1650" y="237573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284889" y="263360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68967" y="2300105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383133" y="240824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25739" y="23497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00666" y="254373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241561" y="252657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50747" y="258161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94163" y="344144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03915" y="3532085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98576" y="3547783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09551" y="351611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574922" y="353468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644968" y="33750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45798" y="347409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60500" y="356189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865745" y="348786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839136" y="356862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904770" y="3416211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837294" y="335493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878409" y="3497901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044361" y="371940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43068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4551F"/>
                </a:solidFill>
                <a:latin typeface="Avenir Book"/>
              </a:rPr>
              <a:t>pushes clouds APART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5628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→ islands and holes come 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167128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30428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the VAE 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265176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reconstruct  +  β × stay-organised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840480" y="2779776"/>
            <a:ext cx="420624" cy="0"/>
          </a:xfrm>
          <a:prstGeom prst="line">
            <a:avLst/>
          </a:prstGeom>
          <a:ln w="30480">
            <a:solidFill>
              <a:srgbClr val="B455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36992" y="2779776"/>
            <a:ext cx="420624" cy="0"/>
          </a:xfrm>
          <a:prstGeom prst="line">
            <a:avLst/>
          </a:prstGeom>
          <a:ln w="3048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019288" y="1298448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19288" y="1444751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REGULARISATION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7" y="17373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“all clouds should look like one blob”</a:t>
            </a:r>
          </a:p>
        </p:txBody>
      </p:sp>
      <p:sp>
        <p:nvSpPr>
          <p:cNvPr id="50" name="Oval 49"/>
          <p:cNvSpPr/>
          <p:nvPr/>
        </p:nvSpPr>
        <p:spPr>
          <a:xfrm>
            <a:off x="8659368" y="2066544"/>
            <a:ext cx="2340864" cy="1828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465444" y="249771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121852" y="33242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513149" y="276062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845499" y="275600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199226" y="24986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033026" y="317449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818465" y="258351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407854" y="310385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692997" y="299926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691810" y="282337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87669" y="299526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510648" y="301955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335268" y="263697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892719" y="339533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116256" y="283481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237133" y="254882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564156" y="30235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208777" y="32676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372991" y="33761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164911" y="35565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640942" y="285454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735554" y="310119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896184" y="328002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447890" y="249213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0667410" y="295599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329404" y="288360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543958" y="241225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194601" y="302730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647378" y="331879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229052" y="267135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677615" y="246298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86510" y="27036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423295" y="349827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796337" y="228335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19288" y="43068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pulls clouds TOGETHER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19288" y="45628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→ one smooth space you can sample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Attempt to build a ”continuous” molecular space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7" y="1895551"/>
            <a:ext cx="11058113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1" y="2928822"/>
            <a:ext cx="950976" cy="950976"/>
          </a:xfrm>
          <a:prstGeom prst="ellipse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234439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72007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34439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96870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6870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6870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4439" y="2892247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90978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5003" y="2832811"/>
            <a:ext cx="118872" cy="11887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783079" y="3404310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697479" y="2928822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3172967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10535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72967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935398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35398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35398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72967" y="3678630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10535" y="3148279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21607" y="3404310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636007" y="2928822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111495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9063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111495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873926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73926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73926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11495" y="2892247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668034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60135" y="3404310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574535" y="2928822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7050022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87591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050022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6812454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812454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812454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50022" y="3678630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87591" y="3148279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287591" y="3148279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98662" y="3404310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513063" y="2928822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8988551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26119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988551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8750982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750982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50982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988551" y="2892247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545090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26119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37191" y="3404310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451591" y="2928822"/>
            <a:ext cx="950976" cy="950976"/>
          </a:xfrm>
          <a:prstGeom prst="ellipse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10927079" y="3129991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164647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0927079" y="3541470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0689510" y="3541470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689510" y="3267150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689510" y="3129991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927079" y="3678630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164647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164647" y="3541470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67643" y="3856938"/>
            <a:ext cx="118872" cy="118872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199" y="4117543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start molecule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39" y="4117543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target molecule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234439" y="4501591"/>
            <a:ext cx="9692640" cy="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175003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113531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052058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990586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929115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867643" y="4442154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60119" y="4611319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z₀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52758" y="4611319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z₁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62B8391-6AC8-6225-1257-780C90779CEF}"/>
              </a:ext>
            </a:extLst>
          </p:cNvPr>
          <p:cNvSpPr/>
          <p:nvPr/>
        </p:nvSpPr>
        <p:spPr>
          <a:xfrm>
            <a:off x="722550" y="3600906"/>
            <a:ext cx="118872" cy="1188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5C9FB35-6A02-2E60-933D-8FD70CBCA9A2}"/>
              </a:ext>
            </a:extLst>
          </p:cNvPr>
          <p:cNvSpPr/>
          <p:nvPr/>
        </p:nvSpPr>
        <p:spPr>
          <a:xfrm>
            <a:off x="3549355" y="3089382"/>
            <a:ext cx="118872" cy="1188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BA64F1B-AF80-DF5C-BB72-0AEADCF6D1E3}"/>
              </a:ext>
            </a:extLst>
          </p:cNvPr>
          <p:cNvSpPr/>
          <p:nvPr/>
        </p:nvSpPr>
        <p:spPr>
          <a:xfrm>
            <a:off x="3113531" y="3840934"/>
            <a:ext cx="118872" cy="1188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ABD3B22-0FF8-61E0-D569-EEAF663F7721}"/>
              </a:ext>
            </a:extLst>
          </p:cNvPr>
          <p:cNvSpPr/>
          <p:nvPr/>
        </p:nvSpPr>
        <p:spPr>
          <a:xfrm>
            <a:off x="4603979" y="3591762"/>
            <a:ext cx="118872" cy="1188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A9E95E6-7346-817C-BBFA-E5B9733608F0}"/>
              </a:ext>
            </a:extLst>
          </p:cNvPr>
          <p:cNvSpPr/>
          <p:nvPr/>
        </p:nvSpPr>
        <p:spPr>
          <a:xfrm>
            <a:off x="5052058" y="2827431"/>
            <a:ext cx="118872" cy="118872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ED5AF1C-01E6-7E94-D406-CE00E560A596}"/>
              </a:ext>
            </a:extLst>
          </p:cNvPr>
          <p:cNvSpPr/>
          <p:nvPr/>
        </p:nvSpPr>
        <p:spPr>
          <a:xfrm>
            <a:off x="7438378" y="3088842"/>
            <a:ext cx="118872" cy="118872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90E0218-FAAF-7A82-3734-AE7AD4FB6C15}"/>
              </a:ext>
            </a:extLst>
          </p:cNvPr>
          <p:cNvSpPr/>
          <p:nvPr/>
        </p:nvSpPr>
        <p:spPr>
          <a:xfrm>
            <a:off x="6990586" y="3847658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D0B9861-11EA-6840-76EB-EFCDE873A9A0}"/>
              </a:ext>
            </a:extLst>
          </p:cNvPr>
          <p:cNvSpPr/>
          <p:nvPr/>
        </p:nvSpPr>
        <p:spPr>
          <a:xfrm>
            <a:off x="8929115" y="2851099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337CE00-3B8F-317D-BB74-8CB7E4B9E780}"/>
              </a:ext>
            </a:extLst>
          </p:cNvPr>
          <p:cNvSpPr/>
          <p:nvPr/>
        </p:nvSpPr>
        <p:spPr>
          <a:xfrm>
            <a:off x="8494593" y="3602251"/>
            <a:ext cx="118872" cy="118872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1B97E86-8796-5DB1-3192-0B9155DFE477}"/>
              </a:ext>
            </a:extLst>
          </p:cNvPr>
          <p:cNvSpPr/>
          <p:nvPr/>
        </p:nvSpPr>
        <p:spPr>
          <a:xfrm>
            <a:off x="9361181" y="3604400"/>
            <a:ext cx="118872" cy="118872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D86BB41-A9C9-CED0-320B-3D67373D2C3C}"/>
              </a:ext>
            </a:extLst>
          </p:cNvPr>
          <p:cNvSpPr/>
          <p:nvPr/>
        </p:nvSpPr>
        <p:spPr>
          <a:xfrm>
            <a:off x="11323288" y="3619220"/>
            <a:ext cx="118872" cy="118872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57">
            <a:extLst>
              <a:ext uri="{FF2B5EF4-FFF2-40B4-BE49-F238E27FC236}">
                <a16:creationId xmlns:a16="http://schemas.microsoft.com/office/drawing/2014/main" id="{8915BE02-D0DC-82AA-8453-406F6438B0F7}"/>
              </a:ext>
            </a:extLst>
          </p:cNvPr>
          <p:cNvCxnSpPr/>
          <p:nvPr/>
        </p:nvCxnSpPr>
        <p:spPr>
          <a:xfrm flipV="1">
            <a:off x="10927079" y="2910535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B7F8CC60-4C6B-1565-175B-5662C3675874}"/>
              </a:ext>
            </a:extLst>
          </p:cNvPr>
          <p:cNvSpPr/>
          <p:nvPr/>
        </p:nvSpPr>
        <p:spPr>
          <a:xfrm>
            <a:off x="10867643" y="2854299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Solving the Validity Issue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32450"/>
              </p:ext>
            </p:extLst>
          </p:nvPr>
        </p:nvGraphicFramePr>
        <p:xfrm>
          <a:off x="1013533" y="3244805"/>
          <a:ext cx="9738360" cy="2953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958584" y="3299669"/>
            <a:ext cx="3465576" cy="0"/>
          </a:xfrm>
          <a:prstGeom prst="line">
            <a:avLst/>
          </a:prstGeom>
          <a:ln w="2540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38544" y="2970485"/>
            <a:ext cx="410565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by construction, not by learning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3299669"/>
            <a:ext cx="5038344" cy="0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45920" y="2970485"/>
            <a:ext cx="50383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6E7480"/>
                </a:solidFill>
                <a:latin typeface="Avenir Book"/>
              </a:rPr>
              <a:t>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28" y="6209574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Jin, Barzilay &amp; Jaakkola, ICML 2018, Table 1 · Krenn et al., Mach. Learn.: Sci. Technol. 2020, 1, 045024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66FE035-3D31-B484-8596-693C76DF8502}"/>
              </a:ext>
            </a:extLst>
          </p:cNvPr>
          <p:cNvSpPr/>
          <p:nvPr/>
        </p:nvSpPr>
        <p:spPr>
          <a:xfrm rot="5400000">
            <a:off x="2665369" y="1232486"/>
            <a:ext cx="1737360" cy="141732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12C444-9570-95B2-501B-C8D30E43F9D1}"/>
              </a:ext>
            </a:extLst>
          </p:cNvPr>
          <p:cNvSpPr/>
          <p:nvPr/>
        </p:nvSpPr>
        <p:spPr>
          <a:xfrm>
            <a:off x="523387" y="1026746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7">
            <a:extLst>
              <a:ext uri="{FF2B5EF4-FFF2-40B4-BE49-F238E27FC236}">
                <a16:creationId xmlns:a16="http://schemas.microsoft.com/office/drawing/2014/main" id="{F2BB63C7-0633-502B-F7BD-CC65849C70A6}"/>
              </a:ext>
            </a:extLst>
          </p:cNvPr>
          <p:cNvCxnSpPr>
            <a:cxnSpLocks/>
          </p:cNvCxnSpPr>
          <p:nvPr/>
        </p:nvCxnSpPr>
        <p:spPr>
          <a:xfrm>
            <a:off x="1364635" y="1479374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8">
            <a:extLst>
              <a:ext uri="{FF2B5EF4-FFF2-40B4-BE49-F238E27FC236}">
                <a16:creationId xmlns:a16="http://schemas.microsoft.com/office/drawing/2014/main" id="{32660E56-AC7F-B47D-FDD8-F4435293A708}"/>
              </a:ext>
            </a:extLst>
          </p:cNvPr>
          <p:cNvCxnSpPr>
            <a:cxnSpLocks/>
          </p:cNvCxnSpPr>
          <p:nvPr/>
        </p:nvCxnSpPr>
        <p:spPr>
          <a:xfrm>
            <a:off x="1685351" y="1664540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9">
            <a:extLst>
              <a:ext uri="{FF2B5EF4-FFF2-40B4-BE49-F238E27FC236}">
                <a16:creationId xmlns:a16="http://schemas.microsoft.com/office/drawing/2014/main" id="{21A09817-0738-0D47-A794-FFEC3EEB2DFC}"/>
              </a:ext>
            </a:extLst>
          </p:cNvPr>
          <p:cNvCxnSpPr>
            <a:cxnSpLocks/>
          </p:cNvCxnSpPr>
          <p:nvPr/>
        </p:nvCxnSpPr>
        <p:spPr>
          <a:xfrm flipH="1">
            <a:off x="1364635" y="2034872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0">
            <a:extLst>
              <a:ext uri="{FF2B5EF4-FFF2-40B4-BE49-F238E27FC236}">
                <a16:creationId xmlns:a16="http://schemas.microsoft.com/office/drawing/2014/main" id="{6AEAED32-CD33-1334-C568-DE425B9D977A}"/>
              </a:ext>
            </a:extLst>
          </p:cNvPr>
          <p:cNvCxnSpPr>
            <a:cxnSpLocks/>
          </p:cNvCxnSpPr>
          <p:nvPr/>
        </p:nvCxnSpPr>
        <p:spPr>
          <a:xfrm flipH="1" flipV="1">
            <a:off x="1043918" y="2034872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1">
            <a:extLst>
              <a:ext uri="{FF2B5EF4-FFF2-40B4-BE49-F238E27FC236}">
                <a16:creationId xmlns:a16="http://schemas.microsoft.com/office/drawing/2014/main" id="{F85757CF-5A0A-372E-40E4-29E16D068670}"/>
              </a:ext>
            </a:extLst>
          </p:cNvPr>
          <p:cNvCxnSpPr>
            <a:cxnSpLocks/>
          </p:cNvCxnSpPr>
          <p:nvPr/>
        </p:nvCxnSpPr>
        <p:spPr>
          <a:xfrm flipV="1">
            <a:off x="1043918" y="1664540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2">
            <a:extLst>
              <a:ext uri="{FF2B5EF4-FFF2-40B4-BE49-F238E27FC236}">
                <a16:creationId xmlns:a16="http://schemas.microsoft.com/office/drawing/2014/main" id="{E8627D00-D477-D9A9-448C-A1CFC2DFB267}"/>
              </a:ext>
            </a:extLst>
          </p:cNvPr>
          <p:cNvCxnSpPr>
            <a:cxnSpLocks/>
          </p:cNvCxnSpPr>
          <p:nvPr/>
        </p:nvCxnSpPr>
        <p:spPr>
          <a:xfrm flipV="1">
            <a:off x="1043918" y="1479374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3">
            <a:extLst>
              <a:ext uri="{FF2B5EF4-FFF2-40B4-BE49-F238E27FC236}">
                <a16:creationId xmlns:a16="http://schemas.microsoft.com/office/drawing/2014/main" id="{0806513B-AD26-3FCD-6252-E1DEEAE2EDA5}"/>
              </a:ext>
            </a:extLst>
          </p:cNvPr>
          <p:cNvCxnSpPr>
            <a:cxnSpLocks/>
          </p:cNvCxnSpPr>
          <p:nvPr/>
        </p:nvCxnSpPr>
        <p:spPr>
          <a:xfrm flipV="1">
            <a:off x="1364635" y="1158419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4">
            <a:extLst>
              <a:ext uri="{FF2B5EF4-FFF2-40B4-BE49-F238E27FC236}">
                <a16:creationId xmlns:a16="http://schemas.microsoft.com/office/drawing/2014/main" id="{6676A423-D625-4A91-9248-628732EB10B2}"/>
              </a:ext>
            </a:extLst>
          </p:cNvPr>
          <p:cNvCxnSpPr>
            <a:cxnSpLocks/>
          </p:cNvCxnSpPr>
          <p:nvPr/>
        </p:nvCxnSpPr>
        <p:spPr>
          <a:xfrm flipH="1">
            <a:off x="765963" y="2034872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5">
            <a:extLst>
              <a:ext uri="{FF2B5EF4-FFF2-40B4-BE49-F238E27FC236}">
                <a16:creationId xmlns:a16="http://schemas.microsoft.com/office/drawing/2014/main" id="{2C027EA0-8574-B200-227D-9A1A2D5BED99}"/>
              </a:ext>
            </a:extLst>
          </p:cNvPr>
          <p:cNvCxnSpPr>
            <a:cxnSpLocks/>
          </p:cNvCxnSpPr>
          <p:nvPr/>
        </p:nvCxnSpPr>
        <p:spPr>
          <a:xfrm flipV="1">
            <a:off x="1685351" y="1504062"/>
            <a:ext cx="277955" cy="160478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09265A2-C34F-0245-A1F3-2B9D6C142968}"/>
              </a:ext>
            </a:extLst>
          </p:cNvPr>
          <p:cNvSpPr/>
          <p:nvPr/>
        </p:nvSpPr>
        <p:spPr>
          <a:xfrm>
            <a:off x="1284396" y="1078181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9E037-F573-9783-C93C-9041E9336240}"/>
              </a:ext>
            </a:extLst>
          </p:cNvPr>
          <p:cNvSpPr txBox="1"/>
          <p:nvPr/>
        </p:nvSpPr>
        <p:spPr>
          <a:xfrm>
            <a:off x="523387" y="253927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 dirty="0">
                <a:solidFill>
                  <a:srgbClr val="20242E"/>
                </a:solidFill>
                <a:latin typeface="Avenir Book"/>
              </a:rPr>
              <a:t>input  x</a:t>
            </a:r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3ACAB748-1EB4-4478-E994-8246F1079A80}"/>
              </a:ext>
            </a:extLst>
          </p:cNvPr>
          <p:cNvSpPr/>
          <p:nvPr/>
        </p:nvSpPr>
        <p:spPr>
          <a:xfrm rot="16200000">
            <a:off x="7221367" y="1232485"/>
            <a:ext cx="1737360" cy="141732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8187F-C230-9E85-21FD-02E6658BA1D8}"/>
              </a:ext>
            </a:extLst>
          </p:cNvPr>
          <p:cNvSpPr txBox="1"/>
          <p:nvPr/>
        </p:nvSpPr>
        <p:spPr>
          <a:xfrm>
            <a:off x="2535067" y="179484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B5C3E90-0F7F-8518-64AF-226EDE0C0F8F}"/>
              </a:ext>
            </a:extLst>
          </p:cNvPr>
          <p:cNvSpPr/>
          <p:nvPr/>
        </p:nvSpPr>
        <p:spPr>
          <a:xfrm>
            <a:off x="5488579" y="136507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41EB54D-75C5-305E-E549-87F8E3D0AE55}"/>
              </a:ext>
            </a:extLst>
          </p:cNvPr>
          <p:cNvSpPr/>
          <p:nvPr/>
        </p:nvSpPr>
        <p:spPr>
          <a:xfrm>
            <a:off x="5488579" y="1584529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7BA5CC6-D7BA-1D45-167A-25B0D64249EE}"/>
              </a:ext>
            </a:extLst>
          </p:cNvPr>
          <p:cNvSpPr/>
          <p:nvPr/>
        </p:nvSpPr>
        <p:spPr>
          <a:xfrm>
            <a:off x="5488579" y="180398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F99C87E-E594-1698-6CB1-A86E3A4F27AF}"/>
              </a:ext>
            </a:extLst>
          </p:cNvPr>
          <p:cNvSpPr/>
          <p:nvPr/>
        </p:nvSpPr>
        <p:spPr>
          <a:xfrm>
            <a:off x="5488579" y="202344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8770EC7-A49F-D21E-4A5D-5D76F155DD02}"/>
              </a:ext>
            </a:extLst>
          </p:cNvPr>
          <p:cNvSpPr/>
          <p:nvPr/>
        </p:nvSpPr>
        <p:spPr>
          <a:xfrm>
            <a:off x="5488579" y="224289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5D1269D-EE19-95E8-EE17-08BAFB09BAD1}"/>
              </a:ext>
            </a:extLst>
          </p:cNvPr>
          <p:cNvSpPr/>
          <p:nvPr/>
        </p:nvSpPr>
        <p:spPr>
          <a:xfrm>
            <a:off x="5488579" y="246235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0F12095-69E5-46D6-5973-9F8E57398035}"/>
              </a:ext>
            </a:extLst>
          </p:cNvPr>
          <p:cNvSpPr/>
          <p:nvPr/>
        </p:nvSpPr>
        <p:spPr>
          <a:xfrm>
            <a:off x="5214259" y="1182194"/>
            <a:ext cx="1097280" cy="170078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3DC11D0-7915-9B38-4823-56E1B0642047}"/>
              </a:ext>
            </a:extLst>
          </p:cNvPr>
          <p:cNvSpPr/>
          <p:nvPr/>
        </p:nvSpPr>
        <p:spPr>
          <a:xfrm>
            <a:off x="5488579" y="1365074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2FE413C-9209-82F3-55C4-CB944F5076C1}"/>
              </a:ext>
            </a:extLst>
          </p:cNvPr>
          <p:cNvSpPr/>
          <p:nvPr/>
        </p:nvSpPr>
        <p:spPr>
          <a:xfrm>
            <a:off x="5488579" y="1584529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206ED9-7577-756D-5C86-902FCB8E3E14}"/>
              </a:ext>
            </a:extLst>
          </p:cNvPr>
          <p:cNvSpPr/>
          <p:nvPr/>
        </p:nvSpPr>
        <p:spPr>
          <a:xfrm>
            <a:off x="5488579" y="180398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1AC1A3E-2F2B-5114-D6BB-7E6F72417F3A}"/>
              </a:ext>
            </a:extLst>
          </p:cNvPr>
          <p:cNvSpPr/>
          <p:nvPr/>
        </p:nvSpPr>
        <p:spPr>
          <a:xfrm>
            <a:off x="5488579" y="202344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5DA589-628D-D118-EAE4-283A94BAF468}"/>
              </a:ext>
            </a:extLst>
          </p:cNvPr>
          <p:cNvSpPr/>
          <p:nvPr/>
        </p:nvSpPr>
        <p:spPr>
          <a:xfrm>
            <a:off x="5488579" y="224289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0A5F9D1-20C1-D693-78E6-4655F51F649F}"/>
              </a:ext>
            </a:extLst>
          </p:cNvPr>
          <p:cNvSpPr/>
          <p:nvPr/>
        </p:nvSpPr>
        <p:spPr>
          <a:xfrm>
            <a:off x="5488579" y="246235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AA294B-9410-FD8D-4DE2-831B4732CFFC}"/>
              </a:ext>
            </a:extLst>
          </p:cNvPr>
          <p:cNvSpPr txBox="1"/>
          <p:nvPr/>
        </p:nvSpPr>
        <p:spPr>
          <a:xfrm>
            <a:off x="7161931" y="179484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43C115B-F34A-FB2F-1AED-6C89D5D878CB}"/>
              </a:ext>
            </a:extLst>
          </p:cNvPr>
          <p:cNvSpPr/>
          <p:nvPr/>
        </p:nvSpPr>
        <p:spPr>
          <a:xfrm>
            <a:off x="10060579" y="1026746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38">
            <a:extLst>
              <a:ext uri="{FF2B5EF4-FFF2-40B4-BE49-F238E27FC236}">
                <a16:creationId xmlns:a16="http://schemas.microsoft.com/office/drawing/2014/main" id="{CBD2256D-4B52-6275-A776-6C7AB11BC448}"/>
              </a:ext>
            </a:extLst>
          </p:cNvPr>
          <p:cNvCxnSpPr>
            <a:cxnSpLocks/>
          </p:cNvCxnSpPr>
          <p:nvPr/>
        </p:nvCxnSpPr>
        <p:spPr>
          <a:xfrm>
            <a:off x="10901827" y="1479374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39">
            <a:extLst>
              <a:ext uri="{FF2B5EF4-FFF2-40B4-BE49-F238E27FC236}">
                <a16:creationId xmlns:a16="http://schemas.microsoft.com/office/drawing/2014/main" id="{6F423373-DEB7-7CBD-7369-9ABE41091143}"/>
              </a:ext>
            </a:extLst>
          </p:cNvPr>
          <p:cNvCxnSpPr>
            <a:cxnSpLocks/>
          </p:cNvCxnSpPr>
          <p:nvPr/>
        </p:nvCxnSpPr>
        <p:spPr>
          <a:xfrm>
            <a:off x="11222543" y="1664540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0">
            <a:extLst>
              <a:ext uri="{FF2B5EF4-FFF2-40B4-BE49-F238E27FC236}">
                <a16:creationId xmlns:a16="http://schemas.microsoft.com/office/drawing/2014/main" id="{F15E2308-72C1-0BAA-0465-4B0C9E4EAA14}"/>
              </a:ext>
            </a:extLst>
          </p:cNvPr>
          <p:cNvCxnSpPr>
            <a:cxnSpLocks/>
          </p:cNvCxnSpPr>
          <p:nvPr/>
        </p:nvCxnSpPr>
        <p:spPr>
          <a:xfrm flipH="1">
            <a:off x="10901827" y="2034872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1">
            <a:extLst>
              <a:ext uri="{FF2B5EF4-FFF2-40B4-BE49-F238E27FC236}">
                <a16:creationId xmlns:a16="http://schemas.microsoft.com/office/drawing/2014/main" id="{B9829404-CC94-0174-8C68-6A25EBBB7A74}"/>
              </a:ext>
            </a:extLst>
          </p:cNvPr>
          <p:cNvCxnSpPr>
            <a:cxnSpLocks/>
          </p:cNvCxnSpPr>
          <p:nvPr/>
        </p:nvCxnSpPr>
        <p:spPr>
          <a:xfrm flipH="1" flipV="1">
            <a:off x="10581110" y="2034872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2">
            <a:extLst>
              <a:ext uri="{FF2B5EF4-FFF2-40B4-BE49-F238E27FC236}">
                <a16:creationId xmlns:a16="http://schemas.microsoft.com/office/drawing/2014/main" id="{C399A4B9-5182-8342-8B03-9AD1887A506A}"/>
              </a:ext>
            </a:extLst>
          </p:cNvPr>
          <p:cNvCxnSpPr>
            <a:cxnSpLocks/>
          </p:cNvCxnSpPr>
          <p:nvPr/>
        </p:nvCxnSpPr>
        <p:spPr>
          <a:xfrm flipV="1">
            <a:off x="10581110" y="1664540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3">
            <a:extLst>
              <a:ext uri="{FF2B5EF4-FFF2-40B4-BE49-F238E27FC236}">
                <a16:creationId xmlns:a16="http://schemas.microsoft.com/office/drawing/2014/main" id="{8D8BB32C-B7F4-1923-D85B-8E3F22E1742D}"/>
              </a:ext>
            </a:extLst>
          </p:cNvPr>
          <p:cNvCxnSpPr>
            <a:cxnSpLocks/>
          </p:cNvCxnSpPr>
          <p:nvPr/>
        </p:nvCxnSpPr>
        <p:spPr>
          <a:xfrm flipV="1">
            <a:off x="10581110" y="1479374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4">
            <a:extLst>
              <a:ext uri="{FF2B5EF4-FFF2-40B4-BE49-F238E27FC236}">
                <a16:creationId xmlns:a16="http://schemas.microsoft.com/office/drawing/2014/main" id="{043D0A42-3014-00D2-B550-ED4BCA1502C0}"/>
              </a:ext>
            </a:extLst>
          </p:cNvPr>
          <p:cNvCxnSpPr>
            <a:cxnSpLocks/>
          </p:cNvCxnSpPr>
          <p:nvPr/>
        </p:nvCxnSpPr>
        <p:spPr>
          <a:xfrm flipV="1">
            <a:off x="10901827" y="1158419"/>
            <a:ext cx="0" cy="320955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5">
            <a:extLst>
              <a:ext uri="{FF2B5EF4-FFF2-40B4-BE49-F238E27FC236}">
                <a16:creationId xmlns:a16="http://schemas.microsoft.com/office/drawing/2014/main" id="{79E64B26-E2A9-6954-8917-4565FCC03A33}"/>
              </a:ext>
            </a:extLst>
          </p:cNvPr>
          <p:cNvCxnSpPr>
            <a:cxnSpLocks/>
          </p:cNvCxnSpPr>
          <p:nvPr/>
        </p:nvCxnSpPr>
        <p:spPr>
          <a:xfrm flipH="1">
            <a:off x="10303155" y="2034872"/>
            <a:ext cx="277955" cy="160477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46">
            <a:extLst>
              <a:ext uri="{FF2B5EF4-FFF2-40B4-BE49-F238E27FC236}">
                <a16:creationId xmlns:a16="http://schemas.microsoft.com/office/drawing/2014/main" id="{DCAF0897-E5D2-7368-5E0A-85F0E35D4D66}"/>
              </a:ext>
            </a:extLst>
          </p:cNvPr>
          <p:cNvCxnSpPr>
            <a:cxnSpLocks/>
          </p:cNvCxnSpPr>
          <p:nvPr/>
        </p:nvCxnSpPr>
        <p:spPr>
          <a:xfrm flipV="1">
            <a:off x="11222543" y="1504062"/>
            <a:ext cx="277955" cy="160478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0795D6D-2F10-ECE2-56DE-A8CCEA1445C0}"/>
              </a:ext>
            </a:extLst>
          </p:cNvPr>
          <p:cNvSpPr txBox="1"/>
          <p:nvPr/>
        </p:nvSpPr>
        <p:spPr>
          <a:xfrm>
            <a:off x="10060579" y="255379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output  x̂</a:t>
            </a:r>
          </a:p>
        </p:txBody>
      </p:sp>
      <p:cxnSp>
        <p:nvCxnSpPr>
          <p:cNvPr id="53" name="Connector 48">
            <a:extLst>
              <a:ext uri="{FF2B5EF4-FFF2-40B4-BE49-F238E27FC236}">
                <a16:creationId xmlns:a16="http://schemas.microsoft.com/office/drawing/2014/main" id="{D1A4C526-B521-164E-EFC4-10BD09FE7B5C}"/>
              </a:ext>
            </a:extLst>
          </p:cNvPr>
          <p:cNvCxnSpPr>
            <a:cxnSpLocks/>
          </p:cNvCxnSpPr>
          <p:nvPr/>
        </p:nvCxnSpPr>
        <p:spPr>
          <a:xfrm>
            <a:off x="2260747" y="1941146"/>
            <a:ext cx="329184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49">
            <a:extLst>
              <a:ext uri="{FF2B5EF4-FFF2-40B4-BE49-F238E27FC236}">
                <a16:creationId xmlns:a16="http://schemas.microsoft.com/office/drawing/2014/main" id="{01E7D641-9E52-A555-5FCF-DD55B2ABF860}"/>
              </a:ext>
            </a:extLst>
          </p:cNvPr>
          <p:cNvCxnSpPr>
            <a:cxnSpLocks/>
          </p:cNvCxnSpPr>
          <p:nvPr/>
        </p:nvCxnSpPr>
        <p:spPr>
          <a:xfrm>
            <a:off x="4418731" y="1941146"/>
            <a:ext cx="102412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0">
            <a:extLst>
              <a:ext uri="{FF2B5EF4-FFF2-40B4-BE49-F238E27FC236}">
                <a16:creationId xmlns:a16="http://schemas.microsoft.com/office/drawing/2014/main" id="{E73C5B9D-AF64-4FB0-C65A-863EBB8263B7}"/>
              </a:ext>
            </a:extLst>
          </p:cNvPr>
          <p:cNvCxnSpPr>
            <a:cxnSpLocks/>
          </p:cNvCxnSpPr>
          <p:nvPr/>
        </p:nvCxnSpPr>
        <p:spPr>
          <a:xfrm>
            <a:off x="6284107" y="1941146"/>
            <a:ext cx="9326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1">
            <a:extLst>
              <a:ext uri="{FF2B5EF4-FFF2-40B4-BE49-F238E27FC236}">
                <a16:creationId xmlns:a16="http://schemas.microsoft.com/office/drawing/2014/main" id="{87B00ECA-83EB-5B31-7A32-DF3E9FB7F860}"/>
              </a:ext>
            </a:extLst>
          </p:cNvPr>
          <p:cNvCxnSpPr>
            <a:cxnSpLocks/>
          </p:cNvCxnSpPr>
          <p:nvPr/>
        </p:nvCxnSpPr>
        <p:spPr>
          <a:xfrm>
            <a:off x="9027307" y="1941146"/>
            <a:ext cx="9875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3FA1EA76-AF72-EA12-695C-BD1BEDCBE5DB}"/>
              </a:ext>
            </a:extLst>
          </p:cNvPr>
          <p:cNvSpPr/>
          <p:nvPr/>
        </p:nvSpPr>
        <p:spPr>
          <a:xfrm>
            <a:off x="1859750" y="1437073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E868EC5-A008-0F49-6A48-99BF5111E016}"/>
              </a:ext>
            </a:extLst>
          </p:cNvPr>
          <p:cNvSpPr/>
          <p:nvPr/>
        </p:nvSpPr>
        <p:spPr>
          <a:xfrm>
            <a:off x="696842" y="2124255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FD15394-F0D2-4F3D-2E8F-362820D15F7C}"/>
              </a:ext>
            </a:extLst>
          </p:cNvPr>
          <p:cNvSpPr/>
          <p:nvPr/>
        </p:nvSpPr>
        <p:spPr>
          <a:xfrm>
            <a:off x="10821682" y="1066432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D758AED-364D-8D76-E643-1099D23583D8}"/>
              </a:ext>
            </a:extLst>
          </p:cNvPr>
          <p:cNvSpPr/>
          <p:nvPr/>
        </p:nvSpPr>
        <p:spPr>
          <a:xfrm>
            <a:off x="11406367" y="1425324"/>
            <a:ext cx="160477" cy="1604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515E1B-403B-37CE-7B09-BF1FFBF54440}"/>
              </a:ext>
            </a:extLst>
          </p:cNvPr>
          <p:cNvSpPr/>
          <p:nvPr/>
        </p:nvSpPr>
        <p:spPr>
          <a:xfrm>
            <a:off x="10243459" y="2093844"/>
            <a:ext cx="160477" cy="16047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0FC4A76-725E-1E91-4422-1085FF129F3F}"/>
              </a:ext>
            </a:extLst>
          </p:cNvPr>
          <p:cNvSpPr/>
          <p:nvPr/>
        </p:nvSpPr>
        <p:spPr>
          <a:xfrm>
            <a:off x="6958584" y="2970485"/>
            <a:ext cx="3622526" cy="32278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Enforcing Validity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Both guarantee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syntactic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validity only. A 100%-valid molecule can still be one no chemist would draw.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JT-VAE — assemble from a vocabulary of valid pieces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098548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916" y="228371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00200" y="2654046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279483" y="2654046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79483" y="228371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79483" y="2098548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1777593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01528" y="2654046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5728" y="2468880"/>
            <a:ext cx="5303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2121408"/>
            <a:ext cx="548640" cy="73152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2121408"/>
            <a:ext cx="640080" cy="758952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46120" y="2852928"/>
            <a:ext cx="594360" cy="694944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93592" y="1920239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ring</a:t>
            </a:r>
          </a:p>
        </p:txBody>
      </p:sp>
      <p:sp>
        <p:nvSpPr>
          <p:cNvPr id="22" name="Oval 21"/>
          <p:cNvSpPr/>
          <p:nvPr/>
        </p:nvSpPr>
        <p:spPr>
          <a:xfrm>
            <a:off x="3044951" y="2651760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C=O</a:t>
            </a:r>
          </a:p>
        </p:txBody>
      </p:sp>
      <p:sp>
        <p:nvSpPr>
          <p:cNvPr id="23" name="Oval 22"/>
          <p:cNvSpPr/>
          <p:nvPr/>
        </p:nvSpPr>
        <p:spPr>
          <a:xfrm>
            <a:off x="4233672" y="2679191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ring</a:t>
            </a:r>
          </a:p>
        </p:txBody>
      </p:sp>
      <p:sp>
        <p:nvSpPr>
          <p:cNvPr id="24" name="Oval 23"/>
          <p:cNvSpPr/>
          <p:nvPr/>
        </p:nvSpPr>
        <p:spPr>
          <a:xfrm>
            <a:off x="3639312" y="3346703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89534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junction tree of substructures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25112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780-piece vocabulary · illegal joins are masked out during decoding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36007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100 % valid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128016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4081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SELFIES — a grammar that cannot fail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[F]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44383" y="2048255"/>
            <a:ext cx="109729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0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[=C]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24544" y="2048255"/>
            <a:ext cx="109728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52559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[=C]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59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F–C=C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04703" y="2048255"/>
            <a:ext cx="109729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332719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[#N]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9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F–C=C=N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127248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B4551F"/>
                </a:solidFill>
                <a:latin typeface="Avenir Book"/>
              </a:rPr>
              <a:t>asked for a triple bond, valence allowed only a double →  clamped, never rejected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60519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100 % valid  ·  but only local valence is enforced —
not aromaticity, not ring strain, not stability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36007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1 random mutation:  SMILES 9.9 %  →  SELFIES 100 % valid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Validity is not necessarily chemically relevant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4356" y="1692214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356" y="183851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it memorises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671244"/>
              </p:ext>
            </p:extLst>
          </p:nvPr>
        </p:nvGraphicFramePr>
        <p:xfrm>
          <a:off x="732100" y="2222566"/>
          <a:ext cx="3054096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7236" y="4142806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31 % of what the VAE “designs”
is already in the training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356" y="511206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MOSES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548" y="1692214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6548" y="183851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100 % valid ≠ good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09243"/>
              </p:ext>
            </p:extLst>
          </p:nvPr>
        </p:nvGraphicFramePr>
        <p:xfrm>
          <a:off x="4499428" y="2259142"/>
          <a:ext cx="3163824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model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valid %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FCD ↓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Molecule Chef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99.0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0.73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CGVAE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char-VAE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12.0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37.65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499428" y="3996502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the model with perfect validity
matches the real distribution worst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6548" y="511206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FCD = distance to real chemistry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739" y="1692214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739" y="183851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a genetic algorithm wins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897119"/>
              </p:ext>
            </p:extLst>
          </p:nvPr>
        </p:nvGraphicFramePr>
        <p:xfrm>
          <a:off x="8376483" y="2222566"/>
          <a:ext cx="3054096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321619" y="4142806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30 seconds on a laptop beats
8 hours of VAE + Bayesian opt.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739" y="511206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Jensen, Chem. Sci.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06" y="619803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MOSES: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Polykovskiy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Front.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Pharmacol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. 2020 · Molecule Chef: Bradshaw et al.,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NeurIPS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2019 · Jensen, Chem. Sci. 2019, 10, 3567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/>
      <p:bldP spid="16" grpId="0"/>
      <p:bldP spid="17" grpId="0" animBg="1"/>
      <p:bldP spid="18" grpId="0"/>
      <p:bldGraphic spid="19" grpId="0">
        <p:bldAsOne/>
      </p:bldGraphic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rapezoid 17"/>
          <p:cNvSpPr/>
          <p:nvPr/>
        </p:nvSpPr>
        <p:spPr>
          <a:xfrm rot="5400000">
            <a:off x="3465610" y="1445766"/>
            <a:ext cx="1417320" cy="123444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 err="1">
                <a:solidFill>
                  <a:srgbClr val="20242E"/>
                </a:solidFill>
                <a:latin typeface="Avenir Book"/>
              </a:rPr>
              <a:t>ChemVAE</a:t>
            </a:r>
            <a:r>
              <a:rPr sz="2600" dirty="0">
                <a:solidFill>
                  <a:srgbClr val="20242E"/>
                </a:solidFill>
                <a:latin typeface="Avenir Book"/>
              </a:rPr>
              <a:t>, 2018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0" i="0" dirty="0">
                <a:solidFill>
                  <a:srgbClr val="20242E"/>
                </a:solidFill>
                <a:latin typeface="Avenir Book"/>
              </a:rPr>
              <a:t>Joint property training is the idea</a:t>
            </a:r>
            <a:endParaRPr sz="1350" b="1" i="0" dirty="0">
              <a:solidFill>
                <a:srgbClr val="156082"/>
              </a:solidFill>
              <a:latin typeface="Avenir Book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39017" y="1774950"/>
            <a:ext cx="1691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SMILES</a:t>
            </a:r>
          </a:p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CC(=O)Oc1ccccc1</a:t>
            </a:r>
          </a:p>
        </p:txBody>
      </p:sp>
      <p:sp>
        <p:nvSpPr>
          <p:cNvPr id="8" name="Trapezoid 7"/>
          <p:cNvSpPr/>
          <p:nvPr/>
        </p:nvSpPr>
        <p:spPr>
          <a:xfrm rot="16200000">
            <a:off x="7227169" y="1446200"/>
            <a:ext cx="1417320" cy="123444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2409" y="194868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2409" y="117144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9809" y="1354326"/>
            <a:ext cx="1188720" cy="1417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4129" y="1537206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4129" y="1774950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4129" y="2012694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64129" y="2250438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64129" y="2488182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3153" y="113944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 dirty="0">
                <a:solidFill>
                  <a:srgbClr val="B4551F"/>
                </a:solidFill>
                <a:latin typeface="Avenir Book"/>
              </a:rPr>
              <a:t>z  ·  196-D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1449" y="194868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1449" y="117144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GRU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1689" y="1774950"/>
            <a:ext cx="1691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SMILES</a:t>
            </a:r>
          </a:p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CC(=O)Oc1ccccc1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76377" y="2067558"/>
            <a:ext cx="256032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41169" y="2067558"/>
            <a:ext cx="502920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24249" y="2067558"/>
            <a:ext cx="457200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90209" y="2067558"/>
            <a:ext cx="365759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4169" y="2853942"/>
            <a:ext cx="0" cy="402336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78329" y="3318108"/>
            <a:ext cx="201168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A02B93"/>
                </a:solidFill>
                <a:latin typeface="Avenir Book"/>
              </a:rPr>
              <a:t>property head</a:t>
            </a:r>
          </a:p>
          <a:p>
            <a:pPr algn="ctr"/>
            <a:r>
              <a:rPr sz="1000" b="1">
                <a:solidFill>
                  <a:srgbClr val="A02B93"/>
                </a:solidFill>
                <a:latin typeface="Avenir Book"/>
              </a:rPr>
              <a:t>logP, QED, SAS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56082"/>
                </a:solidFill>
                <a:latin typeface="Avenir Book"/>
              </a:rPr>
              <a:t>250,000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ZINC molecules, no labels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56082"/>
                </a:solidFill>
                <a:latin typeface="Avenir Book"/>
              </a:rPr>
              <a:t>196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latent dimensions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1311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1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C0392B"/>
                </a:solidFill>
                <a:latin typeface="Avenir Book"/>
              </a:rPr>
              <a:t>~4 %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of random z decode to a valid molecule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8" y="6184087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Gómez-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Bombarelli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ACS Cent. Sci. 2018, 4, 268 — validity figures are version- and definition-dependent; see notes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Keep the encoder, throw away the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948397"/>
            <a:ext cx="5440680" cy="34747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12989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as a molecule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7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6250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a graph genetic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8225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00541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an ordinary SMILES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5774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57602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random screening of ZINC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3322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51517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E"/>
                </a:solidFill>
                <a:latin typeface="Avenir Book"/>
              </a:rPr>
              <a:t>only ~30 % of proposals are </a:t>
            </a:r>
            <a:r>
              <a:rPr sz="1200" b="0" i="0" dirty="0" err="1">
                <a:solidFill>
                  <a:srgbClr val="20242E"/>
                </a:solidFill>
                <a:latin typeface="Avenir Book"/>
              </a:rPr>
              <a:t>synthesisable</a:t>
            </a:r>
            <a:endParaRPr sz="120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58186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the field moved to diffusion, GAs and LLMs
(→ Thursday's lecture)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948397"/>
            <a:ext cx="5440680" cy="34747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2112989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56082"/>
                </a:solidFill>
                <a:latin typeface="Avenir Book"/>
              </a:rPr>
              <a:t>as a representation 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7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6250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a fixed-length vector for any molecule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8225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100541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trained without a single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5774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576029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a smooth space you can optimise inside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3322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05151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E"/>
                </a:solidFill>
                <a:latin typeface="Avenir Book"/>
              </a:rPr>
              <a:t>the encoder is reusable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315468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20242E"/>
                </a:solidFill>
                <a:latin typeface="Avenir Book"/>
              </a:rPr>
              <a:t>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977639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1">
                <a:solidFill>
                  <a:srgbClr val="6E7480"/>
                </a:solidFill>
                <a:latin typeface="Avenir Book"/>
              </a:rPr>
              <a:t>10 minutes — back for pre-training and transfer learning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C7D6-7C40-6B49-60CA-24373272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F458AF-2B22-C8A8-18A8-807BB37D0052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Learning modes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85BABE-92D5-E35C-2952-66B94F998C9A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9AE79FD6-2121-7B88-0144-ED94BB605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0C108C-5D57-ABC3-3171-F934011BFF0B}"/>
              </a:ext>
            </a:extLst>
          </p:cNvPr>
          <p:cNvSpPr/>
          <p:nvPr/>
        </p:nvSpPr>
        <p:spPr>
          <a:xfrm>
            <a:off x="524065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C0FB8-DA69-46BC-A87D-A4E6AE5F9F4F}"/>
              </a:ext>
            </a:extLst>
          </p:cNvPr>
          <p:cNvSpPr txBox="1"/>
          <p:nvPr/>
        </p:nvSpPr>
        <p:spPr>
          <a:xfrm>
            <a:off x="524065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97132"/>
                </a:solidFill>
                <a:latin typeface="Avenir Book"/>
              </a:rPr>
              <a:t>SUPERVISED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02730-2DF4-F5B7-10C0-A414D5A94E27}"/>
              </a:ext>
            </a:extLst>
          </p:cNvPr>
          <p:cNvSpPr txBox="1"/>
          <p:nvPr/>
        </p:nvSpPr>
        <p:spPr>
          <a:xfrm>
            <a:off x="524065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774933-B37C-267A-531C-1DA67DBD79E8}"/>
              </a:ext>
            </a:extLst>
          </p:cNvPr>
          <p:cNvSpPr/>
          <p:nvPr/>
        </p:nvSpPr>
        <p:spPr>
          <a:xfrm>
            <a:off x="2605181" y="3077340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6025C7-E793-618A-B4A3-BFA4A96D6209}"/>
              </a:ext>
            </a:extLst>
          </p:cNvPr>
          <p:cNvSpPr/>
          <p:nvPr/>
        </p:nvSpPr>
        <p:spPr>
          <a:xfrm>
            <a:off x="1287164" y="3042513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86BBC3-2502-8EB3-EC14-31331D53B52A}"/>
              </a:ext>
            </a:extLst>
          </p:cNvPr>
          <p:cNvSpPr/>
          <p:nvPr/>
        </p:nvSpPr>
        <p:spPr>
          <a:xfrm>
            <a:off x="3047760" y="319310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86EC76-9F0C-4C98-15CD-D3A4D7239D06}"/>
              </a:ext>
            </a:extLst>
          </p:cNvPr>
          <p:cNvSpPr/>
          <p:nvPr/>
        </p:nvSpPr>
        <p:spPr>
          <a:xfrm>
            <a:off x="2990657" y="280226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FE7C9B-0F29-5B5E-8356-8E9D6800DCD4}"/>
              </a:ext>
            </a:extLst>
          </p:cNvPr>
          <p:cNvSpPr/>
          <p:nvPr/>
        </p:nvSpPr>
        <p:spPr>
          <a:xfrm>
            <a:off x="1771768" y="265083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7FA9D0-7956-DC2B-C8D6-B071592584FF}"/>
              </a:ext>
            </a:extLst>
          </p:cNvPr>
          <p:cNvSpPr/>
          <p:nvPr/>
        </p:nvSpPr>
        <p:spPr>
          <a:xfrm>
            <a:off x="3464050" y="330060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364507-1B15-8D4A-F286-3A5D01C3628C}"/>
              </a:ext>
            </a:extLst>
          </p:cNvPr>
          <p:cNvSpPr/>
          <p:nvPr/>
        </p:nvSpPr>
        <p:spPr>
          <a:xfrm>
            <a:off x="2967194" y="2818116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33A9368-5BED-AE11-4D95-C0E13FCB5256}"/>
              </a:ext>
            </a:extLst>
          </p:cNvPr>
          <p:cNvSpPr/>
          <p:nvPr/>
        </p:nvSpPr>
        <p:spPr>
          <a:xfrm>
            <a:off x="1390813" y="370793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212322-8915-C192-2E98-6733157D9832}"/>
              </a:ext>
            </a:extLst>
          </p:cNvPr>
          <p:cNvSpPr/>
          <p:nvPr/>
        </p:nvSpPr>
        <p:spPr>
          <a:xfrm>
            <a:off x="1010737" y="364987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21CD56-F674-6113-FAE4-B4F6781367DA}"/>
              </a:ext>
            </a:extLst>
          </p:cNvPr>
          <p:cNvSpPr/>
          <p:nvPr/>
        </p:nvSpPr>
        <p:spPr>
          <a:xfrm>
            <a:off x="1787911" y="2931651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F4A078-E12A-B8A3-7AA2-7047D6EE6AE0}"/>
              </a:ext>
            </a:extLst>
          </p:cNvPr>
          <p:cNvSpPr/>
          <p:nvPr/>
        </p:nvSpPr>
        <p:spPr>
          <a:xfrm>
            <a:off x="1184779" y="3573509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97ADEE-F9F4-FFE9-3CC1-DB2EE04E9778}"/>
              </a:ext>
            </a:extLst>
          </p:cNvPr>
          <p:cNvSpPr/>
          <p:nvPr/>
        </p:nvSpPr>
        <p:spPr>
          <a:xfrm>
            <a:off x="2082475" y="376836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EDBC13-B3E7-B7E3-6439-1A93162B1A67}"/>
              </a:ext>
            </a:extLst>
          </p:cNvPr>
          <p:cNvSpPr/>
          <p:nvPr/>
        </p:nvSpPr>
        <p:spPr>
          <a:xfrm>
            <a:off x="1285313" y="383976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8BEF2B-E72B-125B-7D71-C12ED1285427}"/>
              </a:ext>
            </a:extLst>
          </p:cNvPr>
          <p:cNvSpPr/>
          <p:nvPr/>
        </p:nvSpPr>
        <p:spPr>
          <a:xfrm>
            <a:off x="2511291" y="318281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5084BA-C7A9-E384-2EDC-704F9AEB3DAC}"/>
              </a:ext>
            </a:extLst>
          </p:cNvPr>
          <p:cNvSpPr/>
          <p:nvPr/>
        </p:nvSpPr>
        <p:spPr>
          <a:xfrm>
            <a:off x="1099750" y="261629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73CBD7-CFA1-A9A0-F952-E06612D99787}"/>
              </a:ext>
            </a:extLst>
          </p:cNvPr>
          <p:cNvSpPr/>
          <p:nvPr/>
        </p:nvSpPr>
        <p:spPr>
          <a:xfrm>
            <a:off x="2205718" y="3729284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721714E-75F1-9984-BC58-53216BF8171A}"/>
              </a:ext>
            </a:extLst>
          </p:cNvPr>
          <p:cNvSpPr/>
          <p:nvPr/>
        </p:nvSpPr>
        <p:spPr>
          <a:xfrm>
            <a:off x="1186759" y="301759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7C6A047-C37F-8A99-4E88-2A1EAC969F97}"/>
              </a:ext>
            </a:extLst>
          </p:cNvPr>
          <p:cNvSpPr/>
          <p:nvPr/>
        </p:nvSpPr>
        <p:spPr>
          <a:xfrm>
            <a:off x="1817275" y="280474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7D0A93-A6DB-39BE-7629-9B00E717F15B}"/>
              </a:ext>
            </a:extLst>
          </p:cNvPr>
          <p:cNvSpPr txBox="1"/>
          <p:nvPr/>
        </p:nvSpPr>
        <p:spPr>
          <a:xfrm>
            <a:off x="524065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every point carries a label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6EE75-55EB-47B2-2067-9BB8AAC45B8E}"/>
              </a:ext>
            </a:extLst>
          </p:cNvPr>
          <p:cNvSpPr txBox="1"/>
          <p:nvPr/>
        </p:nvSpPr>
        <p:spPr>
          <a:xfrm>
            <a:off x="524065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venir Book"/>
              </a:rPr>
              <a:t>labels are expensive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47CB0C7-B054-672B-2AA6-AC8B8EC19B70}"/>
              </a:ext>
            </a:extLst>
          </p:cNvPr>
          <p:cNvSpPr/>
          <p:nvPr/>
        </p:nvSpPr>
        <p:spPr>
          <a:xfrm>
            <a:off x="4346257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C19060-6916-023C-FE45-9E25D8B11C3D}"/>
              </a:ext>
            </a:extLst>
          </p:cNvPr>
          <p:cNvSpPr txBox="1"/>
          <p:nvPr/>
        </p:nvSpPr>
        <p:spPr>
          <a:xfrm>
            <a:off x="4346257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UNSUPERVISED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86AF6-007A-5EE4-536E-8B956F505B95}"/>
              </a:ext>
            </a:extLst>
          </p:cNvPr>
          <p:cNvSpPr txBox="1"/>
          <p:nvPr/>
        </p:nvSpPr>
        <p:spPr>
          <a:xfrm>
            <a:off x="4346257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the shape of x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C1DEF7B-ACAD-68C6-7009-919ABF7AA981}"/>
              </a:ext>
            </a:extLst>
          </p:cNvPr>
          <p:cNvSpPr/>
          <p:nvPr/>
        </p:nvSpPr>
        <p:spPr>
          <a:xfrm>
            <a:off x="4922329" y="2631643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976C050-6DDF-740C-C771-E7A08DD072E4}"/>
              </a:ext>
            </a:extLst>
          </p:cNvPr>
          <p:cNvSpPr/>
          <p:nvPr/>
        </p:nvSpPr>
        <p:spPr>
          <a:xfrm>
            <a:off x="6083617" y="3198571"/>
            <a:ext cx="1280160" cy="7680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D3E0D7-019D-BCBA-E2C7-9EBDA955C8F2}"/>
              </a:ext>
            </a:extLst>
          </p:cNvPr>
          <p:cNvSpPr/>
          <p:nvPr/>
        </p:nvSpPr>
        <p:spPr>
          <a:xfrm>
            <a:off x="5696054" y="304722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9F313F-8695-C094-5ADA-5F099FA0D155}"/>
              </a:ext>
            </a:extLst>
          </p:cNvPr>
          <p:cNvSpPr/>
          <p:nvPr/>
        </p:nvSpPr>
        <p:spPr>
          <a:xfrm>
            <a:off x="5325026" y="313335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3928C4-93E8-ED76-470B-CA4F60091D4D}"/>
              </a:ext>
            </a:extLst>
          </p:cNvPr>
          <p:cNvSpPr/>
          <p:nvPr/>
        </p:nvSpPr>
        <p:spPr>
          <a:xfrm>
            <a:off x="5671969" y="285291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FD0080A-16AE-FD19-849F-865042CA4D32}"/>
              </a:ext>
            </a:extLst>
          </p:cNvPr>
          <p:cNvSpPr/>
          <p:nvPr/>
        </p:nvSpPr>
        <p:spPr>
          <a:xfrm>
            <a:off x="5844526" y="312067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6B872F-74BC-3290-515A-3A49D39AD940}"/>
              </a:ext>
            </a:extLst>
          </p:cNvPr>
          <p:cNvSpPr/>
          <p:nvPr/>
        </p:nvSpPr>
        <p:spPr>
          <a:xfrm>
            <a:off x="5878926" y="298399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C13DEF0-9BE6-4EEC-A8C7-BBBFED09EFB1}"/>
              </a:ext>
            </a:extLst>
          </p:cNvPr>
          <p:cNvSpPr/>
          <p:nvPr/>
        </p:nvSpPr>
        <p:spPr>
          <a:xfrm>
            <a:off x="5227035" y="309908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3C57109-974B-9E2A-A611-DD2D0E484030}"/>
              </a:ext>
            </a:extLst>
          </p:cNvPr>
          <p:cNvSpPr/>
          <p:nvPr/>
        </p:nvSpPr>
        <p:spPr>
          <a:xfrm>
            <a:off x="5308519" y="316273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87E9F0-0D27-CC43-7870-8F9091484CE1}"/>
              </a:ext>
            </a:extLst>
          </p:cNvPr>
          <p:cNvSpPr/>
          <p:nvPr/>
        </p:nvSpPr>
        <p:spPr>
          <a:xfrm>
            <a:off x="5687286" y="296190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9FDD44A-DA08-8D6B-C28C-9696A322B367}"/>
              </a:ext>
            </a:extLst>
          </p:cNvPr>
          <p:cNvSpPr/>
          <p:nvPr/>
        </p:nvSpPr>
        <p:spPr>
          <a:xfrm>
            <a:off x="5268058" y="3032948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DF83C53-DD8E-976F-6181-1D12593F486E}"/>
              </a:ext>
            </a:extLst>
          </p:cNvPr>
          <p:cNvSpPr/>
          <p:nvPr/>
        </p:nvSpPr>
        <p:spPr>
          <a:xfrm>
            <a:off x="5726793" y="305812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A443A4-F322-B675-8D30-75A991BC78B9}"/>
              </a:ext>
            </a:extLst>
          </p:cNvPr>
          <p:cNvSpPr/>
          <p:nvPr/>
        </p:nvSpPr>
        <p:spPr>
          <a:xfrm>
            <a:off x="5678647" y="280053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42B0EBB-6A0C-8510-0DA2-12224576A23D}"/>
              </a:ext>
            </a:extLst>
          </p:cNvPr>
          <p:cNvSpPr/>
          <p:nvPr/>
        </p:nvSpPr>
        <p:spPr>
          <a:xfrm>
            <a:off x="5024970" y="285772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6D31019-910D-BB78-5356-7E643D3E9326}"/>
              </a:ext>
            </a:extLst>
          </p:cNvPr>
          <p:cNvSpPr/>
          <p:nvPr/>
        </p:nvSpPr>
        <p:spPr>
          <a:xfrm>
            <a:off x="6464577" y="33081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901004-8605-6569-7E02-E20F357874E9}"/>
              </a:ext>
            </a:extLst>
          </p:cNvPr>
          <p:cNvSpPr/>
          <p:nvPr/>
        </p:nvSpPr>
        <p:spPr>
          <a:xfrm>
            <a:off x="6550820" y="357013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F44D2FA-AADA-2091-C00E-758E4441B4FF}"/>
              </a:ext>
            </a:extLst>
          </p:cNvPr>
          <p:cNvSpPr/>
          <p:nvPr/>
        </p:nvSpPr>
        <p:spPr>
          <a:xfrm>
            <a:off x="6772486" y="37591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DEBFF7-612C-FE3E-6A2B-3AE1C53E04C5}"/>
              </a:ext>
            </a:extLst>
          </p:cNvPr>
          <p:cNvSpPr/>
          <p:nvPr/>
        </p:nvSpPr>
        <p:spPr>
          <a:xfrm>
            <a:off x="6322297" y="34296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F0C7529-F8C9-F061-E03C-F1C13CE95ADF}"/>
              </a:ext>
            </a:extLst>
          </p:cNvPr>
          <p:cNvSpPr/>
          <p:nvPr/>
        </p:nvSpPr>
        <p:spPr>
          <a:xfrm>
            <a:off x="6270960" y="344299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2FB22E9-B40C-6282-49D5-F7C80DE48D35}"/>
              </a:ext>
            </a:extLst>
          </p:cNvPr>
          <p:cNvSpPr/>
          <p:nvPr/>
        </p:nvSpPr>
        <p:spPr>
          <a:xfrm>
            <a:off x="6635431" y="371164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4B59D92-DEE2-3C2A-794F-4D489A33E831}"/>
              </a:ext>
            </a:extLst>
          </p:cNvPr>
          <p:cNvSpPr/>
          <p:nvPr/>
        </p:nvSpPr>
        <p:spPr>
          <a:xfrm>
            <a:off x="6276602" y="3356397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272EE3D-732D-4A0A-DB7C-E51E1A90FE0B}"/>
              </a:ext>
            </a:extLst>
          </p:cNvPr>
          <p:cNvSpPr/>
          <p:nvPr/>
        </p:nvSpPr>
        <p:spPr>
          <a:xfrm>
            <a:off x="6255597" y="347403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2639E3C-A731-7323-F2C5-53BCF46F0DE6}"/>
              </a:ext>
            </a:extLst>
          </p:cNvPr>
          <p:cNvSpPr/>
          <p:nvPr/>
        </p:nvSpPr>
        <p:spPr>
          <a:xfrm>
            <a:off x="6215646" y="339647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771871-7280-DFBA-5080-7B3849A2EF6A}"/>
              </a:ext>
            </a:extLst>
          </p:cNvPr>
          <p:cNvSpPr/>
          <p:nvPr/>
        </p:nvSpPr>
        <p:spPr>
          <a:xfrm>
            <a:off x="6982659" y="36057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28CDD-B9DD-3D62-D878-9643983586C3}"/>
              </a:ext>
            </a:extLst>
          </p:cNvPr>
          <p:cNvSpPr/>
          <p:nvPr/>
        </p:nvSpPr>
        <p:spPr>
          <a:xfrm>
            <a:off x="6319836" y="363518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4FC46D7-2C32-58F7-5D50-4E287AA153FF}"/>
              </a:ext>
            </a:extLst>
          </p:cNvPr>
          <p:cNvSpPr/>
          <p:nvPr/>
        </p:nvSpPr>
        <p:spPr>
          <a:xfrm>
            <a:off x="6355191" y="340981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9FC491-7EA7-3379-35B6-AF2F1A81222A}"/>
              </a:ext>
            </a:extLst>
          </p:cNvPr>
          <p:cNvSpPr txBox="1"/>
          <p:nvPr/>
        </p:nvSpPr>
        <p:spPr>
          <a:xfrm>
            <a:off x="4346257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E"/>
                </a:solidFill>
                <a:latin typeface="Avenir Book"/>
              </a:rPr>
              <a:t>no labels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5BB718-A185-C040-3E0D-C81728C214CE}"/>
              </a:ext>
            </a:extLst>
          </p:cNvPr>
          <p:cNvSpPr txBox="1"/>
          <p:nvPr/>
        </p:nvSpPr>
        <p:spPr>
          <a:xfrm>
            <a:off x="4346257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 dirty="0">
                <a:solidFill>
                  <a:srgbClr val="196B24"/>
                </a:solidFill>
                <a:latin typeface="Avenir Book"/>
              </a:rPr>
              <a:t>unlimited data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1CC3E08-449F-0623-7E1C-DC4D1FA5B174}"/>
              </a:ext>
            </a:extLst>
          </p:cNvPr>
          <p:cNvSpPr/>
          <p:nvPr/>
        </p:nvSpPr>
        <p:spPr>
          <a:xfrm>
            <a:off x="8168448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B3A386-5B58-AC19-D650-9ADD11CDF8F0}"/>
              </a:ext>
            </a:extLst>
          </p:cNvPr>
          <p:cNvSpPr txBox="1"/>
          <p:nvPr/>
        </p:nvSpPr>
        <p:spPr>
          <a:xfrm>
            <a:off x="8168448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02B93"/>
                </a:solidFill>
                <a:latin typeface="Avenir Book"/>
              </a:rPr>
              <a:t>SELF-SUPERVISED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F31B13-3839-5653-DA5C-AD7614C6E4B1}"/>
              </a:ext>
            </a:extLst>
          </p:cNvPr>
          <p:cNvSpPr txBox="1"/>
          <p:nvPr/>
        </p:nvSpPr>
        <p:spPr>
          <a:xfrm>
            <a:off x="8168448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part of x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2237193-DA28-1515-3F54-5FBCE2A83880}"/>
              </a:ext>
            </a:extLst>
          </p:cNvPr>
          <p:cNvSpPr/>
          <p:nvPr/>
        </p:nvSpPr>
        <p:spPr>
          <a:xfrm>
            <a:off x="8561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32BA548-2880-E61D-DB0D-0A80235F0617}"/>
              </a:ext>
            </a:extLst>
          </p:cNvPr>
          <p:cNvSpPr/>
          <p:nvPr/>
        </p:nvSpPr>
        <p:spPr>
          <a:xfrm>
            <a:off x="90188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378CE2D-91B5-63F4-009E-0E7B1F3C4417}"/>
              </a:ext>
            </a:extLst>
          </p:cNvPr>
          <p:cNvSpPr/>
          <p:nvPr/>
        </p:nvSpPr>
        <p:spPr>
          <a:xfrm>
            <a:off x="94760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A02B93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703147C-7B05-FC1E-D7CD-CC226A1D9394}"/>
              </a:ext>
            </a:extLst>
          </p:cNvPr>
          <p:cNvSpPr/>
          <p:nvPr/>
        </p:nvSpPr>
        <p:spPr>
          <a:xfrm>
            <a:off x="99332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79A6102-07C9-2525-BFF5-4149BCA8DC04}"/>
              </a:ext>
            </a:extLst>
          </p:cNvPr>
          <p:cNvSpPr/>
          <p:nvPr/>
        </p:nvSpPr>
        <p:spPr>
          <a:xfrm>
            <a:off x="103904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=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C2AEE68-0B51-B3C0-2CEE-46790299EA43}"/>
              </a:ext>
            </a:extLst>
          </p:cNvPr>
          <p:cNvSpPr/>
          <p:nvPr/>
        </p:nvSpPr>
        <p:spPr>
          <a:xfrm>
            <a:off x="10847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O</a:t>
            </a:r>
          </a:p>
        </p:txBody>
      </p: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BD56D54C-876C-926C-44F8-8141B0A7F68F}"/>
              </a:ext>
            </a:extLst>
          </p:cNvPr>
          <p:cNvCxnSpPr/>
          <p:nvPr/>
        </p:nvCxnSpPr>
        <p:spPr>
          <a:xfrm>
            <a:off x="9933240" y="3125419"/>
            <a:ext cx="0" cy="384048"/>
          </a:xfrm>
          <a:prstGeom prst="line">
            <a:avLst/>
          </a:prstGeom>
          <a:ln w="2286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FE57F83-A28E-C561-92ED-D5BBF6F786E2}"/>
              </a:ext>
            </a:extLst>
          </p:cNvPr>
          <p:cNvSpPr/>
          <p:nvPr/>
        </p:nvSpPr>
        <p:spPr>
          <a:xfrm>
            <a:off x="9156000" y="3546043"/>
            <a:ext cx="1554480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A02B93"/>
                </a:solidFill>
                <a:latin typeface="Avenir Book"/>
              </a:rPr>
              <a:t>predict “O”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B4778A-BA06-E73E-C854-9FD5766CE094}"/>
              </a:ext>
            </a:extLst>
          </p:cNvPr>
          <p:cNvSpPr txBox="1"/>
          <p:nvPr/>
        </p:nvSpPr>
        <p:spPr>
          <a:xfrm>
            <a:off x="8168448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20242E"/>
                </a:solidFill>
                <a:latin typeface="Avenir Book"/>
              </a:rPr>
              <a:t>a</a:t>
            </a:r>
            <a:r>
              <a:rPr lang="en-US" sz="1100" b="0" i="0" dirty="0">
                <a:solidFill>
                  <a:srgbClr val="20242E"/>
                </a:solidFill>
                <a:latin typeface="Avenir Book"/>
              </a:rPr>
              <a:t>utomated </a:t>
            </a:r>
            <a:r>
              <a:rPr sz="1100" b="0" i="0" dirty="0">
                <a:solidFill>
                  <a:srgbClr val="20242E"/>
                </a:solidFill>
                <a:latin typeface="Avenir Book"/>
              </a:rPr>
              <a:t>labels </a:t>
            </a:r>
            <a:r>
              <a:rPr lang="en-US" sz="1100" dirty="0">
                <a:solidFill>
                  <a:srgbClr val="20242E"/>
                </a:solidFill>
                <a:latin typeface="Avenir Book"/>
              </a:rPr>
              <a:t>generation</a:t>
            </a:r>
            <a:endParaRPr sz="110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F0108F-EEC1-C4CC-60BF-5E0A89F966B9}"/>
              </a:ext>
            </a:extLst>
          </p:cNvPr>
          <p:cNvSpPr txBox="1"/>
          <p:nvPr/>
        </p:nvSpPr>
        <p:spPr>
          <a:xfrm>
            <a:off x="8168448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96B24"/>
                </a:solidFill>
                <a:latin typeface="Avenir Book"/>
              </a:rPr>
              <a:t>supervised signal, no annotation</a:t>
            </a:r>
          </a:p>
        </p:txBody>
      </p:sp>
    </p:spTree>
    <p:extLst>
      <p:ext uri="{BB962C8B-B14F-4D97-AF65-F5344CB8AC3E}">
        <p14:creationId xmlns:p14="http://schemas.microsoft.com/office/powerpoint/2010/main" val="1386283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Self-supervised pre-training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Masked prediction and contrastive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Chemical language models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Pre-training graph neural networks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Two ways to make the data label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Masked prediction teaches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local chemistry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; contrastive teaches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what to ignore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. Both need only unlabelled molecules.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26463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A · MASKED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hide part of the molecule, predict it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6702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566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(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430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294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A02B93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158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022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886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50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2761488"/>
            <a:ext cx="0" cy="393191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48840" y="3182112"/>
            <a:ext cx="228600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A02B93"/>
                </a:solidFill>
                <a:latin typeface="Avenir Book"/>
              </a:rPr>
              <a:t>it was “O”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87367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to fill the gap the model must learn valence,
ring closure and functional-group grammar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3600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ChemBERTa · MoLFormer · attribute masking on graphs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2801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1426463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B · CONTRASTIVE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171907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two damaged views of one molecule must agree</a:t>
            </a:r>
          </a:p>
        </p:txBody>
      </p:sp>
      <p:sp>
        <p:nvSpPr>
          <p:cNvPr id="26" name="Oval 25"/>
          <p:cNvSpPr/>
          <p:nvPr/>
        </p:nvSpPr>
        <p:spPr>
          <a:xfrm>
            <a:off x="7059168" y="2048255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516368" y="2217420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18300" y="2334006"/>
            <a:ext cx="0" cy="233171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516368" y="2567177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314435" y="2567177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14435" y="2334006"/>
            <a:ext cx="0" cy="233171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14435" y="2217420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516368" y="2015337"/>
            <a:ext cx="0" cy="202083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139426" y="2567177"/>
            <a:ext cx="175009" cy="10104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27648" y="2331720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view 1</a:t>
            </a:r>
          </a:p>
        </p:txBody>
      </p:sp>
      <p:sp>
        <p:nvSpPr>
          <p:cNvPr id="36" name="Oval 35"/>
          <p:cNvSpPr/>
          <p:nvPr/>
        </p:nvSpPr>
        <p:spPr>
          <a:xfrm>
            <a:off x="7059168" y="3127248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7516368" y="3296412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18300" y="3412998"/>
            <a:ext cx="0" cy="23317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516368" y="3646170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314435" y="3646170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14435" y="3412998"/>
            <a:ext cx="0" cy="23317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14435" y="3296412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16368" y="3762756"/>
            <a:ext cx="0" cy="20208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27648" y="3410712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view 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74736" y="2651760"/>
            <a:ext cx="0" cy="694943"/>
          </a:xfrm>
          <a:prstGeom prst="line">
            <a:avLst/>
          </a:prstGeom>
          <a:ln w="3048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174736" y="2651760"/>
            <a:ext cx="0" cy="694943"/>
          </a:xfrm>
          <a:prstGeom prst="line">
            <a:avLst/>
          </a:prstGeom>
          <a:ln w="3048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66175" y="28346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96B24"/>
                </a:solidFill>
                <a:latin typeface="Avenir Book"/>
              </a:rPr>
              <a:t>pull
together</a:t>
            </a:r>
          </a:p>
        </p:txBody>
      </p:sp>
      <p:sp>
        <p:nvSpPr>
          <p:cNvPr id="48" name="Oval 47"/>
          <p:cNvSpPr/>
          <p:nvPr/>
        </p:nvSpPr>
        <p:spPr>
          <a:xfrm>
            <a:off x="10314432" y="2578608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10771632" y="2747772"/>
            <a:ext cx="201932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73564" y="2864358"/>
            <a:ext cx="0" cy="233171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0771632" y="3097529"/>
            <a:ext cx="201932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0569699" y="3097529"/>
            <a:ext cx="201933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569699" y="2864358"/>
            <a:ext cx="0" cy="233171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69699" y="2747772"/>
            <a:ext cx="201933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0394690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973564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973564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222992" y="3493008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a different
molecule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290304" y="2980944"/>
            <a:ext cx="950976" cy="0"/>
          </a:xfrm>
          <a:prstGeom prst="line">
            <a:avLst/>
          </a:prstGeom>
          <a:ln w="2794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25712" y="2633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venir Book"/>
              </a:rPr>
              <a:t>push apart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463600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MolCLR · GraphCL · InfoMax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0167-DA6D-A204-1081-FBB0965F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E0F31D-CB53-A58A-4ADB-FF7815892B74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Pretraining with masked predictions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9E862F-B688-E1C8-1D6B-078300C477A9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A8CA3468-6F7C-9353-BCB7-90E13F730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DE9BD53-D953-F69C-499E-F8F3B2C8D9A1}"/>
              </a:ext>
            </a:extLst>
          </p:cNvPr>
          <p:cNvSpPr txBox="1"/>
          <p:nvPr/>
        </p:nvSpPr>
        <p:spPr>
          <a:xfrm>
            <a:off x="45590" y="6162599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Ross, J., </a:t>
            </a:r>
            <a:r>
              <a:rPr lang="en-US" sz="1050" b="0" i="1" dirty="0" err="1">
                <a:solidFill>
                  <a:srgbClr val="6E7480"/>
                </a:solidFill>
                <a:latin typeface="Avenir Book"/>
              </a:rPr>
              <a:t>Belgodere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, B., </a:t>
            </a:r>
            <a:r>
              <a:rPr lang="en-US" sz="1050" b="0" i="1" dirty="0" err="1">
                <a:solidFill>
                  <a:srgbClr val="6E7480"/>
                </a:solidFill>
                <a:latin typeface="Avenir Book"/>
              </a:rPr>
              <a:t>Chenthamarakshan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, V. et al. Large-scale chemical language representations capture molecular structure and properties. Nat Mach Intell 4, 1256–1264 (2022)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  <p:pic>
        <p:nvPicPr>
          <p:cNvPr id="5" name="Picture 4" descr="Fig. 1: Overview of MoLFormer pipeline.">
            <a:extLst>
              <a:ext uri="{FF2B5EF4-FFF2-40B4-BE49-F238E27FC236}">
                <a16:creationId xmlns:a16="http://schemas.microsoft.com/office/drawing/2014/main" id="{9A903D0B-0B70-1D5A-2EF9-50E4B711C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56" y="2193727"/>
            <a:ext cx="10643656" cy="283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85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CBD5-D01B-652D-07AC-B5393BC4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04E01D-F5C2-C0C3-46C2-94953BEA7F29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What does the pretraining learns?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73D4BE-D2E4-E6E3-D2D6-FECA6B933F88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D296F9DB-8632-0EEC-BAC9-65EB3F49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8BB10F7-2DA2-B2E3-2AC9-CB6B1F90D6AC}"/>
              </a:ext>
            </a:extLst>
          </p:cNvPr>
          <p:cNvSpPr txBox="1"/>
          <p:nvPr/>
        </p:nvSpPr>
        <p:spPr>
          <a:xfrm>
            <a:off x="45590" y="6162599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Ross, J., </a:t>
            </a:r>
            <a:r>
              <a:rPr lang="en-US" sz="1050" b="0" i="1" dirty="0" err="1">
                <a:solidFill>
                  <a:srgbClr val="6E7480"/>
                </a:solidFill>
                <a:latin typeface="Avenir Book"/>
              </a:rPr>
              <a:t>Belgodere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, B., </a:t>
            </a:r>
            <a:r>
              <a:rPr lang="en-US" sz="1050" b="0" i="1" dirty="0" err="1">
                <a:solidFill>
                  <a:srgbClr val="6E7480"/>
                </a:solidFill>
                <a:latin typeface="Avenir Book"/>
              </a:rPr>
              <a:t>Chenthamarakshan</a:t>
            </a: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, V. et al. Large-scale chemical language representations capture molecular structure and properties. Nat Mach Intell 4, 1256–1264 (2022)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ED1B3-323E-FD1E-B51C-15BC9C68CD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60"/>
          <a:stretch>
            <a:fillRect/>
          </a:stretch>
        </p:blipFill>
        <p:spPr>
          <a:xfrm>
            <a:off x="3153635" y="1348253"/>
            <a:ext cx="6164536" cy="416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40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Self supervised learning for reaction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Masked-language pre-training alone recovers most of the reaction taxonomy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81.9% vs 41.0% for a hand-crafted fingerprint, with zero labels.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103120" y="1325880"/>
          <a:ext cx="8001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03520" y="1380744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4264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zero labels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608576"/>
            <a:ext cx="8001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0242E"/>
                </a:solidFill>
                <a:latin typeface="Avenir Book"/>
              </a:rPr>
              <a:t>2.6 M unlabelled reactions in · reaction classes come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06" y="619803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Schwaller et al., Nat. Mach. Intell. 2021, 3, 144 · counterpoint: Probst et al., Digital Discovery 2022, 1, 91 (DRFP)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Choosing augmentations</a:t>
            </a:r>
            <a:r>
              <a:rPr lang="en-US" sz="2600" dirty="0">
                <a:solidFill>
                  <a:srgbClr val="20242E"/>
                </a:solidFill>
                <a:latin typeface="Avenir Book"/>
              </a:rPr>
              <a:t> for contrastive learning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5590" y="6162599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Wang, Y., Wang, J., Cao, Z. et al. Molecular contrastive learning of representations via graph neural networks. Nat Mach Intell 4, 279–287 (2022).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  <p:pic>
        <p:nvPicPr>
          <p:cNvPr id="58" name="Picture 57" descr="Fig. 1: Overview of MolCLR.">
            <a:extLst>
              <a:ext uri="{FF2B5EF4-FFF2-40B4-BE49-F238E27FC236}">
                <a16:creationId xmlns:a16="http://schemas.microsoft.com/office/drawing/2014/main" id="{E89506A8-9264-B039-461B-A4D06781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84" y="1311100"/>
            <a:ext cx="7772400" cy="44758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209C-67BF-7F1B-395F-8F81B797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0F190D-4768-9DF8-4C05-8CC33474DA0C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Choosing augmentations</a:t>
            </a:r>
            <a:r>
              <a:rPr lang="en-US" sz="2600" dirty="0">
                <a:solidFill>
                  <a:srgbClr val="20242E"/>
                </a:solidFill>
                <a:latin typeface="Avenir Book"/>
              </a:rPr>
              <a:t> for contrastive learning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8E569-381D-08A3-88B9-BBF4D8571F13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67FE41FF-BA9B-FA9E-81BB-F72802FE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B4E911B-B6C8-FDE5-5CF6-CF0AEB951FBB}"/>
              </a:ext>
            </a:extLst>
          </p:cNvPr>
          <p:cNvSpPr txBox="1"/>
          <p:nvPr/>
        </p:nvSpPr>
        <p:spPr>
          <a:xfrm>
            <a:off x="45590" y="6162599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 i="1" dirty="0">
                <a:solidFill>
                  <a:srgbClr val="6E7480"/>
                </a:solidFill>
                <a:latin typeface="Avenir Book"/>
              </a:rPr>
              <a:t>Wang, Y., Wang, J., Cao, Z. et al. Molecular contrastive learning of representations via graph neural networks. Nat Mach Intell 4, 279–287 (2022).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99F42-2922-D046-7ADD-27867E8FADFE}"/>
              </a:ext>
            </a:extLst>
          </p:cNvPr>
          <p:cNvSpPr txBox="1"/>
          <p:nvPr/>
        </p:nvSpPr>
        <p:spPr>
          <a:xfrm>
            <a:off x="3015343" y="3255219"/>
            <a:ext cx="611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53E5E8-BFED-E95C-9D46-5954E9997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70" y="1900422"/>
            <a:ext cx="10959228" cy="355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48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Scale and Diversity Impact Pre-training Performance 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Corpus composition beats corpus size.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A 15× bigger corpus made ClinTox substantially worse; a smaller, more diverse one beat a bigger, narrower one.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54480"/>
          <a:ext cx="557784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19039" y="34160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ChemBERTa
10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0277" y="1299933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MoLFormer-XL
1.1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79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1.1 B SMILES on 16 GPUs — linear attention made it affordable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280160"/>
            <a:ext cx="5047488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0" y="175564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784848" y="43251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ChemBERTa-2, masked-LM: a 15× bigger corpus made this task worse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654295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corpus composition matters more than corpus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" y="6238950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Ross et al., Nat. Mach. Intell. 2022, 4, 1256 · Ahmad et al., arXiv:2209.01712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 animBg="1"/>
      <p:bldGraphic spid="14" grpId="0">
        <p:bldAsOne/>
      </p:bldGraphic>
      <p:bldP spid="15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Pre-train once, fine-tune many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Frozen, partial,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0" i="0" dirty="0">
                <a:solidFill>
                  <a:srgbClr val="6E7480"/>
                </a:solidFill>
                <a:latin typeface="Avenir Book"/>
              </a:rPr>
              <a:t>When?</a:t>
            </a:r>
            <a:endParaRPr sz="1500" b="0" i="0" dirty="0">
              <a:solidFill>
                <a:srgbClr val="6E7480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300">
                <a:solidFill>
                  <a:srgbClr val="20242E"/>
                </a:solidFill>
                <a:latin typeface="Avenir Book"/>
              </a:rPr>
              <a:t>Pre-training GNNs: local and global, or negative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“We pre-trained it” guarantees nothing.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Pre-training a weaker architecture cost 6.5 points of ROC-AUC.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481328"/>
          <a:ext cx="65836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63440" y="146303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6B24"/>
                </a:solidFill>
                <a:latin typeface="Avenir Book"/>
              </a:rPr>
              <a:t>+7.2 over no pre-training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81328"/>
            <a:ext cx="3813048" cy="29718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627631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the same recipe, different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8483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121408"/>
            <a:ext cx="1193292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18520" y="2084831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GCN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596896"/>
            <a:ext cx="563499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18520" y="2560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358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GraphSAGE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072384"/>
            <a:ext cx="331470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18520" y="30358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112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2522" y="3547872"/>
            <a:ext cx="1077277" cy="219456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18520" y="35112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-6.5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048255"/>
            <a:ext cx="0" cy="1901953"/>
          </a:xfrm>
          <a:prstGeom prst="line">
            <a:avLst/>
          </a:prstGeom>
          <a:ln w="1270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79" y="4123944"/>
            <a:ext cx="35387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pre-training a weaker architecture actively hurts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8" y="6191062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Hu et al., ICLR 2020, arXiv:1905.12265 — chemistry average; the +9.4% in the abstract is the biology result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recipe: pre-train once, fine-tune many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expensive half is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amortised across the whole community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. You are buying a billion molecules' worth of chemistry for a coffee break.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5532120" cy="3749039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08175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STAGE 1 · PRE-TRAIN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once, by someone with a GPU cluster</a:t>
            </a:r>
          </a:p>
        </p:txBody>
      </p:sp>
      <p:sp>
        <p:nvSpPr>
          <p:cNvPr id="10" name="Oval 9"/>
          <p:cNvSpPr/>
          <p:nvPr/>
        </p:nvSpPr>
        <p:spPr>
          <a:xfrm>
            <a:off x="868679" y="2020824"/>
            <a:ext cx="2011680" cy="1316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00318" y="235330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37777" y="239028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41535" y="261999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3667" y="261224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226713" y="300097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38734" y="265591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11223" y="264668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45980" y="247537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28827" y="239937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782925" y="264959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04328" y="292637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860990" y="296865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290110" y="277157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49670" y="240871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407641" y="232509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39706" y="2920364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09076" y="260345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418462" y="301415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29366" y="242736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495031" y="288705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77978" y="301859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84572" y="273935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06260" y="310335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97397" y="279675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849099" y="309842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400470" y="244839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1997" y="266491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363347" y="239180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906876" y="275188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730754" y="218296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625389" y="302362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030132" y="237363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975324" y="216111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877673" y="265473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925401" y="226343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11558" y="235337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410026" y="272434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861901" y="255440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507796" y="256906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269247" y="241465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097646" y="250144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449304" y="272167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307625" y="276366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914168" y="266908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75189" y="245280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943586" y="309976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5840" y="343814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10⁶ – 10⁹ molecules
no labels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17520" y="2679191"/>
            <a:ext cx="548640" cy="0"/>
          </a:xfrm>
          <a:prstGeom prst="line">
            <a:avLst/>
          </a:prstGeom>
          <a:ln w="2413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rapezoid 58"/>
          <p:cNvSpPr/>
          <p:nvPr/>
        </p:nvSpPr>
        <p:spPr>
          <a:xfrm rot="5400000">
            <a:off x="3913632" y="2103120"/>
            <a:ext cx="1417320" cy="1170432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58768" y="254203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34381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weights worth keeping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59028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days of compute · done once · downloaded by everyone</a:t>
            </a:r>
          </a:p>
        </p:txBody>
      </p:sp>
      <p:sp>
        <p:nvSpPr>
          <p:cNvPr id="63" name="Chevron 62"/>
          <p:cNvSpPr/>
          <p:nvPr/>
        </p:nvSpPr>
        <p:spPr>
          <a:xfrm>
            <a:off x="6163056" y="2505456"/>
            <a:ext cx="1325880" cy="67665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reuse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59168" y="1261872"/>
            <a:ext cx="4572000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59168" y="140817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STAGE 2 · FINE-TUNE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9168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many times, by you, on a laptop</a:t>
            </a:r>
          </a:p>
        </p:txBody>
      </p:sp>
      <p:sp>
        <p:nvSpPr>
          <p:cNvPr id="67" name="Trapezoid 66"/>
          <p:cNvSpPr/>
          <p:nvPr/>
        </p:nvSpPr>
        <p:spPr>
          <a:xfrm rot="5400000">
            <a:off x="7589520" y="2103120"/>
            <a:ext cx="1280160" cy="109728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34656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52560" y="2651760"/>
            <a:ext cx="4754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01200" y="2359152"/>
            <a:ext cx="141732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4551F"/>
                </a:solidFill>
                <a:latin typeface="Avenir Book"/>
              </a:rPr>
              <a:t>your</a:t>
            </a:r>
          </a:p>
          <a:p>
            <a:pPr algn="ctr"/>
            <a:r>
              <a:rPr sz="1050" b="1">
                <a:solidFill>
                  <a:srgbClr val="B4551F"/>
                </a:solidFill>
                <a:latin typeface="Avenir Book"/>
              </a:rPr>
              <a:t>head</a:t>
            </a:r>
          </a:p>
        </p:txBody>
      </p:sp>
      <p:sp>
        <p:nvSpPr>
          <p:cNvPr id="71" name="Oval 70"/>
          <p:cNvSpPr/>
          <p:nvPr/>
        </p:nvSpPr>
        <p:spPr>
          <a:xfrm>
            <a:off x="7894745" y="350624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149540" y="382198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986773" y="363130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041649" y="377325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7971034" y="375258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405864" y="352419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754136" y="37533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211" y="377692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024219" y="36683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817362" y="369245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5864" y="375461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60920" y="39319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10² – 10³ labelled
molecules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0" y="3931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minutes of compute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Three knobs — pick by your dataset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Always run the frozen probe first.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Two minutes, no risk, and it tells you whether the representation contains anything useful for your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FROZEN  (linear probe)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4168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10 – 500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fast · impossible to overfit the encoder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PARTIAL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59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500 – 5,000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unfreeze the top layers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1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1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1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1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8551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1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85632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&gt; 5,000 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1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best ceiling · needs a small learning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/>
      <p:bldP spid="26" grpId="0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/>
      <p:bldP spid="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Where pre-training genuinely pays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Pre-training is a prior: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worth 3× when you have ~100 labels, worth nothing by ~1,000, and occasionally worth less than nothing.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76884"/>
              </p:ext>
            </p:extLst>
          </p:nvPr>
        </p:nvGraphicFramePr>
        <p:xfrm>
          <a:off x="822960" y="1499615"/>
          <a:ext cx="6903720" cy="3331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50516" y="45079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~100 molecules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26464"/>
            <a:ext cx="3630168" cy="3410712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72768"/>
            <a:ext cx="335584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the whole lecture
in one plot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395728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Pre-training buys you data
you do not have.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00400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Its value is largest when
you have almost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8678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005072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It decays to zero — and for
¹³C it went negative — once
you have ~1,000 labels.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28" y="6186714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Han &amp; Choi, J. Phys. Chem. Lett. 2021, 12, 3662 — ¹H MAE vs experimental training-set size (SI Table S2)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same shape, in three different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Different fields, different architectures,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the same shape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the value of pre-training is concentrated where labels are most expensive.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REACTION YIELD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reactions are enough for a pre-trained
reaction encoder to match DFT descriptors +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Buchwald–Hartwig HTE · Yield-BERT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INTERATOMIC POTENTIALS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of the data needed to specialise a foundation MLIP to liquid water,
vs training from scratch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MatterSim · 17 M structures pre-trained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SUBLIMATION ENTHALPIES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tens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of training structures give sub-kJ/mol accuracy after fine-tuning MACE-MP-0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Kaur et al., Faraday Discuss. 2025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Foundation models for atoms — the same play,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You will never train one of these — you will fine-tune one.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Same recipe, applied to potentials instead of properties.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675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29714" y="337901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M3GNet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3175" y="3091897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MACE-MP-0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695" y="249569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MatterSim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1758" y="1927829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Orb-v3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668" y="1742389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eSEN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16736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~600× more training structures in three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54480"/>
            <a:ext cx="3813048" cy="288036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5387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why chemists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121408"/>
            <a:ext cx="3401568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You will almost never train one of
these.
You download it, then fine-tune on
the 50–500 structures you can
afford to compute for your own
system.
Exactly the recipe from the last
slide — applied to potentials
instead of properties.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Matbench Discovery (matbench-discovery.materialsproject.org), values as of 11 Aug 2026 · Riebesell et al., Nat. Mach. Intell. 2025, 7, 836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When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Negative transfer and the replication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Activity cliffs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The baseline you must always run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uncomfortable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Always run ECFP + random forest first.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If your model cannot beat it, you have learned something valuable for the price of two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532120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0242E"/>
                </a:solidFill>
                <a:latin typeface="Avenir Book"/>
              </a:rPr>
              <a:t>25 pre-trained models  ×  25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re-evaluated with hierarchical Bayesian testing
instead of leaderboard 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9280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5292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1304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7316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9280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1304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7316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89280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5292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venir Book"/>
              </a:rPr>
              <a:t>CLAMP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304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7316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268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89280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85292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1304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7316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9280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5292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81304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7316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416551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one model beats the ECFP baseline significantly —
and it is itself fingerprint-based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128016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1426463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D9DCE3"/>
                </a:solidFill>
                <a:latin typeface="Avenir Book"/>
              </a:rPr>
              <a:t>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084831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20242E"/>
                </a:solidFill>
                <a:latin typeface="Avenir Book"/>
              </a:rPr>
              <a:t>nearly all neural models show
negligible or no improvement over
the baseline ECFP molecular
fingerprint.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49300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Praski, Adamczyk &amp; Czech, arXiv:2508.06199 (2025)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3895344"/>
            <a:ext cx="4937760" cy="932688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3986783"/>
            <a:ext cx="4718304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Not a reason to give up on learned representations.
A reason to always run the ECFP + random-forest
baseline first.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Praski, Adamczyk &amp; Czech, arXiv:2508.06199 (2025) · Jiang et al., J. Cheminform. 2021, 13, 12 · Deng et al., Nat. Commun. 2023, 14, 6395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Activity cliffs: where smoothness is a 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Smoothness is an assumption, and cliffs violate it.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Report cliff performance separately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overall RMSE hides exactly the compounds that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630936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081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two molecules, one methyl group apart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125979"/>
            <a:ext cx="415744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8864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103120" y="2846070"/>
            <a:ext cx="415744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687375" y="2846070"/>
            <a:ext cx="415745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87375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87375" y="2125979"/>
            <a:ext cx="415745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03120" y="1709927"/>
            <a:ext cx="0" cy="416052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27064" y="2846070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518864" y="2157983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399" y="35844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56082"/>
                </a:solidFill>
                <a:latin typeface="Avenir Book"/>
              </a:rPr>
              <a:t>IC₅₀  =  8 nM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2125979"/>
            <a:ext cx="415744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82104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166360" y="2846070"/>
            <a:ext cx="415744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750615" y="2846070"/>
            <a:ext cx="415745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50615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50615" y="2125979"/>
            <a:ext cx="415745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66360" y="1709927"/>
            <a:ext cx="0" cy="416052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390304" y="2846070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82104" y="2157983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062347" y="1605914"/>
            <a:ext cx="208026" cy="20802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40" y="35844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IC₅₀  =  4,200 nM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977639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Tanimoto similarity  0.95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61104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500× potency difference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9168" y="1280160"/>
            <a:ext cx="4572000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9168" y="1444751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venir Book"/>
              </a:rPr>
              <a:t>what breaks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18836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1901952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Smooth embeddings put A and B
in the same place.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59689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615184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Errors on cliff compounds reach
1.4 log units — a 25× error in
potency.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31012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3328416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Across 30 targets, SVM on ECFP
was the best method overall.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02336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4041648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Transformers pre-trained on 10 M
SMILES did not beat LSTMs
pre-trained on 36 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06" y="618911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van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Tilborg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,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Alenicheva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&amp;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Grisoni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, J. Chem. Inf. Model. 2022, 62, 5938 (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MoleculeACE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So when is a learned representation worth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shapes are robust;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the crossover is yours to measure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, and it moves with label noise, split type and how narrow your chemistry is.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36192"/>
          <a:ext cx="7178040" cy="297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700272" y="1664207"/>
            <a:ext cx="0" cy="2779776"/>
          </a:xfrm>
          <a:prstGeom prst="line">
            <a:avLst/>
          </a:prstGeom>
          <a:ln w="1397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72912" y="1664207"/>
            <a:ext cx="0" cy="2779776"/>
          </a:xfrm>
          <a:prstGeom prst="line">
            <a:avLst/>
          </a:prstGeom>
          <a:ln w="1397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38020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8020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4551F"/>
                </a:solidFill>
                <a:latin typeface="Avenir Book"/>
              </a:rPr>
              <a:t>fingerprints 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A02B93"/>
                </a:solidFill>
                <a:latin typeface="Avenir Book"/>
              </a:rPr>
              <a:t>pre-training earns its keep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52744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52744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56082"/>
                </a:solidFill>
                <a:latin typeface="Avenir Book"/>
              </a:rPr>
              <a:t>everything converges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81328"/>
            <a:ext cx="3355848" cy="3182111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591055"/>
            <a:ext cx="30815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schematic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956815"/>
            <a:ext cx="3044952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The shapes are real;
the exact crossover is not.
Published estimates put it
anywhere between 10³ and 10⁴
labelled molecules, and it moves
with label noise, split type and
how narrow your chemistry is.
Measure it on your own data —
that is what the tutorial does.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When to pretrain?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225296"/>
            <a:ext cx="1105811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0242E"/>
                </a:solidFill>
                <a:latin typeface="Avenir Book"/>
              </a:rPr>
              <a:t>How many labelled examples do you have?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331720" y="1645920"/>
            <a:ext cx="3764264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&lt;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Do not train a deep model.
ECFP + RF, or a Gaussian process.
Consider frozen pre-trained embeddings
as extra features.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984" y="1645920"/>
            <a:ext cx="57928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56082"/>
                </a:solidFill>
                <a:latin typeface="Avenir Book"/>
              </a:rPr>
              <a:t>100 – 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This is where pre-training pays.
Frozen embeddings first, then partial
fine-tuning. Always report the ECFP baseline.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984" y="1645920"/>
            <a:ext cx="3880119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11311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1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A02B93"/>
                </a:solidFill>
                <a:latin typeface="Avenir Book"/>
              </a:rPr>
              <a:t>&gt; 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Train from scratch on your own data.
Pre-training becomes a convenience,
not a necessity.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89704"/>
            <a:ext cx="11058113" cy="530352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562856"/>
            <a:ext cx="1105811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In all three columns: run the baseline first, and split by scaffold, not at random.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2847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129844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Labels are the bottleneck, not molecules.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Everything today is a way of spending unlabelled data to make up for scarce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197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7568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Unsupervised methods find real structure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— reaction classes, the periodic table — but a t-SNE plot tells you about your fingerprint, not about chemistry.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921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85292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The VAE's decoder disappointed; its encoder changed the field.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Pretext task → keep the encoder → reuse it. That is the whole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64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63016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Validity was the easy metric.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100% valid is achieved by construction and says nothing about quality, novelty or synthesizability.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9369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40740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Pre-training is a prior.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Worth ~3× at a hundred labels, worth nothing at ten thousand, occasionally worth less than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709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518464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Always run ECFP + random forest, and always split by scaffold.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In the largest independent replication, almost nothing beat that baseline.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664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280160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Chemical VAE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Gómez-Bombarelli et al., ACS Cent. Sci.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2018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268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107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64792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SELFIES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Krenn et al., Mach. Learn.: Sci. Technol.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2020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1, 045024 · and the critique: Skinnider,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2024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6, 437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345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87168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Pre-training GNNs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Hu et al., ICLR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2020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arXiv:1905.12265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808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71800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MoLFormer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Ross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1256 ·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MolCLR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Wang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279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804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94176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Reaction space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Schwaller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2021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3, 144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509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Transfer for NMR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Han &amp; Choi, J. Phys. Chem. Lett.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2021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12, 3662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4972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663440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Do they actually help?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Deng et al., Nat. Commun.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2023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14, 6395 · Praski et al., arXiv:2508.06199 (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2025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) · van Tilborg et al., JCIM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62, 5938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721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385816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Evaluation guidelines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Bender et al., Nat. Rev. Chem.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6, 428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19" y="233172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242E"/>
                </a:solidFill>
                <a:latin typeface="Avenir Book"/>
              </a:rPr>
              <a:t>Learned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06324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56082"/>
                </a:solidFill>
                <a:latin typeface="Avenir Book"/>
              </a:rPr>
              <a:t>Tutorial · 15:15 · RSC 275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52044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E7480"/>
                </a:solidFill>
                <a:latin typeface="Avenir Book"/>
              </a:rPr>
              <a:t>Chemical space maps · frozen vs learned embeddings · the learning-curve crossover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38912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E7480"/>
                </a:solidFill>
                <a:latin typeface="Avenir Book"/>
              </a:rPr>
              <a:t>jul@caltech.edu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14664</Words>
  <Application>Microsoft Macintosh PowerPoint</Application>
  <PresentationFormat>Widescreen</PresentationFormat>
  <Paragraphs>1653</Paragraphs>
  <Slides>53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Schleinitz, Jules</cp:lastModifiedBy>
  <cp:revision>14</cp:revision>
  <dcterms:created xsi:type="dcterms:W3CDTF">2013-01-27T09:14:16Z</dcterms:created>
  <dcterms:modified xsi:type="dcterms:W3CDTF">2026-08-12T20:30:57Z</dcterms:modified>
  <cp:category/>
</cp:coreProperties>
</file>