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6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30.xml" ContentType="application/vnd.openxmlformats-officedocument.presentationml.notesSlide+xml"/>
  <Override PartName="/ppt/charts/chart11.xml" ContentType="application/vnd.openxmlformats-officedocument.drawingml.chart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rts/chart12.xml" ContentType="application/vnd.openxmlformats-officedocument.drawingml.chart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rts/chart13.xml" ContentType="application/vnd.openxmlformats-officedocument.drawingml.chart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rts/chart14.xml" ContentType="application/vnd.openxmlformats-officedocument.drawingml.chart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43"/>
    <p:restoredTop sz="72734"/>
  </p:normalViewPr>
  <p:slideViewPr>
    <p:cSldViewPr snapToGrid="0" snapToObjects="1">
      <p:cViewPr>
        <p:scale>
          <a:sx n="54" d="100"/>
          <a:sy n="54" d="100"/>
        </p:scale>
        <p:origin x="584" y="9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log10 molecules</c:v>
                </c:pt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D9DCE3"/>
              </a:solidFill>
            </c:spPr>
            <c:extLst>
              <c:ext xmlns:c16="http://schemas.microsoft.com/office/drawing/2014/chart" uri="{C3380CC4-5D6E-409C-BE32-E72D297353CC}">
                <c16:uniqueId val="{00000001-D752-334B-9792-4FD263DFADDE}"/>
              </c:ext>
            </c:extLst>
          </c:dPt>
          <c:dPt>
            <c:idx val="1"/>
            <c:invertIfNegative val="1"/>
            <c:bubble3D val="0"/>
            <c:spPr>
              <a:solidFill>
                <a:srgbClr val="D9DCE3"/>
              </a:solidFill>
            </c:spPr>
            <c:extLst>
              <c:ext xmlns:c16="http://schemas.microsoft.com/office/drawing/2014/chart" uri="{C3380CC4-5D6E-409C-BE32-E72D297353CC}">
                <c16:uniqueId val="{00000003-D752-334B-9792-4FD263DFADDE}"/>
              </c:ext>
            </c:extLst>
          </c:dPt>
          <c:dPt>
            <c:idx val="2"/>
            <c:invertIfNegative val="1"/>
            <c:bubble3D val="0"/>
            <c:spPr>
              <a:solidFill>
                <a:srgbClr val="4E9AB8"/>
              </a:solidFill>
            </c:spPr>
            <c:extLst>
              <c:ext xmlns:c16="http://schemas.microsoft.com/office/drawing/2014/chart" uri="{C3380CC4-5D6E-409C-BE32-E72D297353CC}">
                <c16:uniqueId val="{00000005-D752-334B-9792-4FD263DFADDE}"/>
              </c:ext>
            </c:extLst>
          </c:dPt>
          <c:dPt>
            <c:idx val="3"/>
            <c:invertIfNegative val="1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7-D752-334B-9792-4FD263DFADDE}"/>
              </c:ext>
            </c:extLst>
          </c:dPt>
          <c:dPt>
            <c:idx val="4"/>
            <c:invertIfNegative val="1"/>
            <c:bubble3D val="0"/>
            <c:spPr>
              <a:solidFill>
                <a:srgbClr val="E97132"/>
              </a:solidFill>
            </c:spPr>
            <c:extLst>
              <c:ext xmlns:c16="http://schemas.microsoft.com/office/drawing/2014/chart" uri="{C3380CC4-5D6E-409C-BE32-E72D297353CC}">
                <c16:uniqueId val="{00000009-D752-334B-9792-4FD263DFADDE}"/>
              </c:ext>
            </c:extLst>
          </c:dPt>
          <c:dPt>
            <c:idx val="5"/>
            <c:invertIfNegative val="1"/>
            <c:bubble3D val="0"/>
            <c:spPr>
              <a:solidFill>
                <a:srgbClr val="B4551F"/>
              </a:solidFill>
            </c:spPr>
            <c:extLst>
              <c:ext xmlns:c16="http://schemas.microsoft.com/office/drawing/2014/chart" uri="{C3380CC4-5D6E-409C-BE32-E72D297353CC}">
                <c16:uniqueId val="{0000000B-D752-334B-9792-4FD263DFADDE}"/>
              </c:ext>
            </c:extLst>
          </c:dPt>
          <c:cat>
            <c:strRef>
              <c:f>Sheet1!$A$2:$A$7</c:f>
              <c:strCache>
                <c:ptCount val="6"/>
                <c:pt idx="0">
                  <c:v>GDB-17
enumerated
1.7 × 10¹¹</c:v>
                </c:pt>
                <c:pt idx="1">
                  <c:v>Enamine REAL
orderable
9.6 × 10⁹</c:v>
                </c:pt>
                <c:pt idx="2">
                  <c:v>PubChem
catalogued
1.2 × 10⁸</c:v>
                </c:pt>
                <c:pt idx="3">
                  <c:v>ChEMBL
bioactivity
2.4 × 10⁶</c:v>
                </c:pt>
                <c:pt idx="4">
                  <c:v>MoleculeNet
typical task
~2 × 10³</c:v>
                </c:pt>
                <c:pt idx="5">
                  <c:v>Experimental data
10-1000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11.22</c:v>
                </c:pt>
                <c:pt idx="1">
                  <c:v>9.98</c:v>
                </c:pt>
                <c:pt idx="2">
                  <c:v>8.08</c:v>
                </c:pt>
                <c:pt idx="3">
                  <c:v>6.38</c:v>
                </c:pt>
                <c:pt idx="4">
                  <c:v>3.3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752-334B-9792-4FD263DFAD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2"/>
          <c:min val="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150" b="0">
                    <a:solidFill>
                      <a:srgbClr val="6E7480"/>
                    </a:solidFill>
                    <a:latin typeface="Avenir Book"/>
                  </a:rPr>
                  <a:t>molecules  (log₁₀)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50">
          <a:latin typeface="Avenir Book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explained</c:v>
                </c:pt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E97132"/>
              </a:solidFill>
            </c:spPr>
            <c:extLst>
              <c:ext xmlns:c16="http://schemas.microsoft.com/office/drawing/2014/chart" uri="{C3380CC4-5D6E-409C-BE32-E72D297353CC}">
                <c16:uniqueId val="{00000001-F292-CB45-A9C7-B39ADE27F073}"/>
              </c:ext>
            </c:extLst>
          </c:dPt>
          <c:dPt>
            <c:idx val="1"/>
            <c:invertIfNegative val="1"/>
            <c:bubble3D val="0"/>
            <c:spPr>
              <a:solidFill>
                <a:srgbClr val="A02B93"/>
              </a:solidFill>
            </c:spPr>
            <c:extLst>
              <c:ext xmlns:c16="http://schemas.microsoft.com/office/drawing/2014/chart" uri="{C3380CC4-5D6E-409C-BE32-E72D297353CC}">
                <c16:uniqueId val="{00000003-F292-CB45-A9C7-B39ADE27F073}"/>
              </c:ext>
            </c:extLst>
          </c:dPt>
          <c:dPt>
            <c:idx val="2"/>
            <c:invertIfNegative val="1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5-F292-CB45-A9C7-B39ADE27F073}"/>
              </c:ext>
            </c:extLst>
          </c:dPt>
          <c:dPt>
            <c:idx val="3"/>
            <c:invertIfNegative val="1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7-F292-CB45-A9C7-B39ADE27F073}"/>
              </c:ext>
            </c:extLst>
          </c:dPt>
          <c:dPt>
            <c:idx val="4"/>
            <c:invertIfNegative val="1"/>
            <c:bubble3D val="0"/>
            <c:spPr>
              <a:solidFill>
                <a:srgbClr val="4E9AB8"/>
              </a:solidFill>
            </c:spPr>
            <c:extLst>
              <c:ext xmlns:c16="http://schemas.microsoft.com/office/drawing/2014/chart" uri="{C3380CC4-5D6E-409C-BE32-E72D297353CC}">
                <c16:uniqueId val="{00000009-F292-CB45-A9C7-B39ADE27F073}"/>
              </c:ext>
            </c:extLst>
          </c:dPt>
          <c:dPt>
            <c:idx val="5"/>
            <c:invertIfNegative val="1"/>
            <c:bubble3D val="0"/>
            <c:spPr>
              <a:solidFill>
                <a:srgbClr val="4E9AB8"/>
              </a:solidFill>
            </c:spPr>
            <c:extLst>
              <c:ext xmlns:c16="http://schemas.microsoft.com/office/drawing/2014/chart" uri="{C3380CC4-5D6E-409C-BE32-E72D297353CC}">
                <c16:uniqueId val="{0000000B-F292-CB45-A9C7-B39ADE27F073}"/>
              </c:ext>
            </c:extLst>
          </c:dPt>
          <c:dPt>
            <c:idx val="6"/>
            <c:invertIfNegative val="1"/>
            <c:bubble3D val="0"/>
            <c:spPr>
              <a:solidFill>
                <a:srgbClr val="D9DCE3"/>
              </a:solidFill>
            </c:spPr>
            <c:extLst>
              <c:ext xmlns:c16="http://schemas.microsoft.com/office/drawing/2014/chart" uri="{C3380CC4-5D6E-409C-BE32-E72D297353CC}">
                <c16:uniqueId val="{0000000D-F292-CB45-A9C7-B39ADE27F073}"/>
              </c:ext>
            </c:extLst>
          </c:dPt>
          <c:dPt>
            <c:idx val="7"/>
            <c:invertIfNegative val="1"/>
            <c:bubble3D val="0"/>
            <c:spPr>
              <a:solidFill>
                <a:srgbClr val="D9DCE3"/>
              </a:solidFill>
            </c:spPr>
            <c:extLst>
              <c:ext xmlns:c16="http://schemas.microsoft.com/office/drawing/2014/chart" uri="{C3380CC4-5D6E-409C-BE32-E72D297353CC}">
                <c16:uniqueId val="{0000000F-F292-CB45-A9C7-B39ADE27F073}"/>
              </c:ext>
            </c:extLst>
          </c:dPt>
          <c:cat>
            <c:strRef>
              <c:f>Sheet1!$A$2:$A$9</c:f>
              <c:strCache>
                <c:ptCount val="8"/>
                <c:pt idx="0">
                  <c:v>PC1</c:v>
                </c:pt>
                <c:pt idx="1">
                  <c:v>PC2</c:v>
                </c:pt>
                <c:pt idx="2">
                  <c:v>PC3</c:v>
                </c:pt>
                <c:pt idx="3">
                  <c:v>PC4</c:v>
                </c:pt>
                <c:pt idx="4">
                  <c:v>PC5</c:v>
                </c:pt>
                <c:pt idx="5">
                  <c:v>PC6</c:v>
                </c:pt>
                <c:pt idx="6">
                  <c:v>PC7</c:v>
                </c:pt>
                <c:pt idx="7">
                  <c:v>PC8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41</c:v>
                </c:pt>
                <c:pt idx="1">
                  <c:v>19</c:v>
                </c:pt>
                <c:pt idx="2">
                  <c:v>11</c:v>
                </c:pt>
                <c:pt idx="3">
                  <c:v>7</c:v>
                </c:pt>
                <c:pt idx="4">
                  <c:v>5</c:v>
                </c:pt>
                <c:pt idx="5">
                  <c:v>4</c:v>
                </c:pt>
                <c:pt idx="6">
                  <c:v>3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292-CB45-A9C7-B39ADE27F0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5"/>
          <c:min val="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100" b="0">
                    <a:solidFill>
                      <a:srgbClr val="6E7480"/>
                    </a:solidFill>
                    <a:latin typeface="Avenir Book"/>
                  </a:rPr>
                  <a:t>variance explained 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latin typeface="Avenir Book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TMAP</c:v>
                </c:pt>
              </c:strCache>
            </c:strRef>
          </c:tx>
          <c:spPr>
            <a:solidFill>
              <a:srgbClr val="156082"/>
            </a:solidFill>
            <a:ln>
              <a:noFill/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10 k</c:v>
                </c:pt>
                <c:pt idx="1">
                  <c:v>100 k</c:v>
                </c:pt>
                <c:pt idx="2">
                  <c:v>500 k</c:v>
                </c:pt>
                <c:pt idx="3">
                  <c:v>1 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4.9000000000000004</c:v>
                </c:pt>
                <c:pt idx="1">
                  <c:v>33.5</c:v>
                </c:pt>
                <c:pt idx="2">
                  <c:v>175.9</c:v>
                </c:pt>
                <c:pt idx="3">
                  <c:v>355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0AE-494F-8EE9-039095C55F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UMAP</c:v>
                </c:pt>
              </c:strCache>
            </c:strRef>
          </c:tx>
          <c:spPr>
            <a:solidFill>
              <a:srgbClr val="E97132"/>
            </a:solidFill>
            <a:ln>
              <a:noFill/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10 k</c:v>
                </c:pt>
                <c:pt idx="1">
                  <c:v>100 k</c:v>
                </c:pt>
                <c:pt idx="2">
                  <c:v>500 k</c:v>
                </c:pt>
                <c:pt idx="3">
                  <c:v>1 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</c:v>
                </c:pt>
                <c:pt idx="1">
                  <c:v>115.7</c:v>
                </c:pt>
                <c:pt idx="2">
                  <c:v>3578</c:v>
                </c:pt>
                <c:pt idx="3">
                  <c:v>41326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0AE-494F-8EE9-039095C55F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logBase val="10"/>
          <c:orientation val="minMax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100" b="0">
                    <a:solidFill>
                      <a:srgbClr val="6E7480"/>
                    </a:solidFill>
                    <a:latin typeface="Avenir Book"/>
                  </a:rPr>
                  <a:t>wall-clock seconds  (log scale)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20242E"/>
              </a:solidFill>
              <a:latin typeface="Avenir Book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000">
          <a:latin typeface="Avenir Book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% of drugs covered</c:v>
                </c:pt>
              </c:strCache>
            </c:strRef>
          </c:tx>
          <c:spPr>
            <a:ln w="33020">
              <a:solidFill>
                <a:srgbClr val="156082"/>
              </a:solidFill>
            </a:ln>
          </c:spPr>
          <c:marker>
            <c:symbol val="circle"/>
            <c:size val="6"/>
            <c:spPr>
              <a:solidFill>
                <a:srgbClr val="156082"/>
              </a:solidFill>
              <a:ln w="9525">
                <a:solidFill>
                  <a:srgbClr val="156082"/>
                </a:solidFill>
              </a:ln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32</c:v>
                </c:pt>
                <c:pt idx="5">
                  <c:v>60</c:v>
                </c:pt>
                <c:pt idx="6">
                  <c:v>120</c:v>
                </c:pt>
                <c:pt idx="7">
                  <c:v>300</c:v>
                </c:pt>
                <c:pt idx="8">
                  <c:v>700</c:v>
                </c:pt>
                <c:pt idx="9">
                  <c:v>1179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21</c:v>
                </c:pt>
                <c:pt idx="2">
                  <c:v>32</c:v>
                </c:pt>
                <c:pt idx="3">
                  <c:v>42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82</c:v>
                </c:pt>
                <c:pt idx="8">
                  <c:v>92</c:v>
                </c:pt>
                <c:pt idx="9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84B-8942-B0ED-DD91D43AC3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200"/>
          <c:min val="0"/>
        </c:scaling>
        <c:delete val="0"/>
        <c:axPos val="b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number of distinct frameworks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% of the 5,120 drugs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50">
          <a:latin typeface="Avenir Book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classification accuracy</c:v>
                </c:pt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6E7480"/>
              </a:solidFill>
            </c:spPr>
            <c:extLst>
              <c:ext xmlns:c16="http://schemas.microsoft.com/office/drawing/2014/chart" uri="{C3380CC4-5D6E-409C-BE32-E72D297353CC}">
                <c16:uniqueId val="{00000001-CE39-1645-905B-9261D39F63C8}"/>
              </c:ext>
            </c:extLst>
          </c:dPt>
          <c:dPt>
            <c:idx val="1"/>
            <c:invertIfNegative val="1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3-CE39-1645-905B-9261D39F63C8}"/>
              </c:ext>
            </c:extLst>
          </c:dPt>
          <c:dPt>
            <c:idx val="2"/>
            <c:invertIfNegative val="1"/>
            <c:bubble3D val="0"/>
            <c:spPr>
              <a:solidFill>
                <a:srgbClr val="E97132"/>
              </a:solidFill>
            </c:spPr>
            <c:extLst>
              <c:ext xmlns:c16="http://schemas.microsoft.com/office/drawing/2014/chart" uri="{C3380CC4-5D6E-409C-BE32-E72D297353CC}">
                <c16:uniqueId val="{00000005-CE39-1645-905B-9261D39F63C8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1">
                    <a:solidFill>
                      <a:srgbClr val="20242E"/>
                    </a:solidFill>
                    <a:latin typeface="Avenir Book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hand-crafted
fingerprint + 5-NN</c:v>
                </c:pt>
                <c:pt idx="1">
                  <c:v>self-supervised
pre-training only + 5-NN</c:v>
                </c:pt>
                <c:pt idx="2">
                  <c:v>fine-tuned
BERT + 5-NN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</c:v>
                </c:pt>
                <c:pt idx="1">
                  <c:v>81.900000000000006</c:v>
                </c:pt>
                <c:pt idx="2">
                  <c:v>98.9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E39-1645-905B-9261D39F63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200" b="0">
                    <a:solidFill>
                      <a:srgbClr val="6E7480"/>
                    </a:solidFill>
                    <a:latin typeface="Avenir Book"/>
                  </a:rPr>
                  <a:t>accuracy over 792 reaction classes 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latin typeface="Avenir Book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of random latent points that decode to a valid molecule</c:v>
                </c:pt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1-75EB-614E-A4E9-9C1B2D814B8D}"/>
              </c:ext>
            </c:extLst>
          </c:dPt>
          <c:dPt>
            <c:idx val="1"/>
            <c:invertIfNegative val="1"/>
            <c:bubble3D val="0"/>
            <c:spPr>
              <a:solidFill>
                <a:srgbClr val="E97132"/>
              </a:solidFill>
            </c:spPr>
            <c:extLst>
              <c:ext xmlns:c16="http://schemas.microsoft.com/office/drawing/2014/chart" uri="{C3380CC4-5D6E-409C-BE32-E72D297353CC}">
                <c16:uniqueId val="{00000003-75EB-614E-A4E9-9C1B2D814B8D}"/>
              </c:ext>
            </c:extLst>
          </c:dPt>
          <c:dPt>
            <c:idx val="2"/>
            <c:invertIfNegative val="1"/>
            <c:bubble3D val="0"/>
            <c:spPr>
              <a:solidFill>
                <a:srgbClr val="B4551F"/>
              </a:solidFill>
            </c:spPr>
            <c:extLst>
              <c:ext xmlns:c16="http://schemas.microsoft.com/office/drawing/2014/chart" uri="{C3380CC4-5D6E-409C-BE32-E72D297353CC}">
                <c16:uniqueId val="{00000005-75EB-614E-A4E9-9C1B2D814B8D}"/>
              </c:ext>
            </c:extLst>
          </c:dPt>
          <c:dPt>
            <c:idx val="3"/>
            <c:invertIfNegative val="1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7-75EB-614E-A4E9-9C1B2D814B8D}"/>
              </c:ext>
            </c:extLst>
          </c:dPt>
          <c:dPt>
            <c:idx val="4"/>
            <c:invertIfNegative val="1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9-75EB-614E-A4E9-9C1B2D814B8D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20242E"/>
                    </a:solidFill>
                    <a:latin typeface="Avenir Book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character VAE
(ChemVAE)</c:v>
                </c:pt>
                <c:pt idx="1">
                  <c:v>grammar VAE</c:v>
                </c:pt>
                <c:pt idx="2">
                  <c:v>syntax-directed
VAE</c:v>
                </c:pt>
                <c:pt idx="3">
                  <c:v>junction-tree VAE</c:v>
                </c:pt>
                <c:pt idx="4">
                  <c:v>SELFIES
(any model)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</c:v>
                </c:pt>
                <c:pt idx="1">
                  <c:v>7.2</c:v>
                </c:pt>
                <c:pt idx="2">
                  <c:v>43.5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5EB-614E-A4E9-9C1B2D814B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40"/>
          <c:min val="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150" b="0">
                    <a:solidFill>
                      <a:srgbClr val="6E7480"/>
                    </a:solidFill>
                    <a:latin typeface="Avenir Book"/>
                  </a:rPr>
                  <a:t>prior validity 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50">
          <a:latin typeface="Avenir Book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novelty</c:v>
                </c:pt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1-C4BE-7D4C-A5B2-E3828D755D63}"/>
              </c:ext>
            </c:extLst>
          </c:dPt>
          <c:dPt>
            <c:idx val="1"/>
            <c:invertIfNegative val="1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3-C4BE-7D4C-A5B2-E3828D755D63}"/>
              </c:ext>
            </c:extLst>
          </c:dPt>
          <c:cat>
            <c:strRef>
              <c:f>Sheet1!$A$2:$A$3</c:f>
              <c:strCache>
                <c:ptCount val="2"/>
                <c:pt idx="0">
                  <c:v>char-RNN</c:v>
                </c:pt>
                <c:pt idx="1">
                  <c:v>VAE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0.84199999999999997</c:v>
                </c:pt>
                <c:pt idx="1">
                  <c:v>0.69499999999999995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4BE-7D4C-A5B2-E3828D755D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novelty (MOSES)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50">
          <a:latin typeface="Avenir Book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196B24"/>
              </a:solidFill>
            </c:spPr>
            <c:extLst>
              <c:ext xmlns:c16="http://schemas.microsoft.com/office/drawing/2014/chart" uri="{C3380CC4-5D6E-409C-BE32-E72D297353CC}">
                <c16:uniqueId val="{00000001-F7F1-1740-AFDA-6A7A72F0DA84}"/>
              </c:ext>
            </c:extLst>
          </c:dPt>
          <c:dPt>
            <c:idx val="1"/>
            <c:invertIfNegative val="1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3-F7F1-1740-AFDA-6A7A72F0DA84}"/>
              </c:ext>
            </c:extLst>
          </c:dPt>
          <c:dPt>
            <c:idx val="2"/>
            <c:invertIfNegative val="1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5-F7F1-1740-AFDA-6A7A72F0DA84}"/>
              </c:ext>
            </c:extLst>
          </c:dPt>
          <c:cat>
            <c:strRef>
              <c:f>Sheet1!$A$2:$A$4</c:f>
              <c:strCache>
                <c:ptCount val="3"/>
                <c:pt idx="0">
                  <c:v>graph GA
30 s</c:v>
                </c:pt>
                <c:pt idx="1">
                  <c:v>ChemTS
8 h</c:v>
                </c:pt>
                <c:pt idx="2">
                  <c:v>char-VAE
+ BO, 8 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7.4</c:v>
                </c:pt>
                <c:pt idx="1">
                  <c:v>5.6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7F1-1740-AFDA-6A7A72F0DA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.5"/>
          <c:min val="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best penalised logP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50">
          <a:latin typeface="Avenir Book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BBBP ROC-AUC</c:v>
                </c:pt>
              </c:strCache>
            </c:strRef>
          </c:tx>
          <c:spPr>
            <a:ln w="33020">
              <a:solidFill>
                <a:srgbClr val="156082"/>
              </a:solidFill>
            </a:ln>
          </c:spPr>
          <c:marker>
            <c:symbol val="circle"/>
            <c:size val="8"/>
            <c:spPr>
              <a:solidFill>
                <a:srgbClr val="156082"/>
              </a:solidFill>
              <a:ln w="9525">
                <a:solidFill>
                  <a:srgbClr val="156082"/>
                </a:solidFill>
              </a:ln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9.0399999999999991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64.3</c:v>
                </c:pt>
                <c:pt idx="1">
                  <c:v>90.9</c:v>
                </c:pt>
                <c:pt idx="2">
                  <c:v>91.5</c:v>
                </c:pt>
                <c:pt idx="3">
                  <c:v>93.7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C75-A945-8724-9829C73A6F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9.6"/>
          <c:min val="5.5"/>
        </c:scaling>
        <c:delete val="0"/>
        <c:axPos val="b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pre-training corpus  (log₁₀ molecules)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00"/>
          <c:min val="6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BBBP ROC-AUC 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50">
          <a:latin typeface="Avenir Book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ClinTox ROC-AUC</c:v>
                </c:pt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E97132"/>
              </a:solidFill>
            </c:spPr>
            <c:extLst>
              <c:ext xmlns:c16="http://schemas.microsoft.com/office/drawing/2014/chart" uri="{C3380CC4-5D6E-409C-BE32-E72D297353CC}">
                <c16:uniqueId val="{00000001-872A-734A-8A07-794B4EC5EF27}"/>
              </c:ext>
            </c:extLst>
          </c:dPt>
          <c:dPt>
            <c:idx val="1"/>
            <c:invertIfNegative val="1"/>
            <c:bubble3D val="0"/>
            <c:spPr>
              <a:solidFill>
                <a:srgbClr val="E97132"/>
              </a:solidFill>
            </c:spPr>
            <c:extLst>
              <c:ext xmlns:c16="http://schemas.microsoft.com/office/drawing/2014/chart" uri="{C3380CC4-5D6E-409C-BE32-E72D297353CC}">
                <c16:uniqueId val="{00000003-872A-734A-8A07-794B4EC5EF27}"/>
              </c:ext>
            </c:extLst>
          </c:dPt>
          <c:dPt>
            <c:idx val="2"/>
            <c:invertIfNegative val="1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5-872A-734A-8A07-794B4EC5EF27}"/>
              </c:ext>
            </c:extLst>
          </c:dPt>
          <c:cat>
            <c:strRef>
              <c:f>Sheet1!$A$2:$A$4</c:f>
              <c:strCache>
                <c:ptCount val="3"/>
                <c:pt idx="0">
                  <c:v>5 M</c:v>
                </c:pt>
                <c:pt idx="1">
                  <c:v>10 M</c:v>
                </c:pt>
                <c:pt idx="2">
                  <c:v>77 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0.34100000000000003</c:v>
                </c:pt>
                <c:pt idx="1">
                  <c:v>0.34899999999999998</c:v>
                </c:pt>
                <c:pt idx="2">
                  <c:v>0.23899999999999999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72A-734A-8A07-794B4EC5EF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5"/>
          <c:min val="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100" b="0">
                    <a:solidFill>
                      <a:srgbClr val="6E7480"/>
                    </a:solidFill>
                    <a:latin typeface="Avenir Book"/>
                  </a:rPr>
                  <a:t>ClinTox ROC-AUC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latin typeface="Avenir Book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ROC-AUC</c:v>
                </c:pt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6E7480"/>
              </a:solidFill>
            </c:spPr>
            <c:extLst>
              <c:ext xmlns:c16="http://schemas.microsoft.com/office/drawing/2014/chart" uri="{C3380CC4-5D6E-409C-BE32-E72D297353CC}">
                <c16:uniqueId val="{00000001-4B29-5641-A40F-B73A18CFD1D1}"/>
              </c:ext>
            </c:extLst>
          </c:dPt>
          <c:dPt>
            <c:idx val="1"/>
            <c:invertIfNegative val="1"/>
            <c:bubble3D val="0"/>
            <c:spPr>
              <a:solidFill>
                <a:srgbClr val="4E9AB8"/>
              </a:solidFill>
            </c:spPr>
            <c:extLst>
              <c:ext xmlns:c16="http://schemas.microsoft.com/office/drawing/2014/chart" uri="{C3380CC4-5D6E-409C-BE32-E72D297353CC}">
                <c16:uniqueId val="{00000003-4B29-5641-A40F-B73A18CFD1D1}"/>
              </c:ext>
            </c:extLst>
          </c:dPt>
          <c:dPt>
            <c:idx val="2"/>
            <c:invertIfNegative val="1"/>
            <c:bubble3D val="0"/>
            <c:spPr>
              <a:solidFill>
                <a:srgbClr val="4E9AB8"/>
              </a:solidFill>
            </c:spPr>
            <c:extLst>
              <c:ext xmlns:c16="http://schemas.microsoft.com/office/drawing/2014/chart" uri="{C3380CC4-5D6E-409C-BE32-E72D297353CC}">
                <c16:uniqueId val="{00000005-4B29-5641-A40F-B73A18CFD1D1}"/>
              </c:ext>
            </c:extLst>
          </c:dPt>
          <c:dPt>
            <c:idx val="3"/>
            <c:invertIfNegative val="1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7-4B29-5641-A40F-B73A18CFD1D1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20242E"/>
                    </a:solidFill>
                    <a:latin typeface="Avenir Book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
pre-training</c:v>
                </c:pt>
                <c:pt idx="1">
                  <c:v>node-level
only</c:v>
                </c:pt>
                <c:pt idx="2">
                  <c:v>graph-level
only</c:v>
                </c:pt>
                <c:pt idx="3">
                  <c:v>node + graph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</c:v>
                </c:pt>
                <c:pt idx="1">
                  <c:v>71.099999999999994</c:v>
                </c:pt>
                <c:pt idx="2">
                  <c:v>70</c:v>
                </c:pt>
                <c:pt idx="3">
                  <c:v>74.2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B29-5641-A40F-B73A18CFD1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8"/>
          <c:min val="6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150" b="0">
                    <a:solidFill>
                      <a:srgbClr val="6E7480"/>
                    </a:solidFill>
                    <a:latin typeface="Avenir Book"/>
                  </a:rPr>
                  <a:t>average ROC-AUC over 8 datasets 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50">
          <a:latin typeface="Avenir Book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pre-trained on DFT, then fine-tuned</c:v>
                </c:pt>
              </c:strCache>
            </c:strRef>
          </c:tx>
          <c:spPr>
            <a:ln w="35560">
              <a:solidFill>
                <a:srgbClr val="156082"/>
              </a:solidFill>
            </a:ln>
          </c:spPr>
          <c:marker>
            <c:symbol val="circle"/>
            <c:size val="8"/>
            <c:spPr>
              <a:solidFill>
                <a:srgbClr val="156082"/>
              </a:solidFill>
              <a:ln w="9525">
                <a:solidFill>
                  <a:srgbClr val="156082"/>
                </a:solidFill>
              </a:ln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97</c:v>
                </c:pt>
                <c:pt idx="1">
                  <c:v>386</c:v>
                </c:pt>
                <c:pt idx="2">
                  <c:v>676</c:v>
                </c:pt>
                <c:pt idx="3">
                  <c:v>966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0.43</c:v>
                </c:pt>
                <c:pt idx="1">
                  <c:v>0.37</c:v>
                </c:pt>
                <c:pt idx="2">
                  <c:v>0.34</c:v>
                </c:pt>
                <c:pt idx="3">
                  <c:v>0.33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CC3-7247-B203-915B3C9137F5}"/>
            </c:ext>
          </c:extLst>
        </c:ser>
        <c:ser>
          <c:idx val="1"/>
          <c:order val="1"/>
          <c:tx>
            <c:strRef>
              <c:f>Sheet1!$B$7</c:f>
              <c:strCache>
                <c:ptCount val="1"/>
                <c:pt idx="0">
                  <c:v>trained from scratch on experiment</c:v>
                </c:pt>
              </c:strCache>
            </c:strRef>
          </c:tx>
          <c:spPr>
            <a:ln w="35560">
              <a:solidFill>
                <a:srgbClr val="E97132"/>
              </a:solidFill>
              <a:prstDash val="dash"/>
            </a:ln>
          </c:spPr>
          <c:marker>
            <c:symbol val="circle"/>
            <c:size val="8"/>
            <c:spPr>
              <a:solidFill>
                <a:srgbClr val="E97132"/>
              </a:solidFill>
              <a:ln w="9525">
                <a:solidFill>
                  <a:srgbClr val="E97132"/>
                </a:solidFill>
              </a:ln>
            </c:spPr>
          </c:marker>
          <c:xVal>
            <c:numRef>
              <c:f>Sheet1!$A$8:$A$11</c:f>
              <c:numCache>
                <c:formatCode>General</c:formatCode>
                <c:ptCount val="4"/>
                <c:pt idx="0">
                  <c:v>97</c:v>
                </c:pt>
                <c:pt idx="1">
                  <c:v>386</c:v>
                </c:pt>
                <c:pt idx="2">
                  <c:v>676</c:v>
                </c:pt>
                <c:pt idx="3">
                  <c:v>966</c:v>
                </c:pt>
              </c:numCache>
            </c:numRef>
          </c:xVal>
          <c:yVal>
            <c:numRef>
              <c:f>Sheet1!$B$8:$B$11</c:f>
              <c:numCache>
                <c:formatCode>General</c:formatCode>
                <c:ptCount val="4"/>
                <c:pt idx="0">
                  <c:v>1.35</c:v>
                </c:pt>
                <c:pt idx="1">
                  <c:v>0.41</c:v>
                </c:pt>
                <c:pt idx="2">
                  <c:v>0.4</c:v>
                </c:pt>
                <c:pt idx="3">
                  <c:v>0.39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CC3-7247-B203-915B3C9137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050"/>
          <c:min val="0"/>
        </c:scaling>
        <c:delete val="0"/>
        <c:axPos val="b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experimental training molecules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.5"/>
          <c:min val="0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¹H chemical-shift MAE  (ppm)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950">
              <a:solidFill>
                <a:srgbClr val="20242E"/>
              </a:solidFill>
              <a:latin typeface="Avenir Book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50">
          <a:latin typeface="Avenir Book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Matbench Discovery F1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56082"/>
              </a:solidFill>
              <a:ln w="9525">
                <a:solidFill>
                  <a:srgbClr val="156082"/>
                </a:solidFill>
              </a:ln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5.27</c:v>
                </c:pt>
                <c:pt idx="1">
                  <c:v>6.2</c:v>
                </c:pt>
                <c:pt idx="2">
                  <c:v>7.51</c:v>
                </c:pt>
                <c:pt idx="3">
                  <c:v>8.1199999999999992</c:v>
                </c:pt>
                <c:pt idx="4">
                  <c:v>8.0500000000000007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0.56899999999999995</c:v>
                </c:pt>
                <c:pt idx="1">
                  <c:v>0.66900000000000004</c:v>
                </c:pt>
                <c:pt idx="2">
                  <c:v>0.86199999999999999</c:v>
                </c:pt>
                <c:pt idx="3">
                  <c:v>0.90500000000000003</c:v>
                </c:pt>
                <c:pt idx="4">
                  <c:v>0.92500000000000004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99C-244E-8063-522A33A30A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8.6"/>
          <c:min val="5"/>
        </c:scaling>
        <c:delete val="0"/>
        <c:axPos val="b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pre-training structures  (log₁₀)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"/>
          <c:min val="0.5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Matbench Discovery  F1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50">
          <a:latin typeface="Avenir Book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ECFP + random forest</c:v>
                </c:pt>
              </c:strCache>
            </c:strRef>
          </c:tx>
          <c:spPr>
            <a:ln w="38100">
              <a:solidFill>
                <a:srgbClr val="E97132"/>
              </a:solidFill>
            </a:ln>
          </c:spPr>
          <c:marker>
            <c:symbol val="none"/>
          </c:marker>
          <c:xVal>
            <c:numRef>
              <c:f>Sheet1!$A$2:$A$8</c:f>
              <c:numCache>
                <c:formatCode>General</c:formatCode>
                <c:ptCount val="7"/>
                <c:pt idx="0">
                  <c:v>2</c:v>
                </c:pt>
                <c:pt idx="1">
                  <c:v>2.5</c:v>
                </c:pt>
                <c:pt idx="2">
                  <c:v>3</c:v>
                </c:pt>
                <c:pt idx="3">
                  <c:v>3.5</c:v>
                </c:pt>
                <c:pt idx="4">
                  <c:v>4</c:v>
                </c:pt>
                <c:pt idx="5">
                  <c:v>4.5</c:v>
                </c:pt>
                <c:pt idx="6">
                  <c:v>5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0.62</c:v>
                </c:pt>
                <c:pt idx="1">
                  <c:v>0.68</c:v>
                </c:pt>
                <c:pt idx="2">
                  <c:v>0.73</c:v>
                </c:pt>
                <c:pt idx="3">
                  <c:v>0.76500000000000001</c:v>
                </c:pt>
                <c:pt idx="4">
                  <c:v>0.78500000000000003</c:v>
                </c:pt>
                <c:pt idx="5">
                  <c:v>0.79500000000000004</c:v>
                </c:pt>
                <c:pt idx="6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565-AB4B-99C3-B0B26EC2252C}"/>
            </c:ext>
          </c:extLst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deep model, from scratch</c:v>
                </c:pt>
              </c:strCache>
            </c:strRef>
          </c:tx>
          <c:spPr>
            <a:ln w="38100">
              <a:solidFill>
                <a:srgbClr val="156082"/>
              </a:solidFill>
            </a:ln>
          </c:spPr>
          <c:marker>
            <c:symbol val="none"/>
          </c:marker>
          <c:xVal>
            <c:numRef>
              <c:f>Sheet1!$A$11:$A$17</c:f>
              <c:numCache>
                <c:formatCode>General</c:formatCode>
                <c:ptCount val="7"/>
                <c:pt idx="0">
                  <c:v>2</c:v>
                </c:pt>
                <c:pt idx="1">
                  <c:v>2.5</c:v>
                </c:pt>
                <c:pt idx="2">
                  <c:v>3</c:v>
                </c:pt>
                <c:pt idx="3">
                  <c:v>3.5</c:v>
                </c:pt>
                <c:pt idx="4">
                  <c:v>4</c:v>
                </c:pt>
                <c:pt idx="5">
                  <c:v>4.5</c:v>
                </c:pt>
                <c:pt idx="6">
                  <c:v>5</c:v>
                </c:pt>
              </c:numCache>
            </c:numRef>
          </c:xVal>
          <c:yVal>
            <c:numRef>
              <c:f>Sheet1!$B$11:$B$17</c:f>
              <c:numCache>
                <c:formatCode>General</c:formatCode>
                <c:ptCount val="7"/>
                <c:pt idx="0">
                  <c:v>0.3</c:v>
                </c:pt>
                <c:pt idx="1">
                  <c:v>0.42</c:v>
                </c:pt>
                <c:pt idx="2">
                  <c:v>0.57999999999999996</c:v>
                </c:pt>
                <c:pt idx="3">
                  <c:v>0.72</c:v>
                </c:pt>
                <c:pt idx="4">
                  <c:v>0.83</c:v>
                </c:pt>
                <c:pt idx="5">
                  <c:v>0.89</c:v>
                </c:pt>
                <c:pt idx="6">
                  <c:v>0.92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565-AB4B-99C3-B0B26EC2252C}"/>
            </c:ext>
          </c:extLst>
        </c:ser>
        <c:ser>
          <c:idx val="2"/>
          <c:order val="2"/>
          <c:tx>
            <c:strRef>
              <c:f>Sheet1!$B$19</c:f>
              <c:strCache>
                <c:ptCount val="1"/>
                <c:pt idx="0">
                  <c:v>pre-trained encoder, fine-tuned</c:v>
                </c:pt>
              </c:strCache>
            </c:strRef>
          </c:tx>
          <c:spPr>
            <a:ln w="38100">
              <a:solidFill>
                <a:srgbClr val="A02B93"/>
              </a:solidFill>
            </a:ln>
          </c:spPr>
          <c:marker>
            <c:symbol val="none"/>
          </c:marker>
          <c:xVal>
            <c:numRef>
              <c:f>Sheet1!$A$20:$A$26</c:f>
              <c:numCache>
                <c:formatCode>General</c:formatCode>
                <c:ptCount val="7"/>
                <c:pt idx="0">
                  <c:v>2</c:v>
                </c:pt>
                <c:pt idx="1">
                  <c:v>2.5</c:v>
                </c:pt>
                <c:pt idx="2">
                  <c:v>3</c:v>
                </c:pt>
                <c:pt idx="3">
                  <c:v>3.5</c:v>
                </c:pt>
                <c:pt idx="4">
                  <c:v>4</c:v>
                </c:pt>
                <c:pt idx="5">
                  <c:v>4.5</c:v>
                </c:pt>
                <c:pt idx="6">
                  <c:v>5</c:v>
                </c:pt>
              </c:numCache>
            </c:numRef>
          </c:xVal>
          <c:yVal>
            <c:numRef>
              <c:f>Sheet1!$B$20:$B$26</c:f>
              <c:numCache>
                <c:formatCode>General</c:formatCode>
                <c:ptCount val="7"/>
                <c:pt idx="0">
                  <c:v>0.57999999999999996</c:v>
                </c:pt>
                <c:pt idx="1">
                  <c:v>0.68</c:v>
                </c:pt>
                <c:pt idx="2">
                  <c:v>0.77</c:v>
                </c:pt>
                <c:pt idx="3">
                  <c:v>0.84</c:v>
                </c:pt>
                <c:pt idx="4">
                  <c:v>0.89</c:v>
                </c:pt>
                <c:pt idx="5">
                  <c:v>0.92</c:v>
                </c:pt>
                <c:pt idx="6">
                  <c:v>0.94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565-AB4B-99C3-B0B26EC225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5"/>
          <c:min val="2"/>
        </c:scaling>
        <c:delete val="0"/>
        <c:axPos val="b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labelled training molecules  (log₁₀)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"/>
          <c:min val="0.2"/>
        </c:scaling>
        <c:delete val="0"/>
        <c:axPos val="l"/>
        <c:majorGridlines>
          <c:spPr>
            <a:ln w="9525">
              <a:solidFill>
                <a:srgbClr val="ECEE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50" b="0">
                    <a:solidFill>
                      <a:srgbClr val="6E7480"/>
                    </a:solidFill>
                    <a:latin typeface="Avenir Book"/>
                  </a:rPr>
                  <a:t>predictive performance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6E7480"/>
                </a:solidFill>
                <a:latin typeface="Avenir Book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950">
              <a:solidFill>
                <a:srgbClr val="20242E"/>
              </a:solidFill>
              <a:latin typeface="Avenir Book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50">
          <a:latin typeface="Avenir Book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954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Welcome back. Yesterday morning you did supervised learning, yesterday afternoon</a:t>
            </a:r>
          </a:p>
          <a:p>
            <a:r>
              <a:rPr dirty="0"/>
              <a:t>neural networks. Monday you did molecular representations — SMILES, fingerprints,</a:t>
            </a:r>
          </a:p>
          <a:p>
            <a:r>
              <a:rPr dirty="0"/>
              <a:t>descriptors, graphs.</a:t>
            </a:r>
          </a:p>
          <a:p>
            <a:endParaRPr dirty="0"/>
          </a:p>
          <a:p>
            <a:r>
              <a:rPr dirty="0"/>
              <a:t>This lecture sits exactly at the join between those two. Every representation you</a:t>
            </a:r>
          </a:p>
          <a:p>
            <a:r>
              <a:rPr dirty="0"/>
              <a:t>met on Monday was something a human designed: someone decided that a radius-2</a:t>
            </a:r>
          </a:p>
          <a:p>
            <a:r>
              <a:rPr dirty="0"/>
              <a:t>circular environment was the right unit of chemistry, or that these 200 </a:t>
            </a:r>
            <a:r>
              <a:rPr dirty="0" err="1"/>
              <a:t>RDKit</a:t>
            </a:r>
            <a:endParaRPr dirty="0"/>
          </a:p>
          <a:p>
            <a:r>
              <a:rPr dirty="0"/>
              <a:t>descriptors were the right summary. Today the question is what happens when you</a:t>
            </a:r>
          </a:p>
          <a:p>
            <a:r>
              <a:rPr dirty="0"/>
              <a:t>stop deciding, and let the model work out its own description of a molecule</a:t>
            </a:r>
          </a:p>
          <a:p>
            <a:r>
              <a:rPr dirty="0"/>
              <a:t>from data.</a:t>
            </a:r>
          </a:p>
          <a:p>
            <a:endParaRPr dirty="0"/>
          </a:p>
          <a:p>
            <a:r>
              <a:rPr dirty="0"/>
              <a:t>Point at the figure: top row is Monday. Bottom row is today. The only thing that</a:t>
            </a:r>
          </a:p>
          <a:p>
            <a:r>
              <a:rPr dirty="0"/>
              <a:t>changes is which box is fitted to data — but that one change is what makes</a:t>
            </a:r>
          </a:p>
          <a:p>
            <a:r>
              <a:rPr dirty="0"/>
              <a:t>pre-training, foundation models and chemical language models possible.</a:t>
            </a:r>
          </a:p>
          <a:p>
            <a:endParaRPr dirty="0"/>
          </a:p>
          <a:p>
            <a:r>
              <a:rPr dirty="0"/>
              <a:t>Three promises for the next 90 minutes:</a:t>
            </a:r>
          </a:p>
          <a:p>
            <a:r>
              <a:rPr dirty="0"/>
              <a:t> 1. You will know what "unsupervised" and "self-supervised" actually mean, and</a:t>
            </a:r>
          </a:p>
          <a:p>
            <a:r>
              <a:rPr dirty="0"/>
              <a:t>    why chemists should care.</a:t>
            </a:r>
          </a:p>
          <a:p>
            <a:r>
              <a:rPr dirty="0"/>
              <a:t> 2. You will be able to read a VAE figure in a paper and know what is and is not</a:t>
            </a:r>
          </a:p>
          <a:p>
            <a:r>
              <a:rPr dirty="0"/>
              <a:t>    being claimed.</a:t>
            </a:r>
          </a:p>
          <a:p>
            <a:r>
              <a:rPr dirty="0"/>
              <a:t> 3. You will have a defensible rule for when to reach for a pre-trained model —</a:t>
            </a:r>
          </a:p>
          <a:p>
            <a:r>
              <a:rPr dirty="0"/>
              <a:t>    and, just as importantly, when not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Rough timings are on the slide. Two structural things to flag.</a:t>
            </a:r>
          </a:p>
          <a:p>
            <a:endParaRPr dirty="0"/>
          </a:p>
          <a:p>
            <a:r>
              <a:rPr dirty="0"/>
              <a:t>First, there is a deliberate turn in the middle of Part 3. I am going to spend</a:t>
            </a:r>
          </a:p>
          <a:p>
            <a:r>
              <a:rPr dirty="0"/>
              <a:t>fifteen minutes explaining why VAEs are elegant, and then five minutes showing you</a:t>
            </a:r>
          </a:p>
          <a:p>
            <a:r>
              <a:rPr dirty="0"/>
              <a:t>that as molecule generators they lose to a genetic algorithm from 2019. That is not</a:t>
            </a:r>
          </a:p>
          <a:p>
            <a:r>
              <a:rPr dirty="0"/>
              <a:t>me wasting your time — the encoder half of that architecture is what the whole</a:t>
            </a:r>
          </a:p>
          <a:p>
            <a:r>
              <a:rPr dirty="0"/>
              <a:t>modern pre-training field is built on, and you need to understand it. But I do not</a:t>
            </a:r>
          </a:p>
          <a:p>
            <a:r>
              <a:rPr dirty="0"/>
              <a:t>want anybody leaving here thinking a VAE is the state of the art in generation.</a:t>
            </a:r>
          </a:p>
          <a:p>
            <a:r>
              <a:rPr dirty="0"/>
              <a:t>Thursday's diffusion lecture picks that thread up.</a:t>
            </a:r>
          </a:p>
          <a:p>
            <a:endParaRPr dirty="0"/>
          </a:p>
          <a:p>
            <a:r>
              <a:rPr dirty="0"/>
              <a:t>Second, Part 6 is the part I would keep if I only had ten minutes. The literature</a:t>
            </a:r>
          </a:p>
          <a:p>
            <a:r>
              <a:rPr dirty="0"/>
              <a:t>on learned representations has a serious replication problem, and knowing that is</a:t>
            </a:r>
          </a:p>
          <a:p>
            <a:r>
              <a:rPr dirty="0"/>
              <a:t>more useful to you as </a:t>
            </a:r>
            <a:r>
              <a:rPr dirty="0" err="1"/>
              <a:t>practising</a:t>
            </a:r>
            <a:r>
              <a:rPr dirty="0"/>
              <a:t> chemists than any architecture diagram.</a:t>
            </a:r>
          </a:p>
          <a:p>
            <a:endParaRPr dirty="0"/>
          </a:p>
          <a:p>
            <a:r>
              <a:rPr dirty="0"/>
              <a:t>Ask: who here has fewer than 1,000 data points in the project they came here with?</a:t>
            </a:r>
          </a:p>
          <a:p>
            <a:r>
              <a:rPr dirty="0"/>
              <a:t>(Usually most hands.) Good — Part 5 and Part 6 are written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is the single slide that motivates everything else today. Note the axis is</a:t>
            </a:r>
          </a:p>
          <a:p>
            <a:r>
              <a:rPr dirty="0"/>
              <a:t>log10 — every bar is a factor of ten.</a:t>
            </a:r>
          </a:p>
          <a:p>
            <a:endParaRPr dirty="0"/>
          </a:p>
          <a:p>
            <a:r>
              <a:rPr dirty="0"/>
              <a:t>Top: GDB-17, the exhaustive enumeration of everything you can draw with up to 17</a:t>
            </a:r>
          </a:p>
          <a:p>
            <a:r>
              <a:rPr dirty="0"/>
              <a:t>heavy atoms from C, N, O, S and halogens under simple stability and synthesizability</a:t>
            </a:r>
          </a:p>
          <a:p>
            <a:r>
              <a:rPr dirty="0"/>
              <a:t>rules. 166 billion molecules. Enamine REAL, which is molecules you can actually</a:t>
            </a:r>
          </a:p>
          <a:p>
            <a:r>
              <a:rPr dirty="0"/>
              <a:t>order and get in two weeks: 9.6 billion. PubChem, catalogued: about 120 million.</a:t>
            </a:r>
          </a:p>
          <a:p>
            <a:r>
              <a:rPr dirty="0" err="1"/>
              <a:t>ChEMBL</a:t>
            </a:r>
            <a:r>
              <a:rPr dirty="0"/>
              <a:t>, molecules with a measured bioactivity: a few million.</a:t>
            </a:r>
          </a:p>
          <a:p>
            <a:endParaRPr dirty="0"/>
          </a:p>
          <a:p>
            <a:r>
              <a:rPr dirty="0"/>
              <a:t>Now the bottom two bars. A typical </a:t>
            </a:r>
            <a:r>
              <a:rPr dirty="0" err="1"/>
              <a:t>MoleculeNet</a:t>
            </a:r>
            <a:r>
              <a:rPr dirty="0"/>
              <a:t> task is one to eight thousand</a:t>
            </a:r>
          </a:p>
          <a:p>
            <a:r>
              <a:rPr dirty="0"/>
              <a:t>molecules. Your own HTE campaign is a few hundred wells.</a:t>
            </a:r>
          </a:p>
          <a:p>
            <a:endParaRPr dirty="0"/>
          </a:p>
          <a:p>
            <a:r>
              <a:rPr dirty="0"/>
              <a:t>So: molecules are essentially free, and labels are the scarcest thing in the room.</a:t>
            </a:r>
          </a:p>
          <a:p>
            <a:r>
              <a:rPr dirty="0"/>
              <a:t>Eight orders of magnitude between what we can enumerate and what we have measured.</a:t>
            </a:r>
          </a:p>
          <a:p>
            <a:endParaRPr dirty="0"/>
          </a:p>
          <a:p>
            <a:r>
              <a:rPr dirty="0"/>
              <a:t>Every idea in this lecture is an attempt to exploit the top of this chart to make</a:t>
            </a:r>
          </a:p>
          <a:p>
            <a:r>
              <a:rPr dirty="0"/>
              <a:t>up for the bottom of it. That is the whole game. If you remember nothing else,</a:t>
            </a:r>
          </a:p>
          <a:p>
            <a:r>
              <a:rPr dirty="0"/>
              <a:t>remember that learned representations are a response to label scarcity.</a:t>
            </a:r>
          </a:p>
          <a:p>
            <a:endParaRPr dirty="0"/>
          </a:p>
          <a:p>
            <a:r>
              <a:rPr dirty="0"/>
              <a:t>Caveat worth saying out loud: GDB-17 is enumerated, not made. Only a tiny</a:t>
            </a:r>
          </a:p>
          <a:p>
            <a:r>
              <a:rPr dirty="0"/>
              <a:t>fraction has ever been </a:t>
            </a:r>
            <a:r>
              <a:rPr dirty="0" err="1"/>
              <a:t>synthesised</a:t>
            </a:r>
            <a:r>
              <a:rPr dirty="0"/>
              <a:t>. But even </a:t>
            </a:r>
            <a:r>
              <a:rPr dirty="0" err="1"/>
              <a:t>ChEMBL</a:t>
            </a:r>
            <a:r>
              <a:rPr dirty="0"/>
              <a:t> versus your assay is four</a:t>
            </a:r>
          </a:p>
          <a:p>
            <a:r>
              <a:rPr dirty="0"/>
              <a:t>orders of magnitude.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Set up the vocabulary carefully here; students confuse the last two constantly.</a:t>
            </a:r>
          </a:p>
          <a:p>
            <a:endParaRPr dirty="0"/>
          </a:p>
          <a:p>
            <a:r>
              <a:rPr dirty="0"/>
              <a:t>SUPERVISED — what you did yesterday. Pairs of (molecule, measured property). The</a:t>
            </a:r>
          </a:p>
          <a:p>
            <a:r>
              <a:rPr dirty="0"/>
              <a:t>label is the expensive part: someone ran the assay, someone did the DFT.</a:t>
            </a:r>
          </a:p>
          <a:p>
            <a:endParaRPr dirty="0"/>
          </a:p>
          <a:p>
            <a:r>
              <a:rPr dirty="0"/>
              <a:t>UNSUPERVISED — you hand the algorithm molecules and nothing else. It can only tell</a:t>
            </a:r>
          </a:p>
          <a:p>
            <a:r>
              <a:rPr dirty="0"/>
              <a:t>you about the shape of the data: which molecules group together, what the main axes</a:t>
            </a:r>
          </a:p>
          <a:p>
            <a:r>
              <a:rPr dirty="0"/>
              <a:t>of variation are, what a typical molecule looks like. No property is being predicted.</a:t>
            </a:r>
          </a:p>
          <a:p>
            <a:endParaRPr dirty="0"/>
          </a:p>
          <a:p>
            <a:r>
              <a:rPr dirty="0"/>
              <a:t>SELF-SUPERVISED — the clever middle. You take </a:t>
            </a:r>
            <a:r>
              <a:rPr dirty="0" err="1"/>
              <a:t>unlabelled</a:t>
            </a:r>
            <a:r>
              <a:rPr dirty="0"/>
              <a:t> data and manufacture a</a:t>
            </a:r>
          </a:p>
          <a:p>
            <a:r>
              <a:rPr dirty="0"/>
              <a:t>supervised problem out of it by hiding part of the input and asking the model to</a:t>
            </a:r>
          </a:p>
          <a:p>
            <a:r>
              <a:rPr dirty="0"/>
              <a:t>recover it. Nobody annotated anything, but you now have a loss function with a</a:t>
            </a:r>
          </a:p>
          <a:p>
            <a:r>
              <a:rPr dirty="0"/>
              <a:t>correct answer, so you can use all the supervised machinery — backprop, big models,</a:t>
            </a:r>
          </a:p>
          <a:p>
            <a:r>
              <a:rPr dirty="0"/>
              <a:t>the lot.</a:t>
            </a:r>
          </a:p>
          <a:p>
            <a:endParaRPr dirty="0"/>
          </a:p>
          <a:p>
            <a:r>
              <a:rPr dirty="0"/>
              <a:t>The point to land: self-supervised learning is how you convert the enormous</a:t>
            </a:r>
          </a:p>
          <a:p>
            <a:r>
              <a:rPr dirty="0"/>
              <a:t>top-of-chart data from the previous slide into something a neural network can</a:t>
            </a:r>
          </a:p>
          <a:p>
            <a:r>
              <a:rPr dirty="0"/>
              <a:t>actually be trained on. It is the bridge.</a:t>
            </a:r>
          </a:p>
          <a:p>
            <a:endParaRPr dirty="0"/>
          </a:p>
          <a:p>
            <a:r>
              <a:rPr dirty="0"/>
              <a:t>A useful analogy if they are struggling: a chemist who reads ten thousand papers</a:t>
            </a:r>
          </a:p>
          <a:p>
            <a:r>
              <a:rPr dirty="0"/>
              <a:t>without ever running a reaction still develops good intuition about what will work.</a:t>
            </a:r>
          </a:p>
          <a:p>
            <a:r>
              <a:rPr dirty="0"/>
              <a:t>Nobody graded them. They were predicting the next step and checking against what</a:t>
            </a:r>
          </a:p>
          <a:p>
            <a:r>
              <a:rPr dirty="0"/>
              <a:t>the paper said. That is self-supervision.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Three jobs, and it is worth naming which one you want before you open a notebook,</a:t>
            </a:r>
          </a:p>
          <a:p>
            <a:r>
              <a:rPr dirty="0"/>
              <a:t>because people reach for UMAP when they actually wanted clustering.</a:t>
            </a:r>
          </a:p>
          <a:p>
            <a:endParaRPr dirty="0"/>
          </a:p>
          <a:p>
            <a:r>
              <a:rPr dirty="0"/>
              <a:t>CLUSTERING gives you group memberships and no coordinates. Use it when the question</a:t>
            </a:r>
          </a:p>
          <a:p>
            <a:r>
              <a:rPr dirty="0"/>
              <a:t>is "how many distinct chemotypes are in my screening deck", or when you need to pick</a:t>
            </a:r>
          </a:p>
          <a:p>
            <a:r>
              <a:rPr dirty="0"/>
              <a:t>a diverse subset to buy.</a:t>
            </a:r>
          </a:p>
          <a:p>
            <a:endParaRPr dirty="0"/>
          </a:p>
          <a:p>
            <a:r>
              <a:rPr dirty="0"/>
              <a:t>DIMENSIONALITY REDUCTION gives you coordinates and no groups. Use it when you want</a:t>
            </a:r>
          </a:p>
          <a:p>
            <a:r>
              <a:rPr dirty="0"/>
              <a:t>to look at your data. Crucially: the fact that you can see clusters in a UMAP does</a:t>
            </a:r>
          </a:p>
          <a:p>
            <a:r>
              <a:rPr dirty="0"/>
              <a:t>not mean the clustering algorithm would find them.</a:t>
            </a:r>
          </a:p>
          <a:p>
            <a:endParaRPr dirty="0"/>
          </a:p>
          <a:p>
            <a:r>
              <a:rPr dirty="0"/>
              <a:t>DENSITY AND GENERATION gives you a model of what a plausible molecule looks like,</a:t>
            </a:r>
          </a:p>
          <a:p>
            <a:r>
              <a:rPr dirty="0"/>
              <a:t>which you can sample from. This is where VAEs live, and it is where we go in Part 3.</a:t>
            </a:r>
          </a:p>
          <a:p>
            <a:endParaRPr dirty="0"/>
          </a:p>
          <a:p>
            <a:r>
              <a:rPr dirty="0"/>
              <a:t>The thing all three share: no labels anywhere. Which means you can run them on</a:t>
            </a:r>
          </a:p>
          <a:p>
            <a:r>
              <a:rPr dirty="0"/>
              <a:t>every molecule you have, not just the ones you measured. For most groups in this</a:t>
            </a:r>
          </a:p>
          <a:p>
            <a:r>
              <a:rPr dirty="0"/>
              <a:t>room that is the difference between 400 compounds and 40,000.</a:t>
            </a:r>
          </a:p>
          <a:p>
            <a:endParaRPr dirty="0"/>
          </a:p>
          <a:p>
            <a:r>
              <a:rPr dirty="0"/>
              <a:t>Practical aside: this is also the cheapest possible first thing to do with a new</a:t>
            </a:r>
          </a:p>
          <a:p>
            <a:r>
              <a:rPr dirty="0"/>
              <a:t>dataset. Before you fit anything, cluster it and look at it. You will find the</a:t>
            </a:r>
          </a:p>
          <a:p>
            <a:r>
              <a:rPr dirty="0"/>
              <a:t>duplicate series, the one bad plate, and the fact that all your actives came from</a:t>
            </a:r>
          </a:p>
          <a:p>
            <a:r>
              <a:rPr dirty="0"/>
              <a:t>one scaffold.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Start with PCA because it is the one method here that is completely transparent,</a:t>
            </a:r>
          </a:p>
          <a:p>
            <a:r>
              <a:rPr dirty="0"/>
              <a:t>and because it sets up why we need the nonlinear ones.</a:t>
            </a:r>
          </a:p>
          <a:p>
            <a:endParaRPr dirty="0"/>
          </a:p>
          <a:p>
            <a:r>
              <a:rPr dirty="0"/>
              <a:t>PCA finds the directions of greatest variance and rotates your coordinate system</a:t>
            </a:r>
          </a:p>
          <a:p>
            <a:r>
              <a:rPr dirty="0"/>
              <a:t>onto them. That is all it does. It is linear, deterministic, has a closed-form</a:t>
            </a:r>
          </a:p>
          <a:p>
            <a:r>
              <a:rPr dirty="0"/>
              <a:t>solution, and — the property people forget — it is invertible. You can go back.</a:t>
            </a:r>
          </a:p>
          <a:p>
            <a:r>
              <a:rPr dirty="0"/>
              <a:t>Every point in PCA space corresponds to a real position in the original space.</a:t>
            </a:r>
          </a:p>
          <a:p>
            <a:endParaRPr dirty="0"/>
          </a:p>
          <a:p>
            <a:r>
              <a:rPr dirty="0"/>
              <a:t>Now the scree plot, which is the honest part. On molecular fingerprints, the first</a:t>
            </a:r>
          </a:p>
          <a:p>
            <a:r>
              <a:rPr dirty="0"/>
              <a:t>two components typically capture something like half to sixty percent of the</a:t>
            </a:r>
          </a:p>
          <a:p>
            <a:r>
              <a:rPr dirty="0"/>
              <a:t>variance. People show you the PC1-PC2 plot and imply you are looking at the data.</a:t>
            </a:r>
          </a:p>
          <a:p>
            <a:r>
              <a:rPr dirty="0"/>
              <a:t>You are looking at a shadow of the data, and the forty percent you cannot see is</a:t>
            </a:r>
          </a:p>
          <a:p>
            <a:r>
              <a:rPr dirty="0"/>
              <a:t>not noise — it is chemistry that happens to vary along directions three through</a:t>
            </a:r>
          </a:p>
          <a:p>
            <a:r>
              <a:rPr dirty="0"/>
              <a:t>two thousand.</a:t>
            </a:r>
          </a:p>
          <a:p>
            <a:endParaRPr dirty="0"/>
          </a:p>
          <a:p>
            <a:r>
              <a:rPr dirty="0"/>
              <a:t>So: PCA is a good sanity check and a good preprocessing step. It is a bad way to</a:t>
            </a:r>
          </a:p>
          <a:p>
            <a:r>
              <a:rPr dirty="0"/>
              <a:t>claim two clusters are distinct.</a:t>
            </a:r>
          </a:p>
          <a:p>
            <a:endParaRPr dirty="0"/>
          </a:p>
          <a:p>
            <a:r>
              <a:rPr dirty="0"/>
              <a:t>If asked why fingerprints need so many components: ECFP bits are sparse and</a:t>
            </a:r>
          </a:p>
          <a:p>
            <a:r>
              <a:rPr dirty="0"/>
              <a:t>near-orthogonal by construction. There genuinely is no low-dimensional linear</a:t>
            </a:r>
          </a:p>
          <a:p>
            <a:r>
              <a:rPr dirty="0"/>
              <a:t>structure. That is the motivation for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move from PCA to t-SNE or UMAP is a trade. You give up the global geometry to</a:t>
            </a:r>
          </a:p>
          <a:p>
            <a:r>
              <a:rPr dirty="0"/>
              <a:t>buy local faithfulness.</a:t>
            </a:r>
          </a:p>
          <a:p>
            <a:endParaRPr dirty="0"/>
          </a:p>
          <a:p>
            <a:r>
              <a:rPr dirty="0"/>
              <a:t>Both methods do roughly the same thing: build a graph of who is near whom in the</a:t>
            </a:r>
          </a:p>
          <a:p>
            <a:r>
              <a:rPr dirty="0"/>
              <a:t>high-dimensional space, then find a 2-D arrangement whose </a:t>
            </a:r>
            <a:r>
              <a:rPr dirty="0" err="1"/>
              <a:t>neighbourhood</a:t>
            </a:r>
            <a:r>
              <a:rPr dirty="0"/>
              <a:t> graph looks</a:t>
            </a:r>
          </a:p>
          <a:p>
            <a:r>
              <a:rPr dirty="0"/>
              <a:t>as similar as possible. UMAP does it with a fuzzy simplicial set and is faster and</a:t>
            </a:r>
          </a:p>
          <a:p>
            <a:r>
              <a:rPr dirty="0"/>
              <a:t>somewhat more global; t-SNE does it with a Student-t kernel and is more aggressive</a:t>
            </a:r>
          </a:p>
          <a:p>
            <a:r>
              <a:rPr dirty="0"/>
              <a:t>about separating clusters. For our purposes they behave similarly.</a:t>
            </a:r>
          </a:p>
          <a:p>
            <a:endParaRPr dirty="0"/>
          </a:p>
          <a:p>
            <a:r>
              <a:rPr dirty="0"/>
              <a:t>Why this matters in fingerprint space specifically: in 2048 dimensions with sparse</a:t>
            </a:r>
          </a:p>
          <a:p>
            <a:r>
              <a:rPr dirty="0"/>
              <a:t>binary vectors, almost every pair of molecules has Tanimoto similarity around 0.1.</a:t>
            </a:r>
          </a:p>
          <a:p>
            <a:r>
              <a:rPr dirty="0"/>
              <a:t>Distances are nearly all the same and therefore nearly meaningless. But the *ranking*</a:t>
            </a:r>
          </a:p>
          <a:p>
            <a:r>
              <a:rPr dirty="0"/>
              <a:t>of nearest </a:t>
            </a:r>
            <a:r>
              <a:rPr dirty="0" err="1"/>
              <a:t>neighbours</a:t>
            </a:r>
            <a:r>
              <a:rPr dirty="0"/>
              <a:t> is still informative. </a:t>
            </a:r>
            <a:r>
              <a:rPr dirty="0" err="1"/>
              <a:t>Neighbour</a:t>
            </a:r>
            <a:r>
              <a:rPr dirty="0"/>
              <a:t> embeddings throw away the</a:t>
            </a:r>
          </a:p>
          <a:p>
            <a:r>
              <a:rPr dirty="0"/>
              <a:t>distances and keep the ranking. That is exactly the right trade for this data.</a:t>
            </a:r>
          </a:p>
          <a:p>
            <a:endParaRPr dirty="0"/>
          </a:p>
          <a:p>
            <a:r>
              <a:rPr dirty="0"/>
              <a:t>The cost is on the right in red, and it is the subject of the next slide, so do not</a:t>
            </a:r>
          </a:p>
          <a:p>
            <a:r>
              <a:rPr dirty="0"/>
              <a:t>dwell — just plant it: the gaps between the islands, and the sizes of the islands,</a:t>
            </a:r>
          </a:p>
          <a:p>
            <a:r>
              <a:rPr dirty="0"/>
              <a:t>are artefacts.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Walk the chain left to right, and make the point at the bottom hard.</a:t>
            </a:r>
          </a:p>
          <a:p>
            <a:endParaRPr dirty="0"/>
          </a:p>
          <a:p>
            <a:r>
              <a:rPr dirty="0"/>
              <a:t>Which molecules you put in decides what the map is of. Which fingerprint you choose</a:t>
            </a:r>
          </a:p>
          <a:p>
            <a:r>
              <a:rPr dirty="0"/>
              <a:t>decides what "similar" means — ECFP4 says two molecules are similar if they share</a:t>
            </a:r>
          </a:p>
          <a:p>
            <a:r>
              <a:rPr dirty="0"/>
              <a:t>circular substructures; a pharmacophore fingerprint says something completely</a:t>
            </a:r>
          </a:p>
          <a:p>
            <a:r>
              <a:rPr dirty="0"/>
              <a:t>different; a learned embedding says something different again. The layout algorithm</a:t>
            </a:r>
          </a:p>
          <a:p>
            <a:r>
              <a:rPr dirty="0"/>
              <a:t>and its hyperparameters then decide what you actually see.</a:t>
            </a:r>
          </a:p>
          <a:p>
            <a:endParaRPr dirty="0"/>
          </a:p>
          <a:p>
            <a:r>
              <a:rPr dirty="0"/>
              <a:t>So when a paper shows you a beautiful chemical space map with the actives clustered</a:t>
            </a:r>
          </a:p>
          <a:p>
            <a:r>
              <a:rPr dirty="0"/>
              <a:t>in one corner, the correct first question is not "what does this tell us about</a:t>
            </a:r>
          </a:p>
          <a:p>
            <a:r>
              <a:rPr dirty="0"/>
              <a:t>chemistry" — it is "what would this look like with a different fingerprint".</a:t>
            </a:r>
          </a:p>
          <a:p>
            <a:endParaRPr dirty="0"/>
          </a:p>
          <a:p>
            <a:r>
              <a:rPr dirty="0"/>
              <a:t>This is not a counsel of despair. Maps are genuinely useful: for spotting that your</a:t>
            </a:r>
          </a:p>
          <a:p>
            <a:r>
              <a:rPr dirty="0"/>
              <a:t>train and test sets occupy different regions, for choosing a diverse subset, for</a:t>
            </a:r>
          </a:p>
          <a:p>
            <a:r>
              <a:rPr dirty="0"/>
              <a:t>noticing that your whole "diverse" library is three scaffolds. Just do not treat the</a:t>
            </a:r>
          </a:p>
          <a:p>
            <a:r>
              <a:rPr dirty="0"/>
              <a:t>picture as a fact about chemistry. It is a fact about your fingerprint.</a:t>
            </a:r>
          </a:p>
          <a:p>
            <a:endParaRPr dirty="0"/>
          </a:p>
          <a:p>
            <a:r>
              <a:rPr dirty="0"/>
              <a:t>In the tutorial you will make the same map with two different representations and</a:t>
            </a:r>
          </a:p>
          <a:p>
            <a:r>
              <a:rPr dirty="0"/>
              <a:t>see how much it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 concrete example of the engineering, because chemical space has got big enough</a:t>
            </a:r>
          </a:p>
          <a:p>
            <a:r>
              <a:rPr dirty="0"/>
              <a:t>that the method has to change.</a:t>
            </a:r>
          </a:p>
          <a:p>
            <a:endParaRPr dirty="0"/>
          </a:p>
          <a:p>
            <a:r>
              <a:rPr dirty="0"/>
              <a:t>TMAP, from the Reymond group, swaps the scatter plot for a tree. It builds an</a:t>
            </a:r>
          </a:p>
          <a:p>
            <a:r>
              <a:rPr dirty="0"/>
              <a:t>approximate k-nearest-</a:t>
            </a:r>
            <a:r>
              <a:rPr dirty="0" err="1"/>
              <a:t>neighbour</a:t>
            </a:r>
            <a:r>
              <a:rPr dirty="0"/>
              <a:t> graph using locality-sensitive hashing, takes the</a:t>
            </a:r>
          </a:p>
          <a:p>
            <a:r>
              <a:rPr dirty="0"/>
              <a:t>minimum spanning tree of that graph, and lays the tree out. You get branches instead</a:t>
            </a:r>
          </a:p>
          <a:p>
            <a:r>
              <a:rPr dirty="0"/>
              <a:t>of blobs — and a branch is usually a series of analogues, which is a chemically</a:t>
            </a:r>
          </a:p>
          <a:p>
            <a:r>
              <a:rPr dirty="0"/>
              <a:t>meaningful object in a way that a blob is not.</a:t>
            </a:r>
          </a:p>
          <a:p>
            <a:endParaRPr dirty="0"/>
          </a:p>
          <a:p>
            <a:r>
              <a:rPr dirty="0"/>
              <a:t>The numbers on the right are from their benchmark on </a:t>
            </a:r>
            <a:r>
              <a:rPr dirty="0" err="1"/>
              <a:t>ChEMBL</a:t>
            </a:r>
            <a:r>
              <a:rPr dirty="0"/>
              <a:t> subsets. At one million</a:t>
            </a:r>
          </a:p>
          <a:p>
            <a:r>
              <a:rPr dirty="0"/>
              <a:t>molecules TMAP takes about six minutes; UMAP takes eleven and a half hours. Roughly</a:t>
            </a:r>
          </a:p>
          <a:p>
            <a:r>
              <a:rPr dirty="0"/>
              <a:t>117-fold, and about six times less memory. TMAP is also deterministic — run it twice,</a:t>
            </a:r>
          </a:p>
          <a:p>
            <a:r>
              <a:rPr dirty="0"/>
              <a:t>get the same map — which UMAP is not.</a:t>
            </a:r>
          </a:p>
          <a:p>
            <a:endParaRPr dirty="0"/>
          </a:p>
          <a:p>
            <a:r>
              <a:rPr dirty="0"/>
              <a:t>The 2026 follow-up nests these maps and handles Enamine REAL at 9.6 billion</a:t>
            </a:r>
          </a:p>
          <a:p>
            <a:r>
              <a:rPr dirty="0"/>
              <a:t>molecules. That is the scale at which "let me just have a look at my library" now</a:t>
            </a:r>
          </a:p>
          <a:p>
            <a:r>
              <a:rPr dirty="0"/>
              <a:t>operates.</a:t>
            </a:r>
          </a:p>
          <a:p>
            <a:endParaRPr dirty="0"/>
          </a:p>
          <a:p>
            <a:r>
              <a:rPr dirty="0"/>
              <a:t>Do not oversell: TMAP is a </a:t>
            </a:r>
            <a:r>
              <a:rPr dirty="0" err="1"/>
              <a:t>visualisation</a:t>
            </a:r>
            <a:r>
              <a:rPr dirty="0"/>
              <a:t> tool, not a representation learner. I am</a:t>
            </a:r>
          </a:p>
          <a:p>
            <a:r>
              <a:rPr dirty="0"/>
              <a:t>showing it because it is the workhorse people actually use, and because the</a:t>
            </a:r>
          </a:p>
          <a:p>
            <a:r>
              <a:rPr dirty="0"/>
              <a:t>tree-versus-scatter distinction is a nice illustration that the layout is a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is the slide I most want you to photograph. These are not pedantic caveats;</a:t>
            </a:r>
          </a:p>
          <a:p>
            <a:r>
              <a:rPr dirty="0"/>
              <a:t>they are the three ways published chemical space figures mislead people.</a:t>
            </a:r>
          </a:p>
          <a:p>
            <a:endParaRPr dirty="0"/>
          </a:p>
          <a:p>
            <a:r>
              <a:rPr dirty="0"/>
              <a:t>ONE — gap width means nothing. t-SNE and UMAP have no notion of how far apart two</a:t>
            </a:r>
          </a:p>
          <a:p>
            <a:r>
              <a:rPr dirty="0"/>
              <a:t>clusters should be. Change the perplexity or the </a:t>
            </a:r>
            <a:r>
              <a:rPr dirty="0" err="1"/>
              <a:t>n_neighbors</a:t>
            </a:r>
            <a:r>
              <a:rPr dirty="0"/>
              <a:t> parameter and the gaps</a:t>
            </a:r>
          </a:p>
          <a:p>
            <a:r>
              <a:rPr dirty="0"/>
              <a:t>change. Two islands sitting far apart on your plot are not necessarily more different</a:t>
            </a:r>
          </a:p>
          <a:p>
            <a:r>
              <a:rPr dirty="0"/>
              <a:t>than two islands sitting close.</a:t>
            </a:r>
          </a:p>
          <a:p>
            <a:endParaRPr dirty="0"/>
          </a:p>
          <a:p>
            <a:r>
              <a:rPr dirty="0"/>
              <a:t>TWO — cluster size means nothing. Both algorithms tend to expand sparse regions and</a:t>
            </a:r>
          </a:p>
          <a:p>
            <a:r>
              <a:rPr dirty="0"/>
              <a:t>compress dense ones. A blob containing seven molecules and a blob containing two</a:t>
            </a:r>
          </a:p>
          <a:p>
            <a:r>
              <a:rPr dirty="0"/>
              <a:t>hundred and forty can be drawn almost the same size. So never say "this cluster is</a:t>
            </a:r>
          </a:p>
          <a:p>
            <a:r>
              <a:rPr dirty="0"/>
              <a:t>bigger, therefore this chemotype is over-represented" from a UMAP.</a:t>
            </a:r>
          </a:p>
          <a:p>
            <a:endParaRPr dirty="0"/>
          </a:p>
          <a:p>
            <a:r>
              <a:rPr dirty="0"/>
              <a:t>THREE — and this is the one that gets people into real trouble — these methods will</a:t>
            </a:r>
          </a:p>
          <a:p>
            <a:r>
              <a:rPr dirty="0"/>
              <a:t>produce clean, convincing clusters from pure random noise. There is a well-known</a:t>
            </a:r>
          </a:p>
          <a:p>
            <a:r>
              <a:rPr dirty="0"/>
              <a:t>demonstration where uniform random data in high dimensions comes out of t-SNE</a:t>
            </a:r>
          </a:p>
          <a:p>
            <a:r>
              <a:rPr dirty="0"/>
              <a:t>looking like five beautiful, well-separated groups. Seeing clusters is not evidence</a:t>
            </a:r>
          </a:p>
          <a:p>
            <a:r>
              <a:rPr dirty="0"/>
              <a:t>that clusters exist.</a:t>
            </a:r>
          </a:p>
          <a:p>
            <a:endParaRPr dirty="0"/>
          </a:p>
          <a:p>
            <a:r>
              <a:rPr dirty="0"/>
              <a:t>The remedy in one line: if the clustering matters to your argument, cluster</a:t>
            </a:r>
          </a:p>
          <a:p>
            <a:r>
              <a:rPr dirty="0"/>
              <a:t>explicitly in the original space — Butina, k-medoids, whatever — and use the map</a:t>
            </a:r>
          </a:p>
          <a:p>
            <a:r>
              <a:rPr dirty="0"/>
              <a:t>only to display the result. Never read the clusters off the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Quick and practical, because this is the one people actually run.</a:t>
            </a:r>
          </a:p>
          <a:p>
            <a:endParaRPr dirty="0"/>
          </a:p>
          <a:p>
            <a:r>
              <a:rPr dirty="0"/>
              <a:t>Butina is sphere exclusion. Pick a Tanimoto cut-off — 0.4 to 0.65 depending on the</a:t>
            </a:r>
          </a:p>
          <a:p>
            <a:r>
              <a:rPr dirty="0"/>
              <a:t>fingerprint and how tight you want your clusters. For every molecule, count how many</a:t>
            </a:r>
          </a:p>
          <a:p>
            <a:r>
              <a:rPr dirty="0"/>
              <a:t>molecules fall within that cut-off. Take the molecule with the most </a:t>
            </a:r>
            <a:r>
              <a:rPr dirty="0" err="1"/>
              <a:t>neighbours</a:t>
            </a:r>
            <a:r>
              <a:rPr dirty="0"/>
              <a:t>, call</a:t>
            </a:r>
          </a:p>
          <a:p>
            <a:r>
              <a:rPr dirty="0"/>
              <a:t>it a cluster </a:t>
            </a:r>
            <a:r>
              <a:rPr dirty="0" err="1"/>
              <a:t>centre</a:t>
            </a:r>
            <a:r>
              <a:rPr dirty="0"/>
              <a:t>, and remove it and all its </a:t>
            </a:r>
            <a:r>
              <a:rPr dirty="0" err="1"/>
              <a:t>neighbours</a:t>
            </a:r>
            <a:r>
              <a:rPr dirty="0"/>
              <a:t> from the pool. Repeat on</a:t>
            </a:r>
          </a:p>
          <a:p>
            <a:r>
              <a:rPr dirty="0"/>
              <a:t>what is left.</a:t>
            </a:r>
          </a:p>
          <a:p>
            <a:endParaRPr dirty="0"/>
          </a:p>
          <a:p>
            <a:r>
              <a:rPr dirty="0"/>
              <a:t>Why chemists like it: no k to choose, it is deterministic, it runs on a laptop, and</a:t>
            </a:r>
          </a:p>
          <a:p>
            <a:r>
              <a:rPr dirty="0"/>
              <a:t>the cluster </a:t>
            </a:r>
            <a:r>
              <a:rPr dirty="0" err="1"/>
              <a:t>centres</a:t>
            </a:r>
            <a:r>
              <a:rPr dirty="0"/>
              <a:t> are real molecules you can order rather than abstract centroids.</a:t>
            </a:r>
          </a:p>
          <a:p>
            <a:r>
              <a:rPr dirty="0"/>
              <a:t>It is the standard way to pick a diverse subset for a screen.</a:t>
            </a:r>
          </a:p>
          <a:p>
            <a:endParaRPr dirty="0"/>
          </a:p>
          <a:p>
            <a:r>
              <a:rPr dirty="0"/>
              <a:t>Two honest weaknesses. It is greedy — the first sphere claims everything nearby,</a:t>
            </a:r>
          </a:p>
          <a:p>
            <a:r>
              <a:rPr dirty="0"/>
              <a:t>so a molecule that would have been a great </a:t>
            </a:r>
            <a:r>
              <a:rPr dirty="0" err="1"/>
              <a:t>centre</a:t>
            </a:r>
            <a:r>
              <a:rPr dirty="0"/>
              <a:t> can end up as a singleton simply</a:t>
            </a:r>
          </a:p>
          <a:p>
            <a:r>
              <a:rPr dirty="0"/>
              <a:t>because it got absorbed. And it is very sensitive to the cut-off; changing 0.6 to</a:t>
            </a:r>
          </a:p>
          <a:p>
            <a:r>
              <a:rPr dirty="0"/>
              <a:t>0.65 can change the number of clusters substantially. Run it at two or three</a:t>
            </a:r>
          </a:p>
          <a:p>
            <a:r>
              <a:rPr dirty="0"/>
              <a:t>thresholds and see whether your conclusion survives.</a:t>
            </a:r>
          </a:p>
          <a:p>
            <a:endParaRPr dirty="0"/>
          </a:p>
          <a:p>
            <a:r>
              <a:rPr dirty="0"/>
              <a:t>Contrast with k-means: k-means needs a k, needs a Euclidean space, and produces</a:t>
            </a:r>
          </a:p>
          <a:p>
            <a:r>
              <a:rPr dirty="0"/>
              <a:t>centroids that are not molecules. For fingerprints, Butina is usually the better</a:t>
            </a:r>
          </a:p>
          <a:p>
            <a:r>
              <a:rPr dirty="0"/>
              <a:t>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Bemis and Murcko, 1996 — the single most quoted piece of cheminformatics, and it</a:t>
            </a:r>
          </a:p>
          <a:p>
            <a:r>
              <a:rPr dirty="0"/>
              <a:t>is a purely unsupervised analysis.</a:t>
            </a:r>
          </a:p>
          <a:p>
            <a:endParaRPr dirty="0"/>
          </a:p>
          <a:p>
            <a:r>
              <a:rPr dirty="0"/>
              <a:t>Take a drug, strip every side chain, keep the ring systems and the linkers between</a:t>
            </a:r>
          </a:p>
          <a:p>
            <a:r>
              <a:rPr dirty="0"/>
              <a:t>them. If you also throw away atom types and bond orders you get the graph framework.</a:t>
            </a:r>
          </a:p>
          <a:p>
            <a:r>
              <a:rPr dirty="0"/>
              <a:t>Do this to the 5,120 drugs known at the time and you get 1,179 distinct frameworks.</a:t>
            </a:r>
          </a:p>
          <a:p>
            <a:endParaRPr dirty="0"/>
          </a:p>
          <a:p>
            <a:r>
              <a:rPr dirty="0"/>
              <a:t>The number that should surprise you is on the chart: thirty-two frameworks account</a:t>
            </a:r>
          </a:p>
          <a:p>
            <a:r>
              <a:rPr dirty="0"/>
              <a:t>for half of all known drugs. Medicinal chemistry, for all its apparent diversity,</a:t>
            </a:r>
          </a:p>
          <a:p>
            <a:r>
              <a:rPr dirty="0"/>
              <a:t>lives on a very small number of ring systems.</a:t>
            </a:r>
          </a:p>
          <a:p>
            <a:endParaRPr dirty="0"/>
          </a:p>
          <a:p>
            <a:r>
              <a:rPr dirty="0"/>
              <a:t>Two consequences, both of which bite you in machine learning.</a:t>
            </a:r>
          </a:p>
          <a:p>
            <a:endParaRPr dirty="0"/>
          </a:p>
          <a:p>
            <a:r>
              <a:rPr dirty="0"/>
              <a:t>First, if you split a dataset at random, near-identical analogues end up in both</a:t>
            </a:r>
          </a:p>
          <a:p>
            <a:r>
              <a:rPr dirty="0"/>
              <a:t>train and test, your model looks brilliant, and it has learned nothing that</a:t>
            </a:r>
          </a:p>
          <a:p>
            <a:r>
              <a:rPr dirty="0" err="1"/>
              <a:t>generalises</a:t>
            </a:r>
            <a:r>
              <a:rPr dirty="0"/>
              <a:t>. That is why every serious paper today uses a SCAFFOLD SPLIT — hold out</a:t>
            </a:r>
          </a:p>
          <a:p>
            <a:r>
              <a:rPr dirty="0"/>
              <a:t>whole frameworks. Expect your numbers to get worse. They were never real.</a:t>
            </a:r>
          </a:p>
          <a:p>
            <a:endParaRPr dirty="0"/>
          </a:p>
          <a:p>
            <a:r>
              <a:rPr dirty="0"/>
              <a:t>Second, this is why molecular datasets are so much smaller than they appear.</a:t>
            </a:r>
          </a:p>
          <a:p>
            <a:r>
              <a:rPr dirty="0"/>
              <a:t>Four thousand compounds from a med-chem </a:t>
            </a:r>
            <a:r>
              <a:rPr dirty="0" err="1"/>
              <a:t>programme</a:t>
            </a:r>
            <a:r>
              <a:rPr dirty="0"/>
              <a:t> might be forty scaffolds. Your</a:t>
            </a:r>
          </a:p>
          <a:p>
            <a:r>
              <a:rPr dirty="0"/>
              <a:t>effective sample size is forty.</a:t>
            </a:r>
          </a:p>
          <a:p>
            <a:endParaRPr dirty="0"/>
          </a:p>
          <a:p>
            <a:r>
              <a:rPr dirty="0"/>
              <a:t>You will do a random split and a scaffold split on the same data in the tutorial</a:t>
            </a:r>
          </a:p>
          <a:p>
            <a:r>
              <a:rPr dirty="0"/>
              <a:t>and watch the score fall. That gap is the most honest number in your whole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My </a:t>
            </a:r>
            <a:r>
              <a:rPr dirty="0" err="1"/>
              <a:t>favourite</a:t>
            </a:r>
            <a:r>
              <a:rPr dirty="0"/>
              <a:t> result in this whole area, and the cleanest possible demonstration that</a:t>
            </a:r>
          </a:p>
          <a:p>
            <a:r>
              <a:rPr dirty="0"/>
              <a:t>unsupervised learning finds real structure.</a:t>
            </a:r>
          </a:p>
          <a:p>
            <a:endParaRPr dirty="0"/>
          </a:p>
          <a:p>
            <a:r>
              <a:rPr dirty="0" err="1"/>
              <a:t>Tshitoyan</a:t>
            </a:r>
            <a:r>
              <a:rPr dirty="0"/>
              <a:t> and co-workers took 3.3 million materials science abstracts, filtered to</a:t>
            </a:r>
          </a:p>
          <a:p>
            <a:r>
              <a:rPr dirty="0"/>
              <a:t>1.5 million, and trained word2vec on them. Word2vec is self-supervised in the sense</a:t>
            </a:r>
          </a:p>
          <a:p>
            <a:r>
              <a:rPr dirty="0"/>
              <a:t>we defined earlier: predict a word from its </a:t>
            </a:r>
            <a:r>
              <a:rPr dirty="0" err="1"/>
              <a:t>neighbours</a:t>
            </a:r>
            <a:r>
              <a:rPr dirty="0"/>
              <a:t>. It knows nothing about</a:t>
            </a:r>
          </a:p>
          <a:p>
            <a:r>
              <a:rPr dirty="0"/>
              <a:t>chemistry. It has never seen a periodic table, an atomic number, or an electron</a:t>
            </a:r>
          </a:p>
          <a:p>
            <a:r>
              <a:rPr dirty="0"/>
              <a:t>configuration. It has only seen which words appear near which other words.</a:t>
            </a:r>
          </a:p>
          <a:p>
            <a:endParaRPr dirty="0"/>
          </a:p>
          <a:p>
            <a:r>
              <a:rPr dirty="0"/>
              <a:t>Then they took the hundred element symbols, pulled out their 200-dimensional</a:t>
            </a:r>
          </a:p>
          <a:p>
            <a:r>
              <a:rPr dirty="0"/>
              <a:t>vectors, and ran t-SNE. What comes out is the periodic table. The alkali metals sit</a:t>
            </a:r>
          </a:p>
          <a:p>
            <a:r>
              <a:rPr dirty="0"/>
              <a:t>together. The halogens sit together. The noble gases are off on their own. The</a:t>
            </a:r>
          </a:p>
          <a:p>
            <a:r>
              <a:rPr dirty="0"/>
              <a:t>transition metals form a band.</a:t>
            </a:r>
          </a:p>
          <a:p>
            <a:endParaRPr dirty="0"/>
          </a:p>
          <a:p>
            <a:r>
              <a:rPr dirty="0"/>
              <a:t>Why: because chemists write about lithium in sentences that look like sentences</a:t>
            </a:r>
          </a:p>
          <a:p>
            <a:r>
              <a:rPr dirty="0"/>
              <a:t>about sodium. The structure of the language mirrors the structure of the chemistry,</a:t>
            </a:r>
          </a:p>
          <a:p>
            <a:r>
              <a:rPr dirty="0"/>
              <a:t>and the model recovers the chemistry from the language.</a:t>
            </a:r>
          </a:p>
          <a:p>
            <a:endParaRPr dirty="0"/>
          </a:p>
          <a:p>
            <a:r>
              <a:rPr dirty="0"/>
              <a:t>Then they went further and used it prospectively: element embeddings as features</a:t>
            </a:r>
          </a:p>
          <a:p>
            <a:r>
              <a:rPr dirty="0"/>
              <a:t>predicted </a:t>
            </a:r>
            <a:r>
              <a:rPr dirty="0" err="1"/>
              <a:t>elpasolite</a:t>
            </a:r>
            <a:r>
              <a:rPr dirty="0"/>
              <a:t> formation energies to 0.056 eV per atom, better than</a:t>
            </a:r>
          </a:p>
          <a:p>
            <a:r>
              <a:rPr dirty="0"/>
              <a:t>hand-crafted descriptors. And their thermoelectric predictions were about eight</a:t>
            </a:r>
          </a:p>
          <a:p>
            <a:r>
              <a:rPr dirty="0"/>
              <a:t>times more likely than chance to be reported as </a:t>
            </a:r>
            <a:r>
              <a:rPr dirty="0" err="1"/>
              <a:t>thermoelectrics</a:t>
            </a:r>
            <a:r>
              <a:rPr dirty="0"/>
              <a:t> in the following</a:t>
            </a:r>
          </a:p>
          <a:p>
            <a:r>
              <a:rPr dirty="0"/>
              <a:t>five years. CuGaTe2 would have been a top-five pick four years before it was</a:t>
            </a:r>
          </a:p>
          <a:p>
            <a:r>
              <a:rPr dirty="0"/>
              <a:t>published.</a:t>
            </a:r>
          </a:p>
          <a:p>
            <a:endParaRPr dirty="0"/>
          </a:p>
          <a:p>
            <a:r>
              <a:rPr dirty="0"/>
              <a:t>One correction, since it circulates in talks: the "8x" is an enrichment over random,</a:t>
            </a:r>
          </a:p>
          <a:p>
            <a:r>
              <a:rPr dirty="0"/>
              <a:t>not "8 of the top 10 worked".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same phenomenon in reaction space, and closer to what most of you do.</a:t>
            </a:r>
          </a:p>
          <a:p>
            <a:endParaRPr dirty="0"/>
          </a:p>
          <a:p>
            <a:r>
              <a:rPr dirty="0"/>
              <a:t>Schwaller and colleagues trained a BERT model on 2.6 million reaction SMILES from</a:t>
            </a:r>
          </a:p>
          <a:p>
            <a:r>
              <a:rPr dirty="0"/>
              <a:t>Pistachio with a masked-token objective. No reaction class labels. Then they took</a:t>
            </a:r>
          </a:p>
          <a:p>
            <a:r>
              <a:rPr dirty="0"/>
              <a:t>the embeddings and asked a simple 5-nearest-neighbour classifier to recover the 792</a:t>
            </a:r>
          </a:p>
          <a:p>
            <a:r>
              <a:rPr dirty="0"/>
              <a:t>reaction classes.</a:t>
            </a:r>
          </a:p>
          <a:p>
            <a:endParaRPr dirty="0"/>
          </a:p>
          <a:p>
            <a:r>
              <a:rPr dirty="0"/>
              <a:t>A traditional reaction fingerprint gets 41%. The self-supervised embedding, with no</a:t>
            </a:r>
          </a:p>
          <a:p>
            <a:r>
              <a:rPr dirty="0"/>
              <a:t>labels at any point, gets 81.9%. Fine-tune the same model with labels and you get</a:t>
            </a:r>
          </a:p>
          <a:p>
            <a:r>
              <a:rPr dirty="0"/>
              <a:t>98.9%.</a:t>
            </a:r>
          </a:p>
          <a:p>
            <a:endParaRPr dirty="0"/>
          </a:p>
          <a:p>
            <a:r>
              <a:rPr dirty="0"/>
              <a:t>So: masked-language-model pre-training on reaction strings discovers most of the</a:t>
            </a:r>
          </a:p>
          <a:p>
            <a:r>
              <a:rPr dirty="0"/>
              <a:t>reaction taxonomy on its own. That is a strong statement — the model worked out what</a:t>
            </a:r>
          </a:p>
          <a:p>
            <a:r>
              <a:rPr dirty="0"/>
              <a:t>a Suzuki coupling is from nothing but co-occurrence statistics in reaction strings.</a:t>
            </a:r>
          </a:p>
          <a:p>
            <a:endParaRPr dirty="0"/>
          </a:p>
          <a:p>
            <a:r>
              <a:rPr dirty="0"/>
              <a:t>Be precise about one thing, because the paper is often overstated: the fully clean,</a:t>
            </a:r>
          </a:p>
          <a:p>
            <a:r>
              <a:rPr dirty="0"/>
              <a:t>beautifully separated reaction atlas that people show is from the FINE-TUNED</a:t>
            </a:r>
          </a:p>
          <a:p>
            <a:r>
              <a:rPr dirty="0"/>
              <a:t>fingerprint. The purely self-supervised one shows substantial but partial class</a:t>
            </a:r>
          </a:p>
          <a:p>
            <a:r>
              <a:rPr dirty="0"/>
              <a:t>structure. 81.9% is the honest number and it is impressive enough.</a:t>
            </a:r>
          </a:p>
          <a:p>
            <a:endParaRPr dirty="0"/>
          </a:p>
          <a:p>
            <a:r>
              <a:rPr dirty="0"/>
              <a:t>The counterpoint I like to pair with this: DRFP, a hand-crafted, training-free</a:t>
            </a:r>
          </a:p>
          <a:p>
            <a:r>
              <a:rPr dirty="0"/>
              <a:t>reaction fingerprint, matches the learned one on both classification and yield</a:t>
            </a:r>
          </a:p>
          <a:p>
            <a:r>
              <a:rPr dirty="0"/>
              <a:t>prediction. Which is a preview of Part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Here is the architecture that starts the modern story.</a:t>
            </a:r>
          </a:p>
          <a:p>
            <a:endParaRPr dirty="0"/>
          </a:p>
          <a:p>
            <a:r>
              <a:rPr dirty="0"/>
              <a:t>An encoder squeezes the molecule down to a small vector z. A decoder tries to rebuild</a:t>
            </a:r>
          </a:p>
          <a:p>
            <a:r>
              <a:rPr dirty="0"/>
              <a:t>the original molecule from z alone. The loss is simply: did you get the input back.</a:t>
            </a:r>
          </a:p>
          <a:p>
            <a:endParaRPr dirty="0"/>
          </a:p>
          <a:p>
            <a:r>
              <a:rPr dirty="0"/>
              <a:t>Note what is NOT here. No property. No assay. No label of any kind. The molecule is</a:t>
            </a:r>
          </a:p>
          <a:p>
            <a:r>
              <a:rPr dirty="0"/>
              <a:t>its own target. This is self-supervision in its purest form, and it means you can</a:t>
            </a:r>
          </a:p>
          <a:p>
            <a:r>
              <a:rPr dirty="0"/>
              <a:t>train on every molecule in ZINC.</a:t>
            </a:r>
          </a:p>
          <a:p>
            <a:endParaRPr dirty="0"/>
          </a:p>
          <a:p>
            <a:r>
              <a:rPr dirty="0"/>
              <a:t>Now the important bit conceptually. If the decoder can rebuild the molecule from</a:t>
            </a:r>
          </a:p>
          <a:p>
            <a:r>
              <a:rPr dirty="0"/>
              <a:t>196 numbers, then those 196 numbers must contain essentially everything about the</a:t>
            </a:r>
          </a:p>
          <a:p>
            <a:r>
              <a:rPr dirty="0"/>
              <a:t>molecule that matters. z is a learned representation — a compressed description that</a:t>
            </a:r>
          </a:p>
          <a:p>
            <a:r>
              <a:rPr dirty="0"/>
              <a:t>the model invented, rather than one you specified.</a:t>
            </a:r>
          </a:p>
          <a:p>
            <a:endParaRPr dirty="0"/>
          </a:p>
          <a:p>
            <a:r>
              <a:rPr dirty="0"/>
              <a:t>The word "bottleneck" is doing real work here, and the next slide unpacks it.</a:t>
            </a:r>
          </a:p>
          <a:p>
            <a:endParaRPr dirty="0"/>
          </a:p>
          <a:p>
            <a:r>
              <a:rPr dirty="0"/>
              <a:t>Historical aside if you have time: this idea is old, it goes back to the 1980s. What</a:t>
            </a:r>
          </a:p>
          <a:p>
            <a:r>
              <a:rPr dirty="0"/>
              <a:t>changed is that we got enough </a:t>
            </a:r>
            <a:r>
              <a:rPr dirty="0" err="1"/>
              <a:t>unlabelled</a:t>
            </a:r>
            <a:r>
              <a:rPr dirty="0"/>
              <a:t> molecules and enough GPU to make it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does compression produce something useful? Because it forces a choice.</a:t>
            </a:r>
          </a:p>
          <a:p>
            <a:endParaRPr/>
          </a:p>
          <a:p>
            <a:r>
              <a:t>If z is as wide as the input, the network learns the identity function. It copies</a:t>
            </a:r>
          </a:p>
          <a:p>
            <a:r>
              <a:t>the input across and reconstructs perfectly, and z tells you nothing. This is a real</a:t>
            </a:r>
          </a:p>
          <a:p>
            <a:r>
              <a:t>failure mode, not a hypothetical.</a:t>
            </a:r>
          </a:p>
          <a:p>
            <a:endParaRPr/>
          </a:p>
          <a:p>
            <a:r>
              <a:t>If z is far too narrow — say two numbers — nothing reconstructs, and everything</a:t>
            </a:r>
          </a:p>
          <a:p>
            <a:r>
              <a:t>decodes to something like benzene.</a:t>
            </a:r>
          </a:p>
          <a:p>
            <a:endParaRPr/>
          </a:p>
          <a:p>
            <a:r>
              <a:t>In between, the model is forced to triage. It has, say, 196 numbers to describe an</a:t>
            </a:r>
          </a:p>
          <a:p>
            <a:r>
              <a:t>arbitrary drug-like molecule. It cannot store the SMILES string. So it has to work</a:t>
            </a:r>
          </a:p>
          <a:p>
            <a:r>
              <a:t>out what is worth keeping: ring systems, molecular size, the presence of a carbonyl,</a:t>
            </a:r>
          </a:p>
          <a:p>
            <a:r>
              <a:t>halogen substitution, roughly where things are attached. And it discovers those</a:t>
            </a:r>
          </a:p>
          <a:p>
            <a:r>
              <a:t>features itself, because they are the ones that buy the most reconstruction accuracy</a:t>
            </a:r>
          </a:p>
          <a:p>
            <a:r>
              <a:t>per bit.</a:t>
            </a:r>
          </a:p>
          <a:p>
            <a:endParaRPr/>
          </a:p>
          <a:p>
            <a:r>
              <a:t>That is the sentence to take away: what survives the bottleneck is what the data says</a:t>
            </a:r>
          </a:p>
          <a:p>
            <a:r>
              <a:t>matters. Compare that with ECFP, where what survives is what Rogers and Hahn decided</a:t>
            </a:r>
          </a:p>
          <a:p>
            <a:r>
              <a:t>mattered in 2010.</a:t>
            </a:r>
          </a:p>
          <a:p>
            <a:endParaRPr/>
          </a:p>
          <a:p>
            <a:r>
              <a:t>Which is better? Genuinely open — Part 6. But they are different in kind.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Now the failure that motivates the VAE, and it is worth being concrete because this</a:t>
            </a:r>
          </a:p>
          <a:p>
            <a:r>
              <a:t>is where students' intuition usually breaks.</a:t>
            </a:r>
          </a:p>
          <a:p>
            <a:endParaRPr/>
          </a:p>
          <a:p>
            <a:r>
              <a:t>The autoencoder was only ever asked to do one thing: reconstruct the molecules in the</a:t>
            </a:r>
          </a:p>
          <a:p>
            <a:r>
              <a:t>training set. Nothing in the loss says anything about the space between them. So the</a:t>
            </a:r>
          </a:p>
          <a:p>
            <a:r>
              <a:t>optimiser does the easiest thing — it scatters the training molecules into isolated</a:t>
            </a:r>
          </a:p>
          <a:p>
            <a:r>
              <a:t>islands, as far from each other as possible, because that makes them maximally easy</a:t>
            </a:r>
          </a:p>
          <a:p>
            <a:r>
              <a:t>to tell apart and reconstruct.</a:t>
            </a:r>
          </a:p>
          <a:p>
            <a:endParaRPr/>
          </a:p>
          <a:p>
            <a:r>
              <a:t>The result is on the left: a latent space that is mostly empty. And if you pick a</a:t>
            </a:r>
          </a:p>
          <a:p>
            <a:r>
              <a:t>point in one of those empty regions and decode it — the red star — you get the mess</a:t>
            </a:r>
          </a:p>
          <a:p>
            <a:r>
              <a:t>on the right. Unparseable strings, pentavalent carbons, absurd structures.</a:t>
            </a:r>
          </a:p>
          <a:p>
            <a:endParaRPr/>
          </a:p>
          <a:p>
            <a:r>
              <a:t>Why does this matter? Because a representation you cannot move around in is much less</a:t>
            </a:r>
          </a:p>
          <a:p>
            <a:r>
              <a:t>useful. If you want to optimise a molecule, or interpolate between two molecules, or</a:t>
            </a:r>
          </a:p>
          <a:p>
            <a:r>
              <a:t>sample a new one, you need the space between the data to mean something.</a:t>
            </a:r>
          </a:p>
          <a:p>
            <a:endParaRPr/>
          </a:p>
          <a:p>
            <a:r>
              <a:t>The VAE is precisely the fix for this, and it is one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the entire conceptual content of a variational autoencoder. Everything else</a:t>
            </a:r>
          </a:p>
          <a:p>
            <a:r>
              <a:t>is machinery.</a:t>
            </a:r>
          </a:p>
          <a:p>
            <a:endParaRPr/>
          </a:p>
          <a:p>
            <a:r>
              <a:t>Instead of mapping each molecule to a single point in latent space, map it to a small</a:t>
            </a:r>
          </a:p>
          <a:p>
            <a:r>
              <a:t>region — a mean and a spread. Then, during training, do not decode the mean. Decode a</a:t>
            </a:r>
          </a:p>
          <a:p>
            <a:r>
              <a:t>random sample drawn from that region.</a:t>
            </a:r>
          </a:p>
          <a:p>
            <a:endParaRPr/>
          </a:p>
          <a:p>
            <a:r>
              <a:t>Think about what that does. The model is now being told: every point in this little</a:t>
            </a:r>
          </a:p>
          <a:p>
            <a:r>
              <a:t>cloud has to decode back to aspirin. Not just the centre — the whole neighbourhood.</a:t>
            </a:r>
          </a:p>
          <a:p>
            <a:endParaRPr/>
          </a:p>
          <a:p>
            <a:r>
              <a:t>Do that for every molecule in the training set, and the clouds start to overlap and</a:t>
            </a:r>
          </a:p>
          <a:p>
            <a:r>
              <a:t>tile the space. The holes fill in. The space becomes continuous, in the sense that</a:t>
            </a:r>
          </a:p>
          <a:p>
            <a:r>
              <a:t>moving a small distance changes the molecule a small amount, rather than falling off</a:t>
            </a:r>
          </a:p>
          <a:p>
            <a:r>
              <a:t>a cliff into garbage.</a:t>
            </a:r>
          </a:p>
          <a:p>
            <a:endParaRPr/>
          </a:p>
          <a:p>
            <a:r>
              <a:t>That is it. That is the idea. The mathematics — variational inference, the ELBO, the</a:t>
            </a:r>
          </a:p>
          <a:p>
            <a:r>
              <a:t>reparameterisation trick — is machinery for making that trainable, and I am</a:t>
            </a:r>
          </a:p>
          <a:p>
            <a:r>
              <a:t>deliberately not showing it. If you want it, Kingma and Welling 2013, and the</a:t>
            </a:r>
          </a:p>
          <a:p>
            <a:r>
              <a:t>reparameterisation trick is the one piece genuinely worth reading about.</a:t>
            </a:r>
          </a:p>
          <a:p>
            <a:endParaRPr/>
          </a:p>
          <a:p>
            <a:r>
              <a:t>Check for understanding: ask why we sample instead of just adding noise to the</a:t>
            </a:r>
          </a:p>
          <a:p>
            <a:r>
              <a:t>output. Answer: because the model also gets to CHOOSE the spread, and that choice is</a:t>
            </a:r>
          </a:p>
          <a:p>
            <a:r>
              <a:t>what gets regularised.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VAE loss has two terms pulling in opposite directions, and understanding the</a:t>
            </a:r>
          </a:p>
          <a:p>
            <a:r>
              <a:t>tension is enough to read any VAE paper.</a:t>
            </a:r>
          </a:p>
          <a:p>
            <a:endParaRPr/>
          </a:p>
          <a:p>
            <a:r>
              <a:t>RECONSTRUCTION wants every molecule to be perfectly recoverable. The way to achieve</a:t>
            </a:r>
          </a:p>
          <a:p>
            <a:r>
              <a:t>that is to make the clouds tiny and far apart, so no two molecules can be confused.</a:t>
            </a:r>
          </a:p>
          <a:p>
            <a:r>
              <a:t>That is the autoencoder failure mode coming back in.</a:t>
            </a:r>
          </a:p>
          <a:p>
            <a:endParaRPr/>
          </a:p>
          <a:p>
            <a:r>
              <a:t>REGULARISATION wants all the clouds to look like one standard blob centred at the</a:t>
            </a:r>
          </a:p>
          <a:p>
            <a:r>
              <a:t>origin. Taken alone, that collapses everything on top of everything else and you can</a:t>
            </a:r>
          </a:p>
          <a:p>
            <a:r>
              <a:t>reconstruct nothing.</a:t>
            </a:r>
          </a:p>
          <a:p>
            <a:endParaRPr/>
          </a:p>
          <a:p>
            <a:r>
              <a:t>Beta is the dial between them. Turn it down and you have an autoencoder with holes.</a:t>
            </a:r>
          </a:p>
          <a:p>
            <a:r>
              <a:t>Turn it up and you get mush — in the worst case the model ignores z entirely and the</a:t>
            </a:r>
          </a:p>
          <a:p>
            <a:r>
              <a:t>decoder just produces generic molecules. That failure has a name, posterior collapse,</a:t>
            </a:r>
          </a:p>
          <a:p>
            <a:r>
              <a:t>and it is common enough that a lot of practical VAE work is about scheduling beta.</a:t>
            </a:r>
          </a:p>
          <a:p>
            <a:endParaRPr/>
          </a:p>
          <a:p>
            <a:r>
              <a:t>The original chemical VAE annealed beta on a sigmoid schedule after 29 epochs, for</a:t>
            </a:r>
          </a:p>
          <a:p>
            <a:r>
              <a:t>exactly this reason.</a:t>
            </a:r>
          </a:p>
          <a:p>
            <a:endParaRPr/>
          </a:p>
          <a:p>
            <a:r>
              <a:t>What to take away: when someone shows you a beautiful smooth latent space, ask what</a:t>
            </a:r>
          </a:p>
          <a:p>
            <a:r>
              <a:t>beta was, and ask what the reconstruction accuracy was. There is always a trade, and</a:t>
            </a:r>
          </a:p>
          <a:p>
            <a:r>
              <a:t>the pretty picture usually costs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picture that made the field excited in 2016, and it is worth</a:t>
            </a:r>
          </a:p>
          <a:p>
            <a:r>
              <a:t>understanding why.</a:t>
            </a:r>
          </a:p>
          <a:p>
            <a:endParaRPr/>
          </a:p>
          <a:p>
            <a:r>
              <a:t>Take two molecules. Encode both to get two points in latent space. Draw the straight</a:t>
            </a:r>
          </a:p>
          <a:p>
            <a:r>
              <a:t>line between them. Decode at intervals along the line. You get a series of molecules</a:t>
            </a:r>
          </a:p>
          <a:p>
            <a:r>
              <a:t>that morph gradually from one to the other.</a:t>
            </a:r>
          </a:p>
          <a:p>
            <a:endParaRPr/>
          </a:p>
          <a:p>
            <a:r>
              <a:t>Notice what that means. Chemical structure is discrete — you cannot have half a</a:t>
            </a:r>
          </a:p>
          <a:p>
            <a:r>
              <a:t>nitrogen. But the latent space is continuous. The VAE has given you a continuous</a:t>
            </a:r>
          </a:p>
          <a:p>
            <a:r>
              <a:t>handle on a discrete object, and continuous is what every optimisation algorithm in</a:t>
            </a:r>
          </a:p>
          <a:p>
            <a:r>
              <a:t>existence wants: gradients, Bayesian optimisation, gradient descent on a property.</a:t>
            </a:r>
          </a:p>
          <a:p>
            <a:endParaRPr/>
          </a:p>
          <a:p>
            <a:r>
              <a:t>That is the promise: turn molecular design into continuous optimisation. Encode your</a:t>
            </a:r>
          </a:p>
          <a:p>
            <a:r>
              <a:t>library, train a property predictor on the latent vectors, follow the gradient</a:t>
            </a:r>
          </a:p>
          <a:p>
            <a:r>
              <a:t>uphill, decode.</a:t>
            </a:r>
          </a:p>
          <a:p>
            <a:endParaRPr/>
          </a:p>
          <a:p>
            <a:r>
              <a:t>Hold onto that promise for two slides, because we are going to test it.</a:t>
            </a:r>
          </a:p>
          <a:p>
            <a:endParaRPr/>
          </a:p>
          <a:p>
            <a:r>
              <a:t>Note for honesty: real interpolations are choppier than this cartoon. Papers show you</a:t>
            </a:r>
          </a:p>
          <a:p>
            <a:r>
              <a:t>the good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Gómez-Bombarelli and Aspuru-Guzik, ACS Central Science 2018 — the reference everyone</a:t>
            </a:r>
          </a:p>
          <a:p>
            <a:r>
              <a:t>cites.</a:t>
            </a:r>
          </a:p>
          <a:p>
            <a:endParaRPr/>
          </a:p>
          <a:p>
            <a:r>
              <a:t>Architecture: SMILES in, convolutional encoder, 196-dimensional latent space for the</a:t>
            </a:r>
          </a:p>
          <a:p>
            <a:r>
              <a:t>ZINC model, GRU decoder, SMILES out. Trained on 250,000 drug-like ZINC molecules.</a:t>
            </a:r>
          </a:p>
          <a:p>
            <a:endParaRPr/>
          </a:p>
          <a:p>
            <a:r>
              <a:t>The clever addition is the purple box. Alongside the decoder they attached a small</a:t>
            </a:r>
          </a:p>
          <a:p>
            <a:r>
              <a:t>property predictor that reads z and predicts logP, QED, synthetic accessibility.</a:t>
            </a:r>
          </a:p>
          <a:p>
            <a:r>
              <a:t>Trained jointly. And that changes the geometry of the latent space: instead of</a:t>
            </a:r>
          </a:p>
          <a:p>
            <a:r>
              <a:t>organising molecules by whatever is easiest to reconstruct, it organises them</a:t>
            </a:r>
          </a:p>
          <a:p>
            <a:r>
              <a:t>partly by property. Their own ablation says that without the property head there is</a:t>
            </a:r>
          </a:p>
          <a:p>
            <a:r>
              <a:t>no discernible pattern in the latent space.</a:t>
            </a:r>
          </a:p>
          <a:p>
            <a:endParaRPr/>
          </a:p>
          <a:p>
            <a:r>
              <a:t>That is a genuinely important idea and it survives: if you want a representation</a:t>
            </a:r>
          </a:p>
          <a:p>
            <a:r>
              <a:t>that is useful for a task, giving it a whiff of the task during training helps a lot.</a:t>
            </a:r>
          </a:p>
          <a:p>
            <a:r>
              <a:t>You will see the same idea in Part 4 as multi-task regression pre-training.</a:t>
            </a:r>
          </a:p>
          <a:p>
            <a:endParaRPr/>
          </a:p>
          <a:p>
            <a:r>
              <a:t>Now the number in red, and I want to be careful because the literature is messy here.</a:t>
            </a:r>
          </a:p>
          <a:p>
            <a:r>
              <a:t>Take random points from the latent space and decode them: roughly 4% give a valid</a:t>
            </a:r>
          </a:p>
          <a:p>
            <a:r>
              <a:t>molecule, according to the published main text. Near real molecules it is much better,</a:t>
            </a:r>
          </a:p>
          <a:p>
            <a:r>
              <a:t>70-80%. The arXiv version reports these differently and the definitions vary. But the</a:t>
            </a:r>
          </a:p>
          <a:p>
            <a:r>
              <a:t>qualitative fact is not in dispute: most of that beautiful continuous space decodes</a:t>
            </a:r>
          </a:p>
          <a:p>
            <a:r>
              <a:t>to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4% number set off five years of work, and this chart is that story.</a:t>
            </a:r>
          </a:p>
          <a:p>
            <a:endParaRPr/>
          </a:p>
          <a:p>
            <a:r>
              <a:t>Character-level VAE — the JT-VAE authors reproduced it at 0.7% prior validity.</a:t>
            </a:r>
          </a:p>
          <a:p>
            <a:r>
              <a:t>Grammar VAE, which forces the output to follow a SMILES grammar: 7.2%. Syntax-directed</a:t>
            </a:r>
          </a:p>
          <a:p>
            <a:r>
              <a:t>VAE, which adds semantics on top: 43.5%. Junction-tree VAE: 100%. SELFIES: 100%.</a:t>
            </a:r>
          </a:p>
          <a:p>
            <a:endParaRPr/>
          </a:p>
          <a:p>
            <a:r>
              <a:t>Now the honest reading, which is the line above the last two bars. Those hundreds are</a:t>
            </a:r>
          </a:p>
          <a:p>
            <a:r>
              <a:t>not achieved by learning. They are achieved by construction — by making it</a:t>
            </a:r>
          </a:p>
          <a:p>
            <a:r>
              <a:t>structurally impossible to emit an invalid molecule. The model did not get better at</a:t>
            </a:r>
          </a:p>
          <a:p>
            <a:r>
              <a:t>chemistry. The output format got stricter.</a:t>
            </a:r>
          </a:p>
          <a:p>
            <a:endParaRPr/>
          </a:p>
          <a:p>
            <a:r>
              <a:t>The JT-VAE authors say this themselves, and I like them for it: a degenerate model</a:t>
            </a:r>
          </a:p>
          <a:p>
            <a:r>
              <a:t>could hit 100% validity by only ever generating long alkane chains.</a:t>
            </a:r>
          </a:p>
          <a:p>
            <a:endParaRPr/>
          </a:p>
          <a:p>
            <a:r>
              <a:t>So the right question is not "is it valid". Validity is table stakes and it is solved.</a:t>
            </a:r>
          </a:p>
          <a:p>
            <a:r>
              <a:t>The right question is "is it any good", and that turns out to be much harder to</a:t>
            </a:r>
          </a:p>
          <a:p>
            <a:r>
              <a:t>measure — and much less flattering. Two slides from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Both worth knowing because you will meet both.</a:t>
            </a:r>
          </a:p>
          <a:p>
            <a:endParaRPr/>
          </a:p>
          <a:p>
            <a:r>
              <a:t>JT-VAE, on the left. Do not generate atom by atom — generate at the level of</a:t>
            </a:r>
          </a:p>
          <a:p>
            <a:r>
              <a:t>chemically valid pieces. Decompose each molecule into a junction tree whose nodes are</a:t>
            </a:r>
          </a:p>
          <a:p>
            <a:r>
              <a:t>rings, bonds and single atoms, with a vocabulary of 780 substructures learned from</a:t>
            </a:r>
          </a:p>
          <a:p>
            <a:r>
              <a:t>ZINC. Generate the tree first, then assemble the pieces into a graph, masking out any</a:t>
            </a:r>
          </a:p>
          <a:p>
            <a:r>
              <a:t>join that would be chemically illegal. You cannot produce an invalid molecule because</a:t>
            </a:r>
          </a:p>
          <a:p>
            <a:r>
              <a:t>you are only ever gluing together valid parts in legal ways.</a:t>
            </a:r>
          </a:p>
          <a:p>
            <a:endParaRPr/>
          </a:p>
          <a:p>
            <a:r>
              <a:t>SELFIES, on the right, is more elegant. It is a formal grammar with a state machine.</a:t>
            </a:r>
          </a:p>
          <a:p>
            <a:r>
              <a:t>Each symbol is not a fixed token — it is an index into a rule table, and which rule</a:t>
            </a:r>
          </a:p>
          <a:p>
            <a:r>
              <a:t>fires depends on how much valence is left. Follow the example: we are in state X1</a:t>
            </a:r>
          </a:p>
          <a:p>
            <a:r>
              <a:t>with one bond available, the string asks for a double bond to carbon, so the grammar</a:t>
            </a:r>
          </a:p>
          <a:p>
            <a:r>
              <a:t>CLAMPS it to a single bond. It never rejects; it absorbs. Combined with encoding</a:t>
            </a:r>
          </a:p>
          <a:p>
            <a:r>
              <a:t>branch lengths and ring sizes as counts rather than paired brackets, there is</a:t>
            </a:r>
          </a:p>
          <a:p>
            <a:r>
              <a:t>literally no string of SELFIES symbols that fails to decode.</a:t>
            </a:r>
          </a:p>
          <a:p>
            <a:endParaRPr/>
          </a:p>
          <a:p>
            <a:r>
              <a:t>The limitation, and say it clearly: SELFIES enforces local valence only. Not</a:t>
            </a:r>
          </a:p>
          <a:p>
            <a:r>
              <a:t>aromaticity, not ring strain, not stability, not synthesizability. A 100%-valid</a:t>
            </a:r>
          </a:p>
          <a:p>
            <a:r>
              <a:t>SELFIES molecule can still be something no chemist would ever draw.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slide where I ask you to update. Three results, all from people inside</a:t>
            </a:r>
          </a:p>
          <a:p>
            <a:r>
              <a:t>the field.</a:t>
            </a:r>
          </a:p>
          <a:p>
            <a:endParaRPr/>
          </a:p>
          <a:p>
            <a:r>
              <a:t>LEFT — memorisation. On the MOSES benchmark the VAE's novelty score is 0.695. Nearly</a:t>
            </a:r>
          </a:p>
          <a:p>
            <a:r>
              <a:t>a third of what it "designs" is literally already in the training set. The benchmark</a:t>
            </a:r>
          </a:p>
          <a:p>
            <a:r>
              <a:t>authors' own words: autoencoder-based models overfit to the training set. A</a:t>
            </a:r>
          </a:p>
          <a:p>
            <a:r>
              <a:t>character-RNN — a much simpler model — is more novel.</a:t>
            </a:r>
          </a:p>
          <a:p>
            <a:endParaRPr/>
          </a:p>
          <a:p>
            <a:r>
              <a:t>MIDDLE — validity does not buy quality. FCD measures how close your generated</a:t>
            </a:r>
          </a:p>
          <a:p>
            <a:r>
              <a:t>distribution is to real chemistry. Look at CGVAE: 100% valid, and by a wide margin the</a:t>
            </a:r>
          </a:p>
          <a:p>
            <a:r>
              <a:t>worst distribution match in the table. Molecule Chef, at 99% valid, is sixteen times</a:t>
            </a:r>
          </a:p>
          <a:p>
            <a:r>
              <a:t>better on FCD. The relationship between validity and quality is not just weak, in this</a:t>
            </a:r>
          </a:p>
          <a:p>
            <a:r>
              <a:t>table it is inverted.</a:t>
            </a:r>
          </a:p>
          <a:p>
            <a:endParaRPr/>
          </a:p>
          <a:p>
            <a:r>
              <a:t>RIGHT — and this is the one that should sting. Jan Jensen took a graph-based genetic</a:t>
            </a:r>
          </a:p>
          <a:p>
            <a:r>
              <a:t>algorithm, a technique from the 1970s, and ran it for thirty seconds on a laptop. It</a:t>
            </a:r>
          </a:p>
          <a:p>
            <a:r>
              <a:t>scored 7.4 on penalised logP. ChemVAE with Bayesian optimisation, eight hours: 0.0.</a:t>
            </a:r>
          </a:p>
          <a:p>
            <a:endParaRPr/>
          </a:p>
          <a:p>
            <a:r>
              <a:t>Add to that: on the PMO benchmark, randomly screening ZINC beats both JT-VAE and</a:t>
            </a:r>
          </a:p>
          <a:p>
            <a:r>
              <a:t>SMILES-VAE. And Gao and Coley found that only about 30% of top-scoring generated</a:t>
            </a:r>
          </a:p>
          <a:p>
            <a:r>
              <a:t>molecules have a findable synthetic route.</a:t>
            </a:r>
          </a:p>
          <a:p>
            <a:endParaRPr/>
          </a:p>
          <a:p>
            <a:r>
              <a:t>Pause here. Let it sit. Then ask: so why did I spend fifteen minutes on this?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the answer to the question I just asked, and it is the hinge of the lecture.</a:t>
            </a:r>
          </a:p>
          <a:p>
            <a:endParaRPr/>
          </a:p>
          <a:p>
            <a:r>
              <a:t>As a molecule GENERATOR, the VAE lost. It lost to genetic algorithms, to plain SMILES</a:t>
            </a:r>
          </a:p>
          <a:p>
            <a:r>
              <a:t>language models, and on some benchmarks to random screening. The generative baton has</a:t>
            </a:r>
          </a:p>
          <a:p>
            <a:r>
              <a:t>passed to diffusion models — which is Thursday afternoon with Chenru — and to</a:t>
            </a:r>
          </a:p>
          <a:p>
            <a:r>
              <a:t>LLM-based approaches, which is next week.</a:t>
            </a:r>
          </a:p>
          <a:p>
            <a:endParaRPr/>
          </a:p>
          <a:p>
            <a:r>
              <a:t>But look at what the architecture actually gave us. A way to map any molecule to a</a:t>
            </a:r>
          </a:p>
          <a:p>
            <a:r>
              <a:t>fixed-length vector. Trained on hundreds of thousands of molecules with zero labels.</a:t>
            </a:r>
          </a:p>
          <a:p>
            <a:r>
              <a:t>Where the geometry means something. And where the encoder can be pulled off and</a:t>
            </a:r>
          </a:p>
          <a:p>
            <a:r>
              <a:t>reused for anything.</a:t>
            </a:r>
          </a:p>
          <a:p>
            <a:endParaRPr/>
          </a:p>
          <a:p>
            <a:r>
              <a:t>The decoder was the part that disappointed. The ENCODER is the part that became the</a:t>
            </a:r>
          </a:p>
          <a:p>
            <a:r>
              <a:t>foundation of everything in the second half of this lecture. Every chemical language</a:t>
            </a:r>
          </a:p>
          <a:p>
            <a:r>
              <a:t>model, every pre-trained GNN, every foundation MLIP is running the same play: train an</a:t>
            </a:r>
          </a:p>
          <a:p>
            <a:r>
              <a:t>encoder on a pretext task using unlabelled data, then throw away the pretext head and</a:t>
            </a:r>
          </a:p>
          <a:p>
            <a:r>
              <a:t>keep the encoder.</a:t>
            </a:r>
          </a:p>
          <a:p>
            <a:endParaRPr/>
          </a:p>
          <a:p>
            <a:r>
              <a:t>The VAE's pretext task was reconstruction. Part 4 is about better pretext tasks.</a:t>
            </a:r>
          </a:p>
          <a:p>
            <a:endParaRPr/>
          </a:p>
          <a:p>
            <a:r>
              <a:t>Break here — ten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Ten minutes. When we come back: the second half is the practical half — this is the</a:t>
            </a:r>
          </a:p>
          <a:p>
            <a:r>
              <a:t>part you will actually use.</a:t>
            </a:r>
          </a:p>
          <a:p>
            <a:endParaRPr/>
          </a:p>
          <a:p>
            <a:r>
              <a:t>If anyone asks during the break why VAEs are still taught: because the encoder-latent-</a:t>
            </a:r>
          </a:p>
          <a:p>
            <a:r>
              <a:t>decoder pattern is everywhere, and because you cannot read the 2018-2022 chemistry ML</a:t>
            </a:r>
          </a:p>
          <a:p>
            <a:r>
              <a:t>literature without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families. Nearly everything you will meet is one of these or a combination.</a:t>
            </a:r>
          </a:p>
          <a:p>
            <a:endParaRPr/>
          </a:p>
          <a:p>
            <a:r>
              <a:t>MASKED PREDICTION. Hide part of the input, predict it back. On SMILES you mask</a:t>
            </a:r>
          </a:p>
          <a:p>
            <a:r>
              <a:t>tokens, exactly as BERT does for English. On graphs you mask atom or bond attributes.</a:t>
            </a:r>
          </a:p>
          <a:p>
            <a:r>
              <a:t>The insight: to fill in that gap correctly the model has to have internalised valence</a:t>
            </a:r>
          </a:p>
          <a:p>
            <a:r>
              <a:t>rules, ring closure, which functional groups co-occur, what makes a molecule</a:t>
            </a:r>
          </a:p>
          <a:p>
            <a:r>
              <a:t>plausible. You never told it any of that. It had to learn chemistry to solve the</a:t>
            </a:r>
          </a:p>
          <a:p>
            <a:r>
              <a:t>puzzle. ChemBERTa and MoLFormer are this family.</a:t>
            </a:r>
          </a:p>
          <a:p>
            <a:endParaRPr/>
          </a:p>
          <a:p>
            <a:r>
              <a:t>CONTRASTIVE. Make two corrupted views of the same molecule. Push their embeddings</a:t>
            </a:r>
          </a:p>
          <a:p>
            <a:r>
              <a:t>together. Push embeddings of different molecules apart. The insight here is different:</a:t>
            </a:r>
          </a:p>
          <a:p>
            <a:r>
              <a:t>you are teaching the model what to IGNORE. If deleting a bond or masking an atom</a:t>
            </a:r>
          </a:p>
          <a:p>
            <a:r>
              <a:t>should not change the embedding much, the model learns representations that are</a:t>
            </a:r>
          </a:p>
          <a:p>
            <a:r>
              <a:t>robust to small perturbations and that capture the overall identity of the molecule.</a:t>
            </a:r>
          </a:p>
          <a:p>
            <a:r>
              <a:t>MolCLR is the reference here.</a:t>
            </a:r>
          </a:p>
          <a:p>
            <a:endParaRPr/>
          </a:p>
          <a:p>
            <a:r>
              <a:t>Trade-off worth stating: masked prediction gives you fine-grained local knowledge;</a:t>
            </a:r>
          </a:p>
          <a:p>
            <a:r>
              <a:t>contrastive gives you a more global, invariance-flavoured representation. Contrastive</a:t>
            </a:r>
          </a:p>
          <a:p>
            <a:r>
              <a:t>is very sensitive to which augmentations you pick —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MolCLR's</a:t>
            </a:r>
            <a:r>
              <a:rPr dirty="0"/>
              <a:t> three augmentations, and the reason this slide exists is the red line at</a:t>
            </a:r>
          </a:p>
          <a:p>
            <a:r>
              <a:rPr dirty="0"/>
              <a:t>the bottom.</a:t>
            </a:r>
          </a:p>
          <a:p>
            <a:endParaRPr dirty="0"/>
          </a:p>
          <a:p>
            <a:r>
              <a:rPr dirty="0"/>
              <a:t>Atom masking: replace an atom's identity with a dummy. Bond deletion: remove a bond</a:t>
            </a:r>
          </a:p>
          <a:p>
            <a:r>
              <a:rPr dirty="0"/>
              <a:t>but keep the atoms. Subgraph removal: delete a whole connected region.</a:t>
            </a:r>
          </a:p>
          <a:p>
            <a:endParaRPr dirty="0"/>
          </a:p>
          <a:p>
            <a:r>
              <a:rPr dirty="0"/>
              <a:t>Here is the conceptual problem, and it is specific to chemistry. In computer vision,</a:t>
            </a:r>
          </a:p>
          <a:p>
            <a:r>
              <a:rPr dirty="0"/>
              <a:t>contrastive learning works because the augmentations are obviously label-preserving —</a:t>
            </a:r>
          </a:p>
          <a:p>
            <a:r>
              <a:rPr dirty="0"/>
              <a:t>a rotated cat is a cat, a cropped cat is a cat. In chemistry that is not true. Delete</a:t>
            </a:r>
          </a:p>
          <a:p>
            <a:r>
              <a:rPr dirty="0"/>
              <a:t>a bond and you may have changed the molecule from an agonist to an antagonist. Every</a:t>
            </a:r>
          </a:p>
          <a:p>
            <a:r>
              <a:rPr dirty="0"/>
              <a:t>augmentation is a claim that some perturbation does not matter, and in chemistry that</a:t>
            </a:r>
          </a:p>
          <a:p>
            <a:r>
              <a:rPr dirty="0"/>
              <a:t>claim is often false.</a:t>
            </a:r>
          </a:p>
          <a:p>
            <a:endParaRPr dirty="0"/>
          </a:p>
          <a:p>
            <a:r>
              <a:rPr dirty="0"/>
              <a:t>Their own ablation shows it. Subgraph removal alone works best. Combining all three</a:t>
            </a:r>
          </a:p>
          <a:p>
            <a:r>
              <a:rPr dirty="0"/>
              <a:t>makes things worse, because you destroy too much structure. And specifically on</a:t>
            </a:r>
          </a:p>
          <a:p>
            <a:r>
              <a:rPr dirty="0"/>
              <a:t>BBBP — blood-brain barrier penetration — the fixed augmentation ratio hurts, because</a:t>
            </a:r>
          </a:p>
          <a:p>
            <a:r>
              <a:rPr dirty="0"/>
              <a:t>small topological changes really do flip that property.</a:t>
            </a:r>
          </a:p>
          <a:p>
            <a:endParaRPr dirty="0"/>
          </a:p>
          <a:p>
            <a:r>
              <a:rPr dirty="0"/>
              <a:t>Their honest conclusion: the optimal augmentation is task-dependent. Which is</a:t>
            </a:r>
          </a:p>
          <a:p>
            <a:r>
              <a:rPr dirty="0"/>
              <a:t>awkward, because the whole point of pre-training is to do it once, before you know</a:t>
            </a:r>
          </a:p>
          <a:p>
            <a:r>
              <a:rPr dirty="0"/>
              <a:t>the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Two halves, and you need both.</a:t>
            </a:r>
          </a:p>
          <a:p>
            <a:endParaRPr dirty="0"/>
          </a:p>
          <a:p>
            <a:r>
              <a:rPr dirty="0"/>
              <a:t>LEFT: the scaling story. </a:t>
            </a:r>
            <a:r>
              <a:rPr dirty="0" err="1"/>
              <a:t>ChemBERTa</a:t>
            </a:r>
            <a:r>
              <a:rPr dirty="0"/>
              <a:t>, 10 million SMILES, BBBP 64.3. </a:t>
            </a:r>
            <a:r>
              <a:rPr dirty="0" err="1"/>
              <a:t>MoLFormer</a:t>
            </a:r>
            <a:r>
              <a:rPr dirty="0"/>
              <a:t>-XL, 1.1</a:t>
            </a:r>
          </a:p>
          <a:p>
            <a:r>
              <a:rPr dirty="0"/>
              <a:t>billion SMILES from PubChem and ZINC, BBBP 93.7. That is a real and large jump. The</a:t>
            </a:r>
          </a:p>
          <a:p>
            <a:r>
              <a:rPr dirty="0"/>
              <a:t>engineering matters too: linear attention plus length bucketing took this from</a:t>
            </a:r>
          </a:p>
          <a:p>
            <a:r>
              <a:rPr dirty="0"/>
              <a:t>needing roughly a thousand GPUs to sixteen. That is the difference between a national</a:t>
            </a:r>
          </a:p>
          <a:p>
            <a:r>
              <a:rPr dirty="0"/>
              <a:t>lab and a well-funded group.</a:t>
            </a:r>
          </a:p>
          <a:p>
            <a:endParaRPr dirty="0"/>
          </a:p>
          <a:p>
            <a:r>
              <a:rPr dirty="0"/>
              <a:t>RIGHT: the part that does not get put on slides. ChemBERTa-2's masked-language model,</a:t>
            </a:r>
          </a:p>
          <a:p>
            <a:r>
              <a:rPr dirty="0"/>
              <a:t>same architecture, same everything, corpus grown from 5 million to 77 million.</a:t>
            </a:r>
          </a:p>
          <a:p>
            <a:r>
              <a:rPr dirty="0" err="1"/>
              <a:t>ClinTox</a:t>
            </a:r>
            <a:r>
              <a:rPr dirty="0"/>
              <a:t> ROC-AUC goes 0.341, then 0.349, then 0.239. Fifteen times more pre-training</a:t>
            </a:r>
          </a:p>
          <a:p>
            <a:r>
              <a:rPr dirty="0"/>
              <a:t>data made that task substantially worse.</a:t>
            </a:r>
          </a:p>
          <a:p>
            <a:endParaRPr dirty="0"/>
          </a:p>
          <a:p>
            <a:r>
              <a:rPr dirty="0"/>
              <a:t>And there is a diversity effect in </a:t>
            </a:r>
            <a:r>
              <a:rPr dirty="0" err="1"/>
              <a:t>MoLFormer's</a:t>
            </a:r>
            <a:r>
              <a:rPr dirty="0"/>
              <a:t> own ablation: 10% of ZINC plus 10% of</a:t>
            </a:r>
          </a:p>
          <a:p>
            <a:r>
              <a:rPr dirty="0"/>
              <a:t>PubChem beats 100% of ZINC on five of six tasks. A smaller, more chemically diverse</a:t>
            </a:r>
          </a:p>
          <a:p>
            <a:r>
              <a:rPr dirty="0"/>
              <a:t>corpus beats a bigger, narrower one.</a:t>
            </a:r>
          </a:p>
          <a:p>
            <a:endParaRPr dirty="0"/>
          </a:p>
          <a:p>
            <a:r>
              <a:rPr dirty="0"/>
              <a:t>So the rule is not "more data is better". It is "more data that resembles your</a:t>
            </a:r>
          </a:p>
          <a:p>
            <a:r>
              <a:rPr dirty="0"/>
              <a:t>problem is better". If your chemistry is organometallic and the corpus is drug-like,</a:t>
            </a:r>
          </a:p>
          <a:p>
            <a:r>
              <a:rPr dirty="0"/>
              <a:t>scale will not save you.</a:t>
            </a:r>
          </a:p>
          <a:p>
            <a:endParaRPr dirty="0"/>
          </a:p>
          <a:p>
            <a:r>
              <a:rPr dirty="0"/>
              <a:t>One more caveat on all these tables: </a:t>
            </a:r>
            <a:r>
              <a:rPr dirty="0" err="1"/>
              <a:t>MoLFormer's</a:t>
            </a:r>
            <a:r>
              <a:rPr dirty="0"/>
              <a:t> classification numbers are scaffold</a:t>
            </a:r>
          </a:p>
          <a:p>
            <a:r>
              <a:rPr dirty="0"/>
              <a:t>split, its regression numbers are random split, and the baselines are copied from</a:t>
            </a:r>
          </a:p>
          <a:p>
            <a:r>
              <a:rPr dirty="0"/>
              <a:t>other papers rather than re-run. Read benchmark tables with that in mind.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most instructive pre-training paper in chemistry, because half its message is</a:t>
            </a:r>
          </a:p>
          <a:p>
            <a:r>
              <a:rPr dirty="0"/>
              <a:t>about failure.</a:t>
            </a:r>
          </a:p>
          <a:p>
            <a:endParaRPr dirty="0"/>
          </a:p>
          <a:p>
            <a:r>
              <a:rPr dirty="0"/>
              <a:t>Hu and colleagues tried node-level self-supervision alone: average ROC-AUC across</a:t>
            </a:r>
          </a:p>
          <a:p>
            <a:r>
              <a:rPr dirty="0"/>
              <a:t>eight datasets goes from 67.0 to about 71. They tried graph-level supervised</a:t>
            </a:r>
          </a:p>
          <a:p>
            <a:r>
              <a:rPr dirty="0"/>
              <a:t>pre-training alone on </a:t>
            </a:r>
            <a:r>
              <a:rPr dirty="0" err="1"/>
              <a:t>ChEMBL</a:t>
            </a:r>
            <a:r>
              <a:rPr dirty="0"/>
              <a:t>: 70.0. Combine them — node-level context prediction plus</a:t>
            </a:r>
          </a:p>
          <a:p>
            <a:r>
              <a:rPr dirty="0"/>
              <a:t>graph-level multi-task supervision — and you get 74.2. Plus 7.2 over no pre-training.</a:t>
            </a:r>
          </a:p>
          <a:p>
            <a:endParaRPr dirty="0"/>
          </a:p>
          <a:p>
            <a:r>
              <a:rPr dirty="0"/>
              <a:t>The interpretation: node-level pre-training teaches local chemistry, what a</a:t>
            </a:r>
          </a:p>
          <a:p>
            <a:r>
              <a:rPr dirty="0"/>
              <a:t>substructure is. Graph-level teaches what makes a whole molecule active. Do only the</a:t>
            </a:r>
          </a:p>
          <a:p>
            <a:r>
              <a:rPr dirty="0"/>
              <a:t>first and the readout layer is untrained garbage. Do only the second and you overfit</a:t>
            </a:r>
          </a:p>
          <a:p>
            <a:r>
              <a:rPr dirty="0"/>
              <a:t>to </a:t>
            </a:r>
            <a:r>
              <a:rPr dirty="0" err="1"/>
              <a:t>ChEMBL's</a:t>
            </a:r>
            <a:r>
              <a:rPr dirty="0"/>
              <a:t> particular tasks. You need both.</a:t>
            </a:r>
          </a:p>
          <a:p>
            <a:endParaRPr dirty="0"/>
          </a:p>
          <a:p>
            <a:r>
              <a:rPr dirty="0"/>
              <a:t>Now the right panel, which is the bit to remember. Same recipe, different backbone.</a:t>
            </a:r>
          </a:p>
          <a:p>
            <a:r>
              <a:rPr dirty="0"/>
              <a:t>GIN gains 7.2. GCN gains 3.4. </a:t>
            </a:r>
            <a:r>
              <a:rPr dirty="0" err="1"/>
              <a:t>GraphSAGE</a:t>
            </a:r>
            <a:r>
              <a:rPr dirty="0"/>
              <a:t> gains 2.0. GAT LOSES 6.5.</a:t>
            </a:r>
          </a:p>
          <a:p>
            <a:endParaRPr dirty="0"/>
          </a:p>
          <a:p>
            <a:r>
              <a:rPr dirty="0"/>
              <a:t>Pre-training a less expressive architecture actively hurt. And in their tables,</a:t>
            </a:r>
          </a:p>
          <a:p>
            <a:r>
              <a:rPr dirty="0"/>
              <a:t>graph-level pre-training alone caused negative transfer on two of the eight molecular</a:t>
            </a:r>
          </a:p>
          <a:p>
            <a:r>
              <a:rPr dirty="0"/>
              <a:t>datasets outright.</a:t>
            </a:r>
          </a:p>
          <a:p>
            <a:endParaRPr dirty="0"/>
          </a:p>
          <a:p>
            <a:r>
              <a:rPr dirty="0"/>
              <a:t>So "we pre-trained it" is not a guarantee of anything. It is a hypothesis you have to</a:t>
            </a:r>
          </a:p>
          <a:p>
            <a:r>
              <a:rPr dirty="0"/>
              <a:t>test against the un-pre-trained model. That is a habit, not a technique, and it is</a:t>
            </a:r>
          </a:p>
          <a:p>
            <a:r>
              <a:rPr dirty="0"/>
              <a:t>Part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economics of this is the reason it took over, so lead with that.</a:t>
            </a:r>
          </a:p>
          <a:p>
            <a:endParaRPr dirty="0"/>
          </a:p>
          <a:p>
            <a:r>
              <a:rPr dirty="0"/>
              <a:t>Stage one is done once, by someone with a cluster, on millions to billions of</a:t>
            </a:r>
          </a:p>
          <a:p>
            <a:r>
              <a:rPr dirty="0" err="1"/>
              <a:t>unlabelled</a:t>
            </a:r>
            <a:r>
              <a:rPr dirty="0"/>
              <a:t> molecules, using one of the pretext tasks from Part 4. It costs days of</a:t>
            </a:r>
          </a:p>
          <a:p>
            <a:r>
              <a:rPr dirty="0"/>
              <a:t>GPU time. The output is a set of encoder weights.</a:t>
            </a:r>
          </a:p>
          <a:p>
            <a:endParaRPr dirty="0"/>
          </a:p>
          <a:p>
            <a:r>
              <a:rPr dirty="0"/>
              <a:t>Stage two is done by you. You download those weights, attach a small head for your</a:t>
            </a:r>
          </a:p>
          <a:p>
            <a:r>
              <a:rPr dirty="0"/>
              <a:t>task, and train on the two hundred molecules you actually measured. It takes minutes</a:t>
            </a:r>
          </a:p>
          <a:p>
            <a:r>
              <a:rPr dirty="0"/>
              <a:t>on a laptop, or a free </a:t>
            </a:r>
            <a:r>
              <a:rPr dirty="0" err="1"/>
              <a:t>Colab</a:t>
            </a:r>
            <a:r>
              <a:rPr dirty="0"/>
              <a:t> GPU.</a:t>
            </a:r>
          </a:p>
          <a:p>
            <a:endParaRPr dirty="0"/>
          </a:p>
          <a:p>
            <a:r>
              <a:rPr dirty="0"/>
              <a:t>The asymmetry is the point: the expensive part is </a:t>
            </a:r>
            <a:r>
              <a:rPr dirty="0" err="1"/>
              <a:t>amortised</a:t>
            </a:r>
            <a:r>
              <a:rPr dirty="0"/>
              <a:t> across the entire</a:t>
            </a:r>
          </a:p>
          <a:p>
            <a:r>
              <a:rPr dirty="0"/>
              <a:t>community. You are buying the chemistry that a model learned from a billion molecules</a:t>
            </a:r>
          </a:p>
          <a:p>
            <a:r>
              <a:rPr dirty="0"/>
              <a:t>for the cost of a coffee break.</a:t>
            </a:r>
          </a:p>
          <a:p>
            <a:endParaRPr dirty="0"/>
          </a:p>
          <a:p>
            <a:r>
              <a:rPr dirty="0"/>
              <a:t>The analogy chemists like: you do not re-derive quantum mechanics every time you run</a:t>
            </a:r>
          </a:p>
          <a:p>
            <a:r>
              <a:rPr dirty="0"/>
              <a:t>a DFT calculation. You use a functional someone else </a:t>
            </a:r>
            <a:r>
              <a:rPr dirty="0" err="1"/>
              <a:t>parameterised</a:t>
            </a:r>
            <a:r>
              <a:rPr dirty="0"/>
              <a:t>. Same idea —</a:t>
            </a:r>
          </a:p>
          <a:p>
            <a:r>
              <a:rPr dirty="0"/>
              <a:t>someone else paid for the general knowledge, you supply the specific.</a:t>
            </a:r>
          </a:p>
          <a:p>
            <a:endParaRPr dirty="0"/>
          </a:p>
          <a:p>
            <a:r>
              <a:rPr dirty="0"/>
              <a:t>Terminology, since papers are sloppy about it: "transfer learning" is the general</a:t>
            </a:r>
          </a:p>
          <a:p>
            <a:r>
              <a:rPr dirty="0"/>
              <a:t>idea of reusing knowledge; "fine-tuning" is the specific act of continuing to train</a:t>
            </a:r>
          </a:p>
          <a:p>
            <a:r>
              <a:rPr dirty="0"/>
              <a:t>pre-trained weights on new data; "pre-training" is stage one. Foundation model is</a:t>
            </a:r>
          </a:p>
          <a:p>
            <a:r>
              <a:rPr dirty="0"/>
              <a:t>marketing for a stage-one model big enough to be worth reusing.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practical decision you will actually make, and it is essentially determined by</a:t>
            </a:r>
          </a:p>
          <a:p>
            <a:r>
              <a:rPr dirty="0"/>
              <a:t>how many labels you have.</a:t>
            </a:r>
          </a:p>
          <a:p>
            <a:endParaRPr dirty="0"/>
          </a:p>
          <a:p>
            <a:r>
              <a:rPr dirty="0"/>
              <a:t>FROZEN, also called a linear probe. Do not touch the encoder at all. Push your</a:t>
            </a:r>
          </a:p>
          <a:p>
            <a:r>
              <a:rPr dirty="0"/>
              <a:t>molecules through, get embeddings, fit a ridge regression or a random forest on top.</a:t>
            </a:r>
          </a:p>
          <a:p>
            <a:r>
              <a:rPr dirty="0"/>
              <a:t>Fast, needs almost no data, and you cannot overfit the encoder because you are not</a:t>
            </a:r>
          </a:p>
          <a:p>
            <a:r>
              <a:rPr dirty="0"/>
              <a:t>training it. This is the correct default below a few hundred labels, and it is also</a:t>
            </a:r>
          </a:p>
          <a:p>
            <a:r>
              <a:rPr dirty="0"/>
              <a:t>the correct FIRST experiment at any size, because it tells you cheaply whether the</a:t>
            </a:r>
          </a:p>
          <a:p>
            <a:r>
              <a:rPr dirty="0"/>
              <a:t>representation contains anything useful for your task.</a:t>
            </a:r>
          </a:p>
          <a:p>
            <a:endParaRPr dirty="0"/>
          </a:p>
          <a:p>
            <a:r>
              <a:rPr dirty="0"/>
              <a:t>PARTIAL. Unfreeze the last few layers. The early layers hold general chemistry, the</a:t>
            </a:r>
          </a:p>
          <a:p>
            <a:r>
              <a:rPr dirty="0"/>
              <a:t>later ones are more task-specific, so this adapts the specific part while protecting</a:t>
            </a:r>
          </a:p>
          <a:p>
            <a:r>
              <a:rPr dirty="0"/>
              <a:t>the general part. Reach for it in the low thousands.</a:t>
            </a:r>
          </a:p>
          <a:p>
            <a:endParaRPr dirty="0"/>
          </a:p>
          <a:p>
            <a:r>
              <a:rPr dirty="0"/>
              <a:t>FULL. Train everything. Highest ceiling, most data-hungry, and the one that goes</a:t>
            </a:r>
          </a:p>
          <a:p>
            <a:r>
              <a:rPr dirty="0"/>
              <a:t>wrong. The failure mode is catastrophic forgetting: with a normal learning rate your</a:t>
            </a:r>
          </a:p>
          <a:p>
            <a:r>
              <a:rPr dirty="0"/>
              <a:t>first few gradient steps on 300 molecules will wreck weights that encode knowledge</a:t>
            </a:r>
          </a:p>
          <a:p>
            <a:r>
              <a:rPr dirty="0"/>
              <a:t>from a billion. The fixes are standard — learning rate ten to a hundred times smaller</a:t>
            </a:r>
          </a:p>
          <a:p>
            <a:r>
              <a:rPr dirty="0"/>
              <a:t>than you would use from scratch, a warm-up, and often a lower rate for early layers</a:t>
            </a:r>
          </a:p>
          <a:p>
            <a:r>
              <a:rPr dirty="0"/>
              <a:t>than late ones.</a:t>
            </a:r>
          </a:p>
          <a:p>
            <a:endParaRPr dirty="0"/>
          </a:p>
          <a:p>
            <a:r>
              <a:rPr dirty="0"/>
              <a:t>Practical advice: run frozen first, always. It takes two minutes and it is your</a:t>
            </a:r>
          </a:p>
          <a:p>
            <a:r>
              <a:rPr dirty="0"/>
              <a:t>sanity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is the most important figure in the lecture. If you photograph one slide, this</a:t>
            </a:r>
          </a:p>
          <a:p>
            <a:r>
              <a:rPr dirty="0"/>
              <a:t>one.</a:t>
            </a:r>
          </a:p>
          <a:p>
            <a:endParaRPr dirty="0"/>
          </a:p>
          <a:p>
            <a:r>
              <a:rPr dirty="0"/>
              <a:t>Han and Choi, predicting NMR chemical shifts. Pre-train a GNN on DFT-computed</a:t>
            </a:r>
          </a:p>
          <a:p>
            <a:r>
              <a:rPr dirty="0"/>
              <a:t>shielding constants — cheap, you can generate as much as you like. Then fine-tune on</a:t>
            </a:r>
          </a:p>
          <a:p>
            <a:r>
              <a:rPr dirty="0"/>
              <a:t>experimental shifts, which are expensive and scarce.</a:t>
            </a:r>
          </a:p>
          <a:p>
            <a:endParaRPr dirty="0"/>
          </a:p>
          <a:p>
            <a:r>
              <a:rPr dirty="0"/>
              <a:t>Follow the two curves. At about a hundred experimental molecules, the from-scratch</a:t>
            </a:r>
          </a:p>
          <a:p>
            <a:r>
              <a:rPr dirty="0"/>
              <a:t>model has an error of 1.35 ppm; the pre-trained one is at 0.43. Three times better.</a:t>
            </a:r>
          </a:p>
          <a:p>
            <a:r>
              <a:rPr dirty="0"/>
              <a:t>That is the difference between useless and useful.</a:t>
            </a:r>
          </a:p>
          <a:p>
            <a:endParaRPr dirty="0"/>
          </a:p>
          <a:p>
            <a:r>
              <a:rPr dirty="0"/>
              <a:t>Now follow them right. At about 400 molecules the gap has narrowed to almost nothing.</a:t>
            </a:r>
          </a:p>
          <a:p>
            <a:r>
              <a:rPr dirty="0"/>
              <a:t>By a thousand, they have converged. And — this is in their supplementary and it is the</a:t>
            </a:r>
          </a:p>
          <a:p>
            <a:r>
              <a:rPr dirty="0"/>
              <a:t>honest part — for carbon-13 at the larger training sizes the transferred model is</a:t>
            </a:r>
          </a:p>
          <a:p>
            <a:r>
              <a:rPr dirty="0"/>
              <a:t>actually slightly WORSE than training from scratch.</a:t>
            </a:r>
          </a:p>
          <a:p>
            <a:endParaRPr dirty="0"/>
          </a:p>
          <a:p>
            <a:r>
              <a:rPr dirty="0"/>
              <a:t>So the shape to </a:t>
            </a:r>
            <a:r>
              <a:rPr dirty="0" err="1"/>
              <a:t>internalise</a:t>
            </a:r>
            <a:r>
              <a:rPr dirty="0"/>
              <a:t>: the value of pre-training is largest when you have almost</a:t>
            </a:r>
          </a:p>
          <a:p>
            <a:r>
              <a:rPr dirty="0"/>
              <a:t>nothing, and it decays towards zero, and it can go negative.</a:t>
            </a:r>
          </a:p>
          <a:p>
            <a:endParaRPr dirty="0"/>
          </a:p>
          <a:p>
            <a:r>
              <a:rPr dirty="0"/>
              <a:t>This makes sense if you think about what pre-training is. It is a prior. When you have</a:t>
            </a:r>
          </a:p>
          <a:p>
            <a:r>
              <a:rPr dirty="0"/>
              <a:t>no data, a decent prior is everything. When you have plenty, the prior is at best</a:t>
            </a:r>
          </a:p>
          <a:p>
            <a:r>
              <a:rPr dirty="0"/>
              <a:t>irrelevant and at worst a bias you now have to overcome.</a:t>
            </a:r>
          </a:p>
          <a:p>
            <a:endParaRPr dirty="0"/>
          </a:p>
          <a:p>
            <a:r>
              <a:rPr dirty="0"/>
              <a:t>Note the domain shift here too: the DFT set was small molecules with H, C, N, O, F.</a:t>
            </a:r>
          </a:p>
          <a:p>
            <a:r>
              <a:rPr dirty="0"/>
              <a:t>The experimental set goes up to forty-plus heavy atoms with sulfur and chlorine. It</a:t>
            </a:r>
          </a:p>
          <a:p>
            <a:r>
              <a:rPr dirty="0"/>
              <a:t>transferred anyway. That is encouraging.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independent confirmations that the low-data regime is where this lives.</a:t>
            </a:r>
          </a:p>
          <a:p>
            <a:endParaRPr/>
          </a:p>
          <a:p>
            <a:r>
              <a:t>REACTION YIELD. Schwaller's Yield-BERT, pre-trained on unlabelled reaction SMILES,</a:t>
            </a:r>
          </a:p>
          <a:p>
            <a:r>
              <a:t>fine-tuned on the Buchwald-Hartwig HTE set. Ninety-eight reactions — about 2.5% of the</a:t>
            </a:r>
          </a:p>
          <a:p>
            <a:r>
              <a:t>plate — is enough to match DFT descriptors plus a random forest. Think about what that</a:t>
            </a:r>
          </a:p>
          <a:p>
            <a:r>
              <a:t>saves: the DFT route needs you to build and compute descriptors for every ligand,</a:t>
            </a:r>
          </a:p>
          <a:p>
            <a:r>
              <a:t>base and additive. The pre-trained route needs the reaction SMILES.</a:t>
            </a:r>
          </a:p>
          <a:p>
            <a:endParaRPr/>
          </a:p>
          <a:p>
            <a:r>
              <a:t>INTERATOMIC POTENTIALS. MatterSim, pre-trained on 17 million structures. To specialise</a:t>
            </a:r>
          </a:p>
          <a:p>
            <a:r>
              <a:t>it to liquid water at DFT quality you need 3% of the data a from-scratch model needs.</a:t>
            </a:r>
          </a:p>
          <a:p>
            <a:r>
              <a:t>They quote up to a 97% reduction in data requirements.</a:t>
            </a:r>
          </a:p>
          <a:p>
            <a:endParaRPr/>
          </a:p>
          <a:p>
            <a:r>
              <a:t>SUBLIMATION ENTHALPIES. Fine-tuning MACE-MP-0 needs, in the authors' words, a few tens</a:t>
            </a:r>
          </a:p>
          <a:p>
            <a:r>
              <a:t>of training structures for sub-kJ/mol accuracy. Tens. For a property that requires</a:t>
            </a:r>
          </a:p>
          <a:p>
            <a:r>
              <a:t>careful periodic DFT.</a:t>
            </a:r>
          </a:p>
          <a:p>
            <a:endParaRPr/>
          </a:p>
          <a:p>
            <a:r>
              <a:t>Different fields, different architectures, same shape. When labels cost you money or</a:t>
            </a:r>
          </a:p>
          <a:p>
            <a:r>
              <a:t>a week of cluster time, pre-training is the single highest-leverage thing available.</a:t>
            </a:r>
          </a:p>
          <a:p>
            <a:endParaRPr/>
          </a:p>
          <a:p>
            <a:r>
              <a:t>Aside: notice the second and third are potentials, not properties. Same recipe.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Worth its own slide because several of you work on materials and this is moving fast.</a:t>
            </a:r>
          </a:p>
          <a:p>
            <a:endParaRPr/>
          </a:p>
          <a:p>
            <a:r>
              <a:t>The universal machine-learned interatomic potentials are the most successful example</a:t>
            </a:r>
          </a:p>
          <a:p>
            <a:r>
              <a:t>of pre-training in the chemical sciences right now. M3GNet in 2022 trained on about</a:t>
            </a:r>
          </a:p>
          <a:p>
            <a:r>
              <a:t>190 thousand structures. MACE-MP-0 in 2023, 1.6 million frames from the Materials</a:t>
            </a:r>
          </a:p>
          <a:p>
            <a:r>
              <a:t>Project trajectories. MatterSim, 17 million. Then OMat24 and friends, and Meta's UMA</a:t>
            </a:r>
          </a:p>
          <a:p>
            <a:r>
              <a:t>was trained on roughly 459 million samples.</a:t>
            </a:r>
          </a:p>
          <a:p>
            <a:endParaRPr/>
          </a:p>
          <a:p>
            <a:r>
              <a:t>Roughly six hundred times more training data in three years, and the Matbench</a:t>
            </a:r>
          </a:p>
          <a:p>
            <a:r>
              <a:t>Discovery F1 goes from 0.57 to about 0.92 while the thermal conductivity error metric</a:t>
            </a:r>
          </a:p>
          <a:p>
            <a:r>
              <a:t>drops by more than an order of magnitude.</a:t>
            </a:r>
          </a:p>
          <a:p>
            <a:endParaRPr/>
          </a:p>
          <a:p>
            <a:r>
              <a:t>The practical point is the box on the right. You will essentially never train one of</a:t>
            </a:r>
          </a:p>
          <a:p>
            <a:r>
              <a:t>these. You download it. Then, because your system is a surface with an adsorbate that</a:t>
            </a:r>
          </a:p>
          <a:p>
            <a:r>
              <a:t>was never in the Materials Project, you fine-tune on the fifty to five hundred</a:t>
            </a:r>
          </a:p>
          <a:p>
            <a:r>
              <a:t>structures you can afford to compute yourself.</a:t>
            </a:r>
          </a:p>
          <a:p>
            <a:endParaRPr/>
          </a:p>
          <a:p>
            <a:r>
              <a:t>That is exactly the recipe from two slides ago, applied to potentials rather than</a:t>
            </a:r>
          </a:p>
          <a:p>
            <a:r>
              <a:t>properties. Michael covered MLIPs on Wednesday morning — this is the transfer-learning</a:t>
            </a:r>
          </a:p>
          <a:p>
            <a:r>
              <a:t>view of the same objects.</a:t>
            </a:r>
          </a:p>
          <a:p>
            <a:endParaRPr/>
          </a:p>
          <a:p>
            <a:r>
              <a:t>Fair warning: this leaderboard moves monthly. Check Matbench Discovery rather than</a:t>
            </a:r>
          </a:p>
          <a:p>
            <a:r>
              <a:t>trusting a number from a talk in August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want to end on this rather than on the success stories, because it is the part that</a:t>
            </a:r>
          </a:p>
          <a:p>
            <a:r>
              <a:t>will keep you out of trouble.</a:t>
            </a:r>
          </a:p>
          <a:p>
            <a:endParaRPr/>
          </a:p>
          <a:p>
            <a:r>
              <a:t>Praski, Adamczyk and Czech, August 2025. They took twenty-five pre-trained molecular</a:t>
            </a:r>
          </a:p>
          <a:p>
            <a:r>
              <a:t>embedding models and twenty-five datasets, and re-evaluated everything under a</a:t>
            </a:r>
          </a:p>
          <a:p>
            <a:r>
              <a:t>consistent protocol with hierarchical Bayesian testing rather than comparing</a:t>
            </a:r>
          </a:p>
          <a:p>
            <a:r>
              <a:t>leaderboard means.</a:t>
            </a:r>
          </a:p>
          <a:p>
            <a:endParaRPr/>
          </a:p>
          <a:p>
            <a:r>
              <a:t>The result is the quote. Nearly all of the neural models show negligible or no</a:t>
            </a:r>
          </a:p>
          <a:p>
            <a:r>
              <a:t>improvement over plain ECFP fingerprints. Exactly one model was significantly better</a:t>
            </a:r>
          </a:p>
          <a:p>
            <a:r>
              <a:t>— CLAMP — and CLAMP is itself fingerprint-based.</a:t>
            </a:r>
          </a:p>
          <a:p>
            <a:endParaRPr/>
          </a:p>
          <a:p>
            <a:r>
              <a:t>This is consistent with a run of earlier work. Jiang and co-workers found</a:t>
            </a:r>
          </a:p>
          <a:p>
            <a:r>
              <a:t>descriptor-based models beat graph-based ones on average across eleven datasets. Deng</a:t>
            </a:r>
          </a:p>
          <a:p>
            <a:r>
              <a:t>and colleagues trained sixty-two thousand models and found random forest on RDKit</a:t>
            </a:r>
          </a:p>
          <a:p>
            <a:r>
              <a:t>descriptors significantly best on BACE, BBBP, ESOL and Lipophilicity under scaffold</a:t>
            </a:r>
          </a:p>
          <a:p>
            <a:r>
              <a:t>splits.</a:t>
            </a:r>
          </a:p>
          <a:p>
            <a:endParaRPr/>
          </a:p>
          <a:p>
            <a:r>
              <a:t>How to hold this. It does not mean learned representations are worthless — the NMR</a:t>
            </a:r>
          </a:p>
          <a:p>
            <a:r>
              <a:t>and MLIP results two slides ago are real. It means the published gains are much more</a:t>
            </a:r>
          </a:p>
          <a:p>
            <a:r>
              <a:t>fragile and much more dataset-specific than the abstracts suggest, and that the field</a:t>
            </a:r>
          </a:p>
          <a:p>
            <a:r>
              <a:t>has a benchmarking problem: random splits, cherry-picked datasets, baselines copied</a:t>
            </a:r>
          </a:p>
          <a:p>
            <a:r>
              <a:t>rather than tuned.</a:t>
            </a:r>
          </a:p>
          <a:p>
            <a:endParaRPr/>
          </a:p>
          <a:p>
            <a:r>
              <a:t>The actionable conclusion is in the green box, and it is the single most useful</a:t>
            </a:r>
          </a:p>
          <a:p>
            <a:r>
              <a:t>sentence in this lecture: always run ECFP plus random forest first. If your fancy</a:t>
            </a:r>
          </a:p>
          <a:p>
            <a:r>
              <a:t>model cannot beat it, you have learned something valuable and cheap.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specific failure mode that matters most for anyone doing medicinal chemistry, and</a:t>
            </a:r>
          </a:p>
          <a:p>
            <a:r>
              <a:t>it is a direct attack on the central assumption of learned representations.</a:t>
            </a:r>
          </a:p>
          <a:p>
            <a:endParaRPr/>
          </a:p>
          <a:p>
            <a:r>
              <a:t>Everything we have built today assumes similar molecules should have similar</a:t>
            </a:r>
          </a:p>
          <a:p>
            <a:r>
              <a:t>embeddings and therefore similar properties. Activity cliffs are pairs of molecules</a:t>
            </a:r>
          </a:p>
          <a:p>
            <a:r>
              <a:t>that violate that: Tanimoto similarity 0.95, and a two- or three-order-of-magnitude</a:t>
            </a:r>
          </a:p>
          <a:p>
            <a:r>
              <a:t>difference in potency. One methyl group that happens to break a hydrogen bond.</a:t>
            </a:r>
          </a:p>
          <a:p>
            <a:endParaRPr/>
          </a:p>
          <a:p>
            <a:r>
              <a:t>A smooth representation puts these two molecules in nearly the same place, so by</a:t>
            </a:r>
          </a:p>
          <a:p>
            <a:r>
              <a:t>construction it cannot predict both correctly.</a:t>
            </a:r>
          </a:p>
          <a:p>
            <a:endParaRPr/>
          </a:p>
          <a:p>
            <a:r>
              <a:t>Van Tilborg, Alenicheva and Grisoni quantified it across thirty targets and</a:t>
            </a:r>
          </a:p>
          <a:p>
            <a:r>
              <a:t>twenty-four methods. Errors on cliff compounds run from 0.68 to 1.44 log units. And</a:t>
            </a:r>
          </a:p>
          <a:p>
            <a:r>
              <a:t>SVM on ECFP was the best method overall — better than every deep model tested.</a:t>
            </a:r>
          </a:p>
          <a:p>
            <a:endParaRPr/>
          </a:p>
          <a:p>
            <a:r>
              <a:t>Two findings from that paper worth repeating. They tried four self-supervised</a:t>
            </a:r>
          </a:p>
          <a:p>
            <a:r>
              <a:t>pre-training schemes on their GNNs; none gave a notable improvement, so they dropped</a:t>
            </a:r>
          </a:p>
          <a:p>
            <a:r>
              <a:t>transfer learning from the study. And transformers pre-trained on ten million SMILES</a:t>
            </a:r>
          </a:p>
          <a:p>
            <a:r>
              <a:t>did not beat LSTMs pre-trained on thirty-six thousand.</a:t>
            </a:r>
          </a:p>
          <a:p>
            <a:endParaRPr/>
          </a:p>
          <a:p>
            <a:r>
              <a:t>Why this matters practically: your overall RMSE hides this. It looks fine because</a:t>
            </a:r>
          </a:p>
          <a:p>
            <a:r>
              <a:t>most pairs are not cliffs. But the cliffs are exactly the compounds a med chemist</a:t>
            </a:r>
          </a:p>
          <a:p>
            <a:r>
              <a:t>cares about, because they are where the SAR is. Report cliff performance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Let me try to put the whole lecture into one picture. And I want to be explicit: the</a:t>
            </a:r>
          </a:p>
          <a:p>
            <a:r>
              <a:rPr dirty="0"/>
              <a:t>SHAPES here are well supported, the exact position of the crossover is not.</a:t>
            </a:r>
          </a:p>
          <a:p>
            <a:endParaRPr dirty="0"/>
          </a:p>
          <a:p>
            <a:r>
              <a:rPr dirty="0"/>
              <a:t>Orange, fingerprints plus a random forest: good immediately, because there is almost</a:t>
            </a:r>
          </a:p>
          <a:p>
            <a:r>
              <a:rPr dirty="0"/>
              <a:t>nothing to fit, and it plateaus early because the representation is fixed.</a:t>
            </a:r>
          </a:p>
          <a:p>
            <a:endParaRPr dirty="0"/>
          </a:p>
          <a:p>
            <a:r>
              <a:rPr dirty="0"/>
              <a:t>Teal, a deep model from scratch: terrible with little data, because you are fitting</a:t>
            </a:r>
          </a:p>
          <a:p>
            <a:r>
              <a:rPr dirty="0"/>
              <a:t>millions of parameters from a few hundred examples, and eventually the best, because</a:t>
            </a:r>
          </a:p>
          <a:p>
            <a:r>
              <a:rPr dirty="0"/>
              <a:t>it can learn features tuned to your problem.</a:t>
            </a:r>
          </a:p>
          <a:p>
            <a:endParaRPr dirty="0"/>
          </a:p>
          <a:p>
            <a:r>
              <a:rPr dirty="0"/>
              <a:t>Purple, a pre-trained encoder fine-tuned: it starts high, because the features are</a:t>
            </a:r>
          </a:p>
          <a:p>
            <a:r>
              <a:rPr dirty="0"/>
              <a:t>already good, and it keeps most of the deep model's ceiling.</a:t>
            </a:r>
          </a:p>
          <a:p>
            <a:endParaRPr dirty="0"/>
          </a:p>
          <a:p>
            <a:r>
              <a:rPr dirty="0"/>
              <a:t>Read off the three regimes. Below roughly a thousand labels, fingerprints win or tie</a:t>
            </a:r>
          </a:p>
          <a:p>
            <a:r>
              <a:rPr dirty="0"/>
              <a:t>and cost you nothing. Between roughly a thousand and ten thousand is where</a:t>
            </a:r>
          </a:p>
          <a:p>
            <a:r>
              <a:rPr dirty="0"/>
              <a:t>pre-training earns its keep — this is the band most of you are in. Above ten thousand</a:t>
            </a:r>
          </a:p>
          <a:p>
            <a:r>
              <a:rPr dirty="0"/>
              <a:t>everything converges and the choice stops mattering much.</a:t>
            </a:r>
          </a:p>
          <a:p>
            <a:endParaRPr dirty="0"/>
          </a:p>
          <a:p>
            <a:r>
              <a:rPr dirty="0"/>
              <a:t>Where does the crossover really sit? Deng and colleagues put it around six to ten</a:t>
            </a:r>
          </a:p>
          <a:p>
            <a:r>
              <a:rPr dirty="0"/>
              <a:t>thousand for the deep models, and noted that pre-trained models were competitive far</a:t>
            </a:r>
          </a:p>
          <a:p>
            <a:r>
              <a:rPr dirty="0"/>
              <a:t>earlier. A companion comment in the same issue says deep learning only became</a:t>
            </a:r>
          </a:p>
          <a:p>
            <a:r>
              <a:rPr dirty="0"/>
              <a:t>competitive above about a thousand.</a:t>
            </a:r>
          </a:p>
          <a:p>
            <a:endParaRPr dirty="0"/>
          </a:p>
          <a:p>
            <a:r>
              <a:rPr dirty="0"/>
              <a:t>And it moves. Noisier labels push it right. Scaffold splits push it right. Narrow,</a:t>
            </a:r>
          </a:p>
          <a:p>
            <a:r>
              <a:rPr dirty="0"/>
              <a:t>homogeneous chemistry pushes it left. So measure it on your own data — which is</a:t>
            </a:r>
          </a:p>
          <a:p>
            <a:r>
              <a:rPr dirty="0"/>
              <a:t>exactly what the tutorial has you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practical decision, reduced to one question and three answers. This is the slide</a:t>
            </a:r>
          </a:p>
          <a:p>
            <a:r>
              <a:rPr dirty="0"/>
              <a:t>to photograph if you did not photograph the NMR one.</a:t>
            </a:r>
          </a:p>
          <a:p>
            <a:endParaRPr dirty="0"/>
          </a:p>
          <a:p>
            <a:r>
              <a:rPr dirty="0"/>
              <a:t>Under a hundred labelled examples: do not train a deep model, you will fool yourself.</a:t>
            </a:r>
          </a:p>
          <a:p>
            <a:r>
              <a:rPr dirty="0"/>
              <a:t>ECFP plus random forest, or a Gaussian process if you want uncertainty — Ashley covers</a:t>
            </a:r>
          </a:p>
          <a:p>
            <a:r>
              <a:rPr dirty="0"/>
              <a:t>that next week with Bayesian </a:t>
            </a:r>
            <a:r>
              <a:rPr dirty="0" err="1"/>
              <a:t>optimisation</a:t>
            </a:r>
            <a:r>
              <a:rPr dirty="0"/>
              <a:t>. If you want to try something clever, use</a:t>
            </a:r>
          </a:p>
          <a:p>
            <a:r>
              <a:rPr dirty="0"/>
              <a:t>frozen pre-trained embeddings as EXTRA FEATURES alongside your descriptors, not as a</a:t>
            </a:r>
          </a:p>
          <a:p>
            <a:r>
              <a:rPr dirty="0"/>
              <a:t>replacement.</a:t>
            </a:r>
          </a:p>
          <a:p>
            <a:endParaRPr dirty="0"/>
          </a:p>
          <a:p>
            <a:r>
              <a:rPr dirty="0"/>
              <a:t>A hundred to five thousand: this is the sweet spot. Frozen embeddings first. If that</a:t>
            </a:r>
          </a:p>
          <a:p>
            <a:r>
              <a:rPr dirty="0"/>
              <a:t>beats the baseline, try unfreezing the top layers. Report the baseline in your paper</a:t>
            </a:r>
          </a:p>
          <a:p>
            <a:r>
              <a:rPr dirty="0"/>
              <a:t>regardless of what happens.</a:t>
            </a:r>
          </a:p>
          <a:p>
            <a:endParaRPr dirty="0"/>
          </a:p>
          <a:p>
            <a:r>
              <a:rPr dirty="0"/>
              <a:t>Over ten thousand: train on your own data. Pre-training becomes a convenience — a</a:t>
            </a:r>
          </a:p>
          <a:p>
            <a:r>
              <a:rPr dirty="0"/>
              <a:t>better </a:t>
            </a:r>
            <a:r>
              <a:rPr dirty="0" err="1"/>
              <a:t>initialisation</a:t>
            </a:r>
            <a:r>
              <a:rPr dirty="0"/>
              <a:t>, faster convergence — rather than a necessity.</a:t>
            </a:r>
          </a:p>
          <a:p>
            <a:endParaRPr dirty="0"/>
          </a:p>
          <a:p>
            <a:r>
              <a:rPr dirty="0"/>
              <a:t>The bottom bar applies to all three and it is where most published chemistry ML goes</a:t>
            </a:r>
          </a:p>
          <a:p>
            <a:r>
              <a:rPr dirty="0"/>
              <a:t>wrong. Run the baseline. Split by scaffold, not at random. If those two things are in</a:t>
            </a:r>
          </a:p>
          <a:p>
            <a:r>
              <a:rPr dirty="0"/>
              <a:t>your workflow you are already ahead of a good fraction of the literature.</a:t>
            </a:r>
          </a:p>
          <a:p>
            <a:endParaRPr dirty="0"/>
          </a:p>
          <a:p>
            <a:r>
              <a:rPr dirty="0"/>
              <a:t>And one meta-point: everything in the middle column is testable in an afternoon. The</a:t>
            </a:r>
          </a:p>
          <a:p>
            <a:r>
              <a:rPr dirty="0"/>
              <a:t>cost of checking whether pre-training helps YOUR problem is much lower than the cost</a:t>
            </a:r>
          </a:p>
          <a:p>
            <a:r>
              <a:rPr dirty="0"/>
              <a:t>of assuming it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six, slowly. Then the closing frame:</a:t>
            </a:r>
          </a:p>
          <a:p>
            <a:endParaRPr/>
          </a:p>
          <a:p>
            <a:r>
              <a:t>The honest summary of this field in 2026 is that learned representations are a</a:t>
            </a:r>
          </a:p>
          <a:p>
            <a:r>
              <a:t>genuine advance whose benefits are much narrower and much more conditional than the</a:t>
            </a:r>
          </a:p>
          <a:p>
            <a:r>
              <a:t>headline papers suggest. They are transformative for interatomic potentials. They are</a:t>
            </a:r>
          </a:p>
          <a:p>
            <a:r>
              <a:t>valuable in the hundreds-to-low-thousands label regime. They are frequently no better</a:t>
            </a:r>
          </a:p>
          <a:p>
            <a:r>
              <a:t>than a 2010 fingerprint on standard property prediction benchmarks.</a:t>
            </a:r>
          </a:p>
          <a:p>
            <a:endParaRPr/>
          </a:p>
          <a:p>
            <a:r>
              <a:t>Knowing which of those three situations you are in is the skill. That is what I</a:t>
            </a:r>
          </a:p>
          <a:p>
            <a:r>
              <a:t>wanted to give you today.</a:t>
            </a:r>
          </a:p>
          <a:p>
            <a:endParaRPr/>
          </a:p>
          <a:p>
            <a:r>
              <a:t>This afternoon at 15:15 you will build a chemical space map, compare a hand-crafted</a:t>
            </a:r>
          </a:p>
          <a:p>
            <a:r>
              <a:t>representation against a pre-trained one on the same task, and plot the learning</a:t>
            </a:r>
          </a:p>
          <a:p>
            <a:r>
              <a:t>curve that decides which one you should use. Bring the question from your own</a:t>
            </a:r>
          </a:p>
          <a:p>
            <a:r>
              <a:t>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you read only two: Hu et al. for how pre-training is done and how it fails, and</a:t>
            </a:r>
          </a:p>
          <a:p>
            <a:r>
              <a:t>Praski et al. for the current reality check.</a:t>
            </a:r>
          </a:p>
          <a:p>
            <a:endParaRPr/>
          </a:p>
          <a:p>
            <a:r>
              <a:t>If you want the most enjoyable one: Skinnider's paper arguing that invalid SMILES are</a:t>
            </a:r>
          </a:p>
          <a:p>
            <a:r>
              <a:t>actively beneficial. He deliberately broke SELFIES by allowing pentavalent carbon and</a:t>
            </a:r>
          </a:p>
          <a:p>
            <a:r>
              <a:t>the models got better. It is a lovely piece of scientific mischief and it will teach</a:t>
            </a:r>
          </a:p>
          <a:p>
            <a:r>
              <a:t>you more about benchmark design than any methods paper.</a:t>
            </a:r>
          </a:p>
          <a:p>
            <a:endParaRPr/>
          </a:p>
          <a:p>
            <a:r>
              <a:t>All of these are linked from the lecture page on the bootcamp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Questions I usually get, with short answers:</a:t>
            </a:r>
          </a:p>
          <a:p>
            <a:endParaRPr/>
          </a:p>
          <a:p>
            <a:r>
              <a:t>"Which pre-trained model should I actually download?" For SMILES, ChemBERTa-77M-MTR</a:t>
            </a:r>
          </a:p>
          <a:p>
            <a:r>
              <a:t>is a reasonable small default and it is what the tutorial uses. For materials,</a:t>
            </a:r>
          </a:p>
          <a:p>
            <a:r>
              <a:t>MACE-MP-0 or whatever is currently top of Matbench Discovery. But run the frozen</a:t>
            </a:r>
          </a:p>
          <a:p>
            <a:r>
              <a:t>probe before committing.</a:t>
            </a:r>
          </a:p>
          <a:p>
            <a:endParaRPr/>
          </a:p>
          <a:p>
            <a:r>
              <a:t>"Can I pre-train on my own in-house data?" Yes, and it is often better than a public</a:t>
            </a:r>
          </a:p>
          <a:p>
            <a:r>
              <a:t>model if your chemistry is unusual — recall the diversity result. You need roughly</a:t>
            </a:r>
          </a:p>
          <a:p>
            <a:r>
              <a:t>10^5 molecules to make it worthwhile.</a:t>
            </a:r>
          </a:p>
          <a:p>
            <a:endParaRPr/>
          </a:p>
          <a:p>
            <a:r>
              <a:t>"Is a fingerprint a learned representation?" No — but CLAMP shows the line is blurry.</a:t>
            </a:r>
          </a:p>
          <a:p>
            <a:r>
              <a:t>Learned fingerprint-based models are doing well.</a:t>
            </a:r>
          </a:p>
          <a:p>
            <a:endParaRPr/>
          </a:p>
          <a:p>
            <a:r>
              <a:t>"What about LLMs?" Next week, twice: Thursday's assistants lecture and the</a:t>
            </a:r>
          </a:p>
          <a:p>
            <a:r>
              <a:t>transformers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Learned Representations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2580" y="1327291"/>
            <a:ext cx="10728929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 i="1">
                <a:solidFill>
                  <a:srgbClr val="6E7480"/>
                </a:solidFill>
                <a:latin typeface="Avenir Book"/>
              </a:rPr>
              <a:t>Letting the model choose the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989" y="1747915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97132"/>
                </a:solidFill>
                <a:latin typeface="Avenir Book"/>
              </a:rPr>
              <a:t>YOU choose the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3981" y="1967371"/>
            <a:ext cx="11186129" cy="1024128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82389" y="2022235"/>
            <a:ext cx="1874519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0">
                <a:solidFill>
                  <a:srgbClr val="20242E"/>
                </a:solidFill>
                <a:latin typeface="Avenir Book"/>
              </a:rPr>
              <a:t>molecule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2629" y="2479435"/>
            <a:ext cx="292608" cy="0"/>
          </a:xfrm>
          <a:prstGeom prst="line">
            <a:avLst/>
          </a:prstGeom>
          <a:ln w="2286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40957" y="2022235"/>
            <a:ext cx="1874519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20242E"/>
                </a:solidFill>
                <a:latin typeface="Avenir Book"/>
              </a:rPr>
              <a:t>rules you</a:t>
            </a:r>
          </a:p>
          <a:p>
            <a:pPr algn="ctr"/>
            <a:r>
              <a:rPr sz="1150" b="1">
                <a:solidFill>
                  <a:srgbClr val="20242E"/>
                </a:solidFill>
                <a:latin typeface="Avenir Book"/>
              </a:rPr>
              <a:t>wrote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61197" y="2479435"/>
            <a:ext cx="292608" cy="0"/>
          </a:xfrm>
          <a:prstGeom prst="line">
            <a:avLst/>
          </a:prstGeom>
          <a:ln w="2286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99525" y="2022235"/>
            <a:ext cx="1874519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20242E"/>
                </a:solidFill>
                <a:latin typeface="Avenir Book"/>
              </a:rPr>
              <a:t>fixed vector</a:t>
            </a:r>
          </a:p>
          <a:p>
            <a:pPr algn="ctr"/>
            <a:r>
              <a:rPr sz="1150" b="1">
                <a:solidFill>
                  <a:srgbClr val="20242E"/>
                </a:solidFill>
                <a:latin typeface="Avenir Book"/>
              </a:rPr>
              <a:t>(ECFP, descriptors)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19765" y="2479435"/>
            <a:ext cx="292607" cy="0"/>
          </a:xfrm>
          <a:prstGeom prst="line">
            <a:avLst/>
          </a:prstGeom>
          <a:ln w="2286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58092" y="2022235"/>
            <a:ext cx="1874519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0">
                <a:solidFill>
                  <a:srgbClr val="20242E"/>
                </a:solidFill>
                <a:latin typeface="Avenir Book"/>
              </a:rPr>
              <a:t>small model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878333" y="2479435"/>
            <a:ext cx="292607" cy="0"/>
          </a:xfrm>
          <a:prstGeom prst="line">
            <a:avLst/>
          </a:prstGeom>
          <a:ln w="2286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216661" y="2022235"/>
            <a:ext cx="1874519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0">
                <a:solidFill>
                  <a:srgbClr val="20242E"/>
                </a:solidFill>
                <a:latin typeface="Avenir Book"/>
              </a:rPr>
              <a:t>property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89" y="3851035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56082"/>
                </a:solidFill>
                <a:latin typeface="Avenir Book"/>
              </a:rPr>
              <a:t>THE MODEL chooses the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3981" y="4070491"/>
            <a:ext cx="11186129" cy="1024128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182389" y="4125355"/>
            <a:ext cx="1874519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0" dirty="0">
                <a:solidFill>
                  <a:srgbClr val="20242E"/>
                </a:solidFill>
                <a:latin typeface="Avenir Book"/>
              </a:rPr>
              <a:t>molecule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02629" y="4582555"/>
            <a:ext cx="292608" cy="0"/>
          </a:xfrm>
          <a:prstGeom prst="line">
            <a:avLst/>
          </a:prstGeom>
          <a:ln w="2286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440957" y="4125355"/>
            <a:ext cx="1874519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20242E"/>
                </a:solidFill>
                <a:latin typeface="Avenir Book"/>
              </a:rPr>
              <a:t>encoder</a:t>
            </a:r>
          </a:p>
          <a:p>
            <a:pPr algn="ctr"/>
            <a:r>
              <a:rPr sz="1150" b="1">
                <a:solidFill>
                  <a:srgbClr val="20242E"/>
                </a:solidFill>
                <a:latin typeface="Avenir Book"/>
              </a:rPr>
              <a:t>(learned)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61197" y="4582555"/>
            <a:ext cx="292608" cy="0"/>
          </a:xfrm>
          <a:prstGeom prst="line">
            <a:avLst/>
          </a:prstGeom>
          <a:ln w="2286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699525" y="4125355"/>
            <a:ext cx="1874519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20242E"/>
                </a:solidFill>
                <a:latin typeface="Avenir Book"/>
              </a:rPr>
              <a:t>embedding</a:t>
            </a:r>
          </a:p>
          <a:p>
            <a:pPr algn="ctr"/>
            <a:r>
              <a:rPr sz="1150" b="1">
                <a:solidFill>
                  <a:srgbClr val="20242E"/>
                </a:solidFill>
                <a:latin typeface="Avenir Book"/>
              </a:rPr>
              <a:t>(learned vector)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9765" y="4582555"/>
            <a:ext cx="292607" cy="0"/>
          </a:xfrm>
          <a:prstGeom prst="line">
            <a:avLst/>
          </a:prstGeom>
          <a:ln w="2286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958092" y="4125355"/>
            <a:ext cx="1874519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0">
                <a:solidFill>
                  <a:srgbClr val="20242E"/>
                </a:solidFill>
                <a:latin typeface="Avenir Book"/>
              </a:rPr>
              <a:t>head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878333" y="4582555"/>
            <a:ext cx="292607" cy="0"/>
          </a:xfrm>
          <a:prstGeom prst="line">
            <a:avLst/>
          </a:prstGeom>
          <a:ln w="2286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216661" y="4125355"/>
            <a:ext cx="1874519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0">
                <a:solidFill>
                  <a:srgbClr val="20242E"/>
                </a:solidFill>
                <a:latin typeface="Avenir Book"/>
              </a:rPr>
              <a:t>property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0957" y="2991499"/>
            <a:ext cx="413308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B4551F"/>
                </a:solidFill>
                <a:latin typeface="Avenir Book"/>
              </a:rPr>
              <a:t>fixed before you see the task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0957" y="5094618"/>
            <a:ext cx="413308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156082"/>
                </a:solidFill>
                <a:latin typeface="Avenir Book"/>
              </a:rPr>
              <a:t>fitted from data — this is the learned representation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596188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20242E"/>
                </a:solidFill>
                <a:latin typeface="Avenir Book"/>
              </a:rPr>
              <a:t>J. Schleinitz  ·  Wednesday, August 12, 2026  ·  RSC 275, Caltech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133959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73352" y="1353312"/>
            <a:ext cx="943660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20242E"/>
                </a:solidFill>
                <a:latin typeface="Avenir Book"/>
              </a:rPr>
              <a:t>Why learn a representation?</a:t>
            </a:r>
            <a:r>
              <a:rPr sz="1650" b="0" i="0">
                <a:solidFill>
                  <a:srgbClr val="20242E"/>
                </a:solidFill>
                <a:latin typeface="Avenir Book"/>
              </a:rPr>
              <a:t>  the label bottleneck (10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9737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3352" y="1911095"/>
            <a:ext cx="9436608" cy="7315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20242E"/>
                </a:solidFill>
                <a:latin typeface="Avenir Book"/>
              </a:rPr>
              <a:t>Unsupervised learning:</a:t>
            </a:r>
            <a:r>
              <a:rPr sz="1650" b="0" i="0">
                <a:solidFill>
                  <a:srgbClr val="20242E"/>
                </a:solidFill>
                <a:latin typeface="Avenir Book"/>
              </a:rPr>
              <a:t>  clustering, chemical space maps, what they do and do not tell you (20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72033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3352" y="2734056"/>
            <a:ext cx="9436608" cy="7315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20242E"/>
                </a:solidFill>
                <a:latin typeface="Avenir Book"/>
              </a:rPr>
              <a:t>Autoencoders and VAEs:</a:t>
            </a:r>
            <a:r>
              <a:rPr sz="1650" b="0" i="0">
                <a:solidFill>
                  <a:srgbClr val="20242E"/>
                </a:solidFill>
                <a:latin typeface="Avenir Book"/>
              </a:rPr>
              <a:t>  compression, latent spaces, and an honest look at molecular generation (20 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4329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3352" y="3557015"/>
            <a:ext cx="9436608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 i="0">
                <a:solidFill>
                  <a:srgbClr val="20242E"/>
                </a:solidFill>
                <a:latin typeface="Avenir Book"/>
              </a:rPr>
              <a:t>— break 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10108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3352" y="4114800"/>
            <a:ext cx="9436608" cy="7315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20242E"/>
                </a:solidFill>
                <a:latin typeface="Avenir Book"/>
              </a:rPr>
              <a:t>Self-supervised pre-training:</a:t>
            </a:r>
            <a:r>
              <a:rPr sz="1650" b="0" i="0">
                <a:solidFill>
                  <a:srgbClr val="20242E"/>
                </a:solidFill>
                <a:latin typeface="Avenir Book"/>
              </a:rPr>
              <a:t>  masked prediction and contrastive learning (15 min)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92404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3352" y="4937760"/>
            <a:ext cx="9436608" cy="7315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20242E"/>
                </a:solidFill>
                <a:latin typeface="Avenir Book"/>
              </a:rPr>
              <a:t>Transfer learning:</a:t>
            </a:r>
            <a:r>
              <a:rPr sz="1650" b="0" i="0">
                <a:solidFill>
                  <a:srgbClr val="20242E"/>
                </a:solidFill>
                <a:latin typeface="Avenir Book"/>
              </a:rPr>
              <a:t>  frozen, partial, full — and where it genuinely pays (15 min)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74700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3352" y="5760720"/>
            <a:ext cx="9436608" cy="7315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20242E"/>
                </a:solidFill>
                <a:latin typeface="Avenir Book"/>
              </a:rPr>
              <a:t>When it fails:</a:t>
            </a:r>
            <a:r>
              <a:rPr sz="1650" b="0" i="0">
                <a:solidFill>
                  <a:srgbClr val="20242E"/>
                </a:solidFill>
                <a:latin typeface="Avenir Book"/>
              </a:rPr>
              <a:t>  negative transfer, activity cliffs, and the baseline you must always run (10 min)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489143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544007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56082"/>
                </a:solidFill>
                <a:latin typeface="Avenir Book"/>
              </a:rPr>
              <a:t>Tutorial at 15:15</a:t>
            </a:r>
            <a:r>
              <a:rPr sz="1500" b="0" i="0">
                <a:solidFill>
                  <a:srgbClr val="20242E"/>
                </a:solidFill>
                <a:latin typeface="Avenir Book"/>
              </a:rPr>
              <a:t> — you will build the map and measure the crossover yourself, on real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00200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600" b="1" i="0">
                <a:solidFill>
                  <a:srgbClr val="FBE4D6"/>
                </a:solidFill>
                <a:latin typeface="Avenir Book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0242E"/>
                </a:solidFill>
                <a:latin typeface="Avenir Book"/>
              </a:rPr>
              <a:t>Why learn a representation?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862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Hand-crafted vs learned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88536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288536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The label bottleneck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90872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690872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Three kinds of supervision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600" dirty="0">
                <a:solidFill>
                  <a:srgbClr val="20242E"/>
                </a:solidFill>
                <a:latin typeface="Avenir Book"/>
              </a:rPr>
              <a:t>Labels are expensive not inputs</a:t>
            </a:r>
            <a:endParaRPr sz="26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50" b="1" i="0" dirty="0">
                <a:solidFill>
                  <a:srgbClr val="156082"/>
                </a:solidFill>
                <a:latin typeface="Avenir Book"/>
              </a:rPr>
              <a:t>Labels are the scarce resource</a:t>
            </a:r>
            <a:endParaRPr sz="1350" b="0" i="0" dirty="0">
              <a:solidFill>
                <a:srgbClr val="20242E"/>
              </a:solidFill>
              <a:latin typeface="Avenir Book"/>
            </a:endParaRP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559566"/>
              </p:ext>
            </p:extLst>
          </p:nvPr>
        </p:nvGraphicFramePr>
        <p:xfrm>
          <a:off x="960120" y="1280160"/>
          <a:ext cx="10271729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7144" y="6212776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 dirty="0">
                <a:solidFill>
                  <a:srgbClr val="6E7480"/>
                </a:solidFill>
                <a:latin typeface="Avenir Book"/>
              </a:rPr>
              <a:t>GDB-17: </a:t>
            </a:r>
            <a:r>
              <a:rPr sz="1050" b="0" i="1" dirty="0" err="1">
                <a:solidFill>
                  <a:srgbClr val="6E7480"/>
                </a:solidFill>
                <a:latin typeface="Avenir Book"/>
              </a:rPr>
              <a:t>Ruddigkeit</a:t>
            </a:r>
            <a:r>
              <a:rPr sz="1050" b="0" i="1" dirty="0">
                <a:solidFill>
                  <a:srgbClr val="6E7480"/>
                </a:solidFill>
                <a:latin typeface="Avenir Book"/>
              </a:rPr>
              <a:t> et al., J. Chem. Inf. Model. 2012, 52, 2864 · Enamine REAL (2026) · PubChem · </a:t>
            </a:r>
            <a:r>
              <a:rPr sz="1050" b="0" i="1" dirty="0" err="1">
                <a:solidFill>
                  <a:srgbClr val="6E7480"/>
                </a:solidFill>
                <a:latin typeface="Avenir Book"/>
              </a:rPr>
              <a:t>ChEMBL</a:t>
            </a:r>
            <a:endParaRPr sz="1050" b="0" i="1" dirty="0">
              <a:solidFill>
                <a:srgbClr val="6E7480"/>
              </a:solidFill>
              <a:latin typeface="Avenir Boo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lang="en-US" sz="2600" dirty="0">
                <a:solidFill>
                  <a:srgbClr val="20242E"/>
                </a:solidFill>
                <a:latin typeface="Avenir Book"/>
              </a:rPr>
              <a:t>Learning modes</a:t>
            </a:r>
            <a:endParaRPr sz="260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24065" y="1826971"/>
            <a:ext cx="3529584" cy="370332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4065" y="1973274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97132"/>
                </a:solidFill>
                <a:latin typeface="Avenir Book"/>
              </a:rPr>
              <a:t>SUPERVISED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4065" y="2265883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1">
                <a:solidFill>
                  <a:srgbClr val="6E7480"/>
                </a:solidFill>
                <a:latin typeface="Avenir Book"/>
              </a:rPr>
              <a:t>learn x → y</a:t>
            </a:r>
          </a:p>
        </p:txBody>
      </p:sp>
      <p:sp>
        <p:nvSpPr>
          <p:cNvPr id="10" name="Oval 9"/>
          <p:cNvSpPr/>
          <p:nvPr/>
        </p:nvSpPr>
        <p:spPr>
          <a:xfrm>
            <a:off x="2605181" y="3077340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87164" y="3042513"/>
            <a:ext cx="137160" cy="13716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047760" y="3193105"/>
            <a:ext cx="137160" cy="13716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990657" y="2802267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771768" y="2650835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64050" y="3300601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967194" y="2818116"/>
            <a:ext cx="137160" cy="13716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390813" y="3707933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0737" y="3649871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787911" y="2931651"/>
            <a:ext cx="137160" cy="13716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84779" y="3573509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082475" y="3768365"/>
            <a:ext cx="137160" cy="13716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285313" y="3839763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511291" y="3182816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9750" y="2616295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205718" y="3729284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86759" y="3017597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817275" y="2804746"/>
            <a:ext cx="137160" cy="13716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4065" y="4597602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every point carries a label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4065" y="4890210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venir Book"/>
              </a:rPr>
              <a:t>labels are expensive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6257" y="1826971"/>
            <a:ext cx="3529584" cy="370332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46257" y="1973274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56082"/>
                </a:solidFill>
                <a:latin typeface="Avenir Book"/>
              </a:rPr>
              <a:t>UNSUPERVISED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6257" y="2265883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1">
                <a:solidFill>
                  <a:srgbClr val="6E7480"/>
                </a:solidFill>
                <a:latin typeface="Avenir Book"/>
              </a:rPr>
              <a:t>learn the shape of x</a:t>
            </a:r>
          </a:p>
        </p:txBody>
      </p:sp>
      <p:sp>
        <p:nvSpPr>
          <p:cNvPr id="33" name="Oval 32"/>
          <p:cNvSpPr/>
          <p:nvPr/>
        </p:nvSpPr>
        <p:spPr>
          <a:xfrm>
            <a:off x="4922329" y="2631643"/>
            <a:ext cx="1133856" cy="8412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083617" y="3198571"/>
            <a:ext cx="1280160" cy="7680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696054" y="3047229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325026" y="3133355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671969" y="2852911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844526" y="3120671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878926" y="2983992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227035" y="3099089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308519" y="3162734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687286" y="2961902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268058" y="3032948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5726793" y="3058120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5678647" y="2800535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5024970" y="2857721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464577" y="3308156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550820" y="3570131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772486" y="3759172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6322297" y="3429672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270960" y="3442993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635431" y="3711644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276602" y="3356397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6255597" y="3474036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215646" y="3396470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982659" y="3605756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319836" y="3635182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355191" y="3409813"/>
            <a:ext cx="118872" cy="118872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346257" y="4597602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 dirty="0">
                <a:solidFill>
                  <a:srgbClr val="20242E"/>
                </a:solidFill>
                <a:latin typeface="Avenir Book"/>
              </a:rPr>
              <a:t>no labels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46257" y="4890210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 dirty="0">
                <a:solidFill>
                  <a:srgbClr val="196B24"/>
                </a:solidFill>
                <a:latin typeface="Avenir Book"/>
              </a:rPr>
              <a:t>unlimited data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68448" y="1826971"/>
            <a:ext cx="3529584" cy="3703320"/>
          </a:xfrm>
          <a:prstGeom prst="roundRect">
            <a:avLst>
              <a:gd name="adj" fmla="val 6000"/>
            </a:avLst>
          </a:prstGeom>
          <a:solidFill>
            <a:srgbClr val="F2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168448" y="1973274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A02B93"/>
                </a:solidFill>
                <a:latin typeface="Avenir Book"/>
              </a:rPr>
              <a:t>SELF-SUPERVISED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68448" y="2265883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1">
                <a:solidFill>
                  <a:srgbClr val="6E7480"/>
                </a:solidFill>
                <a:latin typeface="Avenir Book"/>
              </a:rPr>
              <a:t>learn x → part of x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561640" y="2649931"/>
            <a:ext cx="402336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C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18840" y="2649931"/>
            <a:ext cx="402336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C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476040" y="2649931"/>
            <a:ext cx="402336" cy="402336"/>
          </a:xfrm>
          <a:prstGeom prst="roundRect">
            <a:avLst>
              <a:gd name="adj" fmla="val 16000"/>
            </a:avLst>
          </a:prstGeom>
          <a:solidFill>
            <a:srgbClr val="A02B93"/>
          </a:solidFill>
          <a:ln w="17780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venir Book"/>
              </a:rPr>
              <a:t>?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933240" y="2649931"/>
            <a:ext cx="402336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C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390440" y="2649931"/>
            <a:ext cx="402336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=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847640" y="2649931"/>
            <a:ext cx="402336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O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933240" y="3125419"/>
            <a:ext cx="0" cy="384048"/>
          </a:xfrm>
          <a:prstGeom prst="line">
            <a:avLst/>
          </a:prstGeom>
          <a:ln w="22860">
            <a:solidFill>
              <a:srgbClr val="A02B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9156000" y="3546043"/>
            <a:ext cx="1554480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A02B93"/>
                </a:solidFill>
                <a:latin typeface="Avenir Book"/>
              </a:rPr>
              <a:t>predict “O”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68448" y="4597602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100" dirty="0">
                <a:solidFill>
                  <a:srgbClr val="20242E"/>
                </a:solidFill>
                <a:latin typeface="Avenir Book"/>
              </a:rPr>
              <a:t>a</a:t>
            </a:r>
            <a:r>
              <a:rPr lang="en-US" sz="1100" b="0" i="0" dirty="0">
                <a:solidFill>
                  <a:srgbClr val="20242E"/>
                </a:solidFill>
                <a:latin typeface="Avenir Book"/>
              </a:rPr>
              <a:t>utomated </a:t>
            </a:r>
            <a:r>
              <a:rPr sz="1100" b="0" i="0" dirty="0">
                <a:solidFill>
                  <a:srgbClr val="20242E"/>
                </a:solidFill>
                <a:latin typeface="Avenir Book"/>
              </a:rPr>
              <a:t>labels </a:t>
            </a:r>
            <a:r>
              <a:rPr lang="en-US" sz="1100" dirty="0">
                <a:solidFill>
                  <a:srgbClr val="20242E"/>
                </a:solidFill>
                <a:latin typeface="Avenir Book"/>
              </a:rPr>
              <a:t>generation</a:t>
            </a:r>
            <a:endParaRPr sz="1100" b="0" i="0" dirty="0">
              <a:solidFill>
                <a:srgbClr val="20242E"/>
              </a:solidFill>
              <a:latin typeface="Avenir Book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168448" y="4890210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96B24"/>
                </a:solidFill>
                <a:latin typeface="Avenir Book"/>
              </a:rPr>
              <a:t>supervised signal, no annotation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00200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600" b="1" i="0">
                <a:solidFill>
                  <a:srgbClr val="FBE4D6"/>
                </a:solidFill>
                <a:latin typeface="Avenir Book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0242E"/>
                </a:solidFill>
                <a:latin typeface="Avenir Book"/>
              </a:rPr>
              <a:t>Unsupervised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862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Clustering, dimensionality reduction, density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88536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288536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Chemical space maps — and how to read them honestly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90872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690872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Case study: the periodic table from text alone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 dirty="0">
                <a:solidFill>
                  <a:srgbClr val="20242E"/>
                </a:solidFill>
                <a:latin typeface="Avenir Book"/>
              </a:rPr>
              <a:t>Unsupervised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7431" y="1799895"/>
            <a:ext cx="3529584" cy="36576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59623" y="1799895"/>
            <a:ext cx="3529584" cy="36576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81814" y="1799895"/>
            <a:ext cx="3529584" cy="36576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7431" y="1946198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56082"/>
                </a:solidFill>
                <a:latin typeface="Avenir Book"/>
              </a:rPr>
              <a:t>1 · CLUSTERING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7431" y="2220519"/>
            <a:ext cx="35295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which molecules belong together?</a:t>
            </a:r>
          </a:p>
        </p:txBody>
      </p:sp>
      <p:sp>
        <p:nvSpPr>
          <p:cNvPr id="12" name="Oval 11"/>
          <p:cNvSpPr/>
          <p:nvPr/>
        </p:nvSpPr>
        <p:spPr>
          <a:xfrm>
            <a:off x="1113503" y="2836824"/>
            <a:ext cx="950976" cy="7607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971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788018" y="3259192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849757" y="3251697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803717" y="3189516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765729" y="3051691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680619" y="3269230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695525" y="3041122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221372" y="3058699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717317" y="3058501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512535" y="2670403"/>
            <a:ext cx="841248" cy="6729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789502" y="2766409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884165" y="2991542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658204" y="2823908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717798" y="2964449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916467" y="3110805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802086" y="3173057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720319" y="2910022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920157" y="2848509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881598" y="3780485"/>
            <a:ext cx="877824" cy="70225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02B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114133" y="4183008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253492" y="4154076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214015" y="4315096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233924" y="4026819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008798" y="3963242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072677" y="4225556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126762" y="4066404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377892" y="4041233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7431" y="5055159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0242E"/>
                </a:solidFill>
                <a:latin typeface="Avenir Book"/>
              </a:rPr>
              <a:t>groups, no coordinates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59623" y="1946198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56082"/>
                </a:solidFill>
                <a:latin typeface="Avenir Book"/>
              </a:rPr>
              <a:t>2 · DIMENSIONALITY REDUCTION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59623" y="2220519"/>
            <a:ext cx="35295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can I see 2048 dimensions?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79662" y="2805735"/>
            <a:ext cx="566928" cy="14630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42"/>
          <p:cNvCxnSpPr/>
          <p:nvPr/>
        </p:nvCxnSpPr>
        <p:spPr>
          <a:xfrm>
            <a:off x="4743671" y="2915462"/>
            <a:ext cx="438912" cy="0"/>
          </a:xfrm>
          <a:prstGeom prst="line">
            <a:avLst/>
          </a:prstGeom>
          <a:ln w="4064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743671" y="3057194"/>
            <a:ext cx="438912" cy="0"/>
          </a:xfrm>
          <a:prstGeom prst="line">
            <a:avLst/>
          </a:prstGeom>
          <a:ln w="40640">
            <a:solidFill>
              <a:srgbClr val="4E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743671" y="3198926"/>
            <a:ext cx="438912" cy="0"/>
          </a:xfrm>
          <a:prstGeom prst="line">
            <a:avLst/>
          </a:prstGeom>
          <a:ln w="40640">
            <a:solidFill>
              <a:srgbClr val="4E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743671" y="3340658"/>
            <a:ext cx="438912" cy="0"/>
          </a:xfrm>
          <a:prstGeom prst="line">
            <a:avLst/>
          </a:prstGeom>
          <a:ln w="4064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743671" y="3482391"/>
            <a:ext cx="438912" cy="0"/>
          </a:xfrm>
          <a:prstGeom prst="line">
            <a:avLst/>
          </a:prstGeom>
          <a:ln w="40640">
            <a:solidFill>
              <a:srgbClr val="4E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43671" y="3624122"/>
            <a:ext cx="438912" cy="0"/>
          </a:xfrm>
          <a:prstGeom prst="line">
            <a:avLst/>
          </a:prstGeom>
          <a:ln w="40640">
            <a:solidFill>
              <a:srgbClr val="4E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671" y="3765854"/>
            <a:ext cx="438912" cy="0"/>
          </a:xfrm>
          <a:prstGeom prst="line">
            <a:avLst/>
          </a:prstGeom>
          <a:ln w="4064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43671" y="3907586"/>
            <a:ext cx="438912" cy="0"/>
          </a:xfrm>
          <a:prstGeom prst="line">
            <a:avLst/>
          </a:prstGeom>
          <a:ln w="40640">
            <a:solidFill>
              <a:srgbClr val="4E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43671" y="4049319"/>
            <a:ext cx="438912" cy="0"/>
          </a:xfrm>
          <a:prstGeom prst="line">
            <a:avLst/>
          </a:prstGeom>
          <a:ln w="40640">
            <a:solidFill>
              <a:srgbClr val="4E9A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743671" y="4191051"/>
            <a:ext cx="438912" cy="0"/>
          </a:xfrm>
          <a:prstGeom prst="line">
            <a:avLst/>
          </a:prstGeom>
          <a:ln w="4064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505927" y="432363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E7480"/>
                </a:solidFill>
                <a:latin typeface="Avenir Book"/>
              </a:rPr>
              <a:t>2048-D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365463" y="3537255"/>
            <a:ext cx="475488" cy="0"/>
          </a:xfrm>
          <a:prstGeom prst="line">
            <a:avLst/>
          </a:prstGeom>
          <a:ln w="2540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5932391" y="2805735"/>
            <a:ext cx="1691640" cy="14630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868235" y="3551658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688652" y="3482915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202688" y="3321170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7199975" y="3434999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6857275" y="364004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7080154" y="3369439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6854254" y="3595525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7106586" y="3119410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6477992" y="3948759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6255105" y="317836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7006132" y="3157633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6475372" y="362029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7124426" y="367308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7345471" y="354801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7326015" y="3602179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6708001" y="325620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6472626" y="3676097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6831398" y="387126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7006051" y="3224518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6367301" y="3137611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6373816" y="3710871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6713712" y="3762747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6645303" y="346096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7111810" y="320875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6972164" y="3350561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6259327" y="3563040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325582" y="432363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E7480"/>
                </a:solidFill>
                <a:latin typeface="Avenir Book"/>
              </a:rPr>
              <a:t>2-D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59623" y="5055159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0242E"/>
                </a:solidFill>
                <a:latin typeface="Avenir Book"/>
              </a:rPr>
              <a:t>coordinates you can plot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81814" y="1946198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56082"/>
                </a:solidFill>
                <a:latin typeface="Avenir Book"/>
              </a:rPr>
              <a:t>3 · DENSITY &amp; GENERATION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81814" y="2220519"/>
            <a:ext cx="35295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what does a plausible molecule look like?</a:t>
            </a:r>
          </a:p>
        </p:txBody>
      </p:sp>
      <p:sp>
        <p:nvSpPr>
          <p:cNvPr id="86" name="Oval 85"/>
          <p:cNvSpPr/>
          <p:nvPr/>
        </p:nvSpPr>
        <p:spPr>
          <a:xfrm>
            <a:off x="8757886" y="2650287"/>
            <a:ext cx="2377440" cy="1865376"/>
          </a:xfrm>
          <a:prstGeom prst="ellipse">
            <a:avLst/>
          </a:prstGeom>
          <a:solidFill>
            <a:srgbClr val="E6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9077927" y="2906319"/>
            <a:ext cx="1737360" cy="1353312"/>
          </a:xfrm>
          <a:prstGeom prst="ellipse">
            <a:avLst/>
          </a:prstGeom>
          <a:solidFill>
            <a:srgbClr val="C9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9397966" y="3162351"/>
            <a:ext cx="1097280" cy="841248"/>
          </a:xfrm>
          <a:prstGeom prst="ellipse">
            <a:avLst/>
          </a:prstGeom>
          <a:solidFill>
            <a:srgbClr val="4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9777442" y="3441243"/>
            <a:ext cx="155448" cy="15544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879294" y="4104183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Avenir Book"/>
              </a:rPr>
              <a:t>★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181814" y="5055159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0242E"/>
                </a:solidFill>
                <a:latin typeface="Avenir Book"/>
              </a:rPr>
              <a:t>sample new points from the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PCA: a rotation, and an honest 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905799"/>
            <a:ext cx="5760720" cy="37033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625000" y="361850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228938" y="3095349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663879" y="278779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000977" y="3533791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283074" y="3136524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583184" y="3761265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14237" y="3887614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022949" y="341711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525159" y="3145463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457213" y="314448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256408" y="3384484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582544" y="3308620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336283" y="3767313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781022" y="3038801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722632" y="3725233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64145" y="3694904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65703" y="4178747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804074" y="333029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90950" y="2933995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489263" y="3970589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210373" y="3229077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230786" y="3238079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515045" y="333473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466340" y="3809440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289889" y="358815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215873" y="345865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284037" y="2893724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361279" y="3944643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324168" y="2404974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993728" y="349301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509785" y="3671367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109926" y="3888263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452433" y="3078270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480745" y="372947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4118227" y="3269140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468154" y="3219508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235090" y="3967566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504047" y="3655030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3289869" y="322196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3819473" y="3051595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3608788" y="346570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337429" y="3552674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4058681" y="3359034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2682615" y="3678889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3754008" y="3033221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3766276" y="3424812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" name="Connector 53"/>
          <p:cNvCxnSpPr/>
          <p:nvPr/>
        </p:nvCxnSpPr>
        <p:spPr>
          <a:xfrm flipV="1">
            <a:off x="2250612" y="2587027"/>
            <a:ext cx="3088295" cy="1783080"/>
          </a:xfrm>
          <a:prstGeom prst="line">
            <a:avLst/>
          </a:prstGeom>
          <a:ln w="33020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3406140" y="2805477"/>
            <a:ext cx="777240" cy="1346179"/>
          </a:xfrm>
          <a:prstGeom prst="line">
            <a:avLst/>
          </a:prstGeom>
          <a:ln w="27940">
            <a:solidFill>
              <a:srgbClr val="A02B9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361688" y="2088679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E97132"/>
                </a:solidFill>
                <a:latin typeface="Avenir Book"/>
              </a:rPr>
              <a:t>PC1 — most variance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88920" y="2381287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A02B93"/>
                </a:solidFill>
                <a:latin typeface="Avenir Book"/>
              </a:rPr>
              <a:t>PC2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22507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0242E"/>
                </a:solidFill>
                <a:latin typeface="Avenir Book"/>
              </a:rPr>
              <a:t>a rotation, nothing more</a:t>
            </a:r>
          </a:p>
        </p:txBody>
      </p:sp>
      <p:graphicFrame>
        <p:nvGraphicFramePr>
          <p:cNvPr id="59" name="Chart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35379"/>
              </p:ext>
            </p:extLst>
          </p:nvPr>
        </p:nvGraphicFramePr>
        <p:xfrm>
          <a:off x="6720840" y="2180119"/>
          <a:ext cx="4846320" cy="2834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6720840" y="522507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C0392B"/>
                </a:solidFill>
                <a:latin typeface="Avenir Book"/>
              </a:rPr>
              <a:t>2 components ≈ 60% of the variance — the rest is not noise, it is chemistry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t-SNE and UMAP: keep the neighbours, lose the distances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0242E"/>
                </a:solidFill>
                <a:latin typeface="Avenir Book"/>
              </a:rPr>
              <a:t>The trade is deliberate: </a:t>
            </a:r>
            <a:r>
              <a:rPr sz="1350" b="1" i="0">
                <a:solidFill>
                  <a:srgbClr val="156082"/>
                </a:solidFill>
                <a:latin typeface="Avenir Book"/>
              </a:rPr>
              <a:t>neighbourhoods are preserved, distances are not.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That is the right trade for fingerprints — and a trap if you forget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5074920" cy="36118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2646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0242E"/>
                </a:solidFill>
                <a:latin typeface="Avenir Book"/>
              </a:rPr>
              <a:t>high-dimensional fingerprint space</a:t>
            </a:r>
          </a:p>
        </p:txBody>
      </p:sp>
      <p:sp>
        <p:nvSpPr>
          <p:cNvPr id="9" name="Oval 8"/>
          <p:cNvSpPr/>
          <p:nvPr/>
        </p:nvSpPr>
        <p:spPr>
          <a:xfrm>
            <a:off x="1307591" y="2020824"/>
            <a:ext cx="1133856" cy="8412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971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001067" y="2194948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679320" y="2117731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783565" y="2152469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783516" y="2575811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50705" y="2168408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020277" y="2473662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783597" y="2387978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934533" y="2205668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56970" y="2661642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410711" y="1865376"/>
            <a:ext cx="1133856" cy="8412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829237" y="2447257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912829" y="2390397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969709" y="2116240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871505" y="2310052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831743" y="2043265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72863" y="2393207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037661" y="2099525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003697" y="2008151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178474" y="2408793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267712" y="3026664"/>
            <a:ext cx="1133856" cy="8412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02B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084908" y="3487054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776160" y="3399614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398137" y="3501444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795861" y="3588362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865673" y="3581397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902246" y="3428321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034910" y="3238452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724449" y="3381736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026784" y="3356013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4178808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C0392B"/>
                </a:solidFill>
                <a:latin typeface="Avenir Book"/>
              </a:rPr>
              <a:t>distances here are mostly meaningless
(everything is far from everything)</a:t>
            </a:r>
          </a:p>
        </p:txBody>
      </p:sp>
      <p:sp>
        <p:nvSpPr>
          <p:cNvPr id="40" name="Chevron 39"/>
          <p:cNvSpPr/>
          <p:nvPr/>
        </p:nvSpPr>
        <p:spPr>
          <a:xfrm>
            <a:off x="5705856" y="2468880"/>
            <a:ext cx="1280160" cy="822960"/>
          </a:xfrm>
          <a:prstGeom prst="chevron">
            <a:avLst/>
          </a:prstGeom>
          <a:solidFill>
            <a:srgbClr val="20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venir Book"/>
              </a:rPr>
              <a:t>t-SNE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Avenir Book"/>
              </a:rPr>
              <a:t>UMAP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01968" y="1298448"/>
            <a:ext cx="5029200" cy="361188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12280" y="1426464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0242E"/>
                </a:solidFill>
                <a:latin typeface="Avenir Book"/>
              </a:rPr>
              <a:t>2-D neighbour-preserving map</a:t>
            </a:r>
          </a:p>
        </p:txBody>
      </p:sp>
      <p:sp>
        <p:nvSpPr>
          <p:cNvPr id="43" name="Oval 42"/>
          <p:cNvSpPr/>
          <p:nvPr/>
        </p:nvSpPr>
        <p:spPr>
          <a:xfrm>
            <a:off x="7470648" y="2011679"/>
            <a:ext cx="1060704" cy="80467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971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566061" y="2326509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981311" y="2373708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848535" y="2335292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572420" y="2325907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950112" y="2404156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869807" y="2455020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7942092" y="2135749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7795320" y="2574414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7957677" y="2225208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848088" y="2221992"/>
            <a:ext cx="1060704" cy="80467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0403124" y="2365275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0442387" y="2340357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0075527" y="2554581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984662" y="2469736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0198122" y="2331993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0251646" y="2642873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0232888" y="2746867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992418" y="2445067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132178" y="2361288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476488" y="3044952"/>
            <a:ext cx="1060704" cy="80467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02B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959017" y="3260911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8731844" y="3245106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8935250" y="3189021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9039390" y="3426989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8828591" y="3329159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8866085" y="3422068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8792735" y="3152613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8605253" y="3336248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8797584" y="3623288"/>
            <a:ext cx="109728" cy="109728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812280" y="417880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96B24"/>
                </a:solidFill>
                <a:latin typeface="Avenir Book"/>
              </a:rPr>
              <a:t>neighbours stay neighbours 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12280" y="4471416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C0392B"/>
                </a:solidFill>
                <a:latin typeface="Avenir Book"/>
              </a:rPr>
              <a:t>gap widths and cluster sizes are not meaningful 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A chemical space map is a chain of choices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0242E"/>
                </a:solidFill>
                <a:latin typeface="Avenir Book"/>
              </a:rPr>
              <a:t>A chemical space map is </a:t>
            </a:r>
            <a:r>
              <a:rPr sz="1350" b="1" i="0">
                <a:solidFill>
                  <a:srgbClr val="156082"/>
                </a:solidFill>
                <a:latin typeface="Avenir Book"/>
              </a:rPr>
              <a:t>a picture of your fingerprint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, not a picture of chemistry. Change the fingerprint and the story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2048256" cy="214884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984248"/>
            <a:ext cx="204825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56082"/>
                </a:solidFill>
                <a:latin typeface="Avenir Book"/>
              </a:rPr>
              <a:t>molecules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86584"/>
            <a:ext cx="204825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E7480"/>
                </a:solidFill>
                <a:latin typeface="Avenir Book"/>
              </a:rPr>
              <a:t>a library
you care about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2857500"/>
            <a:ext cx="131056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19392" y="1783080"/>
            <a:ext cx="2048256" cy="214884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19392" y="1984248"/>
            <a:ext cx="204825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56082"/>
                </a:solidFill>
                <a:latin typeface="Avenir Book"/>
              </a:rPr>
              <a:t>fingerprint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9392" y="2386584"/>
            <a:ext cx="204825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E7480"/>
                </a:solidFill>
                <a:latin typeface="Avenir Book"/>
              </a:rPr>
              <a:t>ECFP4, MHFP6,
descriptors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04224" y="2857500"/>
            <a:ext cx="131056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71856" y="1783080"/>
            <a:ext cx="2048256" cy="214884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1856" y="1984248"/>
            <a:ext cx="204825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56082"/>
                </a:solidFill>
                <a:latin typeface="Avenir Book"/>
              </a:rPr>
              <a:t>similarity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1856" y="2386584"/>
            <a:ext cx="204825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E7480"/>
                </a:solidFill>
                <a:latin typeface="Avenir Book"/>
              </a:rPr>
              <a:t>Tanimoto
between all pairs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56688" y="2857500"/>
            <a:ext cx="131057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24321" y="1783080"/>
            <a:ext cx="2048256" cy="214884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24321" y="1984248"/>
            <a:ext cx="204825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56082"/>
                </a:solidFill>
                <a:latin typeface="Avenir Book"/>
              </a:rPr>
              <a:t>layout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4321" y="2386584"/>
            <a:ext cx="204825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E7480"/>
                </a:solidFill>
                <a:latin typeface="Avenir Book"/>
              </a:rPr>
              <a:t>t-SNE / UMAP /
minimum spanning tree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09153" y="2857500"/>
            <a:ext cx="131056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576785" y="1783080"/>
            <a:ext cx="2048256" cy="214884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76785" y="1984248"/>
            <a:ext cx="204825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E97132"/>
                </a:solidFill>
                <a:latin typeface="Avenir Book"/>
              </a:rPr>
              <a:t>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6785" y="2386584"/>
            <a:ext cx="204825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E7480"/>
                </a:solidFill>
                <a:latin typeface="Avenir Book"/>
              </a:rPr>
              <a:t>one dot =
one molecule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133087"/>
            <a:ext cx="1105811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Avenir Book"/>
              </a:rPr>
              <a:t>every choice in this chain changes the picture — the map is a property of your fingerprint, not of chemistry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At a million molecules, the algorithm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56082"/>
                </a:solidFill>
                <a:latin typeface="Avenir Book"/>
              </a:rPr>
              <a:t>TMAP: ~117× faster than UMAP at 10⁶ molecules, and reproducible.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Branches are analogue series — a chemically meaningful unit.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5074920" cy="36118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19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20242E"/>
                </a:solidFill>
                <a:latin typeface="Avenir Book"/>
              </a:rPr>
              <a:t>TMAP: lay out a minimum spanning tree, not a scatter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148840" y="2258568"/>
            <a:ext cx="868680" cy="521208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2258568"/>
            <a:ext cx="868680" cy="484632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481328" y="2779776"/>
            <a:ext cx="667512" cy="621792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148840" y="2779776"/>
            <a:ext cx="548640" cy="731520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86200" y="2743200"/>
            <a:ext cx="667512" cy="566928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611880" y="2743200"/>
            <a:ext cx="274320" cy="1042416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188720" y="2505456"/>
            <a:ext cx="960120" cy="274320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886200" y="2350008"/>
            <a:ext cx="777240" cy="393192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81328" y="3401568"/>
            <a:ext cx="621792" cy="640080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611880" y="3785616"/>
            <a:ext cx="594360" cy="274319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926079" y="2167127"/>
            <a:ext cx="182880" cy="1828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075688" y="2706624"/>
            <a:ext cx="146304" cy="14630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813048" y="2670048"/>
            <a:ext cx="146304" cy="14630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408176" y="3328415"/>
            <a:ext cx="146304" cy="146304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624328" y="3438144"/>
            <a:ext cx="146304" cy="146304"/>
          </a:xfrm>
          <a:prstGeom prst="ellipse">
            <a:avLst/>
          </a:prstGeom>
          <a:solidFill>
            <a:srgbClr val="4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480560" y="3236976"/>
            <a:ext cx="146304" cy="146304"/>
          </a:xfrm>
          <a:prstGeom prst="ellipse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538728" y="3712464"/>
            <a:ext cx="146304" cy="146304"/>
          </a:xfrm>
          <a:prstGeom prst="ellipse">
            <a:avLst/>
          </a:prstGeom>
          <a:solidFill>
            <a:srgbClr val="4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15568" y="2432304"/>
            <a:ext cx="146304" cy="146304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90288" y="2276856"/>
            <a:ext cx="146304" cy="146304"/>
          </a:xfrm>
          <a:prstGeom prst="ellipse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029967" y="3968496"/>
            <a:ext cx="146304" cy="146304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133087" y="3986783"/>
            <a:ext cx="146304" cy="146304"/>
          </a:xfrm>
          <a:prstGeom prst="ellipse">
            <a:avLst/>
          </a:prstGeom>
          <a:solidFill>
            <a:srgbClr val="4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59943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branches = series of analogues · no overplotting at 10⁶ molecules</a:t>
            </a:r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6172200" y="1682495"/>
          <a:ext cx="544068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6172200" y="4544568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Avenir Book"/>
              </a:rPr>
              <a:t>1 M molecules:  TMAP 6 min   vs   UMAP 11.5 h   ( ~117× 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293815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Probst &amp; Reymond, J. Cheminform. 2020, 12, 12 · Flores Sepúlveda &amp; Reymond, J. Chem. Inf. Model. 2026, 66, 5595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Three things your map is not telling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 dirty="0">
                <a:solidFill>
                  <a:srgbClr val="156082"/>
                </a:solidFill>
                <a:latin typeface="Avenir Book"/>
              </a:rPr>
              <a:t>Never read clusters off a map.</a:t>
            </a:r>
            <a:r>
              <a:rPr sz="1350" b="0" i="0" dirty="0">
                <a:solidFill>
                  <a:srgbClr val="20242E"/>
                </a:solidFill>
                <a:latin typeface="Avenir Book"/>
              </a:rPr>
              <a:t> Cluster explicitly in the original space, then use the map only to display the result.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53312"/>
            <a:ext cx="3529584" cy="342900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Avenir Book"/>
              </a:rPr>
              <a:t>✗  gap width means nothing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53312"/>
            <a:ext cx="3529584" cy="342900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481328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Avenir Book"/>
              </a:rPr>
              <a:t>✗  cluster size means nothing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11311" y="1353312"/>
            <a:ext cx="3529584" cy="342900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1" y="1481328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Avenir Book"/>
              </a:rPr>
              <a:t>✗  clusters appear in pure noise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7" y="2359152"/>
            <a:ext cx="1005840" cy="8229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670048" y="2359152"/>
            <a:ext cx="1005840" cy="8229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971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522898" y="2574198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333974" y="2886875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510581" y="2845840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781445" y="2801148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615012" y="2803027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57381" y="2726518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554688" y="2867744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334534" y="2837662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703662" y="2581130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992163" y="2910293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863480" y="2685070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311997" y="2625775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839297" y="2695277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215017" y="2546030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337380" y="2844143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251950" y="2577723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231515" y="2935800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345053" y="2810358"/>
            <a:ext cx="109728" cy="10972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2048256" y="2770632"/>
            <a:ext cx="603504" cy="0"/>
          </a:xfrm>
          <a:prstGeom prst="line">
            <a:avLst/>
          </a:prstGeom>
          <a:ln w="17780">
            <a:solidFill>
              <a:srgbClr val="6E748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212848" y="28346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C0392B"/>
                </a:solidFill>
                <a:latin typeface="Avenir Book"/>
              </a:rPr>
              <a:t>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096512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perplexity changes it</a:t>
            </a:r>
          </a:p>
        </p:txBody>
      </p:sp>
      <p:sp>
        <p:nvSpPr>
          <p:cNvPr id="36" name="Oval 35"/>
          <p:cNvSpPr/>
          <p:nvPr/>
        </p:nvSpPr>
        <p:spPr>
          <a:xfrm>
            <a:off x="4782312" y="2286000"/>
            <a:ext cx="1316736" cy="106070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223375" y="2801080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715306" y="2959556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079857" y="2833796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255957" y="2531898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943308" y="2637119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250306" y="2957812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100192" y="2813556"/>
            <a:ext cx="109728" cy="10972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428232" y="2359152"/>
            <a:ext cx="1133856" cy="9144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971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058986" y="2670154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818864" y="2716688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100812" y="2717946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872200" y="2589609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948394" y="2491543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7174109" y="3039962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7124524" y="2776087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7365085" y="2718381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693387" y="2913555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6872090" y="2687940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773959" y="2855963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989065" y="2897919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750482" y="2820414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927994" y="2637751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7256876" y="2963069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6854303" y="2459917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6820384" y="2626863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6567574" y="2749968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7065928" y="2985478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7062035" y="2592194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6852793" y="2497288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6710086" y="3015300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6581950" y="2647491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6966017" y="2526475"/>
            <a:ext cx="82296" cy="8229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645152" y="3456432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56082"/>
                </a:solidFill>
                <a:latin typeface="Avenir Book"/>
              </a:rPr>
              <a:t>7 molecules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99631" y="3456432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E97132"/>
                </a:solidFill>
                <a:latin typeface="Avenir Book"/>
              </a:rPr>
              <a:t>240 molecules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89120" y="4160520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drawn almost the same size</a:t>
            </a:r>
          </a:p>
        </p:txBody>
      </p:sp>
      <p:sp>
        <p:nvSpPr>
          <p:cNvPr id="72" name="Oval 71"/>
          <p:cNvSpPr/>
          <p:nvPr/>
        </p:nvSpPr>
        <p:spPr>
          <a:xfrm>
            <a:off x="8714232" y="2221992"/>
            <a:ext cx="914400" cy="7315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9DC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9070950" y="2446175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8906124" y="2704695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8949525" y="2366593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9039105" y="2440941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9063468" y="2525086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9283562" y="2389034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8971780" y="2418006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9034503" y="2569560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0268711" y="2176272"/>
            <a:ext cx="914400" cy="7315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9DC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0638530" y="2396468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0627957" y="2328547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0355831" y="2482396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10538508" y="2527145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0586182" y="2253308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0686751" y="2515343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10689142" y="2570307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0449452" y="2368139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9537191" y="3136392"/>
            <a:ext cx="914400" cy="7315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9DC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9898963" y="3216760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9946934" y="3294708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9936839" y="3657927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0138206" y="3420949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0024035" y="3511440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0181406" y="3400231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10047820" y="3562131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9917339" y="3451789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211311" y="4096512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input was uniform random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Butina clustering: the cheminformatics default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56082"/>
                </a:solidFill>
                <a:latin typeface="Avenir Book"/>
              </a:rPr>
              <a:t>No k to choose, deterministic, and the centres are real molecules.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Run it at two or three cut-offs and check your conclusion survives.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25880"/>
            <a:ext cx="3529584" cy="35661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53895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56082"/>
                </a:solidFill>
                <a:latin typeface="Avenir Book"/>
              </a:rPr>
              <a:t>1 · count neighbours within t</a:t>
            </a:r>
          </a:p>
        </p:txBody>
      </p:sp>
      <p:sp>
        <p:nvSpPr>
          <p:cNvPr id="9" name="Oval 8"/>
          <p:cNvSpPr/>
          <p:nvPr/>
        </p:nvSpPr>
        <p:spPr>
          <a:xfrm>
            <a:off x="1554480" y="240487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984248" y="272491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399032" y="295351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874520" y="327355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286000" y="231343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108960" y="249631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29000" y="304495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971800" y="336499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566160" y="3657600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377440" y="3867911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508760" y="373075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291840" y="222199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489703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t = Tanimoto cut-off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1325880"/>
            <a:ext cx="3529584" cy="35661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1453895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56082"/>
                </a:solidFill>
                <a:latin typeface="Avenir Book"/>
              </a:rPr>
              <a:t>2 · densest molecule claims its sphere</a:t>
            </a:r>
          </a:p>
        </p:txBody>
      </p:sp>
      <p:sp>
        <p:nvSpPr>
          <p:cNvPr id="24" name="Oval 23"/>
          <p:cNvSpPr/>
          <p:nvPr/>
        </p:nvSpPr>
        <p:spPr>
          <a:xfrm>
            <a:off x="5138928" y="2130552"/>
            <a:ext cx="1463040" cy="13167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971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376671" y="2404872"/>
            <a:ext cx="128016" cy="128016"/>
          </a:xfrm>
          <a:prstGeom prst="ellipse">
            <a:avLst/>
          </a:prstGeom>
          <a:solidFill>
            <a:srgbClr val="B4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779008" y="2697479"/>
            <a:ext cx="182880" cy="18288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221223" y="2953512"/>
            <a:ext cx="128016" cy="128016"/>
          </a:xfrm>
          <a:prstGeom prst="ellipse">
            <a:avLst/>
          </a:prstGeom>
          <a:solidFill>
            <a:srgbClr val="B4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696712" y="3273552"/>
            <a:ext cx="128016" cy="128016"/>
          </a:xfrm>
          <a:prstGeom prst="ellipse">
            <a:avLst/>
          </a:prstGeom>
          <a:solidFill>
            <a:srgbClr val="B4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108192" y="2313432"/>
            <a:ext cx="128016" cy="128016"/>
          </a:xfrm>
          <a:prstGeom prst="ellipse">
            <a:avLst/>
          </a:prstGeom>
          <a:solidFill>
            <a:srgbClr val="B4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931152" y="249631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251192" y="304495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793992" y="336499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388352" y="3657600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199631" y="3867911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330952" y="373075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114031" y="222199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89120" y="4489703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B4551F"/>
                </a:solidFill>
                <a:latin typeface="Avenir Book"/>
              </a:rPr>
              <a:t>cluster centre + members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11311" y="1325880"/>
            <a:ext cx="3529584" cy="35661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11311" y="1453895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56082"/>
                </a:solidFill>
                <a:latin typeface="Avenir Book"/>
              </a:rPr>
              <a:t>3 · repeat on what is left</a:t>
            </a:r>
          </a:p>
        </p:txBody>
      </p:sp>
      <p:sp>
        <p:nvSpPr>
          <p:cNvPr id="40" name="Oval 39"/>
          <p:cNvSpPr/>
          <p:nvPr/>
        </p:nvSpPr>
        <p:spPr>
          <a:xfrm>
            <a:off x="8961119" y="2130552"/>
            <a:ext cx="1463040" cy="1316736"/>
          </a:xfrm>
          <a:prstGeom prst="ellipse">
            <a:avLst/>
          </a:prstGeom>
          <a:solidFill>
            <a:srgbClr val="F0F1F3"/>
          </a:solidFill>
          <a:ln w="15240">
            <a:solidFill>
              <a:srgbClr val="D9DC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479024" y="2505456"/>
            <a:ext cx="1316736" cy="12070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02B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198863" y="2404872"/>
            <a:ext cx="128016" cy="128016"/>
          </a:xfrm>
          <a:prstGeom prst="ellipse">
            <a:avLst/>
          </a:prstGeom>
          <a:solidFill>
            <a:srgbClr val="D9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628631" y="2724912"/>
            <a:ext cx="128016" cy="128016"/>
          </a:xfrm>
          <a:prstGeom prst="ellipse">
            <a:avLst/>
          </a:prstGeom>
          <a:solidFill>
            <a:srgbClr val="D9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043415" y="2953512"/>
            <a:ext cx="128016" cy="128016"/>
          </a:xfrm>
          <a:prstGeom prst="ellipse">
            <a:avLst/>
          </a:prstGeom>
          <a:solidFill>
            <a:srgbClr val="D9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518903" y="3273552"/>
            <a:ext cx="128016" cy="128016"/>
          </a:xfrm>
          <a:prstGeom prst="ellipse">
            <a:avLst/>
          </a:prstGeom>
          <a:solidFill>
            <a:srgbClr val="D9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930383" y="2313432"/>
            <a:ext cx="128016" cy="128016"/>
          </a:xfrm>
          <a:prstGeom prst="ellipse">
            <a:avLst/>
          </a:prstGeom>
          <a:solidFill>
            <a:srgbClr val="D9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0753343" y="249631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1045952" y="3017520"/>
            <a:ext cx="182880" cy="182880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0616184" y="336499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1210543" y="3657600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0021823" y="3867911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9153143" y="373075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936223" y="2221992"/>
            <a:ext cx="128016" cy="128016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11311" y="4489703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20242E"/>
                </a:solidFill>
                <a:latin typeface="Avenir Book"/>
              </a:rPr>
              <a:t>greedy, deterministic, no k to choose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6293815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Butina, J. Chem. Inf. Comput. Sci. 1999, 39, 747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300">
                <a:solidFill>
                  <a:srgbClr val="20242E"/>
                </a:solidFill>
                <a:latin typeface="Avenir Book"/>
              </a:rPr>
              <a:t>Scaffolds: chemistry is far more clustered than it looks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56082"/>
                </a:solidFill>
                <a:latin typeface="Avenir Book"/>
              </a:rPr>
              <a:t>32 frameworks cover half of all known drugs.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This is why you must split by scaffold — and why your effective sample size is smaller than you think.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4846320" cy="37033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399031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0242E"/>
                </a:solidFill>
                <a:latin typeface="Avenir Book"/>
              </a:rPr>
              <a:t>strip side chains → keep the framework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91640" y="2258568"/>
            <a:ext cx="356352" cy="205740"/>
          </a:xfrm>
          <a:prstGeom prst="line">
            <a:avLst/>
          </a:prstGeom>
          <a:ln w="3048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47992" y="2464308"/>
            <a:ext cx="0" cy="411480"/>
          </a:xfrm>
          <a:prstGeom prst="line">
            <a:avLst/>
          </a:prstGeom>
          <a:ln w="3048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691640" y="2875788"/>
            <a:ext cx="356352" cy="205740"/>
          </a:xfrm>
          <a:prstGeom prst="line">
            <a:avLst/>
          </a:prstGeom>
          <a:ln w="3048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1335287" y="2875788"/>
            <a:ext cx="356353" cy="205740"/>
          </a:xfrm>
          <a:prstGeom prst="line">
            <a:avLst/>
          </a:prstGeom>
          <a:ln w="3048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35287" y="2464308"/>
            <a:ext cx="0" cy="411480"/>
          </a:xfrm>
          <a:prstGeom prst="line">
            <a:avLst/>
          </a:prstGeom>
          <a:ln w="3048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335287" y="2258568"/>
            <a:ext cx="356353" cy="205740"/>
          </a:xfrm>
          <a:prstGeom prst="line">
            <a:avLst/>
          </a:prstGeom>
          <a:ln w="3048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91640" y="1901951"/>
            <a:ext cx="0" cy="356617"/>
          </a:xfrm>
          <a:prstGeom prst="line">
            <a:avLst/>
          </a:prstGeom>
          <a:ln w="3048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026449" y="2875788"/>
            <a:ext cx="308838" cy="178308"/>
          </a:xfrm>
          <a:prstGeom prst="line">
            <a:avLst/>
          </a:prstGeom>
          <a:ln w="3048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047992" y="2286000"/>
            <a:ext cx="308838" cy="178308"/>
          </a:xfrm>
          <a:prstGeom prst="line">
            <a:avLst/>
          </a:prstGeom>
          <a:ln w="3048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602486" y="1812797"/>
            <a:ext cx="178308" cy="17830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2651760" y="2670048"/>
            <a:ext cx="594360" cy="0"/>
          </a:xfrm>
          <a:prstGeom prst="line">
            <a:avLst/>
          </a:prstGeom>
          <a:ln w="2540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160520" y="2258568"/>
            <a:ext cx="356352" cy="205740"/>
          </a:xfrm>
          <a:prstGeom prst="line">
            <a:avLst/>
          </a:prstGeom>
          <a:ln w="30480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16872" y="2464308"/>
            <a:ext cx="0" cy="411480"/>
          </a:xfrm>
          <a:prstGeom prst="line">
            <a:avLst/>
          </a:prstGeom>
          <a:ln w="30480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160520" y="2875788"/>
            <a:ext cx="356352" cy="205740"/>
          </a:xfrm>
          <a:prstGeom prst="line">
            <a:avLst/>
          </a:prstGeom>
          <a:ln w="30480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3804167" y="2875788"/>
            <a:ext cx="356353" cy="205740"/>
          </a:xfrm>
          <a:prstGeom prst="line">
            <a:avLst/>
          </a:prstGeom>
          <a:ln w="30480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804167" y="2464308"/>
            <a:ext cx="0" cy="411480"/>
          </a:xfrm>
          <a:prstGeom prst="line">
            <a:avLst/>
          </a:prstGeom>
          <a:ln w="30480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804167" y="2258568"/>
            <a:ext cx="356353" cy="205740"/>
          </a:xfrm>
          <a:prstGeom prst="line">
            <a:avLst/>
          </a:prstGeom>
          <a:ln w="30480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60120" y="3474720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E7480"/>
                </a:solidFill>
                <a:latin typeface="Avenir Book"/>
              </a:rPr>
              <a:t>molecule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47472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56082"/>
                </a:solidFill>
                <a:latin typeface="Avenir Book"/>
              </a:rPr>
              <a:t>Bemis–Murcko
framework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050791"/>
            <a:ext cx="4434840" cy="749808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4123944"/>
            <a:ext cx="4434840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Avenir Book"/>
              </a:rPr>
              <a:t>scaffold split = hold out whole frameworks,
not random molecules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5806440" y="1463039"/>
          <a:ext cx="5806440" cy="2834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7699248" y="2724912"/>
            <a:ext cx="3675887" cy="877824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99248" y="2798063"/>
            <a:ext cx="3675887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B4551F"/>
                </a:solidFill>
                <a:latin typeface="Avenir Book"/>
              </a:rPr>
              <a:t>32 frameworks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3136391"/>
            <a:ext cx="367588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0242E"/>
                </a:solidFill>
                <a:latin typeface="Avenir Book"/>
              </a:rPr>
              <a:t>cover half of all known drugs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4709159"/>
            <a:ext cx="5806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20242E"/>
                </a:solidFill>
                <a:latin typeface="Avenir Book"/>
              </a:rPr>
              <a:t>1,179 distinct frameworks among 5,120 drugs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293815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Bemis &amp; Murcko, J. Med. Chem. 1996, 39, 2887 — 1,179 frameworks among 5,120 drugs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Case study: the periodic table, from text alone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0242E"/>
                </a:solidFill>
                <a:latin typeface="Avenir Book"/>
              </a:rPr>
              <a:t>Nobody taught it any chemistry. </a:t>
            </a:r>
            <a:r>
              <a:rPr sz="1350" b="1" i="0">
                <a:solidFill>
                  <a:srgbClr val="156082"/>
                </a:solidFill>
                <a:latin typeface="Avenir Book"/>
              </a:rPr>
              <a:t>Unsupervised learning on 3.3 M abstracts recovers the periodic table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— and predicts new thermoelectrics.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4160520" cy="365760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19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0242E"/>
                </a:solidFill>
                <a:latin typeface="Avenir Book"/>
              </a:rPr>
              <a:t>no chemistry was taught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828800"/>
            <a:ext cx="3703320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0242E"/>
                </a:solidFill>
                <a:latin typeface="Avenir Book"/>
              </a:rPr>
              <a:t>“… LiFePO₄ cathodes show …”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2304288"/>
            <a:ext cx="3703320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0242E"/>
                </a:solidFill>
                <a:latin typeface="Avenir Book"/>
              </a:rPr>
              <a:t>“… we anneal the CoSb₃ skutterudite …”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2779776"/>
            <a:ext cx="3703320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0242E"/>
                </a:solidFill>
                <a:latin typeface="Avenir Book"/>
              </a:rPr>
              <a:t>“… Bi₂Te₃ thermoelectric performance …”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383279"/>
            <a:ext cx="37033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3.3 M materials-science abstracts
1.5 M used · word2vec · 200-D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480560"/>
            <a:ext cx="37033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the only signal is which words co-occur</a:t>
            </a:r>
          </a:p>
        </p:txBody>
      </p:sp>
      <p:sp>
        <p:nvSpPr>
          <p:cNvPr id="14" name="Chevron 13"/>
          <p:cNvSpPr/>
          <p:nvPr/>
        </p:nvSpPr>
        <p:spPr>
          <a:xfrm>
            <a:off x="4828032" y="2651760"/>
            <a:ext cx="1051560" cy="566928"/>
          </a:xfrm>
          <a:prstGeom prst="chevron">
            <a:avLst/>
          </a:prstGeom>
          <a:solidFill>
            <a:srgbClr val="20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venir Book"/>
              </a:rPr>
              <a:t>t-SNE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298448"/>
            <a:ext cx="5577840" cy="36576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72784" y="1417319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0242E"/>
                </a:solidFill>
                <a:latin typeface="Avenir Book"/>
              </a:rPr>
              <a:t>t-SNE of the 100 element vectors</a:t>
            </a:r>
          </a:p>
        </p:txBody>
      </p:sp>
      <p:sp>
        <p:nvSpPr>
          <p:cNvPr id="17" name="Oval 16"/>
          <p:cNvSpPr/>
          <p:nvPr/>
        </p:nvSpPr>
        <p:spPr>
          <a:xfrm>
            <a:off x="6656832" y="1947672"/>
            <a:ext cx="1133856" cy="6217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971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89482" y="2129478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236389" y="2166874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057715" y="2180992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205776" y="2077567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833838" y="2242366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2587751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E97132"/>
                </a:solidFill>
                <a:latin typeface="Avenir Book"/>
              </a:rPr>
              <a:t>alkali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788920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480"/>
                </a:solidFill>
                <a:latin typeface="Avenir Book"/>
              </a:rPr>
              <a:t>Li Na K Rb Cs</a:t>
            </a:r>
          </a:p>
        </p:txBody>
      </p:sp>
      <p:sp>
        <p:nvSpPr>
          <p:cNvPr id="25" name="Oval 24"/>
          <p:cNvSpPr/>
          <p:nvPr/>
        </p:nvSpPr>
        <p:spPr>
          <a:xfrm>
            <a:off x="9811512" y="1883664"/>
            <a:ext cx="1133856" cy="6217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02B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571354" y="2153516"/>
            <a:ext cx="100584" cy="100584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409322" y="2071349"/>
            <a:ext cx="100584" cy="100584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301295" y="2068176"/>
            <a:ext cx="100584" cy="100584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138778" y="2177687"/>
            <a:ext cx="100584" cy="100584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244744" y="2294598"/>
            <a:ext cx="100584" cy="100584"/>
          </a:xfrm>
          <a:prstGeom prst="ellipse">
            <a:avLst/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09760" y="2523744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A02B93"/>
                </a:solidFill>
                <a:latin typeface="Avenir Book"/>
              </a:rPr>
              <a:t>halogens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2724912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480"/>
                </a:solidFill>
                <a:latin typeface="Avenir Book"/>
              </a:rPr>
              <a:t>F Cl Br I</a:t>
            </a:r>
          </a:p>
        </p:txBody>
      </p:sp>
      <p:sp>
        <p:nvSpPr>
          <p:cNvPr id="33" name="Oval 32"/>
          <p:cNvSpPr/>
          <p:nvPr/>
        </p:nvSpPr>
        <p:spPr>
          <a:xfrm>
            <a:off x="8229600" y="2798064"/>
            <a:ext cx="1133856" cy="6217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787895" y="3102800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569168" y="2959170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881687" y="2959037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833967" y="3201275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648368" y="2913687"/>
            <a:ext cx="100584" cy="10058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27848" y="3438144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156082"/>
                </a:solidFill>
                <a:latin typeface="Avenir Book"/>
              </a:rPr>
              <a:t>transition metals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27848" y="3639312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480"/>
                </a:solidFill>
                <a:latin typeface="Avenir Book"/>
              </a:rPr>
              <a:t>Fe Co Ni Cu</a:t>
            </a:r>
          </a:p>
        </p:txBody>
      </p:sp>
      <p:sp>
        <p:nvSpPr>
          <p:cNvPr id="41" name="Oval 40"/>
          <p:cNvSpPr/>
          <p:nvPr/>
        </p:nvSpPr>
        <p:spPr>
          <a:xfrm>
            <a:off x="6702552" y="3657600"/>
            <a:ext cx="1133856" cy="6217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96B2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099868" y="4024329"/>
            <a:ext cx="100584" cy="100584"/>
          </a:xfrm>
          <a:prstGeom prst="ellipse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526625" y="3936407"/>
            <a:ext cx="100584" cy="100584"/>
          </a:xfrm>
          <a:prstGeom prst="ellipse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932866" y="3865440"/>
            <a:ext cx="100584" cy="100584"/>
          </a:xfrm>
          <a:prstGeom prst="ellipse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525418" y="3986374"/>
            <a:ext cx="100584" cy="100584"/>
          </a:xfrm>
          <a:prstGeom prst="ellipse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974033" y="3850967"/>
            <a:ext cx="100584" cy="100584"/>
          </a:xfrm>
          <a:prstGeom prst="ellipse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0" y="4297680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196B24"/>
                </a:solidFill>
                <a:latin typeface="Avenir Book"/>
              </a:rPr>
              <a:t>chalcogens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498848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480"/>
                </a:solidFill>
                <a:latin typeface="Avenir Book"/>
              </a:rPr>
              <a:t>O S Se Te</a:t>
            </a:r>
          </a:p>
        </p:txBody>
      </p:sp>
      <p:sp>
        <p:nvSpPr>
          <p:cNvPr id="49" name="Oval 48"/>
          <p:cNvSpPr/>
          <p:nvPr/>
        </p:nvSpPr>
        <p:spPr>
          <a:xfrm>
            <a:off x="9902952" y="3621024"/>
            <a:ext cx="1133856" cy="6217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E74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0347745" y="3760169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0514797" y="3906761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0542183" y="3896328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276175" y="3954480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0392112" y="3930097"/>
            <a:ext cx="100584" cy="100584"/>
          </a:xfrm>
          <a:prstGeom prst="ellipse">
            <a:avLst/>
          </a:prstGeom>
          <a:solidFill>
            <a:srgbClr val="6E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01200" y="4261104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E7480"/>
                </a:solidFill>
                <a:latin typeface="Avenir Book"/>
              </a:rPr>
              <a:t>noble gases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4462272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480"/>
                </a:solidFill>
                <a:latin typeface="Avenir Book"/>
              </a:rPr>
              <a:t>He Ne Ar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72784" y="4626864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56082"/>
                </a:solidFill>
                <a:latin typeface="Avenir Book"/>
              </a:rPr>
              <a:t>the periodic table falls out of the text alone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6293815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 dirty="0" err="1">
                <a:solidFill>
                  <a:srgbClr val="6E7480"/>
                </a:solidFill>
                <a:latin typeface="Avenir Book"/>
              </a:rPr>
              <a:t>Tshitoyan</a:t>
            </a:r>
            <a:r>
              <a:rPr sz="1050" b="0" i="1" dirty="0">
                <a:solidFill>
                  <a:srgbClr val="6E7480"/>
                </a:solidFill>
                <a:latin typeface="Avenir Book"/>
              </a:rPr>
              <a:t> et al., Nature 2019, 571, 95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Case study: reaction classes, unsupervised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56082"/>
                </a:solidFill>
                <a:latin typeface="Avenir Book"/>
              </a:rPr>
              <a:t>Masked-language pre-training alone recovers most of the reaction taxonomy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— 81.9% vs 41.0% for a hand-crafted fingerprint, with zero labels.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2103120" y="1325880"/>
          <a:ext cx="80010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303520" y="1380744"/>
            <a:ext cx="2286000" cy="402336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0" y="1426464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56082"/>
                </a:solidFill>
                <a:latin typeface="Avenir Book"/>
              </a:rPr>
              <a:t>zero labels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608576"/>
            <a:ext cx="8001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20242E"/>
                </a:solidFill>
                <a:latin typeface="Avenir Book"/>
              </a:rPr>
              <a:t>2.6 M unlabelled reactions in · reaction classes come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293815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 dirty="0">
                <a:solidFill>
                  <a:srgbClr val="6E7480"/>
                </a:solidFill>
                <a:latin typeface="Avenir Book"/>
              </a:rPr>
              <a:t>Schwaller et al., Nat. Mach. Intell. 2021, 3, 144 · counterpoint: Probst et al., Digital Discovery 2022, 1, 91 (DRFP)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00200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600" b="1" i="0">
                <a:solidFill>
                  <a:srgbClr val="FBE4D6"/>
                </a:solidFill>
                <a:latin typeface="Avenir Book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0242E"/>
                </a:solidFill>
                <a:latin typeface="Avenir Book"/>
              </a:rPr>
              <a:t>Autoencoders and VAEs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862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Compression as representation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88536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288536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Why a plain autoencoder is not enough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90872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690872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What VAEs are — and are not — good for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rapezoid 35"/>
          <p:cNvSpPr/>
          <p:nvPr/>
        </p:nvSpPr>
        <p:spPr>
          <a:xfrm rot="5400000">
            <a:off x="2708910" y="1988820"/>
            <a:ext cx="1737360" cy="1417320"/>
          </a:xfrm>
          <a:prstGeom prst="trapezoid">
            <a:avLst/>
          </a:prstGeom>
          <a:solidFill>
            <a:srgbClr val="4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The autoencoder: learn by rebuilding the input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0242E"/>
                </a:solidFill>
                <a:latin typeface="Avenir Book"/>
              </a:rPr>
              <a:t>The molecule is its own label. </a:t>
            </a:r>
            <a:r>
              <a:rPr sz="1350" b="1" i="0">
                <a:solidFill>
                  <a:srgbClr val="156082"/>
                </a:solidFill>
                <a:latin typeface="Avenir Book"/>
              </a:rPr>
              <a:t>If 196 numbers can rebuild the molecule, those 196 numbers are a representation the model invented.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1691640" cy="1874519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408176" y="2235708"/>
            <a:ext cx="320716" cy="185166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728892" y="2420874"/>
            <a:ext cx="0" cy="370332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408176" y="2791206"/>
            <a:ext cx="320716" cy="185166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1087459" y="2791206"/>
            <a:ext cx="320717" cy="185166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87459" y="2420874"/>
            <a:ext cx="0" cy="370332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87459" y="2235708"/>
            <a:ext cx="320717" cy="185166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08176" y="1914753"/>
            <a:ext cx="0" cy="320955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09504" y="2791206"/>
            <a:ext cx="277955" cy="160477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8892" y="2260396"/>
            <a:ext cx="277955" cy="160478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327937" y="1834515"/>
            <a:ext cx="160477" cy="160477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3310128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0242E"/>
                </a:solidFill>
                <a:latin typeface="Avenir Book"/>
              </a:rPr>
              <a:t>input  x</a:t>
            </a:r>
          </a:p>
        </p:txBody>
      </p:sp>
      <p:sp>
        <p:nvSpPr>
          <p:cNvPr id="19" name="Trapezoid 18"/>
          <p:cNvSpPr/>
          <p:nvPr/>
        </p:nvSpPr>
        <p:spPr>
          <a:xfrm rot="16200000">
            <a:off x="7264908" y="1988819"/>
            <a:ext cx="1737360" cy="1417320"/>
          </a:xfrm>
          <a:prstGeom prst="trapezoid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78608" y="255117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Book"/>
              </a:rPr>
              <a:t>ENCODER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32120" y="2121408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532120" y="2340863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532120" y="2560320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532120" y="2779776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532120" y="2999232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532120" y="3218687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257800" y="1938528"/>
            <a:ext cx="1097280" cy="1700784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32120" y="2121408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532120" y="2340863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532120" y="2560320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532120" y="2779776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532120" y="2999232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532120" y="3218687"/>
            <a:ext cx="548640" cy="173736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57800" y="3675887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B4551F"/>
                </a:solidFill>
                <a:latin typeface="Avenir Book"/>
              </a:rPr>
              <a:t>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968496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E7480"/>
                </a:solidFill>
                <a:latin typeface="Avenir Book"/>
              </a:rPr>
              <a:t>the bottleneck
196 numbers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5472" y="255117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Book"/>
              </a:rPr>
              <a:t>DECODER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04120" y="1783080"/>
            <a:ext cx="1691640" cy="1874519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10945368" y="2235708"/>
            <a:ext cx="320716" cy="185166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266084" y="2420874"/>
            <a:ext cx="0" cy="370332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10945368" y="2791206"/>
            <a:ext cx="320716" cy="185166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10624651" y="2791206"/>
            <a:ext cx="320717" cy="185166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624651" y="2420874"/>
            <a:ext cx="0" cy="370332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624651" y="2235708"/>
            <a:ext cx="320717" cy="185166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945368" y="1914753"/>
            <a:ext cx="0" cy="320955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10346696" y="2791206"/>
            <a:ext cx="277955" cy="160477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1266084" y="2260396"/>
            <a:ext cx="277955" cy="160478"/>
          </a:xfrm>
          <a:prstGeom prst="line">
            <a:avLst/>
          </a:prstGeom>
          <a:ln w="27432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0104120" y="3310128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56082"/>
                </a:solidFill>
                <a:latin typeface="Avenir Book"/>
              </a:rPr>
              <a:t>output  x̂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304288" y="2697480"/>
            <a:ext cx="329184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462272" y="2697480"/>
            <a:ext cx="1024128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327648" y="2697480"/>
            <a:ext cx="932688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070848" y="2697480"/>
            <a:ext cx="987552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408176" y="3675887"/>
            <a:ext cx="0" cy="1005841"/>
          </a:xfrm>
          <a:prstGeom prst="line">
            <a:avLst/>
          </a:prstGeom>
          <a:ln w="20320">
            <a:solidFill>
              <a:srgbClr val="C039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945368" y="3675887"/>
            <a:ext cx="0" cy="1005841"/>
          </a:xfrm>
          <a:prstGeom prst="line">
            <a:avLst/>
          </a:prstGeom>
          <a:ln w="20320">
            <a:solidFill>
              <a:srgbClr val="C039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408176" y="4681728"/>
            <a:ext cx="9537192" cy="0"/>
          </a:xfrm>
          <a:prstGeom prst="line">
            <a:avLst/>
          </a:prstGeom>
          <a:ln w="20320">
            <a:solidFill>
              <a:srgbClr val="C039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4846320" y="4462272"/>
            <a:ext cx="26060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846320" y="4526280"/>
            <a:ext cx="26060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 dirty="0">
                <a:solidFill>
                  <a:srgbClr val="C0392B"/>
                </a:solidFill>
                <a:latin typeface="Avenir Book"/>
              </a:rPr>
              <a:t>the loss is:  make x̂ = 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The bottleneck is the whole trick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53312"/>
            <a:ext cx="3529584" cy="342900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499616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Avenir Book"/>
              </a:rPr>
              <a:t>bottleneck too wide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92224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6E7480"/>
                </a:solidFill>
                <a:latin typeface="Avenir Book"/>
              </a:rPr>
              <a:t>z is as big as 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53312"/>
            <a:ext cx="3529584" cy="342900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1499616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96B24"/>
                </a:solidFill>
                <a:latin typeface="Avenir Book"/>
              </a:rPr>
              <a:t>bottleneck just right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792224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6E7480"/>
                </a:solidFill>
                <a:latin typeface="Avenir Book"/>
              </a:rPr>
              <a:t>z ≪ 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11311" y="1353312"/>
            <a:ext cx="3529584" cy="342900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1" y="1499616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Avenir Book"/>
              </a:rPr>
              <a:t>bottleneck too narrow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1" y="1792224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6E7480"/>
                </a:solidFill>
                <a:latin typeface="Avenir Book"/>
              </a:rPr>
              <a:t>z ≈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39112" y="2109978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039112" y="2251710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039112" y="2393442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039112" y="2535174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039112" y="2676906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039112" y="2818638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039112" y="2960370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039112" y="3102102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039112" y="3243834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039112" y="3385566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039112" y="3527298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861303" y="2535174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861303" y="2676906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861303" y="2818638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861303" y="2960370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861303" y="3102102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683495" y="2818638"/>
            <a:ext cx="585216" cy="10972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8096" y="3758184"/>
            <a:ext cx="3127248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0242E"/>
                </a:solidFill>
                <a:latin typeface="Avenir Book"/>
              </a:rPr>
              <a:t>the network copies the input
and learns nothing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0288" y="3758184"/>
            <a:ext cx="3127248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0242E"/>
                </a:solidFill>
                <a:latin typeface="Avenir Book"/>
              </a:rPr>
              <a:t>it must keep ring systems,
functional groups, size —
and throw away the rest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758184"/>
            <a:ext cx="3127248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 dirty="0">
                <a:solidFill>
                  <a:srgbClr val="20242E"/>
                </a:solidFill>
                <a:latin typeface="Avenir Book"/>
              </a:rPr>
              <a:t>everything reconstructs
to benzene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910328"/>
            <a:ext cx="11058113" cy="475488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8" y="4983480"/>
            <a:ext cx="11058113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20242E"/>
                </a:solidFill>
                <a:latin typeface="Avenir Book"/>
              </a:rPr>
              <a:t>compression is the whole trick: what survives the bottleneck is what the data says matters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The problem: a plain autoencoder learns islands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0242E"/>
                </a:solidFill>
                <a:latin typeface="Avenir Book"/>
              </a:rPr>
              <a:t>Nothing in the loss describes the space </a:t>
            </a:r>
            <a:r>
              <a:rPr sz="1350" b="1" i="0">
                <a:solidFill>
                  <a:srgbClr val="156082"/>
                </a:solidFill>
                <a:latin typeface="Avenir Book"/>
              </a:rPr>
              <a:t>between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the molecules — so the model never learns it, and sampling there produces garbage.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5349240" cy="36118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19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0242E"/>
                </a:solidFill>
                <a:latin typeface="Avenir Book"/>
              </a:rPr>
              <a:t>plain autoencoder — latent space</a:t>
            </a:r>
          </a:p>
        </p:txBody>
      </p:sp>
      <p:sp>
        <p:nvSpPr>
          <p:cNvPr id="9" name="Oval 8"/>
          <p:cNvSpPr/>
          <p:nvPr/>
        </p:nvSpPr>
        <p:spPr>
          <a:xfrm>
            <a:off x="1854436" y="2340487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71473" y="267811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91471" y="239345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163234" y="2586252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787156" y="2494977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490781" y="250720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945878" y="251918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809048" y="2408991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479520" y="2557387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124041" y="2354652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12937" y="2738937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872920" y="232488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638273" y="2489589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959077" y="267427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773348" y="229791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914643" y="2121147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812458" y="233915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854101" y="244594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008286" y="219397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921004" y="239893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796829" y="2221249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840786" y="229184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010893" y="221444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805668" y="217922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972945" y="237507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802537" y="2232839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901226" y="212049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128303" y="255289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774450" y="385862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553044" y="337178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866596" y="3460322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652938" y="375851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854452" y="367449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2535294" y="343610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555143" y="358197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012338" y="3391499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993662" y="377005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2931416" y="3757879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2415629" y="367753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2732553" y="338282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960014" y="340764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531754" y="3512392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4525152" y="369360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651777" y="391360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315110" y="364055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805420" y="385276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4651227" y="3860309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4810823" y="367219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4343165" y="3654037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4344502" y="3634889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4509682" y="3878497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4772953" y="359592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4278491" y="369466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4651330" y="3521862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4675522" y="387555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4465851" y="3456532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454184" y="396858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725855" y="3827712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120187" y="3879727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313700" y="4041399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681469" y="403104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342374" y="386884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411513" y="4135411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211890" y="378895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510972" y="378419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1681828" y="387693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1382971" y="398824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1278337" y="369959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1399418" y="383187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390455" y="386836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926079" y="2944368"/>
            <a:ext cx="182880" cy="1828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871215" y="26517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Avenir Book"/>
              </a:rPr>
              <a:t>★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82112" y="2907791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C0392B"/>
                </a:solidFill>
                <a:latin typeface="Avenir Book"/>
              </a:rPr>
              <a:t>sample here…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7240" y="450799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the model was never asked what lives between the islands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053328" y="2852928"/>
            <a:ext cx="713232" cy="0"/>
          </a:xfrm>
          <a:prstGeom prst="line">
            <a:avLst/>
          </a:prstGeom>
          <a:ln w="2540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5989320" y="2505456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0392B"/>
                </a:solidFill>
                <a:latin typeface="Avenir Book"/>
              </a:rPr>
              <a:t>decode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949440" y="1298448"/>
            <a:ext cx="4681728" cy="361188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178040" y="1417319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0242E"/>
                </a:solidFill>
                <a:latin typeface="Avenir Book"/>
              </a:rPr>
              <a:t>what comes out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223760" y="1865376"/>
            <a:ext cx="416052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0242E"/>
                </a:solidFill>
                <a:latin typeface="Avenir Book"/>
              </a:rPr>
              <a:t>C1=CC=CC=C1C(=O)N(C)(C)(C)C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228832" y="19019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Avenir Book"/>
              </a:rPr>
              <a:t>✗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223760" y="2322576"/>
            <a:ext cx="416052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0242E"/>
                </a:solidFill>
                <a:latin typeface="Avenir Book"/>
              </a:rPr>
              <a:t>c1ccc2cc(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228832" y="23591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Avenir Book"/>
              </a:rPr>
              <a:t>✗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223760" y="2779776"/>
            <a:ext cx="416052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0242E"/>
                </a:solidFill>
                <a:latin typeface="Avenir Book"/>
              </a:rPr>
              <a:t>CC(C)(C)(C)(C)C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28832" y="28163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Avenir Book"/>
              </a:rPr>
              <a:t>✗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223760" y="3236976"/>
            <a:ext cx="416052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0242E"/>
                </a:solidFill>
                <a:latin typeface="Avenir Book"/>
              </a:rPr>
              <a:t>N#N#N=O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228832" y="32735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Avenir Book"/>
              </a:rPr>
              <a:t>✗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223760" y="3694176"/>
            <a:ext cx="416052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20242E"/>
                </a:solidFill>
                <a:latin typeface="Avenir Book"/>
              </a:rPr>
              <a:t>C1CC1CC1CC1CC…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228832" y="37307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Avenir Book"/>
              </a:rPr>
              <a:t>✗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178040" y="450799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Avenir Book"/>
              </a:rPr>
              <a:t>invalid, unparseable, or chemically absurd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The VAE in one idea: encode a cloud, not a 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5358384" cy="35204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453895"/>
            <a:ext cx="53583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6E7480"/>
                </a:solidFill>
                <a:latin typeface="Avenir Book"/>
              </a:rPr>
              <a:t>autoencoder: x → one point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35607" y="2610612"/>
            <a:ext cx="273204" cy="157734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708811" y="2768346"/>
            <a:ext cx="0" cy="315468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435607" y="3083814"/>
            <a:ext cx="273204" cy="157734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1162404" y="3083814"/>
            <a:ext cx="273203" cy="157734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62404" y="2768346"/>
            <a:ext cx="0" cy="315468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62404" y="2610612"/>
            <a:ext cx="273203" cy="157734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35607" y="2337206"/>
            <a:ext cx="0" cy="273406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925628" y="3083814"/>
            <a:ext cx="236776" cy="136702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029968" y="2926080"/>
            <a:ext cx="685800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986783" y="2825496"/>
            <a:ext cx="201168" cy="20116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33672" y="259689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B4551F"/>
                </a:solidFill>
                <a:latin typeface="Avenir Book"/>
              </a:rPr>
              <a:t>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325880"/>
            <a:ext cx="5358384" cy="352044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72784" y="1453895"/>
            <a:ext cx="53583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56082"/>
                </a:solidFill>
                <a:latin typeface="Avenir Book"/>
              </a:rPr>
              <a:t>VAE: x → a small cloud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41464" y="2610612"/>
            <a:ext cx="273203" cy="157734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14667" y="2768346"/>
            <a:ext cx="0" cy="315468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141464" y="3083814"/>
            <a:ext cx="273203" cy="157734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6868260" y="3083814"/>
            <a:ext cx="273204" cy="157734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868260" y="2768346"/>
            <a:ext cx="0" cy="315468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868260" y="2610612"/>
            <a:ext cx="273204" cy="157734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141464" y="2337206"/>
            <a:ext cx="0" cy="273406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631484" y="3083814"/>
            <a:ext cx="236776" cy="136702"/>
          </a:xfrm>
          <a:prstGeom prst="line">
            <a:avLst/>
          </a:prstGeom>
          <a:ln w="23368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735824" y="2926080"/>
            <a:ext cx="685800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079992" y="2359152"/>
            <a:ext cx="1426464" cy="1133856"/>
          </a:xfrm>
          <a:prstGeom prst="ellipse">
            <a:avLst/>
          </a:prstGeom>
          <a:solidFill>
            <a:srgbClr val="EC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317736" y="2551176"/>
            <a:ext cx="950976" cy="749808"/>
          </a:xfrm>
          <a:prstGeom prst="ellipse">
            <a:avLst/>
          </a:prstGeom>
          <a:solidFill>
            <a:srgbClr val="D2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555480" y="2734056"/>
            <a:ext cx="475488" cy="384048"/>
          </a:xfrm>
          <a:prstGeom prst="ellipse">
            <a:avLst/>
          </a:prstGeom>
          <a:solidFill>
            <a:srgbClr val="4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720072" y="2852928"/>
            <a:ext cx="146304" cy="14630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358884" y="3076956"/>
            <a:ext cx="100584" cy="100584"/>
          </a:xfrm>
          <a:prstGeom prst="ellipse">
            <a:avLst/>
          </a:prstGeom>
          <a:solidFill>
            <a:srgbClr val="B4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062972" y="2619756"/>
            <a:ext cx="100584" cy="100584"/>
          </a:xfrm>
          <a:prstGeom prst="ellipse">
            <a:avLst/>
          </a:prstGeom>
          <a:solidFill>
            <a:srgbClr val="B4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852660" y="3241548"/>
            <a:ext cx="100584" cy="100584"/>
          </a:xfrm>
          <a:prstGeom prst="ellipse">
            <a:avLst/>
          </a:prstGeom>
          <a:solidFill>
            <a:srgbClr val="B4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468612" y="2564892"/>
            <a:ext cx="100584" cy="100584"/>
          </a:xfrm>
          <a:prstGeom prst="ellipse">
            <a:avLst/>
          </a:prstGeom>
          <a:solidFill>
            <a:srgbClr val="B4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41664" y="370332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56082"/>
                </a:solidFill>
                <a:latin typeface="Avenir Book"/>
              </a:rPr>
              <a:t>mean  +  spread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4992624"/>
            <a:ext cx="1105811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20242E"/>
                </a:solidFill>
                <a:latin typeface="Avenir Book"/>
              </a:rPr>
              <a:t>training on samples from the cloud forces nearby points to decode to similar molecules — the gaps get filled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Two forces, and a dial between them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56082"/>
                </a:solidFill>
                <a:latin typeface="Avenir Book"/>
              </a:rPr>
              <a:t>β is the whole design decision.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Too small and you are back to islands; too large and the decoder ignores z entirely.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3611880" cy="361188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44751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B4551F"/>
                </a:solidFill>
                <a:latin typeface="Avenir Book"/>
              </a:rPr>
              <a:t>RECONSTRUCTION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“keep every molecule distinguishable”</a:t>
            </a:r>
          </a:p>
        </p:txBody>
      </p:sp>
      <p:sp>
        <p:nvSpPr>
          <p:cNvPr id="10" name="Oval 9"/>
          <p:cNvSpPr/>
          <p:nvPr/>
        </p:nvSpPr>
        <p:spPr>
          <a:xfrm>
            <a:off x="1050350" y="2326090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71104" y="2119163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44598" y="2314298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254831" y="2436138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45579" y="2270547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50833" y="2362594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31650" y="2375732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284889" y="2633600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268967" y="2300105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383133" y="2408249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325739" y="2349794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300666" y="2543730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241561" y="2526570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350747" y="2581612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294163" y="3441442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503915" y="3532085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398576" y="3547783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509551" y="3516110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574922" y="3534687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644968" y="3375094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445798" y="3474097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060500" y="3561890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865745" y="3487869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839136" y="3568622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904770" y="3416211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837294" y="3354938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878409" y="3497901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044361" y="3719409"/>
            <a:ext cx="91440" cy="9144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928" y="4306824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B4551F"/>
                </a:solidFill>
                <a:latin typeface="Avenir Book"/>
              </a:rPr>
              <a:t>pushes clouds APART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4562856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→ islands and holes come back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2167128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43400" y="230428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20242E"/>
                </a:solidFill>
                <a:latin typeface="Avenir Book"/>
              </a:rPr>
              <a:t>the VAE loss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2651760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56082"/>
                </a:solidFill>
                <a:latin typeface="Avenir Book"/>
              </a:rPr>
              <a:t>reconstruct  +  β × stay-organised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299923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6E7480"/>
                </a:solidFill>
                <a:latin typeface="Avenir Book"/>
              </a:rPr>
              <a:t>β is a dial you turn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327355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C0392B"/>
                </a:solidFill>
                <a:latin typeface="Avenir Book"/>
              </a:rPr>
              <a:t>β too small → autoencoder    β too large → mush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3840480" y="2779776"/>
            <a:ext cx="420624" cy="0"/>
          </a:xfrm>
          <a:prstGeom prst="line">
            <a:avLst/>
          </a:prstGeom>
          <a:ln w="30480">
            <a:solidFill>
              <a:srgbClr val="B4551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936992" y="2779776"/>
            <a:ext cx="420624" cy="0"/>
          </a:xfrm>
          <a:prstGeom prst="line">
            <a:avLst/>
          </a:prstGeom>
          <a:ln w="3048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019288" y="1298448"/>
            <a:ext cx="3611880" cy="361188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19288" y="1444751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56082"/>
                </a:solidFill>
                <a:latin typeface="Avenir Book"/>
              </a:rPr>
              <a:t>REGULARISATION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0727" y="173736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“all clouds should look like one blob”</a:t>
            </a:r>
          </a:p>
        </p:txBody>
      </p:sp>
      <p:sp>
        <p:nvSpPr>
          <p:cNvPr id="50" name="Oval 49"/>
          <p:cNvSpPr/>
          <p:nvPr/>
        </p:nvSpPr>
        <p:spPr>
          <a:xfrm>
            <a:off x="8659368" y="2066544"/>
            <a:ext cx="2340864" cy="18288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0465444" y="249771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0121852" y="332423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513149" y="2760621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845499" y="275600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0199226" y="249864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0033026" y="317449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818465" y="258351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407854" y="310385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0692997" y="2999267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691810" y="2823371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187669" y="2995262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9510648" y="3019552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335268" y="263697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9892719" y="3395331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0116256" y="283481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0237133" y="254882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0564156" y="3023599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0208777" y="326763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0372991" y="337614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0164911" y="3556599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9640942" y="285454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9735554" y="310119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9896184" y="3280025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9447890" y="249213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10667410" y="295599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9329404" y="2883607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9543958" y="2412259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9194601" y="302730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9647378" y="331879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9229052" y="2671357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9677615" y="2462983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0086510" y="270363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9423295" y="3498279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9796337" y="228335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019288" y="4306824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56082"/>
                </a:solidFill>
                <a:latin typeface="Avenir Book"/>
              </a:rPr>
              <a:t>pulls clouds TOGETHER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19288" y="4562856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→ one smooth space you can sample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The payoff: a space you can walk 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0242E"/>
                </a:solidFill>
                <a:latin typeface="Avenir Book"/>
              </a:rPr>
              <a:t>A VAE turns a </a:t>
            </a:r>
            <a:r>
              <a:rPr sz="1350" b="1" i="0">
                <a:solidFill>
                  <a:srgbClr val="156082"/>
                </a:solidFill>
                <a:latin typeface="Avenir Book"/>
              </a:rPr>
              <a:t>discrete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object into a </a:t>
            </a:r>
            <a:r>
              <a:rPr sz="1350" b="1" i="0">
                <a:solidFill>
                  <a:srgbClr val="156082"/>
                </a:solidFill>
                <a:latin typeface="Avenir Book"/>
              </a:rPr>
              <a:t>continuous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one — which is what every optimiser, gradient and Bayesian loop wants.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25880"/>
            <a:ext cx="11058113" cy="35661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453895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 dirty="0">
                <a:solidFill>
                  <a:srgbClr val="20242E"/>
                </a:solidFill>
                <a:latin typeface="Avenir Book"/>
              </a:rPr>
              <a:t>a straight line in z is a smooth series of molecules in chemistry</a:t>
            </a:r>
          </a:p>
        </p:txBody>
      </p:sp>
      <p:sp>
        <p:nvSpPr>
          <p:cNvPr id="9" name="Oval 8"/>
          <p:cNvSpPr/>
          <p:nvPr/>
        </p:nvSpPr>
        <p:spPr>
          <a:xfrm>
            <a:off x="758952" y="2359151"/>
            <a:ext cx="950976" cy="950976"/>
          </a:xfrm>
          <a:prstGeom prst="ellipse">
            <a:avLst/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1234440" y="2560320"/>
            <a:ext cx="237568" cy="137159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72008" y="2697479"/>
            <a:ext cx="0" cy="27432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234440" y="2971799"/>
            <a:ext cx="237568" cy="13716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996871" y="2971799"/>
            <a:ext cx="237569" cy="13716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96871" y="2697479"/>
            <a:ext cx="0" cy="27432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96871" y="2560320"/>
            <a:ext cx="237569" cy="137159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4440" y="2322576"/>
            <a:ext cx="0" cy="237744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90979" y="2971799"/>
            <a:ext cx="205892" cy="118872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175004" y="2263140"/>
            <a:ext cx="118872" cy="11887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1783080" y="2834639"/>
            <a:ext cx="841248" cy="0"/>
          </a:xfrm>
          <a:prstGeom prst="line">
            <a:avLst/>
          </a:prstGeom>
          <a:ln w="20320">
            <a:solidFill>
              <a:srgbClr val="D9DCE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2697480" y="2359151"/>
            <a:ext cx="950976" cy="950976"/>
          </a:xfrm>
          <a:prstGeom prst="ellipse">
            <a:avLst/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3172968" y="2560320"/>
            <a:ext cx="237568" cy="137159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410536" y="2697479"/>
            <a:ext cx="0" cy="27432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72968" y="2971799"/>
            <a:ext cx="237568" cy="13716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2935399" y="2971799"/>
            <a:ext cx="237569" cy="13716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935399" y="2697479"/>
            <a:ext cx="0" cy="27432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935399" y="2560320"/>
            <a:ext cx="237569" cy="137159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172968" y="3108959"/>
            <a:ext cx="0" cy="237744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410536" y="2578608"/>
            <a:ext cx="205892" cy="118871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21608" y="2834639"/>
            <a:ext cx="841248" cy="0"/>
          </a:xfrm>
          <a:prstGeom prst="line">
            <a:avLst/>
          </a:prstGeom>
          <a:ln w="20320">
            <a:solidFill>
              <a:srgbClr val="D9DCE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636008" y="2359151"/>
            <a:ext cx="950976" cy="950976"/>
          </a:xfrm>
          <a:prstGeom prst="ellipse">
            <a:avLst/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5111496" y="2560320"/>
            <a:ext cx="237568" cy="137159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349064" y="2697479"/>
            <a:ext cx="0" cy="27432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5111496" y="2971799"/>
            <a:ext cx="237568" cy="13716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4873927" y="2971799"/>
            <a:ext cx="237569" cy="13716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873927" y="2697479"/>
            <a:ext cx="0" cy="27432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873927" y="2560320"/>
            <a:ext cx="237569" cy="137159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111496" y="2322576"/>
            <a:ext cx="0" cy="237744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4668035" y="2971799"/>
            <a:ext cx="205892" cy="118872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660136" y="2834639"/>
            <a:ext cx="841248" cy="0"/>
          </a:xfrm>
          <a:prstGeom prst="line">
            <a:avLst/>
          </a:prstGeom>
          <a:ln w="20320">
            <a:solidFill>
              <a:srgbClr val="D9DCE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574536" y="2359151"/>
            <a:ext cx="950976" cy="950976"/>
          </a:xfrm>
          <a:prstGeom prst="ellipse">
            <a:avLst/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7050023" y="2560320"/>
            <a:ext cx="237569" cy="137159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287592" y="2697479"/>
            <a:ext cx="0" cy="27432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7050023" y="2971799"/>
            <a:ext cx="237569" cy="13716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6812455" y="2971799"/>
            <a:ext cx="237568" cy="13716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812455" y="2697479"/>
            <a:ext cx="0" cy="27432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812455" y="2560320"/>
            <a:ext cx="237568" cy="137159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050023" y="3108959"/>
            <a:ext cx="0" cy="237744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287592" y="2578608"/>
            <a:ext cx="205892" cy="118871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287592" y="2578608"/>
            <a:ext cx="205892" cy="118871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598663" y="2834639"/>
            <a:ext cx="841248" cy="0"/>
          </a:xfrm>
          <a:prstGeom prst="line">
            <a:avLst/>
          </a:prstGeom>
          <a:ln w="20320">
            <a:solidFill>
              <a:srgbClr val="D9DCE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8513064" y="2359151"/>
            <a:ext cx="950976" cy="950976"/>
          </a:xfrm>
          <a:prstGeom prst="ellipse">
            <a:avLst/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8988552" y="2560320"/>
            <a:ext cx="237568" cy="137159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26120" y="2697479"/>
            <a:ext cx="0" cy="27432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8988552" y="2971799"/>
            <a:ext cx="237568" cy="13716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8750983" y="2971799"/>
            <a:ext cx="237569" cy="13716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750983" y="2697479"/>
            <a:ext cx="0" cy="27432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750983" y="2560320"/>
            <a:ext cx="237569" cy="137159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8988552" y="2322576"/>
            <a:ext cx="0" cy="237744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8545091" y="2971799"/>
            <a:ext cx="205892" cy="118872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226120" y="2971799"/>
            <a:ext cx="205892" cy="118872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37192" y="2834639"/>
            <a:ext cx="841248" cy="0"/>
          </a:xfrm>
          <a:prstGeom prst="line">
            <a:avLst/>
          </a:prstGeom>
          <a:ln w="20320">
            <a:solidFill>
              <a:srgbClr val="D9DCE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10451592" y="2359151"/>
            <a:ext cx="950976" cy="950976"/>
          </a:xfrm>
          <a:prstGeom prst="ellipse">
            <a:avLst/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3" name="Connector 62"/>
          <p:cNvCxnSpPr/>
          <p:nvPr/>
        </p:nvCxnSpPr>
        <p:spPr>
          <a:xfrm>
            <a:off x="10927080" y="2560320"/>
            <a:ext cx="237568" cy="137159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164648" y="2697479"/>
            <a:ext cx="0" cy="27432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10927080" y="2971799"/>
            <a:ext cx="237568" cy="13716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10689511" y="2971799"/>
            <a:ext cx="237569" cy="13716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689511" y="2697479"/>
            <a:ext cx="0" cy="27432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689511" y="2560320"/>
            <a:ext cx="237569" cy="137159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927080" y="3108959"/>
            <a:ext cx="0" cy="237744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1164648" y="2971799"/>
            <a:ext cx="205892" cy="118872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1164648" y="2971799"/>
            <a:ext cx="205892" cy="118872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10867644" y="3287267"/>
            <a:ext cx="118872" cy="11887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57200" y="354787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B4551F"/>
                </a:solidFill>
                <a:latin typeface="Avenir Book"/>
              </a:rPr>
              <a:t>start molecule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49840" y="354787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B4551F"/>
                </a:solidFill>
                <a:latin typeface="Avenir Book"/>
              </a:rPr>
              <a:t>target molecule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1234440" y="3931920"/>
            <a:ext cx="9692640" cy="0"/>
          </a:xfrm>
          <a:prstGeom prst="line">
            <a:avLst/>
          </a:prstGeom>
          <a:ln w="2032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1175004" y="3872483"/>
            <a:ext cx="118872" cy="118872"/>
          </a:xfrm>
          <a:prstGeom prst="ellipse">
            <a:avLst/>
          </a:prstGeom>
          <a:solidFill>
            <a:srgbClr val="20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3113532" y="3872483"/>
            <a:ext cx="118872" cy="118872"/>
          </a:xfrm>
          <a:prstGeom prst="ellipse">
            <a:avLst/>
          </a:prstGeom>
          <a:solidFill>
            <a:srgbClr val="20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5052059" y="3872483"/>
            <a:ext cx="118872" cy="118872"/>
          </a:xfrm>
          <a:prstGeom prst="ellipse">
            <a:avLst/>
          </a:prstGeom>
          <a:solidFill>
            <a:srgbClr val="20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6990587" y="3872483"/>
            <a:ext cx="118872" cy="118872"/>
          </a:xfrm>
          <a:prstGeom prst="ellipse">
            <a:avLst/>
          </a:prstGeom>
          <a:solidFill>
            <a:srgbClr val="20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8929116" y="3872483"/>
            <a:ext cx="118872" cy="118872"/>
          </a:xfrm>
          <a:prstGeom prst="ellipse">
            <a:avLst/>
          </a:prstGeom>
          <a:solidFill>
            <a:srgbClr val="20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0867644" y="3872483"/>
            <a:ext cx="118872" cy="118872"/>
          </a:xfrm>
          <a:prstGeom prst="ellipse">
            <a:avLst/>
          </a:prstGeom>
          <a:solidFill>
            <a:srgbClr val="20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60120" y="404164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0242E"/>
                </a:solidFill>
                <a:latin typeface="Avenir Book"/>
              </a:rPr>
              <a:t>z₀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52759" y="404164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0242E"/>
                </a:solidFill>
                <a:latin typeface="Avenir Book"/>
              </a:rPr>
              <a:t>z₁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4672" y="4489703"/>
            <a:ext cx="1058262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this is what people mean by “a continuous representation of molecules”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rapezoid 17"/>
          <p:cNvSpPr/>
          <p:nvPr/>
        </p:nvSpPr>
        <p:spPr>
          <a:xfrm rot="5400000">
            <a:off x="2593521" y="1801368"/>
            <a:ext cx="1417320" cy="1234440"/>
          </a:xfrm>
          <a:prstGeom prst="trapezoid">
            <a:avLst/>
          </a:prstGeom>
          <a:solidFill>
            <a:srgbClr val="4E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ChemVAE, 2018 — the paper that started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0242E"/>
                </a:solidFill>
                <a:latin typeface="Avenir Book"/>
              </a:rPr>
              <a:t>Joint property training is the idea that survived: </a:t>
            </a:r>
            <a:r>
              <a:rPr sz="1350" b="1" i="0">
                <a:solidFill>
                  <a:srgbClr val="156082"/>
                </a:solidFill>
                <a:latin typeface="Avenir Book"/>
              </a:rPr>
              <a:t>give the encoder a whiff of the task and the latent space organises itself around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30552"/>
            <a:ext cx="1691640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0242E"/>
                </a:solidFill>
                <a:latin typeface="Avenir Book"/>
              </a:rPr>
              <a:t>SMILES</a:t>
            </a:r>
          </a:p>
          <a:p>
            <a:pPr algn="ctr"/>
            <a:r>
              <a:rPr sz="950" b="0">
                <a:solidFill>
                  <a:srgbClr val="20242E"/>
                </a:solidFill>
                <a:latin typeface="Avenir Book"/>
              </a:rPr>
              <a:t>CC(=O)Oc1ccccc1</a:t>
            </a:r>
          </a:p>
        </p:txBody>
      </p:sp>
      <p:sp>
        <p:nvSpPr>
          <p:cNvPr id="8" name="Trapezoid 7"/>
          <p:cNvSpPr/>
          <p:nvPr/>
        </p:nvSpPr>
        <p:spPr>
          <a:xfrm rot="16200000">
            <a:off x="6355080" y="1801802"/>
            <a:ext cx="1417320" cy="1234440"/>
          </a:xfrm>
          <a:prstGeom prst="trapezoid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60320" y="230428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Book"/>
              </a:rPr>
              <a:t>encoder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527048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E7480"/>
                </a:solidFill>
                <a:latin typeface="Avenir Book"/>
              </a:rPr>
              <a:t>CNN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709928"/>
            <a:ext cx="1188720" cy="141732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92040" y="1892808"/>
            <a:ext cx="640080" cy="182880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892040" y="2130552"/>
            <a:ext cx="640080" cy="182880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92040" y="2368296"/>
            <a:ext cx="640080" cy="182880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892040" y="2606040"/>
            <a:ext cx="640080" cy="182880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92040" y="2843784"/>
            <a:ext cx="640080" cy="182880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400" y="31912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B4551F"/>
                </a:solidFill>
                <a:latin typeface="Avenir Book"/>
              </a:rPr>
              <a:t>z  ·  196-D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30428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Book"/>
              </a:rPr>
              <a:t>decoder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527048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E7480"/>
                </a:solidFill>
                <a:latin typeface="Avenir Book"/>
              </a:rPr>
              <a:t>GRU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130552"/>
            <a:ext cx="1691640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0">
                <a:solidFill>
                  <a:srgbClr val="20242E"/>
                </a:solidFill>
                <a:latin typeface="Avenir Book"/>
              </a:rPr>
              <a:t>SMILES</a:t>
            </a:r>
          </a:p>
          <a:p>
            <a:pPr algn="ctr"/>
            <a:r>
              <a:rPr sz="950" b="0">
                <a:solidFill>
                  <a:srgbClr val="20242E"/>
                </a:solidFill>
                <a:latin typeface="Avenir Book"/>
              </a:rPr>
              <a:t>CC(=O)Oc1ccccc1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04288" y="2423160"/>
            <a:ext cx="256032" cy="0"/>
          </a:xfrm>
          <a:prstGeom prst="line">
            <a:avLst/>
          </a:prstGeom>
          <a:ln w="2159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69080" y="2423160"/>
            <a:ext cx="502920" cy="0"/>
          </a:xfrm>
          <a:prstGeom prst="line">
            <a:avLst/>
          </a:prstGeom>
          <a:ln w="2159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52160" y="2423160"/>
            <a:ext cx="457200" cy="0"/>
          </a:xfrm>
          <a:prstGeom prst="line">
            <a:avLst/>
          </a:prstGeom>
          <a:ln w="2159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18120" y="2423160"/>
            <a:ext cx="365759" cy="0"/>
          </a:xfrm>
          <a:prstGeom prst="line">
            <a:avLst/>
          </a:prstGeom>
          <a:ln w="2159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12080" y="3209544"/>
            <a:ext cx="0" cy="402336"/>
          </a:xfrm>
          <a:prstGeom prst="line">
            <a:avLst/>
          </a:prstGeom>
          <a:ln w="25400">
            <a:solidFill>
              <a:srgbClr val="A02B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206240" y="3630168"/>
            <a:ext cx="2011680" cy="5303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A02B93"/>
                </a:solidFill>
                <a:latin typeface="Avenir Book"/>
              </a:rPr>
              <a:t>property head</a:t>
            </a:r>
          </a:p>
          <a:p>
            <a:pPr algn="ctr"/>
            <a:r>
              <a:rPr sz="1000" b="1">
                <a:solidFill>
                  <a:srgbClr val="A02B93"/>
                </a:solidFill>
                <a:latin typeface="Avenir Book"/>
              </a:rPr>
              <a:t>logP, QED, SAS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61188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A02B93"/>
                </a:solidFill>
                <a:latin typeface="Avenir Book"/>
              </a:rPr>
              <a:t>trained jointly — this is
what organises the space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142232"/>
            <a:ext cx="3529584" cy="877824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4215383"/>
            <a:ext cx="352958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56082"/>
                </a:solidFill>
                <a:latin typeface="Avenir Book"/>
              </a:rPr>
              <a:t>250,000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599432"/>
            <a:ext cx="327355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E7480"/>
                </a:solidFill>
                <a:latin typeface="Avenir Book"/>
              </a:rPr>
              <a:t>ZINC molecules, no labels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4142232"/>
            <a:ext cx="3529584" cy="877824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89120" y="4215383"/>
            <a:ext cx="352958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56082"/>
                </a:solidFill>
                <a:latin typeface="Avenir Book"/>
              </a:rPr>
              <a:t>196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7136" y="4599432"/>
            <a:ext cx="327355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E7480"/>
                </a:solidFill>
                <a:latin typeface="Avenir Book"/>
              </a:rPr>
              <a:t>latent dimensions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11311" y="4142232"/>
            <a:ext cx="3529584" cy="877824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11311" y="4215383"/>
            <a:ext cx="352958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C0392B"/>
                </a:solidFill>
                <a:latin typeface="Avenir Book"/>
              </a:rPr>
              <a:t>~4 %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4599432"/>
            <a:ext cx="327355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E7480"/>
                </a:solidFill>
                <a:latin typeface="Avenir Book"/>
              </a:rPr>
              <a:t>of random z decode to a valid molecule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293815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Gómez-Bombarelli et al., ACS Cent. Sci. 2018, 4, 268 — validity figures are version- and definition-dependent; see notes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The validity arms race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56082"/>
                </a:solidFill>
                <a:latin typeface="Avenir Book"/>
              </a:rPr>
              <a:t>The last two bars are won by construction, not by learning.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The model did not get better at chemistry; the output format got stricter.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234440" y="1325880"/>
          <a:ext cx="9738360" cy="2953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7370064" y="1746504"/>
            <a:ext cx="3465576" cy="0"/>
          </a:xfrm>
          <a:prstGeom prst="line">
            <a:avLst/>
          </a:prstGeom>
          <a:ln w="25400">
            <a:solidFill>
              <a:srgbClr val="1560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050024" y="1417320"/>
            <a:ext cx="410565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56082"/>
                </a:solidFill>
                <a:latin typeface="Avenir Book"/>
              </a:rPr>
              <a:t>by construction, not by learning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57400" y="1746504"/>
            <a:ext cx="5038344" cy="0"/>
          </a:xfrm>
          <a:prstGeom prst="line">
            <a:avLst/>
          </a:prstGeom>
          <a:ln w="17780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057400" y="1417320"/>
            <a:ext cx="503834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 i="1">
                <a:solidFill>
                  <a:srgbClr val="6E7480"/>
                </a:solidFill>
                <a:latin typeface="Avenir Book"/>
              </a:rPr>
              <a:t>learned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293815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Jin, Barzilay &amp; Jaakkola, ICML 2018, Table 1 · Krenn et al., Mach. Learn.: Sci. Technol. 2020, 1, 045024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Two ways to make invalidity impossible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0242E"/>
                </a:solidFill>
                <a:latin typeface="Avenir Book"/>
              </a:rPr>
              <a:t>Both guarantee </a:t>
            </a:r>
            <a:r>
              <a:rPr sz="1350" b="1" i="0">
                <a:solidFill>
                  <a:srgbClr val="156082"/>
                </a:solidFill>
                <a:latin typeface="Avenir Book"/>
              </a:rPr>
              <a:t>syntactic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validity only. A 100%-valid molecule can still be one no chemist would draw.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5394960" cy="370332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08176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56082"/>
                </a:solidFill>
                <a:latin typeface="Avenir Book"/>
              </a:rPr>
              <a:t>JT-VAE — assemble from a vocabulary of valid pieces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2098548"/>
            <a:ext cx="320716" cy="185166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920916" y="2283714"/>
            <a:ext cx="0" cy="370332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600200" y="2654046"/>
            <a:ext cx="320716" cy="185166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1279483" y="2654046"/>
            <a:ext cx="320717" cy="185166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279483" y="2283714"/>
            <a:ext cx="0" cy="370332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79483" y="2098548"/>
            <a:ext cx="320717" cy="185166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00200" y="1777593"/>
            <a:ext cx="0" cy="320955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001528" y="2654046"/>
            <a:ext cx="277955" cy="160477"/>
          </a:xfrm>
          <a:prstGeom prst="line">
            <a:avLst/>
          </a:prstGeom>
          <a:ln w="2743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395728" y="2468880"/>
            <a:ext cx="530352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2121408"/>
            <a:ext cx="548640" cy="731520"/>
          </a:xfrm>
          <a:prstGeom prst="line">
            <a:avLst/>
          </a:prstGeom>
          <a:ln w="2794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94760" y="2121408"/>
            <a:ext cx="640080" cy="758952"/>
          </a:xfrm>
          <a:prstGeom prst="line">
            <a:avLst/>
          </a:prstGeom>
          <a:ln w="2794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246120" y="2852928"/>
            <a:ext cx="594360" cy="694944"/>
          </a:xfrm>
          <a:prstGeom prst="line">
            <a:avLst/>
          </a:prstGeom>
          <a:ln w="2794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593592" y="1920239"/>
            <a:ext cx="402336" cy="40233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156082"/>
                </a:solidFill>
                <a:latin typeface="Avenir Book"/>
              </a:rPr>
              <a:t>ring</a:t>
            </a:r>
          </a:p>
        </p:txBody>
      </p:sp>
      <p:sp>
        <p:nvSpPr>
          <p:cNvPr id="22" name="Oval 21"/>
          <p:cNvSpPr/>
          <p:nvPr/>
        </p:nvSpPr>
        <p:spPr>
          <a:xfrm>
            <a:off x="3044951" y="2651760"/>
            <a:ext cx="402336" cy="40233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156082"/>
                </a:solidFill>
                <a:latin typeface="Avenir Book"/>
              </a:rPr>
              <a:t>C=O</a:t>
            </a:r>
          </a:p>
        </p:txBody>
      </p:sp>
      <p:sp>
        <p:nvSpPr>
          <p:cNvPr id="23" name="Oval 22"/>
          <p:cNvSpPr/>
          <p:nvPr/>
        </p:nvSpPr>
        <p:spPr>
          <a:xfrm>
            <a:off x="4233672" y="2679191"/>
            <a:ext cx="402336" cy="40233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156082"/>
                </a:solidFill>
                <a:latin typeface="Avenir Book"/>
              </a:rPr>
              <a:t>ring</a:t>
            </a:r>
          </a:p>
        </p:txBody>
      </p:sp>
      <p:sp>
        <p:nvSpPr>
          <p:cNvPr id="24" name="Oval 23"/>
          <p:cNvSpPr/>
          <p:nvPr/>
        </p:nvSpPr>
        <p:spPr>
          <a:xfrm>
            <a:off x="3639312" y="3346703"/>
            <a:ext cx="402336" cy="40233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156082"/>
                </a:solidFill>
                <a:latin typeface="Avenir Book"/>
              </a:rPr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3895344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1">
                <a:solidFill>
                  <a:srgbClr val="6E7480"/>
                </a:solidFill>
                <a:latin typeface="Avenir Book"/>
              </a:rPr>
              <a:t>junction tree of substructures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25112"/>
            <a:ext cx="50749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780-piece vocabulary · illegal joins are masked out during decoding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636007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56082"/>
                </a:solidFill>
                <a:latin typeface="Avenir Book"/>
              </a:rPr>
              <a:t>100 % valid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8" y="1280160"/>
            <a:ext cx="5394960" cy="370332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1408176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56082"/>
                </a:solidFill>
                <a:latin typeface="Avenir Book"/>
              </a:rPr>
              <a:t>SELFIES — a grammar that cannot fail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1847088"/>
            <a:ext cx="1133856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0242E"/>
                </a:solidFill>
                <a:latin typeface="Avenir Book"/>
              </a:rPr>
              <a:t>[F]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286000"/>
            <a:ext cx="113385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X₀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2560320"/>
            <a:ext cx="1133856" cy="402336"/>
          </a:xfrm>
          <a:prstGeom prst="roundRect">
            <a:avLst>
              <a:gd name="adj" fmla="val 16000"/>
            </a:avLst>
          </a:prstGeom>
          <a:solidFill>
            <a:srgbClr val="FDF1E8"/>
          </a:solidFill>
          <a:ln w="17780">
            <a:solidFill>
              <a:srgbClr val="FD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>
                <a:solidFill>
                  <a:srgbClr val="20242E"/>
                </a:solidFill>
                <a:latin typeface="Avenir Book"/>
              </a:rPr>
              <a:t>F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644383" y="2048255"/>
            <a:ext cx="109729" cy="0"/>
          </a:xfrm>
          <a:prstGeom prst="line">
            <a:avLst/>
          </a:prstGeom>
          <a:ln w="17780">
            <a:solidFill>
              <a:srgbClr val="6E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772400" y="1847088"/>
            <a:ext cx="1133856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0242E"/>
                </a:solidFill>
                <a:latin typeface="Avenir Book"/>
              </a:rPr>
              <a:t>[=C]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286000"/>
            <a:ext cx="113385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X₁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2560320"/>
            <a:ext cx="1133856" cy="402336"/>
          </a:xfrm>
          <a:prstGeom prst="roundRect">
            <a:avLst>
              <a:gd name="adj" fmla="val 16000"/>
            </a:avLst>
          </a:prstGeom>
          <a:solidFill>
            <a:srgbClr val="FDF1E8"/>
          </a:solidFill>
          <a:ln w="17780">
            <a:solidFill>
              <a:srgbClr val="FD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>
                <a:solidFill>
                  <a:srgbClr val="20242E"/>
                </a:solidFill>
                <a:latin typeface="Avenir Book"/>
              </a:rPr>
              <a:t>F–C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924544" y="2048255"/>
            <a:ext cx="109728" cy="0"/>
          </a:xfrm>
          <a:prstGeom prst="line">
            <a:avLst/>
          </a:prstGeom>
          <a:ln w="17780">
            <a:solidFill>
              <a:srgbClr val="6E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052559" y="1847088"/>
            <a:ext cx="1133856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0242E"/>
                </a:solidFill>
                <a:latin typeface="Avenir Book"/>
              </a:rPr>
              <a:t>[=C]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59" y="2286000"/>
            <a:ext cx="113385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X₃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59" y="2560320"/>
            <a:ext cx="1133856" cy="402336"/>
          </a:xfrm>
          <a:prstGeom prst="roundRect">
            <a:avLst>
              <a:gd name="adj" fmla="val 16000"/>
            </a:avLst>
          </a:prstGeom>
          <a:solidFill>
            <a:srgbClr val="FDF1E8"/>
          </a:solidFill>
          <a:ln w="17780">
            <a:solidFill>
              <a:srgbClr val="FD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>
                <a:solidFill>
                  <a:srgbClr val="20242E"/>
                </a:solidFill>
                <a:latin typeface="Avenir Book"/>
              </a:rPr>
              <a:t>F–C=C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204703" y="2048255"/>
            <a:ext cx="109729" cy="0"/>
          </a:xfrm>
          <a:prstGeom prst="line">
            <a:avLst/>
          </a:prstGeom>
          <a:ln w="17780">
            <a:solidFill>
              <a:srgbClr val="6E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0332719" y="1847088"/>
            <a:ext cx="1133856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20242E"/>
                </a:solidFill>
                <a:latin typeface="Avenir Book"/>
              </a:rPr>
              <a:t>[#N]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19" y="2286000"/>
            <a:ext cx="113385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X₂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32719" y="2560320"/>
            <a:ext cx="1133856" cy="402336"/>
          </a:xfrm>
          <a:prstGeom prst="roundRect">
            <a:avLst>
              <a:gd name="adj" fmla="val 16000"/>
            </a:avLst>
          </a:prstGeom>
          <a:solidFill>
            <a:srgbClr val="FDF1E8"/>
          </a:solidFill>
          <a:ln w="17780">
            <a:solidFill>
              <a:srgbClr val="FD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>
                <a:solidFill>
                  <a:srgbClr val="20242E"/>
                </a:solidFill>
                <a:latin typeface="Avenir Book"/>
              </a:rPr>
              <a:t>F–C=C=N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127248"/>
            <a:ext cx="50749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B4551F"/>
                </a:solidFill>
                <a:latin typeface="Avenir Book"/>
              </a:rPr>
              <a:t>asked for a triple bond, valence allowed only a double →  clamped, never rejected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160519"/>
            <a:ext cx="5074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100 % valid  ·  but only local valence is enforced —
not aromaticity, not ring strain, not stability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636007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56082"/>
                </a:solidFill>
                <a:latin typeface="Avenir Book"/>
              </a:rPr>
              <a:t>1 random mutation:  SMILES 9.9 %  →  SELFIES 100 % valid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The turn: validity was the easy metric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56082"/>
                </a:solidFill>
                <a:latin typeface="Avenir Book"/>
              </a:rPr>
              <a:t>Validity was easy, so it got measured; quality is hard, so it did not.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A 30-second genetic algorithm beats 8 hours of VAE + Bayesian optimisation.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61872"/>
            <a:ext cx="3529584" cy="3749039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08175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Avenir Book"/>
              </a:rPr>
              <a:t>it memorises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04672" y="1792224"/>
          <a:ext cx="3054096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9808" y="3712464"/>
            <a:ext cx="316382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31 % of what the VAE “designs”
is already in the training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7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1">
                <a:solidFill>
                  <a:srgbClr val="6E7480"/>
                </a:solidFill>
                <a:latin typeface="Avenir Book"/>
              </a:rPr>
              <a:t>MOSES benchmark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61872"/>
            <a:ext cx="3529584" cy="3749039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408175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Avenir Book"/>
              </a:rPr>
              <a:t>100 % valid ≠ good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0" y="1828800"/>
          <a:ext cx="3163824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venir Book"/>
                        </a:rPr>
                        <a:t>model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venir Book"/>
                        </a:rPr>
                        <a:t>valid %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venir Book"/>
                        </a:rPr>
                        <a:t>FCD ↓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56082"/>
                          </a:solidFill>
                          <a:latin typeface="Avenir Book"/>
                        </a:rPr>
                        <a:t>Molecule Chef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0242E"/>
                          </a:solidFill>
                          <a:latin typeface="Avenir Book"/>
                        </a:rPr>
                        <a:t>99.0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0242E"/>
                          </a:solidFill>
                          <a:latin typeface="Avenir Book"/>
                        </a:rPr>
                        <a:t>0.73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56082"/>
                          </a:solidFill>
                          <a:latin typeface="Avenir Book"/>
                        </a:rPr>
                        <a:t>CGVAE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0242E"/>
                          </a:solidFill>
                          <a:latin typeface="Avenir Book"/>
                        </a:rPr>
                        <a:t>100.0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0242E"/>
                          </a:solidFill>
                          <a:latin typeface="Avenir Book"/>
                        </a:rPr>
                        <a:t>11.73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56082"/>
                          </a:solidFill>
                          <a:latin typeface="Avenir Book"/>
                        </a:rPr>
                        <a:t>char-VAE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0242E"/>
                          </a:solidFill>
                          <a:latin typeface="Avenir Book"/>
                        </a:rPr>
                        <a:t>12.0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0242E"/>
                          </a:solidFill>
                          <a:latin typeface="Avenir Book"/>
                        </a:rPr>
                        <a:t>37.65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0" y="3566160"/>
            <a:ext cx="316382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the model with perfect validity
matches the real distribution worst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681727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1">
                <a:solidFill>
                  <a:srgbClr val="6E7480"/>
                </a:solidFill>
                <a:latin typeface="Avenir Book"/>
              </a:rPr>
              <a:t>FCD = distance to real chemistry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1" y="1261872"/>
            <a:ext cx="3529584" cy="3749039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1" y="1408175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Avenir Book"/>
              </a:rPr>
              <a:t>a genetic algorithm wins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8449055" y="1792224"/>
          <a:ext cx="3054096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8394191" y="3712464"/>
            <a:ext cx="316382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30 seconds on a laptop beats
8 hours of VAE + Bayesian opt.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1" y="4681727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1">
                <a:solidFill>
                  <a:srgbClr val="6E7480"/>
                </a:solidFill>
                <a:latin typeface="Avenir Book"/>
              </a:rPr>
              <a:t>Jensen, Chem. Sci. 2019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293815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MOSES: Polykovskiy et al., Front. Pharmacol. 2020 · Molecule Chef: Bradshaw et al., NeurIPS 2019 · Jensen, Chem. Sci. 2019, 10, 3567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Keep the encoder, throw away the decoder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56082"/>
                </a:solidFill>
                <a:latin typeface="Avenir Book"/>
              </a:rPr>
              <a:t>The decoder disappointed. The encoder became the foundation of everything after it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— pretext task in, reusable encoder 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53312"/>
            <a:ext cx="5440680" cy="347472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Avenir Book"/>
              </a:rPr>
              <a:t>as a molecule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Avenir Book"/>
              </a:rPr>
              <a:t>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029967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20242E"/>
                </a:solidFill>
                <a:latin typeface="Avenir Book"/>
              </a:rPr>
              <a:t>beaten by a graph genetic 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Avenir Book"/>
              </a:rP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505456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20242E"/>
                </a:solidFill>
                <a:latin typeface="Avenir Book"/>
              </a:rPr>
              <a:t>beaten by an ordinary SMILES LSTM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6265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Avenir Book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98094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20242E"/>
                </a:solidFill>
                <a:latin typeface="Avenir Book"/>
              </a:rPr>
              <a:t>beaten by random screening of ZINC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3814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Avenir Book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45643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20242E"/>
                </a:solidFill>
                <a:latin typeface="Avenir Book"/>
              </a:rPr>
              <a:t>only ~30 % of proposals are synthesisable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86783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6E7480"/>
                </a:solidFill>
                <a:latin typeface="Avenir Book"/>
              </a:rPr>
              <a:t>the field moved to diffusion, GAs and LLMs
(→ Thursday's lecture)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353312"/>
            <a:ext cx="5440680" cy="347472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0488" y="1517904"/>
            <a:ext cx="54406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56082"/>
                </a:solidFill>
                <a:latin typeface="Avenir Book"/>
              </a:rPr>
              <a:t>as a representation learner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0116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96B24"/>
                </a:solidFill>
                <a:latin typeface="Avenir Book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2029967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20242E"/>
                </a:solidFill>
                <a:latin typeface="Avenir Book"/>
              </a:rPr>
              <a:t>a fixed-length vector for any molecule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4871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96B24"/>
                </a:solidFill>
                <a:latin typeface="Avenir Book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2505456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20242E"/>
                </a:solidFill>
                <a:latin typeface="Avenir Book"/>
              </a:rPr>
              <a:t>trained without a single label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96265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96B24"/>
                </a:solidFill>
                <a:latin typeface="Avenir Book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8" y="2980944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20242E"/>
                </a:solidFill>
                <a:latin typeface="Avenir Book"/>
              </a:rPr>
              <a:t>a smooth space you can optimise inside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43814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96B24"/>
                </a:solidFill>
                <a:latin typeface="Avenir Book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456432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20242E"/>
                </a:solidFill>
                <a:latin typeface="Avenir Book"/>
              </a:rPr>
              <a:t>the encoder is reusable — that is the part
that survived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261103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56082"/>
                </a:solidFill>
                <a:latin typeface="Avenir Book"/>
              </a:rPr>
              <a:t>keep the encoder, throw away the decoder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148840"/>
            <a:ext cx="12191969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5200" b="0" i="0">
                <a:solidFill>
                  <a:srgbClr val="20242E"/>
                </a:solidFill>
                <a:latin typeface="Avenir Book"/>
              </a:rPr>
              <a:t>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3154680"/>
            <a:ext cx="10728929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20242E"/>
                </a:solidFill>
                <a:latin typeface="Avenir Book"/>
              </a:rPr>
              <a:t>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3977639"/>
            <a:ext cx="10728929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1">
                <a:solidFill>
                  <a:srgbClr val="6E7480"/>
                </a:solidFill>
                <a:latin typeface="Avenir Book"/>
              </a:rPr>
              <a:t>10 minutes — back for pre-training and transfer learning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00200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600" b="1" i="0">
                <a:solidFill>
                  <a:srgbClr val="FBE4D6"/>
                </a:solidFill>
                <a:latin typeface="Avenir Book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0242E"/>
                </a:solidFill>
                <a:latin typeface="Avenir Book"/>
              </a:rPr>
              <a:t>Self-supervised pre-training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862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Masked prediction and contrastive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88536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288536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Chemical language models at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90872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690872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Pre-training graph neural networks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Two ways to make the data label itself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0242E"/>
                </a:solidFill>
                <a:latin typeface="Avenir Book"/>
              </a:rPr>
              <a:t>Masked prediction teaches </a:t>
            </a:r>
            <a:r>
              <a:rPr sz="1350" b="1" i="0">
                <a:solidFill>
                  <a:srgbClr val="156082"/>
                </a:solidFill>
                <a:latin typeface="Avenir Book"/>
              </a:rPr>
              <a:t>local chemistry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; contrastive teaches </a:t>
            </a:r>
            <a:r>
              <a:rPr sz="1350" b="1" i="0">
                <a:solidFill>
                  <a:srgbClr val="156082"/>
                </a:solidFill>
                <a:latin typeface="Avenir Book"/>
              </a:rPr>
              <a:t>what to ignore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. Both need only unlabelled molecules.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5440680" cy="370332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26463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56082"/>
                </a:solidFill>
                <a:latin typeface="Avenir Book"/>
              </a:rPr>
              <a:t>A · MASKED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19072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6E7480"/>
                </a:solidFill>
                <a:latin typeface="Avenir Book"/>
              </a:rPr>
              <a:t>hide part of the molecule, predict it 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" y="2212848"/>
            <a:ext cx="49377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67028" y="2212848"/>
            <a:ext cx="49377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15668" y="2212848"/>
            <a:ext cx="49377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(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4308" y="2212848"/>
            <a:ext cx="49377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=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2948" y="2212848"/>
            <a:ext cx="493776" cy="457200"/>
          </a:xfrm>
          <a:prstGeom prst="roundRect">
            <a:avLst>
              <a:gd name="adj" fmla="val 16000"/>
            </a:avLst>
          </a:prstGeom>
          <a:solidFill>
            <a:srgbClr val="A02B93"/>
          </a:solidFill>
          <a:ln w="17780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venir Book"/>
              </a:rPr>
              <a:t>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1588" y="2212848"/>
            <a:ext cx="49377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0228" y="2212848"/>
            <a:ext cx="49377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58868" y="2212848"/>
            <a:ext cx="49377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7508" y="2212848"/>
            <a:ext cx="49377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20242E"/>
                </a:solidFill>
                <a:latin typeface="Avenir Book"/>
              </a:rPr>
              <a:t>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91840" y="2761488"/>
            <a:ext cx="0" cy="393191"/>
          </a:xfrm>
          <a:prstGeom prst="line">
            <a:avLst/>
          </a:prstGeom>
          <a:ln w="25400">
            <a:solidFill>
              <a:srgbClr val="A02B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148840" y="3182112"/>
            <a:ext cx="2286000" cy="4754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A02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A02B93"/>
                </a:solidFill>
                <a:latin typeface="Avenir Book"/>
              </a:rPr>
              <a:t>it was “O”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87367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to fill the gap the model must learn valence,
ring closure and functional-group grammar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36007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56082"/>
                </a:solidFill>
                <a:latin typeface="Avenir Book"/>
              </a:rPr>
              <a:t>ChemBERTa · MoLFormer · attribute masking on graphs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1280160"/>
            <a:ext cx="5440680" cy="370332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90488" y="1426463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56082"/>
                </a:solidFill>
                <a:latin typeface="Avenir Book"/>
              </a:rPr>
              <a:t>B · CONTRASTIVE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1719072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6E7480"/>
                </a:solidFill>
                <a:latin typeface="Avenir Book"/>
              </a:rPr>
              <a:t>two damaged views of one molecule must agree</a:t>
            </a:r>
          </a:p>
        </p:txBody>
      </p:sp>
      <p:sp>
        <p:nvSpPr>
          <p:cNvPr id="26" name="Oval 25"/>
          <p:cNvSpPr/>
          <p:nvPr/>
        </p:nvSpPr>
        <p:spPr>
          <a:xfrm>
            <a:off x="7059168" y="2048255"/>
            <a:ext cx="914400" cy="80467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7516368" y="2217420"/>
            <a:ext cx="201932" cy="116586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718300" y="2334006"/>
            <a:ext cx="0" cy="233171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516368" y="2567177"/>
            <a:ext cx="201932" cy="116586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7314435" y="2567177"/>
            <a:ext cx="201933" cy="116586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314435" y="2334006"/>
            <a:ext cx="0" cy="233171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314435" y="2217420"/>
            <a:ext cx="201933" cy="116586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516368" y="2015337"/>
            <a:ext cx="0" cy="202083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139426" y="2567177"/>
            <a:ext cx="175009" cy="101042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327648" y="2331720"/>
            <a:ext cx="6949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view 1</a:t>
            </a:r>
          </a:p>
        </p:txBody>
      </p:sp>
      <p:sp>
        <p:nvSpPr>
          <p:cNvPr id="36" name="Oval 35"/>
          <p:cNvSpPr/>
          <p:nvPr/>
        </p:nvSpPr>
        <p:spPr>
          <a:xfrm>
            <a:off x="7059168" y="3127248"/>
            <a:ext cx="914400" cy="80467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7516368" y="3296412"/>
            <a:ext cx="201932" cy="116586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18300" y="3412998"/>
            <a:ext cx="0" cy="233172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516368" y="3646170"/>
            <a:ext cx="201932" cy="116586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7314435" y="3646170"/>
            <a:ext cx="201933" cy="116586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314435" y="3412998"/>
            <a:ext cx="0" cy="233172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314435" y="3296412"/>
            <a:ext cx="201933" cy="116586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516368" y="3762756"/>
            <a:ext cx="0" cy="202082"/>
          </a:xfrm>
          <a:prstGeom prst="line">
            <a:avLst/>
          </a:prstGeom>
          <a:ln w="17272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327648" y="3410712"/>
            <a:ext cx="6949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view 2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174736" y="2651760"/>
            <a:ext cx="0" cy="694943"/>
          </a:xfrm>
          <a:prstGeom prst="line">
            <a:avLst/>
          </a:prstGeom>
          <a:ln w="30480">
            <a:solidFill>
              <a:srgbClr val="196B2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174736" y="2651760"/>
            <a:ext cx="0" cy="694943"/>
          </a:xfrm>
          <a:prstGeom prst="line">
            <a:avLst/>
          </a:prstGeom>
          <a:ln w="30480">
            <a:solidFill>
              <a:srgbClr val="196B2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266175" y="2834639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96B24"/>
                </a:solidFill>
                <a:latin typeface="Avenir Book"/>
              </a:rPr>
              <a:t>pull
together</a:t>
            </a:r>
          </a:p>
        </p:txBody>
      </p:sp>
      <p:sp>
        <p:nvSpPr>
          <p:cNvPr id="48" name="Oval 47"/>
          <p:cNvSpPr/>
          <p:nvPr/>
        </p:nvSpPr>
        <p:spPr>
          <a:xfrm>
            <a:off x="10314432" y="2578608"/>
            <a:ext cx="914400" cy="80467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9DC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" name="Connector 48"/>
          <p:cNvCxnSpPr/>
          <p:nvPr/>
        </p:nvCxnSpPr>
        <p:spPr>
          <a:xfrm>
            <a:off x="10771632" y="2747772"/>
            <a:ext cx="201932" cy="116586"/>
          </a:xfrm>
          <a:prstGeom prst="line">
            <a:avLst/>
          </a:prstGeom>
          <a:ln w="17272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973564" y="2864358"/>
            <a:ext cx="0" cy="233171"/>
          </a:xfrm>
          <a:prstGeom prst="line">
            <a:avLst/>
          </a:prstGeom>
          <a:ln w="17272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0771632" y="3097529"/>
            <a:ext cx="201932" cy="116586"/>
          </a:xfrm>
          <a:prstGeom prst="line">
            <a:avLst/>
          </a:prstGeom>
          <a:ln w="17272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10569699" y="3097529"/>
            <a:ext cx="201933" cy="116586"/>
          </a:xfrm>
          <a:prstGeom prst="line">
            <a:avLst/>
          </a:prstGeom>
          <a:ln w="17272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569699" y="2864358"/>
            <a:ext cx="0" cy="233171"/>
          </a:xfrm>
          <a:prstGeom prst="line">
            <a:avLst/>
          </a:prstGeom>
          <a:ln w="17272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569699" y="2747772"/>
            <a:ext cx="201933" cy="116586"/>
          </a:xfrm>
          <a:prstGeom prst="line">
            <a:avLst/>
          </a:prstGeom>
          <a:ln w="17272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10394690" y="3097529"/>
            <a:ext cx="175009" cy="101042"/>
          </a:xfrm>
          <a:prstGeom prst="line">
            <a:avLst/>
          </a:prstGeom>
          <a:ln w="17272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973564" y="3097529"/>
            <a:ext cx="175009" cy="101042"/>
          </a:xfrm>
          <a:prstGeom prst="line">
            <a:avLst/>
          </a:prstGeom>
          <a:ln w="17272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973564" y="3097529"/>
            <a:ext cx="175009" cy="101042"/>
          </a:xfrm>
          <a:prstGeom prst="line">
            <a:avLst/>
          </a:prstGeom>
          <a:ln w="17272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0222992" y="3493008"/>
            <a:ext cx="1097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a different
molecule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290304" y="2980944"/>
            <a:ext cx="950976" cy="0"/>
          </a:xfrm>
          <a:prstGeom prst="line">
            <a:avLst/>
          </a:prstGeom>
          <a:ln w="2794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125712" y="26334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C0392B"/>
                </a:solidFill>
                <a:latin typeface="Avenir Book"/>
              </a:rPr>
              <a:t>push apart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5080" y="4636007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56082"/>
                </a:solidFill>
                <a:latin typeface="Avenir Book"/>
              </a:rPr>
              <a:t>MolCLR · GraphCL · InfoMax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Choosing augmentations is choosing your chemistry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3529584" cy="34747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472184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56082"/>
                </a:solidFill>
                <a:latin typeface="Avenir Book"/>
              </a:rPr>
              <a:t>atom masking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64792"/>
            <a:ext cx="3529584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replace an atom type
with a dummy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764791" y="2606039"/>
            <a:ext cx="566929" cy="338329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331720" y="2606039"/>
            <a:ext cx="566928" cy="338329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764791" y="2944368"/>
            <a:ext cx="182881" cy="640080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715768" y="2944368"/>
            <a:ext cx="182880" cy="640080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947672" y="3584448"/>
            <a:ext cx="768096" cy="0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234439" y="2944368"/>
            <a:ext cx="530352" cy="256032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898648" y="2944368"/>
            <a:ext cx="530352" cy="292608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194560" y="2468879"/>
            <a:ext cx="274320" cy="274320"/>
          </a:xfrm>
          <a:prstGeom prst="ellipse">
            <a:avLst/>
          </a:prstGeom>
          <a:solidFill>
            <a:srgbClr val="156082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627631" y="2807208"/>
            <a:ext cx="274320" cy="274320"/>
          </a:xfrm>
          <a:prstGeom prst="ellipse">
            <a:avLst/>
          </a:prstGeom>
          <a:solidFill>
            <a:srgbClr val="156082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761488" y="2807208"/>
            <a:ext cx="274320" cy="274320"/>
          </a:xfrm>
          <a:prstGeom prst="ellipse">
            <a:avLst/>
          </a:prstGeom>
          <a:solidFill>
            <a:srgbClr val="156082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10512" y="3447288"/>
            <a:ext cx="274320" cy="274320"/>
          </a:xfrm>
          <a:prstGeom prst="ellipse">
            <a:avLst/>
          </a:prstGeom>
          <a:solidFill>
            <a:srgbClr val="156082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578608" y="3447288"/>
            <a:ext cx="274320" cy="274320"/>
          </a:xfrm>
          <a:prstGeom prst="ellipse">
            <a:avLst/>
          </a:prstGeom>
          <a:solidFill>
            <a:srgbClr val="156082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78992" y="3044952"/>
            <a:ext cx="310896" cy="310896"/>
          </a:xfrm>
          <a:prstGeom prst="ellipse">
            <a:avLst/>
          </a:prstGeom>
          <a:solidFill>
            <a:srgbClr val="C0392B"/>
          </a:solidFill>
          <a:ln w="177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venir Book"/>
              </a:rPr>
              <a:t>?</a:t>
            </a:r>
          </a:p>
        </p:txBody>
      </p:sp>
      <p:sp>
        <p:nvSpPr>
          <p:cNvPr id="21" name="Oval 20"/>
          <p:cNvSpPr/>
          <p:nvPr/>
        </p:nvSpPr>
        <p:spPr>
          <a:xfrm>
            <a:off x="3291840" y="3099816"/>
            <a:ext cx="274320" cy="274320"/>
          </a:xfrm>
          <a:prstGeom prst="ellipse">
            <a:avLst/>
          </a:prstGeom>
          <a:solidFill>
            <a:srgbClr val="156082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89120" y="1325880"/>
            <a:ext cx="3529584" cy="34747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1472184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56082"/>
                </a:solidFill>
                <a:latin typeface="Avenir Book"/>
              </a:rPr>
              <a:t>bond deletion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1764792"/>
            <a:ext cx="3529584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drop a bond,
keep the atoms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586983" y="2606039"/>
            <a:ext cx="566929" cy="338329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53912" y="2606039"/>
            <a:ext cx="566928" cy="338329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586983" y="2944368"/>
            <a:ext cx="182881" cy="640080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6537959" y="2944368"/>
            <a:ext cx="182881" cy="640080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69864" y="3584448"/>
            <a:ext cx="768095" cy="0"/>
          </a:xfrm>
          <a:prstGeom prst="line">
            <a:avLst/>
          </a:prstGeom>
          <a:ln w="25400">
            <a:solidFill>
              <a:srgbClr val="C039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5056631" y="2944368"/>
            <a:ext cx="530352" cy="256032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720840" y="2944368"/>
            <a:ext cx="530352" cy="292608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016751" y="2468879"/>
            <a:ext cx="274320" cy="274320"/>
          </a:xfrm>
          <a:prstGeom prst="ellipse">
            <a:avLst/>
          </a:prstGeom>
          <a:solidFill>
            <a:srgbClr val="156082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449823" y="2807208"/>
            <a:ext cx="274320" cy="274320"/>
          </a:xfrm>
          <a:prstGeom prst="ellipse">
            <a:avLst/>
          </a:prstGeom>
          <a:solidFill>
            <a:srgbClr val="156082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583679" y="2807208"/>
            <a:ext cx="274320" cy="274320"/>
          </a:xfrm>
          <a:prstGeom prst="ellipse">
            <a:avLst/>
          </a:prstGeom>
          <a:solidFill>
            <a:srgbClr val="156082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632703" y="3447288"/>
            <a:ext cx="274320" cy="274320"/>
          </a:xfrm>
          <a:prstGeom prst="ellipse">
            <a:avLst/>
          </a:prstGeom>
          <a:solidFill>
            <a:srgbClr val="156082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400799" y="3447288"/>
            <a:ext cx="274320" cy="274320"/>
          </a:xfrm>
          <a:prstGeom prst="ellipse">
            <a:avLst/>
          </a:prstGeom>
          <a:solidFill>
            <a:srgbClr val="156082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919471" y="3063240"/>
            <a:ext cx="274320" cy="274320"/>
          </a:xfrm>
          <a:prstGeom prst="ellipse">
            <a:avLst/>
          </a:prstGeom>
          <a:solidFill>
            <a:srgbClr val="156082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114031" y="3099816"/>
            <a:ext cx="274320" cy="274320"/>
          </a:xfrm>
          <a:prstGeom prst="ellipse">
            <a:avLst/>
          </a:prstGeom>
          <a:solidFill>
            <a:srgbClr val="156082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211311" y="1325880"/>
            <a:ext cx="3529584" cy="34747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11311" y="1472184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56082"/>
                </a:solidFill>
                <a:latin typeface="Avenir Book"/>
              </a:rPr>
              <a:t>subgraph removal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1" y="1764792"/>
            <a:ext cx="3529584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delete a whole
connected region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9409176" y="2606039"/>
            <a:ext cx="566927" cy="338329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976103" y="2606039"/>
            <a:ext cx="566928" cy="338329"/>
          </a:xfrm>
          <a:prstGeom prst="line">
            <a:avLst/>
          </a:prstGeom>
          <a:ln w="25400">
            <a:solidFill>
              <a:srgbClr val="C039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409176" y="2944368"/>
            <a:ext cx="182879" cy="640080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10360151" y="2944368"/>
            <a:ext cx="182880" cy="640080"/>
          </a:xfrm>
          <a:prstGeom prst="line">
            <a:avLst/>
          </a:prstGeom>
          <a:ln w="25400">
            <a:solidFill>
              <a:srgbClr val="C039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592055" y="3584448"/>
            <a:ext cx="768096" cy="0"/>
          </a:xfrm>
          <a:prstGeom prst="line">
            <a:avLst/>
          </a:prstGeom>
          <a:ln w="25400">
            <a:solidFill>
              <a:srgbClr val="C039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8878824" y="2944368"/>
            <a:ext cx="530352" cy="256032"/>
          </a:xfrm>
          <a:prstGeom prst="line">
            <a:avLst/>
          </a:prstGeom>
          <a:ln w="25400">
            <a:solidFill>
              <a:srgbClr val="D9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543031" y="2944368"/>
            <a:ext cx="530352" cy="292608"/>
          </a:xfrm>
          <a:prstGeom prst="line">
            <a:avLst/>
          </a:prstGeom>
          <a:ln w="25400">
            <a:solidFill>
              <a:srgbClr val="C039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9838943" y="2468879"/>
            <a:ext cx="274320" cy="274320"/>
          </a:xfrm>
          <a:prstGeom prst="ellipse">
            <a:avLst/>
          </a:prstGeom>
          <a:solidFill>
            <a:srgbClr val="156082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272015" y="2807208"/>
            <a:ext cx="274320" cy="274320"/>
          </a:xfrm>
          <a:prstGeom prst="ellipse">
            <a:avLst/>
          </a:prstGeom>
          <a:solidFill>
            <a:srgbClr val="156082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0405871" y="2807208"/>
            <a:ext cx="274320" cy="2743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9454895" y="3447288"/>
            <a:ext cx="274320" cy="274320"/>
          </a:xfrm>
          <a:prstGeom prst="ellipse">
            <a:avLst/>
          </a:prstGeom>
          <a:solidFill>
            <a:srgbClr val="156082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222991" y="3447288"/>
            <a:ext cx="274320" cy="2743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741663" y="3063240"/>
            <a:ext cx="274320" cy="274320"/>
          </a:xfrm>
          <a:prstGeom prst="ellipse">
            <a:avLst/>
          </a:prstGeom>
          <a:solidFill>
            <a:srgbClr val="156082"/>
          </a:solidFill>
          <a:ln w="1778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0936223" y="3099816"/>
            <a:ext cx="274320" cy="2743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66928" y="4928616"/>
            <a:ext cx="1105811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Avenir Book"/>
              </a:rPr>
              <a:t>ablation: subgraph removal alone works best — combining all three destroys too much topology, and on BBBP it makes things worse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6293815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Wang, Wang, Cao &amp; Barati Farimani, Nat. Mach. Intell. 2022, 4, 279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Scale helps — until it doesn't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56082"/>
                </a:solidFill>
                <a:latin typeface="Avenir Book"/>
              </a:rPr>
              <a:t>Corpus composition beats corpus size.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A 15× bigger corpus made ClinTox substantially worse; a smaller, more diverse one beat a bigger, narrower one.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554480"/>
          <a:ext cx="5577840" cy="2834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019039" y="34160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20242E"/>
                </a:solidFill>
                <a:latin typeface="Avenir Book"/>
              </a:rPr>
              <a:t>ChemBERTa
10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0277" y="1299933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20242E"/>
                </a:solidFill>
                <a:latin typeface="Avenir Book"/>
              </a:rPr>
              <a:t>MoLFormer-XL
1.1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98448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56082"/>
                </a:solidFill>
                <a:latin typeface="Avenir Book"/>
              </a:rPr>
              <a:t>scale helps…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26279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1.1 B SMILES on 16 GPUs — linear attention made it affordable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280160"/>
            <a:ext cx="5047488" cy="370332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371600"/>
            <a:ext cx="504748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Avenir Book"/>
              </a:rPr>
              <a:t>…until it doesn't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858000" y="1755648"/>
          <a:ext cx="45262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784848" y="4325112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ChemBERTa-2, masked-LM: a 15× bigger corpus made this task worse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4654295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C0392B"/>
                </a:solidFill>
                <a:latin typeface="Avenir Book"/>
              </a:rPr>
              <a:t>corpus composition matters more than corpus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293815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Ross et al., Nat. Mach. Intell. 2022, 4, 1256 · Ahmad et al., arXiv:2209.01712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300">
                <a:solidFill>
                  <a:srgbClr val="20242E"/>
                </a:solidFill>
                <a:latin typeface="Avenir Book"/>
              </a:rPr>
              <a:t>Pre-training GNNs: local and global, or negative transfer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0242E"/>
                </a:solidFill>
                <a:latin typeface="Avenir Book"/>
              </a:rPr>
              <a:t>“We pre-trained it” guarantees nothing. </a:t>
            </a:r>
            <a:r>
              <a:rPr sz="1350" b="1" i="0">
                <a:solidFill>
                  <a:srgbClr val="156082"/>
                </a:solidFill>
                <a:latin typeface="Avenir Book"/>
              </a:rPr>
              <a:t>Pre-training a weaker architecture cost 6.5 points of ROC-AUC.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481328"/>
          <a:ext cx="658368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663440" y="1463039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96B24"/>
                </a:solidFill>
                <a:latin typeface="Avenir Book"/>
              </a:rPr>
              <a:t>+7.2 over no pre-training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481328"/>
            <a:ext cx="3813048" cy="297180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79" y="1627631"/>
            <a:ext cx="3538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C0392B"/>
                </a:solidFill>
                <a:latin typeface="Avenir Book"/>
              </a:rPr>
              <a:t>the same recipe, different backbone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084831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9800" y="2121408"/>
            <a:ext cx="1193292" cy="219456"/>
          </a:xfrm>
          <a:prstGeom prst="roundRect">
            <a:avLst>
              <a:gd name="adj" fmla="val 16000"/>
            </a:avLst>
          </a:prstGeom>
          <a:solidFill>
            <a:srgbClr val="196B24"/>
          </a:solidFill>
          <a:ln w="1778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018520" y="2084831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96B24"/>
                </a:solidFill>
                <a:latin typeface="Avenir Book"/>
              </a:rPr>
              <a:t>+7.2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603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GCN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2596896"/>
            <a:ext cx="563499" cy="219456"/>
          </a:xfrm>
          <a:prstGeom prst="roundRect">
            <a:avLst>
              <a:gd name="adj" fmla="val 16000"/>
            </a:avLst>
          </a:prstGeom>
          <a:solidFill>
            <a:srgbClr val="196B24"/>
          </a:solidFill>
          <a:ln w="1778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018520" y="25603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96B24"/>
                </a:solidFill>
                <a:latin typeface="Avenir Book"/>
              </a:rPr>
              <a:t>+3.4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03580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GraphSAGE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3072384"/>
            <a:ext cx="331470" cy="219456"/>
          </a:xfrm>
          <a:prstGeom prst="roundRect">
            <a:avLst>
              <a:gd name="adj" fmla="val 16000"/>
            </a:avLst>
          </a:prstGeom>
          <a:solidFill>
            <a:srgbClr val="196B24"/>
          </a:solidFill>
          <a:ln w="1778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018520" y="303580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96B24"/>
                </a:solidFill>
                <a:latin typeface="Avenir Book"/>
              </a:rPr>
              <a:t>+2.0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51129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20242E"/>
                </a:solidFill>
                <a:latin typeface="Avenir Book"/>
              </a:rPr>
              <a:t>GAT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52522" y="3547872"/>
            <a:ext cx="1077277" cy="219456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 w="177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018520" y="351129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C0392B"/>
                </a:solidFill>
                <a:latin typeface="Avenir Book"/>
              </a:rPr>
              <a:t>-6.5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29800" y="2048255"/>
            <a:ext cx="0" cy="1901953"/>
          </a:xfrm>
          <a:prstGeom prst="line">
            <a:avLst/>
          </a:prstGeom>
          <a:ln w="12700">
            <a:solidFill>
              <a:srgbClr val="6E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955279" y="4123944"/>
            <a:ext cx="353872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pre-training a weaker architecture actively hurts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93815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Hu et al., ICLR 2020, arXiv:1905.12265 — chemistry average; the +9.4% in the abstract is the biology result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00200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600" b="1" i="0">
                <a:solidFill>
                  <a:srgbClr val="FBE4D6"/>
                </a:solidFill>
                <a:latin typeface="Avenir Book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0242E"/>
                </a:solidFill>
                <a:latin typeface="Avenir Book"/>
              </a:rPr>
              <a:t>Transfer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862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Pre-train once, fine-tune many times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88536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288536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Frozen, partial, full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90872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690872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Where it genuinely pays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The recipe: pre-train once, fine-tune many times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0242E"/>
                </a:solidFill>
                <a:latin typeface="Avenir Book"/>
              </a:rPr>
              <a:t>The expensive half is </a:t>
            </a:r>
            <a:r>
              <a:rPr sz="1350" b="1" i="0">
                <a:solidFill>
                  <a:srgbClr val="156082"/>
                </a:solidFill>
                <a:latin typeface="Avenir Book"/>
              </a:rPr>
              <a:t>amortised across the whole community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. You are buying a billion molecules' worth of chemistry for a coffee break.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61872"/>
            <a:ext cx="5532120" cy="3749039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08175"/>
            <a:ext cx="5532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56082"/>
                </a:solidFill>
                <a:latin typeface="Avenir Book"/>
              </a:rPr>
              <a:t>STAGE 1 · PRE-TRAIN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5532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once, by someone with a GPU cluster</a:t>
            </a:r>
          </a:p>
        </p:txBody>
      </p:sp>
      <p:sp>
        <p:nvSpPr>
          <p:cNvPr id="10" name="Oval 9"/>
          <p:cNvSpPr/>
          <p:nvPr/>
        </p:nvSpPr>
        <p:spPr>
          <a:xfrm>
            <a:off x="868679" y="2020824"/>
            <a:ext cx="2011680" cy="13167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5608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900318" y="2353306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537777" y="2390285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041535" y="2619999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33667" y="2612241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226713" y="3000978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838734" y="2655919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811223" y="2646682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545980" y="2475377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628827" y="2399371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782925" y="2649598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104328" y="2926377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860990" y="2968659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290110" y="2771576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249670" y="2408715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407641" y="2325093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339706" y="2920364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409076" y="2603450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418462" y="3014158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129366" y="2427360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495031" y="2887059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377978" y="3018593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184572" y="2739356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906260" y="3103358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497397" y="2796755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849099" y="3098426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400470" y="2448399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31997" y="2664919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363347" y="2391805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906876" y="2751885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730754" y="2182965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625389" y="3023622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2030132" y="2373635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975324" y="2161113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877673" y="2654732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925401" y="2263431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2211558" y="2353372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410026" y="2724345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861901" y="2554402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507796" y="2569061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269247" y="2414656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2097646" y="2501440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449304" y="2721678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307625" y="2763661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914168" y="2669088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2375189" y="2452806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943586" y="3099767"/>
            <a:ext cx="82296" cy="8229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05840" y="3438144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0242E"/>
                </a:solidFill>
                <a:latin typeface="Avenir Book"/>
              </a:rPr>
              <a:t>10⁶ – 10⁹ molecules
no labels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017520" y="2679191"/>
            <a:ext cx="548640" cy="0"/>
          </a:xfrm>
          <a:prstGeom prst="line">
            <a:avLst/>
          </a:prstGeom>
          <a:ln w="2413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rapezoid 58"/>
          <p:cNvSpPr/>
          <p:nvPr/>
        </p:nvSpPr>
        <p:spPr>
          <a:xfrm rot="16200000">
            <a:off x="3913632" y="2103120"/>
            <a:ext cx="1417320" cy="1170432"/>
          </a:xfrm>
          <a:prstGeom prst="trapezoid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858768" y="254203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venir Book"/>
              </a:rPr>
              <a:t>encoder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94760" y="343814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56082"/>
                </a:solidFill>
                <a:latin typeface="Avenir Book"/>
              </a:rPr>
              <a:t>weights worth keeping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" y="4590288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days of compute · done once · downloaded by everyone</a:t>
            </a:r>
          </a:p>
        </p:txBody>
      </p:sp>
      <p:sp>
        <p:nvSpPr>
          <p:cNvPr id="63" name="Chevron 62"/>
          <p:cNvSpPr/>
          <p:nvPr/>
        </p:nvSpPr>
        <p:spPr>
          <a:xfrm>
            <a:off x="6163056" y="2505456"/>
            <a:ext cx="1325880" cy="676656"/>
          </a:xfrm>
          <a:prstGeom prst="chevron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venir Book"/>
              </a:rPr>
              <a:t>reuse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059168" y="1261872"/>
            <a:ext cx="4572000" cy="3749039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059168" y="1408175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B4551F"/>
                </a:solidFill>
                <a:latin typeface="Avenir Book"/>
              </a:rPr>
              <a:t>STAGE 2 · FINE-TUNE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59168" y="170078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many times, by you, on a laptop</a:t>
            </a:r>
          </a:p>
        </p:txBody>
      </p:sp>
      <p:sp>
        <p:nvSpPr>
          <p:cNvPr id="67" name="Trapezoid 66"/>
          <p:cNvSpPr/>
          <p:nvPr/>
        </p:nvSpPr>
        <p:spPr>
          <a:xfrm rot="16200000">
            <a:off x="7589520" y="2103120"/>
            <a:ext cx="1280160" cy="1097280"/>
          </a:xfrm>
          <a:prstGeom prst="trapezoid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534656" y="250545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venir Book"/>
              </a:rPr>
              <a:t>encoder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052560" y="2651760"/>
            <a:ext cx="475488" cy="0"/>
          </a:xfrm>
          <a:prstGeom prst="line">
            <a:avLst/>
          </a:prstGeom>
          <a:ln w="22860">
            <a:solidFill>
              <a:srgbClr val="2024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9601200" y="2359152"/>
            <a:ext cx="1417320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B4551F"/>
                </a:solidFill>
                <a:latin typeface="Avenir Book"/>
              </a:rPr>
              <a:t>your</a:t>
            </a:r>
          </a:p>
          <a:p>
            <a:pPr algn="ctr"/>
            <a:r>
              <a:rPr sz="1050" b="1">
                <a:solidFill>
                  <a:srgbClr val="B4551F"/>
                </a:solidFill>
                <a:latin typeface="Avenir Book"/>
              </a:rPr>
              <a:t>head</a:t>
            </a:r>
          </a:p>
        </p:txBody>
      </p:sp>
      <p:sp>
        <p:nvSpPr>
          <p:cNvPr id="71" name="Oval 70"/>
          <p:cNvSpPr/>
          <p:nvPr/>
        </p:nvSpPr>
        <p:spPr>
          <a:xfrm>
            <a:off x="7894745" y="3506244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8149540" y="3821985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7986773" y="3631308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8041649" y="3773254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7971034" y="3752580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8405864" y="3524191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7754136" y="3753332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8119211" y="3776920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8024219" y="3668337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7817362" y="3692455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165864" y="3754612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360920" y="393192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0242E"/>
                </a:solidFill>
                <a:latin typeface="Avenir Book"/>
              </a:rPr>
              <a:t>10² – 10³ labelled
molecules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418320" y="39319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B4551F"/>
                </a:solidFill>
                <a:latin typeface="Avenir Book"/>
              </a:rPr>
              <a:t>minutes of compute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Three knobs — pick by your dataset size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56082"/>
                </a:solidFill>
                <a:latin typeface="Avenir Book"/>
              </a:rPr>
              <a:t>Always run the frozen probe first.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Two minutes, no risk, and it tells you whether the representation contains anything useful for your task.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61872"/>
            <a:ext cx="3529584" cy="3749039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08175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20242E"/>
                </a:solidFill>
                <a:latin typeface="Avenir Book"/>
              </a:rPr>
              <a:t>FROZEN  (linear probe)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44168" y="1828800"/>
            <a:ext cx="1975104" cy="384048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6E7480"/>
                </a:solidFill>
                <a:latin typeface="Avenir Book"/>
              </a:rPr>
              <a:t>frozen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44168" y="2304288"/>
            <a:ext cx="1975104" cy="384048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6E7480"/>
                </a:solidFill>
                <a:latin typeface="Avenir Book"/>
              </a:rPr>
              <a:t>frozen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44168" y="2779776"/>
            <a:ext cx="1975104" cy="384048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6E7480"/>
                </a:solidFill>
                <a:latin typeface="Avenir Book"/>
              </a:rPr>
              <a:t>frozen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44168" y="3255264"/>
            <a:ext cx="1975104" cy="38404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venir Book"/>
              </a:rPr>
              <a:t>trained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749039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input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7" y="4041648"/>
            <a:ext cx="2980944" cy="402336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4096511"/>
            <a:ext cx="2980944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56082"/>
                </a:solidFill>
                <a:latin typeface="Avenir Book"/>
              </a:rPr>
              <a:t>10 – 500 labels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517136"/>
            <a:ext cx="316382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fast · impossible to overfit the encoder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261872"/>
            <a:ext cx="3529584" cy="3749039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1408175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20242E"/>
                </a:solidFill>
                <a:latin typeface="Avenir Book"/>
              </a:rPr>
              <a:t>PARTIAL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59" y="1828800"/>
            <a:ext cx="1975104" cy="384048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6E7480"/>
                </a:solidFill>
                <a:latin typeface="Avenir Book"/>
              </a:rPr>
              <a:t>frozen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59" y="2304288"/>
            <a:ext cx="1975104" cy="384048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0">
                <a:solidFill>
                  <a:srgbClr val="6E7480"/>
                </a:solidFill>
                <a:latin typeface="Avenir Book"/>
              </a:rPr>
              <a:t>frozen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6359" y="2779776"/>
            <a:ext cx="1975104" cy="38404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venir Book"/>
              </a:rPr>
              <a:t>trained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66359" y="3255264"/>
            <a:ext cx="1975104" cy="38404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venir Book"/>
              </a:rPr>
              <a:t>trained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749039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input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4041648"/>
            <a:ext cx="2980944" cy="402336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3440" y="4096511"/>
            <a:ext cx="2980944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56082"/>
                </a:solidFill>
                <a:latin typeface="Avenir Book"/>
              </a:rPr>
              <a:t>500 – 5,000 labels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517136"/>
            <a:ext cx="316382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unfreeze the top layers only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11311" y="1261872"/>
            <a:ext cx="3529584" cy="3749039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11311" y="1408175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20242E"/>
                </a:solidFill>
                <a:latin typeface="Avenir Book"/>
              </a:rPr>
              <a:t>FULL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8551" y="1828800"/>
            <a:ext cx="1975104" cy="38404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venir Book"/>
              </a:rPr>
              <a:t>trained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88551" y="2304288"/>
            <a:ext cx="1975104" cy="38404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venir Book"/>
              </a:rPr>
              <a:t>trained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8551" y="2779776"/>
            <a:ext cx="1975104" cy="38404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venir Book"/>
              </a:rPr>
              <a:t>trained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88551" y="3255264"/>
            <a:ext cx="1975104" cy="384048"/>
          </a:xfrm>
          <a:prstGeom prst="roundRect">
            <a:avLst>
              <a:gd name="adj" fmla="val 16000"/>
            </a:avLst>
          </a:prstGeom>
          <a:solidFill>
            <a:srgbClr val="E97132"/>
          </a:solidFill>
          <a:ln w="1778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venir Book"/>
              </a:rPr>
              <a:t>trained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3749039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E7480"/>
                </a:solidFill>
                <a:latin typeface="Avenir Book"/>
              </a:rPr>
              <a:t>input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85632" y="4041648"/>
            <a:ext cx="2980944" cy="402336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85632" y="4096511"/>
            <a:ext cx="2980944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56082"/>
                </a:solidFill>
                <a:latin typeface="Avenir Book"/>
              </a:rPr>
              <a:t>&gt; 5,000 labels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1" y="4517136"/>
            <a:ext cx="316382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best ceiling · needs a small learning rate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Where pre-training genuinely pays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56082"/>
                </a:solidFill>
                <a:latin typeface="Avenir Book"/>
              </a:rPr>
              <a:t>Pre-training is a prior: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worth 3× when you have ~100 labels, worth nothing by ~1,000, and occasionally worth less than nothing.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499616"/>
          <a:ext cx="690372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2127756" y="1627632"/>
            <a:ext cx="0" cy="2843784"/>
          </a:xfrm>
          <a:prstGeom prst="line">
            <a:avLst/>
          </a:prstGeom>
          <a:ln w="15240">
            <a:solidFill>
              <a:srgbClr val="6E748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433533" y="1627632"/>
            <a:ext cx="0" cy="2843784"/>
          </a:xfrm>
          <a:prstGeom prst="line">
            <a:avLst/>
          </a:prstGeom>
          <a:ln w="15240">
            <a:solidFill>
              <a:srgbClr val="6E748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02077" y="21308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 dirty="0">
                <a:solidFill>
                  <a:srgbClr val="196B24"/>
                </a:solidFill>
                <a:latin typeface="Avenir Book"/>
              </a:rPr>
              <a:t>3× better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3148225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 dirty="0">
                <a:solidFill>
                  <a:srgbClr val="C0392B"/>
                </a:solidFill>
                <a:latin typeface="Avenir Book"/>
              </a:rPr>
              <a:t>gap has closed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0516" y="45079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E7480"/>
                </a:solidFill>
                <a:latin typeface="Avenir Book"/>
              </a:rPr>
              <a:t>~100 molecules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426464"/>
            <a:ext cx="3630168" cy="3410712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1572768"/>
            <a:ext cx="335584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56082"/>
                </a:solidFill>
                <a:latin typeface="Avenir Book"/>
              </a:rPr>
              <a:t>the whole lecture
in one plot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37744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395728"/>
            <a:ext cx="2971800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0242E"/>
                </a:solidFill>
                <a:latin typeface="Avenir Book"/>
              </a:rPr>
              <a:t>Pre-training buys you data
you do not have.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82112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3200400"/>
            <a:ext cx="2971800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 dirty="0">
                <a:solidFill>
                  <a:srgbClr val="20242E"/>
                </a:solidFill>
                <a:latin typeface="Avenir Book"/>
              </a:rPr>
              <a:t>Its value is largest when
you have almost nothing.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986784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4005072"/>
            <a:ext cx="2971800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 dirty="0">
                <a:solidFill>
                  <a:srgbClr val="20242E"/>
                </a:solidFill>
                <a:latin typeface="Avenir Book"/>
              </a:rPr>
              <a:t>It decays to zero — and for
¹³C it went negative — once
you have ~1,000 labels.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293815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Han &amp; Choi, J. Phys. Chem. Lett. 2021, 12, 3662 — ¹H MAE vs experimental training-set size (SI Table S2)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The same shape, in three different fields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0242E"/>
                </a:solidFill>
                <a:latin typeface="Avenir Book"/>
              </a:rPr>
              <a:t>Different fields, different architectures, </a:t>
            </a:r>
            <a:r>
              <a:rPr sz="1350" b="1" i="0">
                <a:solidFill>
                  <a:srgbClr val="156082"/>
                </a:solidFill>
                <a:latin typeface="Avenir Book"/>
              </a:rPr>
              <a:t>the same shape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— the value of pre-training is concentrated where labels are most expensive.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3529584" cy="370332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63039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56082"/>
                </a:solidFill>
                <a:latin typeface="Avenir Book"/>
              </a:rPr>
              <a:t>REACTION YIELD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38528"/>
            <a:ext cx="3529584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5400" b="1" i="0">
                <a:solidFill>
                  <a:srgbClr val="E97132"/>
                </a:solidFill>
                <a:latin typeface="Avenir Book"/>
              </a:rPr>
              <a:t>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035808"/>
            <a:ext cx="3090672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0242E"/>
                </a:solidFill>
                <a:latin typeface="Avenir Book"/>
              </a:rPr>
              <a:t>reactions are enough for a pre-trained
reaction encoder to match DFT descriptors + RF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434840"/>
            <a:ext cx="316382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1">
                <a:solidFill>
                  <a:srgbClr val="6E7480"/>
                </a:solidFill>
                <a:latin typeface="Avenir Book"/>
              </a:rPr>
              <a:t>Buchwald–Hartwig HTE · Yield-BERT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529584" cy="370332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463039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56082"/>
                </a:solidFill>
                <a:latin typeface="Avenir Book"/>
              </a:rPr>
              <a:t>INTERATOMIC POTENTIALS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938528"/>
            <a:ext cx="3529584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5400" b="1" i="0">
                <a:solidFill>
                  <a:srgbClr val="E97132"/>
                </a:solidFill>
                <a:latin typeface="Avenir Book"/>
              </a:rPr>
              <a:t>3 %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035808"/>
            <a:ext cx="3090672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0242E"/>
                </a:solidFill>
                <a:latin typeface="Avenir Book"/>
              </a:rPr>
              <a:t>of the data needed to specialise a foundation MLIP to liquid water,
vs training from scratch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434840"/>
            <a:ext cx="316382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1">
                <a:solidFill>
                  <a:srgbClr val="6E7480"/>
                </a:solidFill>
                <a:latin typeface="Avenir Book"/>
              </a:rPr>
              <a:t>MatterSim · 17 M structures pre-trained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1" y="1280160"/>
            <a:ext cx="3529584" cy="370332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1" y="1463039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56082"/>
                </a:solidFill>
                <a:latin typeface="Avenir Book"/>
              </a:rPr>
              <a:t>SUBLIMATION ENTHALPIES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1" y="1938528"/>
            <a:ext cx="3529584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5400" b="1" i="0">
                <a:solidFill>
                  <a:srgbClr val="E97132"/>
                </a:solidFill>
                <a:latin typeface="Avenir Book"/>
              </a:rPr>
              <a:t>tens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7" y="3035808"/>
            <a:ext cx="3090672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0242E"/>
                </a:solidFill>
                <a:latin typeface="Avenir Book"/>
              </a:rPr>
              <a:t>of training structures give sub-kJ/mol accuracy after fine-tuning MACE-MP-0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1" y="4434840"/>
            <a:ext cx="316382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1">
                <a:solidFill>
                  <a:srgbClr val="6E7480"/>
                </a:solidFill>
                <a:latin typeface="Avenir Book"/>
              </a:rPr>
              <a:t>Kaur et al., Faraday Discuss. 2025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Foundation models for atoms — the same play, at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56082"/>
                </a:solidFill>
                <a:latin typeface="Avenir Book"/>
              </a:rPr>
              <a:t>You will never train one of these — you will fine-tune one.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Same recipe, applied to potentials instead of properties.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554480"/>
          <a:ext cx="667512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829714" y="337901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0242E"/>
                </a:solidFill>
                <a:latin typeface="Avenir Book"/>
              </a:rPr>
              <a:t>M3GNet 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3175" y="3091897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0242E"/>
                </a:solidFill>
                <a:latin typeface="Avenir Book"/>
              </a:rPr>
              <a:t>MACE-MP-0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8695" y="249569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0242E"/>
                </a:solidFill>
                <a:latin typeface="Avenir Book"/>
              </a:rPr>
              <a:t>MatterSim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1758" y="1927829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0242E"/>
                </a:solidFill>
                <a:latin typeface="Avenir Book"/>
              </a:rPr>
              <a:t>Orb-v3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668" y="1742389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0242E"/>
                </a:solidFill>
                <a:latin typeface="Avenir Book"/>
              </a:rPr>
              <a:t>eSEN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316736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56082"/>
                </a:solidFill>
                <a:latin typeface="Avenir Book"/>
              </a:rPr>
              <a:t>~600× more training structures in three years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554480"/>
            <a:ext cx="3813048" cy="288036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79" y="1700784"/>
            <a:ext cx="353872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B4551F"/>
                </a:solidFill>
                <a:latin typeface="Avenir Book"/>
              </a:rPr>
              <a:t>why chemists 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121408"/>
            <a:ext cx="3401568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You will almost never train one of
these.
You download it, then fine-tune on
the 50–500 structures you can
afford to compute for your own
system.
Exactly the recipe from the last
slide — applied to potentials
instead of properties.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293815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Matbench Discovery (matbench-discovery.materialsproject.org), values as of 11 Aug 2026 · Riebesell et al., Nat. Mach. Intell. 2025, 7, 836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00200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600" b="1" i="0">
                <a:solidFill>
                  <a:srgbClr val="FBE4D6"/>
                </a:solidFill>
                <a:latin typeface="Avenir Book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0242E"/>
                </a:solidFill>
                <a:latin typeface="Avenir Book"/>
              </a:rPr>
              <a:t>When it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862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Negative transfer and the replication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88536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288536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Activity cliffs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90872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690872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E7480"/>
                </a:solidFill>
                <a:latin typeface="Avenir Book"/>
              </a:rPr>
              <a:t>The baseline you must always run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The uncomfortable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56082"/>
                </a:solidFill>
                <a:latin typeface="Avenir Book"/>
              </a:rPr>
              <a:t>Always run ECFP + random forest first.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If your model cannot beat it, you have learned something valuable for the price of two minutes.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5532120" cy="370332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55321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20242E"/>
                </a:solidFill>
                <a:latin typeface="Avenir Book"/>
              </a:rPr>
              <a:t>25 pre-trained models  ×  25 datasets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47088"/>
            <a:ext cx="5532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6E7480"/>
                </a:solidFill>
                <a:latin typeface="Avenir Book"/>
              </a:rPr>
              <a:t>re-evaluated with hierarchical Bayesian testing
instead of leaderboard means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2505456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892808" y="2505456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52928" y="2505456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813048" y="2505456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73168" y="2505456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32688" y="2862072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892808" y="2862072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852928" y="2862072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813048" y="2862072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73168" y="2862072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32688" y="3218688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892808" y="3218688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852928" y="3218688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196B24"/>
          </a:solidFill>
          <a:ln w="17780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venir Book"/>
              </a:rPr>
              <a:t>CLAMP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3048" y="3218688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773168" y="3218688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32688" y="3575304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892808" y="3575304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852928" y="3575304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813048" y="3575304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773168" y="3575304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32688" y="3931920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892808" y="3931920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852928" y="3931920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813048" y="3931920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773168" y="3931920"/>
            <a:ext cx="868680" cy="274320"/>
          </a:xfrm>
          <a:prstGeom prst="roundRect">
            <a:avLst>
              <a:gd name="adj" fmla="val 16000"/>
            </a:avLst>
          </a:prstGeom>
          <a:solidFill>
            <a:srgbClr val="E7E9EE"/>
          </a:solidFill>
          <a:ln w="17780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4416551"/>
            <a:ext cx="512064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C0392B"/>
                </a:solidFill>
                <a:latin typeface="Avenir Book"/>
              </a:rPr>
              <a:t>one model beats the ECFP baseline significantly —
and it is itself fingerprint-based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81928" y="1280160"/>
            <a:ext cx="5349240" cy="37033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1426463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 i="0">
                <a:solidFill>
                  <a:srgbClr val="D9DCE3"/>
                </a:solidFill>
                <a:latin typeface="Avenir Book"/>
              </a:rPr>
              <a:t>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084831"/>
            <a:ext cx="4709160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20242E"/>
                </a:solidFill>
                <a:latin typeface="Avenir Book"/>
              </a:rPr>
              <a:t>nearly all neural models show
negligible or no improvement over
the baseline ECFP molecular
fingerprint.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493008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Praski, Adamczyk &amp; Czech, arXiv:2508.06199 (2025)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3895344"/>
            <a:ext cx="4937760" cy="932688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01968" y="3986783"/>
            <a:ext cx="4718304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56082"/>
                </a:solidFill>
                <a:latin typeface="Avenir Book"/>
              </a:rPr>
              <a:t>Not a reason to give up on learned representations.
A reason to always run the ECFP + random-forest
baseline first.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293815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Praski, Adamczyk &amp; Czech, arXiv:2508.06199 (2025) · Jiang et al., J. Cheminform. 2021, 13, 12 · Deng et al., Nat. Commun. 2023, 14, 6395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Activity cliffs: where smoothness is a lie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0242E"/>
                </a:solidFill>
                <a:latin typeface="Avenir Book"/>
              </a:rPr>
              <a:t>Smoothness is an assumption, and cliffs violate it. </a:t>
            </a:r>
            <a:r>
              <a:rPr sz="1350" b="1" i="0">
                <a:solidFill>
                  <a:srgbClr val="156082"/>
                </a:solidFill>
                <a:latin typeface="Avenir Book"/>
              </a:rPr>
              <a:t>Report cliff performance separately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 — overall RMSE hides exactly the compounds that matter.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6309360" cy="37033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408176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20242E"/>
                </a:solidFill>
                <a:latin typeface="Avenir Book"/>
              </a:rPr>
              <a:t>two molecules, one methyl group apart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2125979"/>
            <a:ext cx="415744" cy="240030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518864" y="2366009"/>
            <a:ext cx="0" cy="480061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103120" y="2846070"/>
            <a:ext cx="415744" cy="240029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1687375" y="2846070"/>
            <a:ext cx="415745" cy="240029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687375" y="2366009"/>
            <a:ext cx="0" cy="480061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687375" y="2125979"/>
            <a:ext cx="415745" cy="240030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103120" y="1709927"/>
            <a:ext cx="0" cy="416052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327064" y="2846070"/>
            <a:ext cx="360311" cy="208026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518864" y="2157983"/>
            <a:ext cx="360311" cy="208026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399" y="358444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56082"/>
                </a:solidFill>
                <a:latin typeface="Avenir Book"/>
              </a:rPr>
              <a:t>IC₅₀  =  8 nM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66360" y="2125979"/>
            <a:ext cx="415744" cy="240030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582104" y="2366009"/>
            <a:ext cx="0" cy="480061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166360" y="2846070"/>
            <a:ext cx="415744" cy="240029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4750615" y="2846070"/>
            <a:ext cx="415745" cy="240029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750615" y="2366009"/>
            <a:ext cx="0" cy="480061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750615" y="2125979"/>
            <a:ext cx="415745" cy="240030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166360" y="1709927"/>
            <a:ext cx="0" cy="416052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390304" y="2846070"/>
            <a:ext cx="360311" cy="208026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582104" y="2157983"/>
            <a:ext cx="360311" cy="208026"/>
          </a:xfrm>
          <a:prstGeom prst="line">
            <a:avLst/>
          </a:prstGeom>
          <a:ln w="35560">
            <a:solidFill>
              <a:srgbClr val="2024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062347" y="1605914"/>
            <a:ext cx="208026" cy="20802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77640" y="358444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Avenir Book"/>
              </a:rPr>
              <a:t>IC₅₀  =  4,200 nM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3977639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20242E"/>
                </a:solidFill>
                <a:latin typeface="Avenir Book"/>
              </a:rPr>
              <a:t>Tanimoto similarity  0.95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261104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Avenir Book"/>
              </a:rPr>
              <a:t>500× potency difference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59168" y="1280160"/>
            <a:ext cx="4572000" cy="370332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59168" y="1444751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Avenir Book"/>
              </a:rPr>
              <a:t>what breaks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1883664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Avenir Book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6368" y="1901952"/>
            <a:ext cx="3977639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Smooth embeddings put A and B
in the same place.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2596896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Avenir Book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6368" y="2615184"/>
            <a:ext cx="3977639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Errors on cliff compounds reach
1.4 log units — a 25× error in
potency.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331012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Avenir Book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16368" y="3328416"/>
            <a:ext cx="3977639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Across 30 targets, SVM on ECFP
was the best method overall.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023360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Avenir Book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16368" y="4041648"/>
            <a:ext cx="3977639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Transformers pre-trained on 10 M
SMILES did not beat LSTMs
pre-trained on 36 k.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293815"/>
            <a:ext cx="1105811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1">
                <a:solidFill>
                  <a:srgbClr val="6E7480"/>
                </a:solidFill>
                <a:latin typeface="Avenir Book"/>
              </a:rPr>
              <a:t>van Tilborg, Alenicheva &amp; Grisoni, J. Chem. Inf. Model. 2022, 62, 5938 (MoleculeACE)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So when is a learned representation worth it?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285232"/>
            <a:ext cx="10911809" cy="822959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40096"/>
            <a:ext cx="10454609" cy="7132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0242E"/>
                </a:solidFill>
                <a:latin typeface="Avenir Book"/>
              </a:rPr>
              <a:t>The shapes are robust; </a:t>
            </a:r>
            <a:r>
              <a:rPr sz="1350" b="1" i="0">
                <a:solidFill>
                  <a:srgbClr val="156082"/>
                </a:solidFill>
                <a:latin typeface="Avenir Book"/>
              </a:rPr>
              <a:t>the crossover is yours to measure</a:t>
            </a:r>
            <a:r>
              <a:rPr sz="1350" b="0" i="0">
                <a:solidFill>
                  <a:srgbClr val="20242E"/>
                </a:solidFill>
                <a:latin typeface="Avenir Book"/>
              </a:rPr>
              <a:t>, and it moves with label noise, split type and how narrow your chemistry is.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536192"/>
          <a:ext cx="7178040" cy="2971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3700272" y="1664207"/>
            <a:ext cx="0" cy="2779776"/>
          </a:xfrm>
          <a:prstGeom prst="line">
            <a:avLst/>
          </a:prstGeom>
          <a:ln w="13970">
            <a:solidFill>
              <a:srgbClr val="6E748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72912" y="1664207"/>
            <a:ext cx="0" cy="2779776"/>
          </a:xfrm>
          <a:prstGeom prst="line">
            <a:avLst/>
          </a:prstGeom>
          <a:ln w="13970">
            <a:solidFill>
              <a:srgbClr val="6E748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538020" y="4443983"/>
            <a:ext cx="1920240" cy="402336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38020" y="449884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B4551F"/>
                </a:solidFill>
                <a:latin typeface="Avenir Book"/>
              </a:rPr>
              <a:t>fingerprints win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76472" y="4443983"/>
            <a:ext cx="1920240" cy="402336"/>
          </a:xfrm>
          <a:prstGeom prst="roundRect">
            <a:avLst>
              <a:gd name="adj" fmla="val 6000"/>
            </a:avLst>
          </a:prstGeom>
          <a:solidFill>
            <a:srgbClr val="F2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76472" y="449884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A02B93"/>
                </a:solidFill>
                <a:latin typeface="Avenir Book"/>
              </a:rPr>
              <a:t>pre-training earns its keep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52744" y="4443983"/>
            <a:ext cx="1920240" cy="402336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52744" y="449884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56082"/>
                </a:solidFill>
                <a:latin typeface="Avenir Book"/>
              </a:rPr>
              <a:t>everything converges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481328"/>
            <a:ext cx="3355848" cy="3182111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591055"/>
            <a:ext cx="30815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C0392B"/>
                </a:solidFill>
                <a:latin typeface="Avenir Book"/>
              </a:rPr>
              <a:t>schematic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1956815"/>
            <a:ext cx="3044952" cy="2560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0242E"/>
                </a:solidFill>
                <a:latin typeface="Avenir Book"/>
              </a:rPr>
              <a:t>The shapes are real;
the exact crossover is not.
Published estimates put it
anywhere between 10³ and 10⁴
labelled molecules, and it moves
with label noise, split type and
how narrow your chemistry is.
Measure it on your own data —
that is what the tutorial does.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600">
                <a:solidFill>
                  <a:srgbClr val="20242E"/>
                </a:solidFill>
                <a:latin typeface="Avenir Book"/>
              </a:rPr>
              <a:t>What to do on Monday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225296"/>
            <a:ext cx="11058113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0242E"/>
                </a:solidFill>
                <a:latin typeface="Avenir Book"/>
              </a:rPr>
              <a:t>How many labelled examples do you have?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2331720" y="1645920"/>
            <a:ext cx="3764264" cy="365760"/>
          </a:xfrm>
          <a:prstGeom prst="line">
            <a:avLst/>
          </a:prstGeom>
          <a:ln w="17780">
            <a:solidFill>
              <a:srgbClr val="6E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2048256"/>
            <a:ext cx="3529584" cy="237744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194560"/>
            <a:ext cx="352958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97132"/>
                </a:solidFill>
                <a:latin typeface="Avenir Book"/>
              </a:rPr>
              <a:t>&lt;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88336"/>
            <a:ext cx="2980944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0242E"/>
                </a:solidFill>
                <a:latin typeface="Avenir Book"/>
              </a:rPr>
              <a:t>Do not train a deep model.
ECFP + RF, or a Gaussian process.
Consider frozen pre-trained embeddings
as extra features.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5984" y="1645920"/>
            <a:ext cx="57928" cy="365760"/>
          </a:xfrm>
          <a:prstGeom prst="line">
            <a:avLst/>
          </a:prstGeom>
          <a:ln w="17780">
            <a:solidFill>
              <a:srgbClr val="6E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0" y="2048256"/>
            <a:ext cx="3529584" cy="2377440"/>
          </a:xfrm>
          <a:prstGeom prst="roundRect">
            <a:avLst>
              <a:gd name="adj" fmla="val 6000"/>
            </a:avLst>
          </a:prstGeom>
          <a:solidFill>
            <a:srgbClr val="E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2194560"/>
            <a:ext cx="352958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56082"/>
                </a:solidFill>
                <a:latin typeface="Avenir Book"/>
              </a:rPr>
              <a:t>100 – 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88336"/>
            <a:ext cx="2980944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0242E"/>
                </a:solidFill>
                <a:latin typeface="Avenir Book"/>
              </a:rPr>
              <a:t>This is where pre-training pays.
Frozen embeddings first, then partial
fine-tuning. Always report the ECFP baseline.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5984" y="1645920"/>
            <a:ext cx="3880119" cy="365760"/>
          </a:xfrm>
          <a:prstGeom prst="line">
            <a:avLst/>
          </a:prstGeom>
          <a:ln w="17780">
            <a:solidFill>
              <a:srgbClr val="6E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11311" y="2048256"/>
            <a:ext cx="3529584" cy="2377440"/>
          </a:xfrm>
          <a:prstGeom prst="roundRect">
            <a:avLst>
              <a:gd name="adj" fmla="val 6000"/>
            </a:avLst>
          </a:prstGeom>
          <a:solidFill>
            <a:srgbClr val="F2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1" y="2194560"/>
            <a:ext cx="352958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A02B93"/>
                </a:solidFill>
                <a:latin typeface="Avenir Book"/>
              </a:rPr>
              <a:t>&gt; 10,000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688336"/>
            <a:ext cx="2980944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0242E"/>
                </a:solidFill>
                <a:latin typeface="Avenir Book"/>
              </a:rPr>
              <a:t>Train from scratch on your own data.
Pre-training becomes a convenience,
not a necessity.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489704"/>
            <a:ext cx="11058113" cy="530352"/>
          </a:xfrm>
          <a:prstGeom prst="roundRect">
            <a:avLst>
              <a:gd name="adj" fmla="val 6000"/>
            </a:avLst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4562856"/>
            <a:ext cx="11058113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20242E"/>
                </a:solidFill>
                <a:latin typeface="Avenir Book"/>
              </a:rPr>
              <a:t>In all three columns: run the baseline first, and split by scaffold, not at random.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Take-home messages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28473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1298448"/>
            <a:ext cx="10442448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20242E"/>
                </a:solidFill>
                <a:latin typeface="Avenir Book"/>
              </a:rPr>
              <a:t>Labels are the bottleneck, not molecules.</a:t>
            </a:r>
            <a:r>
              <a:rPr sz="1550" b="0" i="0">
                <a:solidFill>
                  <a:srgbClr val="20242E"/>
                </a:solidFill>
                <a:latin typeface="Avenir Book"/>
              </a:rPr>
              <a:t> Everything today is a way of spending unlabelled data to make up for scarce labels.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6197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075688"/>
            <a:ext cx="10442448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20242E"/>
                </a:solidFill>
                <a:latin typeface="Avenir Book"/>
              </a:rPr>
              <a:t>Unsupervised methods find real structure</a:t>
            </a:r>
            <a:r>
              <a:rPr sz="1550" b="0" i="0">
                <a:solidFill>
                  <a:srgbClr val="20242E"/>
                </a:solidFill>
                <a:latin typeface="Avenir Book"/>
              </a:rPr>
              <a:t> — reaction classes, the periodic table — but a t-SNE plot tells you about your fingerprint, not about chemistry.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921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852928"/>
            <a:ext cx="10442448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20242E"/>
                </a:solidFill>
                <a:latin typeface="Avenir Book"/>
              </a:rPr>
              <a:t>The VAE's decoder disappointed; its encoder changed the field.</a:t>
            </a:r>
            <a:r>
              <a:rPr sz="1550" b="0" i="0">
                <a:solidFill>
                  <a:srgbClr val="20242E"/>
                </a:solidFill>
                <a:latin typeface="Avenir Book"/>
              </a:rPr>
              <a:t> Pretext task → keep the encoder → reuse it. That is the whole pattern.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645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3630168"/>
            <a:ext cx="10442448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20242E"/>
                </a:solidFill>
                <a:latin typeface="Avenir Book"/>
              </a:rPr>
              <a:t>Validity was the easy metric.</a:t>
            </a:r>
            <a:r>
              <a:rPr sz="1550" b="0" i="0">
                <a:solidFill>
                  <a:srgbClr val="20242E"/>
                </a:solidFill>
                <a:latin typeface="Avenir Book"/>
              </a:rPr>
              <a:t> 100% valid is achieved by construction and says nothing about quality, novelty or synthesizability.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9369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4407408"/>
            <a:ext cx="10442448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20242E"/>
                </a:solidFill>
                <a:latin typeface="Avenir Book"/>
              </a:rPr>
              <a:t>Pre-training is a prior.</a:t>
            </a:r>
            <a:r>
              <a:rPr sz="1550" b="0" i="0">
                <a:solidFill>
                  <a:srgbClr val="20242E"/>
                </a:solidFill>
                <a:latin typeface="Avenir Book"/>
              </a:rPr>
              <a:t> Worth ~3× at a hundred labels, worth nothing at ten thousand, occasionally worth less than nothing.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7093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5184648"/>
            <a:ext cx="10442448" cy="704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20242E"/>
                </a:solidFill>
                <a:latin typeface="Avenir Book"/>
              </a:rPr>
              <a:t>Always run ECFP + random forest, and always split by scaffold.</a:t>
            </a:r>
            <a:r>
              <a:rPr sz="1550" b="0" i="0">
                <a:solidFill>
                  <a:srgbClr val="20242E"/>
                </a:solidFill>
                <a:latin typeface="Avenir Book"/>
              </a:rPr>
              <a:t> In the largest independent replication, almost nothing beat that baseline.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Further reading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26644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280160"/>
            <a:ext cx="10533888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20242E"/>
                </a:solidFill>
                <a:latin typeface="Avenir Book"/>
              </a:rPr>
              <a:t>Chemical VAE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 — Gómez-Bombarelli et al., ACS Cent. Sci.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2018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4, 268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107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764792"/>
            <a:ext cx="10533888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20242E"/>
                </a:solidFill>
                <a:latin typeface="Avenir Book"/>
              </a:rPr>
              <a:t>SELFIES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 — Krenn et al., Mach. Learn.: Sci. Technol.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2020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1, 045024 · and the critique: Skinnider, Nat. Mach. Intell.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2024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6, 437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73451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487168"/>
            <a:ext cx="10533888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20242E"/>
                </a:solidFill>
                <a:latin typeface="Avenir Book"/>
              </a:rPr>
              <a:t>Pre-training GNNs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 — Hu et al., ICLR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2020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arXiv:1905.12265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5808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971800"/>
            <a:ext cx="10533888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20242E"/>
                </a:solidFill>
                <a:latin typeface="Avenir Book"/>
              </a:rPr>
              <a:t>MoLFormer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 — Ross et al., Nat. Mach. Intell.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2022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4, 1256 ·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MolCLR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 — Wang et al., Nat. Mach. Intell.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2022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4, 279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804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694176"/>
            <a:ext cx="10533888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20242E"/>
                </a:solidFill>
                <a:latin typeface="Avenir Book"/>
              </a:rPr>
              <a:t>Reaction space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 — Schwaller et al., Nat. Mach. Intell.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2021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3, 144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65092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178808"/>
            <a:ext cx="10533888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20242E"/>
                </a:solidFill>
                <a:latin typeface="Avenir Book"/>
              </a:rPr>
              <a:t>Transfer for NMR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 — Han &amp; Choi, J. Phys. Chem. Lett.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2021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12, 3662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49724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663440"/>
            <a:ext cx="10533888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20242E"/>
                </a:solidFill>
                <a:latin typeface="Avenir Book"/>
              </a:rPr>
              <a:t>Do they actually help?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 — Deng et al., Nat. Commun.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2023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14, 6395 · Praski et al., arXiv:2508.06199 (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2025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) · van Tilborg et al., JCIM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2022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62, 5938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721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E97132"/>
                </a:solidFill>
                <a:latin typeface="Avenir Book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5385816"/>
            <a:ext cx="10533888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20242E"/>
                </a:solidFill>
                <a:latin typeface="Avenir Book"/>
              </a:rPr>
              <a:t>Evaluation guidelines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 — Bender et al., Nat. Rev. Chem. </a:t>
            </a:r>
            <a:r>
              <a:rPr sz="1450" b="1" i="0">
                <a:solidFill>
                  <a:srgbClr val="20242E"/>
                </a:solidFill>
                <a:latin typeface="Avenir Book"/>
              </a:rPr>
              <a:t>2022</a:t>
            </a:r>
            <a:r>
              <a:rPr sz="1450" b="0" i="0">
                <a:solidFill>
                  <a:srgbClr val="20242E"/>
                </a:solidFill>
                <a:latin typeface="Avenir Book"/>
              </a:rPr>
              <a:t>, 6, 428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431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457200" bIns="0" rtlCol="0" anchor="ctr"/>
          <a:lstStyle/>
          <a:p>
            <a:pPr algn="ctr"/>
            <a:r>
              <a:rPr sz="2800">
                <a:solidFill>
                  <a:srgbClr val="20242E"/>
                </a:solidFill>
                <a:latin typeface="Avenir Book"/>
              </a:rPr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1831"/>
            <a:ext cx="12191969" cy="457200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256032" bIns="0" rtlCol="0" anchor="ctr"/>
          <a:lstStyle/>
          <a:p>
            <a:pPr algn="r"/>
            <a:r>
              <a:rPr sz="1400" b="1">
                <a:solidFill>
                  <a:srgbClr val="20242E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cal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4808"/>
            <a:ext cx="1554480" cy="374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19" y="2331720"/>
            <a:ext cx="10728929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20242E"/>
                </a:solidFill>
                <a:latin typeface="Avenir Book"/>
              </a:rPr>
              <a:t>Learned Representations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3063240"/>
            <a:ext cx="10728929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56082"/>
                </a:solidFill>
                <a:latin typeface="Avenir Book"/>
              </a:rPr>
              <a:t>Tutorial · 15:15 · RSC 275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520440"/>
            <a:ext cx="10728929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1">
                <a:solidFill>
                  <a:srgbClr val="6E7480"/>
                </a:solidFill>
                <a:latin typeface="Avenir Book"/>
              </a:rPr>
              <a:t>Chemical space maps · frozen vs learned embeddings · the learning-curve crossover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389120"/>
            <a:ext cx="10728929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E7480"/>
                </a:solidFill>
                <a:latin typeface="Avenir Book"/>
              </a:rPr>
              <a:t>jul@caltech.edu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879</TotalTime>
  <Words>13777</Words>
  <Application>Microsoft Macintosh PowerPoint</Application>
  <PresentationFormat>Widescreen</PresentationFormat>
  <Paragraphs>1535</Paragraphs>
  <Slides>48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Avenir Book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Schleinitz, Jules</cp:lastModifiedBy>
  <cp:revision>3</cp:revision>
  <dcterms:created xsi:type="dcterms:W3CDTF">2013-01-27T09:14:16Z</dcterms:created>
  <dcterms:modified xsi:type="dcterms:W3CDTF">2026-08-12T18:05:23Z</dcterms:modified>
  <cp:category/>
</cp:coreProperties>
</file>