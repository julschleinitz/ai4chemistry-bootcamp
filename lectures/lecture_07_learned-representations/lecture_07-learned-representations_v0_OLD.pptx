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connect everything seen so far — molecular representations, supervised learning, neural nets, and MLIPs — under one idea: representations that are learned from data rather than designed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the bootcamp arc so far: fixed representations -&gt; supervised mapping -&gt; flexible neural function approximators -&gt; MLIPs as one instance of a learned function. Today generalizes that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at a glance. Emphasize the break placement after the three case studies, which is content-dense.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objectives map directly onto the four case-study + evaluation sections of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ECFP/fingerprints from Lecture 2 as the fixed side. The right column is the whole subject of today's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math needed here — just the geometric intuition that training on a proxy task organizes the embedding space meaningfully.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PubChem scale figure is illustrative — the point is the ratio, not the exact count, which changes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general recipe. The next two slides show the two dominant families of pretext objectives used in molecular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families reappear in the three case studies immediately following.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no chemistry-specific inductive bias here — it's a straight NLP transformer repurposed for SMILES strings.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payoff of the pre-training story before we move to graph-based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negative-transfer finding is a good moment to preview Part 5's message: pre-training is not automatically good.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protein-function transfer result is a nice hook for how general the pre-training idea is beyond small molecules.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the contrastive-objective slide from Part 2 — this is that idea, concretely instantiated.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to summarize the case-study block before the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crossover idea before the forgetting slide: which strategy wins depends on how much labeled data you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is schematic, not a specific published figure — draw it as a qualitative trend: frozen probe wins on tiny data, full fine-tune wins once there's enough labeled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is the bridge into Part 5's central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Takeaway 4 from the syllabus, foregrounded as the central evaluation message of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actively map their own project data onto this two-column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explicit bridge the audience needs: their MLIP lecture and today's lecture are the same idea applied to a different output (energy/forces vs. a property label).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qualitative — the point is the shared paradigm, not the specific benchmark numbers, which move quickly in this subfield.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generative design is largely the subject of a later lecture — this branch is included here only to show the paradigm is shared, not to teach it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takeaways are the four things that should stick after this lecture, verbatim from the course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discussion — steer toward: 200 examples is borderline, so try both and compare against an ECFP baseline; check whether the target's chemical space resembles the pre-training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reference list as the course website's lecture page, for 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937760" cy="4937760"/>
          </a:xfrm>
          <a:prstGeom prst="ellipse">
            <a:avLst/>
          </a:prstGeom>
          <a:solidFill>
            <a:srgbClr val="09483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AI4CHEMICAL SCIENCES BOOTCAMP 2026 · LECTURE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Chemical Sciences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on large chemical corpora, fine-tuning on task-specific data — how chemistry is transferring knowledge across domains, from molecular property models to interatomic potentials.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157216"/>
            <a:ext cx="82296" cy="82296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5157216"/>
            <a:ext cx="82296" cy="82296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0" name="Text 8"/>
          <p:cNvSpPr/>
          <p:nvPr/>
        </p:nvSpPr>
        <p:spPr>
          <a:xfrm>
            <a:off x="3813048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calculus required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5157216"/>
            <a:ext cx="82296" cy="82296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2" name="Text 10"/>
          <p:cNvSpPr/>
          <p:nvPr/>
        </p:nvSpPr>
        <p:spPr>
          <a:xfrm>
            <a:off x="6601968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Lectures 2–4 &amp; MLIPs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· jul@caltech.edu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ideas, one thread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lecture handed you a way to turn chemistry into numbers a model can use. Today's lecture asks: what if the model designs that encoding itself?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487168"/>
            <a:ext cx="438912" cy="438912"/>
          </a:xfrm>
          <a:prstGeom prst="ellipse">
            <a:avLst/>
          </a:prstGeom>
          <a:solidFill>
            <a:srgbClr val="1B7D6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Fingerprints, descriptors, graphs — fixed, hand-designed encodings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79776" y="228600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487168"/>
            <a:ext cx="438912" cy="438912"/>
          </a:xfrm>
          <a:prstGeom prst="ellipse">
            <a:avLst/>
          </a:prstGeom>
          <a:solidFill>
            <a:srgbClr val="1B7D64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9504" y="30632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16936" y="388620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an encoding to a labeled property with regression/classification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10912" y="228600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872" y="2487168"/>
            <a:ext cx="438912" cy="438912"/>
          </a:xfrm>
          <a:prstGeom prst="ellipse">
            <a:avLst/>
          </a:prstGeom>
          <a:solidFill>
            <a:srgbClr val="1B7D64"/>
          </a:solidFill>
          <a:ln/>
        </p:spPr>
      </p:sp>
      <p:sp>
        <p:nvSpPr>
          <p:cNvPr id="17" name="Text 15"/>
          <p:cNvSpPr/>
          <p:nvPr/>
        </p:nvSpPr>
        <p:spPr>
          <a:xfrm>
            <a:off x="5833872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0632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Deep Learning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48072" y="388620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function approximators trained end-to-end on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42048" y="228600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487168"/>
            <a:ext cx="438912" cy="438912"/>
          </a:xfrm>
          <a:prstGeom prst="ellipse">
            <a:avLst/>
          </a:prstGeom>
          <a:solidFill>
            <a:srgbClr val="1B7D64"/>
          </a:solidFill>
          <a:ln/>
        </p:spPr>
      </p:sp>
      <p:sp>
        <p:nvSpPr>
          <p:cNvPr id="22" name="Text 20"/>
          <p:cNvSpPr/>
          <p:nvPr/>
        </p:nvSpPr>
        <p:spPr>
          <a:xfrm>
            <a:off x="8065008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51776" y="30632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MLIPs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79208" y="388620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that learn atomic-environment energies &amp; forces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73184" y="228600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96144" y="2487168"/>
            <a:ext cx="438912" cy="438912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27" name="Text 25"/>
          <p:cNvSpPr/>
          <p:nvPr/>
        </p:nvSpPr>
        <p:spPr>
          <a:xfrm>
            <a:off x="10296144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82912" y="30632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10344" y="388620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letting the network learn the encoding itself, not just the mapping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73184" y="199339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90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roadmap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0" y="1600200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89404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C6350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89404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Why learn representations?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0" y="2089404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78608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self-supervised pre-training paradigm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0" y="2578608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7812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C6350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7812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Three case studies: ChemBERTa, GNN pre-training, MolCLR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0" y="3067812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57016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C5A48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57016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26880" y="3557016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46220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C6350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46220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Fine-tuning in practice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326880" y="4046220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35424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35424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Does it actually help?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6880" y="4535424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024628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C6350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024628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Beyond property prediction: generative models &amp; MLIPs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326880" y="5024628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513832"/>
            <a:ext cx="10607040" cy="416052"/>
          </a:xfrm>
          <a:prstGeom prst="roundRect">
            <a:avLst>
              <a:gd name="adj" fmla="val 1978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513832"/>
            <a:ext cx="850392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discussion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326880" y="5513832"/>
            <a:ext cx="169164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LECTURE, YOU WILL BE ABLE 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464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pre-training / fine-tuning paradigm, and contrast masked-language-model and contrastive training objectives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852928"/>
            <a:ext cx="9464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when transfer learning helps (small labeled dataset, large unlabeled corpus) — and when it does not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68496"/>
            <a:ext cx="9464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 pre-trained molecular model (e.g., ChemBERTa, a pre-trained GNN) is fine-tuned on a downstream task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340096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84064"/>
            <a:ext cx="9464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whether a learned representation actually generalizes better than a fixed fingerprint on a given benchmark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4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5029200" cy="5029200"/>
          </a:xfrm>
          <a:prstGeom prst="ellipse">
            <a:avLst/>
          </a:prstGeom>
          <a:solidFill>
            <a:srgbClr val="0A524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488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Representations?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488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LEARN REPRESENTATIONS?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turn a molecule into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HAND-DESIGNED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representations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chemist/engineer writes down a rule (e.g., ECFP: hash local substructures into a bit vector)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53872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molecule → same vector, no matter the downstream task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197096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Interpretable: each dimension often traces back to a substructure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85546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Needs zero training data to compute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288036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neural network is trained to produce the vector — the rule itself comes from data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353872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vector adapts to whatever objective it was pre-trained 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197096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Dense, continuous, usually not directly interpretable dimension-by-dimension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485546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Needs a large corpus (often unlabeled) to learn from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LEARN REPRESENTATIONS?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idea, in one sentence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737360"/>
            <a:ext cx="9601200" cy="1371600"/>
          </a:xfrm>
          <a:prstGeom prst="roundRect">
            <a:avLst>
              <a:gd name="adj" fmla="val 6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737360"/>
            <a:ext cx="8869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representation is just a function that maps a molecule to a vector. Fixed methods use a formula we write down; learned methods use a neural network we train.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3429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 ANALOGY: WORD EMBEDDINGS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3794760"/>
            <a:ext cx="9601200" cy="1920240"/>
          </a:xfrm>
          <a:prstGeom prst="roundRect">
            <a:avLst>
              <a:gd name="adj" fmla="val 428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402336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language, models trained to predict missing/nearby words learn embeddings where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− man + woman ≈ queen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meaning falls out of the geometry.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489204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chemistry, models trained on similar pretext tasks learn embeddings where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chemically similar molecules end up near each other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vector space — without ever being told which molecules are similar.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LEARN REPRESENTATIONS?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motivation: labels are scarce, molecules are not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molecules cataloged in PubChem — structure known, most properties not measured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192024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2402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297680" y="315468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labeled examples in a real property dataset (e.g., a solubility or binding assay)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92024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2402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~100,000×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818120" y="315468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what's structurally known and what's experimentally labeled for any one task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mismatch is exactly what self-supervised pre-training is built to exploit: learn general chemical structure from the huge unlabeled pool, then adapt to the small labeled task.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4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5029200" cy="5029200"/>
          </a:xfrm>
          <a:prstGeom prst="ellipse">
            <a:avLst/>
          </a:prstGeom>
          <a:solidFill>
            <a:srgbClr val="0A524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488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Self-Supervised Pre-training Paradigm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488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SELF-SUPERVISED PRE-TRAINING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Self-supervision: labels you don't need a human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learning creates a training signal from the data itself — hide part of the input, and train the model to predict the hidden part. No human annotation required.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3310128"/>
            <a:ext cx="402336" cy="402336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0" name="Text 8"/>
          <p:cNvSpPr/>
          <p:nvPr/>
        </p:nvSpPr>
        <p:spPr>
          <a:xfrm>
            <a:off x="1513332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unlabeled molecule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39776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36392" y="310896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01084" y="3310128"/>
            <a:ext cx="402336" cy="402336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5" name="Text 13"/>
          <p:cNvSpPr/>
          <p:nvPr/>
        </p:nvSpPr>
        <p:spPr>
          <a:xfrm>
            <a:off x="4101084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73552" y="3886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(mask) part of it — an atom, bond, or subgraph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68112" y="39776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24144" y="310896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88836" y="3310128"/>
            <a:ext cx="402336" cy="402336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20" name="Text 18"/>
          <p:cNvSpPr/>
          <p:nvPr/>
        </p:nvSpPr>
        <p:spPr>
          <a:xfrm>
            <a:off x="6688836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61304" y="3886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network to predict the hidden part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55864" y="39776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11896" y="310896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76588" y="3310128"/>
            <a:ext cx="402336" cy="402336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25" name="Text 23"/>
          <p:cNvSpPr/>
          <p:nvPr/>
        </p:nvSpPr>
        <p:spPr>
          <a:xfrm>
            <a:off x="927658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49056" y="3886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Backpropagate the prediction error — no labels involved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SELF-SUPERVISED PRE-TRAINING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 of pre-training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/ GENERATIVE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"Fill in the blank"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a token/atom/bond and train the model to reconstruct it. Forces the model to learn local chemical rules — which atoms plausibly follow which.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ChemBERTa's masked-token prediction on SMILES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local syntax &amp; chemistry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pairs match?"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augmented views of the same molecule; train the model to pull their embeddings together and push embeddings of other molecules apart.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977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MolCLR's atom-masking / bond-deletion / subgraph-removal augmentations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5074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global molecular similarity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4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5029200" cy="5029200"/>
          </a:xfrm>
          <a:prstGeom prst="ellipse">
            <a:avLst/>
          </a:prstGeom>
          <a:solidFill>
            <a:srgbClr val="0A524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488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 Studies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488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CASE STUDY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 — a language model for SMILES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Chithrananda, Grand &amp; Ramsundar, 2020 (arXiv:2010.09885)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377440" cy="1417320"/>
          </a:xfrm>
          <a:prstGeom prst="roundRect">
            <a:avLst>
              <a:gd name="adj" fmla="val 580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string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CCO)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0" y="2423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1965960"/>
            <a:ext cx="2377440" cy="1417320"/>
          </a:xfrm>
          <a:prstGeom prst="roundRect">
            <a:avLst>
              <a:gd name="adj" fmla="val 580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6596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(splits into sub-units)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32120" y="2423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60720" y="1965960"/>
            <a:ext cx="2377440" cy="1417320"/>
          </a:xfrm>
          <a:prstGeom prst="roundRect">
            <a:avLst>
              <a:gd name="adj" fmla="val 580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96596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(RoBERTa architecture)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2423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66760" y="1965960"/>
            <a:ext cx="2377440" cy="1417320"/>
          </a:xfrm>
          <a:prstGeom prst="roundRect">
            <a:avLst>
              <a:gd name="adj" fmla="val 5806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96596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token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10607040" cy="2148840"/>
          </a:xfrm>
          <a:prstGeom prst="roundRect">
            <a:avLst>
              <a:gd name="adj" fmla="val 383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3886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 million unique SMILES strings drawn from PubChem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5079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45079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modeling (MLM) — the same objective behind BERT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1297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512978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systematic evaluation of transformer language models for molecular property prediction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CASE STUDY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 — what pre-training buys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31136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828800"/>
            <a:ext cx="9464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scales with pre-training corpus size — more unlabeled SMILES, better downstream embeddings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648456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246120"/>
            <a:ext cx="9464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results on MoleculeNet benchmarks after fine-tuning, without any hand-designed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65776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663440"/>
            <a:ext cx="9464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can be visualized — the model often attends to chemically meaningful substructures it was never told about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CASE STUDY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graph neural networks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Hu, Liu, Gomes, Zitnik, Liang, Pande &amp; Leskovec, ICLR 2020 (arXiv:1905.12265)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607040" cy="1463040"/>
          </a:xfrm>
          <a:prstGeom prst="roundRect">
            <a:avLst>
              <a:gd name="adj" fmla="val 5625"/>
            </a:avLst>
          </a:prstGeom>
          <a:solidFill>
            <a:srgbClr val="156B54"/>
          </a:solidFill>
          <a:ln w="12700">
            <a:solidFill>
              <a:srgbClr val="F4C7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naive pre-training can hurt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a GNN at only the graph level (whole-molecule tasks) or only the node level (local tasks) gives limited gains — and can cause negative transfer, actively hurting downstream accuracy.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0607040" cy="2240280"/>
          </a:xfrm>
          <a:prstGeom prst="roundRect">
            <a:avLst>
              <a:gd name="adj" fmla="val 367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combine node-level + graph-level pre-training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Node-level: predict masked atom/edge attributes — learns local chemical motifs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Graph-level: predict whole-structure properties — learns global molecular semantics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Doing both, in sequence, avoids negative transfer and generalizes across many downstream tasks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CASE STUDY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pre-training — the payoff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846320" cy="3291840"/>
          </a:xfrm>
          <a:prstGeom prst="roundRect">
            <a:avLst>
              <a:gd name="adj" fmla="val 25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ROC-AUC improvement over non-pre-trained models on downstream molecular property prediction tasks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92024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generalizes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89320" y="26060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State-of-the-art results across a broad suite of molecular property prediction benchmarks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89320" y="3383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Transfers beyond chemistry — the same recipe improved protein function prediction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89320" y="4160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concrete existence proof that structured, multi-level pre-training beats naive pre-training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CASE STUDY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MolCLR — contrastive learning on molecular graphs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Wang, Cao et al., Nature Machine Intelligence, 2022 (arXiv:2102.10056)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~10 million unlabeled molecules using three graph augmentations: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337560" cy="1554480"/>
          </a:xfrm>
          <a:prstGeom prst="roundRect">
            <a:avLst>
              <a:gd name="adj" fmla="val 5294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masking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hide atom identities in the graph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9080" y="2377440"/>
            <a:ext cx="3337560" cy="1554480"/>
          </a:xfrm>
          <a:prstGeom prst="roundRect">
            <a:avLst>
              <a:gd name="adj" fmla="val 5294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deletion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3063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remove edges between atoms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2377440"/>
            <a:ext cx="3337560" cy="1554480"/>
          </a:xfrm>
          <a:prstGeom prst="roundRect">
            <a:avLst>
              <a:gd name="adj" fmla="val 5294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removal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3063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connected subgraph fragment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0607040" cy="1600200"/>
          </a:xfrm>
          <a:prstGeom prst="roundRect">
            <a:avLst>
              <a:gd name="adj" fmla="val 5143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9966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augmented views of the same molecule → embeddings pulled together. Views from different molecules → embeddings pushed apart. The encoder never sees a single property label during pre-training.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COMPARING THE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three instantiations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240280" cy="685800"/>
          </a:xfrm>
          <a:prstGeom prst="roundRect">
            <a:avLst>
              <a:gd name="adj" fmla="val 12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82880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828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objective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18288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8288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786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578608"/>
            <a:ext cx="2240280" cy="6858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57860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2578608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57860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9680" y="2578608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257860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syntax &amp; chemistry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28416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0C6350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2841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 GNN pre-training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328416"/>
            <a:ext cx="2240280" cy="685800"/>
          </a:xfrm>
          <a:prstGeom prst="roundRect">
            <a:avLst>
              <a:gd name="adj" fmla="val 12000"/>
            </a:avLst>
          </a:prstGeom>
          <a:solidFill>
            <a:srgbClr val="0C6350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32841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graph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3328416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0C6350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328416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graph-level prediction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69680" y="3328416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0C6350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332841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motifs &amp; global semantics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078224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07822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MolCLR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4078224"/>
            <a:ext cx="2240280" cy="6858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4078224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graph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4078224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407822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(augmented views)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69680" y="4078224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4078224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molecular similarity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96519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MolCLR's benefit: after fine-tuning, it reaches state-of-the-art on several classification and regression benchmarks — evidence that contrastive pre-training on a large unlabeled pool transfers well.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4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097280"/>
            <a:ext cx="3200400" cy="32004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4480560" y="14173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448056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51663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— back at the half-way point for fine-tuning, evaluation, and MLIPs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4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5029200" cy="5029200"/>
          </a:xfrm>
          <a:prstGeom prst="ellipse">
            <a:avLst/>
          </a:prstGeom>
          <a:solidFill>
            <a:srgbClr val="0A524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488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in Practice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488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FINE-TUNING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pre-trained encoder to a task-specific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ENCODER ("LINEAR PROBE")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pre-trained weights; train only a small task head on top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Very few parameters to train → works with tiny labeled datasets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Cannot adapt the encoder itself, so it underfits if the task is very different from pre-training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Fast, cheap, and low risk of overfitting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every layer of the pre-trained model on the new task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29400" y="3291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Encoder can adapt fully to the downstream task — typically the best accuracy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3977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Needs enough labeled examples (rule of thumb: more than a few hundred) to avoid overfitting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4663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Risk: can overwrite/forget the pre-trained knowledge on very small datasets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FINE-TUNING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risk: catastrophic forgetting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607040" cy="1188720"/>
          </a:xfrm>
          <a:prstGeom prst="roundRect">
            <a:avLst>
              <a:gd name="adj" fmla="val 6923"/>
            </a:avLst>
          </a:prstGeom>
          <a:solidFill>
            <a:srgbClr val="156B54"/>
          </a:solidFill>
          <a:ln w="12700">
            <a:solidFill>
              <a:srgbClr val="F4C7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on a very small labeled dataset can overwrite the general chemical knowledge the model learned during pre-training — performance can end up worse than a frozen probe, or even worse than no pre-training at all.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9875520" cy="0"/>
          </a:xfrm>
          <a:prstGeom prst="line">
            <a:avLst/>
          </a:prstGeom>
          <a:noFill/>
          <a:ln w="19050">
            <a:solidFill>
              <a:srgbClr val="9BD6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46120"/>
            <a:ext cx="0" cy="2743200"/>
          </a:xfrm>
          <a:prstGeom prst="line">
            <a:avLst/>
          </a:prstGeom>
          <a:noFill/>
          <a:ln w="19050">
            <a:solidFill>
              <a:srgbClr val="9BD6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16200000">
            <a:off x="-22860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606247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dataset size →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4069080"/>
            <a:ext cx="4206240" cy="-320040"/>
          </a:xfrm>
          <a:prstGeom prst="line">
            <a:avLst/>
          </a:prstGeom>
          <a:noFill/>
          <a:ln w="38100">
            <a:solidFill>
              <a:srgbClr val="A8E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3749040"/>
            <a:ext cx="5303520" cy="-137160"/>
          </a:xfrm>
          <a:prstGeom prst="line">
            <a:avLst/>
          </a:prstGeom>
          <a:noFill/>
          <a:ln w="38100">
            <a:solidFill>
              <a:srgbClr val="A8E8D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32104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probe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5577840"/>
            <a:ext cx="4206240" cy="502920"/>
          </a:xfrm>
          <a:prstGeom prst="line">
            <a:avLst/>
          </a:prstGeom>
          <a:noFill/>
          <a:ln w="38100">
            <a:solidFill>
              <a:srgbClr val="5DDA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6080760"/>
            <a:ext cx="5303520" cy="-2514600"/>
          </a:xfrm>
          <a:prstGeom prst="line">
            <a:avLst/>
          </a:prstGeom>
          <a:noFill/>
          <a:ln w="38100">
            <a:solidFill>
              <a:srgbClr val="5DDA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74920" y="384048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3977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FINE-TUNING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fine-tuning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607040" cy="841248"/>
          </a:xfrm>
          <a:prstGeom prst="roundRect">
            <a:avLst>
              <a:gd name="adj" fmla="val 978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published pre-trained encoder (ChemBERTa, a pre-trained GNN, MolCLR)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0607040" cy="841248"/>
          </a:xfrm>
          <a:prstGeom prst="roundRect">
            <a:avLst>
              <a:gd name="adj" fmla="val 978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06624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small task head (e.g., one linear layer) for your property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10607040" cy="841248"/>
          </a:xfrm>
          <a:prstGeom prst="roundRect">
            <a:avLst>
              <a:gd name="adj" fmla="val 978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67912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675888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frozen vs. full fine-tuning based on labeled dataset size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10607040" cy="841248"/>
          </a:xfrm>
          <a:prstGeom prst="roundRect">
            <a:avLst>
              <a:gd name="adj" fmla="val 978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37176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645152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a small learning rate — pre-trained weights are already informative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614416"/>
            <a:ext cx="10607040" cy="841248"/>
          </a:xfrm>
          <a:prstGeom prst="roundRect">
            <a:avLst>
              <a:gd name="adj" fmla="val 978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806440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5614416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 against an ECFP-fingerprint + simple model baseline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94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5029200" cy="5029200"/>
          </a:xfrm>
          <a:prstGeom prst="ellipse">
            <a:avLst/>
          </a:prstGeom>
          <a:solidFill>
            <a:srgbClr val="0A524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488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Help?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488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DOES IT ACTUALLY HELP?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to remember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0332720" cy="1554480"/>
          </a:xfrm>
          <a:prstGeom prst="roundRect">
            <a:avLst>
              <a:gd name="adj" fmla="val 5294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9202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“Learned representations are not always better than ECFP fingerprints — always run a fingerprint baseline before investing in a pre-training pipeline.”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pipelines are expensive to build and easy to over-trust. A 3-line ECFP + random forest baseline takes minutes to run and tells you whether the extra complexity is earning its keep.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DOES IT ACTUALLY HELP?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transfer learning helps — and when it doesn't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 HELP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Labeled dataset is small (tens to low thousands of examples)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Pre-training corpus is chemically related to the downstream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property depends on broad structural/chemical patterns the pre-training task also captures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You've verified the fingerprint baseline actually underperforms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LIKELY TO HELP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24688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Plenty of labeled data already exists for the 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Pre-training domain is a poor match (e.g., drug-like SMILES corpus, catalysis target)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40233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task depends on fine-grained 3D/electronic detail the pretext task never saw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48006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simple fingerprint baseline already performs well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94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5029200" cy="5029200"/>
          </a:xfrm>
          <a:prstGeom prst="ellipse">
            <a:avLst/>
          </a:prstGeom>
          <a:solidFill>
            <a:srgbClr val="0A524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488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Property Prediction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488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BEYOND PROPERTY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met a learned representation: MLIPs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607040" cy="2011680"/>
          </a:xfrm>
          <a:prstGeom prst="roundRect">
            <a:avLst>
              <a:gd name="adj" fmla="val 4091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Machine-learned interatomic potentials don't use hand-designed descriptors of atomic environments — they learn the mapping from local atomic environment to energy/forces end-to-end, directly from DFT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MLIP descriptors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Hand-designed symmetry functions / SOAP descriptors — the chemistry-equivalent of ECFP fingerprints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39776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MLIPs (e.g., MACE)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learns the atomic-environment representation directly from data — the same fixed-to-learned shift seen in Part 1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BEYOND PROPERTY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for interatomic potentials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607040" cy="1417320"/>
          </a:xfrm>
          <a:prstGeom prst="roundRect">
            <a:avLst>
              <a:gd name="adj" fmla="val 580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9966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MLIPs (e.g., MACE-MP-0) are pre-trained on broad DFT datasets spanning much of the periodic table, then fine-tuned — often with parts of the network frozen — to a specific chemistry or material at high accuracy.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DFT data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(many elements)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38404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54680" y="33832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a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potential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32120" y="38404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0720" y="33832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(often frozen transfer)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38160" y="38404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66760" y="33832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pre-train / fine-tune recipe from Parts 2–4 — same paradigm, different output (energies &amp; forces instead of a property label).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BEYOND PROPERTY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paradigm, three branches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607040" cy="914400"/>
          </a:xfrm>
          <a:prstGeom prst="roundRect">
            <a:avLst>
              <a:gd name="adj" fmla="val 90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mostly-unlabeled data  →  self-supervised pre-training  →  fine-tune on a small, specific task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337560" cy="2651760"/>
          </a:xfrm>
          <a:prstGeom prst="roundRect">
            <a:avLst>
              <a:gd name="adj" fmla="val 310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9676" y="3154680"/>
            <a:ext cx="475488" cy="475488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0" name="Text 8"/>
          <p:cNvSpPr/>
          <p:nvPr/>
        </p:nvSpPr>
        <p:spPr>
          <a:xfrm>
            <a:off x="1979676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prediction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ChemBERTa, GNN pre-training, MolCLR → predict a molecular property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2926080"/>
            <a:ext cx="3337560" cy="2651760"/>
          </a:xfrm>
          <a:prstGeom prst="roundRect">
            <a:avLst>
              <a:gd name="adj" fmla="val 310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00116" y="3154680"/>
            <a:ext cx="475488" cy="475488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5" name="Text 13"/>
          <p:cNvSpPr/>
          <p:nvPr/>
        </p:nvSpPr>
        <p:spPr>
          <a:xfrm>
            <a:off x="5500116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3794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design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97680" y="43434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latent spaces → sample/optimize new candidate molecules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2926080"/>
            <a:ext cx="3337560" cy="2651760"/>
          </a:xfrm>
          <a:prstGeom prst="roundRect">
            <a:avLst>
              <a:gd name="adj" fmla="val 3103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0556" y="3154680"/>
            <a:ext cx="475488" cy="475488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20" name="Text 18"/>
          <p:cNvSpPr/>
          <p:nvPr/>
        </p:nvSpPr>
        <p:spPr>
          <a:xfrm>
            <a:off x="9020556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26680" y="3794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Interatomic potentials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818120" y="43434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MLIPs (e.g., MACE) → predict energies &amp; forces for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forces a model to learn general chemical knowledge before it ever sees task labels — this regularization often wins in low-data regimes.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163824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862072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pre-training objective matters: masked-atom prediction captures local chemistry; contrastive objectives (e.g., MolCLR) encourage global molecular similarity.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34256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032504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beats a frozen encoder once you have more than a few hundred labeled examples — but risks catastrophic forgetting on very small datasets.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02936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504688"/>
            <a:ext cx="457200" cy="457200"/>
          </a:xfrm>
          <a:prstGeom prst="ellipse">
            <a:avLst/>
          </a:prstGeom>
          <a:solidFill>
            <a:srgbClr val="5DDAB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5202936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are not always better than ECFP — always run fingerprint baselines before investing in a pre-training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9966960" cy="3291840"/>
          </a:xfrm>
          <a:prstGeom prst="roundRect">
            <a:avLst>
              <a:gd name="adj" fmla="val 2500"/>
            </a:avLst>
          </a:prstGeom>
          <a:solidFill>
            <a:srgbClr val="156B54"/>
          </a:solidFill>
          <a:ln w="12700">
            <a:solidFill>
              <a:srgbClr val="5DD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194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200 labeled binding-affinity measurements for a new target, and access to a GNN pre-trained on millions of unlabeled molecules.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611880"/>
            <a:ext cx="9326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7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linear probe, or full fine-tuning? What would you check before deciding — and what would you compare against?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 · AI4Chemical Sciences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19656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9397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for Pre-training Graph Neural Networks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ICLR, 2020 · arXiv:1905.12265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9008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Chithrananda, Grand &amp; Ramsundar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644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ChemBERTa: Large-Scale Self-Supervised Pretraining for Molecular Property Prediction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575304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arXiv:2010.09885, 2020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Wang, Cao et 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MolCLR: Molecular Contrastive Learning of Representations via Graph Neural Networks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745736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Machine Intelligence, 2022 · arXiv:2102.10056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202936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 w="12700">
            <a:solidFill>
              <a:srgbClr val="2E91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3095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D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6052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 documentation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91616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huggingface.co/docs/transformers — practical guide to loading &amp; fine-tuning pre-trained chemical language models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5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AI4Chemical Sciences Bootcamp 2026 · Lecture 7 · Learned Representations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jul@caltech.edu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2026-07-17T21:47:34Z</dcterms:created>
  <dcterms:modified xsi:type="dcterms:W3CDTF">2026-07-17T21:47:34Z</dcterms:modified>
</cp:coreProperties>
</file>