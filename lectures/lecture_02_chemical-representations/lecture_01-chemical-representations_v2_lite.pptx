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A_1488DF91.xml" ContentType="application/vnd.ms-powerpoint.comments+xml"/>
  <Override PartName="/ppt/comments/modernComment_110_7A1CA6DB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257" r:id="rId2"/>
    <p:sldId id="266" r:id="rId3"/>
    <p:sldId id="272" r:id="rId4"/>
    <p:sldId id="259" r:id="rId5"/>
    <p:sldId id="326" r:id="rId6"/>
    <p:sldId id="263" r:id="rId7"/>
    <p:sldId id="264" r:id="rId8"/>
    <p:sldId id="262" r:id="rId9"/>
    <p:sldId id="273" r:id="rId10"/>
    <p:sldId id="265" r:id="rId11"/>
    <p:sldId id="277" r:id="rId12"/>
    <p:sldId id="260" r:id="rId13"/>
    <p:sldId id="274" r:id="rId14"/>
    <p:sldId id="275" r:id="rId15"/>
    <p:sldId id="276" r:id="rId16"/>
    <p:sldId id="310" r:id="rId17"/>
    <p:sldId id="306" r:id="rId18"/>
    <p:sldId id="267" r:id="rId19"/>
    <p:sldId id="322" r:id="rId20"/>
    <p:sldId id="283" r:id="rId21"/>
    <p:sldId id="278" r:id="rId22"/>
    <p:sldId id="279" r:id="rId23"/>
    <p:sldId id="280" r:id="rId24"/>
    <p:sldId id="311" r:id="rId25"/>
    <p:sldId id="323" r:id="rId26"/>
    <p:sldId id="281" r:id="rId27"/>
    <p:sldId id="268" r:id="rId28"/>
    <p:sldId id="324" r:id="rId29"/>
    <p:sldId id="298" r:id="rId30"/>
    <p:sldId id="299" r:id="rId31"/>
    <p:sldId id="297" r:id="rId32"/>
    <p:sldId id="325" r:id="rId33"/>
    <p:sldId id="303" r:id="rId34"/>
    <p:sldId id="301" r:id="rId35"/>
    <p:sldId id="304" r:id="rId36"/>
    <p:sldId id="305" r:id="rId37"/>
    <p:sldId id="302" r:id="rId38"/>
    <p:sldId id="270" r:id="rId39"/>
    <p:sldId id="307" r:id="rId40"/>
    <p:sldId id="316" r:id="rId41"/>
    <p:sldId id="313" r:id="rId42"/>
    <p:sldId id="315" r:id="rId43"/>
    <p:sldId id="308" r:id="rId44"/>
    <p:sldId id="312" r:id="rId45"/>
    <p:sldId id="290" r:id="rId46"/>
    <p:sldId id="321" r:id="rId47"/>
    <p:sldId id="271" r:id="rId48"/>
    <p:sldId id="320" r:id="rId49"/>
    <p:sldId id="285" r:id="rId50"/>
    <p:sldId id="296" r:id="rId51"/>
    <p:sldId id="295" r:id="rId52"/>
    <p:sldId id="293" r:id="rId53"/>
    <p:sldId id="319" r:id="rId54"/>
    <p:sldId id="294" r:id="rId55"/>
    <p:sldId id="317" r:id="rId56"/>
    <p:sldId id="327" r:id="rId57"/>
    <p:sldId id="261" r:id="rId58"/>
    <p:sldId id="286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57670E-80CC-21E0-37A9-A912B40E1B17}" name="Schleinitz, Jules" initials="SJ" userId="S::jul@caltech.edu::95914fd0-5308-46ae-bb57-a92f3c5aa61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6F1"/>
    <a:srgbClr val="454545"/>
    <a:srgbClr val="9F9F9F"/>
    <a:srgbClr val="9C9C9C"/>
    <a:srgbClr val="6B6B6B"/>
    <a:srgbClr val="B0B0B0"/>
    <a:srgbClr val="969696"/>
    <a:srgbClr val="545454"/>
    <a:srgbClr val="D1D1D1"/>
    <a:srgbClr val="B7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36"/>
    <p:restoredTop sz="94359"/>
  </p:normalViewPr>
  <p:slideViewPr>
    <p:cSldViewPr snapToGrid="0">
      <p:cViewPr varScale="1">
        <p:scale>
          <a:sx n="70" d="100"/>
          <a:sy n="70" d="100"/>
        </p:scale>
        <p:origin x="184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omments/modernComment_10A_1488DF9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B7F05-B79C-6747-A4FB-D30557160B0B}" authorId="{AB57670E-80CC-21E0-37A9-A912B40E1B17}" created="2026-07-27T05:25:01.268">
    <pc:sldMkLst xmlns:pc="http://schemas.microsoft.com/office/powerpoint/2013/main/command">
      <pc:docMk/>
      <pc:sldMk cId="344514449" sldId="266"/>
    </pc:sldMkLst>
    <p188:txBody>
      <a:bodyPr/>
      <a:lstStyle/>
      <a:p>
        <a:r>
          <a:rPr lang="en-US"/>
          <a:t>Distinction between representation and features: a machine readable input.</a:t>
        </a:r>
      </a:p>
    </p188:txBody>
  </p188:cm>
</p188:cmLst>
</file>

<file path=ppt/comments/modernComment_110_7A1CA6D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3924963-784E-844A-9509-CB0A17896DE4}" authorId="{AB57670E-80CC-21E0-37A9-A912B40E1B17}" created="2026-07-27T05:25:01.268">
    <pc:sldMkLst xmlns:pc="http://schemas.microsoft.com/office/powerpoint/2013/main/command">
      <pc:docMk/>
      <pc:sldMk cId="344514449" sldId="266"/>
    </pc:sldMkLst>
    <p188:txBody>
      <a:bodyPr/>
      <a:lstStyle/>
      <a:p>
        <a:r>
          <a:rPr lang="en-US"/>
          <a:t>Distinction between representation and features: a machine readable input.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B35AC-7727-EC43-B70F-1C84BD04C1D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B1D49-D9AB-6D4C-A0A7-DB8D98134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61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B1D49-D9AB-6D4C-A0A7-DB8D98134A0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73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B1D49-D9AB-6D4C-A0A7-DB8D98134A0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55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4C6D3-8A21-9852-9409-62DC360D0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17739-C61E-873B-CFA5-259B9E42E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BADC4-092D-F6C8-A0F3-86E58D1B5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1CBF5-A8A2-1F9F-06A2-68C6780D3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B1D49-D9AB-6D4C-A0A7-DB8D98134A0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36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B1D49-D9AB-6D4C-A0A7-DB8D98134A0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1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B1D49-D9AB-6D4C-A0A7-DB8D98134A0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22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06BDD-6496-9F57-7447-614138D76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0C43A-3AC5-DBB7-B561-49D8E184B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79FA67-FBB5-D3E3-FFBB-29719A76D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8D104-D4F6-44F9-A209-0460751A5A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B1D49-D9AB-6D4C-A0A7-DB8D98134A0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42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B1D49-D9AB-6D4C-A0A7-DB8D98134A0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12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55B2-1958-C203-501F-FC92E25CD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C86F1-EDB5-B122-442B-D39EC9D17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42B21-FEBE-D371-2535-CEF250F38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311FA-7D2C-282F-2A00-EC7F91F14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B1D49-D9AB-6D4C-A0A7-DB8D98134A0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163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21C18-DB1B-8614-EA6E-1F37A6672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5E719-7F7C-2167-E42D-AD438108C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ED8E4-EAEA-4CAC-D248-49A847922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FA794-3CCC-496A-3B57-BEAC4CC24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B1D49-D9AB-6D4C-A0A7-DB8D98134A0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286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AFCFE-30EA-15C2-0079-CE50B0574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BCADC-8577-51CC-4FFC-BFAE04D98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71E36-766F-27F9-934F-42CA4EF8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16339-2319-9405-5169-0E1AD016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EE86-1EA0-452C-1FDF-12394A036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780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BD33-4213-E577-B6E8-AD845ED6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B018D-C286-CF14-EB8F-74FAC0874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17B41-F21B-FE25-EEA1-91FEDB018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035A8-2A44-4925-E6F2-FB2DC50A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111F9-59D8-00C5-BBDC-B5E10B1D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45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01A0-EEE7-4CE8-86EB-6B668C834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FDC73-D696-3AB6-59AE-14C9B9C42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7F559-1384-FB6E-4197-6959805EA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8BD67-6739-D45F-6AD7-1131E3E2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BF6FB-9889-7539-0F3A-27661D1C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42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BC13D-EE92-D1C8-42C3-D9D502AC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D61BD-5137-CA14-767E-DD95B4888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69210-EE0D-D7C0-53BE-9DF1BF282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D91EB-E133-C8EF-6965-51CAF69F5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C8067-8D45-18D8-B318-CE442E3D7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EC5D3-51E5-62FD-4869-4B329DE85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2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4D919-B29D-3F0A-AFA2-3CE5ABEB5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AC8F1-B8D9-96C9-42FD-A11CE3970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1CD45-EDB7-32B2-7A43-CB149B186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26979-DEFA-6291-2B1B-F02D32412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16046F-BF91-EA7C-A63E-E6A9BBDEA8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59EA03-587B-93E1-F15C-A9F86D1F0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CE48CA-DAF8-7420-9F13-C8574E615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382CD-D4DA-DACB-D27D-1E2A7864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3478-7586-DAD0-BBAC-9C50EF274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3DAAA4-4012-8CB9-750B-AA355607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BD9A9-FAE9-187D-66D8-CF50C619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BA2B7-7364-8FFC-4934-C4DC6F77C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8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300C1E-3393-ADC2-C850-585C4F4E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CEAA1D-1CAA-7DE7-80BE-08E99110E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86C34-2ED5-AA80-B028-9B03C125A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6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3D578-5F56-3E94-CC1B-0A51EA2F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3D991-13BF-348D-F9DA-EC5B1C00D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6D522-9CFA-C907-3B26-95022DAFA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BBC84-2ED7-4308-263A-1542129F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5E1AF-B534-32E7-5217-13BF5C4CA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FC9D2-9869-6D45-6BA5-0998E02E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07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2FFE4-B64F-1071-4B8D-24548C54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17446C-C381-ADE6-BCF2-84D7659A70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C11A1-E8D9-F82C-99E2-1137493CB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C2BE3-526B-3449-C080-B55F9D9E6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63DBE-F065-4FDB-E3ED-A9FB5C5F5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5CE51-E186-B11C-5FC3-6B32A68B9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E236-F7BC-E54A-E355-875C14D2E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7A2AB-EF55-75CD-2713-84DFC0D16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CE04C-0D94-10F9-28B1-C11E9648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08AAA-3F74-6592-9D94-4F1891B38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6D591-D272-CEB0-9C06-DFA79A16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995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22C35C-21AB-B0E1-47A6-FBB660E61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D8866-F016-7611-08A1-862A6ADA2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2830B-991D-CF25-D982-3B8A8CB0C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C5ABB-601C-F448-8A76-D4082F0C0AAD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C3DF2-14AC-0994-0929-F147638F2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D98ED-BD7A-DBA9-3FA8-660610FF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6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B15FB3-293F-DCCE-0700-A95124D62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71CD0-7472-1733-B23F-23C2B9F13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65EEE-F8D1-E777-F538-DD71D31A7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6C5ABB-601C-F448-8A76-D4082F0C0AAD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AF20B-855C-D3FC-9254-CC3C9F7B7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DF2E7-9883-FC25-4D8C-3F305CC3E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63871-F1B6-D840-9C88-904650160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9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A_1488DF9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0_7A1CA6DB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dkit.org/" TargetMode="External"/><Relationship Id="rId3" Type="http://schemas.openxmlformats.org/officeDocument/2006/relationships/image" Target="../media/image12.emf"/><Relationship Id="rId7" Type="http://schemas.openxmlformats.org/officeDocument/2006/relationships/image" Target="../media/image15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ubchem.ncbi.nlm.nih.gov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gi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hyperlink" Target="https://greglandrum.github.io/rdkit-blog/posts/2023-01-18-fingerprint-generator-tutorial.htm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heses.hal.science/tel-05018662" TargetMode="Externa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emf"/><Relationship Id="rId5" Type="http://schemas.openxmlformats.org/officeDocument/2006/relationships/image" Target="../media/image40.png"/><Relationship Id="rId4" Type="http://schemas.openxmlformats.org/officeDocument/2006/relationships/hyperlink" Target="https://descriptor-libraries.molssi.org/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image" Target="../media/image50.png"/><Relationship Id="rId7" Type="http://schemas.openxmlformats.org/officeDocument/2006/relationships/image" Target="../media/image5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emf"/><Relationship Id="rId5" Type="http://schemas.openxmlformats.org/officeDocument/2006/relationships/image" Target="../media/image1.png"/><Relationship Id="rId4" Type="http://schemas.openxmlformats.org/officeDocument/2006/relationships/image" Target="../media/image51.png"/><Relationship Id="rId9" Type="http://schemas.openxmlformats.org/officeDocument/2006/relationships/image" Target="../media/image55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camlcworkshop/camlcworkshop.github.io/blob/master/Sessions/Paton/Paton_2D_3D_Featurization.pdf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image" Target="../media/image50.png"/><Relationship Id="rId7" Type="http://schemas.openxmlformats.org/officeDocument/2006/relationships/image" Target="../media/image5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emf"/><Relationship Id="rId5" Type="http://schemas.openxmlformats.org/officeDocument/2006/relationships/image" Target="../media/image1.png"/><Relationship Id="rId4" Type="http://schemas.openxmlformats.org/officeDocument/2006/relationships/image" Target="../media/image5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BingqingCheng/ML-in-chemistry-101/blob/master/slides/l5.pdf" TargetMode="External"/><Relationship Id="rId5" Type="http://schemas.openxmlformats.org/officeDocument/2006/relationships/image" Target="../media/image1.png"/><Relationship Id="rId4" Type="http://schemas.openxmlformats.org/officeDocument/2006/relationships/image" Target="../media/image66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BingqingCheng/ML-in-chemistry-101/blob/master/slides/l5.pdf" TargetMode="External"/><Relationship Id="rId4" Type="http://schemas.openxmlformats.org/officeDocument/2006/relationships/image" Target="../media/image70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pair-code.github.io/understanding-uma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pair-code.github.io/understanding-uma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6F6E3F-69B0-9477-6581-7853DFD63D66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Avenir Book" panose="02000503020000020003" pitchFamily="2" charset="0"/>
              </a:rPr>
              <a:t>Chemical Representations for Machine Learning</a:t>
            </a:r>
            <a:endParaRPr lang="en-US" sz="2800" dirty="0">
              <a:solidFill>
                <a:schemeClr val="tx1"/>
              </a:solidFill>
              <a:latin typeface="Avenir Book" panose="02000503020000020003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1EBCDD-F96C-DC5E-0567-8A23F34396DA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>
                <a:solidFill>
                  <a:schemeClr val="tx1"/>
                </a:solidFill>
                <a:latin typeface="Avenir Book" panose="02000503020000020003" pitchFamily="2" charset="0"/>
              </a:rPr>
              <a:t>AI4ChemicalSciences BootCamp 2026</a:t>
            </a:r>
            <a:endParaRPr lang="en-US" dirty="0">
              <a:solidFill>
                <a:schemeClr val="tx1"/>
              </a:solidFill>
              <a:latin typeface="Avenir Book" panose="02000503020000020003" pitchFamily="2" charset="0"/>
            </a:endParaRP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8EE1E7D0-7EA4-637C-922B-85904A717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72E6F4-4C59-FD1E-2069-3B35C715B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510074"/>
            <a:ext cx="7772400" cy="43380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90500B-A964-46B6-C885-2A3A2B817A49}"/>
              </a:ext>
            </a:extLst>
          </p:cNvPr>
          <p:cNvSpPr txBox="1"/>
          <p:nvPr/>
        </p:nvSpPr>
        <p:spPr>
          <a:xfrm>
            <a:off x="491884" y="6003977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000000"/>
                </a:solidFill>
                <a:latin typeface="Avenir Book"/>
              </a:rPr>
              <a:t>J. Schleinitz  ·  Monday, August 10, 2026  ·  RSC 275, Caltech</a:t>
            </a:r>
          </a:p>
        </p:txBody>
      </p:sp>
    </p:spTree>
    <p:extLst>
      <p:ext uri="{BB962C8B-B14F-4D97-AF65-F5344CB8AC3E}">
        <p14:creationId xmlns:p14="http://schemas.microsoft.com/office/powerpoint/2010/main" val="64183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D1FB-FC5C-2C22-1B95-F0F080EE4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50D07E-AF8E-3EAD-5156-2474A54FF0FF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92AB2F-52C8-95EA-CB7F-782B9A0C2111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AFCD98E7-B8FC-100D-42C2-E13BB02B5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D6CE80-04A9-C47F-F936-091E9243BD3E}"/>
              </a:ext>
            </a:extLst>
          </p:cNvPr>
          <p:cNvSpPr txBox="1"/>
          <p:nvPr/>
        </p:nvSpPr>
        <p:spPr>
          <a:xfrm>
            <a:off x="1945178" y="1651590"/>
            <a:ext cx="6954789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• Evolution of “data-driven” chemistry</a:t>
            </a:r>
          </a:p>
          <a:p>
            <a:endParaRPr lang="en-US" sz="2500" dirty="0"/>
          </a:p>
          <a:p>
            <a:r>
              <a:rPr lang="en-US" sz="2500" dirty="0"/>
              <a:t>• Overview of existing representations</a:t>
            </a:r>
          </a:p>
          <a:p>
            <a:endParaRPr lang="en-US" sz="2500" dirty="0"/>
          </a:p>
          <a:p>
            <a:r>
              <a:rPr lang="en-US" sz="2500" dirty="0"/>
              <a:t>• Importance of the choice of the representation </a:t>
            </a:r>
          </a:p>
          <a:p>
            <a:endParaRPr lang="en-US" sz="2500" dirty="0"/>
          </a:p>
          <a:p>
            <a:r>
              <a:rPr lang="en-US" sz="2500" dirty="0"/>
              <a:t>• Data preprocessing: practical considerations</a:t>
            </a:r>
          </a:p>
          <a:p>
            <a:endParaRPr lang="en-US" sz="2500" b="1" dirty="0"/>
          </a:p>
          <a:p>
            <a:r>
              <a:rPr lang="en-US" sz="2500" dirty="0"/>
              <a:t>•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4451444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FB94251-F434-CBC7-CC66-F42F28258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341E88-3931-DCC5-22FA-E70FDF63ADAF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Ideas of what needs to be treated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73FD92-D621-353E-EE73-22FA994ABB3F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03B77E-FF98-7B0E-337A-216FD20AEEAD}"/>
              </a:ext>
            </a:extLst>
          </p:cNvPr>
          <p:cNvSpPr txBox="1"/>
          <p:nvPr/>
        </p:nvSpPr>
        <p:spPr>
          <a:xfrm>
            <a:off x="1945178" y="2036311"/>
            <a:ext cx="251825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Standardization?</a:t>
            </a:r>
          </a:p>
          <a:p>
            <a:endParaRPr lang="en-US" sz="2500" dirty="0"/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585B870E-951A-41FF-BF7B-DD6B256D0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6980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44073-5FE9-A315-93F1-EF1CE7AD2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15C271-A908-5D98-6920-6E8065F2A99F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Evolution of Data-Driven Chemistry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270E62-3D3B-989E-F5D5-9121FD0BF671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Picture 3" descr="Figure 2. Refer to the image caption for details.">
            <a:extLst>
              <a:ext uri="{FF2B5EF4-FFF2-40B4-BE49-F238E27FC236}">
                <a16:creationId xmlns:a16="http://schemas.microsoft.com/office/drawing/2014/main" id="{217B4DEA-C108-E0A6-3EBA-C4A483DF4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06" y="1301252"/>
            <a:ext cx="8142129" cy="27881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88AFAF-0C80-656E-3EEF-E0B85A83CB2B}"/>
              </a:ext>
            </a:extLst>
          </p:cNvPr>
          <p:cNvSpPr txBox="1"/>
          <p:nvPr/>
        </p:nvSpPr>
        <p:spPr>
          <a:xfrm>
            <a:off x="5360621" y="4360090"/>
            <a:ext cx="8883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SMILES </a:t>
            </a:r>
          </a:p>
          <a:p>
            <a:pPr algn="ctr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1988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8805F7-E381-D9C9-25BA-814B6769C99E}"/>
              </a:ext>
            </a:extLst>
          </p:cNvPr>
          <p:cNvCxnSpPr>
            <a:cxnSpLocks/>
          </p:cNvCxnSpPr>
          <p:nvPr/>
        </p:nvCxnSpPr>
        <p:spPr>
          <a:xfrm>
            <a:off x="212650" y="3124426"/>
            <a:ext cx="11560264" cy="0"/>
          </a:xfrm>
          <a:prstGeom prst="straightConnector1">
            <a:avLst/>
          </a:prstGeom>
          <a:ln>
            <a:solidFill>
              <a:srgbClr val="7777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D5930E-17CF-CDA2-EA28-9AD245369914}"/>
              </a:ext>
            </a:extLst>
          </p:cNvPr>
          <p:cNvSpPr txBox="1"/>
          <p:nvPr/>
        </p:nvSpPr>
        <p:spPr>
          <a:xfrm>
            <a:off x="-13447" y="6163869"/>
            <a:ext cx="84866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Figure adapted from Williams, W. L.; Zeng, L.; Gensch, T.; Sigman, M. S.; Doyle, A. G.; Anslyn, E. V. </a:t>
            </a:r>
            <a:r>
              <a:rPr lang="en-US" sz="1100" i="1" dirty="0"/>
              <a:t>ACS Cent. Sci. </a:t>
            </a:r>
            <a:r>
              <a:rPr lang="en-US" sz="1100" b="1" dirty="0"/>
              <a:t>2021</a:t>
            </a:r>
            <a:r>
              <a:rPr lang="en-US" sz="1100" dirty="0"/>
              <a:t>, 7 (10), 1622–1637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ABD82D-8DCF-59AE-54D2-27F105BA01E6}"/>
              </a:ext>
            </a:extLst>
          </p:cNvPr>
          <p:cNvSpPr txBox="1"/>
          <p:nvPr/>
        </p:nvSpPr>
        <p:spPr>
          <a:xfrm>
            <a:off x="6970023" y="4360090"/>
            <a:ext cx="19683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Extended Connectivity Fingerprints </a:t>
            </a: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53B438-8218-1BAE-7412-656F13DABA16}"/>
              </a:ext>
            </a:extLst>
          </p:cNvPr>
          <p:cNvSpPr txBox="1"/>
          <p:nvPr/>
        </p:nvSpPr>
        <p:spPr>
          <a:xfrm>
            <a:off x="8437825" y="4360090"/>
            <a:ext cx="1752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Graph Neural Networks</a:t>
            </a: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2015</a:t>
            </a: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(8/12)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9A6499-6867-6CE2-C046-C94EA278113F}"/>
              </a:ext>
            </a:extLst>
          </p:cNvPr>
          <p:cNvSpPr txBox="1"/>
          <p:nvPr/>
        </p:nvSpPr>
        <p:spPr>
          <a:xfrm>
            <a:off x="10359028" y="4360090"/>
            <a:ext cx="13493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Transformers</a:t>
            </a:r>
          </a:p>
          <a:p>
            <a:pPr algn="ctr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2019</a:t>
            </a: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(8/18)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F854948-0869-0336-7D08-6C6767D2C645}"/>
              </a:ext>
            </a:extLst>
          </p:cNvPr>
          <p:cNvCxnSpPr>
            <a:cxnSpLocks/>
          </p:cNvCxnSpPr>
          <p:nvPr/>
        </p:nvCxnSpPr>
        <p:spPr>
          <a:xfrm>
            <a:off x="5804814" y="3640667"/>
            <a:ext cx="0" cy="631641"/>
          </a:xfrm>
          <a:prstGeom prst="straightConnector1">
            <a:avLst/>
          </a:prstGeom>
          <a:ln w="12700">
            <a:solidFill>
              <a:srgbClr val="777777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EBF41F7-1E80-3C96-85A4-0439F6833AA2}"/>
              </a:ext>
            </a:extLst>
          </p:cNvPr>
          <p:cNvCxnSpPr>
            <a:cxnSpLocks/>
          </p:cNvCxnSpPr>
          <p:nvPr/>
        </p:nvCxnSpPr>
        <p:spPr>
          <a:xfrm>
            <a:off x="7954182" y="3956487"/>
            <a:ext cx="0" cy="315821"/>
          </a:xfrm>
          <a:prstGeom prst="straightConnector1">
            <a:avLst/>
          </a:prstGeom>
          <a:ln w="12700">
            <a:solidFill>
              <a:srgbClr val="777777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8CC3731-E914-2125-8547-1CD588C24F89}"/>
              </a:ext>
            </a:extLst>
          </p:cNvPr>
          <p:cNvCxnSpPr>
            <a:cxnSpLocks/>
          </p:cNvCxnSpPr>
          <p:nvPr/>
        </p:nvCxnSpPr>
        <p:spPr>
          <a:xfrm>
            <a:off x="9313875" y="3131570"/>
            <a:ext cx="0" cy="1140738"/>
          </a:xfrm>
          <a:prstGeom prst="straightConnector1">
            <a:avLst/>
          </a:prstGeom>
          <a:ln w="12700">
            <a:solidFill>
              <a:srgbClr val="777777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7526AF-ACE5-8DA4-A198-99B60F89B2DA}"/>
              </a:ext>
            </a:extLst>
          </p:cNvPr>
          <p:cNvCxnSpPr>
            <a:cxnSpLocks/>
          </p:cNvCxnSpPr>
          <p:nvPr/>
        </p:nvCxnSpPr>
        <p:spPr>
          <a:xfrm>
            <a:off x="11041650" y="3131570"/>
            <a:ext cx="0" cy="1140738"/>
          </a:xfrm>
          <a:prstGeom prst="straightConnector1">
            <a:avLst/>
          </a:prstGeom>
          <a:ln w="12700">
            <a:solidFill>
              <a:srgbClr val="777777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36A088A-9D4D-BBA2-1310-B81DE655C1D4}"/>
              </a:ext>
            </a:extLst>
          </p:cNvPr>
          <p:cNvSpPr/>
          <p:nvPr/>
        </p:nvSpPr>
        <p:spPr>
          <a:xfrm>
            <a:off x="1828800" y="2600325"/>
            <a:ext cx="1235869" cy="371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DB0640-F5A1-10D3-EB7B-84DAB96584BF}"/>
              </a:ext>
            </a:extLst>
          </p:cNvPr>
          <p:cNvSpPr/>
          <p:nvPr/>
        </p:nvSpPr>
        <p:spPr>
          <a:xfrm>
            <a:off x="3031485" y="1978847"/>
            <a:ext cx="1311915" cy="371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51D51C-73CB-DDCD-5D45-CF285D4EBF98}"/>
              </a:ext>
            </a:extLst>
          </p:cNvPr>
          <p:cNvSpPr/>
          <p:nvPr/>
        </p:nvSpPr>
        <p:spPr>
          <a:xfrm>
            <a:off x="3791423" y="2600325"/>
            <a:ext cx="1409227" cy="371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6FBA35-4B3F-8B25-F445-1DE41519F2B7}"/>
              </a:ext>
            </a:extLst>
          </p:cNvPr>
          <p:cNvSpPr/>
          <p:nvPr/>
        </p:nvSpPr>
        <p:spPr>
          <a:xfrm>
            <a:off x="3202799" y="3877734"/>
            <a:ext cx="1409227" cy="371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918D49-3547-D63E-7509-ACFF052930C8}"/>
              </a:ext>
            </a:extLst>
          </p:cNvPr>
          <p:cNvSpPr txBox="1"/>
          <p:nvPr/>
        </p:nvSpPr>
        <p:spPr>
          <a:xfrm>
            <a:off x="1230830" y="4360090"/>
            <a:ext cx="102784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Hammett</a:t>
            </a:r>
          </a:p>
          <a:p>
            <a:pPr algn="ctr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1937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B42FE6C-9092-AB48-D0F3-2547675BE5B2}"/>
              </a:ext>
            </a:extLst>
          </p:cNvPr>
          <p:cNvCxnSpPr>
            <a:cxnSpLocks/>
          </p:cNvCxnSpPr>
          <p:nvPr/>
        </p:nvCxnSpPr>
        <p:spPr>
          <a:xfrm flipV="1">
            <a:off x="9766312" y="2600325"/>
            <a:ext cx="0" cy="531245"/>
          </a:xfrm>
          <a:prstGeom prst="straightConnector1">
            <a:avLst/>
          </a:prstGeom>
          <a:ln w="12700">
            <a:solidFill>
              <a:srgbClr val="777777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E6AB652-2A29-76FE-D968-0802C334707F}"/>
              </a:ext>
            </a:extLst>
          </p:cNvPr>
          <p:cNvCxnSpPr>
            <a:cxnSpLocks/>
          </p:cNvCxnSpPr>
          <p:nvPr/>
        </p:nvCxnSpPr>
        <p:spPr>
          <a:xfrm>
            <a:off x="1758366" y="3357301"/>
            <a:ext cx="0" cy="942836"/>
          </a:xfrm>
          <a:prstGeom prst="straightConnector1">
            <a:avLst/>
          </a:prstGeom>
          <a:ln w="12700">
            <a:solidFill>
              <a:srgbClr val="777777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F69660B-1ED4-9505-669C-8F1101F4FBF4}"/>
              </a:ext>
            </a:extLst>
          </p:cNvPr>
          <p:cNvSpPr txBox="1"/>
          <p:nvPr/>
        </p:nvSpPr>
        <p:spPr>
          <a:xfrm>
            <a:off x="8890262" y="1452118"/>
            <a:ext cx="17521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Variational Auto Encoders</a:t>
            </a: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2016</a:t>
            </a: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(8/12)</a:t>
            </a:r>
          </a:p>
        </p:txBody>
      </p:sp>
      <p:pic>
        <p:nvPicPr>
          <p:cNvPr id="38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7888770F-D80D-3D28-5782-DE6BE2E92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53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4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DF8DB-2120-3A60-2EF2-BB6E4F862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riangle 110">
            <a:extLst>
              <a:ext uri="{FF2B5EF4-FFF2-40B4-BE49-F238E27FC236}">
                <a16:creationId xmlns:a16="http://schemas.microsoft.com/office/drawing/2014/main" id="{A4CD6E65-8D56-AAE6-A78D-51D16525D880}"/>
              </a:ext>
            </a:extLst>
          </p:cNvPr>
          <p:cNvSpPr/>
          <p:nvPr/>
        </p:nvSpPr>
        <p:spPr>
          <a:xfrm rot="16200000" flipH="1">
            <a:off x="6391468" y="-1420353"/>
            <a:ext cx="796523" cy="8859119"/>
          </a:xfrm>
          <a:custGeom>
            <a:avLst/>
            <a:gdLst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4236" h="8859119">
                <a:moveTo>
                  <a:pt x="0" y="8859119"/>
                </a:moveTo>
                <a:cubicBezTo>
                  <a:pt x="170478" y="6742634"/>
                  <a:pt x="132724" y="2953040"/>
                  <a:pt x="142788" y="0"/>
                </a:cubicBezTo>
                <a:cubicBezTo>
                  <a:pt x="174505" y="2964763"/>
                  <a:pt x="109335" y="6745424"/>
                  <a:pt x="294236" y="8859119"/>
                </a:cubicBezTo>
                <a:lnTo>
                  <a:pt x="0" y="8859119"/>
                </a:lnTo>
                <a:close/>
              </a:path>
            </a:pathLst>
          </a:custGeom>
          <a:solidFill>
            <a:srgbClr val="2860A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riangle 107">
            <a:extLst>
              <a:ext uri="{FF2B5EF4-FFF2-40B4-BE49-F238E27FC236}">
                <a16:creationId xmlns:a16="http://schemas.microsoft.com/office/drawing/2014/main" id="{04B9BC41-552F-8B76-5C19-90EC87CEB1C8}"/>
              </a:ext>
            </a:extLst>
          </p:cNvPr>
          <p:cNvSpPr/>
          <p:nvPr/>
        </p:nvSpPr>
        <p:spPr>
          <a:xfrm rot="16200000" flipH="1">
            <a:off x="6642039" y="-2541515"/>
            <a:ext cx="248835" cy="8905665"/>
          </a:xfrm>
          <a:prstGeom prst="triangle">
            <a:avLst/>
          </a:prstGeom>
          <a:solidFill>
            <a:srgbClr val="E1A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riangle 89">
            <a:extLst>
              <a:ext uri="{FF2B5EF4-FFF2-40B4-BE49-F238E27FC236}">
                <a16:creationId xmlns:a16="http://schemas.microsoft.com/office/drawing/2014/main" id="{254B337A-AC28-D066-3E9E-15DB3851F3E5}"/>
              </a:ext>
            </a:extLst>
          </p:cNvPr>
          <p:cNvSpPr/>
          <p:nvPr/>
        </p:nvSpPr>
        <p:spPr>
          <a:xfrm rot="16200000">
            <a:off x="6979903" y="-2829235"/>
            <a:ext cx="91440" cy="8387332"/>
          </a:xfrm>
          <a:prstGeom prst="triangle">
            <a:avLst/>
          </a:prstGeom>
          <a:solidFill>
            <a:srgbClr val="0C75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9B70C5-16D4-AB27-B1B7-A83F351B2F63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History of open-source datasets availability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32A509-3535-E307-A030-B49CC09663B0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45F07340-7FFD-53E9-7570-C881C5233224}"/>
              </a:ext>
            </a:extLst>
          </p:cNvPr>
          <p:cNvSpPr/>
          <p:nvPr/>
        </p:nvSpPr>
        <p:spPr>
          <a:xfrm flipH="1">
            <a:off x="2694800" y="1126450"/>
            <a:ext cx="927" cy="4544568"/>
          </a:xfrm>
          <a:prstGeom prst="line">
            <a:avLst/>
          </a:prstGeom>
          <a:noFill/>
          <a:ln w="12700">
            <a:solidFill>
              <a:srgbClr val="DCE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CA92493-824C-21A9-41B3-924591C254D4}"/>
              </a:ext>
            </a:extLst>
          </p:cNvPr>
          <p:cNvSpPr/>
          <p:nvPr/>
        </p:nvSpPr>
        <p:spPr>
          <a:xfrm>
            <a:off x="2329967" y="56868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</a:t>
            </a:r>
            <a:endParaRPr lang="en-US" sz="11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A83F28F0-B0B8-420A-9DEE-523F1E91FAE5}"/>
              </a:ext>
            </a:extLst>
          </p:cNvPr>
          <p:cNvSpPr/>
          <p:nvPr/>
        </p:nvSpPr>
        <p:spPr>
          <a:xfrm flipH="1">
            <a:off x="3778503" y="1126450"/>
            <a:ext cx="926" cy="4544568"/>
          </a:xfrm>
          <a:prstGeom prst="line">
            <a:avLst/>
          </a:prstGeom>
          <a:noFill/>
          <a:ln w="12700">
            <a:solidFill>
              <a:srgbClr val="DCE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A834E33A-FB18-DC32-E609-603C8AD51333}"/>
              </a:ext>
            </a:extLst>
          </p:cNvPr>
          <p:cNvSpPr/>
          <p:nvPr/>
        </p:nvSpPr>
        <p:spPr>
          <a:xfrm>
            <a:off x="3413669" y="56868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</a:t>
            </a:r>
            <a:endParaRPr lang="en-US" sz="11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65D551D2-CD69-5B48-358A-54D1D0E4D166}"/>
              </a:ext>
            </a:extLst>
          </p:cNvPr>
          <p:cNvSpPr/>
          <p:nvPr/>
        </p:nvSpPr>
        <p:spPr>
          <a:xfrm>
            <a:off x="4895941" y="1126450"/>
            <a:ext cx="0" cy="4544568"/>
          </a:xfrm>
          <a:prstGeom prst="line">
            <a:avLst/>
          </a:prstGeom>
          <a:noFill/>
          <a:ln w="12700">
            <a:solidFill>
              <a:srgbClr val="DCE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2BE0112-56EF-E64B-EC07-BF1134D9C016}"/>
              </a:ext>
            </a:extLst>
          </p:cNvPr>
          <p:cNvSpPr/>
          <p:nvPr/>
        </p:nvSpPr>
        <p:spPr>
          <a:xfrm>
            <a:off x="4530181" y="56868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</a:t>
            </a:r>
            <a:endParaRPr lang="en-US" sz="1100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35E02DD2-0AE4-7FA7-690B-210B36860D20}"/>
              </a:ext>
            </a:extLst>
          </p:cNvPr>
          <p:cNvSpPr/>
          <p:nvPr/>
        </p:nvSpPr>
        <p:spPr>
          <a:xfrm flipH="1">
            <a:off x="6258264" y="1126450"/>
            <a:ext cx="1" cy="4544568"/>
          </a:xfrm>
          <a:prstGeom prst="line">
            <a:avLst/>
          </a:prstGeom>
          <a:noFill/>
          <a:ln w="12700">
            <a:solidFill>
              <a:srgbClr val="DCE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0C1B6B2C-01E8-06C7-F625-4FAC131347FE}"/>
              </a:ext>
            </a:extLst>
          </p:cNvPr>
          <p:cNvSpPr/>
          <p:nvPr/>
        </p:nvSpPr>
        <p:spPr>
          <a:xfrm>
            <a:off x="5892505" y="56868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10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1676A534-733F-BA94-F257-297C90113AE4}"/>
              </a:ext>
            </a:extLst>
          </p:cNvPr>
          <p:cNvSpPr/>
          <p:nvPr/>
        </p:nvSpPr>
        <p:spPr>
          <a:xfrm>
            <a:off x="8010550" y="1126450"/>
            <a:ext cx="3273" cy="4544568"/>
          </a:xfrm>
          <a:prstGeom prst="line">
            <a:avLst/>
          </a:prstGeom>
          <a:noFill/>
          <a:ln w="12700">
            <a:solidFill>
              <a:srgbClr val="DCE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E0093DF9-14D2-88FD-0377-8154663ABCF5}"/>
              </a:ext>
            </a:extLst>
          </p:cNvPr>
          <p:cNvSpPr/>
          <p:nvPr/>
        </p:nvSpPr>
        <p:spPr>
          <a:xfrm>
            <a:off x="7644791" y="56868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100" dirty="0"/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04626CAA-95DB-676C-DFFD-D9515112F078}"/>
              </a:ext>
            </a:extLst>
          </p:cNvPr>
          <p:cNvSpPr/>
          <p:nvPr/>
        </p:nvSpPr>
        <p:spPr>
          <a:xfrm flipH="1">
            <a:off x="9759565" y="1126449"/>
            <a:ext cx="3273" cy="4544567"/>
          </a:xfrm>
          <a:prstGeom prst="line">
            <a:avLst/>
          </a:prstGeom>
          <a:noFill/>
          <a:ln w="12700">
            <a:solidFill>
              <a:srgbClr val="DCE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446184E5-7B3D-ACF9-C5EA-8B56BF3AAD0D}"/>
              </a:ext>
            </a:extLst>
          </p:cNvPr>
          <p:cNvSpPr/>
          <p:nvPr/>
        </p:nvSpPr>
        <p:spPr>
          <a:xfrm>
            <a:off x="9399767" y="56868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4E941B50-5D4A-E6E9-3EBF-801EBD6D0316}"/>
              </a:ext>
            </a:extLst>
          </p:cNvPr>
          <p:cNvSpPr/>
          <p:nvPr/>
        </p:nvSpPr>
        <p:spPr>
          <a:xfrm>
            <a:off x="2831958" y="1350479"/>
            <a:ext cx="8387331" cy="4571"/>
          </a:xfrm>
          <a:prstGeom prst="line">
            <a:avLst/>
          </a:prstGeom>
          <a:noFill/>
          <a:ln w="25400">
            <a:solidFill>
              <a:srgbClr val="0B7F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6790C46D-4070-9FCD-B9BF-8EC27266569D}"/>
              </a:ext>
            </a:extLst>
          </p:cNvPr>
          <p:cNvSpPr/>
          <p:nvPr/>
        </p:nvSpPr>
        <p:spPr>
          <a:xfrm>
            <a:off x="127618" y="120874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7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Structures</a:t>
            </a:r>
            <a:endParaRPr lang="en-US" sz="120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A8594AF6-4056-3D58-27A2-477BE0E98304}"/>
              </a:ext>
            </a:extLst>
          </p:cNvPr>
          <p:cNvSpPr/>
          <p:nvPr/>
        </p:nvSpPr>
        <p:spPr>
          <a:xfrm>
            <a:off x="127618" y="175738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Structures</a:t>
            </a:r>
            <a:endParaRPr lang="en-US" sz="1200" dirty="0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21FA4E17-252D-1C66-AAD5-2D7CFE4A0893}"/>
              </a:ext>
            </a:extLst>
          </p:cNvPr>
          <p:cNvSpPr/>
          <p:nvPr/>
        </p:nvSpPr>
        <p:spPr>
          <a:xfrm>
            <a:off x="127618" y="285466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6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(proprietary)</a:t>
            </a:r>
            <a:endParaRPr lang="en-US" sz="1200" dirty="0"/>
          </a:p>
        </p:txBody>
      </p:sp>
      <p:sp>
        <p:nvSpPr>
          <p:cNvPr id="38" name="Shape 28">
            <a:extLst>
              <a:ext uri="{FF2B5EF4-FFF2-40B4-BE49-F238E27FC236}">
                <a16:creationId xmlns:a16="http://schemas.microsoft.com/office/drawing/2014/main" id="{A0DCBCF2-D6D9-CBD7-8D71-436236FE3C04}"/>
              </a:ext>
            </a:extLst>
          </p:cNvPr>
          <p:cNvSpPr/>
          <p:nvPr/>
        </p:nvSpPr>
        <p:spPr>
          <a:xfrm>
            <a:off x="2831959" y="1131022"/>
            <a:ext cx="0" cy="155448"/>
          </a:xfrm>
          <a:prstGeom prst="line">
            <a:avLst/>
          </a:prstGeom>
          <a:noFill/>
          <a:ln w="15240">
            <a:solidFill>
              <a:srgbClr val="0B7F6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59ADB092-E70B-B824-A695-2190A4412FFD}"/>
              </a:ext>
            </a:extLst>
          </p:cNvPr>
          <p:cNvSpPr/>
          <p:nvPr/>
        </p:nvSpPr>
        <p:spPr>
          <a:xfrm>
            <a:off x="2763379" y="1286470"/>
            <a:ext cx="137160" cy="137160"/>
          </a:xfrm>
          <a:prstGeom prst="ellipse">
            <a:avLst/>
          </a:prstGeom>
          <a:solidFill>
            <a:srgbClr val="0B7F63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>
            <a:extLst>
              <a:ext uri="{FF2B5EF4-FFF2-40B4-BE49-F238E27FC236}">
                <a16:creationId xmlns:a16="http://schemas.microsoft.com/office/drawing/2014/main" id="{7F552D6C-792E-8F8A-C83B-A39A280D4305}"/>
              </a:ext>
            </a:extLst>
          </p:cNvPr>
          <p:cNvSpPr/>
          <p:nvPr/>
        </p:nvSpPr>
        <p:spPr>
          <a:xfrm>
            <a:off x="2194012" y="8230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900" dirty="0"/>
          </a:p>
        </p:txBody>
      </p:sp>
      <p:sp>
        <p:nvSpPr>
          <p:cNvPr id="44" name="Shape 34">
            <a:extLst>
              <a:ext uri="{FF2B5EF4-FFF2-40B4-BE49-F238E27FC236}">
                <a16:creationId xmlns:a16="http://schemas.microsoft.com/office/drawing/2014/main" id="{00CCF5FF-8FF2-2730-F420-22F2C19DD685}"/>
              </a:ext>
            </a:extLst>
          </p:cNvPr>
          <p:cNvSpPr/>
          <p:nvPr/>
        </p:nvSpPr>
        <p:spPr>
          <a:xfrm>
            <a:off x="2364187" y="1679662"/>
            <a:ext cx="0" cy="155448"/>
          </a:xfrm>
          <a:prstGeom prst="line">
            <a:avLst/>
          </a:prstGeom>
          <a:noFill/>
          <a:ln w="15240">
            <a:solidFill>
              <a:srgbClr val="E0A52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5">
            <a:extLst>
              <a:ext uri="{FF2B5EF4-FFF2-40B4-BE49-F238E27FC236}">
                <a16:creationId xmlns:a16="http://schemas.microsoft.com/office/drawing/2014/main" id="{1F768E2D-F2AE-86AD-118A-7AD75A8ABD4C}"/>
              </a:ext>
            </a:extLst>
          </p:cNvPr>
          <p:cNvSpPr/>
          <p:nvPr/>
        </p:nvSpPr>
        <p:spPr>
          <a:xfrm>
            <a:off x="2295607" y="1835110"/>
            <a:ext cx="137160" cy="13716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E0A5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6">
            <a:extLst>
              <a:ext uri="{FF2B5EF4-FFF2-40B4-BE49-F238E27FC236}">
                <a16:creationId xmlns:a16="http://schemas.microsoft.com/office/drawing/2014/main" id="{5AF2643A-1FA0-D74B-4484-2831F13DF6E9}"/>
              </a:ext>
            </a:extLst>
          </p:cNvPr>
          <p:cNvSpPr/>
          <p:nvPr/>
        </p:nvSpPr>
        <p:spPr>
          <a:xfrm>
            <a:off x="1724107" y="140534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</a:t>
            </a:r>
            <a:endParaRPr lang="en-US" sz="900" dirty="0"/>
          </a:p>
        </p:txBody>
      </p:sp>
      <p:sp>
        <p:nvSpPr>
          <p:cNvPr id="47" name="Shape 37">
            <a:extLst>
              <a:ext uri="{FF2B5EF4-FFF2-40B4-BE49-F238E27FC236}">
                <a16:creationId xmlns:a16="http://schemas.microsoft.com/office/drawing/2014/main" id="{FDDA0AD3-262E-7E82-8B0A-0990D5E31DC6}"/>
              </a:ext>
            </a:extLst>
          </p:cNvPr>
          <p:cNvSpPr/>
          <p:nvPr/>
        </p:nvSpPr>
        <p:spPr>
          <a:xfrm>
            <a:off x="3530093" y="1679662"/>
            <a:ext cx="0" cy="155448"/>
          </a:xfrm>
          <a:prstGeom prst="line">
            <a:avLst/>
          </a:prstGeom>
          <a:noFill/>
          <a:ln w="15240">
            <a:solidFill>
              <a:srgbClr val="E0A52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8">
            <a:extLst>
              <a:ext uri="{FF2B5EF4-FFF2-40B4-BE49-F238E27FC236}">
                <a16:creationId xmlns:a16="http://schemas.microsoft.com/office/drawing/2014/main" id="{29650520-C4F1-D8EB-F323-5AAB6EDA10E5}"/>
              </a:ext>
            </a:extLst>
          </p:cNvPr>
          <p:cNvSpPr/>
          <p:nvPr/>
        </p:nvSpPr>
        <p:spPr>
          <a:xfrm>
            <a:off x="3474960" y="1835110"/>
            <a:ext cx="137160" cy="13716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E0A5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9">
            <a:extLst>
              <a:ext uri="{FF2B5EF4-FFF2-40B4-BE49-F238E27FC236}">
                <a16:creationId xmlns:a16="http://schemas.microsoft.com/office/drawing/2014/main" id="{9ADA0EFF-BF9D-39D2-07FD-87D3A6377743}"/>
              </a:ext>
            </a:extLst>
          </p:cNvPr>
          <p:cNvSpPr/>
          <p:nvPr/>
        </p:nvSpPr>
        <p:spPr>
          <a:xfrm>
            <a:off x="2890013" y="140534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ICSD</a:t>
            </a:r>
            <a:endParaRPr lang="en-US" sz="900" dirty="0"/>
          </a:p>
        </p:txBody>
      </p:sp>
      <p:sp>
        <p:nvSpPr>
          <p:cNvPr id="56" name="Shape 46">
            <a:extLst>
              <a:ext uri="{FF2B5EF4-FFF2-40B4-BE49-F238E27FC236}">
                <a16:creationId xmlns:a16="http://schemas.microsoft.com/office/drawing/2014/main" id="{20CC9B7B-DC81-A965-4C54-3FDE5B4FE80F}"/>
              </a:ext>
            </a:extLst>
          </p:cNvPr>
          <p:cNvSpPr/>
          <p:nvPr/>
        </p:nvSpPr>
        <p:spPr>
          <a:xfrm>
            <a:off x="2364187" y="2776942"/>
            <a:ext cx="0" cy="155448"/>
          </a:xfrm>
          <a:prstGeom prst="line">
            <a:avLst/>
          </a:prstGeom>
          <a:noFill/>
          <a:ln w="15240">
            <a:solidFill>
              <a:srgbClr val="2E6FB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7">
            <a:extLst>
              <a:ext uri="{FF2B5EF4-FFF2-40B4-BE49-F238E27FC236}">
                <a16:creationId xmlns:a16="http://schemas.microsoft.com/office/drawing/2014/main" id="{E58CD22A-A3BF-9311-85B6-9E8899CE1441}"/>
              </a:ext>
            </a:extLst>
          </p:cNvPr>
          <p:cNvSpPr/>
          <p:nvPr/>
        </p:nvSpPr>
        <p:spPr>
          <a:xfrm>
            <a:off x="2295607" y="2932390"/>
            <a:ext cx="137160" cy="13716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E6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8">
            <a:extLst>
              <a:ext uri="{FF2B5EF4-FFF2-40B4-BE49-F238E27FC236}">
                <a16:creationId xmlns:a16="http://schemas.microsoft.com/office/drawing/2014/main" id="{2A5CDC56-1577-3743-D8A2-CFB3B3310A6C}"/>
              </a:ext>
            </a:extLst>
          </p:cNvPr>
          <p:cNvSpPr/>
          <p:nvPr/>
        </p:nvSpPr>
        <p:spPr>
          <a:xfrm>
            <a:off x="1724107" y="250262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Registry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computerized</a:t>
            </a:r>
            <a:endParaRPr lang="en-US" sz="900" dirty="0"/>
          </a:p>
        </p:txBody>
      </p:sp>
      <p:sp>
        <p:nvSpPr>
          <p:cNvPr id="59" name="Shape 49">
            <a:extLst>
              <a:ext uri="{FF2B5EF4-FFF2-40B4-BE49-F238E27FC236}">
                <a16:creationId xmlns:a16="http://schemas.microsoft.com/office/drawing/2014/main" id="{3188B2DC-F7CB-6541-4228-5BFDFCD60297}"/>
              </a:ext>
            </a:extLst>
          </p:cNvPr>
          <p:cNvSpPr/>
          <p:nvPr/>
        </p:nvSpPr>
        <p:spPr>
          <a:xfrm>
            <a:off x="5577103" y="2776942"/>
            <a:ext cx="0" cy="155448"/>
          </a:xfrm>
          <a:prstGeom prst="line">
            <a:avLst/>
          </a:prstGeom>
          <a:noFill/>
          <a:ln w="15240">
            <a:solidFill>
              <a:srgbClr val="2E6FB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0">
            <a:extLst>
              <a:ext uri="{FF2B5EF4-FFF2-40B4-BE49-F238E27FC236}">
                <a16:creationId xmlns:a16="http://schemas.microsoft.com/office/drawing/2014/main" id="{A24BA154-61CE-7056-FB35-66C617403C18}"/>
              </a:ext>
            </a:extLst>
          </p:cNvPr>
          <p:cNvSpPr/>
          <p:nvPr/>
        </p:nvSpPr>
        <p:spPr>
          <a:xfrm>
            <a:off x="5508523" y="2932390"/>
            <a:ext cx="137160" cy="13716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E6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1">
            <a:extLst>
              <a:ext uri="{FF2B5EF4-FFF2-40B4-BE49-F238E27FC236}">
                <a16:creationId xmlns:a16="http://schemas.microsoft.com/office/drawing/2014/main" id="{3AD21723-866C-24FF-6373-77F87CF4CF23}"/>
              </a:ext>
            </a:extLst>
          </p:cNvPr>
          <p:cNvSpPr/>
          <p:nvPr/>
        </p:nvSpPr>
        <p:spPr>
          <a:xfrm>
            <a:off x="4937023" y="250262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 err="1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SciFinder</a:t>
            </a:r>
            <a:endParaRPr lang="en-US" sz="900" dirty="0"/>
          </a:p>
        </p:txBody>
      </p:sp>
      <p:sp>
        <p:nvSpPr>
          <p:cNvPr id="62" name="Shape 52">
            <a:extLst>
              <a:ext uri="{FF2B5EF4-FFF2-40B4-BE49-F238E27FC236}">
                <a16:creationId xmlns:a16="http://schemas.microsoft.com/office/drawing/2014/main" id="{17A141FA-8A9B-B1C6-C051-896001C73AE6}"/>
              </a:ext>
            </a:extLst>
          </p:cNvPr>
          <p:cNvSpPr/>
          <p:nvPr/>
        </p:nvSpPr>
        <p:spPr>
          <a:xfrm>
            <a:off x="7874319" y="2776942"/>
            <a:ext cx="0" cy="155448"/>
          </a:xfrm>
          <a:prstGeom prst="line">
            <a:avLst/>
          </a:prstGeom>
          <a:noFill/>
          <a:ln w="15240">
            <a:solidFill>
              <a:srgbClr val="2E6FB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3">
            <a:extLst>
              <a:ext uri="{FF2B5EF4-FFF2-40B4-BE49-F238E27FC236}">
                <a16:creationId xmlns:a16="http://schemas.microsoft.com/office/drawing/2014/main" id="{A88FB3D8-9E7E-715D-346E-579776E41375}"/>
              </a:ext>
            </a:extLst>
          </p:cNvPr>
          <p:cNvSpPr/>
          <p:nvPr/>
        </p:nvSpPr>
        <p:spPr>
          <a:xfrm>
            <a:off x="7805739" y="2932390"/>
            <a:ext cx="137160" cy="13716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E6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4">
            <a:extLst>
              <a:ext uri="{FF2B5EF4-FFF2-40B4-BE49-F238E27FC236}">
                <a16:creationId xmlns:a16="http://schemas.microsoft.com/office/drawing/2014/main" id="{02388CF6-999B-D02D-7130-A1770CB3D670}"/>
              </a:ext>
            </a:extLst>
          </p:cNvPr>
          <p:cNvSpPr/>
          <p:nvPr/>
        </p:nvSpPr>
        <p:spPr>
          <a:xfrm>
            <a:off x="7234239" y="250262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 err="1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Reaxys</a:t>
            </a: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platform</a:t>
            </a:r>
            <a:endParaRPr lang="en-US" sz="900" dirty="0"/>
          </a:p>
        </p:txBody>
      </p:sp>
      <p:sp>
        <p:nvSpPr>
          <p:cNvPr id="65" name="Shape 55">
            <a:extLst>
              <a:ext uri="{FF2B5EF4-FFF2-40B4-BE49-F238E27FC236}">
                <a16:creationId xmlns:a16="http://schemas.microsoft.com/office/drawing/2014/main" id="{74664922-003C-F43A-370A-1D13C250FFDF}"/>
              </a:ext>
            </a:extLst>
          </p:cNvPr>
          <p:cNvSpPr/>
          <p:nvPr/>
        </p:nvSpPr>
        <p:spPr>
          <a:xfrm>
            <a:off x="8691713" y="3069550"/>
            <a:ext cx="0" cy="155448"/>
          </a:xfrm>
          <a:prstGeom prst="line">
            <a:avLst/>
          </a:prstGeom>
          <a:noFill/>
          <a:ln w="15240">
            <a:solidFill>
              <a:srgbClr val="2E6FB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56">
            <a:extLst>
              <a:ext uri="{FF2B5EF4-FFF2-40B4-BE49-F238E27FC236}">
                <a16:creationId xmlns:a16="http://schemas.microsoft.com/office/drawing/2014/main" id="{7657FA8E-61AB-B989-5440-882208E776E7}"/>
              </a:ext>
            </a:extLst>
          </p:cNvPr>
          <p:cNvSpPr/>
          <p:nvPr/>
        </p:nvSpPr>
        <p:spPr>
          <a:xfrm>
            <a:off x="8623133" y="2932390"/>
            <a:ext cx="137160" cy="13716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E6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7">
            <a:extLst>
              <a:ext uri="{FF2B5EF4-FFF2-40B4-BE49-F238E27FC236}">
                <a16:creationId xmlns:a16="http://schemas.microsoft.com/office/drawing/2014/main" id="{A85334FC-9C44-967C-6A1F-9B2BBB567C24}"/>
              </a:ext>
            </a:extLst>
          </p:cNvPr>
          <p:cNvSpPr/>
          <p:nvPr/>
        </p:nvSpPr>
        <p:spPr>
          <a:xfrm>
            <a:off x="8051633" y="322499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Pistachio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(NextMove)</a:t>
            </a:r>
            <a:endParaRPr lang="en-US" sz="900" dirty="0"/>
          </a:p>
        </p:txBody>
      </p:sp>
      <p:sp>
        <p:nvSpPr>
          <p:cNvPr id="86" name="Shape 76">
            <a:extLst>
              <a:ext uri="{FF2B5EF4-FFF2-40B4-BE49-F238E27FC236}">
                <a16:creationId xmlns:a16="http://schemas.microsoft.com/office/drawing/2014/main" id="{FAB348C8-35F0-1329-DB98-EF05FCBE545C}"/>
              </a:ext>
            </a:extLst>
          </p:cNvPr>
          <p:cNvSpPr/>
          <p:nvPr/>
        </p:nvSpPr>
        <p:spPr>
          <a:xfrm>
            <a:off x="153803" y="5835201"/>
            <a:ext cx="137160" cy="137160"/>
          </a:xfrm>
          <a:prstGeom prst="ellipse">
            <a:avLst/>
          </a:prstGeom>
          <a:solidFill>
            <a:srgbClr val="123830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77">
            <a:extLst>
              <a:ext uri="{FF2B5EF4-FFF2-40B4-BE49-F238E27FC236}">
                <a16:creationId xmlns:a16="http://schemas.microsoft.com/office/drawing/2014/main" id="{7CE55463-636E-7056-A921-584C7E2C8A8F}"/>
              </a:ext>
            </a:extLst>
          </p:cNvPr>
          <p:cNvSpPr/>
          <p:nvPr/>
        </p:nvSpPr>
        <p:spPr>
          <a:xfrm>
            <a:off x="409835" y="577441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free access</a:t>
            </a:r>
            <a:endParaRPr lang="en-US" sz="1150" dirty="0"/>
          </a:p>
        </p:txBody>
      </p:sp>
      <p:sp>
        <p:nvSpPr>
          <p:cNvPr id="88" name="Shape 78">
            <a:extLst>
              <a:ext uri="{FF2B5EF4-FFF2-40B4-BE49-F238E27FC236}">
                <a16:creationId xmlns:a16="http://schemas.microsoft.com/office/drawing/2014/main" id="{C39524E7-0F88-4AB1-761F-EA3C4D72EFB3}"/>
              </a:ext>
            </a:extLst>
          </p:cNvPr>
          <p:cNvSpPr/>
          <p:nvPr/>
        </p:nvSpPr>
        <p:spPr>
          <a:xfrm>
            <a:off x="153803" y="6046324"/>
            <a:ext cx="137160" cy="13716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23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79">
            <a:extLst>
              <a:ext uri="{FF2B5EF4-FFF2-40B4-BE49-F238E27FC236}">
                <a16:creationId xmlns:a16="http://schemas.microsoft.com/office/drawing/2014/main" id="{3AD6E2D5-910E-67E8-7127-00861AA25D9D}"/>
              </a:ext>
            </a:extLst>
          </p:cNvPr>
          <p:cNvSpPr/>
          <p:nvPr/>
        </p:nvSpPr>
        <p:spPr>
          <a:xfrm>
            <a:off x="399675" y="600989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/ restricted access</a:t>
            </a:r>
            <a:endParaRPr lang="en-US" sz="115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6EC16A4-27BD-BFF4-FC4D-A9D5E01F94C2}"/>
              </a:ext>
            </a:extLst>
          </p:cNvPr>
          <p:cNvSpPr txBox="1"/>
          <p:nvPr/>
        </p:nvSpPr>
        <p:spPr>
          <a:xfrm>
            <a:off x="11239636" y="1178378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 k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8C65026-267C-CB51-109A-C03FC7247701}"/>
              </a:ext>
            </a:extLst>
          </p:cNvPr>
          <p:cNvSpPr txBox="1"/>
          <p:nvPr/>
        </p:nvSpPr>
        <p:spPr>
          <a:xfrm>
            <a:off x="11239636" y="1740684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1.7 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A8E41DB-963D-DC11-ECD1-06E52B1D5924}"/>
              </a:ext>
            </a:extLst>
          </p:cNvPr>
          <p:cNvGrpSpPr/>
          <p:nvPr/>
        </p:nvGrpSpPr>
        <p:grpSpPr>
          <a:xfrm>
            <a:off x="127618" y="1953982"/>
            <a:ext cx="11852926" cy="668146"/>
            <a:chOff x="127618" y="1953982"/>
            <a:chExt cx="11852926" cy="668146"/>
          </a:xfrm>
        </p:grpSpPr>
        <p:sp>
          <p:nvSpPr>
            <p:cNvPr id="109" name="Triangle 108">
              <a:extLst>
                <a:ext uri="{FF2B5EF4-FFF2-40B4-BE49-F238E27FC236}">
                  <a16:creationId xmlns:a16="http://schemas.microsoft.com/office/drawing/2014/main" id="{987E7058-56C7-ED31-2118-4019AA7DC153}"/>
                </a:ext>
              </a:extLst>
            </p:cNvPr>
            <p:cNvSpPr/>
            <p:nvPr/>
          </p:nvSpPr>
          <p:spPr>
            <a:xfrm rot="16200000" flipH="1">
              <a:off x="9604994" y="985337"/>
              <a:ext cx="292317" cy="2936273"/>
            </a:xfrm>
            <a:prstGeom prst="triangle">
              <a:avLst/>
            </a:prstGeom>
            <a:solidFill>
              <a:srgbClr val="2860A1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D0D2BCDD-D26F-A389-418E-4F02F70C6241}"/>
                </a:ext>
              </a:extLst>
            </p:cNvPr>
            <p:cNvSpPr/>
            <p:nvPr/>
          </p:nvSpPr>
          <p:spPr>
            <a:xfrm>
              <a:off x="127618" y="2306026"/>
              <a:ext cx="1554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2E6FB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Reactions (open)</a:t>
              </a:r>
              <a:endParaRPr lang="en-US" sz="1200" dirty="0"/>
            </a:p>
          </p:txBody>
        </p:sp>
        <p:sp>
          <p:nvSpPr>
            <p:cNvPr id="50" name="Shape 40">
              <a:extLst>
                <a:ext uri="{FF2B5EF4-FFF2-40B4-BE49-F238E27FC236}">
                  <a16:creationId xmlns:a16="http://schemas.microsoft.com/office/drawing/2014/main" id="{1D71A728-6201-DCF7-435E-5A7C77E0D272}"/>
                </a:ext>
              </a:extLst>
            </p:cNvPr>
            <p:cNvSpPr/>
            <p:nvPr/>
          </p:nvSpPr>
          <p:spPr>
            <a:xfrm>
              <a:off x="8283016" y="2228302"/>
              <a:ext cx="0" cy="155448"/>
            </a:xfrm>
            <a:prstGeom prst="line">
              <a:avLst/>
            </a:prstGeom>
            <a:noFill/>
            <a:ln w="15240">
              <a:solidFill>
                <a:srgbClr val="2E6FBA">
                  <a:alpha val="6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41">
              <a:extLst>
                <a:ext uri="{FF2B5EF4-FFF2-40B4-BE49-F238E27FC236}">
                  <a16:creationId xmlns:a16="http://schemas.microsoft.com/office/drawing/2014/main" id="{8618A821-3A90-0852-81C4-4E1733D07712}"/>
                </a:ext>
              </a:extLst>
            </p:cNvPr>
            <p:cNvSpPr/>
            <p:nvPr/>
          </p:nvSpPr>
          <p:spPr>
            <a:xfrm>
              <a:off x="8214436" y="2383750"/>
              <a:ext cx="137160" cy="137160"/>
            </a:xfrm>
            <a:prstGeom prst="ellipse">
              <a:avLst/>
            </a:prstGeom>
            <a:solidFill>
              <a:srgbClr val="2E6FBA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42">
              <a:extLst>
                <a:ext uri="{FF2B5EF4-FFF2-40B4-BE49-F238E27FC236}">
                  <a16:creationId xmlns:a16="http://schemas.microsoft.com/office/drawing/2014/main" id="{5C441427-35FF-1827-9618-46B4B29EE209}"/>
                </a:ext>
              </a:extLst>
            </p:cNvPr>
            <p:cNvSpPr/>
            <p:nvPr/>
          </p:nvSpPr>
          <p:spPr>
            <a:xfrm>
              <a:off x="7642936" y="1953982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123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USPTO reaction</a:t>
              </a:r>
              <a:endParaRPr lang="en-US" sz="900" dirty="0"/>
            </a:p>
            <a:p>
              <a:pPr marL="0" indent="0" algn="ctr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123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dataset (Lowe)</a:t>
              </a:r>
              <a:endParaRPr lang="en-US" sz="900" dirty="0"/>
            </a:p>
          </p:txBody>
        </p:sp>
        <p:sp>
          <p:nvSpPr>
            <p:cNvPr id="53" name="Shape 43">
              <a:extLst>
                <a:ext uri="{FF2B5EF4-FFF2-40B4-BE49-F238E27FC236}">
                  <a16:creationId xmlns:a16="http://schemas.microsoft.com/office/drawing/2014/main" id="{29792344-51E3-B01E-D335-A6D9BFD7E8AE}"/>
                </a:ext>
              </a:extLst>
            </p:cNvPr>
            <p:cNvSpPr/>
            <p:nvPr/>
          </p:nvSpPr>
          <p:spPr>
            <a:xfrm>
              <a:off x="9899070" y="2228302"/>
              <a:ext cx="0" cy="155448"/>
            </a:xfrm>
            <a:prstGeom prst="line">
              <a:avLst/>
            </a:prstGeom>
            <a:noFill/>
            <a:ln w="15240">
              <a:solidFill>
                <a:srgbClr val="2E6FBA">
                  <a:alpha val="6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44">
              <a:extLst>
                <a:ext uri="{FF2B5EF4-FFF2-40B4-BE49-F238E27FC236}">
                  <a16:creationId xmlns:a16="http://schemas.microsoft.com/office/drawing/2014/main" id="{9046A433-5535-8A13-7F7E-761EE471D214}"/>
                </a:ext>
              </a:extLst>
            </p:cNvPr>
            <p:cNvSpPr/>
            <p:nvPr/>
          </p:nvSpPr>
          <p:spPr>
            <a:xfrm>
              <a:off x="9830490" y="2383750"/>
              <a:ext cx="137160" cy="137160"/>
            </a:xfrm>
            <a:prstGeom prst="ellipse">
              <a:avLst/>
            </a:prstGeom>
            <a:solidFill>
              <a:srgbClr val="2E6FBA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45">
              <a:extLst>
                <a:ext uri="{FF2B5EF4-FFF2-40B4-BE49-F238E27FC236}">
                  <a16:creationId xmlns:a16="http://schemas.microsoft.com/office/drawing/2014/main" id="{758A5297-DE99-12A8-73CD-08BECE064D2A}"/>
                </a:ext>
              </a:extLst>
            </p:cNvPr>
            <p:cNvSpPr/>
            <p:nvPr/>
          </p:nvSpPr>
          <p:spPr>
            <a:xfrm>
              <a:off x="9258990" y="1953982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123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 Reaction</a:t>
              </a:r>
              <a:endParaRPr lang="en-US" sz="900" dirty="0"/>
            </a:p>
            <a:p>
              <a:pPr marL="0" indent="0" algn="ctr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123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Database (ORD)</a:t>
              </a:r>
              <a:endParaRPr lang="en-US" sz="900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B5DF6E6-29A2-D436-1DC5-1EDBE14F2D05}"/>
                </a:ext>
              </a:extLst>
            </p:cNvPr>
            <p:cNvSpPr txBox="1"/>
            <p:nvPr/>
          </p:nvSpPr>
          <p:spPr>
            <a:xfrm>
              <a:off x="11239636" y="2252796"/>
              <a:ext cx="740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2.0 m</a:t>
              </a: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EE33D3DC-E19C-AEDB-974A-4E4322632EB4}"/>
              </a:ext>
            </a:extLst>
          </p:cNvPr>
          <p:cNvSpPr txBox="1"/>
          <p:nvPr/>
        </p:nvSpPr>
        <p:spPr>
          <a:xfrm>
            <a:off x="11239636" y="2811656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150 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D956404-40A3-9141-7FEE-261CEE21FD13}"/>
              </a:ext>
            </a:extLst>
          </p:cNvPr>
          <p:cNvGrpSpPr/>
          <p:nvPr/>
        </p:nvGrpSpPr>
        <p:grpSpPr>
          <a:xfrm>
            <a:off x="127618" y="3051262"/>
            <a:ext cx="12147879" cy="900684"/>
            <a:chOff x="127618" y="3051262"/>
            <a:chExt cx="12147879" cy="900684"/>
          </a:xfrm>
        </p:grpSpPr>
        <p:sp>
          <p:nvSpPr>
            <p:cNvPr id="114" name="Triangle 110">
              <a:extLst>
                <a:ext uri="{FF2B5EF4-FFF2-40B4-BE49-F238E27FC236}">
                  <a16:creationId xmlns:a16="http://schemas.microsoft.com/office/drawing/2014/main" id="{AE6A38CC-9952-075C-9A95-5C22280FE6AF}"/>
                </a:ext>
              </a:extLst>
            </p:cNvPr>
            <p:cNvSpPr/>
            <p:nvPr/>
          </p:nvSpPr>
          <p:spPr>
            <a:xfrm rot="16200000" flipH="1">
              <a:off x="6445370" y="-1125082"/>
              <a:ext cx="199086" cy="9348751"/>
            </a:xfrm>
            <a:custGeom>
              <a:avLst/>
              <a:gdLst>
                <a:gd name="csX0" fmla="*/ 0 w 294236"/>
                <a:gd name="csY0" fmla="*/ 8859120 h 8859120"/>
                <a:gd name="csX1" fmla="*/ 147118 w 294236"/>
                <a:gd name="csY1" fmla="*/ 0 h 8859120"/>
                <a:gd name="csX2" fmla="*/ 294236 w 294236"/>
                <a:gd name="csY2" fmla="*/ 8859120 h 8859120"/>
                <a:gd name="csX3" fmla="*/ 0 w 294236"/>
                <a:gd name="csY3" fmla="*/ 8859120 h 8859120"/>
                <a:gd name="csX0" fmla="*/ 0 w 294236"/>
                <a:gd name="csY0" fmla="*/ 8859120 h 8859120"/>
                <a:gd name="csX1" fmla="*/ 147118 w 294236"/>
                <a:gd name="csY1" fmla="*/ 0 h 8859120"/>
                <a:gd name="csX2" fmla="*/ 294236 w 294236"/>
                <a:gd name="csY2" fmla="*/ 8859120 h 8859120"/>
                <a:gd name="csX3" fmla="*/ 0 w 294236"/>
                <a:gd name="csY3" fmla="*/ 8859120 h 8859120"/>
                <a:gd name="csX0" fmla="*/ 0 w 294236"/>
                <a:gd name="csY0" fmla="*/ 8859120 h 8859120"/>
                <a:gd name="csX1" fmla="*/ 147118 w 294236"/>
                <a:gd name="csY1" fmla="*/ 0 h 8859120"/>
                <a:gd name="csX2" fmla="*/ 294236 w 294236"/>
                <a:gd name="csY2" fmla="*/ 8859120 h 8859120"/>
                <a:gd name="csX3" fmla="*/ 0 w 294236"/>
                <a:gd name="csY3" fmla="*/ 8859120 h 8859120"/>
                <a:gd name="csX0" fmla="*/ 0 w 294236"/>
                <a:gd name="csY0" fmla="*/ 8859120 h 8859120"/>
                <a:gd name="csX1" fmla="*/ 147118 w 294236"/>
                <a:gd name="csY1" fmla="*/ 0 h 8859120"/>
                <a:gd name="csX2" fmla="*/ 294236 w 294236"/>
                <a:gd name="csY2" fmla="*/ 8859120 h 8859120"/>
                <a:gd name="csX3" fmla="*/ 0 w 294236"/>
                <a:gd name="csY3" fmla="*/ 8859120 h 8859120"/>
                <a:gd name="csX0" fmla="*/ 0 w 294236"/>
                <a:gd name="csY0" fmla="*/ 8859120 h 8859120"/>
                <a:gd name="csX1" fmla="*/ 147118 w 294236"/>
                <a:gd name="csY1" fmla="*/ 0 h 8859120"/>
                <a:gd name="csX2" fmla="*/ 294236 w 294236"/>
                <a:gd name="csY2" fmla="*/ 8859120 h 8859120"/>
                <a:gd name="csX3" fmla="*/ 0 w 294236"/>
                <a:gd name="csY3" fmla="*/ 8859120 h 8859120"/>
                <a:gd name="csX0" fmla="*/ 0 w 294236"/>
                <a:gd name="csY0" fmla="*/ 8859120 h 8859120"/>
                <a:gd name="csX1" fmla="*/ 147118 w 294236"/>
                <a:gd name="csY1" fmla="*/ 0 h 8859120"/>
                <a:gd name="csX2" fmla="*/ 294236 w 294236"/>
                <a:gd name="csY2" fmla="*/ 8859120 h 8859120"/>
                <a:gd name="csX3" fmla="*/ 0 w 294236"/>
                <a:gd name="csY3" fmla="*/ 8859120 h 8859120"/>
                <a:gd name="csX0" fmla="*/ 0 w 294236"/>
                <a:gd name="csY0" fmla="*/ 8859120 h 8859120"/>
                <a:gd name="csX1" fmla="*/ 147118 w 294236"/>
                <a:gd name="csY1" fmla="*/ 0 h 8859120"/>
                <a:gd name="csX2" fmla="*/ 294236 w 294236"/>
                <a:gd name="csY2" fmla="*/ 8859120 h 8859120"/>
                <a:gd name="csX3" fmla="*/ 0 w 294236"/>
                <a:gd name="csY3" fmla="*/ 8859120 h 8859120"/>
                <a:gd name="csX0" fmla="*/ 0 w 294236"/>
                <a:gd name="csY0" fmla="*/ 8859119 h 8859119"/>
                <a:gd name="csX1" fmla="*/ 142788 w 294236"/>
                <a:gd name="csY1" fmla="*/ 0 h 8859119"/>
                <a:gd name="csX2" fmla="*/ 294236 w 294236"/>
                <a:gd name="csY2" fmla="*/ 8859119 h 8859119"/>
                <a:gd name="csX3" fmla="*/ 0 w 294236"/>
                <a:gd name="csY3" fmla="*/ 8859119 h 8859119"/>
                <a:gd name="csX0" fmla="*/ 0 w 294236"/>
                <a:gd name="csY0" fmla="*/ 8859119 h 8859119"/>
                <a:gd name="csX1" fmla="*/ 142788 w 294236"/>
                <a:gd name="csY1" fmla="*/ 0 h 8859119"/>
                <a:gd name="csX2" fmla="*/ 294236 w 294236"/>
                <a:gd name="csY2" fmla="*/ 8859119 h 8859119"/>
                <a:gd name="csX3" fmla="*/ 0 w 294236"/>
                <a:gd name="csY3" fmla="*/ 8859119 h 8859119"/>
                <a:gd name="csX0" fmla="*/ 0 w 294236"/>
                <a:gd name="csY0" fmla="*/ 8859119 h 8859119"/>
                <a:gd name="csX1" fmla="*/ 142788 w 294236"/>
                <a:gd name="csY1" fmla="*/ 0 h 8859119"/>
                <a:gd name="csX2" fmla="*/ 294236 w 294236"/>
                <a:gd name="csY2" fmla="*/ 8859119 h 8859119"/>
                <a:gd name="csX3" fmla="*/ 0 w 294236"/>
                <a:gd name="csY3" fmla="*/ 8859119 h 8859119"/>
                <a:gd name="csX0" fmla="*/ 0 w 294236"/>
                <a:gd name="csY0" fmla="*/ 8859119 h 8859119"/>
                <a:gd name="csX1" fmla="*/ 142788 w 294236"/>
                <a:gd name="csY1" fmla="*/ 0 h 8859119"/>
                <a:gd name="csX2" fmla="*/ 294236 w 294236"/>
                <a:gd name="csY2" fmla="*/ 8859119 h 8859119"/>
                <a:gd name="csX3" fmla="*/ 0 w 294236"/>
                <a:gd name="csY3" fmla="*/ 8859119 h 8859119"/>
                <a:gd name="csX0" fmla="*/ 0 w 294236"/>
                <a:gd name="csY0" fmla="*/ 8859119 h 8859119"/>
                <a:gd name="csX1" fmla="*/ 142788 w 294236"/>
                <a:gd name="csY1" fmla="*/ 0 h 8859119"/>
                <a:gd name="csX2" fmla="*/ 294236 w 294236"/>
                <a:gd name="csY2" fmla="*/ 8859119 h 8859119"/>
                <a:gd name="csX3" fmla="*/ 0 w 294236"/>
                <a:gd name="csY3" fmla="*/ 8859119 h 8859119"/>
                <a:gd name="csX0" fmla="*/ 0 w 294236"/>
                <a:gd name="csY0" fmla="*/ 8859119 h 8859119"/>
                <a:gd name="csX1" fmla="*/ 142788 w 294236"/>
                <a:gd name="csY1" fmla="*/ 0 h 8859119"/>
                <a:gd name="csX2" fmla="*/ 294236 w 294236"/>
                <a:gd name="csY2" fmla="*/ 8859119 h 8859119"/>
                <a:gd name="csX3" fmla="*/ 0 w 294236"/>
                <a:gd name="csY3" fmla="*/ 8859119 h 8859119"/>
                <a:gd name="csX0" fmla="*/ 0 w 294236"/>
                <a:gd name="csY0" fmla="*/ 8859119 h 8859119"/>
                <a:gd name="csX1" fmla="*/ 142788 w 294236"/>
                <a:gd name="csY1" fmla="*/ 0 h 8859119"/>
                <a:gd name="csX2" fmla="*/ 294236 w 294236"/>
                <a:gd name="csY2" fmla="*/ 8859119 h 8859119"/>
                <a:gd name="csX3" fmla="*/ 0 w 294236"/>
                <a:gd name="csY3" fmla="*/ 8859119 h 88591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4236" h="8859119">
                  <a:moveTo>
                    <a:pt x="0" y="8859119"/>
                  </a:moveTo>
                  <a:cubicBezTo>
                    <a:pt x="170478" y="6742634"/>
                    <a:pt x="132724" y="2953040"/>
                    <a:pt x="142788" y="0"/>
                  </a:cubicBezTo>
                  <a:cubicBezTo>
                    <a:pt x="174505" y="2964763"/>
                    <a:pt x="109335" y="6745424"/>
                    <a:pt x="294236" y="8859119"/>
                  </a:cubicBezTo>
                  <a:lnTo>
                    <a:pt x="0" y="8859119"/>
                  </a:lnTo>
                  <a:close/>
                </a:path>
              </a:pathLst>
            </a:custGeom>
            <a:solidFill>
              <a:srgbClr val="C0392A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 23">
              <a:extLst>
                <a:ext uri="{FF2B5EF4-FFF2-40B4-BE49-F238E27FC236}">
                  <a16:creationId xmlns:a16="http://schemas.microsoft.com/office/drawing/2014/main" id="{B22C7F26-BC4C-8538-25C8-46818564B62D}"/>
                </a:ext>
              </a:extLst>
            </p:cNvPr>
            <p:cNvSpPr/>
            <p:nvPr/>
          </p:nvSpPr>
          <p:spPr>
            <a:xfrm>
              <a:off x="127618" y="3403306"/>
              <a:ext cx="1554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Spectroscopy</a:t>
              </a:r>
              <a:endParaRPr lang="en-US" sz="1200" dirty="0"/>
            </a:p>
          </p:txBody>
        </p:sp>
        <p:sp>
          <p:nvSpPr>
            <p:cNvPr id="68" name="Shape 58">
              <a:extLst>
                <a:ext uri="{FF2B5EF4-FFF2-40B4-BE49-F238E27FC236}">
                  <a16:creationId xmlns:a16="http://schemas.microsoft.com/office/drawing/2014/main" id="{F093A630-4213-1430-B156-88E9AE22F70F}"/>
                </a:ext>
              </a:extLst>
            </p:cNvPr>
            <p:cNvSpPr/>
            <p:nvPr/>
          </p:nvSpPr>
          <p:spPr>
            <a:xfrm>
              <a:off x="5849568" y="3325582"/>
              <a:ext cx="0" cy="155448"/>
            </a:xfrm>
            <a:prstGeom prst="line">
              <a:avLst/>
            </a:prstGeom>
            <a:noFill/>
            <a:ln w="15240">
              <a:solidFill>
                <a:srgbClr val="C0392B">
                  <a:alpha val="6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Shape 59">
              <a:extLst>
                <a:ext uri="{FF2B5EF4-FFF2-40B4-BE49-F238E27FC236}">
                  <a16:creationId xmlns:a16="http://schemas.microsoft.com/office/drawing/2014/main" id="{3D0F0671-E711-8C5A-0588-BC8457D998C2}"/>
                </a:ext>
              </a:extLst>
            </p:cNvPr>
            <p:cNvSpPr/>
            <p:nvPr/>
          </p:nvSpPr>
          <p:spPr>
            <a:xfrm>
              <a:off x="5780988" y="3481030"/>
              <a:ext cx="137160" cy="137160"/>
            </a:xfrm>
            <a:prstGeom prst="ellipse">
              <a:avLst/>
            </a:prstGeom>
            <a:solidFill>
              <a:srgbClr val="C0392B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 60">
              <a:extLst>
                <a:ext uri="{FF2B5EF4-FFF2-40B4-BE49-F238E27FC236}">
                  <a16:creationId xmlns:a16="http://schemas.microsoft.com/office/drawing/2014/main" id="{42D25199-B2EF-2802-770A-61A43B714BCF}"/>
                </a:ext>
              </a:extLst>
            </p:cNvPr>
            <p:cNvSpPr/>
            <p:nvPr/>
          </p:nvSpPr>
          <p:spPr>
            <a:xfrm>
              <a:off x="5209488" y="3051262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123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SDBS</a:t>
              </a:r>
              <a:endParaRPr lang="en-US" sz="900" dirty="0"/>
            </a:p>
          </p:txBody>
        </p:sp>
        <p:sp>
          <p:nvSpPr>
            <p:cNvPr id="113" name="Shape 59">
              <a:extLst>
                <a:ext uri="{FF2B5EF4-FFF2-40B4-BE49-F238E27FC236}">
                  <a16:creationId xmlns:a16="http://schemas.microsoft.com/office/drawing/2014/main" id="{7A84151B-35FD-5573-AD6B-39587BC4B493}"/>
                </a:ext>
              </a:extLst>
            </p:cNvPr>
            <p:cNvSpPr/>
            <p:nvPr/>
          </p:nvSpPr>
          <p:spPr>
            <a:xfrm>
              <a:off x="1982709" y="3478554"/>
              <a:ext cx="137160" cy="137160"/>
            </a:xfrm>
            <a:prstGeom prst="ellipse">
              <a:avLst/>
            </a:prstGeom>
            <a:solidFill>
              <a:schemeClr val="bg1"/>
            </a:solidFill>
            <a:ln w="27940">
              <a:solidFill>
                <a:srgbClr val="C039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94843992-E063-6238-8029-B528C557FB0E}"/>
                </a:ext>
              </a:extLst>
            </p:cNvPr>
            <p:cNvSpPr txBox="1"/>
            <p:nvPr/>
          </p:nvSpPr>
          <p:spPr>
            <a:xfrm>
              <a:off x="11239636" y="3376897"/>
              <a:ext cx="10358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10k - 1m</a:t>
              </a:r>
            </a:p>
          </p:txBody>
        </p:sp>
        <p:sp>
          <p:nvSpPr>
            <p:cNvPr id="116" name="Shape 58">
              <a:extLst>
                <a:ext uri="{FF2B5EF4-FFF2-40B4-BE49-F238E27FC236}">
                  <a16:creationId xmlns:a16="http://schemas.microsoft.com/office/drawing/2014/main" id="{8AFE4597-44AE-7DB7-0B95-C8E97BA179FF}"/>
                </a:ext>
              </a:extLst>
            </p:cNvPr>
            <p:cNvSpPr/>
            <p:nvPr/>
          </p:nvSpPr>
          <p:spPr>
            <a:xfrm>
              <a:off x="2052211" y="3651953"/>
              <a:ext cx="0" cy="155448"/>
            </a:xfrm>
            <a:prstGeom prst="line">
              <a:avLst/>
            </a:prstGeom>
            <a:noFill/>
            <a:ln w="15240">
              <a:solidFill>
                <a:srgbClr val="C0392B">
                  <a:alpha val="6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Text 60">
              <a:extLst>
                <a:ext uri="{FF2B5EF4-FFF2-40B4-BE49-F238E27FC236}">
                  <a16:creationId xmlns:a16="http://schemas.microsoft.com/office/drawing/2014/main" id="{6C55B59C-A9BF-5061-2AF6-9095C17A2588}"/>
                </a:ext>
              </a:extLst>
            </p:cNvPr>
            <p:cNvSpPr/>
            <p:nvPr/>
          </p:nvSpPr>
          <p:spPr>
            <a:xfrm>
              <a:off x="1412131" y="3677626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123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NIST/Wiley</a:t>
              </a:r>
              <a:endParaRPr lang="en-US" sz="9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0F91B27-3713-9368-B33D-21FA313DCF57}"/>
              </a:ext>
            </a:extLst>
          </p:cNvPr>
          <p:cNvGrpSpPr/>
          <p:nvPr/>
        </p:nvGrpSpPr>
        <p:grpSpPr>
          <a:xfrm>
            <a:off x="127618" y="3599902"/>
            <a:ext cx="11852926" cy="996696"/>
            <a:chOff x="127618" y="3599902"/>
            <a:chExt cx="11852926" cy="996696"/>
          </a:xfrm>
        </p:grpSpPr>
        <p:sp>
          <p:nvSpPr>
            <p:cNvPr id="118" name="Triangle 117">
              <a:extLst>
                <a:ext uri="{FF2B5EF4-FFF2-40B4-BE49-F238E27FC236}">
                  <a16:creationId xmlns:a16="http://schemas.microsoft.com/office/drawing/2014/main" id="{55914B69-5D64-D217-7566-BBD2FDC61321}"/>
                </a:ext>
              </a:extLst>
            </p:cNvPr>
            <p:cNvSpPr/>
            <p:nvPr/>
          </p:nvSpPr>
          <p:spPr>
            <a:xfrm rot="16200000" flipH="1">
              <a:off x="9050427" y="2088268"/>
              <a:ext cx="319010" cy="4018714"/>
            </a:xfrm>
            <a:prstGeom prst="triangle">
              <a:avLst/>
            </a:prstGeom>
            <a:solidFill>
              <a:srgbClr val="C4B6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 25">
              <a:extLst>
                <a:ext uri="{FF2B5EF4-FFF2-40B4-BE49-F238E27FC236}">
                  <a16:creationId xmlns:a16="http://schemas.microsoft.com/office/drawing/2014/main" id="{D930FAE0-622B-33DB-F1E0-3266E453D36F}"/>
                </a:ext>
              </a:extLst>
            </p:cNvPr>
            <p:cNvSpPr/>
            <p:nvPr/>
          </p:nvSpPr>
          <p:spPr>
            <a:xfrm>
              <a:off x="127618" y="3951946"/>
              <a:ext cx="1554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7B5EA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Bioactivity</a:t>
              </a:r>
              <a:endParaRPr lang="en-US" sz="1200" dirty="0"/>
            </a:p>
          </p:txBody>
        </p:sp>
        <p:sp>
          <p:nvSpPr>
            <p:cNvPr id="71" name="Shape 61">
              <a:extLst>
                <a:ext uri="{FF2B5EF4-FFF2-40B4-BE49-F238E27FC236}">
                  <a16:creationId xmlns:a16="http://schemas.microsoft.com/office/drawing/2014/main" id="{1FF13BB6-BA91-68DA-46C4-61E3F85677EB}"/>
                </a:ext>
              </a:extLst>
            </p:cNvPr>
            <p:cNvSpPr/>
            <p:nvPr/>
          </p:nvSpPr>
          <p:spPr>
            <a:xfrm>
              <a:off x="7193157" y="4166830"/>
              <a:ext cx="0" cy="155448"/>
            </a:xfrm>
            <a:prstGeom prst="line">
              <a:avLst/>
            </a:prstGeom>
            <a:noFill/>
            <a:ln w="15240">
              <a:solidFill>
                <a:srgbClr val="7B5EA7">
                  <a:alpha val="6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Shape 62">
              <a:extLst>
                <a:ext uri="{FF2B5EF4-FFF2-40B4-BE49-F238E27FC236}">
                  <a16:creationId xmlns:a16="http://schemas.microsoft.com/office/drawing/2014/main" id="{80FE56CA-3B9E-7081-0D59-127030A310FB}"/>
                </a:ext>
              </a:extLst>
            </p:cNvPr>
            <p:cNvSpPr/>
            <p:nvPr/>
          </p:nvSpPr>
          <p:spPr>
            <a:xfrm>
              <a:off x="7124577" y="4029670"/>
              <a:ext cx="137160" cy="137160"/>
            </a:xfrm>
            <a:prstGeom prst="ellipse">
              <a:avLst/>
            </a:prstGeom>
            <a:solidFill>
              <a:srgbClr val="7B5EA7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 63">
              <a:extLst>
                <a:ext uri="{FF2B5EF4-FFF2-40B4-BE49-F238E27FC236}">
                  <a16:creationId xmlns:a16="http://schemas.microsoft.com/office/drawing/2014/main" id="{EE901550-19C2-E778-2B51-826CD980B71B}"/>
                </a:ext>
              </a:extLst>
            </p:cNvPr>
            <p:cNvSpPr/>
            <p:nvPr/>
          </p:nvSpPr>
          <p:spPr>
            <a:xfrm>
              <a:off x="6606865" y="4322278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123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PubChem</a:t>
              </a:r>
            </a:p>
            <a:p>
              <a:pPr marL="0" indent="0" algn="ctr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123830"/>
                  </a:solidFill>
                  <a:latin typeface="Calibri" pitchFamily="34" charset="0"/>
                  <a:cs typeface="Calibri" pitchFamily="34" charset="-120"/>
                </a:rPr>
                <a:t>2004</a:t>
              </a:r>
              <a:endParaRPr lang="en-US" sz="900" dirty="0"/>
            </a:p>
          </p:txBody>
        </p:sp>
        <p:sp>
          <p:nvSpPr>
            <p:cNvPr id="74" name="Shape 64">
              <a:extLst>
                <a:ext uri="{FF2B5EF4-FFF2-40B4-BE49-F238E27FC236}">
                  <a16:creationId xmlns:a16="http://schemas.microsoft.com/office/drawing/2014/main" id="{8E075B28-72F8-592D-246C-1DC4A92FF1F9}"/>
                </a:ext>
              </a:extLst>
            </p:cNvPr>
            <p:cNvSpPr/>
            <p:nvPr/>
          </p:nvSpPr>
          <p:spPr>
            <a:xfrm>
              <a:off x="7874319" y="3874222"/>
              <a:ext cx="0" cy="155448"/>
            </a:xfrm>
            <a:prstGeom prst="line">
              <a:avLst/>
            </a:prstGeom>
            <a:noFill/>
            <a:ln w="15240">
              <a:solidFill>
                <a:srgbClr val="7B5EA7">
                  <a:alpha val="6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65">
              <a:extLst>
                <a:ext uri="{FF2B5EF4-FFF2-40B4-BE49-F238E27FC236}">
                  <a16:creationId xmlns:a16="http://schemas.microsoft.com/office/drawing/2014/main" id="{96DC3D40-D1D6-BE7E-0710-08737D2EE039}"/>
                </a:ext>
              </a:extLst>
            </p:cNvPr>
            <p:cNvSpPr/>
            <p:nvPr/>
          </p:nvSpPr>
          <p:spPr>
            <a:xfrm>
              <a:off x="7805739" y="4029670"/>
              <a:ext cx="137160" cy="137160"/>
            </a:xfrm>
            <a:prstGeom prst="ellipse">
              <a:avLst/>
            </a:prstGeom>
            <a:solidFill>
              <a:srgbClr val="7B5EA7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 66">
              <a:extLst>
                <a:ext uri="{FF2B5EF4-FFF2-40B4-BE49-F238E27FC236}">
                  <a16:creationId xmlns:a16="http://schemas.microsoft.com/office/drawing/2014/main" id="{FF505EB0-44CD-B2DC-F0A3-056985DA3573}"/>
                </a:ext>
              </a:extLst>
            </p:cNvPr>
            <p:cNvSpPr/>
            <p:nvPr/>
          </p:nvSpPr>
          <p:spPr>
            <a:xfrm>
              <a:off x="7234239" y="3599902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123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2008</a:t>
              </a:r>
            </a:p>
            <a:p>
              <a:pPr marL="0" indent="0" algn="ctr">
                <a:lnSpc>
                  <a:spcPts val="1100"/>
                </a:lnSpc>
                <a:buNone/>
              </a:pPr>
              <a:r>
                <a:rPr lang="en-US" sz="900" b="1" dirty="0" err="1">
                  <a:solidFill>
                    <a:srgbClr val="123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ChEMBL</a:t>
              </a:r>
              <a:endParaRPr lang="en-US" sz="900" dirty="0"/>
            </a:p>
          </p:txBody>
        </p:sp>
        <p:sp>
          <p:nvSpPr>
            <p:cNvPr id="77" name="Shape 67">
              <a:extLst>
                <a:ext uri="{FF2B5EF4-FFF2-40B4-BE49-F238E27FC236}">
                  <a16:creationId xmlns:a16="http://schemas.microsoft.com/office/drawing/2014/main" id="{4D7E26A7-A79B-326D-46E9-4EE76D242636}"/>
                </a:ext>
              </a:extLst>
            </p:cNvPr>
            <p:cNvSpPr/>
            <p:nvPr/>
          </p:nvSpPr>
          <p:spPr>
            <a:xfrm>
              <a:off x="10035302" y="3874222"/>
              <a:ext cx="0" cy="155448"/>
            </a:xfrm>
            <a:prstGeom prst="line">
              <a:avLst/>
            </a:prstGeom>
            <a:noFill/>
            <a:ln w="15240">
              <a:solidFill>
                <a:srgbClr val="7B5EA7">
                  <a:alpha val="6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Shape 68">
              <a:extLst>
                <a:ext uri="{FF2B5EF4-FFF2-40B4-BE49-F238E27FC236}">
                  <a16:creationId xmlns:a16="http://schemas.microsoft.com/office/drawing/2014/main" id="{690FA168-148C-AB7E-1CA7-5CA7AE074FB4}"/>
                </a:ext>
              </a:extLst>
            </p:cNvPr>
            <p:cNvSpPr/>
            <p:nvPr/>
          </p:nvSpPr>
          <p:spPr>
            <a:xfrm>
              <a:off x="9966722" y="4029670"/>
              <a:ext cx="137160" cy="137160"/>
            </a:xfrm>
            <a:prstGeom prst="ellipse">
              <a:avLst/>
            </a:prstGeom>
            <a:solidFill>
              <a:srgbClr val="7B5EA7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 69">
              <a:extLst>
                <a:ext uri="{FF2B5EF4-FFF2-40B4-BE49-F238E27FC236}">
                  <a16:creationId xmlns:a16="http://schemas.microsoft.com/office/drawing/2014/main" id="{2FAE249B-0C57-DB1D-E00D-F53A58A3E8C4}"/>
                </a:ext>
              </a:extLst>
            </p:cNvPr>
            <p:cNvSpPr/>
            <p:nvPr/>
          </p:nvSpPr>
          <p:spPr>
            <a:xfrm>
              <a:off x="9420771" y="3599902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123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ZINC22</a:t>
              </a:r>
              <a:endParaRPr lang="en-US" sz="900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4CC6C38A-93C0-796F-21AA-2E1908FD5777}"/>
                </a:ext>
              </a:extLst>
            </p:cNvPr>
            <p:cNvSpPr txBox="1"/>
            <p:nvPr/>
          </p:nvSpPr>
          <p:spPr>
            <a:xfrm>
              <a:off x="11239636" y="3910100"/>
              <a:ext cx="740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2.9 m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A352225-DB3B-762A-A002-E72BEAE800F6}"/>
              </a:ext>
            </a:extLst>
          </p:cNvPr>
          <p:cNvGrpSpPr/>
          <p:nvPr/>
        </p:nvGrpSpPr>
        <p:grpSpPr>
          <a:xfrm>
            <a:off x="127618" y="4184827"/>
            <a:ext cx="11702244" cy="996696"/>
            <a:chOff x="127618" y="4184827"/>
            <a:chExt cx="11702244" cy="996696"/>
          </a:xfrm>
        </p:grpSpPr>
        <p:sp>
          <p:nvSpPr>
            <p:cNvPr id="119" name="Triangle 118">
              <a:extLst>
                <a:ext uri="{FF2B5EF4-FFF2-40B4-BE49-F238E27FC236}">
                  <a16:creationId xmlns:a16="http://schemas.microsoft.com/office/drawing/2014/main" id="{7A057C75-981C-A9F0-FD73-7F8CE24EE8DD}"/>
                </a:ext>
              </a:extLst>
            </p:cNvPr>
            <p:cNvSpPr/>
            <p:nvPr/>
          </p:nvSpPr>
          <p:spPr>
            <a:xfrm rot="16200000" flipH="1">
              <a:off x="9635166" y="3146255"/>
              <a:ext cx="78683" cy="3078661"/>
            </a:xfrm>
            <a:prstGeom prst="triangle">
              <a:avLst/>
            </a:prstGeom>
            <a:solidFill>
              <a:srgbClr val="DFBA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 27">
              <a:extLst>
                <a:ext uri="{FF2B5EF4-FFF2-40B4-BE49-F238E27FC236}">
                  <a16:creationId xmlns:a16="http://schemas.microsoft.com/office/drawing/2014/main" id="{A6AAED84-9DAB-16C3-2223-A262A61BD227}"/>
                </a:ext>
              </a:extLst>
            </p:cNvPr>
            <p:cNvSpPr/>
            <p:nvPr/>
          </p:nvSpPr>
          <p:spPr>
            <a:xfrm>
              <a:off x="127618" y="4500586"/>
              <a:ext cx="1554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B5651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Materials</a:t>
              </a:r>
              <a:endParaRPr lang="en-US" sz="1200" dirty="0"/>
            </a:p>
          </p:txBody>
        </p:sp>
        <p:sp>
          <p:nvSpPr>
            <p:cNvPr id="80" name="Shape 70">
              <a:extLst>
                <a:ext uri="{FF2B5EF4-FFF2-40B4-BE49-F238E27FC236}">
                  <a16:creationId xmlns:a16="http://schemas.microsoft.com/office/drawing/2014/main" id="{79C5CC64-27A6-6E8B-736D-6720F42F5DE1}"/>
                </a:ext>
              </a:extLst>
            </p:cNvPr>
            <p:cNvSpPr/>
            <p:nvPr/>
          </p:nvSpPr>
          <p:spPr>
            <a:xfrm>
              <a:off x="8146783" y="4751755"/>
              <a:ext cx="0" cy="155448"/>
            </a:xfrm>
            <a:prstGeom prst="line">
              <a:avLst/>
            </a:prstGeom>
            <a:noFill/>
            <a:ln w="15240">
              <a:solidFill>
                <a:srgbClr val="B5651D">
                  <a:alpha val="6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Shape 71">
              <a:extLst>
                <a:ext uri="{FF2B5EF4-FFF2-40B4-BE49-F238E27FC236}">
                  <a16:creationId xmlns:a16="http://schemas.microsoft.com/office/drawing/2014/main" id="{F8ECAB8B-22F9-31D1-7229-CCD0BF491882}"/>
                </a:ext>
              </a:extLst>
            </p:cNvPr>
            <p:cNvSpPr/>
            <p:nvPr/>
          </p:nvSpPr>
          <p:spPr>
            <a:xfrm>
              <a:off x="8078203" y="4614595"/>
              <a:ext cx="137160" cy="137160"/>
            </a:xfrm>
            <a:prstGeom prst="ellipse">
              <a:avLst/>
            </a:prstGeom>
            <a:solidFill>
              <a:srgbClr val="B5651D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72">
              <a:extLst>
                <a:ext uri="{FF2B5EF4-FFF2-40B4-BE49-F238E27FC236}">
                  <a16:creationId xmlns:a16="http://schemas.microsoft.com/office/drawing/2014/main" id="{2C68A3ED-2421-835E-1842-6666411C9412}"/>
                </a:ext>
              </a:extLst>
            </p:cNvPr>
            <p:cNvSpPr/>
            <p:nvPr/>
          </p:nvSpPr>
          <p:spPr>
            <a:xfrm>
              <a:off x="7506703" y="4907203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123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Materials Project</a:t>
              </a:r>
              <a:endParaRPr lang="en-US" sz="900" dirty="0"/>
            </a:p>
          </p:txBody>
        </p:sp>
        <p:sp>
          <p:nvSpPr>
            <p:cNvPr id="83" name="Shape 73">
              <a:extLst>
                <a:ext uri="{FF2B5EF4-FFF2-40B4-BE49-F238E27FC236}">
                  <a16:creationId xmlns:a16="http://schemas.microsoft.com/office/drawing/2014/main" id="{57DAEDD1-CFCF-8D39-7F6B-1D01971E2F4E}"/>
                </a:ext>
              </a:extLst>
            </p:cNvPr>
            <p:cNvSpPr/>
            <p:nvPr/>
          </p:nvSpPr>
          <p:spPr>
            <a:xfrm>
              <a:off x="8419248" y="4459147"/>
              <a:ext cx="0" cy="155448"/>
            </a:xfrm>
            <a:prstGeom prst="line">
              <a:avLst/>
            </a:prstGeom>
            <a:noFill/>
            <a:ln w="15240">
              <a:solidFill>
                <a:srgbClr val="B5651D">
                  <a:alpha val="6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Shape 74">
              <a:extLst>
                <a:ext uri="{FF2B5EF4-FFF2-40B4-BE49-F238E27FC236}">
                  <a16:creationId xmlns:a16="http://schemas.microsoft.com/office/drawing/2014/main" id="{019855D4-2576-99C2-E09C-172AD1A66E8F}"/>
                </a:ext>
              </a:extLst>
            </p:cNvPr>
            <p:cNvSpPr/>
            <p:nvPr/>
          </p:nvSpPr>
          <p:spPr>
            <a:xfrm>
              <a:off x="8350668" y="4614595"/>
              <a:ext cx="137160" cy="137160"/>
            </a:xfrm>
            <a:prstGeom prst="ellipse">
              <a:avLst/>
            </a:prstGeom>
            <a:solidFill>
              <a:srgbClr val="B5651D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 75">
              <a:extLst>
                <a:ext uri="{FF2B5EF4-FFF2-40B4-BE49-F238E27FC236}">
                  <a16:creationId xmlns:a16="http://schemas.microsoft.com/office/drawing/2014/main" id="{2B39BCC8-ACE7-5A73-24FD-4EEA4F8F1DB6}"/>
                </a:ext>
              </a:extLst>
            </p:cNvPr>
            <p:cNvSpPr/>
            <p:nvPr/>
          </p:nvSpPr>
          <p:spPr>
            <a:xfrm>
              <a:off x="7779168" y="4184827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123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OQMD</a:t>
              </a:r>
              <a:endParaRPr lang="en-US" sz="900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BB011263-5742-B1CA-6793-3D49C9854647}"/>
                </a:ext>
              </a:extLst>
            </p:cNvPr>
            <p:cNvSpPr txBox="1"/>
            <p:nvPr/>
          </p:nvSpPr>
          <p:spPr>
            <a:xfrm>
              <a:off x="11239636" y="4508390"/>
              <a:ext cx="5902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50 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948515-FDD7-B082-8869-14C7AE5201E4}"/>
              </a:ext>
            </a:extLst>
          </p:cNvPr>
          <p:cNvGrpSpPr/>
          <p:nvPr/>
        </p:nvGrpSpPr>
        <p:grpSpPr>
          <a:xfrm>
            <a:off x="127618" y="4829479"/>
            <a:ext cx="11910635" cy="917972"/>
            <a:chOff x="127618" y="4829479"/>
            <a:chExt cx="11910635" cy="917972"/>
          </a:xfrm>
        </p:grpSpPr>
        <p:sp>
          <p:nvSpPr>
            <p:cNvPr id="121" name="Triangle 120">
              <a:extLst>
                <a:ext uri="{FF2B5EF4-FFF2-40B4-BE49-F238E27FC236}">
                  <a16:creationId xmlns:a16="http://schemas.microsoft.com/office/drawing/2014/main" id="{24950255-1888-6803-E4AC-FC3B94D66CF7}"/>
                </a:ext>
              </a:extLst>
            </p:cNvPr>
            <p:cNvSpPr/>
            <p:nvPr/>
          </p:nvSpPr>
          <p:spPr>
            <a:xfrm rot="16200000" flipH="1">
              <a:off x="9592588" y="4036461"/>
              <a:ext cx="831513" cy="2417549"/>
            </a:xfrm>
            <a:custGeom>
              <a:avLst/>
              <a:gdLst>
                <a:gd name="csX0" fmla="*/ 0 w 831513"/>
                <a:gd name="csY0" fmla="*/ 2417549 h 2417549"/>
                <a:gd name="csX1" fmla="*/ 415757 w 831513"/>
                <a:gd name="csY1" fmla="*/ 0 h 2417549"/>
                <a:gd name="csX2" fmla="*/ 831513 w 831513"/>
                <a:gd name="csY2" fmla="*/ 2417549 h 2417549"/>
                <a:gd name="csX3" fmla="*/ 0 w 831513"/>
                <a:gd name="csY3" fmla="*/ 2417549 h 2417549"/>
                <a:gd name="csX0" fmla="*/ 0 w 831513"/>
                <a:gd name="csY0" fmla="*/ 2417549 h 2417549"/>
                <a:gd name="csX1" fmla="*/ 415757 w 831513"/>
                <a:gd name="csY1" fmla="*/ 0 h 2417549"/>
                <a:gd name="csX2" fmla="*/ 831513 w 831513"/>
                <a:gd name="csY2" fmla="*/ 2417549 h 2417549"/>
                <a:gd name="csX3" fmla="*/ 0 w 831513"/>
                <a:gd name="csY3" fmla="*/ 2417549 h 2417549"/>
                <a:gd name="csX0" fmla="*/ 0 w 831513"/>
                <a:gd name="csY0" fmla="*/ 2417549 h 2417549"/>
                <a:gd name="csX1" fmla="*/ 415757 w 831513"/>
                <a:gd name="csY1" fmla="*/ 0 h 2417549"/>
                <a:gd name="csX2" fmla="*/ 831513 w 831513"/>
                <a:gd name="csY2" fmla="*/ 2417549 h 2417549"/>
                <a:gd name="csX3" fmla="*/ 0 w 831513"/>
                <a:gd name="csY3" fmla="*/ 2417549 h 2417549"/>
                <a:gd name="csX0" fmla="*/ 0 w 831513"/>
                <a:gd name="csY0" fmla="*/ 2417549 h 2417549"/>
                <a:gd name="csX1" fmla="*/ 415757 w 831513"/>
                <a:gd name="csY1" fmla="*/ 0 h 2417549"/>
                <a:gd name="csX2" fmla="*/ 831513 w 831513"/>
                <a:gd name="csY2" fmla="*/ 2417549 h 2417549"/>
                <a:gd name="csX3" fmla="*/ 0 w 831513"/>
                <a:gd name="csY3" fmla="*/ 2417549 h 2417549"/>
                <a:gd name="csX0" fmla="*/ 0 w 831513"/>
                <a:gd name="csY0" fmla="*/ 2417549 h 2417549"/>
                <a:gd name="csX1" fmla="*/ 415757 w 831513"/>
                <a:gd name="csY1" fmla="*/ 0 h 2417549"/>
                <a:gd name="csX2" fmla="*/ 831513 w 831513"/>
                <a:gd name="csY2" fmla="*/ 2417549 h 2417549"/>
                <a:gd name="csX3" fmla="*/ 0 w 831513"/>
                <a:gd name="csY3" fmla="*/ 2417549 h 2417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31513" h="2417549">
                  <a:moveTo>
                    <a:pt x="0" y="2417549"/>
                  </a:moveTo>
                  <a:cubicBezTo>
                    <a:pt x="431884" y="1068234"/>
                    <a:pt x="363435" y="805850"/>
                    <a:pt x="415757" y="0"/>
                  </a:cubicBezTo>
                  <a:cubicBezTo>
                    <a:pt x="493958" y="805850"/>
                    <a:pt x="434136" y="1059608"/>
                    <a:pt x="831513" y="2417549"/>
                  </a:cubicBezTo>
                  <a:lnTo>
                    <a:pt x="0" y="2417549"/>
                  </a:lnTo>
                  <a:close/>
                </a:path>
              </a:pathLst>
            </a:custGeom>
            <a:solidFill>
              <a:srgbClr val="A1CB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 29">
              <a:extLst>
                <a:ext uri="{FF2B5EF4-FFF2-40B4-BE49-F238E27FC236}">
                  <a16:creationId xmlns:a16="http://schemas.microsoft.com/office/drawing/2014/main" id="{7200B10D-7ECE-C687-950E-F04D63EFC111}"/>
                </a:ext>
              </a:extLst>
            </p:cNvPr>
            <p:cNvSpPr/>
            <p:nvPr/>
          </p:nvSpPr>
          <p:spPr>
            <a:xfrm>
              <a:off x="127618" y="5105961"/>
              <a:ext cx="15544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b="1" dirty="0">
                  <a:solidFill>
                    <a:srgbClr val="1B8A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Computed / simulated</a:t>
              </a:r>
              <a:endParaRPr lang="en-US" sz="1200" dirty="0"/>
            </a:p>
          </p:txBody>
        </p:sp>
        <p:sp>
          <p:nvSpPr>
            <p:cNvPr id="93" name="Shape 78">
              <a:extLst>
                <a:ext uri="{FF2B5EF4-FFF2-40B4-BE49-F238E27FC236}">
                  <a16:creationId xmlns:a16="http://schemas.microsoft.com/office/drawing/2014/main" id="{DBC746F4-5C93-2951-2E51-417960EE0C53}"/>
                </a:ext>
              </a:extLst>
            </p:cNvPr>
            <p:cNvSpPr/>
            <p:nvPr/>
          </p:nvSpPr>
          <p:spPr>
            <a:xfrm>
              <a:off x="8783198" y="5320845"/>
              <a:ext cx="0" cy="128016"/>
            </a:xfrm>
            <a:prstGeom prst="line">
              <a:avLst/>
            </a:prstGeom>
            <a:noFill/>
            <a:ln w="15240">
              <a:solidFill>
                <a:srgbClr val="1B8A98">
                  <a:alpha val="6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Shape 79">
              <a:extLst>
                <a:ext uri="{FF2B5EF4-FFF2-40B4-BE49-F238E27FC236}">
                  <a16:creationId xmlns:a16="http://schemas.microsoft.com/office/drawing/2014/main" id="{1C4908A4-FCD9-0312-5458-3B84FA9B95D0}"/>
                </a:ext>
              </a:extLst>
            </p:cNvPr>
            <p:cNvSpPr/>
            <p:nvPr/>
          </p:nvSpPr>
          <p:spPr>
            <a:xfrm>
              <a:off x="8714618" y="5183685"/>
              <a:ext cx="137160" cy="137160"/>
            </a:xfrm>
            <a:prstGeom prst="ellipse">
              <a:avLst/>
            </a:prstGeom>
            <a:solidFill>
              <a:srgbClr val="1B8A9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Text 80">
              <a:extLst>
                <a:ext uri="{FF2B5EF4-FFF2-40B4-BE49-F238E27FC236}">
                  <a16:creationId xmlns:a16="http://schemas.microsoft.com/office/drawing/2014/main" id="{EC806B17-C980-E3A1-CABC-E1365F11B8E2}"/>
                </a:ext>
              </a:extLst>
            </p:cNvPr>
            <p:cNvSpPr/>
            <p:nvPr/>
          </p:nvSpPr>
          <p:spPr>
            <a:xfrm>
              <a:off x="8394578" y="5448861"/>
              <a:ext cx="7772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000"/>
                </a:lnSpc>
                <a:buNone/>
              </a:pPr>
              <a:r>
                <a:rPr lang="en-US" sz="900" b="1" dirty="0">
                  <a:solidFill>
                    <a:srgbClr val="123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QM9</a:t>
              </a:r>
              <a:endParaRPr lang="en-US" sz="900" dirty="0"/>
            </a:p>
          </p:txBody>
        </p:sp>
        <p:sp>
          <p:nvSpPr>
            <p:cNvPr id="96" name="Shape 81">
              <a:extLst>
                <a:ext uri="{FF2B5EF4-FFF2-40B4-BE49-F238E27FC236}">
                  <a16:creationId xmlns:a16="http://schemas.microsoft.com/office/drawing/2014/main" id="{BA24504D-3F71-2D59-8064-F88B45441A10}"/>
                </a:ext>
              </a:extLst>
            </p:cNvPr>
            <p:cNvSpPr/>
            <p:nvPr/>
          </p:nvSpPr>
          <p:spPr>
            <a:xfrm flipH="1">
              <a:off x="9448252" y="5320845"/>
              <a:ext cx="15" cy="235579"/>
            </a:xfrm>
            <a:prstGeom prst="line">
              <a:avLst/>
            </a:prstGeom>
            <a:noFill/>
            <a:ln w="15240">
              <a:solidFill>
                <a:srgbClr val="1B8A98">
                  <a:alpha val="6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Shape 82">
              <a:extLst>
                <a:ext uri="{FF2B5EF4-FFF2-40B4-BE49-F238E27FC236}">
                  <a16:creationId xmlns:a16="http://schemas.microsoft.com/office/drawing/2014/main" id="{59412238-7A1C-C28C-6A25-3C47A750EC0A}"/>
                </a:ext>
              </a:extLst>
            </p:cNvPr>
            <p:cNvSpPr/>
            <p:nvPr/>
          </p:nvSpPr>
          <p:spPr>
            <a:xfrm>
              <a:off x="9379689" y="5183685"/>
              <a:ext cx="137160" cy="137160"/>
            </a:xfrm>
            <a:prstGeom prst="ellipse">
              <a:avLst/>
            </a:prstGeom>
            <a:solidFill>
              <a:srgbClr val="1B8A9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 83">
              <a:extLst>
                <a:ext uri="{FF2B5EF4-FFF2-40B4-BE49-F238E27FC236}">
                  <a16:creationId xmlns:a16="http://schemas.microsoft.com/office/drawing/2014/main" id="{9D25A90F-7073-0189-B55C-D75FDA2A37D9}"/>
                </a:ext>
              </a:extLst>
            </p:cNvPr>
            <p:cNvSpPr/>
            <p:nvPr/>
          </p:nvSpPr>
          <p:spPr>
            <a:xfrm>
              <a:off x="9053250" y="5582859"/>
              <a:ext cx="7772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000"/>
                </a:lnSpc>
                <a:buNone/>
              </a:pPr>
              <a:r>
                <a:rPr lang="en-US" sz="900" b="1" dirty="0">
                  <a:solidFill>
                    <a:srgbClr val="123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ANI-1</a:t>
              </a:r>
              <a:endParaRPr lang="en-US" sz="900" dirty="0"/>
            </a:p>
          </p:txBody>
        </p:sp>
        <p:sp>
          <p:nvSpPr>
            <p:cNvPr id="99" name="Shape 84">
              <a:extLst>
                <a:ext uri="{FF2B5EF4-FFF2-40B4-BE49-F238E27FC236}">
                  <a16:creationId xmlns:a16="http://schemas.microsoft.com/office/drawing/2014/main" id="{A65022B9-709C-F5E9-2345-81F2A57C10C0}"/>
                </a:ext>
              </a:extLst>
            </p:cNvPr>
            <p:cNvSpPr/>
            <p:nvPr/>
          </p:nvSpPr>
          <p:spPr>
            <a:xfrm>
              <a:off x="9856967" y="5320845"/>
              <a:ext cx="0" cy="128016"/>
            </a:xfrm>
            <a:prstGeom prst="line">
              <a:avLst/>
            </a:prstGeom>
            <a:noFill/>
            <a:ln w="15240">
              <a:solidFill>
                <a:srgbClr val="1B8A98">
                  <a:alpha val="6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Shape 85">
              <a:extLst>
                <a:ext uri="{FF2B5EF4-FFF2-40B4-BE49-F238E27FC236}">
                  <a16:creationId xmlns:a16="http://schemas.microsoft.com/office/drawing/2014/main" id="{66E1E5B9-388E-ED5A-1B7D-3BCE88148040}"/>
                </a:ext>
              </a:extLst>
            </p:cNvPr>
            <p:cNvSpPr/>
            <p:nvPr/>
          </p:nvSpPr>
          <p:spPr>
            <a:xfrm>
              <a:off x="9788387" y="5183685"/>
              <a:ext cx="137160" cy="137160"/>
            </a:xfrm>
            <a:prstGeom prst="ellipse">
              <a:avLst/>
            </a:prstGeom>
            <a:solidFill>
              <a:srgbClr val="1B8A9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Text 86">
              <a:extLst>
                <a:ext uri="{FF2B5EF4-FFF2-40B4-BE49-F238E27FC236}">
                  <a16:creationId xmlns:a16="http://schemas.microsoft.com/office/drawing/2014/main" id="{F0FC958B-2CBA-69C2-9D15-956AD1B4D48F}"/>
                </a:ext>
              </a:extLst>
            </p:cNvPr>
            <p:cNvSpPr/>
            <p:nvPr/>
          </p:nvSpPr>
          <p:spPr>
            <a:xfrm>
              <a:off x="9468347" y="5448861"/>
              <a:ext cx="7772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000"/>
                </a:lnSpc>
                <a:buNone/>
              </a:pPr>
              <a:r>
                <a:rPr lang="en-US" sz="900" b="1" dirty="0">
                  <a:solidFill>
                    <a:srgbClr val="123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OC20</a:t>
              </a:r>
              <a:endParaRPr lang="en-US" sz="900" dirty="0"/>
            </a:p>
          </p:txBody>
        </p:sp>
        <p:sp>
          <p:nvSpPr>
            <p:cNvPr id="102" name="Shape 87">
              <a:extLst>
                <a:ext uri="{FF2B5EF4-FFF2-40B4-BE49-F238E27FC236}">
                  <a16:creationId xmlns:a16="http://schemas.microsoft.com/office/drawing/2014/main" id="{3C172471-E133-DDFD-AB01-91302CA6456D}"/>
                </a:ext>
              </a:extLst>
            </p:cNvPr>
            <p:cNvSpPr/>
            <p:nvPr/>
          </p:nvSpPr>
          <p:spPr>
            <a:xfrm>
              <a:off x="10732681" y="5055669"/>
              <a:ext cx="0" cy="128016"/>
            </a:xfrm>
            <a:prstGeom prst="line">
              <a:avLst/>
            </a:prstGeom>
            <a:noFill/>
            <a:ln w="15240">
              <a:solidFill>
                <a:srgbClr val="1B8A98">
                  <a:alpha val="6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Shape 88">
              <a:extLst>
                <a:ext uri="{FF2B5EF4-FFF2-40B4-BE49-F238E27FC236}">
                  <a16:creationId xmlns:a16="http://schemas.microsoft.com/office/drawing/2014/main" id="{810738E7-2C99-60E5-510F-51FE1EB02E08}"/>
                </a:ext>
              </a:extLst>
            </p:cNvPr>
            <p:cNvSpPr/>
            <p:nvPr/>
          </p:nvSpPr>
          <p:spPr>
            <a:xfrm>
              <a:off x="10664101" y="5183685"/>
              <a:ext cx="137160" cy="137160"/>
            </a:xfrm>
            <a:prstGeom prst="ellipse">
              <a:avLst/>
            </a:prstGeom>
            <a:solidFill>
              <a:srgbClr val="1B8A98"/>
            </a:solidFill>
            <a:ln w="1524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Text 89">
              <a:extLst>
                <a:ext uri="{FF2B5EF4-FFF2-40B4-BE49-F238E27FC236}">
                  <a16:creationId xmlns:a16="http://schemas.microsoft.com/office/drawing/2014/main" id="{5C83E977-BC29-0C09-CE9C-786A3DD3201F}"/>
                </a:ext>
              </a:extLst>
            </p:cNvPr>
            <p:cNvSpPr/>
            <p:nvPr/>
          </p:nvSpPr>
          <p:spPr>
            <a:xfrm>
              <a:off x="10344061" y="4869306"/>
              <a:ext cx="7772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lnSpc>
                  <a:spcPts val="1000"/>
                </a:lnSpc>
                <a:buNone/>
              </a:pPr>
              <a:r>
                <a:rPr lang="en-US" sz="900" b="1" dirty="0">
                  <a:solidFill>
                    <a:srgbClr val="12383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OMol25</a:t>
              </a:r>
              <a:endParaRPr lang="en-US" sz="900" dirty="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524D8C73-39DA-23FB-B307-AD24260A742E}"/>
                </a:ext>
              </a:extLst>
            </p:cNvPr>
            <p:cNvSpPr txBox="1"/>
            <p:nvPr/>
          </p:nvSpPr>
          <p:spPr>
            <a:xfrm>
              <a:off x="11239636" y="5077718"/>
              <a:ext cx="7986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140 m</a:t>
              </a:r>
            </a:p>
          </p:txBody>
        </p:sp>
      </p:grpSp>
      <p:pic>
        <p:nvPicPr>
          <p:cNvPr id="12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05448B16-FE0C-BADC-4649-281724D16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006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08" grpId="0" animBg="1"/>
      <p:bldP spid="27" grpId="0" animBg="1"/>
      <p:bldP spid="31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106" grpId="0"/>
      <p:bldP spid="1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9EEFE-DF88-87AE-37C0-CEDD4B546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Freeform 83">
            <a:extLst>
              <a:ext uri="{FF2B5EF4-FFF2-40B4-BE49-F238E27FC236}">
                <a16:creationId xmlns:a16="http://schemas.microsoft.com/office/drawing/2014/main" id="{31F3CB38-7101-CEFE-1B0A-DAA5D69C88FD}"/>
              </a:ext>
            </a:extLst>
          </p:cNvPr>
          <p:cNvSpPr/>
          <p:nvPr/>
        </p:nvSpPr>
        <p:spPr>
          <a:xfrm rot="1535493">
            <a:off x="1611962" y="3475169"/>
            <a:ext cx="1396867" cy="511554"/>
          </a:xfrm>
          <a:custGeom>
            <a:avLst/>
            <a:gdLst>
              <a:gd name="csX0" fmla="*/ 0 w 1642683"/>
              <a:gd name="csY0" fmla="*/ 1060057 h 1060057"/>
              <a:gd name="csX1" fmla="*/ 1060056 w 1642683"/>
              <a:gd name="csY1" fmla="*/ 712099 h 1060057"/>
              <a:gd name="csX2" fmla="*/ 1642683 w 1642683"/>
              <a:gd name="csY2" fmla="*/ 0 h 1060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42683" h="1060057">
                <a:moveTo>
                  <a:pt x="0" y="1060057"/>
                </a:moveTo>
                <a:cubicBezTo>
                  <a:pt x="393138" y="974416"/>
                  <a:pt x="786276" y="888775"/>
                  <a:pt x="1060056" y="712099"/>
                </a:cubicBezTo>
                <a:cubicBezTo>
                  <a:pt x="1333836" y="535423"/>
                  <a:pt x="1488259" y="267711"/>
                  <a:pt x="1642683" y="0"/>
                </a:cubicBezTo>
              </a:path>
            </a:pathLst>
          </a:custGeom>
          <a:noFill/>
          <a:ln w="66675">
            <a:solidFill>
              <a:schemeClr val="bg2"/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523881C1-6548-B7E6-1838-3C3C53D2B795}"/>
              </a:ext>
            </a:extLst>
          </p:cNvPr>
          <p:cNvSpPr/>
          <p:nvPr/>
        </p:nvSpPr>
        <p:spPr>
          <a:xfrm rot="1020371" flipV="1">
            <a:off x="2116848" y="2420269"/>
            <a:ext cx="1396867" cy="511554"/>
          </a:xfrm>
          <a:custGeom>
            <a:avLst/>
            <a:gdLst>
              <a:gd name="csX0" fmla="*/ 0 w 1642683"/>
              <a:gd name="csY0" fmla="*/ 1060057 h 1060057"/>
              <a:gd name="csX1" fmla="*/ 1060056 w 1642683"/>
              <a:gd name="csY1" fmla="*/ 712099 h 1060057"/>
              <a:gd name="csX2" fmla="*/ 1642683 w 1642683"/>
              <a:gd name="csY2" fmla="*/ 0 h 1060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42683" h="1060057">
                <a:moveTo>
                  <a:pt x="0" y="1060057"/>
                </a:moveTo>
                <a:cubicBezTo>
                  <a:pt x="393138" y="974416"/>
                  <a:pt x="786276" y="888775"/>
                  <a:pt x="1060056" y="712099"/>
                </a:cubicBezTo>
                <a:cubicBezTo>
                  <a:pt x="1333836" y="535423"/>
                  <a:pt x="1488259" y="267711"/>
                  <a:pt x="1642683" y="0"/>
                </a:cubicBezTo>
              </a:path>
            </a:pathLst>
          </a:custGeom>
          <a:noFill/>
          <a:ln w="66675">
            <a:solidFill>
              <a:schemeClr val="bg2"/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reeform 85">
            <a:extLst>
              <a:ext uri="{FF2B5EF4-FFF2-40B4-BE49-F238E27FC236}">
                <a16:creationId xmlns:a16="http://schemas.microsoft.com/office/drawing/2014/main" id="{BA76AA6C-8068-FF27-CA00-271870510BAC}"/>
              </a:ext>
            </a:extLst>
          </p:cNvPr>
          <p:cNvSpPr/>
          <p:nvPr/>
        </p:nvSpPr>
        <p:spPr>
          <a:xfrm>
            <a:off x="1383069" y="4376247"/>
            <a:ext cx="1897295" cy="607647"/>
          </a:xfrm>
          <a:custGeom>
            <a:avLst/>
            <a:gdLst>
              <a:gd name="csX0" fmla="*/ 0 w 1642683"/>
              <a:gd name="csY0" fmla="*/ 1060057 h 1060057"/>
              <a:gd name="csX1" fmla="*/ 1060056 w 1642683"/>
              <a:gd name="csY1" fmla="*/ 712099 h 1060057"/>
              <a:gd name="csX2" fmla="*/ 1642683 w 1642683"/>
              <a:gd name="csY2" fmla="*/ 0 h 1060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42683" h="1060057">
                <a:moveTo>
                  <a:pt x="0" y="1060057"/>
                </a:moveTo>
                <a:cubicBezTo>
                  <a:pt x="393138" y="974416"/>
                  <a:pt x="786276" y="888775"/>
                  <a:pt x="1060056" y="712099"/>
                </a:cubicBezTo>
                <a:cubicBezTo>
                  <a:pt x="1333836" y="535423"/>
                  <a:pt x="1488259" y="267711"/>
                  <a:pt x="1642683" y="0"/>
                </a:cubicBezTo>
              </a:path>
            </a:pathLst>
          </a:custGeom>
          <a:noFill/>
          <a:ln w="66675">
            <a:solidFill>
              <a:schemeClr val="bg2"/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75245C-CB5D-5293-9D3E-71043218EC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783"/>
          <a:stretch>
            <a:fillRect/>
          </a:stretch>
        </p:blipFill>
        <p:spPr>
          <a:xfrm>
            <a:off x="1383069" y="1501648"/>
            <a:ext cx="1479949" cy="1900181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370D050B-073E-40B1-3995-D7AF9B0D383D}"/>
              </a:ext>
            </a:extLst>
          </p:cNvPr>
          <p:cNvGrpSpPr/>
          <p:nvPr/>
        </p:nvGrpSpPr>
        <p:grpSpPr>
          <a:xfrm>
            <a:off x="1476680" y="2023999"/>
            <a:ext cx="1277987" cy="1197168"/>
            <a:chOff x="2074658" y="1707694"/>
            <a:chExt cx="1277987" cy="1197168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9878587-3FB8-6C1F-2C6E-2B17D9A42548}"/>
                </a:ext>
              </a:extLst>
            </p:cNvPr>
            <p:cNvGrpSpPr/>
            <p:nvPr/>
          </p:nvGrpSpPr>
          <p:grpSpPr>
            <a:xfrm>
              <a:off x="2074658" y="1707694"/>
              <a:ext cx="1277987" cy="1197168"/>
              <a:chOff x="1986708" y="1997724"/>
              <a:chExt cx="1277987" cy="1197168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F8C09E6-5FE8-2718-31C6-68A2FCFF12D3}"/>
                  </a:ext>
                </a:extLst>
              </p:cNvPr>
              <p:cNvSpPr/>
              <p:nvPr/>
            </p:nvSpPr>
            <p:spPr>
              <a:xfrm>
                <a:off x="1986708" y="2008742"/>
                <a:ext cx="1277987" cy="1186150"/>
              </a:xfrm>
              <a:prstGeom prst="rect">
                <a:avLst/>
              </a:prstGeom>
              <a:solidFill>
                <a:srgbClr val="EAF6F1"/>
              </a:solidFill>
              <a:ln>
                <a:solidFill>
                  <a:srgbClr val="EAF6F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23EA461B-86DA-6209-6DD2-B58C40207F88}"/>
                  </a:ext>
                </a:extLst>
              </p:cNvPr>
              <p:cNvGrpSpPr/>
              <p:nvPr/>
            </p:nvGrpSpPr>
            <p:grpSpPr>
              <a:xfrm>
                <a:off x="2071756" y="1997724"/>
                <a:ext cx="1107890" cy="1135156"/>
                <a:chOff x="2070944" y="2008740"/>
                <a:chExt cx="1107890" cy="1135156"/>
              </a:xfrm>
            </p:grpSpPr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C55F7959-8FCF-0932-F2DF-67CB03C2C327}"/>
                    </a:ext>
                  </a:extLst>
                </p:cNvPr>
                <p:cNvSpPr/>
                <p:nvPr/>
              </p:nvSpPr>
              <p:spPr>
                <a:xfrm>
                  <a:off x="2070944" y="2008741"/>
                  <a:ext cx="348868" cy="3525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2FC8D02C-7D1A-1E8F-BAE2-A5A6DC151103}"/>
                    </a:ext>
                  </a:extLst>
                </p:cNvPr>
                <p:cNvSpPr/>
                <p:nvPr/>
              </p:nvSpPr>
              <p:spPr>
                <a:xfrm>
                  <a:off x="2450455" y="2008741"/>
                  <a:ext cx="348868" cy="3525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91657585-4627-A000-2314-B21146B02EFB}"/>
                    </a:ext>
                  </a:extLst>
                </p:cNvPr>
                <p:cNvSpPr/>
                <p:nvPr/>
              </p:nvSpPr>
              <p:spPr>
                <a:xfrm>
                  <a:off x="2829966" y="2008740"/>
                  <a:ext cx="348868" cy="3525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3CBCBBEE-DB5F-1BAE-64C3-3A92FA49DAAF}"/>
                    </a:ext>
                  </a:extLst>
                </p:cNvPr>
                <p:cNvSpPr/>
                <p:nvPr/>
              </p:nvSpPr>
              <p:spPr>
                <a:xfrm>
                  <a:off x="2070944" y="2400049"/>
                  <a:ext cx="348868" cy="3525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C4CCA0B5-EED6-1872-E2C6-D34A8882417F}"/>
                    </a:ext>
                  </a:extLst>
                </p:cNvPr>
                <p:cNvSpPr/>
                <p:nvPr/>
              </p:nvSpPr>
              <p:spPr>
                <a:xfrm>
                  <a:off x="2450455" y="2400049"/>
                  <a:ext cx="348868" cy="3525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051CB1A7-4F7B-97C6-6344-54ED020EA169}"/>
                    </a:ext>
                  </a:extLst>
                </p:cNvPr>
                <p:cNvSpPr/>
                <p:nvPr/>
              </p:nvSpPr>
              <p:spPr>
                <a:xfrm>
                  <a:off x="2829966" y="2400048"/>
                  <a:ext cx="348868" cy="3525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36D6AAD3-D083-EECB-99FB-576644286D13}"/>
                    </a:ext>
                  </a:extLst>
                </p:cNvPr>
                <p:cNvSpPr/>
                <p:nvPr/>
              </p:nvSpPr>
              <p:spPr>
                <a:xfrm>
                  <a:off x="2070944" y="2791357"/>
                  <a:ext cx="348868" cy="3525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138A15B7-E9D5-B21C-800B-1D1A9845C432}"/>
                    </a:ext>
                  </a:extLst>
                </p:cNvPr>
                <p:cNvSpPr/>
                <p:nvPr/>
              </p:nvSpPr>
              <p:spPr>
                <a:xfrm>
                  <a:off x="2450455" y="2791357"/>
                  <a:ext cx="348868" cy="3525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E9C05345-F3F7-7B16-AC1B-7873C0035609}"/>
                    </a:ext>
                  </a:extLst>
                </p:cNvPr>
                <p:cNvSpPr/>
                <p:nvPr/>
              </p:nvSpPr>
              <p:spPr>
                <a:xfrm>
                  <a:off x="2829966" y="2791356"/>
                  <a:ext cx="348868" cy="352539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54" name="Picture 53" descr="Fig 68">
              <a:extLst>
                <a:ext uri="{FF2B5EF4-FFF2-40B4-BE49-F238E27FC236}">
                  <a16:creationId xmlns:a16="http://schemas.microsoft.com/office/drawing/2014/main" id="{A61E1F2F-8998-E176-9BD8-AD3C3F62A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25878" y="1778667"/>
              <a:ext cx="224581" cy="192288"/>
            </a:xfrm>
            <a:prstGeom prst="rect">
              <a:avLst/>
            </a:prstGeom>
          </p:spPr>
        </p:pic>
        <p:pic>
          <p:nvPicPr>
            <p:cNvPr id="55" name="Picture 54" descr="Fig71">
              <a:extLst>
                <a:ext uri="{FF2B5EF4-FFF2-40B4-BE49-F238E27FC236}">
                  <a16:creationId xmlns:a16="http://schemas.microsoft.com/office/drawing/2014/main" id="{4E8F107A-EC2B-A489-A248-DB382B2C1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540" t="60723" r="25845" b="4618"/>
            <a:stretch>
              <a:fillRect/>
            </a:stretch>
          </p:blipFill>
          <p:spPr>
            <a:xfrm>
              <a:off x="2613875" y="1782593"/>
              <a:ext cx="199552" cy="208433"/>
            </a:xfrm>
            <a:prstGeom prst="rect">
              <a:avLst/>
            </a:prstGeom>
          </p:spPr>
        </p:pic>
        <p:pic>
          <p:nvPicPr>
            <p:cNvPr id="56" name="Picture 55" descr="Fig71">
              <a:extLst>
                <a:ext uri="{FF2B5EF4-FFF2-40B4-BE49-F238E27FC236}">
                  <a16:creationId xmlns:a16="http://schemas.microsoft.com/office/drawing/2014/main" id="{1E1A798F-1515-54E9-EA0A-1ED5704F0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6915" t="11809" r="-1596" b="54827"/>
            <a:stretch>
              <a:fillRect/>
            </a:stretch>
          </p:blipFill>
          <p:spPr>
            <a:xfrm>
              <a:off x="2223643" y="2145769"/>
              <a:ext cx="207223" cy="240699"/>
            </a:xfrm>
            <a:prstGeom prst="rect">
              <a:avLst/>
            </a:prstGeom>
          </p:spPr>
        </p:pic>
        <p:pic>
          <p:nvPicPr>
            <p:cNvPr id="57" name="Picture 56" descr="Fig71">
              <a:extLst>
                <a:ext uri="{FF2B5EF4-FFF2-40B4-BE49-F238E27FC236}">
                  <a16:creationId xmlns:a16="http://schemas.microsoft.com/office/drawing/2014/main" id="{D6E2D893-A700-47C1-F4BB-D1E4530F1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736" t="6783" r="63150" b="53819"/>
            <a:stretch>
              <a:fillRect/>
            </a:stretch>
          </p:blipFill>
          <p:spPr>
            <a:xfrm>
              <a:off x="3028024" y="1746903"/>
              <a:ext cx="156748" cy="281575"/>
            </a:xfrm>
            <a:prstGeom prst="rect">
              <a:avLst/>
            </a:prstGeom>
          </p:spPr>
        </p:pic>
        <p:pic>
          <p:nvPicPr>
            <p:cNvPr id="58" name="Picture 57" descr="Fig 73">
              <a:extLst>
                <a:ext uri="{FF2B5EF4-FFF2-40B4-BE49-F238E27FC236}">
                  <a16:creationId xmlns:a16="http://schemas.microsoft.com/office/drawing/2014/main" id="{00C15D2C-63D0-BCC6-17C9-B385EE9CD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61680" b="57206"/>
            <a:stretch>
              <a:fillRect/>
            </a:stretch>
          </p:blipFill>
          <p:spPr>
            <a:xfrm>
              <a:off x="2610849" y="2138556"/>
              <a:ext cx="205605" cy="255123"/>
            </a:xfrm>
            <a:prstGeom prst="rect">
              <a:avLst/>
            </a:prstGeom>
          </p:spPr>
        </p:pic>
        <p:pic>
          <p:nvPicPr>
            <p:cNvPr id="59" name="Picture 58" descr="Fig 73">
              <a:extLst>
                <a:ext uri="{FF2B5EF4-FFF2-40B4-BE49-F238E27FC236}">
                  <a16:creationId xmlns:a16="http://schemas.microsoft.com/office/drawing/2014/main" id="{AEB4EDD1-748F-5A43-E380-CAFEB7560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58244" t="3392" r="1468" b="58828"/>
            <a:stretch>
              <a:fillRect/>
            </a:stretch>
          </p:blipFill>
          <p:spPr>
            <a:xfrm>
              <a:off x="2599832" y="2545291"/>
              <a:ext cx="218437" cy="227603"/>
            </a:xfrm>
            <a:prstGeom prst="rect">
              <a:avLst/>
            </a:prstGeom>
          </p:spPr>
        </p:pic>
        <p:pic>
          <p:nvPicPr>
            <p:cNvPr id="60" name="Picture 59" descr="Fig 73">
              <a:extLst>
                <a:ext uri="{FF2B5EF4-FFF2-40B4-BE49-F238E27FC236}">
                  <a16:creationId xmlns:a16="http://schemas.microsoft.com/office/drawing/2014/main" id="{FF9E06B3-1ECA-306E-9FC2-68220FC54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3233" t="54883" r="2045" b="8887"/>
            <a:stretch>
              <a:fillRect/>
            </a:stretch>
          </p:blipFill>
          <p:spPr>
            <a:xfrm>
              <a:off x="2985679" y="2544286"/>
              <a:ext cx="219639" cy="254644"/>
            </a:xfrm>
            <a:prstGeom prst="rect">
              <a:avLst/>
            </a:prstGeom>
          </p:spPr>
        </p:pic>
        <p:pic>
          <p:nvPicPr>
            <p:cNvPr id="61" name="Picture 60" descr="Fig 73">
              <a:extLst>
                <a:ext uri="{FF2B5EF4-FFF2-40B4-BE49-F238E27FC236}">
                  <a16:creationId xmlns:a16="http://schemas.microsoft.com/office/drawing/2014/main" id="{ED9A27C5-B6D6-DACA-82C3-5EE6FA0A0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964" t="64330" r="61237" b="7576"/>
            <a:stretch>
              <a:fillRect/>
            </a:stretch>
          </p:blipFill>
          <p:spPr>
            <a:xfrm>
              <a:off x="2974986" y="2168521"/>
              <a:ext cx="236351" cy="195192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EE4B8E5-D8E4-63C1-5C04-18839BADAAC6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The need for molecular representations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7CB1D7-4719-821D-FF2E-D7F7A406A043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sp>
        <p:nvSpPr>
          <p:cNvPr id="4" name="Coins">
            <a:extLst>
              <a:ext uri="{FF2B5EF4-FFF2-40B4-BE49-F238E27FC236}">
                <a16:creationId xmlns:a16="http://schemas.microsoft.com/office/drawing/2014/main" id="{7515EBA2-2818-87F8-A298-A82AD8DA8486}"/>
              </a:ext>
            </a:extLst>
          </p:cNvPr>
          <p:cNvSpPr/>
          <p:nvPr/>
        </p:nvSpPr>
        <p:spPr>
          <a:xfrm>
            <a:off x="3079942" y="3159154"/>
            <a:ext cx="1107282" cy="11788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0"/>
                </a:moveTo>
                <a:cubicBezTo>
                  <a:pt x="7949" y="0"/>
                  <a:pt x="5266" y="392"/>
                  <a:pt x="3255" y="1111"/>
                </a:cubicBezTo>
                <a:cubicBezTo>
                  <a:pt x="1360" y="1787"/>
                  <a:pt x="273" y="2685"/>
                  <a:pt x="273" y="3572"/>
                </a:cubicBezTo>
                <a:cubicBezTo>
                  <a:pt x="273" y="4460"/>
                  <a:pt x="1360" y="5360"/>
                  <a:pt x="3255" y="6035"/>
                </a:cubicBezTo>
                <a:cubicBezTo>
                  <a:pt x="5266" y="6749"/>
                  <a:pt x="7949" y="7147"/>
                  <a:pt x="10801" y="7147"/>
                </a:cubicBezTo>
                <a:cubicBezTo>
                  <a:pt x="13652" y="7147"/>
                  <a:pt x="16334" y="6754"/>
                  <a:pt x="18345" y="6035"/>
                </a:cubicBezTo>
                <a:cubicBezTo>
                  <a:pt x="20240" y="5360"/>
                  <a:pt x="21327" y="4460"/>
                  <a:pt x="21327" y="3572"/>
                </a:cubicBezTo>
                <a:cubicBezTo>
                  <a:pt x="21327" y="2685"/>
                  <a:pt x="20240" y="1787"/>
                  <a:pt x="18345" y="1111"/>
                </a:cubicBezTo>
                <a:cubicBezTo>
                  <a:pt x="16334" y="398"/>
                  <a:pt x="13652" y="0"/>
                  <a:pt x="10801" y="0"/>
                </a:cubicBezTo>
                <a:close/>
                <a:moveTo>
                  <a:pt x="12" y="4505"/>
                </a:moveTo>
                <a:lnTo>
                  <a:pt x="12" y="5914"/>
                </a:lnTo>
                <a:cubicBezTo>
                  <a:pt x="12" y="8033"/>
                  <a:pt x="4846" y="9754"/>
                  <a:pt x="10811" y="9754"/>
                </a:cubicBezTo>
                <a:cubicBezTo>
                  <a:pt x="16776" y="9754"/>
                  <a:pt x="21600" y="8039"/>
                  <a:pt x="21600" y="5914"/>
                </a:cubicBezTo>
                <a:lnTo>
                  <a:pt x="21600" y="4505"/>
                </a:lnTo>
                <a:cubicBezTo>
                  <a:pt x="21136" y="5284"/>
                  <a:pt x="20088" y="5991"/>
                  <a:pt x="18531" y="6541"/>
                </a:cubicBezTo>
                <a:cubicBezTo>
                  <a:pt x="16460" y="7276"/>
                  <a:pt x="13718" y="7679"/>
                  <a:pt x="10806" y="7679"/>
                </a:cubicBezTo>
                <a:cubicBezTo>
                  <a:pt x="7894" y="7679"/>
                  <a:pt x="5146" y="7276"/>
                  <a:pt x="3081" y="6541"/>
                </a:cubicBezTo>
                <a:cubicBezTo>
                  <a:pt x="1524" y="5985"/>
                  <a:pt x="476" y="5284"/>
                  <a:pt x="12" y="4505"/>
                </a:cubicBezTo>
                <a:close/>
                <a:moveTo>
                  <a:pt x="0" y="7320"/>
                </a:moveTo>
                <a:lnTo>
                  <a:pt x="0" y="8284"/>
                </a:lnTo>
                <a:cubicBezTo>
                  <a:pt x="0" y="10402"/>
                  <a:pt x="4836" y="12123"/>
                  <a:pt x="10801" y="12123"/>
                </a:cubicBezTo>
                <a:cubicBezTo>
                  <a:pt x="16766" y="12123"/>
                  <a:pt x="21600" y="10408"/>
                  <a:pt x="21600" y="8284"/>
                </a:cubicBezTo>
                <a:lnTo>
                  <a:pt x="21600" y="7320"/>
                </a:lnTo>
                <a:cubicBezTo>
                  <a:pt x="21458" y="7495"/>
                  <a:pt x="21295" y="7664"/>
                  <a:pt x="21098" y="7827"/>
                </a:cubicBezTo>
                <a:cubicBezTo>
                  <a:pt x="20508" y="8329"/>
                  <a:pt x="19672" y="8769"/>
                  <a:pt x="18618" y="9145"/>
                </a:cubicBezTo>
                <a:cubicBezTo>
                  <a:pt x="16520" y="9891"/>
                  <a:pt x="13745" y="10299"/>
                  <a:pt x="10801" y="10299"/>
                </a:cubicBezTo>
                <a:cubicBezTo>
                  <a:pt x="7856" y="10299"/>
                  <a:pt x="5080" y="9891"/>
                  <a:pt x="2982" y="9145"/>
                </a:cubicBezTo>
                <a:cubicBezTo>
                  <a:pt x="1928" y="8769"/>
                  <a:pt x="1099" y="8329"/>
                  <a:pt x="504" y="7827"/>
                </a:cubicBezTo>
                <a:cubicBezTo>
                  <a:pt x="307" y="7664"/>
                  <a:pt x="142" y="7495"/>
                  <a:pt x="0" y="7320"/>
                </a:cubicBezTo>
                <a:close/>
                <a:moveTo>
                  <a:pt x="0" y="9689"/>
                </a:moveTo>
                <a:lnTo>
                  <a:pt x="0" y="10653"/>
                </a:lnTo>
                <a:cubicBezTo>
                  <a:pt x="0" y="12771"/>
                  <a:pt x="4836" y="14492"/>
                  <a:pt x="10801" y="14492"/>
                </a:cubicBezTo>
                <a:cubicBezTo>
                  <a:pt x="16766" y="14492"/>
                  <a:pt x="21600" y="12777"/>
                  <a:pt x="21600" y="10653"/>
                </a:cubicBezTo>
                <a:lnTo>
                  <a:pt x="21600" y="9689"/>
                </a:lnTo>
                <a:cubicBezTo>
                  <a:pt x="21458" y="9864"/>
                  <a:pt x="21295" y="10033"/>
                  <a:pt x="21098" y="10197"/>
                </a:cubicBezTo>
                <a:cubicBezTo>
                  <a:pt x="20508" y="10698"/>
                  <a:pt x="19672" y="11138"/>
                  <a:pt x="18618" y="11514"/>
                </a:cubicBezTo>
                <a:cubicBezTo>
                  <a:pt x="16520" y="12260"/>
                  <a:pt x="13745" y="12668"/>
                  <a:pt x="10801" y="12668"/>
                </a:cubicBezTo>
                <a:cubicBezTo>
                  <a:pt x="7856" y="12668"/>
                  <a:pt x="5080" y="12260"/>
                  <a:pt x="2982" y="11514"/>
                </a:cubicBezTo>
                <a:cubicBezTo>
                  <a:pt x="1928" y="11138"/>
                  <a:pt x="1099" y="10698"/>
                  <a:pt x="504" y="10197"/>
                </a:cubicBezTo>
                <a:cubicBezTo>
                  <a:pt x="307" y="10033"/>
                  <a:pt x="142" y="9864"/>
                  <a:pt x="0" y="9689"/>
                </a:cubicBezTo>
                <a:close/>
                <a:moveTo>
                  <a:pt x="0" y="12059"/>
                </a:moveTo>
                <a:lnTo>
                  <a:pt x="0" y="13022"/>
                </a:lnTo>
                <a:cubicBezTo>
                  <a:pt x="0" y="15141"/>
                  <a:pt x="4836" y="16862"/>
                  <a:pt x="10801" y="16862"/>
                </a:cubicBezTo>
                <a:cubicBezTo>
                  <a:pt x="16766" y="16862"/>
                  <a:pt x="21600" y="15146"/>
                  <a:pt x="21600" y="13022"/>
                </a:cubicBezTo>
                <a:lnTo>
                  <a:pt x="21600" y="12059"/>
                </a:lnTo>
                <a:cubicBezTo>
                  <a:pt x="21458" y="12233"/>
                  <a:pt x="21295" y="12402"/>
                  <a:pt x="21098" y="12566"/>
                </a:cubicBezTo>
                <a:cubicBezTo>
                  <a:pt x="20508" y="13067"/>
                  <a:pt x="19672" y="13507"/>
                  <a:pt x="18618" y="13883"/>
                </a:cubicBezTo>
                <a:cubicBezTo>
                  <a:pt x="16520" y="14629"/>
                  <a:pt x="13745" y="15037"/>
                  <a:pt x="10801" y="15037"/>
                </a:cubicBezTo>
                <a:cubicBezTo>
                  <a:pt x="7856" y="15037"/>
                  <a:pt x="5080" y="14629"/>
                  <a:pt x="2982" y="13883"/>
                </a:cubicBezTo>
                <a:cubicBezTo>
                  <a:pt x="1928" y="13507"/>
                  <a:pt x="1099" y="13067"/>
                  <a:pt x="504" y="12566"/>
                </a:cubicBezTo>
                <a:cubicBezTo>
                  <a:pt x="307" y="12402"/>
                  <a:pt x="142" y="12233"/>
                  <a:pt x="0" y="12059"/>
                </a:cubicBezTo>
                <a:close/>
                <a:moveTo>
                  <a:pt x="0" y="14428"/>
                </a:moveTo>
                <a:lnTo>
                  <a:pt x="0" y="15391"/>
                </a:lnTo>
                <a:cubicBezTo>
                  <a:pt x="0" y="17510"/>
                  <a:pt x="4836" y="19231"/>
                  <a:pt x="10801" y="19231"/>
                </a:cubicBezTo>
                <a:cubicBezTo>
                  <a:pt x="16766" y="19231"/>
                  <a:pt x="21600" y="17515"/>
                  <a:pt x="21600" y="15391"/>
                </a:cubicBezTo>
                <a:lnTo>
                  <a:pt x="21600" y="14428"/>
                </a:lnTo>
                <a:cubicBezTo>
                  <a:pt x="21458" y="14602"/>
                  <a:pt x="21295" y="14772"/>
                  <a:pt x="21098" y="14935"/>
                </a:cubicBezTo>
                <a:cubicBezTo>
                  <a:pt x="20508" y="15436"/>
                  <a:pt x="19672" y="15877"/>
                  <a:pt x="18618" y="16252"/>
                </a:cubicBezTo>
                <a:cubicBezTo>
                  <a:pt x="16520" y="16998"/>
                  <a:pt x="13745" y="17406"/>
                  <a:pt x="10801" y="17406"/>
                </a:cubicBezTo>
                <a:cubicBezTo>
                  <a:pt x="7856" y="17406"/>
                  <a:pt x="5080" y="16998"/>
                  <a:pt x="2982" y="16252"/>
                </a:cubicBezTo>
                <a:cubicBezTo>
                  <a:pt x="1928" y="15877"/>
                  <a:pt x="1099" y="15436"/>
                  <a:pt x="504" y="14935"/>
                </a:cubicBezTo>
                <a:cubicBezTo>
                  <a:pt x="307" y="14772"/>
                  <a:pt x="142" y="14602"/>
                  <a:pt x="0" y="14428"/>
                </a:cubicBezTo>
                <a:close/>
                <a:moveTo>
                  <a:pt x="0" y="16797"/>
                </a:moveTo>
                <a:lnTo>
                  <a:pt x="0" y="17760"/>
                </a:lnTo>
                <a:cubicBezTo>
                  <a:pt x="0" y="19879"/>
                  <a:pt x="4836" y="21600"/>
                  <a:pt x="10801" y="21600"/>
                </a:cubicBezTo>
                <a:cubicBezTo>
                  <a:pt x="16766" y="21600"/>
                  <a:pt x="21600" y="19879"/>
                  <a:pt x="21600" y="17760"/>
                </a:cubicBezTo>
                <a:lnTo>
                  <a:pt x="21600" y="16797"/>
                </a:lnTo>
                <a:cubicBezTo>
                  <a:pt x="21458" y="16971"/>
                  <a:pt x="21295" y="17141"/>
                  <a:pt x="21098" y="17304"/>
                </a:cubicBezTo>
                <a:cubicBezTo>
                  <a:pt x="20508" y="17805"/>
                  <a:pt x="19672" y="18246"/>
                  <a:pt x="18618" y="18622"/>
                </a:cubicBezTo>
                <a:cubicBezTo>
                  <a:pt x="16520" y="19368"/>
                  <a:pt x="13745" y="19775"/>
                  <a:pt x="10801" y="19775"/>
                </a:cubicBezTo>
                <a:cubicBezTo>
                  <a:pt x="7856" y="19775"/>
                  <a:pt x="5080" y="19368"/>
                  <a:pt x="2982" y="18622"/>
                </a:cubicBezTo>
                <a:cubicBezTo>
                  <a:pt x="1928" y="18246"/>
                  <a:pt x="1099" y="17805"/>
                  <a:pt x="504" y="17304"/>
                </a:cubicBezTo>
                <a:cubicBezTo>
                  <a:pt x="307" y="17141"/>
                  <a:pt x="142" y="16971"/>
                  <a:pt x="0" y="16797"/>
                </a:cubicBezTo>
                <a:close/>
              </a:path>
            </a:pathLst>
          </a:custGeom>
          <a:solidFill>
            <a:srgbClr val="E0DDBF"/>
          </a:solidFill>
          <a:ln w="12700">
            <a:miter lim="400000"/>
          </a:ln>
        </p:spPr>
        <p:txBody>
          <a:bodyPr lIns="45719" rIns="45719" anchor="ctr"/>
          <a:lstStyle/>
          <a:p>
            <a:endParaRPr>
              <a:latin typeface="Avenir Book" panose="02000503020000020003" pitchFamily="2" charset="0"/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B6625C98-BA78-6696-B1BF-8C996B3A0D1C}"/>
              </a:ext>
            </a:extLst>
          </p:cNvPr>
          <p:cNvSpPr/>
          <p:nvPr/>
        </p:nvSpPr>
        <p:spPr>
          <a:xfrm>
            <a:off x="4308035" y="3272496"/>
            <a:ext cx="1997302" cy="935915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Representation</a:t>
            </a:r>
          </a:p>
        </p:txBody>
      </p:sp>
      <p:pic>
        <p:nvPicPr>
          <p:cNvPr id="7" name="Picture 6" descr="Nonprofits by the Numbers: How Many Board Members and Boards?">
            <a:extLst>
              <a:ext uri="{FF2B5EF4-FFF2-40B4-BE49-F238E27FC236}">
                <a16:creationId xmlns:a16="http://schemas.microsoft.com/office/drawing/2014/main" id="{DD2734B9-4242-86E8-7ADF-F946A5C844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5337" y="3242575"/>
            <a:ext cx="1997303" cy="10119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2E26B8-F017-D96E-39A7-B55A6D61B3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27" t="3189" r="33833" b="2449"/>
          <a:stretch>
            <a:fillRect/>
          </a:stretch>
        </p:blipFill>
        <p:spPr>
          <a:xfrm>
            <a:off x="703546" y="2602178"/>
            <a:ext cx="1409697" cy="1793081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544E203E-0F1D-7AC0-D1DD-67897A2D540C}"/>
              </a:ext>
            </a:extLst>
          </p:cNvPr>
          <p:cNvGrpSpPr/>
          <p:nvPr/>
        </p:nvGrpSpPr>
        <p:grpSpPr>
          <a:xfrm>
            <a:off x="-35701" y="3546219"/>
            <a:ext cx="1557337" cy="1900181"/>
            <a:chOff x="236209" y="4131715"/>
            <a:chExt cx="1557337" cy="1900181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5B49E36-734F-3CC9-7764-B027749F024A}"/>
                </a:ext>
              </a:extLst>
            </p:cNvPr>
            <p:cNvGrpSpPr/>
            <p:nvPr/>
          </p:nvGrpSpPr>
          <p:grpSpPr>
            <a:xfrm>
              <a:off x="236209" y="4131715"/>
              <a:ext cx="1557337" cy="1900181"/>
              <a:chOff x="252413" y="4163193"/>
              <a:chExt cx="1557337" cy="1900181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99110C22-21F7-994C-A4D0-7BAD0DF73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65045"/>
              <a:stretch>
                <a:fillRect/>
              </a:stretch>
            </p:blipFill>
            <p:spPr>
              <a:xfrm>
                <a:off x="252413" y="4163193"/>
                <a:ext cx="1557337" cy="1900181"/>
              </a:xfrm>
              <a:prstGeom prst="rect">
                <a:avLst/>
              </a:prstGeom>
            </p:spPr>
          </p:pic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D97BF0B-0795-7F6C-D38D-9D87E02758C8}"/>
                  </a:ext>
                </a:extLst>
              </p:cNvPr>
              <p:cNvSpPr/>
              <p:nvPr/>
            </p:nvSpPr>
            <p:spPr>
              <a:xfrm>
                <a:off x="507104" y="4649117"/>
                <a:ext cx="348868" cy="35253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0DC6A11-7808-8755-4A0C-A944CDF9F10A}"/>
                  </a:ext>
                </a:extLst>
              </p:cNvPr>
              <p:cNvSpPr/>
              <p:nvPr/>
            </p:nvSpPr>
            <p:spPr>
              <a:xfrm>
                <a:off x="886615" y="4649117"/>
                <a:ext cx="348868" cy="35253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12CC353-5E65-A058-2AF8-25263C56B2E0}"/>
                  </a:ext>
                </a:extLst>
              </p:cNvPr>
              <p:cNvSpPr/>
              <p:nvPr/>
            </p:nvSpPr>
            <p:spPr>
              <a:xfrm>
                <a:off x="1266126" y="4649116"/>
                <a:ext cx="348868" cy="35253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68A4D66-0AF7-5A0B-8874-A2B39710CC0A}"/>
                  </a:ext>
                </a:extLst>
              </p:cNvPr>
              <p:cNvSpPr/>
              <p:nvPr/>
            </p:nvSpPr>
            <p:spPr>
              <a:xfrm>
                <a:off x="507104" y="5040425"/>
                <a:ext cx="348868" cy="35253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C5AC0D0-7C57-F86C-E18E-2E661ACF1204}"/>
                  </a:ext>
                </a:extLst>
              </p:cNvPr>
              <p:cNvSpPr/>
              <p:nvPr/>
            </p:nvSpPr>
            <p:spPr>
              <a:xfrm>
                <a:off x="886615" y="5040425"/>
                <a:ext cx="348868" cy="35253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02420AE-E87F-5170-720D-D39CF8510A16}"/>
                  </a:ext>
                </a:extLst>
              </p:cNvPr>
              <p:cNvSpPr/>
              <p:nvPr/>
            </p:nvSpPr>
            <p:spPr>
              <a:xfrm>
                <a:off x="1266126" y="5040424"/>
                <a:ext cx="348868" cy="35253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3F7FF20-C1E4-A510-7A27-8D7FDF866EC8}"/>
                  </a:ext>
                </a:extLst>
              </p:cNvPr>
              <p:cNvSpPr/>
              <p:nvPr/>
            </p:nvSpPr>
            <p:spPr>
              <a:xfrm>
                <a:off x="507104" y="5431733"/>
                <a:ext cx="348868" cy="35253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607806E-4048-C5A6-23BB-51402207B378}"/>
                  </a:ext>
                </a:extLst>
              </p:cNvPr>
              <p:cNvSpPr/>
              <p:nvPr/>
            </p:nvSpPr>
            <p:spPr>
              <a:xfrm>
                <a:off x="886615" y="5431733"/>
                <a:ext cx="348868" cy="35253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54782F5-7044-61CA-66C7-EE3F7D7D1144}"/>
                  </a:ext>
                </a:extLst>
              </p:cNvPr>
              <p:cNvSpPr/>
              <p:nvPr/>
            </p:nvSpPr>
            <p:spPr>
              <a:xfrm>
                <a:off x="1266126" y="5431732"/>
                <a:ext cx="348868" cy="35253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2F75F2AD-2ECB-2389-5917-F9B249082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9595" y="4728664"/>
              <a:ext cx="1026689" cy="927561"/>
            </a:xfrm>
            <a:prstGeom prst="rect">
              <a:avLst/>
            </a:prstGeom>
          </p:spPr>
        </p:pic>
      </p:grpSp>
      <p:sp>
        <p:nvSpPr>
          <p:cNvPr id="79" name="Freeform 78">
            <a:extLst>
              <a:ext uri="{FF2B5EF4-FFF2-40B4-BE49-F238E27FC236}">
                <a16:creationId xmlns:a16="http://schemas.microsoft.com/office/drawing/2014/main" id="{BCA57937-A75F-93F8-9AEE-051EB3911295}"/>
              </a:ext>
            </a:extLst>
          </p:cNvPr>
          <p:cNvSpPr/>
          <p:nvPr/>
        </p:nvSpPr>
        <p:spPr>
          <a:xfrm>
            <a:off x="8391226" y="2570290"/>
            <a:ext cx="1897295" cy="1041652"/>
          </a:xfrm>
          <a:custGeom>
            <a:avLst/>
            <a:gdLst>
              <a:gd name="csX0" fmla="*/ 0 w 1642683"/>
              <a:gd name="csY0" fmla="*/ 1060057 h 1060057"/>
              <a:gd name="csX1" fmla="*/ 1060056 w 1642683"/>
              <a:gd name="csY1" fmla="*/ 712099 h 1060057"/>
              <a:gd name="csX2" fmla="*/ 1642683 w 1642683"/>
              <a:gd name="csY2" fmla="*/ 0 h 1060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42683" h="1060057">
                <a:moveTo>
                  <a:pt x="0" y="1060057"/>
                </a:moveTo>
                <a:cubicBezTo>
                  <a:pt x="393138" y="974416"/>
                  <a:pt x="786276" y="888775"/>
                  <a:pt x="1060056" y="712099"/>
                </a:cubicBezTo>
                <a:cubicBezTo>
                  <a:pt x="1333836" y="535423"/>
                  <a:pt x="1488259" y="267711"/>
                  <a:pt x="1642683" y="0"/>
                </a:cubicBezTo>
              </a:path>
            </a:pathLst>
          </a:custGeom>
          <a:noFill/>
          <a:ln w="66675">
            <a:solidFill>
              <a:schemeClr val="bg2"/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BBC09DE9-428A-2FAE-FB81-4BB0B38DEBA9}"/>
              </a:ext>
            </a:extLst>
          </p:cNvPr>
          <p:cNvSpPr/>
          <p:nvPr/>
        </p:nvSpPr>
        <p:spPr>
          <a:xfrm flipV="1">
            <a:off x="8417389" y="3734337"/>
            <a:ext cx="1897295" cy="1041652"/>
          </a:xfrm>
          <a:custGeom>
            <a:avLst/>
            <a:gdLst>
              <a:gd name="csX0" fmla="*/ 0 w 1642683"/>
              <a:gd name="csY0" fmla="*/ 1060057 h 1060057"/>
              <a:gd name="csX1" fmla="*/ 1060056 w 1642683"/>
              <a:gd name="csY1" fmla="*/ 712099 h 1060057"/>
              <a:gd name="csX2" fmla="*/ 1642683 w 1642683"/>
              <a:gd name="csY2" fmla="*/ 0 h 10600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42683" h="1060057">
                <a:moveTo>
                  <a:pt x="0" y="1060057"/>
                </a:moveTo>
                <a:cubicBezTo>
                  <a:pt x="393138" y="974416"/>
                  <a:pt x="786276" y="888775"/>
                  <a:pt x="1060056" y="712099"/>
                </a:cubicBezTo>
                <a:cubicBezTo>
                  <a:pt x="1333836" y="535423"/>
                  <a:pt x="1488259" y="267711"/>
                  <a:pt x="1642683" y="0"/>
                </a:cubicBezTo>
              </a:path>
            </a:pathLst>
          </a:custGeom>
          <a:noFill/>
          <a:ln w="66675">
            <a:solidFill>
              <a:schemeClr val="bg2"/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477237E-E7D3-9C2B-A5DE-0073773FC534}"/>
              </a:ext>
            </a:extLst>
          </p:cNvPr>
          <p:cNvSpPr/>
          <p:nvPr/>
        </p:nvSpPr>
        <p:spPr>
          <a:xfrm>
            <a:off x="8795171" y="3248377"/>
            <a:ext cx="882032" cy="870672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7EB0116-7445-0C6D-A312-D54548ACB764}"/>
              </a:ext>
            </a:extLst>
          </p:cNvPr>
          <p:cNvGrpSpPr/>
          <p:nvPr/>
        </p:nvGrpSpPr>
        <p:grpSpPr>
          <a:xfrm>
            <a:off x="8921052" y="3393318"/>
            <a:ext cx="662638" cy="517601"/>
            <a:chOff x="6352023" y="1231032"/>
            <a:chExt cx="835317" cy="691045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45B3ADB-7DA6-31E5-1580-8FD53330AB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833" y="1584800"/>
              <a:ext cx="105076" cy="274539"/>
            </a:xfrm>
            <a:prstGeom prst="line">
              <a:avLst/>
            </a:prstGeom>
            <a:ln w="28575">
              <a:solidFill>
                <a:srgbClr val="6860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35A732D-16AE-C3AD-6486-5AB04699E5E9}"/>
                </a:ext>
              </a:extLst>
            </p:cNvPr>
            <p:cNvCxnSpPr>
              <a:cxnSpLocks/>
            </p:cNvCxnSpPr>
            <p:nvPr/>
          </p:nvCxnSpPr>
          <p:spPr>
            <a:xfrm>
              <a:off x="6527743" y="1584800"/>
              <a:ext cx="105076" cy="274539"/>
            </a:xfrm>
            <a:prstGeom prst="line">
              <a:avLst/>
            </a:prstGeom>
            <a:ln w="28575">
              <a:solidFill>
                <a:srgbClr val="6860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2263EFC1-794E-D101-B74B-446A48BDEA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81595" y="1600824"/>
              <a:ext cx="105076" cy="274539"/>
            </a:xfrm>
            <a:prstGeom prst="line">
              <a:avLst/>
            </a:prstGeom>
            <a:ln w="28575">
              <a:solidFill>
                <a:srgbClr val="6860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100FA4A-13EB-FF08-8785-7C63D4592388}"/>
                </a:ext>
              </a:extLst>
            </p:cNvPr>
            <p:cNvCxnSpPr>
              <a:cxnSpLocks/>
            </p:cNvCxnSpPr>
            <p:nvPr/>
          </p:nvCxnSpPr>
          <p:spPr>
            <a:xfrm>
              <a:off x="6986505" y="1600824"/>
              <a:ext cx="105076" cy="274539"/>
            </a:xfrm>
            <a:prstGeom prst="line">
              <a:avLst/>
            </a:prstGeom>
            <a:ln w="28575">
              <a:solidFill>
                <a:srgbClr val="6860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1F39BDC-56B3-5F96-FF28-0A0182FBBA4E}"/>
                </a:ext>
              </a:extLst>
            </p:cNvPr>
            <p:cNvCxnSpPr>
              <a:cxnSpLocks/>
            </p:cNvCxnSpPr>
            <p:nvPr/>
          </p:nvCxnSpPr>
          <p:spPr>
            <a:xfrm>
              <a:off x="6770754" y="1363641"/>
              <a:ext cx="210380" cy="237353"/>
            </a:xfrm>
            <a:prstGeom prst="line">
              <a:avLst/>
            </a:prstGeom>
            <a:ln w="28575">
              <a:solidFill>
                <a:srgbClr val="6860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EC7CBB1-4205-3E34-F3CE-D45A07B3BC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25839" y="1356634"/>
              <a:ext cx="210380" cy="237353"/>
            </a:xfrm>
            <a:prstGeom prst="line">
              <a:avLst/>
            </a:prstGeom>
            <a:ln w="28575">
              <a:solidFill>
                <a:srgbClr val="6860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75CF25E-DFF0-4939-7215-01134DE5C6E8}"/>
                </a:ext>
              </a:extLst>
            </p:cNvPr>
            <p:cNvSpPr/>
            <p:nvPr/>
          </p:nvSpPr>
          <p:spPr>
            <a:xfrm>
              <a:off x="6646046" y="1231032"/>
              <a:ext cx="200149" cy="20817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B00338A7-B55F-0007-B45F-2A23C2850D77}"/>
                </a:ext>
              </a:extLst>
            </p:cNvPr>
            <p:cNvSpPr/>
            <p:nvPr/>
          </p:nvSpPr>
          <p:spPr>
            <a:xfrm>
              <a:off x="6452460" y="1519792"/>
              <a:ext cx="150565" cy="136121"/>
            </a:xfrm>
            <a:prstGeom prst="ellipse">
              <a:avLst/>
            </a:prstGeom>
            <a:solidFill>
              <a:srgbClr val="91CC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D030B6E-91AE-9648-3F81-43F011860DC9}"/>
                </a:ext>
              </a:extLst>
            </p:cNvPr>
            <p:cNvSpPr/>
            <p:nvPr/>
          </p:nvSpPr>
          <p:spPr>
            <a:xfrm>
              <a:off x="6559258" y="1785956"/>
              <a:ext cx="150564" cy="136121"/>
            </a:xfrm>
            <a:prstGeom prst="ellipse">
              <a:avLst/>
            </a:prstGeom>
            <a:solidFill>
              <a:srgbClr val="4E9BB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8692E943-79C5-F80D-CA4B-868CC1E38EA5}"/>
                </a:ext>
              </a:extLst>
            </p:cNvPr>
            <p:cNvSpPr/>
            <p:nvPr/>
          </p:nvSpPr>
          <p:spPr>
            <a:xfrm>
              <a:off x="6352023" y="1781762"/>
              <a:ext cx="146269" cy="13612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75" name="Triangle 74">
              <a:extLst>
                <a:ext uri="{FF2B5EF4-FFF2-40B4-BE49-F238E27FC236}">
                  <a16:creationId xmlns:a16="http://schemas.microsoft.com/office/drawing/2014/main" id="{8871A789-50DF-2180-2EFC-2A043D9112C4}"/>
                </a:ext>
              </a:extLst>
            </p:cNvPr>
            <p:cNvSpPr/>
            <p:nvPr/>
          </p:nvSpPr>
          <p:spPr>
            <a:xfrm>
              <a:off x="6882358" y="1520276"/>
              <a:ext cx="210379" cy="131851"/>
            </a:xfrm>
            <a:prstGeom prst="triangle">
              <a:avLst>
                <a:gd name="adj" fmla="val 50000"/>
              </a:avLst>
            </a:prstGeom>
            <a:solidFill>
              <a:srgbClr val="FFD0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76" name="5-point Star 54">
              <a:extLst>
                <a:ext uri="{FF2B5EF4-FFF2-40B4-BE49-F238E27FC236}">
                  <a16:creationId xmlns:a16="http://schemas.microsoft.com/office/drawing/2014/main" id="{C6CEEB71-AB29-F648-FF89-273D62BA13B3}"/>
                </a:ext>
              </a:extLst>
            </p:cNvPr>
            <p:cNvSpPr/>
            <p:nvPr/>
          </p:nvSpPr>
          <p:spPr>
            <a:xfrm>
              <a:off x="6794898" y="1754328"/>
              <a:ext cx="192468" cy="165865"/>
            </a:xfrm>
            <a:prstGeom prst="star5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Book" panose="02000503020000020003" pitchFamily="2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052AE39-CF6B-12FA-10F8-E86CE5718F0A}"/>
                </a:ext>
              </a:extLst>
            </p:cNvPr>
            <p:cNvSpPr/>
            <p:nvPr/>
          </p:nvSpPr>
          <p:spPr>
            <a:xfrm>
              <a:off x="7025021" y="1773374"/>
              <a:ext cx="162319" cy="13612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venir Book" panose="02000503020000020003" pitchFamily="2" charset="0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272D6C81-351F-BC48-FEF2-10F72D73EAE3}"/>
              </a:ext>
            </a:extLst>
          </p:cNvPr>
          <p:cNvSpPr txBox="1"/>
          <p:nvPr/>
        </p:nvSpPr>
        <p:spPr>
          <a:xfrm>
            <a:off x="10006593" y="1808530"/>
            <a:ext cx="1983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Optimize </a:t>
            </a:r>
          </a:p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Function/Property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11BBAC1-8559-A053-941E-213606FA62B7}"/>
              </a:ext>
            </a:extLst>
          </p:cNvPr>
          <p:cNvSpPr txBox="1"/>
          <p:nvPr/>
        </p:nvSpPr>
        <p:spPr>
          <a:xfrm>
            <a:off x="9932974" y="4705632"/>
            <a:ext cx="2130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Understand</a:t>
            </a:r>
          </a:p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Structure Activity Relationship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A6F43F6-6363-C581-6D64-146DB0165EAA}"/>
              </a:ext>
            </a:extLst>
          </p:cNvPr>
          <p:cNvSpPr txBox="1"/>
          <p:nvPr/>
        </p:nvSpPr>
        <p:spPr>
          <a:xfrm>
            <a:off x="4775799" y="4529362"/>
            <a:ext cx="30499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information</a:t>
            </a:r>
            <a:r>
              <a:rPr lang="en-US" dirty="0"/>
              <a:t> the model has on top of the data – choices to make – never neutral!</a:t>
            </a:r>
          </a:p>
        </p:txBody>
      </p:sp>
      <p:pic>
        <p:nvPicPr>
          <p:cNvPr id="88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7CAF8BEB-F9D3-35FA-C1BE-CC1E13C08FF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18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5156D-D4D1-DCC9-5E46-93B442877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293CFE-62DA-63B1-21AF-A9D3533FF394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Type of molecular representations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281D76-88F5-F1E9-60C9-67BFD27FC74D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AEEA20-CF78-5247-81F3-90DC96A4E361}"/>
              </a:ext>
            </a:extLst>
          </p:cNvPr>
          <p:cNvSpPr txBox="1"/>
          <p:nvPr/>
        </p:nvSpPr>
        <p:spPr>
          <a:xfrm>
            <a:off x="18288" y="6142418"/>
            <a:ext cx="151242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Wigh, D. S.; Goodman, J. M.; Lapkin, A. A. </a:t>
            </a:r>
            <a:r>
              <a:rPr lang="en-US" sz="1100" i="1" dirty="0"/>
              <a:t>WIREs </a:t>
            </a:r>
            <a:r>
              <a:rPr lang="en-US" sz="1100" i="1" dirty="0" err="1"/>
              <a:t>Comput</a:t>
            </a:r>
            <a:r>
              <a:rPr lang="en-US" sz="1100" i="1" dirty="0"/>
              <a:t> Mol Sci </a:t>
            </a:r>
            <a:r>
              <a:rPr lang="en-US" sz="1100" b="1" dirty="0"/>
              <a:t>2022</a:t>
            </a:r>
            <a:r>
              <a:rPr lang="en-US" sz="1100" dirty="0"/>
              <a:t>, 12 (5).</a:t>
            </a:r>
          </a:p>
        </p:txBody>
      </p:sp>
      <p:pic>
        <p:nvPicPr>
          <p:cNvPr id="4" name="Picture 3" descr="Details are in the caption following the image">
            <a:extLst>
              <a:ext uri="{FF2B5EF4-FFF2-40B4-BE49-F238E27FC236}">
                <a16:creationId xmlns:a16="http://schemas.microsoft.com/office/drawing/2014/main" id="{E67F752C-076E-8ABA-BD3C-9E3CED5A6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929" y="1611709"/>
            <a:ext cx="8976141" cy="36345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E89FC4-7C4E-2560-62B4-5C410F2F59A4}"/>
              </a:ext>
            </a:extLst>
          </p:cNvPr>
          <p:cNvSpPr txBox="1"/>
          <p:nvPr/>
        </p:nvSpPr>
        <p:spPr>
          <a:xfrm>
            <a:off x="2797416" y="5498761"/>
            <a:ext cx="1267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Text-based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33969A-79B0-D629-B78F-62D9DF3FBA67}"/>
              </a:ext>
            </a:extLst>
          </p:cNvPr>
          <p:cNvSpPr txBox="1"/>
          <p:nvPr/>
        </p:nvSpPr>
        <p:spPr>
          <a:xfrm>
            <a:off x="7213887" y="5506853"/>
            <a:ext cx="1230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Numerical</a:t>
            </a:r>
          </a:p>
        </p:txBody>
      </p:sp>
      <p:pic>
        <p:nvPicPr>
          <p:cNvPr id="9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2038116A-554A-2B66-0ABD-254680482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10" name="Left Bracket 9">
            <a:extLst>
              <a:ext uri="{FF2B5EF4-FFF2-40B4-BE49-F238E27FC236}">
                <a16:creationId xmlns:a16="http://schemas.microsoft.com/office/drawing/2014/main" id="{B4C6834B-5B0E-A7DC-99B1-44BF24E1F8D5}"/>
              </a:ext>
            </a:extLst>
          </p:cNvPr>
          <p:cNvSpPr/>
          <p:nvPr/>
        </p:nvSpPr>
        <p:spPr>
          <a:xfrm rot="16200000">
            <a:off x="3336285" y="3627596"/>
            <a:ext cx="124718" cy="3398682"/>
          </a:xfrm>
          <a:prstGeom prst="leftBracket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10441B79-F2D3-6393-B6D7-117B733B4B9B}"/>
              </a:ext>
            </a:extLst>
          </p:cNvPr>
          <p:cNvSpPr/>
          <p:nvPr/>
        </p:nvSpPr>
        <p:spPr>
          <a:xfrm rot="16200000">
            <a:off x="7818596" y="2777258"/>
            <a:ext cx="124719" cy="5099356"/>
          </a:xfrm>
          <a:prstGeom prst="leftBracket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125415FA-31E5-3E40-AF7F-FE2D70F196EE}"/>
              </a:ext>
            </a:extLst>
          </p:cNvPr>
          <p:cNvSpPr/>
          <p:nvPr/>
        </p:nvSpPr>
        <p:spPr>
          <a:xfrm>
            <a:off x="4170069" y="5627065"/>
            <a:ext cx="2922438" cy="12471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3D72F5-BAD2-20B7-AA94-75E713521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58" y="1002012"/>
            <a:ext cx="2816450" cy="15719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6B9D16-C077-EB69-3131-B0CDB3BBD699}"/>
              </a:ext>
            </a:extLst>
          </p:cNvPr>
          <p:cNvSpPr txBox="1"/>
          <p:nvPr/>
        </p:nvSpPr>
        <p:spPr>
          <a:xfrm>
            <a:off x="5099866" y="6031719"/>
            <a:ext cx="711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Numerical representations are often called “descriptors” or “features”</a:t>
            </a:r>
          </a:p>
        </p:txBody>
      </p:sp>
    </p:spTree>
    <p:extLst>
      <p:ext uri="{BB962C8B-B14F-4D97-AF65-F5344CB8AC3E}">
        <p14:creationId xmlns:p14="http://schemas.microsoft.com/office/powerpoint/2010/main" val="2453963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 animBg="1"/>
      <p:bldP spid="15" grpId="0" animBg="1"/>
      <p:bldP spid="16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DB2D9-CD1C-BD30-4C2A-252D46780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riangle 120">
            <a:extLst>
              <a:ext uri="{FF2B5EF4-FFF2-40B4-BE49-F238E27FC236}">
                <a16:creationId xmlns:a16="http://schemas.microsoft.com/office/drawing/2014/main" id="{7EE8DC06-85A8-1486-337A-F0CEF34870C1}"/>
              </a:ext>
            </a:extLst>
          </p:cNvPr>
          <p:cNvSpPr/>
          <p:nvPr/>
        </p:nvSpPr>
        <p:spPr>
          <a:xfrm rot="16200000" flipH="1">
            <a:off x="9592588" y="4036461"/>
            <a:ext cx="831513" cy="2417549"/>
          </a:xfrm>
          <a:custGeom>
            <a:avLst/>
            <a:gdLst>
              <a:gd name="csX0" fmla="*/ 0 w 831513"/>
              <a:gd name="csY0" fmla="*/ 2417549 h 2417549"/>
              <a:gd name="csX1" fmla="*/ 415757 w 831513"/>
              <a:gd name="csY1" fmla="*/ 0 h 2417549"/>
              <a:gd name="csX2" fmla="*/ 831513 w 831513"/>
              <a:gd name="csY2" fmla="*/ 2417549 h 2417549"/>
              <a:gd name="csX3" fmla="*/ 0 w 831513"/>
              <a:gd name="csY3" fmla="*/ 2417549 h 2417549"/>
              <a:gd name="csX0" fmla="*/ 0 w 831513"/>
              <a:gd name="csY0" fmla="*/ 2417549 h 2417549"/>
              <a:gd name="csX1" fmla="*/ 415757 w 831513"/>
              <a:gd name="csY1" fmla="*/ 0 h 2417549"/>
              <a:gd name="csX2" fmla="*/ 831513 w 831513"/>
              <a:gd name="csY2" fmla="*/ 2417549 h 2417549"/>
              <a:gd name="csX3" fmla="*/ 0 w 831513"/>
              <a:gd name="csY3" fmla="*/ 2417549 h 2417549"/>
              <a:gd name="csX0" fmla="*/ 0 w 831513"/>
              <a:gd name="csY0" fmla="*/ 2417549 h 2417549"/>
              <a:gd name="csX1" fmla="*/ 415757 w 831513"/>
              <a:gd name="csY1" fmla="*/ 0 h 2417549"/>
              <a:gd name="csX2" fmla="*/ 831513 w 831513"/>
              <a:gd name="csY2" fmla="*/ 2417549 h 2417549"/>
              <a:gd name="csX3" fmla="*/ 0 w 831513"/>
              <a:gd name="csY3" fmla="*/ 2417549 h 2417549"/>
              <a:gd name="csX0" fmla="*/ 0 w 831513"/>
              <a:gd name="csY0" fmla="*/ 2417549 h 2417549"/>
              <a:gd name="csX1" fmla="*/ 415757 w 831513"/>
              <a:gd name="csY1" fmla="*/ 0 h 2417549"/>
              <a:gd name="csX2" fmla="*/ 831513 w 831513"/>
              <a:gd name="csY2" fmla="*/ 2417549 h 2417549"/>
              <a:gd name="csX3" fmla="*/ 0 w 831513"/>
              <a:gd name="csY3" fmla="*/ 2417549 h 2417549"/>
              <a:gd name="csX0" fmla="*/ 0 w 831513"/>
              <a:gd name="csY0" fmla="*/ 2417549 h 2417549"/>
              <a:gd name="csX1" fmla="*/ 415757 w 831513"/>
              <a:gd name="csY1" fmla="*/ 0 h 2417549"/>
              <a:gd name="csX2" fmla="*/ 831513 w 831513"/>
              <a:gd name="csY2" fmla="*/ 2417549 h 2417549"/>
              <a:gd name="csX3" fmla="*/ 0 w 831513"/>
              <a:gd name="csY3" fmla="*/ 2417549 h 24175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31513" h="2417549">
                <a:moveTo>
                  <a:pt x="0" y="2417549"/>
                </a:moveTo>
                <a:cubicBezTo>
                  <a:pt x="431884" y="1068234"/>
                  <a:pt x="363435" y="805850"/>
                  <a:pt x="415757" y="0"/>
                </a:cubicBezTo>
                <a:cubicBezTo>
                  <a:pt x="493958" y="805850"/>
                  <a:pt x="434136" y="1059608"/>
                  <a:pt x="831513" y="2417549"/>
                </a:cubicBezTo>
                <a:lnTo>
                  <a:pt x="0" y="2417549"/>
                </a:lnTo>
                <a:close/>
              </a:path>
            </a:pathLst>
          </a:custGeom>
          <a:solidFill>
            <a:srgbClr val="A1CB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riangle 118">
            <a:extLst>
              <a:ext uri="{FF2B5EF4-FFF2-40B4-BE49-F238E27FC236}">
                <a16:creationId xmlns:a16="http://schemas.microsoft.com/office/drawing/2014/main" id="{D3AB41FE-90C5-0B28-36FB-472B79CD1F87}"/>
              </a:ext>
            </a:extLst>
          </p:cNvPr>
          <p:cNvSpPr/>
          <p:nvPr/>
        </p:nvSpPr>
        <p:spPr>
          <a:xfrm rot="16200000" flipH="1">
            <a:off x="9635166" y="3146255"/>
            <a:ext cx="78683" cy="3078661"/>
          </a:xfrm>
          <a:prstGeom prst="triangle">
            <a:avLst/>
          </a:prstGeom>
          <a:solidFill>
            <a:srgbClr val="DFBA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riangle 117">
            <a:extLst>
              <a:ext uri="{FF2B5EF4-FFF2-40B4-BE49-F238E27FC236}">
                <a16:creationId xmlns:a16="http://schemas.microsoft.com/office/drawing/2014/main" id="{F7C1228E-0CDE-7152-0887-7F1B5795E178}"/>
              </a:ext>
            </a:extLst>
          </p:cNvPr>
          <p:cNvSpPr/>
          <p:nvPr/>
        </p:nvSpPr>
        <p:spPr>
          <a:xfrm rot="16200000" flipH="1">
            <a:off x="9050427" y="2088268"/>
            <a:ext cx="319010" cy="4018714"/>
          </a:xfrm>
          <a:prstGeom prst="triangle">
            <a:avLst/>
          </a:prstGeom>
          <a:solidFill>
            <a:srgbClr val="C4B6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riangle 110">
            <a:extLst>
              <a:ext uri="{FF2B5EF4-FFF2-40B4-BE49-F238E27FC236}">
                <a16:creationId xmlns:a16="http://schemas.microsoft.com/office/drawing/2014/main" id="{A2D6BB4D-1409-BC50-8DEA-D66B8ADE0030}"/>
              </a:ext>
            </a:extLst>
          </p:cNvPr>
          <p:cNvSpPr/>
          <p:nvPr/>
        </p:nvSpPr>
        <p:spPr>
          <a:xfrm rot="16200000" flipH="1">
            <a:off x="6445370" y="-1125082"/>
            <a:ext cx="199086" cy="9348751"/>
          </a:xfrm>
          <a:custGeom>
            <a:avLst/>
            <a:gdLst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4236" h="8859119">
                <a:moveTo>
                  <a:pt x="0" y="8859119"/>
                </a:moveTo>
                <a:cubicBezTo>
                  <a:pt x="170478" y="6742634"/>
                  <a:pt x="132724" y="2953040"/>
                  <a:pt x="142788" y="0"/>
                </a:cubicBezTo>
                <a:cubicBezTo>
                  <a:pt x="174505" y="2964763"/>
                  <a:pt x="109335" y="6745424"/>
                  <a:pt x="294236" y="8859119"/>
                </a:cubicBezTo>
                <a:lnTo>
                  <a:pt x="0" y="8859119"/>
                </a:lnTo>
                <a:close/>
              </a:path>
            </a:pathLst>
          </a:custGeom>
          <a:solidFill>
            <a:srgbClr val="C0392A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riangle 110">
            <a:extLst>
              <a:ext uri="{FF2B5EF4-FFF2-40B4-BE49-F238E27FC236}">
                <a16:creationId xmlns:a16="http://schemas.microsoft.com/office/drawing/2014/main" id="{A8EDD7A8-941A-A72B-7F8A-927DCEA18329}"/>
              </a:ext>
            </a:extLst>
          </p:cNvPr>
          <p:cNvSpPr/>
          <p:nvPr/>
        </p:nvSpPr>
        <p:spPr>
          <a:xfrm rot="16200000" flipH="1">
            <a:off x="6391468" y="-1420353"/>
            <a:ext cx="796523" cy="8859119"/>
          </a:xfrm>
          <a:custGeom>
            <a:avLst/>
            <a:gdLst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20 h 8859120"/>
              <a:gd name="csX1" fmla="*/ 147118 w 294236"/>
              <a:gd name="csY1" fmla="*/ 0 h 8859120"/>
              <a:gd name="csX2" fmla="*/ 294236 w 294236"/>
              <a:gd name="csY2" fmla="*/ 8859120 h 8859120"/>
              <a:gd name="csX3" fmla="*/ 0 w 294236"/>
              <a:gd name="csY3" fmla="*/ 8859120 h 8859120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  <a:gd name="csX0" fmla="*/ 0 w 294236"/>
              <a:gd name="csY0" fmla="*/ 8859119 h 8859119"/>
              <a:gd name="csX1" fmla="*/ 142788 w 294236"/>
              <a:gd name="csY1" fmla="*/ 0 h 8859119"/>
              <a:gd name="csX2" fmla="*/ 294236 w 294236"/>
              <a:gd name="csY2" fmla="*/ 8859119 h 8859119"/>
              <a:gd name="csX3" fmla="*/ 0 w 294236"/>
              <a:gd name="csY3" fmla="*/ 8859119 h 8859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4236" h="8859119">
                <a:moveTo>
                  <a:pt x="0" y="8859119"/>
                </a:moveTo>
                <a:cubicBezTo>
                  <a:pt x="170478" y="6742634"/>
                  <a:pt x="132724" y="2953040"/>
                  <a:pt x="142788" y="0"/>
                </a:cubicBezTo>
                <a:cubicBezTo>
                  <a:pt x="174505" y="2964763"/>
                  <a:pt x="109335" y="6745424"/>
                  <a:pt x="294236" y="8859119"/>
                </a:cubicBezTo>
                <a:lnTo>
                  <a:pt x="0" y="8859119"/>
                </a:lnTo>
                <a:close/>
              </a:path>
            </a:pathLst>
          </a:custGeom>
          <a:solidFill>
            <a:srgbClr val="2860A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riangle 108">
            <a:extLst>
              <a:ext uri="{FF2B5EF4-FFF2-40B4-BE49-F238E27FC236}">
                <a16:creationId xmlns:a16="http://schemas.microsoft.com/office/drawing/2014/main" id="{96D7592C-8428-4593-5D26-1E0E95CA5FA0}"/>
              </a:ext>
            </a:extLst>
          </p:cNvPr>
          <p:cNvSpPr/>
          <p:nvPr/>
        </p:nvSpPr>
        <p:spPr>
          <a:xfrm rot="16200000" flipH="1">
            <a:off x="9604994" y="985337"/>
            <a:ext cx="292317" cy="2936273"/>
          </a:xfrm>
          <a:prstGeom prst="triangle">
            <a:avLst/>
          </a:prstGeom>
          <a:solidFill>
            <a:srgbClr val="2860A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riangle 107">
            <a:extLst>
              <a:ext uri="{FF2B5EF4-FFF2-40B4-BE49-F238E27FC236}">
                <a16:creationId xmlns:a16="http://schemas.microsoft.com/office/drawing/2014/main" id="{320FFC96-03C6-7E61-AFEA-DA50E98D79FE}"/>
              </a:ext>
            </a:extLst>
          </p:cNvPr>
          <p:cNvSpPr/>
          <p:nvPr/>
        </p:nvSpPr>
        <p:spPr>
          <a:xfrm rot="16200000" flipH="1">
            <a:off x="6642039" y="-2541515"/>
            <a:ext cx="248835" cy="8905665"/>
          </a:xfrm>
          <a:prstGeom prst="triangle">
            <a:avLst/>
          </a:prstGeom>
          <a:solidFill>
            <a:srgbClr val="E1A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riangle 89">
            <a:extLst>
              <a:ext uri="{FF2B5EF4-FFF2-40B4-BE49-F238E27FC236}">
                <a16:creationId xmlns:a16="http://schemas.microsoft.com/office/drawing/2014/main" id="{59663030-D716-A9F4-0DE7-27D7478D2702}"/>
              </a:ext>
            </a:extLst>
          </p:cNvPr>
          <p:cNvSpPr/>
          <p:nvPr/>
        </p:nvSpPr>
        <p:spPr>
          <a:xfrm rot="16200000">
            <a:off x="6979903" y="-2829235"/>
            <a:ext cx="91440" cy="8387332"/>
          </a:xfrm>
          <a:prstGeom prst="triangle">
            <a:avLst/>
          </a:prstGeom>
          <a:solidFill>
            <a:srgbClr val="0C75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C69ADE-133E-57B7-8942-DD9754000C63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History of open-source datasets availability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5F0AE3-1029-FCC8-0454-4D19C13FC1F8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6BC8765B-BB51-1791-41EB-F505B9F0AC80}"/>
              </a:ext>
            </a:extLst>
          </p:cNvPr>
          <p:cNvSpPr/>
          <p:nvPr/>
        </p:nvSpPr>
        <p:spPr>
          <a:xfrm flipH="1">
            <a:off x="2694800" y="1126450"/>
            <a:ext cx="927" cy="4544568"/>
          </a:xfrm>
          <a:prstGeom prst="line">
            <a:avLst/>
          </a:prstGeom>
          <a:noFill/>
          <a:ln w="12700">
            <a:solidFill>
              <a:srgbClr val="DCE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72FB9C5-3C91-00D5-59CF-3EA14AB44621}"/>
              </a:ext>
            </a:extLst>
          </p:cNvPr>
          <p:cNvSpPr/>
          <p:nvPr/>
        </p:nvSpPr>
        <p:spPr>
          <a:xfrm>
            <a:off x="2329967" y="56868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</a:t>
            </a:r>
            <a:endParaRPr lang="en-US" sz="11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ADDBD498-AA13-83CD-8C51-92DDB9BB463E}"/>
              </a:ext>
            </a:extLst>
          </p:cNvPr>
          <p:cNvSpPr/>
          <p:nvPr/>
        </p:nvSpPr>
        <p:spPr>
          <a:xfrm flipH="1">
            <a:off x="3778503" y="1126450"/>
            <a:ext cx="926" cy="4544568"/>
          </a:xfrm>
          <a:prstGeom prst="line">
            <a:avLst/>
          </a:prstGeom>
          <a:noFill/>
          <a:ln w="12700">
            <a:solidFill>
              <a:srgbClr val="DCE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1079D34-B93C-76D0-4D5A-2B9963DE5130}"/>
              </a:ext>
            </a:extLst>
          </p:cNvPr>
          <p:cNvSpPr/>
          <p:nvPr/>
        </p:nvSpPr>
        <p:spPr>
          <a:xfrm>
            <a:off x="3413669" y="56868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</a:t>
            </a:r>
            <a:endParaRPr lang="en-US" sz="11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DF608B50-FDC8-F36E-B894-426924381B6D}"/>
              </a:ext>
            </a:extLst>
          </p:cNvPr>
          <p:cNvSpPr/>
          <p:nvPr/>
        </p:nvSpPr>
        <p:spPr>
          <a:xfrm>
            <a:off x="4895941" y="1126450"/>
            <a:ext cx="0" cy="4544568"/>
          </a:xfrm>
          <a:prstGeom prst="line">
            <a:avLst/>
          </a:prstGeom>
          <a:noFill/>
          <a:ln w="12700">
            <a:solidFill>
              <a:srgbClr val="DCE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96931EAC-01EE-F4D6-07A8-85539A7B2FE3}"/>
              </a:ext>
            </a:extLst>
          </p:cNvPr>
          <p:cNvSpPr/>
          <p:nvPr/>
        </p:nvSpPr>
        <p:spPr>
          <a:xfrm>
            <a:off x="4530181" y="56868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</a:t>
            </a:r>
            <a:endParaRPr lang="en-US" sz="1100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B3E59E85-70FD-06BD-081A-F3DA8A8404D9}"/>
              </a:ext>
            </a:extLst>
          </p:cNvPr>
          <p:cNvSpPr/>
          <p:nvPr/>
        </p:nvSpPr>
        <p:spPr>
          <a:xfrm flipH="1">
            <a:off x="6258264" y="1126450"/>
            <a:ext cx="1" cy="4544568"/>
          </a:xfrm>
          <a:prstGeom prst="line">
            <a:avLst/>
          </a:prstGeom>
          <a:noFill/>
          <a:ln w="12700">
            <a:solidFill>
              <a:srgbClr val="DCE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19E32217-52B6-2A3D-2C4F-359BB4531D5D}"/>
              </a:ext>
            </a:extLst>
          </p:cNvPr>
          <p:cNvSpPr/>
          <p:nvPr/>
        </p:nvSpPr>
        <p:spPr>
          <a:xfrm>
            <a:off x="5892505" y="56868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10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1C07CF74-EB9F-448C-1491-DCB17131BD98}"/>
              </a:ext>
            </a:extLst>
          </p:cNvPr>
          <p:cNvSpPr/>
          <p:nvPr/>
        </p:nvSpPr>
        <p:spPr>
          <a:xfrm>
            <a:off x="8010550" y="1126450"/>
            <a:ext cx="3273" cy="4544568"/>
          </a:xfrm>
          <a:prstGeom prst="line">
            <a:avLst/>
          </a:prstGeom>
          <a:noFill/>
          <a:ln w="12700">
            <a:solidFill>
              <a:srgbClr val="DCE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BC7C5F03-5592-2CBA-4F77-990C6105BDDA}"/>
              </a:ext>
            </a:extLst>
          </p:cNvPr>
          <p:cNvSpPr/>
          <p:nvPr/>
        </p:nvSpPr>
        <p:spPr>
          <a:xfrm>
            <a:off x="7644791" y="56868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100" dirty="0"/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C60A9D23-1D95-A406-8A4C-E2EBFC8EAA80}"/>
              </a:ext>
            </a:extLst>
          </p:cNvPr>
          <p:cNvSpPr/>
          <p:nvPr/>
        </p:nvSpPr>
        <p:spPr>
          <a:xfrm flipH="1">
            <a:off x="9759565" y="1126449"/>
            <a:ext cx="3273" cy="4544567"/>
          </a:xfrm>
          <a:prstGeom prst="line">
            <a:avLst/>
          </a:prstGeom>
          <a:noFill/>
          <a:ln w="12700">
            <a:solidFill>
              <a:srgbClr val="DCE9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5DB7EC4F-F7D8-65DB-CC97-C75F21C7F5B0}"/>
              </a:ext>
            </a:extLst>
          </p:cNvPr>
          <p:cNvSpPr/>
          <p:nvPr/>
        </p:nvSpPr>
        <p:spPr>
          <a:xfrm>
            <a:off x="9399767" y="568681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4D8FA8D0-7430-4907-F62A-9A36E93009B3}"/>
              </a:ext>
            </a:extLst>
          </p:cNvPr>
          <p:cNvSpPr/>
          <p:nvPr/>
        </p:nvSpPr>
        <p:spPr>
          <a:xfrm>
            <a:off x="2831958" y="1350479"/>
            <a:ext cx="8387331" cy="4571"/>
          </a:xfrm>
          <a:prstGeom prst="line">
            <a:avLst/>
          </a:prstGeom>
          <a:noFill/>
          <a:ln w="25400">
            <a:solidFill>
              <a:srgbClr val="0B7F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9F6D701E-DC78-6ED3-6929-6784BB3CA58C}"/>
              </a:ext>
            </a:extLst>
          </p:cNvPr>
          <p:cNvSpPr/>
          <p:nvPr/>
        </p:nvSpPr>
        <p:spPr>
          <a:xfrm>
            <a:off x="127618" y="120874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7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Structures</a:t>
            </a:r>
            <a:endParaRPr lang="en-US" sz="120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3DF1C4E8-CCC8-6F61-57D1-A665844186C2}"/>
              </a:ext>
            </a:extLst>
          </p:cNvPr>
          <p:cNvSpPr/>
          <p:nvPr/>
        </p:nvSpPr>
        <p:spPr>
          <a:xfrm>
            <a:off x="127618" y="175738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Structures</a:t>
            </a:r>
            <a:endParaRPr lang="en-US" sz="1200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10F53080-541C-314C-241C-5E3C45CE272B}"/>
              </a:ext>
            </a:extLst>
          </p:cNvPr>
          <p:cNvSpPr/>
          <p:nvPr/>
        </p:nvSpPr>
        <p:spPr>
          <a:xfrm>
            <a:off x="127618" y="230602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6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(open)</a:t>
            </a:r>
            <a:endParaRPr lang="en-US" sz="1200" dirty="0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BFDEE924-74C1-A818-A0C5-A1403635FF72}"/>
              </a:ext>
            </a:extLst>
          </p:cNvPr>
          <p:cNvSpPr/>
          <p:nvPr/>
        </p:nvSpPr>
        <p:spPr>
          <a:xfrm>
            <a:off x="127618" y="285466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6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(proprietary)</a:t>
            </a:r>
            <a:endParaRPr lang="en-US" sz="1200" dirty="0"/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AA308EC2-1546-30B7-F16C-832AB6986644}"/>
              </a:ext>
            </a:extLst>
          </p:cNvPr>
          <p:cNvSpPr/>
          <p:nvPr/>
        </p:nvSpPr>
        <p:spPr>
          <a:xfrm>
            <a:off x="127618" y="340330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Spectroscopy</a:t>
            </a:r>
            <a:endParaRPr lang="en-US" sz="1200" dirty="0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94078F3E-2626-0DB9-1C2A-7A3DB040E938}"/>
              </a:ext>
            </a:extLst>
          </p:cNvPr>
          <p:cNvSpPr/>
          <p:nvPr/>
        </p:nvSpPr>
        <p:spPr>
          <a:xfrm>
            <a:off x="127618" y="395194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Bioactivity</a:t>
            </a:r>
            <a:endParaRPr lang="en-US" sz="1200" dirty="0"/>
          </a:p>
        </p:txBody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A0E77ECF-E5E4-D39A-9252-506175505FD3}"/>
              </a:ext>
            </a:extLst>
          </p:cNvPr>
          <p:cNvSpPr/>
          <p:nvPr/>
        </p:nvSpPr>
        <p:spPr>
          <a:xfrm>
            <a:off x="127618" y="450058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200" dirty="0"/>
          </a:p>
        </p:txBody>
      </p:sp>
      <p:sp>
        <p:nvSpPr>
          <p:cNvPr id="38" name="Shape 28">
            <a:extLst>
              <a:ext uri="{FF2B5EF4-FFF2-40B4-BE49-F238E27FC236}">
                <a16:creationId xmlns:a16="http://schemas.microsoft.com/office/drawing/2014/main" id="{5055238D-2F6A-F33D-B583-CD3F52064436}"/>
              </a:ext>
            </a:extLst>
          </p:cNvPr>
          <p:cNvSpPr/>
          <p:nvPr/>
        </p:nvSpPr>
        <p:spPr>
          <a:xfrm>
            <a:off x="2831959" y="1131022"/>
            <a:ext cx="0" cy="155448"/>
          </a:xfrm>
          <a:prstGeom prst="line">
            <a:avLst/>
          </a:prstGeom>
          <a:noFill/>
          <a:ln w="15240">
            <a:solidFill>
              <a:srgbClr val="0B7F63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0E562DD4-A54F-1B70-6B75-D2ADE2868E15}"/>
              </a:ext>
            </a:extLst>
          </p:cNvPr>
          <p:cNvSpPr/>
          <p:nvPr/>
        </p:nvSpPr>
        <p:spPr>
          <a:xfrm>
            <a:off x="2763379" y="1286470"/>
            <a:ext cx="137160" cy="137160"/>
          </a:xfrm>
          <a:prstGeom prst="ellipse">
            <a:avLst/>
          </a:prstGeom>
          <a:solidFill>
            <a:srgbClr val="0B7F63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>
            <a:extLst>
              <a:ext uri="{FF2B5EF4-FFF2-40B4-BE49-F238E27FC236}">
                <a16:creationId xmlns:a16="http://schemas.microsoft.com/office/drawing/2014/main" id="{19BEE5FE-2F3B-57E4-FFBF-408A6CC5401C}"/>
              </a:ext>
            </a:extLst>
          </p:cNvPr>
          <p:cNvSpPr/>
          <p:nvPr/>
        </p:nvSpPr>
        <p:spPr>
          <a:xfrm>
            <a:off x="2194012" y="8230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900" dirty="0"/>
          </a:p>
        </p:txBody>
      </p:sp>
      <p:sp>
        <p:nvSpPr>
          <p:cNvPr id="44" name="Shape 34">
            <a:extLst>
              <a:ext uri="{FF2B5EF4-FFF2-40B4-BE49-F238E27FC236}">
                <a16:creationId xmlns:a16="http://schemas.microsoft.com/office/drawing/2014/main" id="{F7030BA7-C400-FA3C-4F9E-D48BB1CB3414}"/>
              </a:ext>
            </a:extLst>
          </p:cNvPr>
          <p:cNvSpPr/>
          <p:nvPr/>
        </p:nvSpPr>
        <p:spPr>
          <a:xfrm>
            <a:off x="2364187" y="1679662"/>
            <a:ext cx="0" cy="155448"/>
          </a:xfrm>
          <a:prstGeom prst="line">
            <a:avLst/>
          </a:prstGeom>
          <a:noFill/>
          <a:ln w="15240">
            <a:solidFill>
              <a:srgbClr val="E0A52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5">
            <a:extLst>
              <a:ext uri="{FF2B5EF4-FFF2-40B4-BE49-F238E27FC236}">
                <a16:creationId xmlns:a16="http://schemas.microsoft.com/office/drawing/2014/main" id="{03096D05-A8A6-9B7E-3950-1877C73173F2}"/>
              </a:ext>
            </a:extLst>
          </p:cNvPr>
          <p:cNvSpPr/>
          <p:nvPr/>
        </p:nvSpPr>
        <p:spPr>
          <a:xfrm>
            <a:off x="2295607" y="1835110"/>
            <a:ext cx="137160" cy="13716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E0A5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6">
            <a:extLst>
              <a:ext uri="{FF2B5EF4-FFF2-40B4-BE49-F238E27FC236}">
                <a16:creationId xmlns:a16="http://schemas.microsoft.com/office/drawing/2014/main" id="{BD5863B0-1CF3-A95A-45AF-D0AFB4BDE55D}"/>
              </a:ext>
            </a:extLst>
          </p:cNvPr>
          <p:cNvSpPr/>
          <p:nvPr/>
        </p:nvSpPr>
        <p:spPr>
          <a:xfrm>
            <a:off x="1724107" y="140534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</a:t>
            </a:r>
            <a:endParaRPr lang="en-US" sz="900" dirty="0"/>
          </a:p>
        </p:txBody>
      </p:sp>
      <p:sp>
        <p:nvSpPr>
          <p:cNvPr id="47" name="Shape 37">
            <a:extLst>
              <a:ext uri="{FF2B5EF4-FFF2-40B4-BE49-F238E27FC236}">
                <a16:creationId xmlns:a16="http://schemas.microsoft.com/office/drawing/2014/main" id="{7742F8D3-B4BA-1DF8-E055-328542B421DB}"/>
              </a:ext>
            </a:extLst>
          </p:cNvPr>
          <p:cNvSpPr/>
          <p:nvPr/>
        </p:nvSpPr>
        <p:spPr>
          <a:xfrm>
            <a:off x="3530093" y="1679662"/>
            <a:ext cx="0" cy="155448"/>
          </a:xfrm>
          <a:prstGeom prst="line">
            <a:avLst/>
          </a:prstGeom>
          <a:noFill/>
          <a:ln w="15240">
            <a:solidFill>
              <a:srgbClr val="E0A52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8">
            <a:extLst>
              <a:ext uri="{FF2B5EF4-FFF2-40B4-BE49-F238E27FC236}">
                <a16:creationId xmlns:a16="http://schemas.microsoft.com/office/drawing/2014/main" id="{24DC5A2F-7EB4-C005-F731-9CCFAB0E32C3}"/>
              </a:ext>
            </a:extLst>
          </p:cNvPr>
          <p:cNvSpPr/>
          <p:nvPr/>
        </p:nvSpPr>
        <p:spPr>
          <a:xfrm>
            <a:off x="3474960" y="1835110"/>
            <a:ext cx="137160" cy="13716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E0A5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9">
            <a:extLst>
              <a:ext uri="{FF2B5EF4-FFF2-40B4-BE49-F238E27FC236}">
                <a16:creationId xmlns:a16="http://schemas.microsoft.com/office/drawing/2014/main" id="{AD0468C6-272E-41A1-504F-4E1C38024541}"/>
              </a:ext>
            </a:extLst>
          </p:cNvPr>
          <p:cNvSpPr/>
          <p:nvPr/>
        </p:nvSpPr>
        <p:spPr>
          <a:xfrm>
            <a:off x="2890013" y="140534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ICSD</a:t>
            </a:r>
            <a:endParaRPr lang="en-US" sz="900" dirty="0"/>
          </a:p>
        </p:txBody>
      </p:sp>
      <p:sp>
        <p:nvSpPr>
          <p:cNvPr id="50" name="Shape 40">
            <a:extLst>
              <a:ext uri="{FF2B5EF4-FFF2-40B4-BE49-F238E27FC236}">
                <a16:creationId xmlns:a16="http://schemas.microsoft.com/office/drawing/2014/main" id="{F37C8ECD-6CBB-877A-9316-1B649AC40272}"/>
              </a:ext>
            </a:extLst>
          </p:cNvPr>
          <p:cNvSpPr/>
          <p:nvPr/>
        </p:nvSpPr>
        <p:spPr>
          <a:xfrm>
            <a:off x="8283016" y="2228302"/>
            <a:ext cx="0" cy="155448"/>
          </a:xfrm>
          <a:prstGeom prst="line">
            <a:avLst/>
          </a:prstGeom>
          <a:noFill/>
          <a:ln w="15240">
            <a:solidFill>
              <a:srgbClr val="2E6FB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1">
            <a:extLst>
              <a:ext uri="{FF2B5EF4-FFF2-40B4-BE49-F238E27FC236}">
                <a16:creationId xmlns:a16="http://schemas.microsoft.com/office/drawing/2014/main" id="{29C032BA-CAE4-4272-AC5E-FD1B3142EF7B}"/>
              </a:ext>
            </a:extLst>
          </p:cNvPr>
          <p:cNvSpPr/>
          <p:nvPr/>
        </p:nvSpPr>
        <p:spPr>
          <a:xfrm>
            <a:off x="8214436" y="2383750"/>
            <a:ext cx="137160" cy="137160"/>
          </a:xfrm>
          <a:prstGeom prst="ellipse">
            <a:avLst/>
          </a:prstGeom>
          <a:solidFill>
            <a:srgbClr val="2E6FB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2">
            <a:extLst>
              <a:ext uri="{FF2B5EF4-FFF2-40B4-BE49-F238E27FC236}">
                <a16:creationId xmlns:a16="http://schemas.microsoft.com/office/drawing/2014/main" id="{3E2D87C3-69A7-A318-F2D6-8BE7845BE15B}"/>
              </a:ext>
            </a:extLst>
          </p:cNvPr>
          <p:cNvSpPr/>
          <p:nvPr/>
        </p:nvSpPr>
        <p:spPr>
          <a:xfrm>
            <a:off x="7642936" y="195398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USPTO reaction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(Lowe)</a:t>
            </a:r>
            <a:endParaRPr lang="en-US" sz="900" dirty="0"/>
          </a:p>
        </p:txBody>
      </p:sp>
      <p:sp>
        <p:nvSpPr>
          <p:cNvPr id="53" name="Shape 43">
            <a:extLst>
              <a:ext uri="{FF2B5EF4-FFF2-40B4-BE49-F238E27FC236}">
                <a16:creationId xmlns:a16="http://schemas.microsoft.com/office/drawing/2014/main" id="{019755FE-5026-13F8-08FB-BF94AA6529E8}"/>
              </a:ext>
            </a:extLst>
          </p:cNvPr>
          <p:cNvSpPr/>
          <p:nvPr/>
        </p:nvSpPr>
        <p:spPr>
          <a:xfrm>
            <a:off x="9899070" y="2228302"/>
            <a:ext cx="0" cy="155448"/>
          </a:xfrm>
          <a:prstGeom prst="line">
            <a:avLst/>
          </a:prstGeom>
          <a:noFill/>
          <a:ln w="15240">
            <a:solidFill>
              <a:srgbClr val="2E6FB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4">
            <a:extLst>
              <a:ext uri="{FF2B5EF4-FFF2-40B4-BE49-F238E27FC236}">
                <a16:creationId xmlns:a16="http://schemas.microsoft.com/office/drawing/2014/main" id="{E2387F51-A180-BD39-5CAD-B015852A54EC}"/>
              </a:ext>
            </a:extLst>
          </p:cNvPr>
          <p:cNvSpPr/>
          <p:nvPr/>
        </p:nvSpPr>
        <p:spPr>
          <a:xfrm>
            <a:off x="9830490" y="2383750"/>
            <a:ext cx="137160" cy="137160"/>
          </a:xfrm>
          <a:prstGeom prst="ellipse">
            <a:avLst/>
          </a:prstGeom>
          <a:solidFill>
            <a:srgbClr val="2E6FB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5">
            <a:extLst>
              <a:ext uri="{FF2B5EF4-FFF2-40B4-BE49-F238E27FC236}">
                <a16:creationId xmlns:a16="http://schemas.microsoft.com/office/drawing/2014/main" id="{A97E67EF-8C51-9FDF-1E0E-8EF50B747AF7}"/>
              </a:ext>
            </a:extLst>
          </p:cNvPr>
          <p:cNvSpPr/>
          <p:nvPr/>
        </p:nvSpPr>
        <p:spPr>
          <a:xfrm>
            <a:off x="9258990" y="195398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Reaction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(ORD)</a:t>
            </a:r>
            <a:endParaRPr lang="en-US" sz="900" dirty="0"/>
          </a:p>
        </p:txBody>
      </p:sp>
      <p:sp>
        <p:nvSpPr>
          <p:cNvPr id="56" name="Shape 46">
            <a:extLst>
              <a:ext uri="{FF2B5EF4-FFF2-40B4-BE49-F238E27FC236}">
                <a16:creationId xmlns:a16="http://schemas.microsoft.com/office/drawing/2014/main" id="{B411BF84-2E74-8BAC-84F0-076CD02CCFD3}"/>
              </a:ext>
            </a:extLst>
          </p:cNvPr>
          <p:cNvSpPr/>
          <p:nvPr/>
        </p:nvSpPr>
        <p:spPr>
          <a:xfrm>
            <a:off x="2364187" y="2776942"/>
            <a:ext cx="0" cy="155448"/>
          </a:xfrm>
          <a:prstGeom prst="line">
            <a:avLst/>
          </a:prstGeom>
          <a:noFill/>
          <a:ln w="15240">
            <a:solidFill>
              <a:srgbClr val="2E6FB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7">
            <a:extLst>
              <a:ext uri="{FF2B5EF4-FFF2-40B4-BE49-F238E27FC236}">
                <a16:creationId xmlns:a16="http://schemas.microsoft.com/office/drawing/2014/main" id="{C14118B7-14FB-C312-DC74-35E60DF927AF}"/>
              </a:ext>
            </a:extLst>
          </p:cNvPr>
          <p:cNvSpPr/>
          <p:nvPr/>
        </p:nvSpPr>
        <p:spPr>
          <a:xfrm>
            <a:off x="2295607" y="2932390"/>
            <a:ext cx="137160" cy="13716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E6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8">
            <a:extLst>
              <a:ext uri="{FF2B5EF4-FFF2-40B4-BE49-F238E27FC236}">
                <a16:creationId xmlns:a16="http://schemas.microsoft.com/office/drawing/2014/main" id="{20F30C5E-4CE8-962D-8FB4-2C453A7F49BE}"/>
              </a:ext>
            </a:extLst>
          </p:cNvPr>
          <p:cNvSpPr/>
          <p:nvPr/>
        </p:nvSpPr>
        <p:spPr>
          <a:xfrm>
            <a:off x="1724107" y="250262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Registry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computerized</a:t>
            </a:r>
            <a:endParaRPr lang="en-US" sz="900" dirty="0"/>
          </a:p>
        </p:txBody>
      </p:sp>
      <p:sp>
        <p:nvSpPr>
          <p:cNvPr id="59" name="Shape 49">
            <a:extLst>
              <a:ext uri="{FF2B5EF4-FFF2-40B4-BE49-F238E27FC236}">
                <a16:creationId xmlns:a16="http://schemas.microsoft.com/office/drawing/2014/main" id="{D7DC5E67-AA8E-AD37-5279-FDFA39EB4D89}"/>
              </a:ext>
            </a:extLst>
          </p:cNvPr>
          <p:cNvSpPr/>
          <p:nvPr/>
        </p:nvSpPr>
        <p:spPr>
          <a:xfrm>
            <a:off x="5577103" y="2776942"/>
            <a:ext cx="0" cy="155448"/>
          </a:xfrm>
          <a:prstGeom prst="line">
            <a:avLst/>
          </a:prstGeom>
          <a:noFill/>
          <a:ln w="15240">
            <a:solidFill>
              <a:srgbClr val="2E6FB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0">
            <a:extLst>
              <a:ext uri="{FF2B5EF4-FFF2-40B4-BE49-F238E27FC236}">
                <a16:creationId xmlns:a16="http://schemas.microsoft.com/office/drawing/2014/main" id="{3BE600B8-4D08-9D84-A2D7-92021B77C9E0}"/>
              </a:ext>
            </a:extLst>
          </p:cNvPr>
          <p:cNvSpPr/>
          <p:nvPr/>
        </p:nvSpPr>
        <p:spPr>
          <a:xfrm>
            <a:off x="5508523" y="2932390"/>
            <a:ext cx="137160" cy="13716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E6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1">
            <a:extLst>
              <a:ext uri="{FF2B5EF4-FFF2-40B4-BE49-F238E27FC236}">
                <a16:creationId xmlns:a16="http://schemas.microsoft.com/office/drawing/2014/main" id="{607DAEAF-D561-0317-22EF-DF113CF4C169}"/>
              </a:ext>
            </a:extLst>
          </p:cNvPr>
          <p:cNvSpPr/>
          <p:nvPr/>
        </p:nvSpPr>
        <p:spPr>
          <a:xfrm>
            <a:off x="4937023" y="250262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 err="1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SciFinder</a:t>
            </a:r>
            <a:endParaRPr lang="en-US" sz="900" dirty="0"/>
          </a:p>
        </p:txBody>
      </p:sp>
      <p:sp>
        <p:nvSpPr>
          <p:cNvPr id="62" name="Shape 52">
            <a:extLst>
              <a:ext uri="{FF2B5EF4-FFF2-40B4-BE49-F238E27FC236}">
                <a16:creationId xmlns:a16="http://schemas.microsoft.com/office/drawing/2014/main" id="{22F4F014-4074-8B61-CA5F-D74F5AB34541}"/>
              </a:ext>
            </a:extLst>
          </p:cNvPr>
          <p:cNvSpPr/>
          <p:nvPr/>
        </p:nvSpPr>
        <p:spPr>
          <a:xfrm>
            <a:off x="7874319" y="2776942"/>
            <a:ext cx="0" cy="155448"/>
          </a:xfrm>
          <a:prstGeom prst="line">
            <a:avLst/>
          </a:prstGeom>
          <a:noFill/>
          <a:ln w="15240">
            <a:solidFill>
              <a:srgbClr val="2E6FB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3">
            <a:extLst>
              <a:ext uri="{FF2B5EF4-FFF2-40B4-BE49-F238E27FC236}">
                <a16:creationId xmlns:a16="http://schemas.microsoft.com/office/drawing/2014/main" id="{482A0F58-43A5-DFA7-6B1D-722759FB4019}"/>
              </a:ext>
            </a:extLst>
          </p:cNvPr>
          <p:cNvSpPr/>
          <p:nvPr/>
        </p:nvSpPr>
        <p:spPr>
          <a:xfrm>
            <a:off x="7805739" y="2932390"/>
            <a:ext cx="137160" cy="13716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E6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4">
            <a:extLst>
              <a:ext uri="{FF2B5EF4-FFF2-40B4-BE49-F238E27FC236}">
                <a16:creationId xmlns:a16="http://schemas.microsoft.com/office/drawing/2014/main" id="{16AD392C-8613-C54E-A70C-E99DC2D2A46F}"/>
              </a:ext>
            </a:extLst>
          </p:cNvPr>
          <p:cNvSpPr/>
          <p:nvPr/>
        </p:nvSpPr>
        <p:spPr>
          <a:xfrm>
            <a:off x="7234239" y="250262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 err="1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Reaxys</a:t>
            </a: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platform</a:t>
            </a:r>
            <a:endParaRPr lang="en-US" sz="900" dirty="0"/>
          </a:p>
        </p:txBody>
      </p:sp>
      <p:sp>
        <p:nvSpPr>
          <p:cNvPr id="65" name="Shape 55">
            <a:extLst>
              <a:ext uri="{FF2B5EF4-FFF2-40B4-BE49-F238E27FC236}">
                <a16:creationId xmlns:a16="http://schemas.microsoft.com/office/drawing/2014/main" id="{194F150D-CE1C-5251-D06C-4B3546C5D418}"/>
              </a:ext>
            </a:extLst>
          </p:cNvPr>
          <p:cNvSpPr/>
          <p:nvPr/>
        </p:nvSpPr>
        <p:spPr>
          <a:xfrm>
            <a:off x="8691713" y="3069550"/>
            <a:ext cx="0" cy="155448"/>
          </a:xfrm>
          <a:prstGeom prst="line">
            <a:avLst/>
          </a:prstGeom>
          <a:noFill/>
          <a:ln w="15240">
            <a:solidFill>
              <a:srgbClr val="2E6FB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56">
            <a:extLst>
              <a:ext uri="{FF2B5EF4-FFF2-40B4-BE49-F238E27FC236}">
                <a16:creationId xmlns:a16="http://schemas.microsoft.com/office/drawing/2014/main" id="{DA732A31-AE21-0391-C5CF-1A347D3994D1}"/>
              </a:ext>
            </a:extLst>
          </p:cNvPr>
          <p:cNvSpPr/>
          <p:nvPr/>
        </p:nvSpPr>
        <p:spPr>
          <a:xfrm>
            <a:off x="8623133" y="2932390"/>
            <a:ext cx="137160" cy="13716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E6F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57">
            <a:extLst>
              <a:ext uri="{FF2B5EF4-FFF2-40B4-BE49-F238E27FC236}">
                <a16:creationId xmlns:a16="http://schemas.microsoft.com/office/drawing/2014/main" id="{719BDF3F-C07B-54B7-9C7A-083E0A165B44}"/>
              </a:ext>
            </a:extLst>
          </p:cNvPr>
          <p:cNvSpPr/>
          <p:nvPr/>
        </p:nvSpPr>
        <p:spPr>
          <a:xfrm>
            <a:off x="8051633" y="322499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Pistachio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(NextMove)</a:t>
            </a:r>
            <a:endParaRPr lang="en-US" sz="900" dirty="0"/>
          </a:p>
        </p:txBody>
      </p:sp>
      <p:sp>
        <p:nvSpPr>
          <p:cNvPr id="68" name="Shape 58">
            <a:extLst>
              <a:ext uri="{FF2B5EF4-FFF2-40B4-BE49-F238E27FC236}">
                <a16:creationId xmlns:a16="http://schemas.microsoft.com/office/drawing/2014/main" id="{C83B134F-EEA7-CCE7-8F7C-8391B02C9FA2}"/>
              </a:ext>
            </a:extLst>
          </p:cNvPr>
          <p:cNvSpPr/>
          <p:nvPr/>
        </p:nvSpPr>
        <p:spPr>
          <a:xfrm>
            <a:off x="5849568" y="3325582"/>
            <a:ext cx="0" cy="155448"/>
          </a:xfrm>
          <a:prstGeom prst="line">
            <a:avLst/>
          </a:prstGeom>
          <a:noFill/>
          <a:ln w="15240">
            <a:solidFill>
              <a:srgbClr val="C0392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59">
            <a:extLst>
              <a:ext uri="{FF2B5EF4-FFF2-40B4-BE49-F238E27FC236}">
                <a16:creationId xmlns:a16="http://schemas.microsoft.com/office/drawing/2014/main" id="{09940502-CF5F-6E43-45AA-E7C868972D4E}"/>
              </a:ext>
            </a:extLst>
          </p:cNvPr>
          <p:cNvSpPr/>
          <p:nvPr/>
        </p:nvSpPr>
        <p:spPr>
          <a:xfrm>
            <a:off x="5780988" y="3481030"/>
            <a:ext cx="137160" cy="137160"/>
          </a:xfrm>
          <a:prstGeom prst="ellipse">
            <a:avLst/>
          </a:prstGeom>
          <a:solidFill>
            <a:srgbClr val="C0392B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0">
            <a:extLst>
              <a:ext uri="{FF2B5EF4-FFF2-40B4-BE49-F238E27FC236}">
                <a16:creationId xmlns:a16="http://schemas.microsoft.com/office/drawing/2014/main" id="{D855F1D8-78D2-A470-BD74-D8C679174B91}"/>
              </a:ext>
            </a:extLst>
          </p:cNvPr>
          <p:cNvSpPr/>
          <p:nvPr/>
        </p:nvSpPr>
        <p:spPr>
          <a:xfrm>
            <a:off x="5209488" y="305126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SDBS</a:t>
            </a:r>
            <a:endParaRPr lang="en-US" sz="900" dirty="0"/>
          </a:p>
        </p:txBody>
      </p:sp>
      <p:sp>
        <p:nvSpPr>
          <p:cNvPr id="71" name="Shape 61">
            <a:extLst>
              <a:ext uri="{FF2B5EF4-FFF2-40B4-BE49-F238E27FC236}">
                <a16:creationId xmlns:a16="http://schemas.microsoft.com/office/drawing/2014/main" id="{A7431C44-50BC-BDE5-144B-1C3E1D8B1D22}"/>
              </a:ext>
            </a:extLst>
          </p:cNvPr>
          <p:cNvSpPr/>
          <p:nvPr/>
        </p:nvSpPr>
        <p:spPr>
          <a:xfrm>
            <a:off x="7193157" y="4166830"/>
            <a:ext cx="0" cy="155448"/>
          </a:xfrm>
          <a:prstGeom prst="line">
            <a:avLst/>
          </a:prstGeom>
          <a:noFill/>
          <a:ln w="15240">
            <a:solidFill>
              <a:srgbClr val="7B5EA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2">
            <a:extLst>
              <a:ext uri="{FF2B5EF4-FFF2-40B4-BE49-F238E27FC236}">
                <a16:creationId xmlns:a16="http://schemas.microsoft.com/office/drawing/2014/main" id="{3E8289E8-46CF-C9BE-D7F0-BB1447C86C5C}"/>
              </a:ext>
            </a:extLst>
          </p:cNvPr>
          <p:cNvSpPr/>
          <p:nvPr/>
        </p:nvSpPr>
        <p:spPr>
          <a:xfrm>
            <a:off x="7124577" y="4029670"/>
            <a:ext cx="137160" cy="137160"/>
          </a:xfrm>
          <a:prstGeom prst="ellipse">
            <a:avLst/>
          </a:prstGeom>
          <a:solidFill>
            <a:srgbClr val="7B5EA7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63">
            <a:extLst>
              <a:ext uri="{FF2B5EF4-FFF2-40B4-BE49-F238E27FC236}">
                <a16:creationId xmlns:a16="http://schemas.microsoft.com/office/drawing/2014/main" id="{BA42E65C-2B96-8EC6-7BE8-0CBC951CA3CD}"/>
              </a:ext>
            </a:extLst>
          </p:cNvPr>
          <p:cNvSpPr/>
          <p:nvPr/>
        </p:nvSpPr>
        <p:spPr>
          <a:xfrm>
            <a:off x="6606865" y="432227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PubChem</a:t>
            </a:r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cs typeface="Calibri" pitchFamily="34" charset="-120"/>
              </a:rPr>
              <a:t>2004</a:t>
            </a:r>
            <a:endParaRPr lang="en-US" sz="900" dirty="0"/>
          </a:p>
        </p:txBody>
      </p:sp>
      <p:sp>
        <p:nvSpPr>
          <p:cNvPr id="74" name="Shape 64">
            <a:extLst>
              <a:ext uri="{FF2B5EF4-FFF2-40B4-BE49-F238E27FC236}">
                <a16:creationId xmlns:a16="http://schemas.microsoft.com/office/drawing/2014/main" id="{D8B0397A-8A30-7709-5700-228DAF2FFDEA}"/>
              </a:ext>
            </a:extLst>
          </p:cNvPr>
          <p:cNvSpPr/>
          <p:nvPr/>
        </p:nvSpPr>
        <p:spPr>
          <a:xfrm>
            <a:off x="7874319" y="3874222"/>
            <a:ext cx="0" cy="155448"/>
          </a:xfrm>
          <a:prstGeom prst="line">
            <a:avLst/>
          </a:prstGeom>
          <a:noFill/>
          <a:ln w="15240">
            <a:solidFill>
              <a:srgbClr val="7B5EA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65">
            <a:extLst>
              <a:ext uri="{FF2B5EF4-FFF2-40B4-BE49-F238E27FC236}">
                <a16:creationId xmlns:a16="http://schemas.microsoft.com/office/drawing/2014/main" id="{7CEFE808-986C-1911-B647-61848909B478}"/>
              </a:ext>
            </a:extLst>
          </p:cNvPr>
          <p:cNvSpPr/>
          <p:nvPr/>
        </p:nvSpPr>
        <p:spPr>
          <a:xfrm>
            <a:off x="7805739" y="4029670"/>
            <a:ext cx="137160" cy="137160"/>
          </a:xfrm>
          <a:prstGeom prst="ellipse">
            <a:avLst/>
          </a:prstGeom>
          <a:solidFill>
            <a:srgbClr val="7B5EA7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66">
            <a:extLst>
              <a:ext uri="{FF2B5EF4-FFF2-40B4-BE49-F238E27FC236}">
                <a16:creationId xmlns:a16="http://schemas.microsoft.com/office/drawing/2014/main" id="{0BDED5E0-DADA-C6A7-FD30-09A0184BDF5C}"/>
              </a:ext>
            </a:extLst>
          </p:cNvPr>
          <p:cNvSpPr/>
          <p:nvPr/>
        </p:nvSpPr>
        <p:spPr>
          <a:xfrm>
            <a:off x="7234239" y="359990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 err="1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ChEMBL</a:t>
            </a:r>
            <a:endParaRPr lang="en-US" sz="900" dirty="0"/>
          </a:p>
        </p:txBody>
      </p:sp>
      <p:sp>
        <p:nvSpPr>
          <p:cNvPr id="77" name="Shape 67">
            <a:extLst>
              <a:ext uri="{FF2B5EF4-FFF2-40B4-BE49-F238E27FC236}">
                <a16:creationId xmlns:a16="http://schemas.microsoft.com/office/drawing/2014/main" id="{7867F786-6A26-4FE0-32BD-6851C2AE1B32}"/>
              </a:ext>
            </a:extLst>
          </p:cNvPr>
          <p:cNvSpPr/>
          <p:nvPr/>
        </p:nvSpPr>
        <p:spPr>
          <a:xfrm>
            <a:off x="10035302" y="3874222"/>
            <a:ext cx="0" cy="155448"/>
          </a:xfrm>
          <a:prstGeom prst="line">
            <a:avLst/>
          </a:prstGeom>
          <a:noFill/>
          <a:ln w="15240">
            <a:solidFill>
              <a:srgbClr val="7B5EA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68">
            <a:extLst>
              <a:ext uri="{FF2B5EF4-FFF2-40B4-BE49-F238E27FC236}">
                <a16:creationId xmlns:a16="http://schemas.microsoft.com/office/drawing/2014/main" id="{79EC4C3B-3657-F1C2-5FA3-4CE3831679A1}"/>
              </a:ext>
            </a:extLst>
          </p:cNvPr>
          <p:cNvSpPr/>
          <p:nvPr/>
        </p:nvSpPr>
        <p:spPr>
          <a:xfrm>
            <a:off x="9966722" y="4029670"/>
            <a:ext cx="137160" cy="137160"/>
          </a:xfrm>
          <a:prstGeom prst="ellipse">
            <a:avLst/>
          </a:prstGeom>
          <a:solidFill>
            <a:srgbClr val="7B5EA7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69">
            <a:extLst>
              <a:ext uri="{FF2B5EF4-FFF2-40B4-BE49-F238E27FC236}">
                <a16:creationId xmlns:a16="http://schemas.microsoft.com/office/drawing/2014/main" id="{950080FA-B5FC-0321-FBD1-49C371A5D786}"/>
              </a:ext>
            </a:extLst>
          </p:cNvPr>
          <p:cNvSpPr/>
          <p:nvPr/>
        </p:nvSpPr>
        <p:spPr>
          <a:xfrm>
            <a:off x="9420771" y="359990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ZINC22</a:t>
            </a:r>
            <a:endParaRPr lang="en-US" sz="900" dirty="0"/>
          </a:p>
        </p:txBody>
      </p:sp>
      <p:sp>
        <p:nvSpPr>
          <p:cNvPr id="80" name="Shape 70">
            <a:extLst>
              <a:ext uri="{FF2B5EF4-FFF2-40B4-BE49-F238E27FC236}">
                <a16:creationId xmlns:a16="http://schemas.microsoft.com/office/drawing/2014/main" id="{72252217-C9E4-133F-4C9C-72966B3ACC16}"/>
              </a:ext>
            </a:extLst>
          </p:cNvPr>
          <p:cNvSpPr/>
          <p:nvPr/>
        </p:nvSpPr>
        <p:spPr>
          <a:xfrm>
            <a:off x="8146783" y="4751755"/>
            <a:ext cx="0" cy="155448"/>
          </a:xfrm>
          <a:prstGeom prst="line">
            <a:avLst/>
          </a:prstGeom>
          <a:noFill/>
          <a:ln w="15240">
            <a:solidFill>
              <a:srgbClr val="B5651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1">
            <a:extLst>
              <a:ext uri="{FF2B5EF4-FFF2-40B4-BE49-F238E27FC236}">
                <a16:creationId xmlns:a16="http://schemas.microsoft.com/office/drawing/2014/main" id="{664BD96A-1B1D-4FD1-CE43-B3A7665C415A}"/>
              </a:ext>
            </a:extLst>
          </p:cNvPr>
          <p:cNvSpPr/>
          <p:nvPr/>
        </p:nvSpPr>
        <p:spPr>
          <a:xfrm>
            <a:off x="8078203" y="4614595"/>
            <a:ext cx="137160" cy="137160"/>
          </a:xfrm>
          <a:prstGeom prst="ellipse">
            <a:avLst/>
          </a:prstGeom>
          <a:solidFill>
            <a:srgbClr val="B5651D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2">
            <a:extLst>
              <a:ext uri="{FF2B5EF4-FFF2-40B4-BE49-F238E27FC236}">
                <a16:creationId xmlns:a16="http://schemas.microsoft.com/office/drawing/2014/main" id="{A33B5DCF-F94D-6028-5700-89FF4094B3BC}"/>
              </a:ext>
            </a:extLst>
          </p:cNvPr>
          <p:cNvSpPr/>
          <p:nvPr/>
        </p:nvSpPr>
        <p:spPr>
          <a:xfrm>
            <a:off x="7506703" y="4907203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Project</a:t>
            </a:r>
            <a:endParaRPr lang="en-US" sz="900" dirty="0"/>
          </a:p>
        </p:txBody>
      </p:sp>
      <p:sp>
        <p:nvSpPr>
          <p:cNvPr id="83" name="Shape 73">
            <a:extLst>
              <a:ext uri="{FF2B5EF4-FFF2-40B4-BE49-F238E27FC236}">
                <a16:creationId xmlns:a16="http://schemas.microsoft.com/office/drawing/2014/main" id="{DED734BC-C089-0FA9-74FE-D0103142751D}"/>
              </a:ext>
            </a:extLst>
          </p:cNvPr>
          <p:cNvSpPr/>
          <p:nvPr/>
        </p:nvSpPr>
        <p:spPr>
          <a:xfrm>
            <a:off x="8419248" y="4459147"/>
            <a:ext cx="0" cy="155448"/>
          </a:xfrm>
          <a:prstGeom prst="line">
            <a:avLst/>
          </a:prstGeom>
          <a:noFill/>
          <a:ln w="15240">
            <a:solidFill>
              <a:srgbClr val="B5651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74">
            <a:extLst>
              <a:ext uri="{FF2B5EF4-FFF2-40B4-BE49-F238E27FC236}">
                <a16:creationId xmlns:a16="http://schemas.microsoft.com/office/drawing/2014/main" id="{F4364912-1422-9632-1232-62D4AEC6FA0A}"/>
              </a:ext>
            </a:extLst>
          </p:cNvPr>
          <p:cNvSpPr/>
          <p:nvPr/>
        </p:nvSpPr>
        <p:spPr>
          <a:xfrm>
            <a:off x="8350668" y="4614595"/>
            <a:ext cx="137160" cy="137160"/>
          </a:xfrm>
          <a:prstGeom prst="ellipse">
            <a:avLst/>
          </a:prstGeom>
          <a:solidFill>
            <a:srgbClr val="B5651D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75">
            <a:extLst>
              <a:ext uri="{FF2B5EF4-FFF2-40B4-BE49-F238E27FC236}">
                <a16:creationId xmlns:a16="http://schemas.microsoft.com/office/drawing/2014/main" id="{86DA9E99-0BD6-50E5-AD43-78B2A3CD9E09}"/>
              </a:ext>
            </a:extLst>
          </p:cNvPr>
          <p:cNvSpPr/>
          <p:nvPr/>
        </p:nvSpPr>
        <p:spPr>
          <a:xfrm>
            <a:off x="7779168" y="4184827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OQMD</a:t>
            </a:r>
            <a:endParaRPr lang="en-US" sz="900" dirty="0"/>
          </a:p>
        </p:txBody>
      </p:sp>
      <p:sp>
        <p:nvSpPr>
          <p:cNvPr id="86" name="Shape 76">
            <a:extLst>
              <a:ext uri="{FF2B5EF4-FFF2-40B4-BE49-F238E27FC236}">
                <a16:creationId xmlns:a16="http://schemas.microsoft.com/office/drawing/2014/main" id="{2539B9F8-BE15-1122-A474-B55FE8BD4E10}"/>
              </a:ext>
            </a:extLst>
          </p:cNvPr>
          <p:cNvSpPr/>
          <p:nvPr/>
        </p:nvSpPr>
        <p:spPr>
          <a:xfrm>
            <a:off x="153803" y="5835201"/>
            <a:ext cx="137160" cy="137160"/>
          </a:xfrm>
          <a:prstGeom prst="ellipse">
            <a:avLst/>
          </a:prstGeom>
          <a:solidFill>
            <a:srgbClr val="123830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77">
            <a:extLst>
              <a:ext uri="{FF2B5EF4-FFF2-40B4-BE49-F238E27FC236}">
                <a16:creationId xmlns:a16="http://schemas.microsoft.com/office/drawing/2014/main" id="{DB83270F-5814-A98A-D293-E3D0A802B1F1}"/>
              </a:ext>
            </a:extLst>
          </p:cNvPr>
          <p:cNvSpPr/>
          <p:nvPr/>
        </p:nvSpPr>
        <p:spPr>
          <a:xfrm>
            <a:off x="409835" y="577441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free access</a:t>
            </a:r>
            <a:endParaRPr lang="en-US" sz="1150" dirty="0"/>
          </a:p>
        </p:txBody>
      </p:sp>
      <p:sp>
        <p:nvSpPr>
          <p:cNvPr id="88" name="Shape 78">
            <a:extLst>
              <a:ext uri="{FF2B5EF4-FFF2-40B4-BE49-F238E27FC236}">
                <a16:creationId xmlns:a16="http://schemas.microsoft.com/office/drawing/2014/main" id="{7C7CFC04-529E-84CC-2363-B24443BD111B}"/>
              </a:ext>
            </a:extLst>
          </p:cNvPr>
          <p:cNvSpPr/>
          <p:nvPr/>
        </p:nvSpPr>
        <p:spPr>
          <a:xfrm>
            <a:off x="153803" y="6046324"/>
            <a:ext cx="137160" cy="13716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238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79">
            <a:extLst>
              <a:ext uri="{FF2B5EF4-FFF2-40B4-BE49-F238E27FC236}">
                <a16:creationId xmlns:a16="http://schemas.microsoft.com/office/drawing/2014/main" id="{1D6DAD03-DE1F-CA75-7D48-B8995A475B37}"/>
              </a:ext>
            </a:extLst>
          </p:cNvPr>
          <p:cNvSpPr/>
          <p:nvPr/>
        </p:nvSpPr>
        <p:spPr>
          <a:xfrm>
            <a:off x="399675" y="600989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/ restricted access</a:t>
            </a:r>
            <a:endParaRPr lang="en-US" sz="1150" dirty="0"/>
          </a:p>
        </p:txBody>
      </p:sp>
      <p:sp>
        <p:nvSpPr>
          <p:cNvPr id="92" name="Text 29">
            <a:extLst>
              <a:ext uri="{FF2B5EF4-FFF2-40B4-BE49-F238E27FC236}">
                <a16:creationId xmlns:a16="http://schemas.microsoft.com/office/drawing/2014/main" id="{5F25C50B-8FEB-D1F9-D512-0F673A38C237}"/>
              </a:ext>
            </a:extLst>
          </p:cNvPr>
          <p:cNvSpPr/>
          <p:nvPr/>
        </p:nvSpPr>
        <p:spPr>
          <a:xfrm>
            <a:off x="127618" y="5105961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8A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/ simulated</a:t>
            </a:r>
            <a:endParaRPr lang="en-US" sz="1200" dirty="0"/>
          </a:p>
        </p:txBody>
      </p:sp>
      <p:sp>
        <p:nvSpPr>
          <p:cNvPr id="93" name="Shape 78">
            <a:extLst>
              <a:ext uri="{FF2B5EF4-FFF2-40B4-BE49-F238E27FC236}">
                <a16:creationId xmlns:a16="http://schemas.microsoft.com/office/drawing/2014/main" id="{BB36D96D-E1A9-4F8D-9A47-D1B20B665732}"/>
              </a:ext>
            </a:extLst>
          </p:cNvPr>
          <p:cNvSpPr/>
          <p:nvPr/>
        </p:nvSpPr>
        <p:spPr>
          <a:xfrm>
            <a:off x="8783198" y="5320845"/>
            <a:ext cx="0" cy="128016"/>
          </a:xfrm>
          <a:prstGeom prst="line">
            <a:avLst/>
          </a:prstGeom>
          <a:noFill/>
          <a:ln w="15240">
            <a:solidFill>
              <a:srgbClr val="1B8A9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79">
            <a:extLst>
              <a:ext uri="{FF2B5EF4-FFF2-40B4-BE49-F238E27FC236}">
                <a16:creationId xmlns:a16="http://schemas.microsoft.com/office/drawing/2014/main" id="{494E2CDE-212A-25E5-5313-66D9BFC504BB}"/>
              </a:ext>
            </a:extLst>
          </p:cNvPr>
          <p:cNvSpPr/>
          <p:nvPr/>
        </p:nvSpPr>
        <p:spPr>
          <a:xfrm>
            <a:off x="8714618" y="5183685"/>
            <a:ext cx="137160" cy="137160"/>
          </a:xfrm>
          <a:prstGeom prst="ellipse">
            <a:avLst/>
          </a:prstGeom>
          <a:solidFill>
            <a:srgbClr val="1B8A9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80">
            <a:extLst>
              <a:ext uri="{FF2B5EF4-FFF2-40B4-BE49-F238E27FC236}">
                <a16:creationId xmlns:a16="http://schemas.microsoft.com/office/drawing/2014/main" id="{1190EDC6-92EF-537F-687E-30D568C319C8}"/>
              </a:ext>
            </a:extLst>
          </p:cNvPr>
          <p:cNvSpPr/>
          <p:nvPr/>
        </p:nvSpPr>
        <p:spPr>
          <a:xfrm>
            <a:off x="8394578" y="5448861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QM9</a:t>
            </a:r>
            <a:endParaRPr lang="en-US" sz="900" dirty="0"/>
          </a:p>
        </p:txBody>
      </p:sp>
      <p:sp>
        <p:nvSpPr>
          <p:cNvPr id="96" name="Shape 81">
            <a:extLst>
              <a:ext uri="{FF2B5EF4-FFF2-40B4-BE49-F238E27FC236}">
                <a16:creationId xmlns:a16="http://schemas.microsoft.com/office/drawing/2014/main" id="{57C0DBB8-C218-A2CE-0B19-F9D5C04DE331}"/>
              </a:ext>
            </a:extLst>
          </p:cNvPr>
          <p:cNvSpPr/>
          <p:nvPr/>
        </p:nvSpPr>
        <p:spPr>
          <a:xfrm flipH="1">
            <a:off x="9448252" y="5320845"/>
            <a:ext cx="15" cy="235579"/>
          </a:xfrm>
          <a:prstGeom prst="line">
            <a:avLst/>
          </a:prstGeom>
          <a:noFill/>
          <a:ln w="15240">
            <a:solidFill>
              <a:srgbClr val="1B8A9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82">
            <a:extLst>
              <a:ext uri="{FF2B5EF4-FFF2-40B4-BE49-F238E27FC236}">
                <a16:creationId xmlns:a16="http://schemas.microsoft.com/office/drawing/2014/main" id="{A53E7433-5FD5-2335-CAC8-24CBAAC27E56}"/>
              </a:ext>
            </a:extLst>
          </p:cNvPr>
          <p:cNvSpPr/>
          <p:nvPr/>
        </p:nvSpPr>
        <p:spPr>
          <a:xfrm>
            <a:off x="9379689" y="5183685"/>
            <a:ext cx="137160" cy="137160"/>
          </a:xfrm>
          <a:prstGeom prst="ellipse">
            <a:avLst/>
          </a:prstGeom>
          <a:solidFill>
            <a:srgbClr val="1B8A9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83">
            <a:extLst>
              <a:ext uri="{FF2B5EF4-FFF2-40B4-BE49-F238E27FC236}">
                <a16:creationId xmlns:a16="http://schemas.microsoft.com/office/drawing/2014/main" id="{D9923DFB-4138-73CD-4408-49866AABAF70}"/>
              </a:ext>
            </a:extLst>
          </p:cNvPr>
          <p:cNvSpPr/>
          <p:nvPr/>
        </p:nvSpPr>
        <p:spPr>
          <a:xfrm>
            <a:off x="9053250" y="5582859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ANI-1</a:t>
            </a:r>
            <a:endParaRPr lang="en-US" sz="900" dirty="0"/>
          </a:p>
        </p:txBody>
      </p:sp>
      <p:sp>
        <p:nvSpPr>
          <p:cNvPr id="99" name="Shape 84">
            <a:extLst>
              <a:ext uri="{FF2B5EF4-FFF2-40B4-BE49-F238E27FC236}">
                <a16:creationId xmlns:a16="http://schemas.microsoft.com/office/drawing/2014/main" id="{608C0993-B328-A653-B0A1-922754DC3524}"/>
              </a:ext>
            </a:extLst>
          </p:cNvPr>
          <p:cNvSpPr/>
          <p:nvPr/>
        </p:nvSpPr>
        <p:spPr>
          <a:xfrm>
            <a:off x="9856967" y="5320845"/>
            <a:ext cx="0" cy="128016"/>
          </a:xfrm>
          <a:prstGeom prst="line">
            <a:avLst/>
          </a:prstGeom>
          <a:noFill/>
          <a:ln w="15240">
            <a:solidFill>
              <a:srgbClr val="1B8A9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85">
            <a:extLst>
              <a:ext uri="{FF2B5EF4-FFF2-40B4-BE49-F238E27FC236}">
                <a16:creationId xmlns:a16="http://schemas.microsoft.com/office/drawing/2014/main" id="{1D4E46D5-D90E-FEB4-E32C-1819661B6039}"/>
              </a:ext>
            </a:extLst>
          </p:cNvPr>
          <p:cNvSpPr/>
          <p:nvPr/>
        </p:nvSpPr>
        <p:spPr>
          <a:xfrm>
            <a:off x="9788387" y="5183685"/>
            <a:ext cx="137160" cy="137160"/>
          </a:xfrm>
          <a:prstGeom prst="ellipse">
            <a:avLst/>
          </a:prstGeom>
          <a:solidFill>
            <a:srgbClr val="1B8A9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86">
            <a:extLst>
              <a:ext uri="{FF2B5EF4-FFF2-40B4-BE49-F238E27FC236}">
                <a16:creationId xmlns:a16="http://schemas.microsoft.com/office/drawing/2014/main" id="{147C8FBE-B3BB-31CF-7ACA-4A7EC9853519}"/>
              </a:ext>
            </a:extLst>
          </p:cNvPr>
          <p:cNvSpPr/>
          <p:nvPr/>
        </p:nvSpPr>
        <p:spPr>
          <a:xfrm>
            <a:off x="9468347" y="5448861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OC20</a:t>
            </a:r>
            <a:endParaRPr lang="en-US" sz="900" dirty="0"/>
          </a:p>
        </p:txBody>
      </p:sp>
      <p:sp>
        <p:nvSpPr>
          <p:cNvPr id="102" name="Shape 87">
            <a:extLst>
              <a:ext uri="{FF2B5EF4-FFF2-40B4-BE49-F238E27FC236}">
                <a16:creationId xmlns:a16="http://schemas.microsoft.com/office/drawing/2014/main" id="{C30D1BA4-3564-1A69-564A-3CBA41FD7610}"/>
              </a:ext>
            </a:extLst>
          </p:cNvPr>
          <p:cNvSpPr/>
          <p:nvPr/>
        </p:nvSpPr>
        <p:spPr>
          <a:xfrm>
            <a:off x="10732681" y="5055669"/>
            <a:ext cx="0" cy="128016"/>
          </a:xfrm>
          <a:prstGeom prst="line">
            <a:avLst/>
          </a:prstGeom>
          <a:noFill/>
          <a:ln w="15240">
            <a:solidFill>
              <a:srgbClr val="1B8A9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88">
            <a:extLst>
              <a:ext uri="{FF2B5EF4-FFF2-40B4-BE49-F238E27FC236}">
                <a16:creationId xmlns:a16="http://schemas.microsoft.com/office/drawing/2014/main" id="{C4FBBD59-C936-401A-A953-E946C2B24DCB}"/>
              </a:ext>
            </a:extLst>
          </p:cNvPr>
          <p:cNvSpPr/>
          <p:nvPr/>
        </p:nvSpPr>
        <p:spPr>
          <a:xfrm>
            <a:off x="10664101" y="5183685"/>
            <a:ext cx="137160" cy="137160"/>
          </a:xfrm>
          <a:prstGeom prst="ellipse">
            <a:avLst/>
          </a:prstGeom>
          <a:solidFill>
            <a:srgbClr val="1B8A9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89">
            <a:extLst>
              <a:ext uri="{FF2B5EF4-FFF2-40B4-BE49-F238E27FC236}">
                <a16:creationId xmlns:a16="http://schemas.microsoft.com/office/drawing/2014/main" id="{959DD6A1-B24E-A490-622D-2321B44A8D32}"/>
              </a:ext>
            </a:extLst>
          </p:cNvPr>
          <p:cNvSpPr/>
          <p:nvPr/>
        </p:nvSpPr>
        <p:spPr>
          <a:xfrm>
            <a:off x="10344061" y="486930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OMol25</a:t>
            </a:r>
            <a:endParaRPr lang="en-US" sz="9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D8A20B8-B556-A6B3-6294-D2D57CEA3CB5}"/>
              </a:ext>
            </a:extLst>
          </p:cNvPr>
          <p:cNvSpPr txBox="1"/>
          <p:nvPr/>
        </p:nvSpPr>
        <p:spPr>
          <a:xfrm>
            <a:off x="11239636" y="1178378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 k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34F1B14-1589-B94F-9887-F7CD9F16D902}"/>
              </a:ext>
            </a:extLst>
          </p:cNvPr>
          <p:cNvSpPr txBox="1"/>
          <p:nvPr/>
        </p:nvSpPr>
        <p:spPr>
          <a:xfrm>
            <a:off x="11239636" y="1740684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1.7 m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0CF7FD4-B71C-0712-B1EF-98819C24F070}"/>
              </a:ext>
            </a:extLst>
          </p:cNvPr>
          <p:cNvSpPr txBox="1"/>
          <p:nvPr/>
        </p:nvSpPr>
        <p:spPr>
          <a:xfrm>
            <a:off x="11239636" y="2252796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2.0 m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0D0D1A6-771B-22D5-37A5-D9DD4D38941D}"/>
              </a:ext>
            </a:extLst>
          </p:cNvPr>
          <p:cNvSpPr txBox="1"/>
          <p:nvPr/>
        </p:nvSpPr>
        <p:spPr>
          <a:xfrm>
            <a:off x="11239636" y="2811656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150 m</a:t>
            </a:r>
          </a:p>
        </p:txBody>
      </p:sp>
      <p:sp>
        <p:nvSpPr>
          <p:cNvPr id="113" name="Shape 59">
            <a:extLst>
              <a:ext uri="{FF2B5EF4-FFF2-40B4-BE49-F238E27FC236}">
                <a16:creationId xmlns:a16="http://schemas.microsoft.com/office/drawing/2014/main" id="{A5B70D8F-2543-EA7F-1DB0-A4A4A03390B0}"/>
              </a:ext>
            </a:extLst>
          </p:cNvPr>
          <p:cNvSpPr/>
          <p:nvPr/>
        </p:nvSpPr>
        <p:spPr>
          <a:xfrm>
            <a:off x="1982709" y="3478554"/>
            <a:ext cx="137160" cy="137160"/>
          </a:xfrm>
          <a:prstGeom prst="ellipse">
            <a:avLst/>
          </a:prstGeom>
          <a:solidFill>
            <a:schemeClr val="bg1"/>
          </a:solidFill>
          <a:ln w="27940">
            <a:solidFill>
              <a:srgbClr val="C039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A57F77F-D246-FCDA-CF21-9160D35D89D0}"/>
              </a:ext>
            </a:extLst>
          </p:cNvPr>
          <p:cNvSpPr txBox="1"/>
          <p:nvPr/>
        </p:nvSpPr>
        <p:spPr>
          <a:xfrm>
            <a:off x="11239636" y="3376897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10k - 1m</a:t>
            </a:r>
          </a:p>
        </p:txBody>
      </p:sp>
      <p:sp>
        <p:nvSpPr>
          <p:cNvPr id="116" name="Shape 58">
            <a:extLst>
              <a:ext uri="{FF2B5EF4-FFF2-40B4-BE49-F238E27FC236}">
                <a16:creationId xmlns:a16="http://schemas.microsoft.com/office/drawing/2014/main" id="{8EF4C203-53BE-489F-3DA0-B5525BC93119}"/>
              </a:ext>
            </a:extLst>
          </p:cNvPr>
          <p:cNvSpPr/>
          <p:nvPr/>
        </p:nvSpPr>
        <p:spPr>
          <a:xfrm>
            <a:off x="2052211" y="3651953"/>
            <a:ext cx="0" cy="155448"/>
          </a:xfrm>
          <a:prstGeom prst="line">
            <a:avLst/>
          </a:prstGeom>
          <a:noFill/>
          <a:ln w="15240">
            <a:solidFill>
              <a:srgbClr val="C0392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60">
            <a:extLst>
              <a:ext uri="{FF2B5EF4-FFF2-40B4-BE49-F238E27FC236}">
                <a16:creationId xmlns:a16="http://schemas.microsoft.com/office/drawing/2014/main" id="{D253A1C7-9176-C1CB-5798-DBE779A98A5E}"/>
              </a:ext>
            </a:extLst>
          </p:cNvPr>
          <p:cNvSpPr/>
          <p:nvPr/>
        </p:nvSpPr>
        <p:spPr>
          <a:xfrm>
            <a:off x="1412131" y="367762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2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NIST/Wiley</a:t>
            </a:r>
            <a:endParaRPr lang="en-US" sz="9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2DCE94-614F-8CFF-81A9-182B2FDD282D}"/>
              </a:ext>
            </a:extLst>
          </p:cNvPr>
          <p:cNvSpPr txBox="1"/>
          <p:nvPr/>
        </p:nvSpPr>
        <p:spPr>
          <a:xfrm>
            <a:off x="11239636" y="3910100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2.9 m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1F187BB-9EDE-D6B6-CAB6-03AF2AA2AC3E}"/>
              </a:ext>
            </a:extLst>
          </p:cNvPr>
          <p:cNvSpPr txBox="1"/>
          <p:nvPr/>
        </p:nvSpPr>
        <p:spPr>
          <a:xfrm>
            <a:off x="11239636" y="4508390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50 k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03B6B3F-EE87-4561-C87C-19E857BA9900}"/>
              </a:ext>
            </a:extLst>
          </p:cNvPr>
          <p:cNvSpPr txBox="1"/>
          <p:nvPr/>
        </p:nvSpPr>
        <p:spPr>
          <a:xfrm>
            <a:off x="11239636" y="5077718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140 m</a:t>
            </a:r>
          </a:p>
        </p:txBody>
      </p:sp>
      <p:pic>
        <p:nvPicPr>
          <p:cNvPr id="12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29FA5634-B7EC-D6D4-9126-E4D60E88F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9B21498-24A9-0AF3-36AC-22C2D5159488}"/>
              </a:ext>
            </a:extLst>
          </p:cNvPr>
          <p:cNvSpPr/>
          <p:nvPr/>
        </p:nvSpPr>
        <p:spPr>
          <a:xfrm>
            <a:off x="0" y="960252"/>
            <a:ext cx="12192000" cy="546206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82D16-1988-9AE8-BDF1-1F35AB43FC9F}"/>
              </a:ext>
            </a:extLst>
          </p:cNvPr>
          <p:cNvSpPr txBox="1"/>
          <p:nvPr/>
        </p:nvSpPr>
        <p:spPr>
          <a:xfrm>
            <a:off x="4145189" y="3951947"/>
            <a:ext cx="11107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SMILES </a:t>
            </a:r>
          </a:p>
          <a:p>
            <a:pPr algn="ctr"/>
            <a:r>
              <a:rPr lang="en-US" sz="1600" b="1" dirty="0"/>
              <a:t>1988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5909B1-9E0D-32C5-6FDF-4EE22F1EF4F6}"/>
              </a:ext>
            </a:extLst>
          </p:cNvPr>
          <p:cNvSpPr txBox="1"/>
          <p:nvPr/>
        </p:nvSpPr>
        <p:spPr>
          <a:xfrm>
            <a:off x="7067474" y="4978296"/>
            <a:ext cx="1968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Fingerprints </a:t>
            </a:r>
          </a:p>
          <a:p>
            <a:pPr algn="ctr"/>
            <a:r>
              <a:rPr lang="en-US" sz="1600" b="1" dirty="0"/>
              <a:t>2010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E761E4-62E6-A732-B96F-390EB129967B}"/>
              </a:ext>
            </a:extLst>
          </p:cNvPr>
          <p:cNvSpPr txBox="1"/>
          <p:nvPr/>
        </p:nvSpPr>
        <p:spPr>
          <a:xfrm>
            <a:off x="8012595" y="3742358"/>
            <a:ext cx="1752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GNNs</a:t>
            </a:r>
          </a:p>
          <a:p>
            <a:pPr algn="ctr"/>
            <a:r>
              <a:rPr lang="en-US" sz="1600" b="1" dirty="0"/>
              <a:t>2015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F5068B-A9C6-5DB3-D051-E2376ECA65C8}"/>
              </a:ext>
            </a:extLst>
          </p:cNvPr>
          <p:cNvSpPr txBox="1"/>
          <p:nvPr/>
        </p:nvSpPr>
        <p:spPr>
          <a:xfrm>
            <a:off x="8919823" y="4467543"/>
            <a:ext cx="14225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Transformers</a:t>
            </a:r>
          </a:p>
          <a:p>
            <a:pPr algn="ctr"/>
            <a:r>
              <a:rPr lang="en-US" sz="1600" b="1" dirty="0"/>
              <a:t>2019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3F8A46-ADE6-C75C-EE00-D822A9E8DD0D}"/>
              </a:ext>
            </a:extLst>
          </p:cNvPr>
          <p:cNvSpPr txBox="1"/>
          <p:nvPr/>
        </p:nvSpPr>
        <p:spPr>
          <a:xfrm>
            <a:off x="8333882" y="2745822"/>
            <a:ext cx="1752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VAEs</a:t>
            </a:r>
          </a:p>
          <a:p>
            <a:pPr algn="ctr"/>
            <a:r>
              <a:rPr lang="en-US" sz="1600" b="1" dirty="0"/>
              <a:t>2016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61FF25-DA79-ABE9-9311-4EF9FDD5FC1E}"/>
              </a:ext>
            </a:extLst>
          </p:cNvPr>
          <p:cNvSpPr txBox="1"/>
          <p:nvPr/>
        </p:nvSpPr>
        <p:spPr>
          <a:xfrm>
            <a:off x="-32042" y="3802903"/>
            <a:ext cx="11107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Hammett </a:t>
            </a:r>
          </a:p>
          <a:p>
            <a:pPr algn="ctr"/>
            <a:r>
              <a:rPr lang="en-US" sz="1600" b="1" dirty="0"/>
              <a:t>1937</a:t>
            </a:r>
          </a:p>
        </p:txBody>
      </p:sp>
    </p:spTree>
    <p:extLst>
      <p:ext uri="{BB962C8B-B14F-4D97-AF65-F5344CB8AC3E}">
        <p14:creationId xmlns:p14="http://schemas.microsoft.com/office/powerpoint/2010/main" val="2056951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" grpId="0"/>
      <p:bldP spid="5" grpId="0"/>
      <p:bldP spid="6" grpId="0"/>
      <p:bldP spid="8" grpId="0"/>
      <p:bldP spid="11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E3F0-E90B-4761-A01B-9709319F6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ADEDE0-7178-48FF-48C9-057204AD996B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The Evolution of Data-driven Chemistry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C7091F-DB84-CF63-F742-8C4B7CFAE910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Picture 3" descr="Figure 2. Refer to the image caption for details.">
            <a:extLst>
              <a:ext uri="{FF2B5EF4-FFF2-40B4-BE49-F238E27FC236}">
                <a16:creationId xmlns:a16="http://schemas.microsoft.com/office/drawing/2014/main" id="{B2B0A8B2-029F-9DB9-DC52-461E34630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06" y="1301252"/>
            <a:ext cx="8142129" cy="27881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0F69D6-42FE-F7F4-2B43-6D061D301E51}"/>
              </a:ext>
            </a:extLst>
          </p:cNvPr>
          <p:cNvSpPr txBox="1"/>
          <p:nvPr/>
        </p:nvSpPr>
        <p:spPr>
          <a:xfrm>
            <a:off x="5360621" y="4360090"/>
            <a:ext cx="8883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SMILES </a:t>
            </a:r>
          </a:p>
          <a:p>
            <a:pPr algn="ctr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1988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07C522-C7A0-40A4-60B7-21D59D5E7A52}"/>
              </a:ext>
            </a:extLst>
          </p:cNvPr>
          <p:cNvCxnSpPr>
            <a:cxnSpLocks/>
          </p:cNvCxnSpPr>
          <p:nvPr/>
        </p:nvCxnSpPr>
        <p:spPr>
          <a:xfrm>
            <a:off x="212650" y="3124426"/>
            <a:ext cx="11560264" cy="0"/>
          </a:xfrm>
          <a:prstGeom prst="straightConnector1">
            <a:avLst/>
          </a:prstGeom>
          <a:ln>
            <a:solidFill>
              <a:srgbClr val="77777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EE6AF95-6A16-BBE3-6EB8-CD8DC2D644D8}"/>
              </a:ext>
            </a:extLst>
          </p:cNvPr>
          <p:cNvSpPr txBox="1"/>
          <p:nvPr/>
        </p:nvSpPr>
        <p:spPr>
          <a:xfrm>
            <a:off x="0" y="6110081"/>
            <a:ext cx="84866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Figure adapted from Williams, W. L.; Zeng, L.; Gensch, T.; Sigman, M. S.; Doyle, A. G.; Anslyn, E. V. </a:t>
            </a:r>
            <a:r>
              <a:rPr lang="en-US" sz="1100" i="1" dirty="0"/>
              <a:t>ACS Cent. Sci. </a:t>
            </a:r>
            <a:r>
              <a:rPr lang="en-US" sz="1100" b="1" dirty="0"/>
              <a:t>2021</a:t>
            </a:r>
            <a:r>
              <a:rPr lang="en-US" sz="1100" dirty="0"/>
              <a:t>, 7 (10), 1622–1637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961FEF-96B0-2E0E-3476-ADD033835368}"/>
              </a:ext>
            </a:extLst>
          </p:cNvPr>
          <p:cNvSpPr txBox="1"/>
          <p:nvPr/>
        </p:nvSpPr>
        <p:spPr>
          <a:xfrm>
            <a:off x="6970023" y="4360090"/>
            <a:ext cx="19683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Extended Connectivity Fingerprints </a:t>
            </a: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FF0EFE-00C2-8681-0068-BE13C350E951}"/>
              </a:ext>
            </a:extLst>
          </p:cNvPr>
          <p:cNvSpPr txBox="1"/>
          <p:nvPr/>
        </p:nvSpPr>
        <p:spPr>
          <a:xfrm>
            <a:off x="8437825" y="4360090"/>
            <a:ext cx="1752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Graph Neural Networks</a:t>
            </a: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2015</a:t>
            </a: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(8/12)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75ECE2-BECB-EF2A-3676-EFC1E13B6258}"/>
              </a:ext>
            </a:extLst>
          </p:cNvPr>
          <p:cNvSpPr txBox="1"/>
          <p:nvPr/>
        </p:nvSpPr>
        <p:spPr>
          <a:xfrm>
            <a:off x="10359028" y="4360090"/>
            <a:ext cx="13493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Transformers</a:t>
            </a:r>
          </a:p>
          <a:p>
            <a:pPr algn="ctr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2019</a:t>
            </a: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(8/18)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8ED733-FDE6-7361-E7E5-A99C9D1398FC}"/>
              </a:ext>
            </a:extLst>
          </p:cNvPr>
          <p:cNvCxnSpPr>
            <a:cxnSpLocks/>
          </p:cNvCxnSpPr>
          <p:nvPr/>
        </p:nvCxnSpPr>
        <p:spPr>
          <a:xfrm>
            <a:off x="5804814" y="3640667"/>
            <a:ext cx="0" cy="631641"/>
          </a:xfrm>
          <a:prstGeom prst="straightConnector1">
            <a:avLst/>
          </a:prstGeom>
          <a:ln w="12700">
            <a:solidFill>
              <a:srgbClr val="777777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0D56F18-6EE1-6E07-F9DD-425E792C9368}"/>
              </a:ext>
            </a:extLst>
          </p:cNvPr>
          <p:cNvCxnSpPr>
            <a:cxnSpLocks/>
          </p:cNvCxnSpPr>
          <p:nvPr/>
        </p:nvCxnSpPr>
        <p:spPr>
          <a:xfrm>
            <a:off x="7954182" y="3956487"/>
            <a:ext cx="0" cy="315821"/>
          </a:xfrm>
          <a:prstGeom prst="straightConnector1">
            <a:avLst/>
          </a:prstGeom>
          <a:ln w="12700">
            <a:solidFill>
              <a:srgbClr val="777777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B48E0E7-83B0-2F02-7D54-7F607CBA4DEF}"/>
              </a:ext>
            </a:extLst>
          </p:cNvPr>
          <p:cNvCxnSpPr>
            <a:cxnSpLocks/>
          </p:cNvCxnSpPr>
          <p:nvPr/>
        </p:nvCxnSpPr>
        <p:spPr>
          <a:xfrm>
            <a:off x="9313875" y="3131570"/>
            <a:ext cx="0" cy="1140738"/>
          </a:xfrm>
          <a:prstGeom prst="straightConnector1">
            <a:avLst/>
          </a:prstGeom>
          <a:ln w="12700">
            <a:solidFill>
              <a:srgbClr val="777777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EDA0C53-D8D5-8F5A-4AF0-89060CAA748D}"/>
              </a:ext>
            </a:extLst>
          </p:cNvPr>
          <p:cNvCxnSpPr>
            <a:cxnSpLocks/>
          </p:cNvCxnSpPr>
          <p:nvPr/>
        </p:nvCxnSpPr>
        <p:spPr>
          <a:xfrm>
            <a:off x="11041650" y="3131570"/>
            <a:ext cx="0" cy="1140738"/>
          </a:xfrm>
          <a:prstGeom prst="straightConnector1">
            <a:avLst/>
          </a:prstGeom>
          <a:ln w="12700">
            <a:solidFill>
              <a:srgbClr val="777777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6ABE68E-6854-6B4D-BB69-5154F5C078F3}"/>
              </a:ext>
            </a:extLst>
          </p:cNvPr>
          <p:cNvSpPr/>
          <p:nvPr/>
        </p:nvSpPr>
        <p:spPr>
          <a:xfrm>
            <a:off x="1828800" y="2600325"/>
            <a:ext cx="1235869" cy="371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77125E-4E4E-8C4E-3830-C4047A0ABBAC}"/>
              </a:ext>
            </a:extLst>
          </p:cNvPr>
          <p:cNvSpPr/>
          <p:nvPr/>
        </p:nvSpPr>
        <p:spPr>
          <a:xfrm>
            <a:off x="3031485" y="1978847"/>
            <a:ext cx="1311915" cy="371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723F09-6A34-2633-E780-E1DAEFD42542}"/>
              </a:ext>
            </a:extLst>
          </p:cNvPr>
          <p:cNvSpPr/>
          <p:nvPr/>
        </p:nvSpPr>
        <p:spPr>
          <a:xfrm>
            <a:off x="3791423" y="2600325"/>
            <a:ext cx="1409227" cy="371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74CDA3-482D-6C84-A455-3DF6B58CDE6F}"/>
              </a:ext>
            </a:extLst>
          </p:cNvPr>
          <p:cNvSpPr/>
          <p:nvPr/>
        </p:nvSpPr>
        <p:spPr>
          <a:xfrm>
            <a:off x="3202799" y="3877734"/>
            <a:ext cx="1409227" cy="371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3E3C1C-AD83-4DD7-4D18-DB84FB7945F1}"/>
              </a:ext>
            </a:extLst>
          </p:cNvPr>
          <p:cNvSpPr txBox="1"/>
          <p:nvPr/>
        </p:nvSpPr>
        <p:spPr>
          <a:xfrm>
            <a:off x="1230830" y="4360090"/>
            <a:ext cx="102784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Hammett</a:t>
            </a:r>
          </a:p>
          <a:p>
            <a:pPr algn="ctr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1937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4B25DA1-1B76-55EF-BEF2-87651BAF3423}"/>
              </a:ext>
            </a:extLst>
          </p:cNvPr>
          <p:cNvCxnSpPr>
            <a:cxnSpLocks/>
          </p:cNvCxnSpPr>
          <p:nvPr/>
        </p:nvCxnSpPr>
        <p:spPr>
          <a:xfrm flipV="1">
            <a:off x="9766312" y="2600325"/>
            <a:ext cx="0" cy="531245"/>
          </a:xfrm>
          <a:prstGeom prst="straightConnector1">
            <a:avLst/>
          </a:prstGeom>
          <a:ln w="12700">
            <a:solidFill>
              <a:srgbClr val="777777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0591797-8839-2C02-78FC-7D1EC9E661C0}"/>
              </a:ext>
            </a:extLst>
          </p:cNvPr>
          <p:cNvCxnSpPr>
            <a:cxnSpLocks/>
          </p:cNvCxnSpPr>
          <p:nvPr/>
        </p:nvCxnSpPr>
        <p:spPr>
          <a:xfrm>
            <a:off x="1758366" y="3357301"/>
            <a:ext cx="0" cy="942836"/>
          </a:xfrm>
          <a:prstGeom prst="straightConnector1">
            <a:avLst/>
          </a:prstGeom>
          <a:ln w="12700">
            <a:solidFill>
              <a:srgbClr val="777777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F79A4EC-C14B-0EB9-7BF5-09752D75F80B}"/>
              </a:ext>
            </a:extLst>
          </p:cNvPr>
          <p:cNvSpPr txBox="1"/>
          <p:nvPr/>
        </p:nvSpPr>
        <p:spPr>
          <a:xfrm>
            <a:off x="8890262" y="1452118"/>
            <a:ext cx="17521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Variational Auto Encoders</a:t>
            </a: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2016</a:t>
            </a:r>
          </a:p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(8/12)</a:t>
            </a:r>
          </a:p>
        </p:txBody>
      </p:sp>
      <p:pic>
        <p:nvPicPr>
          <p:cNvPr id="38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07002A94-9F76-8DC5-2B87-90B292043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140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9678-4F8F-9998-8C8F-A0E63C48A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B21C53-6CDF-EA91-BE10-8A4D0CD278CD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5A916-03FC-9CFE-9434-242D342D656D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103816C8-1686-E3F0-37C3-813585BBA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05D974-1289-8638-90C0-E4CB975C5A82}"/>
              </a:ext>
            </a:extLst>
          </p:cNvPr>
          <p:cNvSpPr txBox="1"/>
          <p:nvPr/>
        </p:nvSpPr>
        <p:spPr>
          <a:xfrm>
            <a:off x="1945178" y="1651590"/>
            <a:ext cx="6954789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• Evolution of “data-driven” chemistry</a:t>
            </a:r>
          </a:p>
          <a:p>
            <a:endParaRPr lang="en-US" sz="2500" dirty="0"/>
          </a:p>
          <a:p>
            <a:r>
              <a:rPr lang="en-US" sz="2500" b="1" dirty="0"/>
              <a:t>• Overview of existing representations</a:t>
            </a:r>
          </a:p>
          <a:p>
            <a:endParaRPr lang="en-US" sz="2500" dirty="0"/>
          </a:p>
          <a:p>
            <a:r>
              <a:rPr lang="en-US" sz="2500" dirty="0"/>
              <a:t>• Importance of the choice of the representation </a:t>
            </a:r>
          </a:p>
          <a:p>
            <a:endParaRPr lang="en-US" sz="2500" dirty="0"/>
          </a:p>
          <a:p>
            <a:r>
              <a:rPr lang="en-US" sz="2500" dirty="0"/>
              <a:t>• Data preprocessing: practical considerations</a:t>
            </a:r>
          </a:p>
          <a:p>
            <a:endParaRPr lang="en-US" sz="2500" b="1" dirty="0"/>
          </a:p>
          <a:p>
            <a:r>
              <a:rPr lang="en-US" sz="2500" dirty="0"/>
              <a:t>•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814543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C315E-765D-451B-5E16-499D3BC7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A095BC-8E7C-298F-981B-BFA0AFCE8085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String based representations are usually the starting point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437468-C654-B61E-B500-FC415B700D16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D20581-09D2-93BC-97E0-1A4674A1AE02}"/>
              </a:ext>
            </a:extLst>
          </p:cNvPr>
          <p:cNvSpPr txBox="1"/>
          <p:nvPr/>
        </p:nvSpPr>
        <p:spPr>
          <a:xfrm>
            <a:off x="18288" y="6142418"/>
            <a:ext cx="151242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Wigh, D. S.; Goodman, J. M.; Lapkin, A. A. </a:t>
            </a:r>
            <a:r>
              <a:rPr lang="en-US" sz="1100" i="1" dirty="0"/>
              <a:t>WIREs </a:t>
            </a:r>
            <a:r>
              <a:rPr lang="en-US" sz="1100" i="1" dirty="0" err="1"/>
              <a:t>Comput</a:t>
            </a:r>
            <a:r>
              <a:rPr lang="en-US" sz="1100" i="1" dirty="0"/>
              <a:t> Mol Sci </a:t>
            </a:r>
            <a:r>
              <a:rPr lang="en-US" sz="1100" b="1" dirty="0"/>
              <a:t>2022</a:t>
            </a:r>
            <a:r>
              <a:rPr lang="en-US" sz="1100" dirty="0"/>
              <a:t>, 12 (5).</a:t>
            </a:r>
          </a:p>
        </p:txBody>
      </p:sp>
      <p:pic>
        <p:nvPicPr>
          <p:cNvPr id="4" name="Picture 3" descr="Details are in the caption following the image">
            <a:extLst>
              <a:ext uri="{FF2B5EF4-FFF2-40B4-BE49-F238E27FC236}">
                <a16:creationId xmlns:a16="http://schemas.microsoft.com/office/drawing/2014/main" id="{40AEC27A-74EA-34B3-D5B4-BB41C48C65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706"/>
          <a:stretch>
            <a:fillRect/>
          </a:stretch>
        </p:blipFill>
        <p:spPr>
          <a:xfrm>
            <a:off x="1542615" y="1835274"/>
            <a:ext cx="8976141" cy="1682593"/>
          </a:xfrm>
          <a:prstGeom prst="rect">
            <a:avLst/>
          </a:prstGeom>
        </p:spPr>
      </p:pic>
      <p:pic>
        <p:nvPicPr>
          <p:cNvPr id="9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F2FC484F-6F68-B43E-F072-497982A37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A79DA5-4590-29B4-7763-65559BCACB7B}"/>
              </a:ext>
            </a:extLst>
          </p:cNvPr>
          <p:cNvSpPr txBox="1"/>
          <p:nvPr/>
        </p:nvSpPr>
        <p:spPr>
          <a:xfrm>
            <a:off x="2559491" y="4009853"/>
            <a:ext cx="30905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Small size</a:t>
            </a:r>
          </a:p>
          <a:p>
            <a:r>
              <a:rPr lang="en-US" dirty="0"/>
              <a:t>Easy to use</a:t>
            </a:r>
          </a:p>
          <a:p>
            <a:r>
              <a:rPr lang="en-US" dirty="0"/>
              <a:t>Potential missing Information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68890B-55EF-B2C9-98B1-CE4587B174A5}"/>
              </a:ext>
            </a:extLst>
          </p:cNvPr>
          <p:cNvSpPr/>
          <p:nvPr/>
        </p:nvSpPr>
        <p:spPr>
          <a:xfrm>
            <a:off x="2074398" y="2774917"/>
            <a:ext cx="506186" cy="742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D84D1C-FBBE-C749-24D1-CE046CB92FCA}"/>
              </a:ext>
            </a:extLst>
          </p:cNvPr>
          <p:cNvSpPr/>
          <p:nvPr/>
        </p:nvSpPr>
        <p:spPr>
          <a:xfrm>
            <a:off x="4115370" y="2793205"/>
            <a:ext cx="506186" cy="742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90B0DB-C85B-9B8D-ED63-7CBBC9412F3F}"/>
              </a:ext>
            </a:extLst>
          </p:cNvPr>
          <p:cNvSpPr/>
          <p:nvPr/>
        </p:nvSpPr>
        <p:spPr>
          <a:xfrm>
            <a:off x="4883117" y="3514932"/>
            <a:ext cx="5475441" cy="795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C0AB8A46-57F1-A28C-5693-A3715FEDF047}"/>
              </a:ext>
            </a:extLst>
          </p:cNvPr>
          <p:cNvSpPr/>
          <p:nvPr/>
        </p:nvSpPr>
        <p:spPr>
          <a:xfrm rot="10339093">
            <a:off x="3356155" y="3033033"/>
            <a:ext cx="3773120" cy="435543"/>
          </a:xfrm>
          <a:custGeom>
            <a:avLst/>
            <a:gdLst>
              <a:gd name="csX0" fmla="*/ 1886560 w 3773120"/>
              <a:gd name="csY0" fmla="*/ 0 h 435543"/>
              <a:gd name="csX1" fmla="*/ 3773120 w 3773120"/>
              <a:gd name="csY1" fmla="*/ 217772 h 435543"/>
              <a:gd name="csX2" fmla="*/ 3282614 w 3773120"/>
              <a:gd name="csY2" fmla="*/ 217772 h 435543"/>
              <a:gd name="csX3" fmla="*/ 2867571 w 3773120"/>
              <a:gd name="csY3" fmla="*/ 217772 h 435543"/>
              <a:gd name="csX4" fmla="*/ 2395931 w 3773120"/>
              <a:gd name="csY4" fmla="*/ 217772 h 435543"/>
              <a:gd name="csX5" fmla="*/ 1886560 w 3773120"/>
              <a:gd name="csY5" fmla="*/ 217772 h 435543"/>
              <a:gd name="csX6" fmla="*/ 1886560 w 3773120"/>
              <a:gd name="csY6" fmla="*/ 0 h 435543"/>
              <a:gd name="csX0" fmla="*/ 1886560 w 3773120"/>
              <a:gd name="csY0" fmla="*/ 0 h 435543"/>
              <a:gd name="csX1" fmla="*/ 3773120 w 3773120"/>
              <a:gd name="csY1" fmla="*/ 217772 h 435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73120" h="435543" stroke="0" extrusionOk="0">
                <a:moveTo>
                  <a:pt x="1886560" y="0"/>
                </a:moveTo>
                <a:cubicBezTo>
                  <a:pt x="2930177" y="-12781"/>
                  <a:pt x="3791740" y="112499"/>
                  <a:pt x="3773120" y="217772"/>
                </a:cubicBezTo>
                <a:cubicBezTo>
                  <a:pt x="3556117" y="236778"/>
                  <a:pt x="3403255" y="213481"/>
                  <a:pt x="3282614" y="217772"/>
                </a:cubicBezTo>
                <a:cubicBezTo>
                  <a:pt x="3161973" y="222063"/>
                  <a:pt x="3024773" y="173171"/>
                  <a:pt x="2867571" y="217772"/>
                </a:cubicBezTo>
                <a:cubicBezTo>
                  <a:pt x="2710369" y="262373"/>
                  <a:pt x="2552368" y="195323"/>
                  <a:pt x="2395931" y="217772"/>
                </a:cubicBezTo>
                <a:cubicBezTo>
                  <a:pt x="2239494" y="240221"/>
                  <a:pt x="2021673" y="210001"/>
                  <a:pt x="1886560" y="217772"/>
                </a:cubicBezTo>
                <a:cubicBezTo>
                  <a:pt x="1861575" y="111693"/>
                  <a:pt x="1892459" y="73396"/>
                  <a:pt x="1886560" y="0"/>
                </a:cubicBezTo>
                <a:close/>
              </a:path>
              <a:path w="3773120" h="435543" fill="none" extrusionOk="0">
                <a:moveTo>
                  <a:pt x="1886560" y="0"/>
                </a:moveTo>
                <a:cubicBezTo>
                  <a:pt x="2902059" y="5542"/>
                  <a:pt x="3768577" y="91019"/>
                  <a:pt x="3773120" y="217772"/>
                </a:cubicBezTo>
              </a:path>
              <a:path w="3773120" h="435543" fill="none" stroke="0" extrusionOk="0">
                <a:moveTo>
                  <a:pt x="1886560" y="0"/>
                </a:moveTo>
                <a:cubicBezTo>
                  <a:pt x="2943388" y="4011"/>
                  <a:pt x="3748269" y="109513"/>
                  <a:pt x="3773120" y="217772"/>
                </a:cubicBezTo>
              </a:path>
            </a:pathLst>
          </a:custGeom>
          <a:ln w="38100" cmpd="sng">
            <a:solidFill>
              <a:srgbClr val="C00000"/>
            </a:solidFill>
            <a:headEnd type="triangle" w="lg" len="lg"/>
            <a:tailEnd type="none" w="med" len="lg"/>
            <a:extLst>
              <a:ext uri="{C807C97D-BFC1-408E-A445-0C87EB9F89A2}">
                <ask:lineSketchStyleProps xmlns:ask="http://schemas.microsoft.com/office/drawing/2018/sketchyshapes" sd="4266498984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2C499878-66A1-FEEC-1600-DC57B160D580}"/>
              </a:ext>
            </a:extLst>
          </p:cNvPr>
          <p:cNvSpPr/>
          <p:nvPr/>
        </p:nvSpPr>
        <p:spPr>
          <a:xfrm rot="10287034">
            <a:off x="3329542" y="2414274"/>
            <a:ext cx="7294423" cy="1088879"/>
          </a:xfrm>
          <a:custGeom>
            <a:avLst/>
            <a:gdLst>
              <a:gd name="csX0" fmla="*/ 3647212 w 7294423"/>
              <a:gd name="csY0" fmla="*/ 0 h 1088879"/>
              <a:gd name="csX1" fmla="*/ 7294424 w 7294423"/>
              <a:gd name="csY1" fmla="*/ 544440 h 1088879"/>
              <a:gd name="csX2" fmla="*/ 6846338 w 7294423"/>
              <a:gd name="csY2" fmla="*/ 544440 h 1088879"/>
              <a:gd name="csX3" fmla="*/ 6434724 w 7294423"/>
              <a:gd name="csY3" fmla="*/ 544440 h 1088879"/>
              <a:gd name="csX4" fmla="*/ 5913694 w 7294423"/>
              <a:gd name="csY4" fmla="*/ 544440 h 1088879"/>
              <a:gd name="csX5" fmla="*/ 5392663 w 7294423"/>
              <a:gd name="csY5" fmla="*/ 544440 h 1088879"/>
              <a:gd name="csX6" fmla="*/ 4871633 w 7294423"/>
              <a:gd name="csY6" fmla="*/ 544440 h 1088879"/>
              <a:gd name="csX7" fmla="*/ 4460019 w 7294423"/>
              <a:gd name="csY7" fmla="*/ 544440 h 1088879"/>
              <a:gd name="csX8" fmla="*/ 3647212 w 7294423"/>
              <a:gd name="csY8" fmla="*/ 544440 h 1088879"/>
              <a:gd name="csX9" fmla="*/ 3647212 w 7294423"/>
              <a:gd name="csY9" fmla="*/ 0 h 1088879"/>
              <a:gd name="csX0" fmla="*/ 3647212 w 7294423"/>
              <a:gd name="csY0" fmla="*/ 0 h 1088879"/>
              <a:gd name="csX1" fmla="*/ 7294424 w 7294423"/>
              <a:gd name="csY1" fmla="*/ 544440 h 108887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94423" h="1088879" stroke="0" extrusionOk="0">
                <a:moveTo>
                  <a:pt x="3647212" y="0"/>
                </a:moveTo>
                <a:cubicBezTo>
                  <a:pt x="5572676" y="3800"/>
                  <a:pt x="7319606" y="268512"/>
                  <a:pt x="7294424" y="544440"/>
                </a:cubicBezTo>
                <a:cubicBezTo>
                  <a:pt x="7140085" y="586475"/>
                  <a:pt x="7059788" y="539712"/>
                  <a:pt x="6846338" y="544440"/>
                </a:cubicBezTo>
                <a:cubicBezTo>
                  <a:pt x="6632888" y="549168"/>
                  <a:pt x="6543932" y="530642"/>
                  <a:pt x="6434724" y="544440"/>
                </a:cubicBezTo>
                <a:cubicBezTo>
                  <a:pt x="6325516" y="558238"/>
                  <a:pt x="6024801" y="490351"/>
                  <a:pt x="5913694" y="544440"/>
                </a:cubicBezTo>
                <a:cubicBezTo>
                  <a:pt x="5802587" y="598529"/>
                  <a:pt x="5643833" y="524984"/>
                  <a:pt x="5392663" y="544440"/>
                </a:cubicBezTo>
                <a:cubicBezTo>
                  <a:pt x="5141493" y="563896"/>
                  <a:pt x="5030355" y="535916"/>
                  <a:pt x="4871633" y="544440"/>
                </a:cubicBezTo>
                <a:cubicBezTo>
                  <a:pt x="4712911" y="552964"/>
                  <a:pt x="4655618" y="497432"/>
                  <a:pt x="4460019" y="544440"/>
                </a:cubicBezTo>
                <a:cubicBezTo>
                  <a:pt x="4264420" y="591448"/>
                  <a:pt x="4037415" y="516451"/>
                  <a:pt x="3647212" y="544440"/>
                </a:cubicBezTo>
                <a:cubicBezTo>
                  <a:pt x="3625175" y="272501"/>
                  <a:pt x="3684006" y="210029"/>
                  <a:pt x="3647212" y="0"/>
                </a:cubicBezTo>
                <a:close/>
              </a:path>
              <a:path w="7294423" h="1088879" fill="none" extrusionOk="0">
                <a:moveTo>
                  <a:pt x="3647212" y="0"/>
                </a:moveTo>
                <a:cubicBezTo>
                  <a:pt x="5663615" y="15267"/>
                  <a:pt x="7308515" y="218435"/>
                  <a:pt x="7294424" y="544440"/>
                </a:cubicBezTo>
              </a:path>
              <a:path w="7294423" h="1088879" fill="none" stroke="0" extrusionOk="0">
                <a:moveTo>
                  <a:pt x="3647212" y="0"/>
                </a:moveTo>
                <a:cubicBezTo>
                  <a:pt x="5697159" y="28045"/>
                  <a:pt x="7334948" y="282547"/>
                  <a:pt x="7294424" y="544440"/>
                </a:cubicBezTo>
              </a:path>
            </a:pathLst>
          </a:custGeom>
          <a:ln w="38100" cmpd="sng">
            <a:solidFill>
              <a:srgbClr val="C00000"/>
            </a:solidFill>
            <a:headEnd type="triangle" w="lg" len="lg"/>
            <a:tailEnd type="none" w="med" len="lg"/>
            <a:extLst>
              <a:ext uri="{C807C97D-BFC1-408E-A445-0C87EB9F89A2}">
                <ask:lineSketchStyleProps xmlns:ask="http://schemas.microsoft.com/office/drawing/2018/sketchyshapes" sd="2650216993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F9316CDE-08AC-4C06-D293-9BD68DC0C200}"/>
              </a:ext>
            </a:extLst>
          </p:cNvPr>
          <p:cNvSpPr/>
          <p:nvPr/>
        </p:nvSpPr>
        <p:spPr>
          <a:xfrm rot="10333483">
            <a:off x="3337090" y="2057485"/>
            <a:ext cx="10983021" cy="1455366"/>
          </a:xfrm>
          <a:custGeom>
            <a:avLst/>
            <a:gdLst>
              <a:gd name="csX0" fmla="*/ 5491511 w 10983021"/>
              <a:gd name="csY0" fmla="*/ 0 h 1455366"/>
              <a:gd name="csX1" fmla="*/ 10983022 w 10983021"/>
              <a:gd name="csY1" fmla="*/ 727683 h 1455366"/>
              <a:gd name="csX2" fmla="*/ 10324041 w 10983021"/>
              <a:gd name="csY2" fmla="*/ 727683 h 1455366"/>
              <a:gd name="csX3" fmla="*/ 9829805 w 10983021"/>
              <a:gd name="csY3" fmla="*/ 727683 h 1455366"/>
              <a:gd name="csX4" fmla="*/ 9390484 w 10983021"/>
              <a:gd name="csY4" fmla="*/ 727683 h 1455366"/>
              <a:gd name="csX5" fmla="*/ 8786418 w 10983021"/>
              <a:gd name="csY5" fmla="*/ 727683 h 1455366"/>
              <a:gd name="csX6" fmla="*/ 8292182 w 10983021"/>
              <a:gd name="csY6" fmla="*/ 727683 h 1455366"/>
              <a:gd name="csX7" fmla="*/ 7633200 w 10983021"/>
              <a:gd name="csY7" fmla="*/ 727683 h 1455366"/>
              <a:gd name="csX8" fmla="*/ 7193879 w 10983021"/>
              <a:gd name="csY8" fmla="*/ 727683 h 1455366"/>
              <a:gd name="csX9" fmla="*/ 6534898 w 10983021"/>
              <a:gd name="csY9" fmla="*/ 727683 h 1455366"/>
              <a:gd name="csX10" fmla="*/ 6150492 w 10983021"/>
              <a:gd name="csY10" fmla="*/ 727683 h 1455366"/>
              <a:gd name="csX11" fmla="*/ 5491511 w 10983021"/>
              <a:gd name="csY11" fmla="*/ 727683 h 1455366"/>
              <a:gd name="csX12" fmla="*/ 5491511 w 10983021"/>
              <a:gd name="csY12" fmla="*/ 363842 h 1455366"/>
              <a:gd name="csX13" fmla="*/ 5491511 w 10983021"/>
              <a:gd name="csY13" fmla="*/ 0 h 1455366"/>
              <a:gd name="csX0" fmla="*/ 5491511 w 10983021"/>
              <a:gd name="csY0" fmla="*/ 0 h 1455366"/>
              <a:gd name="csX1" fmla="*/ 10983022 w 10983021"/>
              <a:gd name="csY1" fmla="*/ 727683 h 145536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983021" h="1455366" stroke="0" extrusionOk="0">
                <a:moveTo>
                  <a:pt x="5491511" y="0"/>
                </a:moveTo>
                <a:cubicBezTo>
                  <a:pt x="8481895" y="-26211"/>
                  <a:pt x="10959027" y="334801"/>
                  <a:pt x="10983022" y="727683"/>
                </a:cubicBezTo>
                <a:cubicBezTo>
                  <a:pt x="10686657" y="772090"/>
                  <a:pt x="10511697" y="689188"/>
                  <a:pt x="10324041" y="727683"/>
                </a:cubicBezTo>
                <a:cubicBezTo>
                  <a:pt x="10136385" y="766178"/>
                  <a:pt x="9947635" y="682514"/>
                  <a:pt x="9829805" y="727683"/>
                </a:cubicBezTo>
                <a:cubicBezTo>
                  <a:pt x="9711975" y="772852"/>
                  <a:pt x="9595913" y="696310"/>
                  <a:pt x="9390484" y="727683"/>
                </a:cubicBezTo>
                <a:cubicBezTo>
                  <a:pt x="9185055" y="759056"/>
                  <a:pt x="9044437" y="704470"/>
                  <a:pt x="8786418" y="727683"/>
                </a:cubicBezTo>
                <a:cubicBezTo>
                  <a:pt x="8528399" y="750896"/>
                  <a:pt x="8462528" y="715897"/>
                  <a:pt x="8292182" y="727683"/>
                </a:cubicBezTo>
                <a:cubicBezTo>
                  <a:pt x="8121836" y="739469"/>
                  <a:pt x="7776594" y="699562"/>
                  <a:pt x="7633200" y="727683"/>
                </a:cubicBezTo>
                <a:cubicBezTo>
                  <a:pt x="7489806" y="755804"/>
                  <a:pt x="7302147" y="700994"/>
                  <a:pt x="7193879" y="727683"/>
                </a:cubicBezTo>
                <a:cubicBezTo>
                  <a:pt x="7085611" y="754372"/>
                  <a:pt x="6749405" y="694800"/>
                  <a:pt x="6534898" y="727683"/>
                </a:cubicBezTo>
                <a:cubicBezTo>
                  <a:pt x="6320391" y="760566"/>
                  <a:pt x="6324523" y="719524"/>
                  <a:pt x="6150492" y="727683"/>
                </a:cubicBezTo>
                <a:cubicBezTo>
                  <a:pt x="5976461" y="735842"/>
                  <a:pt x="5659508" y="698127"/>
                  <a:pt x="5491511" y="727683"/>
                </a:cubicBezTo>
                <a:cubicBezTo>
                  <a:pt x="5485042" y="641602"/>
                  <a:pt x="5514572" y="536874"/>
                  <a:pt x="5491511" y="363842"/>
                </a:cubicBezTo>
                <a:cubicBezTo>
                  <a:pt x="5468450" y="190810"/>
                  <a:pt x="5506864" y="141437"/>
                  <a:pt x="5491511" y="0"/>
                </a:cubicBezTo>
                <a:close/>
              </a:path>
              <a:path w="10983021" h="1455366" fill="none" extrusionOk="0">
                <a:moveTo>
                  <a:pt x="5491511" y="0"/>
                </a:moveTo>
                <a:cubicBezTo>
                  <a:pt x="8512853" y="1894"/>
                  <a:pt x="10903327" y="270807"/>
                  <a:pt x="10983022" y="727683"/>
                </a:cubicBezTo>
              </a:path>
              <a:path w="10983021" h="1455366" fill="none" stroke="0" extrusionOk="0">
                <a:moveTo>
                  <a:pt x="5491511" y="0"/>
                </a:moveTo>
                <a:cubicBezTo>
                  <a:pt x="8582179" y="-50599"/>
                  <a:pt x="11005562" y="219773"/>
                  <a:pt x="10983022" y="727683"/>
                </a:cubicBezTo>
              </a:path>
            </a:pathLst>
          </a:custGeom>
          <a:ln w="38100" cmpd="sng">
            <a:solidFill>
              <a:srgbClr val="C00000"/>
            </a:solidFill>
            <a:headEnd type="triangle" w="lg" len="lg"/>
            <a:tailEnd type="none" w="med" len="lg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5CEB53-49F0-DB0C-B4EC-C2E350DDD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58" y="1002012"/>
            <a:ext cx="2816450" cy="15719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68091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2082C-079F-7CDB-32FB-2BA364F13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0DD77C-DB10-21B8-E608-548EB752B644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String line representations for small molecules: SMILES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0DB243-3622-3E68-F279-7F1F448BBA00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7FA217-D560-04A6-DE1F-B769FCD957C0}"/>
              </a:ext>
            </a:extLst>
          </p:cNvPr>
          <p:cNvSpPr txBox="1"/>
          <p:nvPr/>
        </p:nvSpPr>
        <p:spPr>
          <a:xfrm>
            <a:off x="201168" y="1118795"/>
            <a:ext cx="11192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SMILES — Simplified Molecular-Input Line-Entry System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01589E-5DD1-E3F2-E6AB-B303AEACB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947" y="2324709"/>
            <a:ext cx="1324544" cy="71483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0CD394C-9CFA-9C17-9FB2-F9B2B70D792A}"/>
              </a:ext>
            </a:extLst>
          </p:cNvPr>
          <p:cNvGrpSpPr/>
          <p:nvPr/>
        </p:nvGrpSpPr>
        <p:grpSpPr>
          <a:xfrm>
            <a:off x="1594806" y="2174191"/>
            <a:ext cx="3002398" cy="706708"/>
            <a:chOff x="1594806" y="2174191"/>
            <a:chExt cx="3002398" cy="706708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6D66FAE-039A-F88F-5A59-1A43862550A4}"/>
                </a:ext>
              </a:extLst>
            </p:cNvPr>
            <p:cNvSpPr/>
            <p:nvPr/>
          </p:nvSpPr>
          <p:spPr>
            <a:xfrm>
              <a:off x="1594806" y="2174191"/>
              <a:ext cx="932488" cy="223867"/>
            </a:xfrm>
            <a:custGeom>
              <a:avLst/>
              <a:gdLst>
                <a:gd name="csX0" fmla="*/ 860612 w 860612"/>
                <a:gd name="csY0" fmla="*/ 108 h 168196"/>
                <a:gd name="csX1" fmla="*/ 517712 w 860612"/>
                <a:gd name="csY1" fmla="*/ 168196 h 168196"/>
                <a:gd name="csX2" fmla="*/ 295835 w 860612"/>
                <a:gd name="csY2" fmla="*/ 108 h 168196"/>
                <a:gd name="csX3" fmla="*/ 0 w 860612"/>
                <a:gd name="csY3" fmla="*/ 148026 h 1681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60612" h="168196">
                  <a:moveTo>
                    <a:pt x="860612" y="108"/>
                  </a:moveTo>
                  <a:cubicBezTo>
                    <a:pt x="736226" y="84152"/>
                    <a:pt x="611841" y="168196"/>
                    <a:pt x="517712" y="168196"/>
                  </a:cubicBezTo>
                  <a:cubicBezTo>
                    <a:pt x="423583" y="168196"/>
                    <a:pt x="382120" y="3470"/>
                    <a:pt x="295835" y="108"/>
                  </a:cubicBezTo>
                  <a:cubicBezTo>
                    <a:pt x="209550" y="-3254"/>
                    <a:pt x="104775" y="72386"/>
                    <a:pt x="0" y="148026"/>
                  </a:cubicBezTo>
                </a:path>
              </a:pathLst>
            </a:custGeom>
            <a:noFill/>
            <a:ln>
              <a:headEnd type="triangl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1766C44-59C4-0F3F-C9F7-11EFA8AAC95C}"/>
                </a:ext>
              </a:extLst>
            </p:cNvPr>
            <p:cNvCxnSpPr>
              <a:cxnSpLocks/>
            </p:cNvCxnSpPr>
            <p:nvPr/>
          </p:nvCxnSpPr>
          <p:spPr>
            <a:xfrm>
              <a:off x="2163725" y="2398403"/>
              <a:ext cx="0" cy="482496"/>
            </a:xfrm>
            <a:prstGeom prst="straightConnector1">
              <a:avLst/>
            </a:prstGeom>
            <a:ln>
              <a:solidFill>
                <a:srgbClr val="C00000"/>
              </a:solidFill>
              <a:headEnd type="oval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C84BE5F-8FD1-1C00-27E6-8284BD6160D2}"/>
                </a:ext>
              </a:extLst>
            </p:cNvPr>
            <p:cNvSpPr txBox="1"/>
            <p:nvPr/>
          </p:nvSpPr>
          <p:spPr>
            <a:xfrm>
              <a:off x="3339231" y="2381859"/>
              <a:ext cx="12579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CCC</a:t>
              </a:r>
              <a:r>
                <a:rPr lang="en-US" dirty="0">
                  <a:solidFill>
                    <a:srgbClr val="C00000"/>
                  </a:solidFill>
                </a:rPr>
                <a:t>(=O)</a:t>
              </a:r>
              <a:r>
                <a:rPr lang="en-US" dirty="0"/>
                <a:t>O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278A9770-CE55-194B-A537-1B256A3D5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086" y="2370549"/>
            <a:ext cx="1324544" cy="714833"/>
          </a:xfrm>
          <a:prstGeom prst="rect">
            <a:avLst/>
          </a:prstGeom>
        </p:spPr>
      </p:pic>
      <p:sp>
        <p:nvSpPr>
          <p:cNvPr id="21" name="Freeform 20">
            <a:extLst>
              <a:ext uri="{FF2B5EF4-FFF2-40B4-BE49-F238E27FC236}">
                <a16:creationId xmlns:a16="http://schemas.microsoft.com/office/drawing/2014/main" id="{36E427DD-5080-E437-EBBD-51A0E72F0969}"/>
              </a:ext>
            </a:extLst>
          </p:cNvPr>
          <p:cNvSpPr/>
          <p:nvPr/>
        </p:nvSpPr>
        <p:spPr>
          <a:xfrm>
            <a:off x="5997552" y="2212775"/>
            <a:ext cx="932488" cy="223867"/>
          </a:xfrm>
          <a:custGeom>
            <a:avLst/>
            <a:gdLst>
              <a:gd name="csX0" fmla="*/ 860612 w 860612"/>
              <a:gd name="csY0" fmla="*/ 108 h 168196"/>
              <a:gd name="csX1" fmla="*/ 517712 w 860612"/>
              <a:gd name="csY1" fmla="*/ 168196 h 168196"/>
              <a:gd name="csX2" fmla="*/ 295835 w 860612"/>
              <a:gd name="csY2" fmla="*/ 108 h 168196"/>
              <a:gd name="csX3" fmla="*/ 0 w 860612"/>
              <a:gd name="csY3" fmla="*/ 148026 h 168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60612" h="168196">
                <a:moveTo>
                  <a:pt x="860612" y="108"/>
                </a:moveTo>
                <a:cubicBezTo>
                  <a:pt x="736226" y="84152"/>
                  <a:pt x="611841" y="168196"/>
                  <a:pt x="517712" y="168196"/>
                </a:cubicBezTo>
                <a:cubicBezTo>
                  <a:pt x="423583" y="168196"/>
                  <a:pt x="382120" y="3470"/>
                  <a:pt x="295835" y="108"/>
                </a:cubicBezTo>
                <a:cubicBezTo>
                  <a:pt x="209550" y="-3254"/>
                  <a:pt x="104775" y="72386"/>
                  <a:pt x="0" y="148026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363A77-3614-9C63-5563-110715AE644F}"/>
              </a:ext>
            </a:extLst>
          </p:cNvPr>
          <p:cNvSpPr txBox="1"/>
          <p:nvPr/>
        </p:nvSpPr>
        <p:spPr>
          <a:xfrm>
            <a:off x="7539370" y="2427699"/>
            <a:ext cx="1259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OC</a:t>
            </a:r>
            <a:r>
              <a:rPr lang="en-US" dirty="0">
                <a:solidFill>
                  <a:srgbClr val="C00000"/>
                </a:solidFill>
              </a:rPr>
              <a:t>(=O)</a:t>
            </a:r>
            <a:r>
              <a:rPr lang="en-US" dirty="0"/>
              <a:t>CC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33DD9C0-441D-4285-97AA-0D5260638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489" y="4418521"/>
            <a:ext cx="1277725" cy="859160"/>
          </a:xfrm>
          <a:prstGeom prst="rect">
            <a:avLst/>
          </a:prstGeom>
        </p:spPr>
      </p:pic>
      <p:sp>
        <p:nvSpPr>
          <p:cNvPr id="25" name="Freeform 24">
            <a:extLst>
              <a:ext uri="{FF2B5EF4-FFF2-40B4-BE49-F238E27FC236}">
                <a16:creationId xmlns:a16="http://schemas.microsoft.com/office/drawing/2014/main" id="{433CEEC0-55B1-2FF9-B169-537F40802627}"/>
              </a:ext>
            </a:extLst>
          </p:cNvPr>
          <p:cNvSpPr/>
          <p:nvPr/>
        </p:nvSpPr>
        <p:spPr>
          <a:xfrm>
            <a:off x="1491967" y="4339284"/>
            <a:ext cx="1361586" cy="1001756"/>
          </a:xfrm>
          <a:custGeom>
            <a:avLst/>
            <a:gdLst>
              <a:gd name="csX0" fmla="*/ 1389572 w 1389572"/>
              <a:gd name="csY0" fmla="*/ 259514 h 1100013"/>
              <a:gd name="csX1" fmla="*/ 1006512 w 1389572"/>
              <a:gd name="csY1" fmla="*/ 23 h 1100013"/>
              <a:gd name="csX2" fmla="*/ 685237 w 1389572"/>
              <a:gd name="csY2" fmla="*/ 271871 h 1100013"/>
              <a:gd name="csX3" fmla="*/ 388674 w 1389572"/>
              <a:gd name="csY3" fmla="*/ 98877 h 1100013"/>
              <a:gd name="csX4" fmla="*/ 67399 w 1389572"/>
              <a:gd name="csY4" fmla="*/ 308941 h 1100013"/>
              <a:gd name="csX5" fmla="*/ 30328 w 1389572"/>
              <a:gd name="csY5" fmla="*/ 840282 h 1100013"/>
              <a:gd name="csX6" fmla="*/ 425745 w 1389572"/>
              <a:gd name="csY6" fmla="*/ 1099774 h 1100013"/>
              <a:gd name="csX7" fmla="*/ 759377 w 1389572"/>
              <a:gd name="csY7" fmla="*/ 877352 h 1100013"/>
              <a:gd name="csX0" fmla="*/ 1389572 w 1389572"/>
              <a:gd name="csY0" fmla="*/ 185406 h 1025905"/>
              <a:gd name="csX1" fmla="*/ 1031226 w 1389572"/>
              <a:gd name="csY1" fmla="*/ 55 h 1025905"/>
              <a:gd name="csX2" fmla="*/ 685237 w 1389572"/>
              <a:gd name="csY2" fmla="*/ 197763 h 1025905"/>
              <a:gd name="csX3" fmla="*/ 388674 w 1389572"/>
              <a:gd name="csY3" fmla="*/ 24769 h 1025905"/>
              <a:gd name="csX4" fmla="*/ 67399 w 1389572"/>
              <a:gd name="csY4" fmla="*/ 234833 h 1025905"/>
              <a:gd name="csX5" fmla="*/ 30328 w 1389572"/>
              <a:gd name="csY5" fmla="*/ 766174 h 1025905"/>
              <a:gd name="csX6" fmla="*/ 425745 w 1389572"/>
              <a:gd name="csY6" fmla="*/ 1025666 h 1025905"/>
              <a:gd name="csX7" fmla="*/ 759377 w 1389572"/>
              <a:gd name="csY7" fmla="*/ 803244 h 1025905"/>
              <a:gd name="csX0" fmla="*/ 1389572 w 1389572"/>
              <a:gd name="csY0" fmla="*/ 185351 h 1025850"/>
              <a:gd name="csX1" fmla="*/ 1031226 w 1389572"/>
              <a:gd name="csY1" fmla="*/ 0 h 1025850"/>
              <a:gd name="csX2" fmla="*/ 734664 w 1389572"/>
              <a:gd name="csY2" fmla="*/ 185351 h 1025850"/>
              <a:gd name="csX3" fmla="*/ 388674 w 1389572"/>
              <a:gd name="csY3" fmla="*/ 24714 h 1025850"/>
              <a:gd name="csX4" fmla="*/ 67399 w 1389572"/>
              <a:gd name="csY4" fmla="*/ 234778 h 1025850"/>
              <a:gd name="csX5" fmla="*/ 30328 w 1389572"/>
              <a:gd name="csY5" fmla="*/ 766119 h 1025850"/>
              <a:gd name="csX6" fmla="*/ 425745 w 1389572"/>
              <a:gd name="csY6" fmla="*/ 1025611 h 1025850"/>
              <a:gd name="csX7" fmla="*/ 759377 w 1389572"/>
              <a:gd name="csY7" fmla="*/ 803189 h 1025850"/>
              <a:gd name="csX0" fmla="*/ 1392793 w 1392793"/>
              <a:gd name="csY0" fmla="*/ 185351 h 1025850"/>
              <a:gd name="csX1" fmla="*/ 1034447 w 1392793"/>
              <a:gd name="csY1" fmla="*/ 0 h 1025850"/>
              <a:gd name="csX2" fmla="*/ 737885 w 1392793"/>
              <a:gd name="csY2" fmla="*/ 185351 h 1025850"/>
              <a:gd name="csX3" fmla="*/ 466035 w 1392793"/>
              <a:gd name="csY3" fmla="*/ 37071 h 1025850"/>
              <a:gd name="csX4" fmla="*/ 70620 w 1392793"/>
              <a:gd name="csY4" fmla="*/ 234778 h 1025850"/>
              <a:gd name="csX5" fmla="*/ 33549 w 1392793"/>
              <a:gd name="csY5" fmla="*/ 766119 h 1025850"/>
              <a:gd name="csX6" fmla="*/ 428966 w 1392793"/>
              <a:gd name="csY6" fmla="*/ 1025611 h 1025850"/>
              <a:gd name="csX7" fmla="*/ 762598 w 1392793"/>
              <a:gd name="csY7" fmla="*/ 803189 h 1025850"/>
              <a:gd name="csX0" fmla="*/ 1411013 w 1411013"/>
              <a:gd name="csY0" fmla="*/ 185351 h 1025850"/>
              <a:gd name="csX1" fmla="*/ 1052667 w 1411013"/>
              <a:gd name="csY1" fmla="*/ 0 h 1025850"/>
              <a:gd name="csX2" fmla="*/ 756105 w 1411013"/>
              <a:gd name="csY2" fmla="*/ 185351 h 1025850"/>
              <a:gd name="csX3" fmla="*/ 484255 w 1411013"/>
              <a:gd name="csY3" fmla="*/ 37071 h 1025850"/>
              <a:gd name="csX4" fmla="*/ 51770 w 1411013"/>
              <a:gd name="csY4" fmla="*/ 271848 h 1025850"/>
              <a:gd name="csX5" fmla="*/ 51769 w 1411013"/>
              <a:gd name="csY5" fmla="*/ 766119 h 1025850"/>
              <a:gd name="csX6" fmla="*/ 447186 w 1411013"/>
              <a:gd name="csY6" fmla="*/ 1025611 h 1025850"/>
              <a:gd name="csX7" fmla="*/ 780818 w 1411013"/>
              <a:gd name="csY7" fmla="*/ 803189 h 1025850"/>
              <a:gd name="csX0" fmla="*/ 1411013 w 1411013"/>
              <a:gd name="csY0" fmla="*/ 185351 h 1025850"/>
              <a:gd name="csX1" fmla="*/ 1052667 w 1411013"/>
              <a:gd name="csY1" fmla="*/ 0 h 1025850"/>
              <a:gd name="csX2" fmla="*/ 756105 w 1411013"/>
              <a:gd name="csY2" fmla="*/ 185351 h 1025850"/>
              <a:gd name="csX3" fmla="*/ 484255 w 1411013"/>
              <a:gd name="csY3" fmla="*/ 37071 h 1025850"/>
              <a:gd name="csX4" fmla="*/ 51770 w 1411013"/>
              <a:gd name="csY4" fmla="*/ 271848 h 1025850"/>
              <a:gd name="csX5" fmla="*/ 51769 w 1411013"/>
              <a:gd name="csY5" fmla="*/ 766119 h 1025850"/>
              <a:gd name="csX6" fmla="*/ 447186 w 1411013"/>
              <a:gd name="csY6" fmla="*/ 1025611 h 1025850"/>
              <a:gd name="csX7" fmla="*/ 780818 w 1411013"/>
              <a:gd name="csY7" fmla="*/ 803189 h 1025850"/>
              <a:gd name="csX0" fmla="*/ 1411013 w 1411013"/>
              <a:gd name="csY0" fmla="*/ 247135 h 1087634"/>
              <a:gd name="csX1" fmla="*/ 1052667 w 1411013"/>
              <a:gd name="csY1" fmla="*/ 0 h 1087634"/>
              <a:gd name="csX2" fmla="*/ 756105 w 1411013"/>
              <a:gd name="csY2" fmla="*/ 247135 h 1087634"/>
              <a:gd name="csX3" fmla="*/ 484255 w 1411013"/>
              <a:gd name="csY3" fmla="*/ 98855 h 1087634"/>
              <a:gd name="csX4" fmla="*/ 51770 w 1411013"/>
              <a:gd name="csY4" fmla="*/ 333632 h 1087634"/>
              <a:gd name="csX5" fmla="*/ 51769 w 1411013"/>
              <a:gd name="csY5" fmla="*/ 827903 h 1087634"/>
              <a:gd name="csX6" fmla="*/ 447186 w 1411013"/>
              <a:gd name="csY6" fmla="*/ 1087395 h 1087634"/>
              <a:gd name="csX7" fmla="*/ 780818 w 1411013"/>
              <a:gd name="csY7" fmla="*/ 864973 h 1087634"/>
              <a:gd name="csX0" fmla="*/ 1411013 w 1411013"/>
              <a:gd name="csY0" fmla="*/ 160638 h 1001137"/>
              <a:gd name="csX1" fmla="*/ 1077380 w 1411013"/>
              <a:gd name="csY1" fmla="*/ 0 h 1001137"/>
              <a:gd name="csX2" fmla="*/ 756105 w 1411013"/>
              <a:gd name="csY2" fmla="*/ 160638 h 1001137"/>
              <a:gd name="csX3" fmla="*/ 484255 w 1411013"/>
              <a:gd name="csY3" fmla="*/ 12358 h 1001137"/>
              <a:gd name="csX4" fmla="*/ 51770 w 1411013"/>
              <a:gd name="csY4" fmla="*/ 247135 h 1001137"/>
              <a:gd name="csX5" fmla="*/ 51769 w 1411013"/>
              <a:gd name="csY5" fmla="*/ 741406 h 1001137"/>
              <a:gd name="csX6" fmla="*/ 447186 w 1411013"/>
              <a:gd name="csY6" fmla="*/ 1000898 h 1001137"/>
              <a:gd name="csX7" fmla="*/ 780818 w 1411013"/>
              <a:gd name="csY7" fmla="*/ 778476 h 1001137"/>
              <a:gd name="csX0" fmla="*/ 1361586 w 1361586"/>
              <a:gd name="csY0" fmla="*/ 173014 h 1001156"/>
              <a:gd name="csX1" fmla="*/ 1077380 w 1361586"/>
              <a:gd name="csY1" fmla="*/ 19 h 1001156"/>
              <a:gd name="csX2" fmla="*/ 756105 w 1361586"/>
              <a:gd name="csY2" fmla="*/ 160657 h 1001156"/>
              <a:gd name="csX3" fmla="*/ 484255 w 1361586"/>
              <a:gd name="csY3" fmla="*/ 12377 h 1001156"/>
              <a:gd name="csX4" fmla="*/ 51770 w 1361586"/>
              <a:gd name="csY4" fmla="*/ 247154 h 1001156"/>
              <a:gd name="csX5" fmla="*/ 51769 w 1361586"/>
              <a:gd name="csY5" fmla="*/ 741425 h 1001156"/>
              <a:gd name="csX6" fmla="*/ 447186 w 1361586"/>
              <a:gd name="csY6" fmla="*/ 1000917 h 1001156"/>
              <a:gd name="csX7" fmla="*/ 780818 w 1361586"/>
              <a:gd name="csY7" fmla="*/ 778495 h 1001156"/>
              <a:gd name="csX0" fmla="*/ 1361586 w 1361586"/>
              <a:gd name="csY0" fmla="*/ 173014 h 1001756"/>
              <a:gd name="csX1" fmla="*/ 1077380 w 1361586"/>
              <a:gd name="csY1" fmla="*/ 19 h 1001756"/>
              <a:gd name="csX2" fmla="*/ 756105 w 1361586"/>
              <a:gd name="csY2" fmla="*/ 160657 h 1001756"/>
              <a:gd name="csX3" fmla="*/ 484255 w 1361586"/>
              <a:gd name="csY3" fmla="*/ 12377 h 1001756"/>
              <a:gd name="csX4" fmla="*/ 51770 w 1361586"/>
              <a:gd name="csY4" fmla="*/ 247154 h 1001756"/>
              <a:gd name="csX5" fmla="*/ 51769 w 1361586"/>
              <a:gd name="csY5" fmla="*/ 741425 h 1001756"/>
              <a:gd name="csX6" fmla="*/ 447186 w 1361586"/>
              <a:gd name="csY6" fmla="*/ 1000917 h 1001756"/>
              <a:gd name="csX7" fmla="*/ 707471 w 1361586"/>
              <a:gd name="csY7" fmla="*/ 866512 h 1001756"/>
              <a:gd name="csX0" fmla="*/ 1361586 w 1361586"/>
              <a:gd name="csY0" fmla="*/ 173014 h 1001756"/>
              <a:gd name="csX1" fmla="*/ 1077380 w 1361586"/>
              <a:gd name="csY1" fmla="*/ 19 h 1001756"/>
              <a:gd name="csX2" fmla="*/ 756105 w 1361586"/>
              <a:gd name="csY2" fmla="*/ 160657 h 1001756"/>
              <a:gd name="csX3" fmla="*/ 484255 w 1361586"/>
              <a:gd name="csY3" fmla="*/ 12377 h 1001756"/>
              <a:gd name="csX4" fmla="*/ 51770 w 1361586"/>
              <a:gd name="csY4" fmla="*/ 247154 h 1001756"/>
              <a:gd name="csX5" fmla="*/ 51769 w 1361586"/>
              <a:gd name="csY5" fmla="*/ 741425 h 1001756"/>
              <a:gd name="csX6" fmla="*/ 447186 w 1361586"/>
              <a:gd name="csY6" fmla="*/ 1000917 h 1001756"/>
              <a:gd name="csX7" fmla="*/ 707471 w 1361586"/>
              <a:gd name="csY7" fmla="*/ 866512 h 100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361586" h="1001756">
                <a:moveTo>
                  <a:pt x="1361586" y="173014"/>
                </a:moveTo>
                <a:cubicBezTo>
                  <a:pt x="1228750" y="42239"/>
                  <a:pt x="1178293" y="2078"/>
                  <a:pt x="1077380" y="19"/>
                </a:cubicBezTo>
                <a:cubicBezTo>
                  <a:pt x="976467" y="-2040"/>
                  <a:pt x="854959" y="158597"/>
                  <a:pt x="756105" y="160657"/>
                </a:cubicBezTo>
                <a:cubicBezTo>
                  <a:pt x="657251" y="162717"/>
                  <a:pt x="626357" y="22674"/>
                  <a:pt x="484255" y="12377"/>
                </a:cubicBezTo>
                <a:cubicBezTo>
                  <a:pt x="342153" y="2080"/>
                  <a:pt x="123851" y="125646"/>
                  <a:pt x="51770" y="247154"/>
                </a:cubicBezTo>
                <a:cubicBezTo>
                  <a:pt x="-20311" y="368662"/>
                  <a:pt x="-14134" y="615798"/>
                  <a:pt x="51769" y="741425"/>
                </a:cubicBezTo>
                <a:cubicBezTo>
                  <a:pt x="117672" y="867052"/>
                  <a:pt x="325678" y="994739"/>
                  <a:pt x="447186" y="1000917"/>
                </a:cubicBezTo>
                <a:cubicBezTo>
                  <a:pt x="568694" y="1007095"/>
                  <a:pt x="586739" y="980812"/>
                  <a:pt x="707471" y="866512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A9960D-444D-565E-950A-5801B766A865}"/>
              </a:ext>
            </a:extLst>
          </p:cNvPr>
          <p:cNvSpPr txBox="1"/>
          <p:nvPr/>
        </p:nvSpPr>
        <p:spPr>
          <a:xfrm>
            <a:off x="3388658" y="4610866"/>
            <a:ext cx="1489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COc</a:t>
            </a:r>
            <a:r>
              <a:rPr lang="en-US" dirty="0">
                <a:solidFill>
                  <a:srgbClr val="C00000"/>
                </a:solidFill>
              </a:rPr>
              <a:t>1</a:t>
            </a:r>
            <a:r>
              <a:rPr lang="en-US" dirty="0"/>
              <a:t>ccccc</a:t>
            </a:r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2C5F3E-C4A0-EECA-38F9-0B9491C2E58B}"/>
              </a:ext>
            </a:extLst>
          </p:cNvPr>
          <p:cNvSpPr txBox="1"/>
          <p:nvPr/>
        </p:nvSpPr>
        <p:spPr>
          <a:xfrm>
            <a:off x="2038374" y="4420116"/>
            <a:ext cx="315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96E305-6F68-438C-5CCA-0FAEC84FE350}"/>
              </a:ext>
            </a:extLst>
          </p:cNvPr>
          <p:cNvSpPr txBox="1"/>
          <p:nvPr/>
        </p:nvSpPr>
        <p:spPr>
          <a:xfrm>
            <a:off x="2121227" y="4977579"/>
            <a:ext cx="315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1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97CD80C-913C-F845-F052-4CA6B7331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937" y="4206376"/>
            <a:ext cx="806931" cy="113406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3383C6A-5FCC-879A-26F5-1066BA49BA2B}"/>
              </a:ext>
            </a:extLst>
          </p:cNvPr>
          <p:cNvSpPr txBox="1"/>
          <p:nvPr/>
        </p:nvSpPr>
        <p:spPr>
          <a:xfrm>
            <a:off x="7308537" y="4606986"/>
            <a:ext cx="3869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C1=C[CH]C=C1.C1=C[CH]C=C1.[Fe]</a:t>
            </a:r>
          </a:p>
        </p:txBody>
      </p:sp>
      <p:pic>
        <p:nvPicPr>
          <p:cNvPr id="32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8FC1B98B-C727-E392-FA3C-71F790153F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DB8C4A4-B3AC-604D-E8FF-C39A9FD93844}"/>
              </a:ext>
            </a:extLst>
          </p:cNvPr>
          <p:cNvSpPr txBox="1"/>
          <p:nvPr/>
        </p:nvSpPr>
        <p:spPr>
          <a:xfrm>
            <a:off x="6474" y="6149368"/>
            <a:ext cx="37785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Weininger, D. </a:t>
            </a:r>
            <a:r>
              <a:rPr lang="en-US" sz="1100" i="1" dirty="0"/>
              <a:t>J. Chem. Inf. </a:t>
            </a:r>
            <a:r>
              <a:rPr lang="en-US" sz="1100" i="1" dirty="0" err="1"/>
              <a:t>Comput</a:t>
            </a:r>
            <a:r>
              <a:rPr lang="en-US" sz="1100" i="1" dirty="0"/>
              <a:t>. Sci. </a:t>
            </a:r>
            <a:r>
              <a:rPr lang="en-US" sz="1100" b="1" dirty="0"/>
              <a:t>1988</a:t>
            </a:r>
            <a:r>
              <a:rPr lang="en-US" sz="1100" dirty="0"/>
              <a:t>, 28 (1), 31–36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C87D6-D618-CEC8-1BD4-0016388F6DFA}"/>
              </a:ext>
            </a:extLst>
          </p:cNvPr>
          <p:cNvGrpSpPr/>
          <p:nvPr/>
        </p:nvGrpSpPr>
        <p:grpSpPr>
          <a:xfrm>
            <a:off x="9328237" y="1118795"/>
            <a:ext cx="2712712" cy="2506437"/>
            <a:chOff x="9328237" y="1118795"/>
            <a:chExt cx="2712712" cy="2506437"/>
          </a:xfrm>
        </p:grpSpPr>
        <p:pic>
          <p:nvPicPr>
            <p:cNvPr id="34" name="Picture 33" descr="A computer graphics image. On the left is a ball and stick molecule model. In the middle is an orange fish, tail down, face up. On the right is a space-filling molecule model.">
              <a:extLst>
                <a:ext uri="{FF2B5EF4-FFF2-40B4-BE49-F238E27FC236}">
                  <a16:creationId xmlns:a16="http://schemas.microsoft.com/office/drawing/2014/main" id="{06581B78-60C0-77E5-B683-3EA5C5D8DB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33489" y="1727472"/>
              <a:ext cx="839840" cy="799528"/>
            </a:xfrm>
            <a:prstGeom prst="rect">
              <a:avLst/>
            </a:prstGeom>
          </p:spPr>
        </p:pic>
        <p:pic>
          <p:nvPicPr>
            <p:cNvPr id="35" name="Picture 34" descr="RDKit Logo">
              <a:extLst>
                <a:ext uri="{FF2B5EF4-FFF2-40B4-BE49-F238E27FC236}">
                  <a16:creationId xmlns:a16="http://schemas.microsoft.com/office/drawing/2014/main" id="{2B403460-2E9C-0306-BF52-6866992BB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521784" y="2639651"/>
              <a:ext cx="839840" cy="83984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E223A70-387F-398F-06FF-EF75AA3177CB}"/>
                </a:ext>
              </a:extLst>
            </p:cNvPr>
            <p:cNvSpPr txBox="1"/>
            <p:nvPr/>
          </p:nvSpPr>
          <p:spPr>
            <a:xfrm>
              <a:off x="10669772" y="1941346"/>
              <a:ext cx="13051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OpenBabel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7E1959E-B48F-980F-2B4E-3BA487A036B3}"/>
                </a:ext>
              </a:extLst>
            </p:cNvPr>
            <p:cNvSpPr txBox="1"/>
            <p:nvPr/>
          </p:nvSpPr>
          <p:spPr>
            <a:xfrm>
              <a:off x="10669772" y="2766821"/>
              <a:ext cx="7441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RDKit</a:t>
              </a:r>
              <a:endParaRPr 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D4D2F5-E04E-78B8-77CA-3A076A159A21}"/>
                </a:ext>
              </a:extLst>
            </p:cNvPr>
            <p:cNvSpPr txBox="1"/>
            <p:nvPr/>
          </p:nvSpPr>
          <p:spPr>
            <a:xfrm>
              <a:off x="9605245" y="1221035"/>
              <a:ext cx="22857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SMILES Manipulation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85256B42-535F-A21E-2D86-F408AFE24FEE}"/>
                </a:ext>
              </a:extLst>
            </p:cNvPr>
            <p:cNvSpPr/>
            <p:nvPr/>
          </p:nvSpPr>
          <p:spPr>
            <a:xfrm>
              <a:off x="9328237" y="1118795"/>
              <a:ext cx="2712712" cy="2506437"/>
            </a:xfrm>
            <a:prstGeom prst="roundRect">
              <a:avLst/>
            </a:prstGeom>
            <a:noFill/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4D718261-96D7-FA45-8D12-B0972ED2DDBA}"/>
              </a:ext>
            </a:extLst>
          </p:cNvPr>
          <p:cNvSpPr txBox="1"/>
          <p:nvPr/>
        </p:nvSpPr>
        <p:spPr>
          <a:xfrm>
            <a:off x="9974741" y="6006014"/>
            <a:ext cx="22188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dirty="0">
                <a:hlinkClick r:id="rId8"/>
              </a:rPr>
              <a:t>https://openbabel.org/index.html</a:t>
            </a:r>
          </a:p>
          <a:p>
            <a:pPr algn="r"/>
            <a:r>
              <a:rPr lang="en-US" sz="1100" dirty="0">
                <a:hlinkClick r:id="rId8"/>
              </a:rPr>
              <a:t>https://www.rdkit.org/</a:t>
            </a:r>
            <a:endParaRPr lang="en-US" sz="11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3A1A80B-9E07-E2B8-3F29-FDDA990DA99C}"/>
              </a:ext>
            </a:extLst>
          </p:cNvPr>
          <p:cNvCxnSpPr>
            <a:cxnSpLocks/>
          </p:cNvCxnSpPr>
          <p:nvPr/>
        </p:nvCxnSpPr>
        <p:spPr>
          <a:xfrm>
            <a:off x="6580628" y="2436642"/>
            <a:ext cx="0" cy="482496"/>
          </a:xfrm>
          <a:prstGeom prst="straightConnector1">
            <a:avLst/>
          </a:prstGeom>
          <a:ln>
            <a:solidFill>
              <a:srgbClr val="C00000"/>
            </a:solidFill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D40A55F-F29B-9307-BBB6-757AD9202844}"/>
              </a:ext>
            </a:extLst>
          </p:cNvPr>
          <p:cNvCxnSpPr>
            <a:cxnSpLocks/>
          </p:cNvCxnSpPr>
          <p:nvPr/>
        </p:nvCxnSpPr>
        <p:spPr>
          <a:xfrm>
            <a:off x="2264026" y="4508275"/>
            <a:ext cx="0" cy="482496"/>
          </a:xfrm>
          <a:prstGeom prst="straightConnector1">
            <a:avLst/>
          </a:prstGeom>
          <a:ln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42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/>
      <p:bldP spid="25" grpId="0" animBg="1"/>
      <p:bldP spid="26" grpId="0"/>
      <p:bldP spid="27" grpId="0"/>
      <p:bldP spid="28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B07A5-8868-EAA5-381C-310CC4AD3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AA25C1-9609-FDEF-42FE-D9F03771C85E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String base representations for small molecules: beyond SMILES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B8A24F-5574-D8B2-67AA-0E448232DC39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8101A4-E666-C2A3-D164-EE39B1CF8D4D}"/>
              </a:ext>
            </a:extLst>
          </p:cNvPr>
          <p:cNvSpPr txBox="1"/>
          <p:nvPr/>
        </p:nvSpPr>
        <p:spPr>
          <a:xfrm>
            <a:off x="6449005" y="17527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DC8F8122-5390-1A65-261F-B836EA82A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94F399-7424-6D1C-AE3D-B22771022875}"/>
              </a:ext>
            </a:extLst>
          </p:cNvPr>
          <p:cNvSpPr txBox="1"/>
          <p:nvPr/>
        </p:nvSpPr>
        <p:spPr>
          <a:xfrm>
            <a:off x="-7815" y="5995443"/>
            <a:ext cx="68515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Krenn, M.; </a:t>
            </a:r>
            <a:r>
              <a:rPr lang="en-US" sz="1100" dirty="0" err="1"/>
              <a:t>Häse</a:t>
            </a:r>
            <a:r>
              <a:rPr lang="en-US" sz="1100" dirty="0"/>
              <a:t>, F.; Nigam, A.; Friederich, P.; </a:t>
            </a:r>
            <a:r>
              <a:rPr lang="en-US" sz="1100" dirty="0" err="1"/>
              <a:t>Aspuru</a:t>
            </a:r>
            <a:r>
              <a:rPr lang="en-US" sz="1100" dirty="0"/>
              <a:t>-Guzik, A. </a:t>
            </a:r>
            <a:r>
              <a:rPr lang="en-US" sz="1100" i="1" dirty="0"/>
              <a:t>Mach. Learn.: Sci. Technol. </a:t>
            </a:r>
            <a:r>
              <a:rPr lang="en-US" sz="1100" b="1" dirty="0"/>
              <a:t>2020</a:t>
            </a:r>
            <a:r>
              <a:rPr lang="en-US" sz="1100" dirty="0"/>
              <a:t>, 1 (4), 045024.</a:t>
            </a:r>
          </a:p>
          <a:p>
            <a:r>
              <a:rPr lang="en-US" sz="1100" dirty="0">
                <a:hlinkClick r:id="rId3"/>
              </a:rPr>
              <a:t>https://pubchem.ncbi.nlm.nih.gov/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2B3F70-6408-D4B5-F7A9-D413434B1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96" y="1117600"/>
            <a:ext cx="5549900" cy="4622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739DF2-0DB8-AC6C-7EE8-4FD320634F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30" t="58183"/>
          <a:stretch>
            <a:fillRect/>
          </a:stretch>
        </p:blipFill>
        <p:spPr>
          <a:xfrm>
            <a:off x="7555566" y="3342274"/>
            <a:ext cx="3987902" cy="2171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9AD35B-0666-44C1-5156-79BA99AB19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5" r="50145" b="66789"/>
          <a:stretch>
            <a:fillRect/>
          </a:stretch>
        </p:blipFill>
        <p:spPr>
          <a:xfrm>
            <a:off x="7555566" y="1280519"/>
            <a:ext cx="2067340" cy="171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79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62479-C3D0-2A89-7976-AC0DF641E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FA0F8E-FD48-4C3B-3D71-C311608AA412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String base representations beyond small molecules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A5CA4E-75A5-BCAA-4E4C-7D2C581123B2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4D8C30-E02C-4937-B8B0-45CE8B135119}"/>
              </a:ext>
            </a:extLst>
          </p:cNvPr>
          <p:cNvSpPr txBox="1"/>
          <p:nvPr/>
        </p:nvSpPr>
        <p:spPr>
          <a:xfrm>
            <a:off x="6449005" y="17527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B435D11D-7B6B-A058-63D3-437640A86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919155-DAC4-A4A3-5F47-7FB8C23B3913}"/>
              </a:ext>
            </a:extLst>
          </p:cNvPr>
          <p:cNvSpPr txBox="1"/>
          <p:nvPr/>
        </p:nvSpPr>
        <p:spPr>
          <a:xfrm>
            <a:off x="0" y="6150180"/>
            <a:ext cx="12285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Krenn, M. et al. </a:t>
            </a:r>
            <a:r>
              <a:rPr lang="en-US" sz="1100" i="1" dirty="0"/>
              <a:t>Patterns</a:t>
            </a:r>
            <a:r>
              <a:rPr lang="en-US" sz="1100" dirty="0"/>
              <a:t> </a:t>
            </a:r>
            <a:r>
              <a:rPr lang="en-US" sz="1100" b="1" dirty="0"/>
              <a:t>2022</a:t>
            </a:r>
            <a:r>
              <a:rPr lang="en-US" sz="1100" dirty="0"/>
              <a:t>, 3 (10), 100588.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93D3675-997C-BEE2-F9BD-2D53B7FC6549}"/>
              </a:ext>
            </a:extLst>
          </p:cNvPr>
          <p:cNvGrpSpPr/>
          <p:nvPr/>
        </p:nvGrpSpPr>
        <p:grpSpPr>
          <a:xfrm>
            <a:off x="1008997" y="1087818"/>
            <a:ext cx="5123793" cy="2412124"/>
            <a:chOff x="283779" y="1119350"/>
            <a:chExt cx="5123793" cy="241212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7266A3D-5581-FF9F-E28B-077442FAEE3F}"/>
                </a:ext>
              </a:extLst>
            </p:cNvPr>
            <p:cNvGrpSpPr/>
            <p:nvPr/>
          </p:nvGrpSpPr>
          <p:grpSpPr>
            <a:xfrm>
              <a:off x="1055369" y="1143543"/>
              <a:ext cx="3665339" cy="2159912"/>
              <a:chOff x="554327" y="1224643"/>
              <a:chExt cx="3665339" cy="215991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4592D7-E6DA-9753-6937-D10CC5A1F232}"/>
                  </a:ext>
                </a:extLst>
              </p:cNvPr>
              <p:cNvSpPr txBox="1"/>
              <p:nvPr/>
            </p:nvSpPr>
            <p:spPr>
              <a:xfrm>
                <a:off x="1159032" y="1224643"/>
                <a:ext cx="24559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/>
                  <a:t>Polymers (</a:t>
                </a:r>
                <a:r>
                  <a:rPr lang="en-US" b="1" dirty="0" err="1"/>
                  <a:t>BigSMILES</a:t>
                </a:r>
                <a:r>
                  <a:rPr lang="en-US" b="1" dirty="0"/>
                  <a:t>)</a:t>
                </a: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D07F5A37-3668-199C-4C84-27EEBE6C7A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4327" y="1881419"/>
                <a:ext cx="3665339" cy="1503136"/>
              </a:xfrm>
              <a:prstGeom prst="rect">
                <a:avLst/>
              </a:prstGeom>
            </p:spPr>
          </p:pic>
        </p:grp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3DB42E1-D99B-2883-7CFB-BDFF4ADF7FC1}"/>
                </a:ext>
              </a:extLst>
            </p:cNvPr>
            <p:cNvSpPr/>
            <p:nvPr/>
          </p:nvSpPr>
          <p:spPr>
            <a:xfrm>
              <a:off x="283779" y="1119350"/>
              <a:ext cx="5123793" cy="2412124"/>
            </a:xfrm>
            <a:prstGeom prst="roundRect">
              <a:avLst>
                <a:gd name="adj" fmla="val 2288"/>
              </a:avLst>
            </a:prstGeom>
            <a:noFill/>
            <a:ln w="317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E91F5B0-803B-133C-E83E-132E5520D914}"/>
              </a:ext>
            </a:extLst>
          </p:cNvPr>
          <p:cNvGrpSpPr/>
          <p:nvPr/>
        </p:nvGrpSpPr>
        <p:grpSpPr>
          <a:xfrm>
            <a:off x="1003395" y="3638435"/>
            <a:ext cx="5123793" cy="2412124"/>
            <a:chOff x="278177" y="3669967"/>
            <a:chExt cx="5123793" cy="241212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546D859-DD2E-2B82-2A94-CA81567877B0}"/>
                </a:ext>
              </a:extLst>
            </p:cNvPr>
            <p:cNvGrpSpPr/>
            <p:nvPr/>
          </p:nvGrpSpPr>
          <p:grpSpPr>
            <a:xfrm>
              <a:off x="471717" y="3692939"/>
              <a:ext cx="4640705" cy="2294096"/>
              <a:chOff x="455951" y="3692939"/>
              <a:chExt cx="4640705" cy="2294096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CFFC228-5F63-8421-CAF8-17DFD8681E1F}"/>
                  </a:ext>
                </a:extLst>
              </p:cNvPr>
              <p:cNvSpPr txBox="1"/>
              <p:nvPr/>
            </p:nvSpPr>
            <p:spPr>
              <a:xfrm>
                <a:off x="1850985" y="3692939"/>
                <a:ext cx="18506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/>
                  <a:t>Proteins (HELM)</a:t>
                </a:r>
              </a:p>
            </p:txBody>
          </p: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DA6B0BF7-6412-3E9F-4A3B-43C23F468E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5951" y="4163918"/>
                <a:ext cx="4640705" cy="1333027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C2E9A19-7DB7-5165-98FA-0FBDA68B02C1}"/>
                  </a:ext>
                </a:extLst>
              </p:cNvPr>
              <p:cNvSpPr txBox="1"/>
              <p:nvPr/>
            </p:nvSpPr>
            <p:spPr>
              <a:xfrm>
                <a:off x="1191161" y="5611869"/>
                <a:ext cx="3170285" cy="3751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0" i="0" u="none" strike="noStrike" dirty="0">
                    <a:effectLst/>
                    <a:latin typeface="Aptos" panose="020B0004020202020204" pitchFamily="34" charset="0"/>
                  </a:rPr>
                  <a:t>A.R.G.[</a:t>
                </a:r>
                <a:r>
                  <a:rPr lang="en-US" b="0" i="0" u="none" strike="noStrike" dirty="0" err="1">
                    <a:effectLst/>
                    <a:latin typeface="Aptos" panose="020B0004020202020204" pitchFamily="34" charset="0"/>
                  </a:rPr>
                  <a:t>dF</a:t>
                </a:r>
                <a:r>
                  <a:rPr lang="en-US" b="0" i="0" u="none" strike="noStrike" dirty="0">
                    <a:effectLst/>
                    <a:latin typeface="Aptos" panose="020B0004020202020204" pitchFamily="34" charset="0"/>
                  </a:rPr>
                  <a:t>].C.K.[</a:t>
                </a:r>
                <a:r>
                  <a:rPr lang="en-US" b="0" i="0" u="none" strike="noStrike" dirty="0" err="1">
                    <a:effectLst/>
                    <a:latin typeface="Aptos" panose="020B0004020202020204" pitchFamily="34" charset="0"/>
                  </a:rPr>
                  <a:t>ahA</a:t>
                </a:r>
                <a:r>
                  <a:rPr lang="en-US" b="0" i="0" u="none" strike="noStrike" dirty="0">
                    <a:effectLst/>
                    <a:latin typeface="Aptos" panose="020B0004020202020204" pitchFamily="34" charset="0"/>
                  </a:rPr>
                  <a:t>].E.D.A</a:t>
                </a:r>
                <a:endParaRPr lang="en-US" dirty="0"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DF231D9-025B-650C-2D93-61A8C2C2B6B5}"/>
                </a:ext>
              </a:extLst>
            </p:cNvPr>
            <p:cNvSpPr/>
            <p:nvPr/>
          </p:nvSpPr>
          <p:spPr>
            <a:xfrm>
              <a:off x="278177" y="3669967"/>
              <a:ext cx="5123793" cy="2412124"/>
            </a:xfrm>
            <a:prstGeom prst="roundRect">
              <a:avLst>
                <a:gd name="adj" fmla="val 2288"/>
              </a:avLst>
            </a:prstGeom>
            <a:noFill/>
            <a:ln w="317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EB66377-3EAA-2C6C-A62F-C5F76319FB3B}"/>
              </a:ext>
            </a:extLst>
          </p:cNvPr>
          <p:cNvGrpSpPr/>
          <p:nvPr/>
        </p:nvGrpSpPr>
        <p:grpSpPr>
          <a:xfrm>
            <a:off x="6374676" y="2622697"/>
            <a:ext cx="5123793" cy="3427862"/>
            <a:chOff x="6374676" y="2622697"/>
            <a:chExt cx="5123793" cy="342786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DA8442-1A17-E0FA-B989-AB07FB388BC9}"/>
                </a:ext>
              </a:extLst>
            </p:cNvPr>
            <p:cNvSpPr txBox="1"/>
            <p:nvPr/>
          </p:nvSpPr>
          <p:spPr>
            <a:xfrm>
              <a:off x="8367355" y="2622697"/>
              <a:ext cx="1233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Reactions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8E81284-C547-A5A1-E72F-2AC33BCEF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3176"/>
            <a:stretch>
              <a:fillRect/>
            </a:stretch>
          </p:blipFill>
          <p:spPr>
            <a:xfrm>
              <a:off x="6986686" y="2965521"/>
              <a:ext cx="4025900" cy="3037279"/>
            </a:xfrm>
            <a:prstGeom prst="rect">
              <a:avLst/>
            </a:prstGeom>
          </p:spPr>
        </p:pic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4999887C-5E50-381F-D074-75F8FD16E475}"/>
                </a:ext>
              </a:extLst>
            </p:cNvPr>
            <p:cNvSpPr/>
            <p:nvPr/>
          </p:nvSpPr>
          <p:spPr>
            <a:xfrm>
              <a:off x="6374676" y="2622697"/>
              <a:ext cx="5123793" cy="3427862"/>
            </a:xfrm>
            <a:prstGeom prst="roundRect">
              <a:avLst>
                <a:gd name="adj" fmla="val 2288"/>
              </a:avLst>
            </a:prstGeom>
            <a:noFill/>
            <a:ln w="317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DAE08B9-1B81-29F6-5F2C-33069D9FAE7A}"/>
              </a:ext>
            </a:extLst>
          </p:cNvPr>
          <p:cNvGrpSpPr/>
          <p:nvPr/>
        </p:nvGrpSpPr>
        <p:grpSpPr>
          <a:xfrm>
            <a:off x="6369074" y="1087818"/>
            <a:ext cx="5123793" cy="1435258"/>
            <a:chOff x="6369074" y="1087818"/>
            <a:chExt cx="5123793" cy="143525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98A903-D854-99B7-CC6A-2C7C572EA8A6}"/>
                </a:ext>
              </a:extLst>
            </p:cNvPr>
            <p:cNvSpPr txBox="1"/>
            <p:nvPr/>
          </p:nvSpPr>
          <p:spPr>
            <a:xfrm>
              <a:off x="8290915" y="1102919"/>
              <a:ext cx="11694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Materials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1991E918-6295-F4DE-B368-8B1A9AFC1844}"/>
                </a:ext>
              </a:extLst>
            </p:cNvPr>
            <p:cNvSpPr/>
            <p:nvPr/>
          </p:nvSpPr>
          <p:spPr>
            <a:xfrm>
              <a:off x="6369074" y="1087818"/>
              <a:ext cx="5123793" cy="1435258"/>
            </a:xfrm>
            <a:prstGeom prst="roundRect">
              <a:avLst>
                <a:gd name="adj" fmla="val 2288"/>
              </a:avLst>
            </a:prstGeom>
            <a:noFill/>
            <a:ln w="317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E94EF50-A7E9-E0FB-98CC-F17FD39DB5F6}"/>
                </a:ext>
              </a:extLst>
            </p:cNvPr>
            <p:cNvSpPr txBox="1"/>
            <p:nvPr/>
          </p:nvSpPr>
          <p:spPr>
            <a:xfrm>
              <a:off x="6410905" y="1481343"/>
              <a:ext cx="504386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SLICES (Simplified Line-Input Crystal-Encoding System)</a:t>
              </a:r>
            </a:p>
            <a:p>
              <a:r>
                <a:rPr lang="en-US" dirty="0"/>
                <a:t>Wyckoff-position strings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551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659A8-F022-F456-0481-7F63BFFD1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A4F709-9B36-FA1A-0D21-1ACEBC7D0CB3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Ongoing issues with string based representations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507CCA-DF38-FE93-24B9-CE4026C38D99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C30ED-C7F7-7BE9-CA0B-0B9387121E08}"/>
              </a:ext>
            </a:extLst>
          </p:cNvPr>
          <p:cNvSpPr txBox="1"/>
          <p:nvPr/>
        </p:nvSpPr>
        <p:spPr>
          <a:xfrm>
            <a:off x="6449005" y="17527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09FE8F9A-AF9C-4C3A-C1AB-BFBCD1517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C00849-B985-5A28-04C3-9C00D3080D5A}"/>
              </a:ext>
            </a:extLst>
          </p:cNvPr>
          <p:cNvSpPr txBox="1"/>
          <p:nvPr/>
        </p:nvSpPr>
        <p:spPr>
          <a:xfrm>
            <a:off x="0" y="6150180"/>
            <a:ext cx="122857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Krenn, M. et al. </a:t>
            </a:r>
            <a:r>
              <a:rPr lang="en-US" sz="1100" i="1" dirty="0"/>
              <a:t>Patterns</a:t>
            </a:r>
            <a:r>
              <a:rPr lang="en-US" sz="1100" dirty="0"/>
              <a:t> </a:t>
            </a:r>
            <a:r>
              <a:rPr lang="en-US" sz="1100" b="1" dirty="0"/>
              <a:t>2022</a:t>
            </a:r>
            <a:r>
              <a:rPr lang="en-US" sz="1100" dirty="0"/>
              <a:t>, 3 (10), 100588.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8BADCC4-8DA6-0613-1EFF-8C434CAFBCE3}"/>
              </a:ext>
            </a:extLst>
          </p:cNvPr>
          <p:cNvGrpSpPr/>
          <p:nvPr/>
        </p:nvGrpSpPr>
        <p:grpSpPr>
          <a:xfrm>
            <a:off x="6788707" y="1205802"/>
            <a:ext cx="4025900" cy="3196355"/>
            <a:chOff x="6788707" y="1205802"/>
            <a:chExt cx="4025900" cy="319635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BCDF276-047A-911F-8819-E6189020B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8707" y="2065357"/>
              <a:ext cx="4025900" cy="23368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F5E4BD1-7DC7-156B-9943-D40A9C9389DC}"/>
                </a:ext>
              </a:extLst>
            </p:cNvPr>
            <p:cNvSpPr txBox="1"/>
            <p:nvPr/>
          </p:nvSpPr>
          <p:spPr>
            <a:xfrm>
              <a:off x="8258079" y="1205802"/>
              <a:ext cx="10871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Hapticity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7E20643-819F-0FEA-6FA6-AB2DF08C3BA6}"/>
              </a:ext>
            </a:extLst>
          </p:cNvPr>
          <p:cNvSpPr txBox="1"/>
          <p:nvPr/>
        </p:nvSpPr>
        <p:spPr>
          <a:xfrm>
            <a:off x="2579919" y="5329032"/>
            <a:ext cx="65762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Be aware of representation limitations!</a:t>
            </a:r>
          </a:p>
          <a:p>
            <a:pPr algn="ctr"/>
            <a:r>
              <a:rPr lang="en-US" b="1" dirty="0"/>
              <a:t>Which information is/is not captured in my representation?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D561FDF-09EE-E067-8863-DA44FF31C0E0}"/>
              </a:ext>
            </a:extLst>
          </p:cNvPr>
          <p:cNvGrpSpPr/>
          <p:nvPr/>
        </p:nvGrpSpPr>
        <p:grpSpPr>
          <a:xfrm>
            <a:off x="821168" y="1240972"/>
            <a:ext cx="4821966" cy="3810993"/>
            <a:chOff x="821168" y="1205802"/>
            <a:chExt cx="4821966" cy="381099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78F9D40-D13E-32BA-7F1D-BCD093B87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6139" y="1689537"/>
              <a:ext cx="4666995" cy="332725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21AA96F-B2A6-EF77-2AB5-3524AB25D25A}"/>
                </a:ext>
              </a:extLst>
            </p:cNvPr>
            <p:cNvSpPr txBox="1"/>
            <p:nvPr/>
          </p:nvSpPr>
          <p:spPr>
            <a:xfrm>
              <a:off x="2493612" y="1205802"/>
              <a:ext cx="16320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Stereoisomers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55ADEF9-BD85-A9D7-127F-4C9D926DB59D}"/>
                </a:ext>
              </a:extLst>
            </p:cNvPr>
            <p:cNvSpPr/>
            <p:nvPr/>
          </p:nvSpPr>
          <p:spPr>
            <a:xfrm>
              <a:off x="821168" y="1573148"/>
              <a:ext cx="351693" cy="3591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9B16DA6-5A6B-8703-5365-D3162B05A391}"/>
                </a:ext>
              </a:extLst>
            </p:cNvPr>
            <p:cNvSpPr/>
            <p:nvPr/>
          </p:nvSpPr>
          <p:spPr>
            <a:xfrm>
              <a:off x="2662534" y="1551666"/>
              <a:ext cx="351693" cy="3591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3D4FA3D-EA85-11D0-44D2-EA32E2A7A879}"/>
                </a:ext>
              </a:extLst>
            </p:cNvPr>
            <p:cNvSpPr/>
            <p:nvPr/>
          </p:nvSpPr>
          <p:spPr>
            <a:xfrm>
              <a:off x="863595" y="3423117"/>
              <a:ext cx="351693" cy="3591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406E525-954C-400C-D350-2D6552B59F0D}"/>
                </a:ext>
              </a:extLst>
            </p:cNvPr>
            <p:cNvSpPr/>
            <p:nvPr/>
          </p:nvSpPr>
          <p:spPr>
            <a:xfrm>
              <a:off x="2662534" y="3365059"/>
              <a:ext cx="351693" cy="3591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CE984310-8689-072F-2324-77F2462F7F47}"/>
              </a:ext>
            </a:extLst>
          </p:cNvPr>
          <p:cNvSpPr/>
          <p:nvPr/>
        </p:nvSpPr>
        <p:spPr>
          <a:xfrm>
            <a:off x="6701075" y="3063943"/>
            <a:ext cx="351693" cy="3591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ED614E0-A6A1-3994-57C0-2C0D5A69C1EC}"/>
              </a:ext>
            </a:extLst>
          </p:cNvPr>
          <p:cNvSpPr/>
          <p:nvPr/>
        </p:nvSpPr>
        <p:spPr>
          <a:xfrm>
            <a:off x="6635073" y="1862790"/>
            <a:ext cx="351693" cy="3591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3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B07D2-121D-82CF-B8E0-B05B2373A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CE9145-38BE-0128-D2CD-77B63B93AE2A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From String Based Representation to Numeric Representations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819A6E-317D-525F-7059-8870BCA4ECA0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C700C1-C697-5B12-D0F0-DC6FFD667904}"/>
              </a:ext>
            </a:extLst>
          </p:cNvPr>
          <p:cNvSpPr txBox="1"/>
          <p:nvPr/>
        </p:nvSpPr>
        <p:spPr>
          <a:xfrm>
            <a:off x="18288" y="6142418"/>
            <a:ext cx="151242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Wigh, D. S.; Goodman, J. M.; Lapkin, A. A. </a:t>
            </a:r>
            <a:r>
              <a:rPr lang="en-US" sz="1100" i="1" dirty="0"/>
              <a:t>WIREs </a:t>
            </a:r>
            <a:r>
              <a:rPr lang="en-US" sz="1100" i="1" dirty="0" err="1"/>
              <a:t>Comput</a:t>
            </a:r>
            <a:r>
              <a:rPr lang="en-US" sz="1100" i="1" dirty="0"/>
              <a:t> Mol Sci </a:t>
            </a:r>
            <a:r>
              <a:rPr lang="en-US" sz="1100" b="1" dirty="0"/>
              <a:t>2022</a:t>
            </a:r>
            <a:r>
              <a:rPr lang="en-US" sz="1100" dirty="0"/>
              <a:t>, 12 (5).</a:t>
            </a:r>
          </a:p>
        </p:txBody>
      </p:sp>
      <p:pic>
        <p:nvPicPr>
          <p:cNvPr id="4" name="Picture 3" descr="Details are in the caption following the image">
            <a:extLst>
              <a:ext uri="{FF2B5EF4-FFF2-40B4-BE49-F238E27FC236}">
                <a16:creationId xmlns:a16="http://schemas.microsoft.com/office/drawing/2014/main" id="{0289E0B1-719F-0BCB-28F9-9BD875CDA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706"/>
          <a:stretch>
            <a:fillRect/>
          </a:stretch>
        </p:blipFill>
        <p:spPr>
          <a:xfrm>
            <a:off x="1542615" y="1835274"/>
            <a:ext cx="8976141" cy="1682593"/>
          </a:xfrm>
          <a:prstGeom prst="rect">
            <a:avLst/>
          </a:prstGeom>
        </p:spPr>
      </p:pic>
      <p:pic>
        <p:nvPicPr>
          <p:cNvPr id="9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A7744E4F-C5E2-B078-0F1A-9DECCFE6B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79575A-A5F9-441B-C7C5-FA52B9D84342}"/>
              </a:ext>
            </a:extLst>
          </p:cNvPr>
          <p:cNvSpPr/>
          <p:nvPr/>
        </p:nvSpPr>
        <p:spPr>
          <a:xfrm>
            <a:off x="2074398" y="2774917"/>
            <a:ext cx="506186" cy="742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785447-E39E-1C5F-4C30-9F604C885703}"/>
              </a:ext>
            </a:extLst>
          </p:cNvPr>
          <p:cNvSpPr/>
          <p:nvPr/>
        </p:nvSpPr>
        <p:spPr>
          <a:xfrm>
            <a:off x="4115370" y="2793205"/>
            <a:ext cx="506186" cy="742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0E5B07-EB0A-D6BE-0635-0B1BFC38062C}"/>
              </a:ext>
            </a:extLst>
          </p:cNvPr>
          <p:cNvSpPr/>
          <p:nvPr/>
        </p:nvSpPr>
        <p:spPr>
          <a:xfrm>
            <a:off x="4883117" y="3514932"/>
            <a:ext cx="5475441" cy="795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2ACE6875-7614-3FC4-8122-9ED3CD2284B5}"/>
              </a:ext>
            </a:extLst>
          </p:cNvPr>
          <p:cNvSpPr/>
          <p:nvPr/>
        </p:nvSpPr>
        <p:spPr>
          <a:xfrm rot="10339093">
            <a:off x="3356155" y="3033033"/>
            <a:ext cx="3773120" cy="435543"/>
          </a:xfrm>
          <a:custGeom>
            <a:avLst/>
            <a:gdLst>
              <a:gd name="csX0" fmla="*/ 1886560 w 3773120"/>
              <a:gd name="csY0" fmla="*/ 0 h 435543"/>
              <a:gd name="csX1" fmla="*/ 3773120 w 3773120"/>
              <a:gd name="csY1" fmla="*/ 217772 h 435543"/>
              <a:gd name="csX2" fmla="*/ 3282614 w 3773120"/>
              <a:gd name="csY2" fmla="*/ 217772 h 435543"/>
              <a:gd name="csX3" fmla="*/ 2867571 w 3773120"/>
              <a:gd name="csY3" fmla="*/ 217772 h 435543"/>
              <a:gd name="csX4" fmla="*/ 2395931 w 3773120"/>
              <a:gd name="csY4" fmla="*/ 217772 h 435543"/>
              <a:gd name="csX5" fmla="*/ 1886560 w 3773120"/>
              <a:gd name="csY5" fmla="*/ 217772 h 435543"/>
              <a:gd name="csX6" fmla="*/ 1886560 w 3773120"/>
              <a:gd name="csY6" fmla="*/ 0 h 435543"/>
              <a:gd name="csX0" fmla="*/ 1886560 w 3773120"/>
              <a:gd name="csY0" fmla="*/ 0 h 435543"/>
              <a:gd name="csX1" fmla="*/ 3773120 w 3773120"/>
              <a:gd name="csY1" fmla="*/ 217772 h 435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73120" h="435543" stroke="0" extrusionOk="0">
                <a:moveTo>
                  <a:pt x="1886560" y="0"/>
                </a:moveTo>
                <a:cubicBezTo>
                  <a:pt x="2930177" y="-12781"/>
                  <a:pt x="3791740" y="112499"/>
                  <a:pt x="3773120" y="217772"/>
                </a:cubicBezTo>
                <a:cubicBezTo>
                  <a:pt x="3556117" y="236778"/>
                  <a:pt x="3403255" y="213481"/>
                  <a:pt x="3282614" y="217772"/>
                </a:cubicBezTo>
                <a:cubicBezTo>
                  <a:pt x="3161973" y="222063"/>
                  <a:pt x="3024773" y="173171"/>
                  <a:pt x="2867571" y="217772"/>
                </a:cubicBezTo>
                <a:cubicBezTo>
                  <a:pt x="2710369" y="262373"/>
                  <a:pt x="2552368" y="195323"/>
                  <a:pt x="2395931" y="217772"/>
                </a:cubicBezTo>
                <a:cubicBezTo>
                  <a:pt x="2239494" y="240221"/>
                  <a:pt x="2021673" y="210001"/>
                  <a:pt x="1886560" y="217772"/>
                </a:cubicBezTo>
                <a:cubicBezTo>
                  <a:pt x="1861575" y="111693"/>
                  <a:pt x="1892459" y="73396"/>
                  <a:pt x="1886560" y="0"/>
                </a:cubicBezTo>
                <a:close/>
              </a:path>
              <a:path w="3773120" h="435543" fill="none" extrusionOk="0">
                <a:moveTo>
                  <a:pt x="1886560" y="0"/>
                </a:moveTo>
                <a:cubicBezTo>
                  <a:pt x="2902059" y="5542"/>
                  <a:pt x="3768577" y="91019"/>
                  <a:pt x="3773120" y="217772"/>
                </a:cubicBezTo>
              </a:path>
              <a:path w="3773120" h="435543" fill="none" stroke="0" extrusionOk="0">
                <a:moveTo>
                  <a:pt x="1886560" y="0"/>
                </a:moveTo>
                <a:cubicBezTo>
                  <a:pt x="2943388" y="4011"/>
                  <a:pt x="3748269" y="109513"/>
                  <a:pt x="3773120" y="217772"/>
                </a:cubicBezTo>
              </a:path>
            </a:pathLst>
          </a:custGeom>
          <a:ln w="38100" cmpd="sng">
            <a:solidFill>
              <a:srgbClr val="C00000"/>
            </a:solidFill>
            <a:headEnd type="triangle" w="lg" len="lg"/>
            <a:tailEnd type="none" w="med" len="lg"/>
            <a:extLst>
              <a:ext uri="{C807C97D-BFC1-408E-A445-0C87EB9F89A2}">
                <ask:lineSketchStyleProps xmlns:ask="http://schemas.microsoft.com/office/drawing/2018/sketchyshapes" sd="4266498984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DECFA50D-CDA7-89D9-601F-74B339E5120F}"/>
              </a:ext>
            </a:extLst>
          </p:cNvPr>
          <p:cNvSpPr/>
          <p:nvPr/>
        </p:nvSpPr>
        <p:spPr>
          <a:xfrm rot="10287034">
            <a:off x="3329542" y="2414274"/>
            <a:ext cx="7294423" cy="1088879"/>
          </a:xfrm>
          <a:custGeom>
            <a:avLst/>
            <a:gdLst>
              <a:gd name="csX0" fmla="*/ 3647212 w 7294423"/>
              <a:gd name="csY0" fmla="*/ 0 h 1088879"/>
              <a:gd name="csX1" fmla="*/ 7294424 w 7294423"/>
              <a:gd name="csY1" fmla="*/ 544440 h 1088879"/>
              <a:gd name="csX2" fmla="*/ 6846338 w 7294423"/>
              <a:gd name="csY2" fmla="*/ 544440 h 1088879"/>
              <a:gd name="csX3" fmla="*/ 6434724 w 7294423"/>
              <a:gd name="csY3" fmla="*/ 544440 h 1088879"/>
              <a:gd name="csX4" fmla="*/ 5913694 w 7294423"/>
              <a:gd name="csY4" fmla="*/ 544440 h 1088879"/>
              <a:gd name="csX5" fmla="*/ 5392663 w 7294423"/>
              <a:gd name="csY5" fmla="*/ 544440 h 1088879"/>
              <a:gd name="csX6" fmla="*/ 4871633 w 7294423"/>
              <a:gd name="csY6" fmla="*/ 544440 h 1088879"/>
              <a:gd name="csX7" fmla="*/ 4460019 w 7294423"/>
              <a:gd name="csY7" fmla="*/ 544440 h 1088879"/>
              <a:gd name="csX8" fmla="*/ 3647212 w 7294423"/>
              <a:gd name="csY8" fmla="*/ 544440 h 1088879"/>
              <a:gd name="csX9" fmla="*/ 3647212 w 7294423"/>
              <a:gd name="csY9" fmla="*/ 0 h 1088879"/>
              <a:gd name="csX0" fmla="*/ 3647212 w 7294423"/>
              <a:gd name="csY0" fmla="*/ 0 h 1088879"/>
              <a:gd name="csX1" fmla="*/ 7294424 w 7294423"/>
              <a:gd name="csY1" fmla="*/ 544440 h 108887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94423" h="1088879" stroke="0" extrusionOk="0">
                <a:moveTo>
                  <a:pt x="3647212" y="0"/>
                </a:moveTo>
                <a:cubicBezTo>
                  <a:pt x="5572676" y="3800"/>
                  <a:pt x="7319606" y="268512"/>
                  <a:pt x="7294424" y="544440"/>
                </a:cubicBezTo>
                <a:cubicBezTo>
                  <a:pt x="7140085" y="586475"/>
                  <a:pt x="7059788" y="539712"/>
                  <a:pt x="6846338" y="544440"/>
                </a:cubicBezTo>
                <a:cubicBezTo>
                  <a:pt x="6632888" y="549168"/>
                  <a:pt x="6543932" y="530642"/>
                  <a:pt x="6434724" y="544440"/>
                </a:cubicBezTo>
                <a:cubicBezTo>
                  <a:pt x="6325516" y="558238"/>
                  <a:pt x="6024801" y="490351"/>
                  <a:pt x="5913694" y="544440"/>
                </a:cubicBezTo>
                <a:cubicBezTo>
                  <a:pt x="5802587" y="598529"/>
                  <a:pt x="5643833" y="524984"/>
                  <a:pt x="5392663" y="544440"/>
                </a:cubicBezTo>
                <a:cubicBezTo>
                  <a:pt x="5141493" y="563896"/>
                  <a:pt x="5030355" y="535916"/>
                  <a:pt x="4871633" y="544440"/>
                </a:cubicBezTo>
                <a:cubicBezTo>
                  <a:pt x="4712911" y="552964"/>
                  <a:pt x="4655618" y="497432"/>
                  <a:pt x="4460019" y="544440"/>
                </a:cubicBezTo>
                <a:cubicBezTo>
                  <a:pt x="4264420" y="591448"/>
                  <a:pt x="4037415" y="516451"/>
                  <a:pt x="3647212" y="544440"/>
                </a:cubicBezTo>
                <a:cubicBezTo>
                  <a:pt x="3625175" y="272501"/>
                  <a:pt x="3684006" y="210029"/>
                  <a:pt x="3647212" y="0"/>
                </a:cubicBezTo>
                <a:close/>
              </a:path>
              <a:path w="7294423" h="1088879" fill="none" extrusionOk="0">
                <a:moveTo>
                  <a:pt x="3647212" y="0"/>
                </a:moveTo>
                <a:cubicBezTo>
                  <a:pt x="5663615" y="15267"/>
                  <a:pt x="7308515" y="218435"/>
                  <a:pt x="7294424" y="544440"/>
                </a:cubicBezTo>
              </a:path>
              <a:path w="7294423" h="1088879" fill="none" stroke="0" extrusionOk="0">
                <a:moveTo>
                  <a:pt x="3647212" y="0"/>
                </a:moveTo>
                <a:cubicBezTo>
                  <a:pt x="5697159" y="28045"/>
                  <a:pt x="7334948" y="282547"/>
                  <a:pt x="7294424" y="544440"/>
                </a:cubicBezTo>
              </a:path>
            </a:pathLst>
          </a:custGeom>
          <a:ln w="38100" cmpd="sng">
            <a:solidFill>
              <a:srgbClr val="C00000"/>
            </a:solidFill>
            <a:headEnd type="triangle" w="lg" len="lg"/>
            <a:tailEnd type="none" w="med" len="lg"/>
            <a:extLst>
              <a:ext uri="{C807C97D-BFC1-408E-A445-0C87EB9F89A2}">
                <ask:lineSketchStyleProps xmlns:ask="http://schemas.microsoft.com/office/drawing/2018/sketchyshapes" sd="2650216993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CD19CD0A-F9A5-7D7E-9FEE-E243A26E1C37}"/>
              </a:ext>
            </a:extLst>
          </p:cNvPr>
          <p:cNvSpPr/>
          <p:nvPr/>
        </p:nvSpPr>
        <p:spPr>
          <a:xfrm rot="10333483">
            <a:off x="3337090" y="2057485"/>
            <a:ext cx="10983021" cy="1455366"/>
          </a:xfrm>
          <a:custGeom>
            <a:avLst/>
            <a:gdLst>
              <a:gd name="csX0" fmla="*/ 5491511 w 10983021"/>
              <a:gd name="csY0" fmla="*/ 0 h 1455366"/>
              <a:gd name="csX1" fmla="*/ 10983022 w 10983021"/>
              <a:gd name="csY1" fmla="*/ 727683 h 1455366"/>
              <a:gd name="csX2" fmla="*/ 10324041 w 10983021"/>
              <a:gd name="csY2" fmla="*/ 727683 h 1455366"/>
              <a:gd name="csX3" fmla="*/ 9829805 w 10983021"/>
              <a:gd name="csY3" fmla="*/ 727683 h 1455366"/>
              <a:gd name="csX4" fmla="*/ 9390484 w 10983021"/>
              <a:gd name="csY4" fmla="*/ 727683 h 1455366"/>
              <a:gd name="csX5" fmla="*/ 8786418 w 10983021"/>
              <a:gd name="csY5" fmla="*/ 727683 h 1455366"/>
              <a:gd name="csX6" fmla="*/ 8292182 w 10983021"/>
              <a:gd name="csY6" fmla="*/ 727683 h 1455366"/>
              <a:gd name="csX7" fmla="*/ 7633200 w 10983021"/>
              <a:gd name="csY7" fmla="*/ 727683 h 1455366"/>
              <a:gd name="csX8" fmla="*/ 7193879 w 10983021"/>
              <a:gd name="csY8" fmla="*/ 727683 h 1455366"/>
              <a:gd name="csX9" fmla="*/ 6534898 w 10983021"/>
              <a:gd name="csY9" fmla="*/ 727683 h 1455366"/>
              <a:gd name="csX10" fmla="*/ 6150492 w 10983021"/>
              <a:gd name="csY10" fmla="*/ 727683 h 1455366"/>
              <a:gd name="csX11" fmla="*/ 5491511 w 10983021"/>
              <a:gd name="csY11" fmla="*/ 727683 h 1455366"/>
              <a:gd name="csX12" fmla="*/ 5491511 w 10983021"/>
              <a:gd name="csY12" fmla="*/ 363842 h 1455366"/>
              <a:gd name="csX13" fmla="*/ 5491511 w 10983021"/>
              <a:gd name="csY13" fmla="*/ 0 h 1455366"/>
              <a:gd name="csX0" fmla="*/ 5491511 w 10983021"/>
              <a:gd name="csY0" fmla="*/ 0 h 1455366"/>
              <a:gd name="csX1" fmla="*/ 10983022 w 10983021"/>
              <a:gd name="csY1" fmla="*/ 727683 h 145536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983021" h="1455366" stroke="0" extrusionOk="0">
                <a:moveTo>
                  <a:pt x="5491511" y="0"/>
                </a:moveTo>
                <a:cubicBezTo>
                  <a:pt x="8481895" y="-26211"/>
                  <a:pt x="10959027" y="334801"/>
                  <a:pt x="10983022" y="727683"/>
                </a:cubicBezTo>
                <a:cubicBezTo>
                  <a:pt x="10686657" y="772090"/>
                  <a:pt x="10511697" y="689188"/>
                  <a:pt x="10324041" y="727683"/>
                </a:cubicBezTo>
                <a:cubicBezTo>
                  <a:pt x="10136385" y="766178"/>
                  <a:pt x="9947635" y="682514"/>
                  <a:pt x="9829805" y="727683"/>
                </a:cubicBezTo>
                <a:cubicBezTo>
                  <a:pt x="9711975" y="772852"/>
                  <a:pt x="9595913" y="696310"/>
                  <a:pt x="9390484" y="727683"/>
                </a:cubicBezTo>
                <a:cubicBezTo>
                  <a:pt x="9185055" y="759056"/>
                  <a:pt x="9044437" y="704470"/>
                  <a:pt x="8786418" y="727683"/>
                </a:cubicBezTo>
                <a:cubicBezTo>
                  <a:pt x="8528399" y="750896"/>
                  <a:pt x="8462528" y="715897"/>
                  <a:pt x="8292182" y="727683"/>
                </a:cubicBezTo>
                <a:cubicBezTo>
                  <a:pt x="8121836" y="739469"/>
                  <a:pt x="7776594" y="699562"/>
                  <a:pt x="7633200" y="727683"/>
                </a:cubicBezTo>
                <a:cubicBezTo>
                  <a:pt x="7489806" y="755804"/>
                  <a:pt x="7302147" y="700994"/>
                  <a:pt x="7193879" y="727683"/>
                </a:cubicBezTo>
                <a:cubicBezTo>
                  <a:pt x="7085611" y="754372"/>
                  <a:pt x="6749405" y="694800"/>
                  <a:pt x="6534898" y="727683"/>
                </a:cubicBezTo>
                <a:cubicBezTo>
                  <a:pt x="6320391" y="760566"/>
                  <a:pt x="6324523" y="719524"/>
                  <a:pt x="6150492" y="727683"/>
                </a:cubicBezTo>
                <a:cubicBezTo>
                  <a:pt x="5976461" y="735842"/>
                  <a:pt x="5659508" y="698127"/>
                  <a:pt x="5491511" y="727683"/>
                </a:cubicBezTo>
                <a:cubicBezTo>
                  <a:pt x="5485042" y="641602"/>
                  <a:pt x="5514572" y="536874"/>
                  <a:pt x="5491511" y="363842"/>
                </a:cubicBezTo>
                <a:cubicBezTo>
                  <a:pt x="5468450" y="190810"/>
                  <a:pt x="5506864" y="141437"/>
                  <a:pt x="5491511" y="0"/>
                </a:cubicBezTo>
                <a:close/>
              </a:path>
              <a:path w="10983021" h="1455366" fill="none" extrusionOk="0">
                <a:moveTo>
                  <a:pt x="5491511" y="0"/>
                </a:moveTo>
                <a:cubicBezTo>
                  <a:pt x="8512853" y="1894"/>
                  <a:pt x="10903327" y="270807"/>
                  <a:pt x="10983022" y="727683"/>
                </a:cubicBezTo>
              </a:path>
              <a:path w="10983021" h="1455366" fill="none" stroke="0" extrusionOk="0">
                <a:moveTo>
                  <a:pt x="5491511" y="0"/>
                </a:moveTo>
                <a:cubicBezTo>
                  <a:pt x="8582179" y="-50599"/>
                  <a:pt x="11005562" y="219773"/>
                  <a:pt x="10983022" y="727683"/>
                </a:cubicBezTo>
              </a:path>
            </a:pathLst>
          </a:custGeom>
          <a:ln w="38100" cmpd="sng">
            <a:solidFill>
              <a:srgbClr val="C00000"/>
            </a:solidFill>
            <a:headEnd type="triangle" w="lg" len="lg"/>
            <a:tailEnd type="none" w="med" len="lg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DAF04-9BAD-8700-07A7-C1F3D3CD1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58" y="1002012"/>
            <a:ext cx="2816450" cy="15719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26DC53-2BB8-EF0C-ACE2-021310608C75}"/>
              </a:ext>
            </a:extLst>
          </p:cNvPr>
          <p:cNvSpPr txBox="1"/>
          <p:nvPr/>
        </p:nvSpPr>
        <p:spPr>
          <a:xfrm>
            <a:off x="3343975" y="4237077"/>
            <a:ext cx="325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C00000"/>
                </a:solidFill>
              </a:rPr>
              <a:t>Numerisation</a:t>
            </a:r>
            <a:r>
              <a:rPr lang="en-US" dirty="0">
                <a:solidFill>
                  <a:srgbClr val="C00000"/>
                </a:solidFill>
              </a:rPr>
              <a:t>/Vectorization of the Information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4E3CD-FE1B-2EC8-406B-1864811628D4}"/>
              </a:ext>
            </a:extLst>
          </p:cNvPr>
          <p:cNvSpPr txBox="1"/>
          <p:nvPr/>
        </p:nvSpPr>
        <p:spPr>
          <a:xfrm>
            <a:off x="1805787" y="5328247"/>
            <a:ext cx="8580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the literature descriptors or features are both used for “numerical representations”</a:t>
            </a:r>
          </a:p>
        </p:txBody>
      </p:sp>
    </p:spTree>
    <p:extLst>
      <p:ext uri="{BB962C8B-B14F-4D97-AF65-F5344CB8AC3E}">
        <p14:creationId xmlns:p14="http://schemas.microsoft.com/office/powerpoint/2010/main" val="23098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BB643-041B-879B-A8AD-9D6CAD1E0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29D546-D87E-138C-854F-9C48EF93084C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Descriptors Survey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B8F5FE-167B-881B-958F-F0D89903EC97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AB08112E-78E3-3530-3430-54ADDEE44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7B8DB3-C7A0-7B15-A4DA-097D074F4102}"/>
              </a:ext>
            </a:extLst>
          </p:cNvPr>
          <p:cNvSpPr txBox="1"/>
          <p:nvPr/>
        </p:nvSpPr>
        <p:spPr>
          <a:xfrm>
            <a:off x="3580119" y="1859339"/>
            <a:ext cx="503176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0050" indent="-400050">
              <a:buAutoNum type="romanUcPeriod"/>
            </a:pPr>
            <a:r>
              <a:rPr lang="en-US" b="1" dirty="0"/>
              <a:t>Small Molecule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Lipinski</a:t>
            </a:r>
          </a:p>
          <a:p>
            <a:pPr marL="857250" lvl="1" indent="-400050">
              <a:buAutoNum type="romanUcPeriod"/>
            </a:pPr>
            <a:r>
              <a:rPr lang="en-US" dirty="0"/>
              <a:t>Fingerprints</a:t>
            </a:r>
          </a:p>
          <a:p>
            <a:pPr marL="857250" lvl="1" indent="-400050">
              <a:buAutoNum type="romanUcPeriod"/>
            </a:pPr>
            <a:r>
              <a:rPr lang="en-US" dirty="0"/>
              <a:t>Experimentally Derived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Computed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Predicted Descriptors</a:t>
            </a:r>
          </a:p>
          <a:p>
            <a:pPr marL="400050" indent="-400050">
              <a:buAutoNum type="romanUcPeriod"/>
            </a:pPr>
            <a:endParaRPr lang="en-US" dirty="0"/>
          </a:p>
          <a:p>
            <a:pPr marL="400050" indent="-400050">
              <a:buFontTx/>
              <a:buAutoNum type="romanUcPeriod"/>
            </a:pPr>
            <a:r>
              <a:rPr lang="en-US" b="1" dirty="0"/>
              <a:t>Reaction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Fingerprints</a:t>
            </a:r>
          </a:p>
          <a:p>
            <a:pPr marL="857250" lvl="1" indent="-400050">
              <a:buAutoNum type="romanUcPeriod"/>
            </a:pPr>
            <a:r>
              <a:rPr lang="en-US" dirty="0"/>
              <a:t>Energy Surfaces</a:t>
            </a:r>
          </a:p>
          <a:p>
            <a:pPr marL="857250" lvl="1" indent="-400050">
              <a:buAutoNum type="romanUcPeriod"/>
            </a:pPr>
            <a:r>
              <a:rPr lang="en-US" dirty="0"/>
              <a:t>Concatenation of Molecular Descriptors</a:t>
            </a:r>
          </a:p>
        </p:txBody>
      </p:sp>
    </p:spTree>
    <p:extLst>
      <p:ext uri="{BB962C8B-B14F-4D97-AF65-F5344CB8AC3E}">
        <p14:creationId xmlns:p14="http://schemas.microsoft.com/office/powerpoint/2010/main" val="349688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4822E-69B8-D97B-8263-7288821B4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C2070A-A1F9-BDB6-0A2E-27435C274E64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Numeric representations: Small Molecules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CDCD2-A774-FF73-0092-55B657C2AD67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6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A9A86B19-3DE7-7155-79F2-B330C3CAD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7253C9D-C616-99AD-1AB4-73A6D01D786D}"/>
              </a:ext>
            </a:extLst>
          </p:cNvPr>
          <p:cNvSpPr txBox="1"/>
          <p:nvPr/>
        </p:nvSpPr>
        <p:spPr>
          <a:xfrm>
            <a:off x="201168" y="1118795"/>
            <a:ext cx="11192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Lipinski’s rule of 5 for drug likeness: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2F1E7A-059A-F913-70CE-4002FE045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123" y="3181606"/>
            <a:ext cx="2237871" cy="10025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8CBCCE-4FCD-70B8-2F09-0AFD8E0F3FB3}"/>
              </a:ext>
            </a:extLst>
          </p:cNvPr>
          <p:cNvSpPr txBox="1"/>
          <p:nvPr/>
        </p:nvSpPr>
        <p:spPr>
          <a:xfrm>
            <a:off x="587691" y="1677491"/>
            <a:ext cx="48351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 No more than 5 hydrogen bond donors</a:t>
            </a:r>
          </a:p>
          <a:p>
            <a:r>
              <a:rPr lang="en-US" dirty="0"/>
              <a:t>• No more than 10 hydrogen bonds acceptors</a:t>
            </a:r>
          </a:p>
          <a:p>
            <a:r>
              <a:rPr lang="en-US" dirty="0"/>
              <a:t>• Molecular mass less than 500 daltons</a:t>
            </a:r>
          </a:p>
          <a:p>
            <a:r>
              <a:rPr lang="en-US" dirty="0"/>
              <a:t>• Partition coefficient water-octanol (</a:t>
            </a:r>
            <a:r>
              <a:rPr lang="en-US" dirty="0" err="1"/>
              <a:t>ClogP</a:t>
            </a:r>
            <a:r>
              <a:rPr lang="en-US" dirty="0"/>
              <a:t>) &lt;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7EF572-9D17-F405-93D2-D3CDDA1CB96F}"/>
              </a:ext>
            </a:extLst>
          </p:cNvPr>
          <p:cNvSpPr txBox="1"/>
          <p:nvPr/>
        </p:nvSpPr>
        <p:spPr>
          <a:xfrm>
            <a:off x="7943270" y="3082724"/>
            <a:ext cx="13285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 1 </a:t>
            </a:r>
          </a:p>
          <a:p>
            <a:r>
              <a:rPr lang="en-US" dirty="0"/>
              <a:t>• 5 </a:t>
            </a:r>
          </a:p>
          <a:p>
            <a:r>
              <a:rPr lang="en-US" dirty="0"/>
              <a:t>• 345 g/mol</a:t>
            </a:r>
          </a:p>
          <a:p>
            <a:r>
              <a:rPr lang="en-US" dirty="0"/>
              <a:t>• 2.3 – 2.6 </a:t>
            </a:r>
          </a:p>
        </p:txBody>
      </p:sp>
      <p:pic>
        <p:nvPicPr>
          <p:cNvPr id="8" name="Picture 7" descr="Atorvastatin | HMG-CoA Reductase inhibitor | 20+ Citations | In Stock |  Selleck Chemicals">
            <a:extLst>
              <a:ext uri="{FF2B5EF4-FFF2-40B4-BE49-F238E27FC236}">
                <a16:creationId xmlns:a16="http://schemas.microsoft.com/office/drawing/2014/main" id="{D505EB8F-04F9-BD42-40A0-9742763AB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123" y="4392966"/>
            <a:ext cx="2658788" cy="17725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A5CF09-8EB8-729C-DA14-BE03952C55A1}"/>
              </a:ext>
            </a:extLst>
          </p:cNvPr>
          <p:cNvSpPr txBox="1"/>
          <p:nvPr/>
        </p:nvSpPr>
        <p:spPr>
          <a:xfrm>
            <a:off x="7943270" y="4726995"/>
            <a:ext cx="13478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 4 </a:t>
            </a:r>
          </a:p>
          <a:p>
            <a:r>
              <a:rPr lang="en-US" dirty="0"/>
              <a:t>• 56</a:t>
            </a:r>
          </a:p>
          <a:p>
            <a:r>
              <a:rPr lang="en-US" dirty="0"/>
              <a:t>• 559 g/mol</a:t>
            </a:r>
          </a:p>
          <a:p>
            <a:r>
              <a:rPr lang="en-US" dirty="0"/>
              <a:t>• 2.2 – 2.56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3C2D0E-2232-85BD-3B9F-2FACD07F8F07}"/>
              </a:ext>
            </a:extLst>
          </p:cNvPr>
          <p:cNvSpPr txBox="1"/>
          <p:nvPr/>
        </p:nvSpPr>
        <p:spPr>
          <a:xfrm>
            <a:off x="2459954" y="4797858"/>
            <a:ext cx="6117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>
              <a:buNone/>
            </a:pPr>
            <a:r>
              <a:rPr lang="en-US" i="0" dirty="0">
                <a:effectLst/>
                <a:latin typeface="Aptos" panose="020B0004020202020204" pitchFamily="34" charset="0"/>
              </a:rPr>
              <a:t>Atorvastatin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42822F-006B-0F5B-0351-C36B290D6591}"/>
              </a:ext>
            </a:extLst>
          </p:cNvPr>
          <p:cNvSpPr txBox="1"/>
          <p:nvPr/>
        </p:nvSpPr>
        <p:spPr>
          <a:xfrm>
            <a:off x="2491485" y="3381678"/>
            <a:ext cx="6117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Omeprazole </a:t>
            </a:r>
          </a:p>
        </p:txBody>
      </p:sp>
    </p:spTree>
    <p:extLst>
      <p:ext uri="{BB962C8B-B14F-4D97-AF65-F5344CB8AC3E}">
        <p14:creationId xmlns:p14="http://schemas.microsoft.com/office/powerpoint/2010/main" val="397254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1437A-B04F-0F84-DFF7-DFC24C178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C4F98A-878B-89F3-A3C7-78CA3B07102B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Descriptors Survey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F998F8-C2DE-B843-B88A-73588DF7FF06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241CBD23-A3A3-14FC-68B5-B02B054B9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3B8FAB-79FB-C5D3-B6CC-6ACECC2C350A}"/>
              </a:ext>
            </a:extLst>
          </p:cNvPr>
          <p:cNvSpPr txBox="1"/>
          <p:nvPr/>
        </p:nvSpPr>
        <p:spPr>
          <a:xfrm>
            <a:off x="3580119" y="1859339"/>
            <a:ext cx="503176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0050" indent="-400050">
              <a:buAutoNum type="romanUcPeriod"/>
            </a:pPr>
            <a:r>
              <a:rPr lang="en-US" b="1" dirty="0"/>
              <a:t>Small Molecule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Lipinski</a:t>
            </a:r>
          </a:p>
          <a:p>
            <a:pPr marL="857250" lvl="1" indent="-400050">
              <a:buAutoNum type="romanUcPeriod"/>
            </a:pPr>
            <a:r>
              <a:rPr lang="en-US" dirty="0"/>
              <a:t>Fingerprints</a:t>
            </a:r>
          </a:p>
          <a:p>
            <a:pPr marL="857250" lvl="1" indent="-400050">
              <a:buAutoNum type="romanUcPeriod"/>
            </a:pPr>
            <a:r>
              <a:rPr lang="en-US" dirty="0"/>
              <a:t>Experimentally Derived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Computed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Predicted Descriptors</a:t>
            </a:r>
          </a:p>
          <a:p>
            <a:pPr marL="400050" indent="-400050">
              <a:buAutoNum type="romanUcPeriod"/>
            </a:pPr>
            <a:endParaRPr lang="en-US" dirty="0"/>
          </a:p>
          <a:p>
            <a:pPr marL="400050" indent="-400050">
              <a:buFontTx/>
              <a:buAutoNum type="romanUcPeriod"/>
            </a:pPr>
            <a:r>
              <a:rPr lang="en-US" b="1" dirty="0"/>
              <a:t>Reaction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Fingerprints</a:t>
            </a:r>
          </a:p>
          <a:p>
            <a:pPr marL="857250" lvl="1" indent="-400050">
              <a:buAutoNum type="romanUcPeriod"/>
            </a:pPr>
            <a:r>
              <a:rPr lang="en-US" dirty="0"/>
              <a:t>Energy Surfaces</a:t>
            </a:r>
          </a:p>
          <a:p>
            <a:pPr marL="857250" lvl="1" indent="-400050">
              <a:buAutoNum type="romanUcPeriod"/>
            </a:pPr>
            <a:r>
              <a:rPr lang="en-US" dirty="0"/>
              <a:t>Concatenation of Molecular Descriptors</a:t>
            </a:r>
          </a:p>
        </p:txBody>
      </p:sp>
    </p:spTree>
    <p:extLst>
      <p:ext uri="{BB962C8B-B14F-4D97-AF65-F5344CB8AC3E}">
        <p14:creationId xmlns:p14="http://schemas.microsoft.com/office/powerpoint/2010/main" val="223588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F12DD-31BA-828D-BCA2-43559705E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BBD83C-CF7F-78A2-AFC2-3D52AD947792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Numeric representations: Small Molecules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DA7ADF-AF99-1D24-0D85-E7403F5DB063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FCD6AD-F9A2-2AD1-E90D-0634FC33250E}"/>
              </a:ext>
            </a:extLst>
          </p:cNvPr>
          <p:cNvSpPr txBox="1"/>
          <p:nvPr/>
        </p:nvSpPr>
        <p:spPr>
          <a:xfrm>
            <a:off x="4782046" y="19431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9913B4D0-E21C-E297-3290-A6430DCDA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BE965E-132D-0C4E-903B-133E06C9B091}"/>
              </a:ext>
            </a:extLst>
          </p:cNvPr>
          <p:cNvSpPr txBox="1"/>
          <p:nvPr/>
        </p:nvSpPr>
        <p:spPr>
          <a:xfrm>
            <a:off x="201168" y="1118795"/>
            <a:ext cx="11192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Molecular Fingerprints Developed for Quantitative Structure Activity Relationships (QSAR):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5" name="Image 0" descr="/sessions/magical-busy-bardeen/mnt/outputs/fp_bitvector.png">
            <a:extLst>
              <a:ext uri="{FF2B5EF4-FFF2-40B4-BE49-F238E27FC236}">
                <a16:creationId xmlns:a16="http://schemas.microsoft.com/office/drawing/2014/main" id="{B0D9DE55-0B72-20EF-1E27-59270948A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08" y="2625858"/>
            <a:ext cx="7523563" cy="84849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5061882-3C4B-76AA-0437-F1C341304393}"/>
              </a:ext>
            </a:extLst>
          </p:cNvPr>
          <p:cNvSpPr txBox="1"/>
          <p:nvPr/>
        </p:nvSpPr>
        <p:spPr>
          <a:xfrm>
            <a:off x="1504522" y="1658944"/>
            <a:ext cx="6119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CN1C=NC2=C1C(=O)N(C(=O)N2C)C</a:t>
            </a: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4F0B2227-0E14-D9A7-A2EF-EAD8E1316C3C}"/>
              </a:ext>
            </a:extLst>
          </p:cNvPr>
          <p:cNvSpPr/>
          <p:nvPr/>
        </p:nvSpPr>
        <p:spPr>
          <a:xfrm>
            <a:off x="4354527" y="2111716"/>
            <a:ext cx="419725" cy="690604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1D00603-7720-8921-E215-5243F6903865}"/>
              </a:ext>
            </a:extLst>
          </p:cNvPr>
          <p:cNvGrpSpPr/>
          <p:nvPr/>
        </p:nvGrpSpPr>
        <p:grpSpPr>
          <a:xfrm>
            <a:off x="376969" y="3206376"/>
            <a:ext cx="8244150" cy="3444539"/>
            <a:chOff x="376969" y="3206376"/>
            <a:chExt cx="8244150" cy="3444539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37B4D9C-E925-90B6-0515-C99D04ADB91F}"/>
                </a:ext>
              </a:extLst>
            </p:cNvPr>
            <p:cNvCxnSpPr>
              <a:cxnSpLocks/>
            </p:cNvCxnSpPr>
            <p:nvPr/>
          </p:nvCxnSpPr>
          <p:spPr>
            <a:xfrm>
              <a:off x="3158180" y="3206376"/>
              <a:ext cx="2011444" cy="2172631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3B02716-F95F-ACCE-216C-AE7399D10572}"/>
                </a:ext>
              </a:extLst>
            </p:cNvPr>
            <p:cNvCxnSpPr>
              <a:cxnSpLocks/>
            </p:cNvCxnSpPr>
            <p:nvPr/>
          </p:nvCxnSpPr>
          <p:spPr>
            <a:xfrm>
              <a:off x="3156226" y="3213123"/>
              <a:ext cx="542469" cy="2411730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4680E5C-945B-E64C-4069-FD610614F045}"/>
                </a:ext>
              </a:extLst>
            </p:cNvPr>
            <p:cNvSpPr/>
            <p:nvPr/>
          </p:nvSpPr>
          <p:spPr>
            <a:xfrm>
              <a:off x="4279664" y="4649944"/>
              <a:ext cx="891914" cy="85990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F442BB4-C651-D0B3-73D4-1C50B9703895}"/>
                </a:ext>
              </a:extLst>
            </p:cNvPr>
            <p:cNvSpPr/>
            <p:nvPr/>
          </p:nvSpPr>
          <p:spPr>
            <a:xfrm>
              <a:off x="3727526" y="4330230"/>
              <a:ext cx="566739" cy="56752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42907B5-BCF4-E0E3-EA3D-009028BC4EE7}"/>
                </a:ext>
              </a:extLst>
            </p:cNvPr>
            <p:cNvSpPr/>
            <p:nvPr/>
          </p:nvSpPr>
          <p:spPr>
            <a:xfrm>
              <a:off x="3497681" y="5614384"/>
              <a:ext cx="566739" cy="56752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7D583A-67B4-B8FF-7079-3D77A4DA8572}"/>
                </a:ext>
              </a:extLst>
            </p:cNvPr>
            <p:cNvSpPr/>
            <p:nvPr/>
          </p:nvSpPr>
          <p:spPr>
            <a:xfrm>
              <a:off x="5026595" y="5341090"/>
              <a:ext cx="566739" cy="56752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EF3CA27-E983-3542-7A41-7A1E4FDA4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6969" y="3908614"/>
              <a:ext cx="8244150" cy="2742301"/>
            </a:xfrm>
            <a:prstGeom prst="rect">
              <a:avLst/>
            </a:prstGeom>
          </p:spPr>
        </p:pic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48AE9E5-04BE-1B40-1013-DA84E585C009}"/>
                </a:ext>
              </a:extLst>
            </p:cNvPr>
            <p:cNvCxnSpPr>
              <a:cxnSpLocks/>
            </p:cNvCxnSpPr>
            <p:nvPr/>
          </p:nvCxnSpPr>
          <p:spPr>
            <a:xfrm>
              <a:off x="3158180" y="3206376"/>
              <a:ext cx="687092" cy="1170899"/>
            </a:xfrm>
            <a:prstGeom prst="straightConnector1">
              <a:avLst/>
            </a:prstGeom>
            <a:ln>
              <a:solidFill>
                <a:schemeClr val="bg1">
                  <a:lumMod val="65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50C4519-3F4E-3C42-5344-4A30D7687D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777" y="3213123"/>
              <a:ext cx="924036" cy="149490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65672FCD-F2D8-363C-FB32-2C137DF278F3}"/>
              </a:ext>
            </a:extLst>
          </p:cNvPr>
          <p:cNvSpPr txBox="1"/>
          <p:nvPr/>
        </p:nvSpPr>
        <p:spPr>
          <a:xfrm>
            <a:off x="8505603" y="2742697"/>
            <a:ext cx="319305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Advantages: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Very fast to compute</a:t>
            </a:r>
          </a:p>
          <a:p>
            <a:pPr marL="285750" indent="-285750">
              <a:buFontTx/>
              <a:buChar char="-"/>
            </a:pPr>
            <a:r>
              <a:rPr lang="en-US" dirty="0"/>
              <a:t>Tanimoto/Jaccard similarity</a:t>
            </a:r>
          </a:p>
          <a:p>
            <a:endParaRPr lang="en-US" dirty="0"/>
          </a:p>
          <a:p>
            <a:r>
              <a:rPr lang="en-US" b="1" dirty="0"/>
              <a:t>Information encoded:</a:t>
            </a:r>
          </a:p>
          <a:p>
            <a:pPr marL="285750" indent="-285750">
              <a:buFontTx/>
              <a:buChar char="-"/>
            </a:pPr>
            <a:r>
              <a:rPr lang="en-US" dirty="0"/>
              <a:t>2D structure/connectivity</a:t>
            </a:r>
          </a:p>
          <a:p>
            <a:pPr marL="285750" indent="-285750">
              <a:buFontTx/>
              <a:buChar char="-"/>
            </a:pPr>
            <a:r>
              <a:rPr lang="en-US" dirty="0"/>
              <a:t>Stereochemistry</a:t>
            </a:r>
          </a:p>
          <a:p>
            <a:pPr marL="285750" indent="-285750">
              <a:buFontTx/>
              <a:buChar char="-"/>
            </a:pPr>
            <a:r>
              <a:rPr lang="en-US" dirty="0"/>
              <a:t>No 3D information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No conformers</a:t>
            </a:r>
          </a:p>
        </p:txBody>
      </p:sp>
    </p:spTree>
    <p:extLst>
      <p:ext uri="{BB962C8B-B14F-4D97-AF65-F5344CB8AC3E}">
        <p14:creationId xmlns:p14="http://schemas.microsoft.com/office/powerpoint/2010/main" val="170327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6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87C8D-C3FF-600A-68E4-C0DCEB756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82E96A-5DD4-FE3A-DD87-492D9D1AA2F6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Numeric representations: Small Molecules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877AF7-E374-6BA5-8FB4-A4A1A11A05A7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8E659D-2ED4-8B94-8F0A-6DA34106AEB8}"/>
              </a:ext>
            </a:extLst>
          </p:cNvPr>
          <p:cNvSpPr txBox="1"/>
          <p:nvPr/>
        </p:nvSpPr>
        <p:spPr>
          <a:xfrm>
            <a:off x="5118454" y="18344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3DC78654-A9D0-6037-362C-02902BC21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0B54D3F-AA42-72E4-9E31-A4D53ECBFB0C}"/>
              </a:ext>
            </a:extLst>
          </p:cNvPr>
          <p:cNvSpPr txBox="1"/>
          <p:nvPr/>
        </p:nvSpPr>
        <p:spPr>
          <a:xfrm>
            <a:off x="201168" y="1118795"/>
            <a:ext cx="11192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Extended Connectivity Fingerprints (ECFPs): 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CDC3E6-56E1-BF3A-721F-C84200E61758}"/>
              </a:ext>
            </a:extLst>
          </p:cNvPr>
          <p:cNvSpPr txBox="1"/>
          <p:nvPr/>
        </p:nvSpPr>
        <p:spPr>
          <a:xfrm>
            <a:off x="-24062" y="6173360"/>
            <a:ext cx="61200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Rogers, D.; Hahn, M. </a:t>
            </a:r>
            <a:r>
              <a:rPr lang="en-US" sz="1100" i="1" dirty="0"/>
              <a:t>J. Chem. Inf. Model. </a:t>
            </a:r>
            <a:r>
              <a:rPr lang="en-US" sz="1100" b="1" dirty="0"/>
              <a:t>2010</a:t>
            </a:r>
            <a:r>
              <a:rPr lang="en-US" sz="1100" dirty="0"/>
              <a:t>, 50 (5), 742–754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F786E8-B740-DB80-C34F-E5BB307F9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21" y="1835262"/>
            <a:ext cx="5222310" cy="37762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EBECBA-5136-77C4-5749-BB9EF93F08BC}"/>
              </a:ext>
            </a:extLst>
          </p:cNvPr>
          <p:cNvSpPr txBox="1"/>
          <p:nvPr/>
        </p:nvSpPr>
        <p:spPr>
          <a:xfrm>
            <a:off x="4239127" y="6163733"/>
            <a:ext cx="79528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dirty="0"/>
              <a:t>More on FPs generation: </a:t>
            </a:r>
            <a:r>
              <a:rPr lang="en-US" sz="1100" dirty="0">
                <a:hlinkClick r:id="rId4"/>
              </a:rPr>
              <a:t>https://greglandrum.github.io/rdkit-blog/posts/2023-01-18-fingerprint-generator-tutorial.html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919E9D-EF57-A1FC-165C-722ED0E08219}"/>
              </a:ext>
            </a:extLst>
          </p:cNvPr>
          <p:cNvSpPr txBox="1"/>
          <p:nvPr/>
        </p:nvSpPr>
        <p:spPr>
          <a:xfrm>
            <a:off x="5455563" y="2203795"/>
            <a:ext cx="1043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Radius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39AD10-719E-94D4-A87A-F648B419762E}"/>
              </a:ext>
            </a:extLst>
          </p:cNvPr>
          <p:cNvSpPr txBox="1"/>
          <p:nvPr/>
        </p:nvSpPr>
        <p:spPr>
          <a:xfrm>
            <a:off x="5455562" y="3444881"/>
            <a:ext cx="1043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Radius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87DE65-1C53-2DBD-6416-3EF5D40D7A36}"/>
              </a:ext>
            </a:extLst>
          </p:cNvPr>
          <p:cNvSpPr txBox="1"/>
          <p:nvPr/>
        </p:nvSpPr>
        <p:spPr>
          <a:xfrm>
            <a:off x="5455562" y="4685966"/>
            <a:ext cx="1043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Radius 2</a:t>
            </a:r>
          </a:p>
        </p:txBody>
      </p:sp>
      <p:pic>
        <p:nvPicPr>
          <p:cNvPr id="18" name="Image 0" descr="/sessions/magical-busy-bardeen/mnt/outputs/fp_bitvector.png">
            <a:extLst>
              <a:ext uri="{FF2B5EF4-FFF2-40B4-BE49-F238E27FC236}">
                <a16:creationId xmlns:a16="http://schemas.microsoft.com/office/drawing/2014/main" id="{1433216D-039D-B592-F9EC-D3210FE32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7774003" y="3379935"/>
            <a:ext cx="4200785" cy="473754"/>
          </a:xfrm>
          <a:prstGeom prst="rect">
            <a:avLst/>
          </a:prstGeom>
        </p:spPr>
      </p:pic>
      <p:sp>
        <p:nvSpPr>
          <p:cNvPr id="21" name="Down Arrow 20">
            <a:extLst>
              <a:ext uri="{FF2B5EF4-FFF2-40B4-BE49-F238E27FC236}">
                <a16:creationId xmlns:a16="http://schemas.microsoft.com/office/drawing/2014/main" id="{FC186BE2-F87B-E721-6FA6-602E462D33BA}"/>
              </a:ext>
            </a:extLst>
          </p:cNvPr>
          <p:cNvSpPr/>
          <p:nvPr/>
        </p:nvSpPr>
        <p:spPr>
          <a:xfrm rot="16200000">
            <a:off x="6962167" y="3268202"/>
            <a:ext cx="419725" cy="690604"/>
          </a:xfrm>
          <a:prstGeom prst="down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172691E-1A50-2440-BBE8-4A7942D38615}"/>
              </a:ext>
            </a:extLst>
          </p:cNvPr>
          <p:cNvSpPr/>
          <p:nvPr/>
        </p:nvSpPr>
        <p:spPr>
          <a:xfrm>
            <a:off x="918955" y="3326952"/>
            <a:ext cx="457200" cy="4572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9D71DC-3DDF-6A3F-DE62-5D63B8907F4B}"/>
              </a:ext>
            </a:extLst>
          </p:cNvPr>
          <p:cNvSpPr/>
          <p:nvPr/>
        </p:nvSpPr>
        <p:spPr>
          <a:xfrm>
            <a:off x="1403062" y="2853108"/>
            <a:ext cx="3995252" cy="2927644"/>
          </a:xfrm>
          <a:custGeom>
            <a:avLst/>
            <a:gdLst>
              <a:gd name="csX0" fmla="*/ 0 w 3995252"/>
              <a:gd name="csY0" fmla="*/ 0 h 2982236"/>
              <a:gd name="csX1" fmla="*/ 3995252 w 3995252"/>
              <a:gd name="csY1" fmla="*/ 0 h 2982236"/>
              <a:gd name="csX2" fmla="*/ 3995252 w 3995252"/>
              <a:gd name="csY2" fmla="*/ 2982236 h 2982236"/>
              <a:gd name="csX3" fmla="*/ 0 w 3995252"/>
              <a:gd name="csY3" fmla="*/ 2982236 h 2982236"/>
              <a:gd name="csX4" fmla="*/ 0 w 3995252"/>
              <a:gd name="csY4" fmla="*/ 0 h 2982236"/>
              <a:gd name="csX0" fmla="*/ 914400 w 3995252"/>
              <a:gd name="csY0" fmla="*/ 13648 h 2982236"/>
              <a:gd name="csX1" fmla="*/ 3995252 w 3995252"/>
              <a:gd name="csY1" fmla="*/ 0 h 2982236"/>
              <a:gd name="csX2" fmla="*/ 3995252 w 3995252"/>
              <a:gd name="csY2" fmla="*/ 2982236 h 2982236"/>
              <a:gd name="csX3" fmla="*/ 0 w 3995252"/>
              <a:gd name="csY3" fmla="*/ 2982236 h 2982236"/>
              <a:gd name="csX4" fmla="*/ 914400 w 3995252"/>
              <a:gd name="csY4" fmla="*/ 13648 h 2982236"/>
              <a:gd name="csX0" fmla="*/ 914400 w 3995252"/>
              <a:gd name="csY0" fmla="*/ 13648 h 2982236"/>
              <a:gd name="csX1" fmla="*/ 3995252 w 3995252"/>
              <a:gd name="csY1" fmla="*/ 0 h 2982236"/>
              <a:gd name="csX2" fmla="*/ 3995252 w 3995252"/>
              <a:gd name="csY2" fmla="*/ 2982236 h 2982236"/>
              <a:gd name="csX3" fmla="*/ 0 w 3995252"/>
              <a:gd name="csY3" fmla="*/ 2982236 h 2982236"/>
              <a:gd name="csX4" fmla="*/ 163774 w 3995252"/>
              <a:gd name="csY4" fmla="*/ 621173 h 2982236"/>
              <a:gd name="csX5" fmla="*/ 914400 w 3995252"/>
              <a:gd name="csY5" fmla="*/ 13648 h 2982236"/>
              <a:gd name="csX0" fmla="*/ 914400 w 3995252"/>
              <a:gd name="csY0" fmla="*/ 0 h 2968588"/>
              <a:gd name="csX1" fmla="*/ 3995252 w 3995252"/>
              <a:gd name="csY1" fmla="*/ 68238 h 2968588"/>
              <a:gd name="csX2" fmla="*/ 3995252 w 3995252"/>
              <a:gd name="csY2" fmla="*/ 2968588 h 2968588"/>
              <a:gd name="csX3" fmla="*/ 0 w 3995252"/>
              <a:gd name="csY3" fmla="*/ 2968588 h 2968588"/>
              <a:gd name="csX4" fmla="*/ 163774 w 3995252"/>
              <a:gd name="csY4" fmla="*/ 607525 h 2968588"/>
              <a:gd name="csX5" fmla="*/ 914400 w 3995252"/>
              <a:gd name="csY5" fmla="*/ 0 h 2968588"/>
              <a:gd name="csX0" fmla="*/ 914400 w 3995252"/>
              <a:gd name="csY0" fmla="*/ 0 h 2927644"/>
              <a:gd name="csX1" fmla="*/ 3995252 w 3995252"/>
              <a:gd name="csY1" fmla="*/ 27294 h 2927644"/>
              <a:gd name="csX2" fmla="*/ 3995252 w 3995252"/>
              <a:gd name="csY2" fmla="*/ 2927644 h 2927644"/>
              <a:gd name="csX3" fmla="*/ 0 w 3995252"/>
              <a:gd name="csY3" fmla="*/ 2927644 h 2927644"/>
              <a:gd name="csX4" fmla="*/ 163774 w 3995252"/>
              <a:gd name="csY4" fmla="*/ 566581 h 2927644"/>
              <a:gd name="csX5" fmla="*/ 914400 w 3995252"/>
              <a:gd name="csY5" fmla="*/ 0 h 29276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995252" h="2927644">
                <a:moveTo>
                  <a:pt x="914400" y="0"/>
                </a:moveTo>
                <a:lnTo>
                  <a:pt x="3995252" y="27294"/>
                </a:lnTo>
                <a:lnTo>
                  <a:pt x="3995252" y="2927644"/>
                </a:lnTo>
                <a:lnTo>
                  <a:pt x="0" y="2927644"/>
                </a:lnTo>
                <a:cubicBezTo>
                  <a:pt x="195618" y="2272551"/>
                  <a:pt x="-31844" y="1221674"/>
                  <a:pt x="163774" y="566581"/>
                </a:cubicBezTo>
                <a:lnTo>
                  <a:pt x="9144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2B2B1CEC-2DCB-36A2-8DDD-3BD83C652157}"/>
              </a:ext>
            </a:extLst>
          </p:cNvPr>
          <p:cNvSpPr/>
          <p:nvPr/>
        </p:nvSpPr>
        <p:spPr>
          <a:xfrm>
            <a:off x="1548112" y="3570814"/>
            <a:ext cx="3755073" cy="2223586"/>
          </a:xfrm>
          <a:custGeom>
            <a:avLst/>
            <a:gdLst>
              <a:gd name="csX0" fmla="*/ 0 w 3995252"/>
              <a:gd name="csY0" fmla="*/ 0 h 2982236"/>
              <a:gd name="csX1" fmla="*/ 3995252 w 3995252"/>
              <a:gd name="csY1" fmla="*/ 0 h 2982236"/>
              <a:gd name="csX2" fmla="*/ 3995252 w 3995252"/>
              <a:gd name="csY2" fmla="*/ 2982236 h 2982236"/>
              <a:gd name="csX3" fmla="*/ 0 w 3995252"/>
              <a:gd name="csY3" fmla="*/ 2982236 h 2982236"/>
              <a:gd name="csX4" fmla="*/ 0 w 3995252"/>
              <a:gd name="csY4" fmla="*/ 0 h 2982236"/>
              <a:gd name="csX0" fmla="*/ 914400 w 3995252"/>
              <a:gd name="csY0" fmla="*/ 13648 h 2982236"/>
              <a:gd name="csX1" fmla="*/ 3995252 w 3995252"/>
              <a:gd name="csY1" fmla="*/ 0 h 2982236"/>
              <a:gd name="csX2" fmla="*/ 3995252 w 3995252"/>
              <a:gd name="csY2" fmla="*/ 2982236 h 2982236"/>
              <a:gd name="csX3" fmla="*/ 0 w 3995252"/>
              <a:gd name="csY3" fmla="*/ 2982236 h 2982236"/>
              <a:gd name="csX4" fmla="*/ 914400 w 3995252"/>
              <a:gd name="csY4" fmla="*/ 13648 h 2982236"/>
              <a:gd name="csX0" fmla="*/ 914400 w 3995252"/>
              <a:gd name="csY0" fmla="*/ 13648 h 2982236"/>
              <a:gd name="csX1" fmla="*/ 3995252 w 3995252"/>
              <a:gd name="csY1" fmla="*/ 0 h 2982236"/>
              <a:gd name="csX2" fmla="*/ 3995252 w 3995252"/>
              <a:gd name="csY2" fmla="*/ 2982236 h 2982236"/>
              <a:gd name="csX3" fmla="*/ 0 w 3995252"/>
              <a:gd name="csY3" fmla="*/ 2982236 h 2982236"/>
              <a:gd name="csX4" fmla="*/ 163774 w 3995252"/>
              <a:gd name="csY4" fmla="*/ 621173 h 2982236"/>
              <a:gd name="csX5" fmla="*/ 914400 w 3995252"/>
              <a:gd name="csY5" fmla="*/ 13648 h 2982236"/>
              <a:gd name="csX0" fmla="*/ 914400 w 3995252"/>
              <a:gd name="csY0" fmla="*/ 0 h 2968588"/>
              <a:gd name="csX1" fmla="*/ 3995252 w 3995252"/>
              <a:gd name="csY1" fmla="*/ 68238 h 2968588"/>
              <a:gd name="csX2" fmla="*/ 3995252 w 3995252"/>
              <a:gd name="csY2" fmla="*/ 2968588 h 2968588"/>
              <a:gd name="csX3" fmla="*/ 0 w 3995252"/>
              <a:gd name="csY3" fmla="*/ 2968588 h 2968588"/>
              <a:gd name="csX4" fmla="*/ 163774 w 3995252"/>
              <a:gd name="csY4" fmla="*/ 607525 h 2968588"/>
              <a:gd name="csX5" fmla="*/ 914400 w 3995252"/>
              <a:gd name="csY5" fmla="*/ 0 h 2968588"/>
              <a:gd name="csX0" fmla="*/ 914400 w 3995252"/>
              <a:gd name="csY0" fmla="*/ 0 h 2927644"/>
              <a:gd name="csX1" fmla="*/ 3995252 w 3995252"/>
              <a:gd name="csY1" fmla="*/ 27294 h 2927644"/>
              <a:gd name="csX2" fmla="*/ 3995252 w 3995252"/>
              <a:gd name="csY2" fmla="*/ 2927644 h 2927644"/>
              <a:gd name="csX3" fmla="*/ 0 w 3995252"/>
              <a:gd name="csY3" fmla="*/ 2927644 h 2927644"/>
              <a:gd name="csX4" fmla="*/ 163774 w 3995252"/>
              <a:gd name="csY4" fmla="*/ 566581 h 2927644"/>
              <a:gd name="csX5" fmla="*/ 914400 w 3995252"/>
              <a:gd name="csY5" fmla="*/ 0 h 2927644"/>
              <a:gd name="csX0" fmla="*/ 1010610 w 4091462"/>
              <a:gd name="csY0" fmla="*/ 1256993 h 4184637"/>
              <a:gd name="csX1" fmla="*/ 4091462 w 4091462"/>
              <a:gd name="csY1" fmla="*/ 1284287 h 4184637"/>
              <a:gd name="csX2" fmla="*/ 4091462 w 4091462"/>
              <a:gd name="csY2" fmla="*/ 4184637 h 4184637"/>
              <a:gd name="csX3" fmla="*/ 96210 w 4091462"/>
              <a:gd name="csY3" fmla="*/ 4184637 h 4184637"/>
              <a:gd name="csX4" fmla="*/ 51799 w 4091462"/>
              <a:gd name="csY4" fmla="*/ 0 h 4184637"/>
              <a:gd name="csX5" fmla="*/ 1010610 w 4091462"/>
              <a:gd name="csY5" fmla="*/ 1256993 h 4184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091462" h="4184637">
                <a:moveTo>
                  <a:pt x="1010610" y="1256993"/>
                </a:moveTo>
                <a:lnTo>
                  <a:pt x="4091462" y="1284287"/>
                </a:lnTo>
                <a:lnTo>
                  <a:pt x="4091462" y="4184637"/>
                </a:lnTo>
                <a:lnTo>
                  <a:pt x="96210" y="4184637"/>
                </a:lnTo>
                <a:cubicBezTo>
                  <a:pt x="291828" y="3529544"/>
                  <a:pt x="-143819" y="655093"/>
                  <a:pt x="51799" y="0"/>
                </a:cubicBezTo>
                <a:lnTo>
                  <a:pt x="1010610" y="12569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26BC10E1-7423-DA48-B7B8-799951A4FAE8}"/>
              </a:ext>
            </a:extLst>
          </p:cNvPr>
          <p:cNvSpPr/>
          <p:nvPr/>
        </p:nvSpPr>
        <p:spPr>
          <a:xfrm>
            <a:off x="1452401" y="1514334"/>
            <a:ext cx="3995252" cy="4437436"/>
          </a:xfrm>
          <a:custGeom>
            <a:avLst/>
            <a:gdLst>
              <a:gd name="csX0" fmla="*/ 0 w 3995252"/>
              <a:gd name="csY0" fmla="*/ 0 h 2982236"/>
              <a:gd name="csX1" fmla="*/ 3995252 w 3995252"/>
              <a:gd name="csY1" fmla="*/ 0 h 2982236"/>
              <a:gd name="csX2" fmla="*/ 3995252 w 3995252"/>
              <a:gd name="csY2" fmla="*/ 2982236 h 2982236"/>
              <a:gd name="csX3" fmla="*/ 0 w 3995252"/>
              <a:gd name="csY3" fmla="*/ 2982236 h 2982236"/>
              <a:gd name="csX4" fmla="*/ 0 w 3995252"/>
              <a:gd name="csY4" fmla="*/ 0 h 2982236"/>
              <a:gd name="csX0" fmla="*/ 914400 w 3995252"/>
              <a:gd name="csY0" fmla="*/ 13648 h 2982236"/>
              <a:gd name="csX1" fmla="*/ 3995252 w 3995252"/>
              <a:gd name="csY1" fmla="*/ 0 h 2982236"/>
              <a:gd name="csX2" fmla="*/ 3995252 w 3995252"/>
              <a:gd name="csY2" fmla="*/ 2982236 h 2982236"/>
              <a:gd name="csX3" fmla="*/ 0 w 3995252"/>
              <a:gd name="csY3" fmla="*/ 2982236 h 2982236"/>
              <a:gd name="csX4" fmla="*/ 914400 w 3995252"/>
              <a:gd name="csY4" fmla="*/ 13648 h 2982236"/>
              <a:gd name="csX0" fmla="*/ 914400 w 3995252"/>
              <a:gd name="csY0" fmla="*/ 13648 h 2982236"/>
              <a:gd name="csX1" fmla="*/ 3995252 w 3995252"/>
              <a:gd name="csY1" fmla="*/ 0 h 2982236"/>
              <a:gd name="csX2" fmla="*/ 3995252 w 3995252"/>
              <a:gd name="csY2" fmla="*/ 2982236 h 2982236"/>
              <a:gd name="csX3" fmla="*/ 0 w 3995252"/>
              <a:gd name="csY3" fmla="*/ 2982236 h 2982236"/>
              <a:gd name="csX4" fmla="*/ 163774 w 3995252"/>
              <a:gd name="csY4" fmla="*/ 621173 h 2982236"/>
              <a:gd name="csX5" fmla="*/ 914400 w 3995252"/>
              <a:gd name="csY5" fmla="*/ 13648 h 2982236"/>
              <a:gd name="csX0" fmla="*/ 914400 w 3995252"/>
              <a:gd name="csY0" fmla="*/ 0 h 2968588"/>
              <a:gd name="csX1" fmla="*/ 3995252 w 3995252"/>
              <a:gd name="csY1" fmla="*/ 68238 h 2968588"/>
              <a:gd name="csX2" fmla="*/ 3995252 w 3995252"/>
              <a:gd name="csY2" fmla="*/ 2968588 h 2968588"/>
              <a:gd name="csX3" fmla="*/ 0 w 3995252"/>
              <a:gd name="csY3" fmla="*/ 2968588 h 2968588"/>
              <a:gd name="csX4" fmla="*/ 163774 w 3995252"/>
              <a:gd name="csY4" fmla="*/ 607525 h 2968588"/>
              <a:gd name="csX5" fmla="*/ 914400 w 3995252"/>
              <a:gd name="csY5" fmla="*/ 0 h 2968588"/>
              <a:gd name="csX0" fmla="*/ 914400 w 3995252"/>
              <a:gd name="csY0" fmla="*/ 0 h 2927644"/>
              <a:gd name="csX1" fmla="*/ 3995252 w 3995252"/>
              <a:gd name="csY1" fmla="*/ 27294 h 2927644"/>
              <a:gd name="csX2" fmla="*/ 3995252 w 3995252"/>
              <a:gd name="csY2" fmla="*/ 2927644 h 2927644"/>
              <a:gd name="csX3" fmla="*/ 0 w 3995252"/>
              <a:gd name="csY3" fmla="*/ 2927644 h 2927644"/>
              <a:gd name="csX4" fmla="*/ 163774 w 3995252"/>
              <a:gd name="csY4" fmla="*/ 566581 h 2927644"/>
              <a:gd name="csX5" fmla="*/ 914400 w 3995252"/>
              <a:gd name="csY5" fmla="*/ 0 h 29276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995252" h="2927644">
                <a:moveTo>
                  <a:pt x="914400" y="0"/>
                </a:moveTo>
                <a:lnTo>
                  <a:pt x="3995252" y="27294"/>
                </a:lnTo>
                <a:lnTo>
                  <a:pt x="3995252" y="2927644"/>
                </a:lnTo>
                <a:lnTo>
                  <a:pt x="0" y="2927644"/>
                </a:lnTo>
                <a:cubicBezTo>
                  <a:pt x="195618" y="2272551"/>
                  <a:pt x="-31844" y="1221674"/>
                  <a:pt x="163774" y="566581"/>
                </a:cubicBezTo>
                <a:lnTo>
                  <a:pt x="9144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FEC49C4-2766-5B8B-6F90-83B0FF6608D2}"/>
              </a:ext>
            </a:extLst>
          </p:cNvPr>
          <p:cNvSpPr/>
          <p:nvPr/>
        </p:nvSpPr>
        <p:spPr>
          <a:xfrm>
            <a:off x="783544" y="3182611"/>
            <a:ext cx="731520" cy="731520"/>
          </a:xfrm>
          <a:prstGeom prst="ellipse">
            <a:avLst/>
          </a:prstGeom>
          <a:solidFill>
            <a:schemeClr val="bg1">
              <a:lumMod val="95000"/>
              <a:alpha val="5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664301-75B1-2734-3C4B-0A00E1575308}"/>
              </a:ext>
            </a:extLst>
          </p:cNvPr>
          <p:cNvSpPr/>
          <p:nvPr/>
        </p:nvSpPr>
        <p:spPr>
          <a:xfrm>
            <a:off x="632585" y="3023776"/>
            <a:ext cx="1037944" cy="1042416"/>
          </a:xfrm>
          <a:prstGeom prst="ellipse">
            <a:avLst/>
          </a:prstGeom>
          <a:solidFill>
            <a:schemeClr val="bg1">
              <a:lumMod val="95000"/>
              <a:alpha val="5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1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21" grpId="0" animBg="1"/>
      <p:bldP spid="8" grpId="0" animBg="1"/>
      <p:bldP spid="8" grpId="1" animBg="1"/>
      <p:bldP spid="10" grpId="0" animBg="1"/>
      <p:bldP spid="15" grpId="0" animBg="1"/>
      <p:bldP spid="17" grpId="0" animBg="1"/>
      <p:bldP spid="19" grpId="0" animBg="1"/>
      <p:bldP spid="19" grpId="1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BFA92-1EB1-0CF6-E837-8DFEA9DF8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9AFA5A-C0B8-A4B2-5841-8FAD420F4185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Application ECFPs for QSAR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187BD2-2B78-1F3C-BCE0-29F677F92D5C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6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9EE23429-2FC7-0C6A-F889-D654B3283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DB4065-49EC-330C-78D2-91CA1B1A9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221" y="1196739"/>
            <a:ext cx="4574005" cy="457400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B11F853-AAB7-1F0D-5D60-B84F17587172}"/>
              </a:ext>
            </a:extLst>
          </p:cNvPr>
          <p:cNvSpPr txBox="1"/>
          <p:nvPr/>
        </p:nvSpPr>
        <p:spPr>
          <a:xfrm>
            <a:off x="7974645" y="5792160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FP 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E01973-CA7F-E167-0708-D4682D930C54}"/>
              </a:ext>
            </a:extLst>
          </p:cNvPr>
          <p:cNvSpPr txBox="1"/>
          <p:nvPr/>
        </p:nvSpPr>
        <p:spPr>
          <a:xfrm>
            <a:off x="10138830" y="5792160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FP 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D36E75-EFE4-22EB-00D8-06E5BFB28DE4}"/>
              </a:ext>
            </a:extLst>
          </p:cNvPr>
          <p:cNvSpPr txBox="1"/>
          <p:nvPr/>
        </p:nvSpPr>
        <p:spPr>
          <a:xfrm>
            <a:off x="6346371" y="228696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mol1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F67DD8-99D8-18BA-0662-342C2E807C19}"/>
              </a:ext>
            </a:extLst>
          </p:cNvPr>
          <p:cNvSpPr txBox="1"/>
          <p:nvPr/>
        </p:nvSpPr>
        <p:spPr>
          <a:xfrm>
            <a:off x="6346371" y="44420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mol2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999C15-0261-2BBB-E149-90CF154BA4CF}"/>
              </a:ext>
            </a:extLst>
          </p:cNvPr>
          <p:cNvSpPr txBox="1"/>
          <p:nvPr/>
        </p:nvSpPr>
        <p:spPr>
          <a:xfrm>
            <a:off x="2558373" y="2514962"/>
            <a:ext cx="43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D12B75-0B9F-63AF-DE41-65915F4021CB}"/>
              </a:ext>
            </a:extLst>
          </p:cNvPr>
          <p:cNvSpPr txBox="1"/>
          <p:nvPr/>
        </p:nvSpPr>
        <p:spPr>
          <a:xfrm>
            <a:off x="4098932" y="2514962"/>
            <a:ext cx="1276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bioactivity</a:t>
            </a:r>
          </a:p>
          <a:p>
            <a:r>
              <a:rPr lang="en-US" dirty="0"/>
              <a:t>(predicted)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4EE831B-5FB2-D769-3979-E2327FAF4A95}"/>
              </a:ext>
            </a:extLst>
          </p:cNvPr>
          <p:cNvCxnSpPr>
            <a:cxnSpLocks/>
          </p:cNvCxnSpPr>
          <p:nvPr/>
        </p:nvCxnSpPr>
        <p:spPr>
          <a:xfrm>
            <a:off x="1489746" y="2704737"/>
            <a:ext cx="792743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3233996-2148-EC5A-1109-C65733ADDD41}"/>
              </a:ext>
            </a:extLst>
          </p:cNvPr>
          <p:cNvCxnSpPr>
            <a:cxnSpLocks/>
          </p:cNvCxnSpPr>
          <p:nvPr/>
        </p:nvCxnSpPr>
        <p:spPr>
          <a:xfrm>
            <a:off x="1489745" y="4283058"/>
            <a:ext cx="792743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8D6F7CA-9177-BE44-6236-7399D111420B}"/>
              </a:ext>
            </a:extLst>
          </p:cNvPr>
          <p:cNvCxnSpPr>
            <a:cxnSpLocks/>
          </p:cNvCxnSpPr>
          <p:nvPr/>
        </p:nvCxnSpPr>
        <p:spPr>
          <a:xfrm>
            <a:off x="3222956" y="2704182"/>
            <a:ext cx="792743" cy="0"/>
          </a:xfrm>
          <a:prstGeom prst="straightConnector1">
            <a:avLst/>
          </a:prstGeom>
          <a:ln w="57150"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4040A66-CADF-8413-C038-B10D3B1AF20C}"/>
              </a:ext>
            </a:extLst>
          </p:cNvPr>
          <p:cNvCxnSpPr>
            <a:cxnSpLocks/>
          </p:cNvCxnSpPr>
          <p:nvPr/>
        </p:nvCxnSpPr>
        <p:spPr>
          <a:xfrm>
            <a:off x="3222957" y="4283058"/>
            <a:ext cx="792743" cy="0"/>
          </a:xfrm>
          <a:prstGeom prst="straightConnector1">
            <a:avLst/>
          </a:prstGeom>
          <a:ln w="57150"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1B1ADEE-8CA3-261F-928F-2EBD79E84BB2}"/>
              </a:ext>
            </a:extLst>
          </p:cNvPr>
          <p:cNvCxnSpPr>
            <a:cxnSpLocks/>
          </p:cNvCxnSpPr>
          <p:nvPr/>
        </p:nvCxnSpPr>
        <p:spPr>
          <a:xfrm>
            <a:off x="869330" y="3161293"/>
            <a:ext cx="0" cy="858048"/>
          </a:xfrm>
          <a:prstGeom prst="straightConnector1">
            <a:avLst/>
          </a:prstGeom>
          <a:ln w="57150">
            <a:solidFill>
              <a:srgbClr val="45454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DCA2C2A-D7A5-6262-EFF0-9709ED67F5D0}"/>
              </a:ext>
            </a:extLst>
          </p:cNvPr>
          <p:cNvSpPr txBox="1"/>
          <p:nvPr/>
        </p:nvSpPr>
        <p:spPr>
          <a:xfrm>
            <a:off x="2322005" y="4090554"/>
            <a:ext cx="900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FP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6112A77-123A-1F8D-6D5B-31C86151E6D0}"/>
              </a:ext>
            </a:extLst>
          </p:cNvPr>
          <p:cNvSpPr txBox="1"/>
          <p:nvPr/>
        </p:nvSpPr>
        <p:spPr>
          <a:xfrm>
            <a:off x="4111397" y="4090554"/>
            <a:ext cx="16703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bioactivity</a:t>
            </a:r>
          </a:p>
          <a:p>
            <a:r>
              <a:rPr lang="en-US" dirty="0"/>
              <a:t>(predicted)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49CF4B5-3B96-F059-2C29-04941371B6BE}"/>
              </a:ext>
            </a:extLst>
          </p:cNvPr>
          <p:cNvCxnSpPr>
            <a:cxnSpLocks/>
          </p:cNvCxnSpPr>
          <p:nvPr/>
        </p:nvCxnSpPr>
        <p:spPr>
          <a:xfrm>
            <a:off x="4714207" y="3200144"/>
            <a:ext cx="0" cy="858048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7041E79-95F7-D5E8-BCAE-20E36DE34B09}"/>
              </a:ext>
            </a:extLst>
          </p:cNvPr>
          <p:cNvSpPr txBox="1"/>
          <p:nvPr/>
        </p:nvSpPr>
        <p:spPr>
          <a:xfrm>
            <a:off x="4785470" y="3429000"/>
            <a:ext cx="808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Δpred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DE3645-3581-0113-5EAF-221E1B648F91}"/>
              </a:ext>
            </a:extLst>
          </p:cNvPr>
          <p:cNvSpPr txBox="1"/>
          <p:nvPr/>
        </p:nvSpPr>
        <p:spPr>
          <a:xfrm>
            <a:off x="817145" y="3212700"/>
            <a:ext cx="1640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virtual </a:t>
            </a:r>
          </a:p>
          <a:p>
            <a:pPr algn="ctr"/>
            <a:r>
              <a:rPr lang="en-US" b="1" dirty="0"/>
              <a:t>atom ablation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E78303-8FFF-C961-48C8-EE5858BC2846}"/>
              </a:ext>
            </a:extLst>
          </p:cNvPr>
          <p:cNvSpPr txBox="1"/>
          <p:nvPr/>
        </p:nvSpPr>
        <p:spPr>
          <a:xfrm>
            <a:off x="-21770" y="6181138"/>
            <a:ext cx="61177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Riniker, S.; Landrum, G. A. </a:t>
            </a:r>
            <a:r>
              <a:rPr lang="en-US" sz="1100" i="1" dirty="0"/>
              <a:t>J </a:t>
            </a:r>
            <a:r>
              <a:rPr lang="en-US" sz="1100" i="1" dirty="0" err="1"/>
              <a:t>Cheminform</a:t>
            </a:r>
            <a:r>
              <a:rPr lang="en-US" sz="1100" i="1" dirty="0"/>
              <a:t> </a:t>
            </a:r>
            <a:r>
              <a:rPr lang="en-US" sz="1100" b="1" dirty="0"/>
              <a:t>2013</a:t>
            </a:r>
            <a:r>
              <a:rPr lang="en-US" sz="1100" dirty="0"/>
              <a:t>, 5 (1).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266A8D-BDB9-D12D-1074-68E5F0DCA476}"/>
              </a:ext>
            </a:extLst>
          </p:cNvPr>
          <p:cNvSpPr txBox="1"/>
          <p:nvPr/>
        </p:nvSpPr>
        <p:spPr>
          <a:xfrm>
            <a:off x="8248960" y="892369"/>
            <a:ext cx="2184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Δpred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visualization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45AB4E4-2C19-A4C8-3D3F-EF32D4F44358}"/>
              </a:ext>
            </a:extLst>
          </p:cNvPr>
          <p:cNvGrpSpPr/>
          <p:nvPr/>
        </p:nvGrpSpPr>
        <p:grpSpPr>
          <a:xfrm>
            <a:off x="3256784" y="2015960"/>
            <a:ext cx="667620" cy="621264"/>
            <a:chOff x="3271072" y="2015960"/>
            <a:chExt cx="667620" cy="6212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4024BA9-7FD8-2F86-2F7C-2199C4821ED8}"/>
                </a:ext>
              </a:extLst>
            </p:cNvPr>
            <p:cNvSpPr/>
            <p:nvPr/>
          </p:nvSpPr>
          <p:spPr>
            <a:xfrm>
              <a:off x="3271072" y="2015960"/>
              <a:ext cx="667620" cy="62126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372B56D-D663-2FDF-BD14-C7ABD95B01C0}"/>
                </a:ext>
              </a:extLst>
            </p:cNvPr>
            <p:cNvGrpSpPr/>
            <p:nvPr/>
          </p:nvGrpSpPr>
          <p:grpSpPr>
            <a:xfrm>
              <a:off x="3375687" y="2102294"/>
              <a:ext cx="501558" cy="369332"/>
              <a:chOff x="6352023" y="1231032"/>
              <a:chExt cx="835317" cy="691045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90171FA-0F39-651E-78F2-3E340EFEBA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22833" y="1584800"/>
                <a:ext cx="105076" cy="274539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05B2F3F-E3C4-B90A-2EEC-CEBFDED44F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7743" y="1584800"/>
                <a:ext cx="105076" cy="274539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ED177C03-305B-108B-86B5-A6DE2B09BD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81595" y="1600824"/>
                <a:ext cx="105076" cy="274539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CE6F7FE8-99C3-F1F0-0077-9CF24FBB3C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6505" y="1600824"/>
                <a:ext cx="105076" cy="274539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9988BE4-EFDF-7BF0-E734-D5F6F57F6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0754" y="1363641"/>
                <a:ext cx="210380" cy="237353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80B8D5F-A200-C5CD-12C6-978A2E3382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25839" y="1356634"/>
                <a:ext cx="210380" cy="237353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B8FE89A-0DF0-AFA6-7D52-91428EB5FA1C}"/>
                  </a:ext>
                </a:extLst>
              </p:cNvPr>
              <p:cNvSpPr/>
              <p:nvPr/>
            </p:nvSpPr>
            <p:spPr>
              <a:xfrm>
                <a:off x="6646046" y="1231032"/>
                <a:ext cx="200149" cy="2081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FD78630-FF80-34A7-2321-9FB6892A4D37}"/>
                  </a:ext>
                </a:extLst>
              </p:cNvPr>
              <p:cNvSpPr/>
              <p:nvPr/>
            </p:nvSpPr>
            <p:spPr>
              <a:xfrm>
                <a:off x="6452460" y="1519792"/>
                <a:ext cx="150565" cy="136121"/>
              </a:xfrm>
              <a:prstGeom prst="ellipse">
                <a:avLst/>
              </a:prstGeom>
              <a:solidFill>
                <a:srgbClr val="91CCD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0383EA3-10AD-12E9-D830-B94C2DD644D4}"/>
                  </a:ext>
                </a:extLst>
              </p:cNvPr>
              <p:cNvSpPr/>
              <p:nvPr/>
            </p:nvSpPr>
            <p:spPr>
              <a:xfrm>
                <a:off x="6559258" y="1785956"/>
                <a:ext cx="150564" cy="136121"/>
              </a:xfrm>
              <a:prstGeom prst="ellipse">
                <a:avLst/>
              </a:prstGeom>
              <a:solidFill>
                <a:srgbClr val="4E9BB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FFE1AFE-C2A2-6AE5-93DC-586E72D1CFC3}"/>
                  </a:ext>
                </a:extLst>
              </p:cNvPr>
              <p:cNvSpPr/>
              <p:nvPr/>
            </p:nvSpPr>
            <p:spPr>
              <a:xfrm>
                <a:off x="6352023" y="1781762"/>
                <a:ext cx="146269" cy="13612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26" name="Triangle 25">
                <a:extLst>
                  <a:ext uri="{FF2B5EF4-FFF2-40B4-BE49-F238E27FC236}">
                    <a16:creationId xmlns:a16="http://schemas.microsoft.com/office/drawing/2014/main" id="{D9F0762D-C325-D408-E109-54E81C1E8B42}"/>
                  </a:ext>
                </a:extLst>
              </p:cNvPr>
              <p:cNvSpPr/>
              <p:nvPr/>
            </p:nvSpPr>
            <p:spPr>
              <a:xfrm>
                <a:off x="6882358" y="1520276"/>
                <a:ext cx="210379" cy="131851"/>
              </a:xfrm>
              <a:prstGeom prst="triangle">
                <a:avLst>
                  <a:gd name="adj" fmla="val 50000"/>
                </a:avLst>
              </a:prstGeom>
              <a:solidFill>
                <a:srgbClr val="FFD08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33" name="5-point Star 54">
                <a:extLst>
                  <a:ext uri="{FF2B5EF4-FFF2-40B4-BE49-F238E27FC236}">
                    <a16:creationId xmlns:a16="http://schemas.microsoft.com/office/drawing/2014/main" id="{5AD56F5B-A440-62AB-8427-02FADF917349}"/>
                  </a:ext>
                </a:extLst>
              </p:cNvPr>
              <p:cNvSpPr/>
              <p:nvPr/>
            </p:nvSpPr>
            <p:spPr>
              <a:xfrm>
                <a:off x="6794898" y="1754328"/>
                <a:ext cx="192468" cy="165865"/>
              </a:xfrm>
              <a:prstGeom prst="star5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557D328-1192-D2A6-1EBF-D3350C55268E}"/>
                  </a:ext>
                </a:extLst>
              </p:cNvPr>
              <p:cNvSpPr/>
              <p:nvPr/>
            </p:nvSpPr>
            <p:spPr>
              <a:xfrm>
                <a:off x="7025021" y="1773374"/>
                <a:ext cx="162319" cy="13612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E9EB2AA-BC6A-F302-4E57-0FF8BC91274B}"/>
              </a:ext>
            </a:extLst>
          </p:cNvPr>
          <p:cNvGrpSpPr/>
          <p:nvPr/>
        </p:nvGrpSpPr>
        <p:grpSpPr>
          <a:xfrm>
            <a:off x="3252315" y="3595593"/>
            <a:ext cx="667620" cy="621264"/>
            <a:chOff x="3271072" y="2015960"/>
            <a:chExt cx="667620" cy="621264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C3BD7A2-061F-E303-CF41-1D7B86B9433E}"/>
                </a:ext>
              </a:extLst>
            </p:cNvPr>
            <p:cNvSpPr/>
            <p:nvPr/>
          </p:nvSpPr>
          <p:spPr>
            <a:xfrm>
              <a:off x="3271072" y="2015960"/>
              <a:ext cx="667620" cy="62126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4060A86A-CC62-AA96-605E-FDC94D9CBA52}"/>
                </a:ext>
              </a:extLst>
            </p:cNvPr>
            <p:cNvGrpSpPr/>
            <p:nvPr/>
          </p:nvGrpSpPr>
          <p:grpSpPr>
            <a:xfrm>
              <a:off x="3375687" y="2102294"/>
              <a:ext cx="501558" cy="369332"/>
              <a:chOff x="6352023" y="1231032"/>
              <a:chExt cx="835317" cy="691045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B6F5875-29E2-21B9-58F0-D6BC481B25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22833" y="1584800"/>
                <a:ext cx="105076" cy="274539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10D4A43C-08BC-14B9-43F1-AC86DB8F9B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7743" y="1584800"/>
                <a:ext cx="105076" cy="274539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ACA89EAC-B45A-D05B-3546-507AF381A6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81595" y="1600824"/>
                <a:ext cx="105076" cy="274539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36E9EA1-5808-D0BD-82C5-52C4B50B2A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6505" y="1600824"/>
                <a:ext cx="105076" cy="274539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C3227BC2-0F9A-B7E3-4B8B-1E0220715A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0754" y="1363641"/>
                <a:ext cx="210380" cy="237353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E7C2E96-D7D2-EE32-DED4-F80E7E3B21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25839" y="1356634"/>
                <a:ext cx="210380" cy="237353"/>
              </a:xfrm>
              <a:prstGeom prst="line">
                <a:avLst/>
              </a:prstGeom>
              <a:ln w="28575">
                <a:solidFill>
                  <a:srgbClr val="68607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FE2ADF0D-221F-F2CB-2FF3-6AC00D77421F}"/>
                  </a:ext>
                </a:extLst>
              </p:cNvPr>
              <p:cNvSpPr/>
              <p:nvPr/>
            </p:nvSpPr>
            <p:spPr>
              <a:xfrm>
                <a:off x="6646046" y="1231032"/>
                <a:ext cx="200149" cy="2081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0F84FC8F-9DCE-E578-ABE1-F6EA6947BBBB}"/>
                  </a:ext>
                </a:extLst>
              </p:cNvPr>
              <p:cNvSpPr/>
              <p:nvPr/>
            </p:nvSpPr>
            <p:spPr>
              <a:xfrm>
                <a:off x="6452460" y="1519792"/>
                <a:ext cx="150565" cy="136121"/>
              </a:xfrm>
              <a:prstGeom prst="ellipse">
                <a:avLst/>
              </a:prstGeom>
              <a:solidFill>
                <a:srgbClr val="91CCD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AB1D5F10-2354-7017-68D9-424AEEDD166D}"/>
                  </a:ext>
                </a:extLst>
              </p:cNvPr>
              <p:cNvSpPr/>
              <p:nvPr/>
            </p:nvSpPr>
            <p:spPr>
              <a:xfrm>
                <a:off x="6559258" y="1785956"/>
                <a:ext cx="150564" cy="136121"/>
              </a:xfrm>
              <a:prstGeom prst="ellipse">
                <a:avLst/>
              </a:prstGeom>
              <a:solidFill>
                <a:srgbClr val="4E9BB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6E25F60E-7626-4696-7792-63E474416DBE}"/>
                  </a:ext>
                </a:extLst>
              </p:cNvPr>
              <p:cNvSpPr/>
              <p:nvPr/>
            </p:nvSpPr>
            <p:spPr>
              <a:xfrm>
                <a:off x="6352023" y="1781762"/>
                <a:ext cx="146269" cy="13612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58" name="Triangle 57">
                <a:extLst>
                  <a:ext uri="{FF2B5EF4-FFF2-40B4-BE49-F238E27FC236}">
                    <a16:creationId xmlns:a16="http://schemas.microsoft.com/office/drawing/2014/main" id="{E1FCF186-CF8C-796A-11EE-1AF8DA69616B}"/>
                  </a:ext>
                </a:extLst>
              </p:cNvPr>
              <p:cNvSpPr/>
              <p:nvPr/>
            </p:nvSpPr>
            <p:spPr>
              <a:xfrm>
                <a:off x="6882358" y="1520276"/>
                <a:ext cx="210379" cy="131851"/>
              </a:xfrm>
              <a:prstGeom prst="triangle">
                <a:avLst>
                  <a:gd name="adj" fmla="val 50000"/>
                </a:avLst>
              </a:prstGeom>
              <a:solidFill>
                <a:srgbClr val="FFD08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59" name="5-point Star 54">
                <a:extLst>
                  <a:ext uri="{FF2B5EF4-FFF2-40B4-BE49-F238E27FC236}">
                    <a16:creationId xmlns:a16="http://schemas.microsoft.com/office/drawing/2014/main" id="{93BC07DF-6990-0474-7B94-0B5B699EB0BA}"/>
                  </a:ext>
                </a:extLst>
              </p:cNvPr>
              <p:cNvSpPr/>
              <p:nvPr/>
            </p:nvSpPr>
            <p:spPr>
              <a:xfrm>
                <a:off x="6794898" y="1754328"/>
                <a:ext cx="192468" cy="165865"/>
              </a:xfrm>
              <a:prstGeom prst="star5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CF34A9E-6F14-141C-0EB7-68C1A89936B2}"/>
                  </a:ext>
                </a:extLst>
              </p:cNvPr>
              <p:cNvSpPr/>
              <p:nvPr/>
            </p:nvSpPr>
            <p:spPr>
              <a:xfrm>
                <a:off x="7025021" y="1773374"/>
                <a:ext cx="162319" cy="136121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Avenir Book" panose="02000503020000020003" pitchFamily="2" charset="0"/>
                </a:endParaRPr>
              </a:p>
            </p:txBody>
          </p:sp>
        </p:grp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0085588E-BF35-8AF5-025A-3585FEC0F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19" y="2221582"/>
            <a:ext cx="1168400" cy="9652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DB2A7FB-BC73-29BC-1354-4366CA2ED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822" y="3860511"/>
            <a:ext cx="11684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90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0" grpId="0"/>
      <p:bldP spid="22" grpId="0"/>
      <p:bldP spid="34" grpId="0"/>
      <p:bldP spid="35" grpId="0"/>
      <p:bldP spid="37" grpId="0"/>
      <p:bldP spid="38" grpId="0"/>
      <p:bldP spid="4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68324-BD5B-0F28-3F29-963BF4F8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4CD9FC-42A3-78E7-1FA0-18E7F01666CB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Recap on Molecular Fingerprints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022A2C-42A9-D965-1A6A-0363A67E7FD7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6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BE292DC2-A977-E20F-3E13-D2B689AD8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64AFAA-8329-0C6D-C006-A35C5A771810}"/>
              </a:ext>
            </a:extLst>
          </p:cNvPr>
          <p:cNvSpPr txBox="1"/>
          <p:nvPr/>
        </p:nvSpPr>
        <p:spPr>
          <a:xfrm>
            <a:off x="499872" y="1503805"/>
            <a:ext cx="111922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When to use:</a:t>
            </a:r>
          </a:p>
          <a:p>
            <a:pPr marL="0" indent="0">
              <a:buNone/>
            </a:pPr>
            <a:endParaRPr lang="en-US" b="1" dirty="0"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Aptos" panose="020B0004020202020204" pitchFamily="34" charset="0"/>
              </a:rPr>
              <a:t>Good for a fast baseline small molecules activity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ptos" panose="020B0004020202020204" pitchFamily="34" charset="0"/>
              </a:rPr>
              <a:t>Efficient with relatively small datasets (100 – 10k molecules)</a:t>
            </a:r>
          </a:p>
          <a:p>
            <a:endParaRPr lang="en-US" b="1" dirty="0">
              <a:latin typeface="Aptos" panose="020B0004020202020204" pitchFamily="34" charset="0"/>
            </a:endParaRPr>
          </a:p>
          <a:p>
            <a:endParaRPr lang="en-US" b="1" dirty="0">
              <a:latin typeface="Aptos" panose="020B0004020202020204" pitchFamily="34" charset="0"/>
            </a:endParaRPr>
          </a:p>
          <a:p>
            <a:r>
              <a:rPr lang="en-US" b="1" dirty="0">
                <a:latin typeface="Aptos" panose="020B0004020202020204" pitchFamily="34" charset="0"/>
              </a:rPr>
              <a:t>When not to use: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Aptos" panose="020B0004020202020204" pitchFamily="34" charset="0"/>
              </a:rPr>
              <a:t>Properties/Activities depend on 3-D shape or conformers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ptos" panose="020B0004020202020204" pitchFamily="34" charset="0"/>
              </a:rPr>
              <a:t>Very small datasets 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ptos" panose="020B0004020202020204" pitchFamily="34" charset="0"/>
              </a:rPr>
              <a:t>Non-organic molecules/other chemical systems</a:t>
            </a:r>
          </a:p>
        </p:txBody>
      </p:sp>
    </p:spTree>
    <p:extLst>
      <p:ext uri="{BB962C8B-B14F-4D97-AF65-F5344CB8AC3E}">
        <p14:creationId xmlns:p14="http://schemas.microsoft.com/office/powerpoint/2010/main" val="3109271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39297-664E-3ABB-D005-D894B1801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EE9DE1-A338-5278-ADC8-F2AC6E6D4566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From String Based Representation to Numeric Representations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AD002E-4C60-097A-65A1-9A853AF0BD9A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95E88A-64D8-6A79-2AA6-194AD5219EA4}"/>
              </a:ext>
            </a:extLst>
          </p:cNvPr>
          <p:cNvSpPr txBox="1"/>
          <p:nvPr/>
        </p:nvSpPr>
        <p:spPr>
          <a:xfrm>
            <a:off x="18288" y="6142418"/>
            <a:ext cx="151242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Wigh, D. S.; Goodman, J. M.; Lapkin, A. A. </a:t>
            </a:r>
            <a:r>
              <a:rPr lang="en-US" sz="1100" i="1" dirty="0"/>
              <a:t>WIREs </a:t>
            </a:r>
            <a:r>
              <a:rPr lang="en-US" sz="1100" i="1" dirty="0" err="1"/>
              <a:t>Comput</a:t>
            </a:r>
            <a:r>
              <a:rPr lang="en-US" sz="1100" i="1" dirty="0"/>
              <a:t> Mol Sci </a:t>
            </a:r>
            <a:r>
              <a:rPr lang="en-US" sz="1100" b="1" dirty="0"/>
              <a:t>2022</a:t>
            </a:r>
            <a:r>
              <a:rPr lang="en-US" sz="1100" dirty="0"/>
              <a:t>, 12 (5).</a:t>
            </a:r>
          </a:p>
        </p:txBody>
      </p:sp>
      <p:pic>
        <p:nvPicPr>
          <p:cNvPr id="4" name="Picture 3" descr="Details are in the caption following the image">
            <a:extLst>
              <a:ext uri="{FF2B5EF4-FFF2-40B4-BE49-F238E27FC236}">
                <a16:creationId xmlns:a16="http://schemas.microsoft.com/office/drawing/2014/main" id="{B6CE6924-71CD-9DEA-D4DA-A76AF3ED65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706"/>
          <a:stretch>
            <a:fillRect/>
          </a:stretch>
        </p:blipFill>
        <p:spPr>
          <a:xfrm>
            <a:off x="1542615" y="1835274"/>
            <a:ext cx="8976141" cy="1682593"/>
          </a:xfrm>
          <a:prstGeom prst="rect">
            <a:avLst/>
          </a:prstGeom>
        </p:spPr>
      </p:pic>
      <p:pic>
        <p:nvPicPr>
          <p:cNvPr id="9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7B5CF45B-1F80-E056-00DC-72C185094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0DF80D8-43B7-2CF0-176A-6F73FC45B9AD}"/>
              </a:ext>
            </a:extLst>
          </p:cNvPr>
          <p:cNvSpPr/>
          <p:nvPr/>
        </p:nvSpPr>
        <p:spPr>
          <a:xfrm>
            <a:off x="2074398" y="2774917"/>
            <a:ext cx="506186" cy="742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E9EA11-8254-6902-8CF3-2F2DCB2A3BD0}"/>
              </a:ext>
            </a:extLst>
          </p:cNvPr>
          <p:cNvSpPr/>
          <p:nvPr/>
        </p:nvSpPr>
        <p:spPr>
          <a:xfrm>
            <a:off x="4115370" y="2793205"/>
            <a:ext cx="506186" cy="742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383636-9D0C-8464-D6CF-2576274642B3}"/>
              </a:ext>
            </a:extLst>
          </p:cNvPr>
          <p:cNvSpPr/>
          <p:nvPr/>
        </p:nvSpPr>
        <p:spPr>
          <a:xfrm>
            <a:off x="4883117" y="3514932"/>
            <a:ext cx="5475441" cy="795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87D5550B-DDE9-44E4-3022-2B816E9245CD}"/>
              </a:ext>
            </a:extLst>
          </p:cNvPr>
          <p:cNvSpPr/>
          <p:nvPr/>
        </p:nvSpPr>
        <p:spPr>
          <a:xfrm rot="10339093">
            <a:off x="3356155" y="3033033"/>
            <a:ext cx="3773120" cy="435543"/>
          </a:xfrm>
          <a:custGeom>
            <a:avLst/>
            <a:gdLst>
              <a:gd name="csX0" fmla="*/ 1886560 w 3773120"/>
              <a:gd name="csY0" fmla="*/ 0 h 435543"/>
              <a:gd name="csX1" fmla="*/ 3773120 w 3773120"/>
              <a:gd name="csY1" fmla="*/ 217772 h 435543"/>
              <a:gd name="csX2" fmla="*/ 3282614 w 3773120"/>
              <a:gd name="csY2" fmla="*/ 217772 h 435543"/>
              <a:gd name="csX3" fmla="*/ 2867571 w 3773120"/>
              <a:gd name="csY3" fmla="*/ 217772 h 435543"/>
              <a:gd name="csX4" fmla="*/ 2395931 w 3773120"/>
              <a:gd name="csY4" fmla="*/ 217772 h 435543"/>
              <a:gd name="csX5" fmla="*/ 1886560 w 3773120"/>
              <a:gd name="csY5" fmla="*/ 217772 h 435543"/>
              <a:gd name="csX6" fmla="*/ 1886560 w 3773120"/>
              <a:gd name="csY6" fmla="*/ 0 h 435543"/>
              <a:gd name="csX0" fmla="*/ 1886560 w 3773120"/>
              <a:gd name="csY0" fmla="*/ 0 h 435543"/>
              <a:gd name="csX1" fmla="*/ 3773120 w 3773120"/>
              <a:gd name="csY1" fmla="*/ 217772 h 435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773120" h="435543" stroke="0" extrusionOk="0">
                <a:moveTo>
                  <a:pt x="1886560" y="0"/>
                </a:moveTo>
                <a:cubicBezTo>
                  <a:pt x="2930177" y="-12781"/>
                  <a:pt x="3791740" y="112499"/>
                  <a:pt x="3773120" y="217772"/>
                </a:cubicBezTo>
                <a:cubicBezTo>
                  <a:pt x="3556117" y="236778"/>
                  <a:pt x="3403255" y="213481"/>
                  <a:pt x="3282614" y="217772"/>
                </a:cubicBezTo>
                <a:cubicBezTo>
                  <a:pt x="3161973" y="222063"/>
                  <a:pt x="3024773" y="173171"/>
                  <a:pt x="2867571" y="217772"/>
                </a:cubicBezTo>
                <a:cubicBezTo>
                  <a:pt x="2710369" y="262373"/>
                  <a:pt x="2552368" y="195323"/>
                  <a:pt x="2395931" y="217772"/>
                </a:cubicBezTo>
                <a:cubicBezTo>
                  <a:pt x="2239494" y="240221"/>
                  <a:pt x="2021673" y="210001"/>
                  <a:pt x="1886560" y="217772"/>
                </a:cubicBezTo>
                <a:cubicBezTo>
                  <a:pt x="1861575" y="111693"/>
                  <a:pt x="1892459" y="73396"/>
                  <a:pt x="1886560" y="0"/>
                </a:cubicBezTo>
                <a:close/>
              </a:path>
              <a:path w="3773120" h="435543" fill="none" extrusionOk="0">
                <a:moveTo>
                  <a:pt x="1886560" y="0"/>
                </a:moveTo>
                <a:cubicBezTo>
                  <a:pt x="2902059" y="5542"/>
                  <a:pt x="3768577" y="91019"/>
                  <a:pt x="3773120" y="217772"/>
                </a:cubicBezTo>
              </a:path>
              <a:path w="3773120" h="435543" fill="none" stroke="0" extrusionOk="0">
                <a:moveTo>
                  <a:pt x="1886560" y="0"/>
                </a:moveTo>
                <a:cubicBezTo>
                  <a:pt x="2943388" y="4011"/>
                  <a:pt x="3748269" y="109513"/>
                  <a:pt x="3773120" y="217772"/>
                </a:cubicBezTo>
              </a:path>
            </a:pathLst>
          </a:custGeom>
          <a:ln w="38100" cmpd="sng">
            <a:solidFill>
              <a:srgbClr val="C00000"/>
            </a:solidFill>
            <a:headEnd type="triangle" w="lg" len="lg"/>
            <a:tailEnd type="none" w="med" len="lg"/>
            <a:extLst>
              <a:ext uri="{C807C97D-BFC1-408E-A445-0C87EB9F89A2}">
                <ask:lineSketchStyleProps xmlns:ask="http://schemas.microsoft.com/office/drawing/2018/sketchyshapes" sd="4266498984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D4BD496A-893A-84E4-0413-AF6984C87A1F}"/>
              </a:ext>
            </a:extLst>
          </p:cNvPr>
          <p:cNvSpPr/>
          <p:nvPr/>
        </p:nvSpPr>
        <p:spPr>
          <a:xfrm rot="10287034">
            <a:off x="3329542" y="2414274"/>
            <a:ext cx="7294423" cy="1088879"/>
          </a:xfrm>
          <a:custGeom>
            <a:avLst/>
            <a:gdLst>
              <a:gd name="csX0" fmla="*/ 3647212 w 7294423"/>
              <a:gd name="csY0" fmla="*/ 0 h 1088879"/>
              <a:gd name="csX1" fmla="*/ 7294424 w 7294423"/>
              <a:gd name="csY1" fmla="*/ 544440 h 1088879"/>
              <a:gd name="csX2" fmla="*/ 6846338 w 7294423"/>
              <a:gd name="csY2" fmla="*/ 544440 h 1088879"/>
              <a:gd name="csX3" fmla="*/ 6434724 w 7294423"/>
              <a:gd name="csY3" fmla="*/ 544440 h 1088879"/>
              <a:gd name="csX4" fmla="*/ 5913694 w 7294423"/>
              <a:gd name="csY4" fmla="*/ 544440 h 1088879"/>
              <a:gd name="csX5" fmla="*/ 5392663 w 7294423"/>
              <a:gd name="csY5" fmla="*/ 544440 h 1088879"/>
              <a:gd name="csX6" fmla="*/ 4871633 w 7294423"/>
              <a:gd name="csY6" fmla="*/ 544440 h 1088879"/>
              <a:gd name="csX7" fmla="*/ 4460019 w 7294423"/>
              <a:gd name="csY7" fmla="*/ 544440 h 1088879"/>
              <a:gd name="csX8" fmla="*/ 3647212 w 7294423"/>
              <a:gd name="csY8" fmla="*/ 544440 h 1088879"/>
              <a:gd name="csX9" fmla="*/ 3647212 w 7294423"/>
              <a:gd name="csY9" fmla="*/ 0 h 1088879"/>
              <a:gd name="csX0" fmla="*/ 3647212 w 7294423"/>
              <a:gd name="csY0" fmla="*/ 0 h 1088879"/>
              <a:gd name="csX1" fmla="*/ 7294424 w 7294423"/>
              <a:gd name="csY1" fmla="*/ 544440 h 108887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294423" h="1088879" stroke="0" extrusionOk="0">
                <a:moveTo>
                  <a:pt x="3647212" y="0"/>
                </a:moveTo>
                <a:cubicBezTo>
                  <a:pt x="5572676" y="3800"/>
                  <a:pt x="7319606" y="268512"/>
                  <a:pt x="7294424" y="544440"/>
                </a:cubicBezTo>
                <a:cubicBezTo>
                  <a:pt x="7140085" y="586475"/>
                  <a:pt x="7059788" y="539712"/>
                  <a:pt x="6846338" y="544440"/>
                </a:cubicBezTo>
                <a:cubicBezTo>
                  <a:pt x="6632888" y="549168"/>
                  <a:pt x="6543932" y="530642"/>
                  <a:pt x="6434724" y="544440"/>
                </a:cubicBezTo>
                <a:cubicBezTo>
                  <a:pt x="6325516" y="558238"/>
                  <a:pt x="6024801" y="490351"/>
                  <a:pt x="5913694" y="544440"/>
                </a:cubicBezTo>
                <a:cubicBezTo>
                  <a:pt x="5802587" y="598529"/>
                  <a:pt x="5643833" y="524984"/>
                  <a:pt x="5392663" y="544440"/>
                </a:cubicBezTo>
                <a:cubicBezTo>
                  <a:pt x="5141493" y="563896"/>
                  <a:pt x="5030355" y="535916"/>
                  <a:pt x="4871633" y="544440"/>
                </a:cubicBezTo>
                <a:cubicBezTo>
                  <a:pt x="4712911" y="552964"/>
                  <a:pt x="4655618" y="497432"/>
                  <a:pt x="4460019" y="544440"/>
                </a:cubicBezTo>
                <a:cubicBezTo>
                  <a:pt x="4264420" y="591448"/>
                  <a:pt x="4037415" y="516451"/>
                  <a:pt x="3647212" y="544440"/>
                </a:cubicBezTo>
                <a:cubicBezTo>
                  <a:pt x="3625175" y="272501"/>
                  <a:pt x="3684006" y="210029"/>
                  <a:pt x="3647212" y="0"/>
                </a:cubicBezTo>
                <a:close/>
              </a:path>
              <a:path w="7294423" h="1088879" fill="none" extrusionOk="0">
                <a:moveTo>
                  <a:pt x="3647212" y="0"/>
                </a:moveTo>
                <a:cubicBezTo>
                  <a:pt x="5663615" y="15267"/>
                  <a:pt x="7308515" y="218435"/>
                  <a:pt x="7294424" y="544440"/>
                </a:cubicBezTo>
              </a:path>
              <a:path w="7294423" h="1088879" fill="none" stroke="0" extrusionOk="0">
                <a:moveTo>
                  <a:pt x="3647212" y="0"/>
                </a:moveTo>
                <a:cubicBezTo>
                  <a:pt x="5697159" y="28045"/>
                  <a:pt x="7334948" y="282547"/>
                  <a:pt x="7294424" y="544440"/>
                </a:cubicBezTo>
              </a:path>
            </a:pathLst>
          </a:custGeom>
          <a:ln w="38100" cmpd="sng">
            <a:solidFill>
              <a:srgbClr val="C00000"/>
            </a:solidFill>
            <a:headEnd type="triangle" w="lg" len="lg"/>
            <a:tailEnd type="none" w="med" len="lg"/>
            <a:extLst>
              <a:ext uri="{C807C97D-BFC1-408E-A445-0C87EB9F89A2}">
                <ask:lineSketchStyleProps xmlns:ask="http://schemas.microsoft.com/office/drawing/2018/sketchyshapes" sd="2650216993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7949A6B1-7C53-12D0-B991-B0F1140C9E9E}"/>
              </a:ext>
            </a:extLst>
          </p:cNvPr>
          <p:cNvSpPr/>
          <p:nvPr/>
        </p:nvSpPr>
        <p:spPr>
          <a:xfrm rot="10333483">
            <a:off x="3337090" y="2057485"/>
            <a:ext cx="10983021" cy="1455366"/>
          </a:xfrm>
          <a:custGeom>
            <a:avLst/>
            <a:gdLst>
              <a:gd name="csX0" fmla="*/ 5491511 w 10983021"/>
              <a:gd name="csY0" fmla="*/ 0 h 1455366"/>
              <a:gd name="csX1" fmla="*/ 10983022 w 10983021"/>
              <a:gd name="csY1" fmla="*/ 727683 h 1455366"/>
              <a:gd name="csX2" fmla="*/ 10324041 w 10983021"/>
              <a:gd name="csY2" fmla="*/ 727683 h 1455366"/>
              <a:gd name="csX3" fmla="*/ 9829805 w 10983021"/>
              <a:gd name="csY3" fmla="*/ 727683 h 1455366"/>
              <a:gd name="csX4" fmla="*/ 9390484 w 10983021"/>
              <a:gd name="csY4" fmla="*/ 727683 h 1455366"/>
              <a:gd name="csX5" fmla="*/ 8786418 w 10983021"/>
              <a:gd name="csY5" fmla="*/ 727683 h 1455366"/>
              <a:gd name="csX6" fmla="*/ 8292182 w 10983021"/>
              <a:gd name="csY6" fmla="*/ 727683 h 1455366"/>
              <a:gd name="csX7" fmla="*/ 7633200 w 10983021"/>
              <a:gd name="csY7" fmla="*/ 727683 h 1455366"/>
              <a:gd name="csX8" fmla="*/ 7193879 w 10983021"/>
              <a:gd name="csY8" fmla="*/ 727683 h 1455366"/>
              <a:gd name="csX9" fmla="*/ 6534898 w 10983021"/>
              <a:gd name="csY9" fmla="*/ 727683 h 1455366"/>
              <a:gd name="csX10" fmla="*/ 6150492 w 10983021"/>
              <a:gd name="csY10" fmla="*/ 727683 h 1455366"/>
              <a:gd name="csX11" fmla="*/ 5491511 w 10983021"/>
              <a:gd name="csY11" fmla="*/ 727683 h 1455366"/>
              <a:gd name="csX12" fmla="*/ 5491511 w 10983021"/>
              <a:gd name="csY12" fmla="*/ 363842 h 1455366"/>
              <a:gd name="csX13" fmla="*/ 5491511 w 10983021"/>
              <a:gd name="csY13" fmla="*/ 0 h 1455366"/>
              <a:gd name="csX0" fmla="*/ 5491511 w 10983021"/>
              <a:gd name="csY0" fmla="*/ 0 h 1455366"/>
              <a:gd name="csX1" fmla="*/ 10983022 w 10983021"/>
              <a:gd name="csY1" fmla="*/ 727683 h 145536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983021" h="1455366" stroke="0" extrusionOk="0">
                <a:moveTo>
                  <a:pt x="5491511" y="0"/>
                </a:moveTo>
                <a:cubicBezTo>
                  <a:pt x="8481895" y="-26211"/>
                  <a:pt x="10959027" y="334801"/>
                  <a:pt x="10983022" y="727683"/>
                </a:cubicBezTo>
                <a:cubicBezTo>
                  <a:pt x="10686657" y="772090"/>
                  <a:pt x="10511697" y="689188"/>
                  <a:pt x="10324041" y="727683"/>
                </a:cubicBezTo>
                <a:cubicBezTo>
                  <a:pt x="10136385" y="766178"/>
                  <a:pt x="9947635" y="682514"/>
                  <a:pt x="9829805" y="727683"/>
                </a:cubicBezTo>
                <a:cubicBezTo>
                  <a:pt x="9711975" y="772852"/>
                  <a:pt x="9595913" y="696310"/>
                  <a:pt x="9390484" y="727683"/>
                </a:cubicBezTo>
                <a:cubicBezTo>
                  <a:pt x="9185055" y="759056"/>
                  <a:pt x="9044437" y="704470"/>
                  <a:pt x="8786418" y="727683"/>
                </a:cubicBezTo>
                <a:cubicBezTo>
                  <a:pt x="8528399" y="750896"/>
                  <a:pt x="8462528" y="715897"/>
                  <a:pt x="8292182" y="727683"/>
                </a:cubicBezTo>
                <a:cubicBezTo>
                  <a:pt x="8121836" y="739469"/>
                  <a:pt x="7776594" y="699562"/>
                  <a:pt x="7633200" y="727683"/>
                </a:cubicBezTo>
                <a:cubicBezTo>
                  <a:pt x="7489806" y="755804"/>
                  <a:pt x="7302147" y="700994"/>
                  <a:pt x="7193879" y="727683"/>
                </a:cubicBezTo>
                <a:cubicBezTo>
                  <a:pt x="7085611" y="754372"/>
                  <a:pt x="6749405" y="694800"/>
                  <a:pt x="6534898" y="727683"/>
                </a:cubicBezTo>
                <a:cubicBezTo>
                  <a:pt x="6320391" y="760566"/>
                  <a:pt x="6324523" y="719524"/>
                  <a:pt x="6150492" y="727683"/>
                </a:cubicBezTo>
                <a:cubicBezTo>
                  <a:pt x="5976461" y="735842"/>
                  <a:pt x="5659508" y="698127"/>
                  <a:pt x="5491511" y="727683"/>
                </a:cubicBezTo>
                <a:cubicBezTo>
                  <a:pt x="5485042" y="641602"/>
                  <a:pt x="5514572" y="536874"/>
                  <a:pt x="5491511" y="363842"/>
                </a:cubicBezTo>
                <a:cubicBezTo>
                  <a:pt x="5468450" y="190810"/>
                  <a:pt x="5506864" y="141437"/>
                  <a:pt x="5491511" y="0"/>
                </a:cubicBezTo>
                <a:close/>
              </a:path>
              <a:path w="10983021" h="1455366" fill="none" extrusionOk="0">
                <a:moveTo>
                  <a:pt x="5491511" y="0"/>
                </a:moveTo>
                <a:cubicBezTo>
                  <a:pt x="8512853" y="1894"/>
                  <a:pt x="10903327" y="270807"/>
                  <a:pt x="10983022" y="727683"/>
                </a:cubicBezTo>
              </a:path>
              <a:path w="10983021" h="1455366" fill="none" stroke="0" extrusionOk="0">
                <a:moveTo>
                  <a:pt x="5491511" y="0"/>
                </a:moveTo>
                <a:cubicBezTo>
                  <a:pt x="8582179" y="-50599"/>
                  <a:pt x="11005562" y="219773"/>
                  <a:pt x="10983022" y="727683"/>
                </a:cubicBezTo>
              </a:path>
            </a:pathLst>
          </a:custGeom>
          <a:ln w="38100" cmpd="sng">
            <a:solidFill>
              <a:srgbClr val="C00000"/>
            </a:solidFill>
            <a:headEnd type="triangle" w="lg" len="lg"/>
            <a:tailEnd type="none" w="med" len="lg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EB875C-14A7-DC4D-A9D5-B5222BCCF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58" y="1002012"/>
            <a:ext cx="2816450" cy="15719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206EE8-89FA-C4C1-FF57-07A240427D5C}"/>
              </a:ext>
            </a:extLst>
          </p:cNvPr>
          <p:cNvSpPr txBox="1"/>
          <p:nvPr/>
        </p:nvSpPr>
        <p:spPr>
          <a:xfrm>
            <a:off x="3343975" y="4237077"/>
            <a:ext cx="325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C00000"/>
                </a:solidFill>
              </a:rPr>
              <a:t>Numerisation</a:t>
            </a:r>
            <a:r>
              <a:rPr lang="en-US" dirty="0">
                <a:solidFill>
                  <a:srgbClr val="C00000"/>
                </a:solidFill>
              </a:rPr>
              <a:t>/Vectorization of the Information</a:t>
            </a:r>
          </a:p>
        </p:txBody>
      </p:sp>
    </p:spTree>
    <p:extLst>
      <p:ext uri="{BB962C8B-B14F-4D97-AF65-F5344CB8AC3E}">
        <p14:creationId xmlns:p14="http://schemas.microsoft.com/office/powerpoint/2010/main" val="3888069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316C3-252F-D9DD-FC45-86BED9B93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F7CA82-4536-2A6F-4B5A-9ECA945DC020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Descriptors Survey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841FFC-B380-669C-DCFE-4CAA0C80EDB2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5D1E3B7D-1F32-43C2-4FEA-171E15836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525FE9-3BD7-0FB1-BE48-BCB407227F4D}"/>
              </a:ext>
            </a:extLst>
          </p:cNvPr>
          <p:cNvSpPr txBox="1"/>
          <p:nvPr/>
        </p:nvSpPr>
        <p:spPr>
          <a:xfrm>
            <a:off x="3580119" y="1859339"/>
            <a:ext cx="503176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0050" indent="-400050">
              <a:buAutoNum type="romanUcPeriod"/>
            </a:pPr>
            <a:r>
              <a:rPr lang="en-US" b="1" dirty="0"/>
              <a:t>Small Molecule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Lipinski</a:t>
            </a:r>
          </a:p>
          <a:p>
            <a:pPr marL="857250" lvl="1" indent="-400050">
              <a:buAutoNum type="romanUcPeriod"/>
            </a:pPr>
            <a:r>
              <a:rPr lang="en-US" dirty="0"/>
              <a:t>Fingerprints</a:t>
            </a:r>
          </a:p>
          <a:p>
            <a:pPr marL="857250" lvl="1" indent="-400050">
              <a:buAutoNum type="romanUcPeriod"/>
            </a:pPr>
            <a:r>
              <a:rPr lang="en-US" dirty="0"/>
              <a:t>Experimentally Derived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Computed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Predicted Descriptors</a:t>
            </a:r>
          </a:p>
          <a:p>
            <a:pPr marL="400050" indent="-400050">
              <a:buAutoNum type="romanUcPeriod"/>
            </a:pPr>
            <a:endParaRPr lang="en-US" dirty="0"/>
          </a:p>
          <a:p>
            <a:pPr marL="400050" indent="-400050">
              <a:buFontTx/>
              <a:buAutoNum type="romanUcPeriod"/>
            </a:pPr>
            <a:r>
              <a:rPr lang="en-US" b="1" dirty="0"/>
              <a:t>Reaction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Fingerprints</a:t>
            </a:r>
          </a:p>
          <a:p>
            <a:pPr marL="857250" lvl="1" indent="-400050">
              <a:buAutoNum type="romanUcPeriod"/>
            </a:pPr>
            <a:r>
              <a:rPr lang="en-US" dirty="0"/>
              <a:t>Energy Surfaces</a:t>
            </a:r>
          </a:p>
          <a:p>
            <a:pPr marL="857250" lvl="1" indent="-400050">
              <a:buAutoNum type="romanUcPeriod"/>
            </a:pPr>
            <a:r>
              <a:rPr lang="en-US" dirty="0"/>
              <a:t>Concatenation of Molecular Descriptors</a:t>
            </a:r>
          </a:p>
        </p:txBody>
      </p:sp>
    </p:spTree>
    <p:extLst>
      <p:ext uri="{BB962C8B-B14F-4D97-AF65-F5344CB8AC3E}">
        <p14:creationId xmlns:p14="http://schemas.microsoft.com/office/powerpoint/2010/main" val="28858621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D96F8-5378-E06A-5777-910974983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609D63-70C3-34B2-4DE6-45D1F388E04F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Feature Based Representations: Experimental Descriptors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DC3F2C-AC8F-3573-96AA-7E01F3726395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098E8C16-9281-1E17-035A-E0C031EF8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C4F394-B7E8-CE85-6C79-B3FC6D62B2FB}"/>
              </a:ext>
            </a:extLst>
          </p:cNvPr>
          <p:cNvSpPr txBox="1"/>
          <p:nvPr/>
        </p:nvSpPr>
        <p:spPr>
          <a:xfrm>
            <a:off x="201168" y="1118795"/>
            <a:ext cx="11192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Hammett descriptors: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BC936B-1F4A-61C2-DC61-6F2A7F5FD480}"/>
              </a:ext>
            </a:extLst>
          </p:cNvPr>
          <p:cNvSpPr txBox="1"/>
          <p:nvPr/>
        </p:nvSpPr>
        <p:spPr>
          <a:xfrm>
            <a:off x="6219821" y="2385561"/>
            <a:ext cx="334886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Advantages: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Mechanism interpretability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Condensed information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Small dataset interpretability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b="1" dirty="0"/>
              <a:t>Limitations: </a:t>
            </a:r>
          </a:p>
          <a:p>
            <a:pPr marL="285750" indent="-285750">
              <a:buFontTx/>
              <a:buChar char="-"/>
            </a:pPr>
            <a:r>
              <a:rPr lang="en-US" dirty="0"/>
              <a:t>Specific electronic effects</a:t>
            </a:r>
          </a:p>
          <a:p>
            <a:pPr marL="285750" indent="-285750">
              <a:buFontTx/>
              <a:buChar char="-"/>
            </a:pPr>
            <a:r>
              <a:rPr lang="en-US" dirty="0"/>
              <a:t>Availability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CA9166-1096-576C-407D-47B12AE04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555" y="2275625"/>
            <a:ext cx="2394149" cy="38950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3604FD6-22ED-6113-917B-B82F21D06ACC}"/>
              </a:ext>
            </a:extLst>
          </p:cNvPr>
          <p:cNvSpPr txBox="1"/>
          <p:nvPr/>
        </p:nvSpPr>
        <p:spPr>
          <a:xfrm>
            <a:off x="3208" y="6170692"/>
            <a:ext cx="6121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Um, I.-H.; Chung, E.-K.; Kwon, D.-S. </a:t>
            </a:r>
            <a:r>
              <a:rPr lang="en-US" sz="1100" i="1" dirty="0"/>
              <a:t>Tetrahedron Letters </a:t>
            </a:r>
            <a:r>
              <a:rPr lang="en-US" sz="1100" b="1" dirty="0"/>
              <a:t>1997</a:t>
            </a:r>
            <a:r>
              <a:rPr lang="en-US" sz="1100" dirty="0"/>
              <a:t>, 38 (27), 4787–4790.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3FF7EF-1100-2F65-9A4D-127018AB0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241" y="1526627"/>
            <a:ext cx="47752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11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A7275-D803-0D05-E5FF-C1307C323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856237-FB09-2E24-82C3-433A30AE4353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Feature Based Representations: Experimental Descriptors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F0E5D5-891F-3A89-5850-DD466B8698E9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C5A57FC1-75C6-DF9F-E411-4E4F5C8C8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BBD1B9-C061-1AC0-F8FE-6B5FB9036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474" y="1812484"/>
            <a:ext cx="4927600" cy="787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6E5E0F-4AEC-423B-B9CA-0224A49DF6D3}"/>
              </a:ext>
            </a:extLst>
          </p:cNvPr>
          <p:cNvSpPr txBox="1"/>
          <p:nvPr/>
        </p:nvSpPr>
        <p:spPr>
          <a:xfrm>
            <a:off x="201168" y="1118795"/>
            <a:ext cx="11192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Predicting Lewis Acid Base Affinity with Experimental Descriptors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1E9B47-4410-BD75-B1DC-446F1CDE6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33" y="2786777"/>
            <a:ext cx="5924682" cy="29426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80CBE0-8814-D8DF-7B81-B6C31B2D0F72}"/>
              </a:ext>
            </a:extLst>
          </p:cNvPr>
          <p:cNvSpPr txBox="1"/>
          <p:nvPr/>
        </p:nvSpPr>
        <p:spPr>
          <a:xfrm>
            <a:off x="6834183" y="2599884"/>
            <a:ext cx="432567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Advantages: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Mechanism interpretability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Condensed information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Small dataset interpretability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b="1" dirty="0"/>
              <a:t>Limitations: </a:t>
            </a:r>
          </a:p>
          <a:p>
            <a:pPr marL="285750" indent="-285750">
              <a:buFontTx/>
              <a:buChar char="-"/>
            </a:pPr>
            <a:r>
              <a:rPr lang="en-US" dirty="0"/>
              <a:t>Specific electronic effects</a:t>
            </a:r>
          </a:p>
          <a:p>
            <a:pPr marL="285750" indent="-285750">
              <a:buFontTx/>
              <a:buChar char="-"/>
            </a:pPr>
            <a:r>
              <a:rPr lang="en-US" dirty="0"/>
              <a:t>Availability of experimental descriptors</a:t>
            </a:r>
          </a:p>
          <a:p>
            <a:endParaRPr lang="en-US" dirty="0"/>
          </a:p>
          <a:p>
            <a:r>
              <a:rPr lang="en-US" b="1" dirty="0"/>
              <a:t>Today:</a:t>
            </a:r>
          </a:p>
          <a:p>
            <a:pPr marL="285750" indent="-285750">
              <a:buFontTx/>
              <a:buChar char="-"/>
            </a:pPr>
            <a:r>
              <a:rPr lang="en-US" dirty="0"/>
              <a:t>Computed descriptors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B33C5-1911-DAF9-3616-8E3C5B9E8403}"/>
              </a:ext>
            </a:extLst>
          </p:cNvPr>
          <p:cNvSpPr txBox="1"/>
          <p:nvPr/>
        </p:nvSpPr>
        <p:spPr>
          <a:xfrm>
            <a:off x="0" y="6160833"/>
            <a:ext cx="35028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J. Schleinitz, </a:t>
            </a:r>
            <a:r>
              <a:rPr lang="en-US" sz="1100" dirty="0">
                <a:hlinkClick r:id="rId5"/>
              </a:rPr>
              <a:t>https://theses.hal.science/tel-05018662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3EED24-05DA-716C-3546-94D10ADF25AE}"/>
              </a:ext>
            </a:extLst>
          </p:cNvPr>
          <p:cNvSpPr/>
          <p:nvPr/>
        </p:nvSpPr>
        <p:spPr>
          <a:xfrm>
            <a:off x="3034747" y="2696817"/>
            <a:ext cx="3564835" cy="3167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51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4D54D-5FE4-FF77-2D0B-E7C86537A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ACD593-9774-59CA-A1A8-BE0AF953181C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Descriptors Survey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A1645A-154C-D38F-62F6-F4A77B24FB3D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302FB676-613E-3639-BB3E-C7C2EAA60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7FB20E-8B65-85FB-58AD-9E5FC551DC7B}"/>
              </a:ext>
            </a:extLst>
          </p:cNvPr>
          <p:cNvSpPr txBox="1"/>
          <p:nvPr/>
        </p:nvSpPr>
        <p:spPr>
          <a:xfrm>
            <a:off x="3580119" y="1859339"/>
            <a:ext cx="503176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0050" indent="-400050">
              <a:buAutoNum type="romanUcPeriod"/>
            </a:pPr>
            <a:r>
              <a:rPr lang="en-US" b="1" dirty="0"/>
              <a:t>Small Molecule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Lipinski</a:t>
            </a:r>
          </a:p>
          <a:p>
            <a:pPr marL="857250" lvl="1" indent="-400050">
              <a:buAutoNum type="romanUcPeriod"/>
            </a:pPr>
            <a:r>
              <a:rPr lang="en-US" dirty="0"/>
              <a:t>Fingerprints</a:t>
            </a:r>
          </a:p>
          <a:p>
            <a:pPr marL="857250" lvl="1" indent="-400050">
              <a:buAutoNum type="romanUcPeriod"/>
            </a:pPr>
            <a:r>
              <a:rPr lang="en-US" dirty="0"/>
              <a:t>Experimentally Derived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Computed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Predicted Descriptors</a:t>
            </a:r>
          </a:p>
          <a:p>
            <a:pPr marL="400050" indent="-400050">
              <a:buAutoNum type="romanUcPeriod"/>
            </a:pPr>
            <a:endParaRPr lang="en-US" dirty="0"/>
          </a:p>
          <a:p>
            <a:pPr marL="400050" indent="-400050">
              <a:buFontTx/>
              <a:buAutoNum type="romanUcPeriod"/>
            </a:pPr>
            <a:r>
              <a:rPr lang="en-US" b="1" dirty="0"/>
              <a:t>Reaction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Fingerprints</a:t>
            </a:r>
          </a:p>
          <a:p>
            <a:pPr marL="857250" lvl="1" indent="-400050">
              <a:buAutoNum type="romanUcPeriod"/>
            </a:pPr>
            <a:r>
              <a:rPr lang="en-US" dirty="0"/>
              <a:t>Energy Surfaces</a:t>
            </a:r>
          </a:p>
          <a:p>
            <a:pPr marL="857250" lvl="1" indent="-400050">
              <a:buAutoNum type="romanUcPeriod"/>
            </a:pPr>
            <a:r>
              <a:rPr lang="en-US" dirty="0"/>
              <a:t>Concatenation of Molecular Descriptors</a:t>
            </a:r>
          </a:p>
        </p:txBody>
      </p:sp>
    </p:spTree>
    <p:extLst>
      <p:ext uri="{BB962C8B-B14F-4D97-AF65-F5344CB8AC3E}">
        <p14:creationId xmlns:p14="http://schemas.microsoft.com/office/powerpoint/2010/main" val="11512183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FDAA0-1C8E-BFEA-3880-D65D21ED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A4F743-6A6C-5195-A7F3-E9CED3FD7870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Feature Based Representations: Computed Descriptors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2D4379-4E3F-3777-3A30-7FDC1E9B273E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62475432-5939-9C2F-6F10-EA048FB4E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A4378C-F52F-14BE-7C86-ECCC3066D2CD}"/>
              </a:ext>
            </a:extLst>
          </p:cNvPr>
          <p:cNvSpPr txBox="1"/>
          <p:nvPr/>
        </p:nvSpPr>
        <p:spPr>
          <a:xfrm>
            <a:off x="201167" y="1118795"/>
            <a:ext cx="3905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Phosphine Featurization by DFT: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417149-9F59-8DEE-DAA5-F9DE9E04C598}"/>
              </a:ext>
            </a:extLst>
          </p:cNvPr>
          <p:cNvSpPr txBox="1"/>
          <p:nvPr/>
        </p:nvSpPr>
        <p:spPr>
          <a:xfrm>
            <a:off x="5637565" y="1118795"/>
            <a:ext cx="25939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Steric Effects: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B5E88A-A195-CC50-AF49-EE0A1D1F4E59}"/>
              </a:ext>
            </a:extLst>
          </p:cNvPr>
          <p:cNvSpPr txBox="1"/>
          <p:nvPr/>
        </p:nvSpPr>
        <p:spPr>
          <a:xfrm>
            <a:off x="-8021" y="5814536"/>
            <a:ext cx="612006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/>
              <a:t>Payard</a:t>
            </a:r>
            <a:r>
              <a:rPr lang="en-US" sz="1100" dirty="0"/>
              <a:t>, P.-A.; Perego, L. A.; Grimaud, L.; </a:t>
            </a:r>
            <a:r>
              <a:rPr lang="en-US" sz="1100" dirty="0" err="1"/>
              <a:t>Ciofini</a:t>
            </a:r>
            <a:r>
              <a:rPr lang="en-US" sz="1100" dirty="0"/>
              <a:t>, I. </a:t>
            </a:r>
            <a:r>
              <a:rPr lang="en-US" sz="1100" i="1" dirty="0"/>
              <a:t>Organometallics</a:t>
            </a:r>
            <a:r>
              <a:rPr lang="en-US" sz="1100" dirty="0"/>
              <a:t> </a:t>
            </a:r>
            <a:r>
              <a:rPr lang="en-US" sz="1100" b="1" dirty="0"/>
              <a:t>2020</a:t>
            </a:r>
            <a:r>
              <a:rPr lang="en-US" sz="1100" dirty="0"/>
              <a:t>, 39 (17), 3121–3130.</a:t>
            </a:r>
          </a:p>
          <a:p>
            <a:r>
              <a:rPr lang="en-US" sz="1100" dirty="0"/>
              <a:t>Jensen, F. R.; Bushweller, C. H.; Beck, B. H. </a:t>
            </a:r>
            <a:r>
              <a:rPr lang="en-US" sz="1100" i="1" dirty="0"/>
              <a:t>J. Am. Chem. Soc.</a:t>
            </a:r>
            <a:r>
              <a:rPr lang="en-US" sz="1100" b="1" dirty="0"/>
              <a:t> 1969</a:t>
            </a:r>
            <a:r>
              <a:rPr lang="en-US" sz="1100" dirty="0"/>
              <a:t>, 91(2), 344–351</a:t>
            </a:r>
          </a:p>
          <a:p>
            <a:r>
              <a:rPr lang="en-US" sz="1100" dirty="0" err="1"/>
              <a:t>Brethomé</a:t>
            </a:r>
            <a:r>
              <a:rPr lang="en-US" sz="1100" dirty="0"/>
              <a:t>, A. V.; Fletcher, S. P.; Paton, R. S. </a:t>
            </a:r>
            <a:r>
              <a:rPr lang="en-US" sz="1100" i="1" dirty="0"/>
              <a:t>ACS </a:t>
            </a:r>
            <a:r>
              <a:rPr lang="en-US" sz="1100" i="1" dirty="0" err="1"/>
              <a:t>Catal</a:t>
            </a:r>
            <a:r>
              <a:rPr lang="en-US" sz="1100" dirty="0"/>
              <a:t>. </a:t>
            </a:r>
            <a:r>
              <a:rPr lang="en-US" sz="1100" b="1" dirty="0"/>
              <a:t>2019</a:t>
            </a:r>
            <a:r>
              <a:rPr lang="en-US" sz="1100" dirty="0"/>
              <a:t>, 9 (3), 2313–2323. </a:t>
            </a:r>
          </a:p>
        </p:txBody>
      </p:sp>
      <p:pic>
        <p:nvPicPr>
          <p:cNvPr id="8" name="New picture">
            <a:extLst>
              <a:ext uri="{FF2B5EF4-FFF2-40B4-BE49-F238E27FC236}">
                <a16:creationId xmlns:a16="http://schemas.microsoft.com/office/drawing/2014/main" id="{2C6B28EB-C37B-86C6-EFE4-39E789047A2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24174" y="2555476"/>
            <a:ext cx="3096382" cy="19937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130518-1A02-9414-1D51-0B908FBDE03B}"/>
              </a:ext>
            </a:extLst>
          </p:cNvPr>
          <p:cNvSpPr txBox="1"/>
          <p:nvPr/>
        </p:nvSpPr>
        <p:spPr>
          <a:xfrm>
            <a:off x="464624" y="4677612"/>
            <a:ext cx="418792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  <a:ea typeface="ＭＳ Ｐゴシック" pitchFamily="34"/>
              </a:rPr>
              <a:t>Geometries optimized at the B3LYP/BS1 level of theory. </a:t>
            </a:r>
            <a:r>
              <a:rPr lang="en-US" sz="1100" b="0" i="0" u="none" strike="noStrike" kern="1200" cap="none" spc="0" baseline="30000" dirty="0">
                <a:solidFill>
                  <a:srgbClr val="000000"/>
                </a:solidFill>
                <a:uFillTx/>
                <a:latin typeface="Aptos" panose="020B0004020202020204" pitchFamily="34" charset="0"/>
                <a:ea typeface="ＭＳ Ｐゴシック" pitchFamily="34"/>
              </a:rPr>
              <a:t>31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  <a:ea typeface="ＭＳ Ｐゴシック" pitchFamily="34"/>
              </a:rPr>
              <a:t>P NMR shielding constants were evaluated with the GIAO method</a:t>
            </a:r>
            <a:r>
              <a:rPr lang="en-US" sz="1100" dirty="0">
                <a:solidFill>
                  <a:srgbClr val="000000"/>
                </a:solidFill>
                <a:latin typeface="Aptos" panose="020B0004020202020204" pitchFamily="34" charset="0"/>
                <a:ea typeface="ＭＳ Ｐゴシック" pitchFamily="34"/>
              </a:rPr>
              <a:t> 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Aptos" panose="020B0004020202020204" pitchFamily="34" charset="0"/>
                <a:ea typeface="ＭＳ Ｐゴシック" pitchFamily="34"/>
              </a:rPr>
              <a:t>at the B3LYP/BS2 level of theory.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2" name="Picture 11" descr="Graphic. Refer to the image caption for details.">
            <a:extLst>
              <a:ext uri="{FF2B5EF4-FFF2-40B4-BE49-F238E27FC236}">
                <a16:creationId xmlns:a16="http://schemas.microsoft.com/office/drawing/2014/main" id="{61787C5A-418A-6AB0-76DF-14DDBD52E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8351" y="1714940"/>
            <a:ext cx="2028028" cy="5233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C9BB708-29E2-BD19-9660-B65C3CA0D3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1270" y="977079"/>
            <a:ext cx="2593913" cy="11534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696F2BD-1B23-FEDF-DF89-BC8F4F49D2C2}"/>
              </a:ext>
            </a:extLst>
          </p:cNvPr>
          <p:cNvSpPr txBox="1"/>
          <p:nvPr/>
        </p:nvSpPr>
        <p:spPr>
          <a:xfrm>
            <a:off x="5667772" y="2253406"/>
            <a:ext cx="25939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 err="1">
                <a:latin typeface="Aptos" panose="020B0004020202020204" pitchFamily="34" charset="0"/>
              </a:rPr>
              <a:t>Sterimol</a:t>
            </a:r>
            <a:r>
              <a:rPr lang="en-US" b="1" dirty="0">
                <a:latin typeface="Aptos" panose="020B0004020202020204" pitchFamily="34" charset="0"/>
              </a:rPr>
              <a:t> Descriptors:</a:t>
            </a:r>
          </a:p>
        </p:txBody>
      </p:sp>
      <p:pic>
        <p:nvPicPr>
          <p:cNvPr id="21" name="Picture 20" descr="Figure 2. Refer to the image caption for details.">
            <a:extLst>
              <a:ext uri="{FF2B5EF4-FFF2-40B4-BE49-F238E27FC236}">
                <a16:creationId xmlns:a16="http://schemas.microsoft.com/office/drawing/2014/main" id="{840F22B4-F396-385C-FFAD-2DFE10E7297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1687"/>
          <a:stretch>
            <a:fillRect/>
          </a:stretch>
        </p:blipFill>
        <p:spPr>
          <a:xfrm>
            <a:off x="5815171" y="3517587"/>
            <a:ext cx="5973604" cy="2920214"/>
          </a:xfrm>
          <a:prstGeom prst="rect">
            <a:avLst/>
          </a:prstGeom>
        </p:spPr>
      </p:pic>
      <p:pic>
        <p:nvPicPr>
          <p:cNvPr id="23" name="Picture 22" descr="Figure 1. Refer to the image caption for details.">
            <a:extLst>
              <a:ext uri="{FF2B5EF4-FFF2-40B4-BE49-F238E27FC236}">
                <a16:creationId xmlns:a16="http://schemas.microsoft.com/office/drawing/2014/main" id="{C0468B46-9825-2EE7-FCF8-01D733C023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6472" y="2409430"/>
            <a:ext cx="2487753" cy="101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4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A484-5EA1-E701-2DB2-803290820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8E4BE5-AC15-D8C7-2852-D8B717DA0AAC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Feature Based Representations: Descriptors Libraries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9BBAC5-A5F1-DAE5-35BC-123375804DF8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B184C7CD-9B22-3DC6-E606-9374B80CE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3B2267-6B7C-4E18-72E1-C8F51688CABD}"/>
              </a:ext>
            </a:extLst>
          </p:cNvPr>
          <p:cNvSpPr txBox="1"/>
          <p:nvPr/>
        </p:nvSpPr>
        <p:spPr>
          <a:xfrm>
            <a:off x="1" y="6001206"/>
            <a:ext cx="121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Gensch, T.; […] Sigman, M. S.; </a:t>
            </a:r>
            <a:r>
              <a:rPr lang="en-US" sz="1100" dirty="0" err="1"/>
              <a:t>Aspuru</a:t>
            </a:r>
            <a:r>
              <a:rPr lang="en-US" sz="1100" dirty="0"/>
              <a:t>-Guzik, A. </a:t>
            </a:r>
            <a:r>
              <a:rPr lang="en-US" sz="1100" i="1" dirty="0"/>
              <a:t>J. Am. Chem. Soc</a:t>
            </a:r>
            <a:r>
              <a:rPr lang="en-US" sz="1100" dirty="0"/>
              <a:t>. </a:t>
            </a:r>
            <a:r>
              <a:rPr lang="en-US" sz="1100" b="1" dirty="0"/>
              <a:t>2022</a:t>
            </a:r>
            <a:r>
              <a:rPr lang="en-US" sz="1100" dirty="0"/>
              <a:t>, 144 (3), 1205–1217.</a:t>
            </a:r>
          </a:p>
          <a:p>
            <a:r>
              <a:rPr lang="en-US" sz="1100" dirty="0">
                <a:hlinkClick r:id="rId4"/>
              </a:rPr>
              <a:t>https://descriptor-libraries.molssi.org/</a:t>
            </a:r>
            <a:r>
              <a:rPr lang="en-US" sz="1100" dirty="0"/>
              <a:t> </a:t>
            </a:r>
          </a:p>
        </p:txBody>
      </p:sp>
      <p:pic>
        <p:nvPicPr>
          <p:cNvPr id="6" name="Picture 5" descr="Figure 3. Refer to the image caption for details.">
            <a:extLst>
              <a:ext uri="{FF2B5EF4-FFF2-40B4-BE49-F238E27FC236}">
                <a16:creationId xmlns:a16="http://schemas.microsoft.com/office/drawing/2014/main" id="{0CC51AC0-C1BA-5C37-C7DC-0F24E3B5A1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80" t="46660" r="1404" b="1426"/>
          <a:stretch>
            <a:fillRect/>
          </a:stretch>
        </p:blipFill>
        <p:spPr>
          <a:xfrm>
            <a:off x="3560522" y="3322847"/>
            <a:ext cx="6144126" cy="2454442"/>
          </a:xfrm>
          <a:prstGeom prst="rect">
            <a:avLst/>
          </a:prstGeom>
        </p:spPr>
      </p:pic>
      <p:pic>
        <p:nvPicPr>
          <p:cNvPr id="10" name="Picture 9" descr="Figure 3. Refer to the image caption for details.">
            <a:extLst>
              <a:ext uri="{FF2B5EF4-FFF2-40B4-BE49-F238E27FC236}">
                <a16:creationId xmlns:a16="http://schemas.microsoft.com/office/drawing/2014/main" id="{30BEF76B-7CAF-BCBC-F5C1-38CFB8F466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08" t="3230" r="1276" b="54526"/>
          <a:stretch>
            <a:fillRect/>
          </a:stretch>
        </p:blipFill>
        <p:spPr>
          <a:xfrm>
            <a:off x="2575701" y="1159832"/>
            <a:ext cx="6144126" cy="199724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9D23D21-DACE-C371-0D9B-3777ABFD3210}"/>
              </a:ext>
            </a:extLst>
          </p:cNvPr>
          <p:cNvSpPr/>
          <p:nvPr/>
        </p:nvSpPr>
        <p:spPr>
          <a:xfrm>
            <a:off x="2575701" y="1159832"/>
            <a:ext cx="272715" cy="2807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F05269-EB75-E6FB-70C3-4832E1FD7776}"/>
              </a:ext>
            </a:extLst>
          </p:cNvPr>
          <p:cNvSpPr/>
          <p:nvPr/>
        </p:nvSpPr>
        <p:spPr>
          <a:xfrm>
            <a:off x="3560522" y="3316088"/>
            <a:ext cx="272715" cy="2807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16" name="Picture 15" descr="Figure 3. Refer to the image caption for details.">
            <a:extLst>
              <a:ext uri="{FF2B5EF4-FFF2-40B4-BE49-F238E27FC236}">
                <a16:creationId xmlns:a16="http://schemas.microsoft.com/office/drawing/2014/main" id="{73B22C78-370D-CC0B-3633-BB62837AC7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80" t="65168" r="71716" b="1426"/>
          <a:stretch>
            <a:fillRect/>
          </a:stretch>
        </p:blipFill>
        <p:spPr>
          <a:xfrm>
            <a:off x="542110" y="3318481"/>
            <a:ext cx="1723066" cy="15793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0F79FF-949B-84C0-9546-EC3F198098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174" y="1387881"/>
            <a:ext cx="1003300" cy="1282700"/>
          </a:xfrm>
          <a:prstGeom prst="rect">
            <a:avLst/>
          </a:prstGeom>
        </p:spPr>
      </p:pic>
      <p:sp>
        <p:nvSpPr>
          <p:cNvPr id="18" name="Down Arrow 17">
            <a:extLst>
              <a:ext uri="{FF2B5EF4-FFF2-40B4-BE49-F238E27FC236}">
                <a16:creationId xmlns:a16="http://schemas.microsoft.com/office/drawing/2014/main" id="{43515D5C-5C63-963B-432F-D289109ED960}"/>
              </a:ext>
            </a:extLst>
          </p:cNvPr>
          <p:cNvSpPr/>
          <p:nvPr/>
        </p:nvSpPr>
        <p:spPr>
          <a:xfrm>
            <a:off x="1195835" y="2794569"/>
            <a:ext cx="259977" cy="479612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A23563-3A61-E8B5-BBE6-D2A03C9EF255}"/>
              </a:ext>
            </a:extLst>
          </p:cNvPr>
          <p:cNvSpPr txBox="1"/>
          <p:nvPr/>
        </p:nvSpPr>
        <p:spPr>
          <a:xfrm>
            <a:off x="261918" y="4998464"/>
            <a:ext cx="2300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Conformer ensemble</a:t>
            </a:r>
          </a:p>
          <a:p>
            <a:pPr algn="ctr"/>
            <a:r>
              <a:rPr lang="en-US" dirty="0"/>
              <a:t>generation</a:t>
            </a:r>
          </a:p>
        </p:txBody>
      </p:sp>
      <p:pic>
        <p:nvPicPr>
          <p:cNvPr id="20" name="Picture 19" descr="Figure 5. Refer to the image caption for details.">
            <a:extLst>
              <a:ext uri="{FF2B5EF4-FFF2-40B4-BE49-F238E27FC236}">
                <a16:creationId xmlns:a16="http://schemas.microsoft.com/office/drawing/2014/main" id="{560EFCBB-E8FC-8CD3-82F3-5EFFF6945FD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15" t="10003" r="83249" b="77390"/>
          <a:stretch>
            <a:fillRect/>
          </a:stretch>
        </p:blipFill>
        <p:spPr>
          <a:xfrm>
            <a:off x="10802122" y="3126900"/>
            <a:ext cx="1066800" cy="656072"/>
          </a:xfrm>
          <a:prstGeom prst="rect">
            <a:avLst/>
          </a:prstGeom>
        </p:spPr>
      </p:pic>
      <p:sp>
        <p:nvSpPr>
          <p:cNvPr id="21" name="Down Arrow 20">
            <a:extLst>
              <a:ext uri="{FF2B5EF4-FFF2-40B4-BE49-F238E27FC236}">
                <a16:creationId xmlns:a16="http://schemas.microsoft.com/office/drawing/2014/main" id="{4CB9337C-428D-AA67-B2E5-F8B150F6286D}"/>
              </a:ext>
            </a:extLst>
          </p:cNvPr>
          <p:cNvSpPr/>
          <p:nvPr/>
        </p:nvSpPr>
        <p:spPr>
          <a:xfrm rot="16200000">
            <a:off x="10236406" y="4339334"/>
            <a:ext cx="259977" cy="479612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40098F-FE56-9C7C-35CB-36715F7DFB21}"/>
              </a:ext>
            </a:extLst>
          </p:cNvPr>
          <p:cNvSpPr txBox="1"/>
          <p:nvPr/>
        </p:nvSpPr>
        <p:spPr>
          <a:xfrm>
            <a:off x="10766262" y="5086855"/>
            <a:ext cx="1238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Descriptor</a:t>
            </a:r>
          </a:p>
          <a:p>
            <a:pPr algn="ctr"/>
            <a:r>
              <a:rPr lang="en-US" dirty="0"/>
              <a:t>Database</a:t>
            </a:r>
          </a:p>
        </p:txBody>
      </p:sp>
      <p:sp>
        <p:nvSpPr>
          <p:cNvPr id="23" name="Coins">
            <a:extLst>
              <a:ext uri="{FF2B5EF4-FFF2-40B4-BE49-F238E27FC236}">
                <a16:creationId xmlns:a16="http://schemas.microsoft.com/office/drawing/2014/main" id="{3E9568A7-6964-1656-C3C2-8E213616EDB6}"/>
              </a:ext>
            </a:extLst>
          </p:cNvPr>
          <p:cNvSpPr/>
          <p:nvPr/>
        </p:nvSpPr>
        <p:spPr>
          <a:xfrm>
            <a:off x="10822800" y="3874800"/>
            <a:ext cx="1107282" cy="11788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0"/>
                </a:moveTo>
                <a:cubicBezTo>
                  <a:pt x="7949" y="0"/>
                  <a:pt x="5266" y="392"/>
                  <a:pt x="3255" y="1111"/>
                </a:cubicBezTo>
                <a:cubicBezTo>
                  <a:pt x="1360" y="1787"/>
                  <a:pt x="273" y="2685"/>
                  <a:pt x="273" y="3572"/>
                </a:cubicBezTo>
                <a:cubicBezTo>
                  <a:pt x="273" y="4460"/>
                  <a:pt x="1360" y="5360"/>
                  <a:pt x="3255" y="6035"/>
                </a:cubicBezTo>
                <a:cubicBezTo>
                  <a:pt x="5266" y="6749"/>
                  <a:pt x="7949" y="7147"/>
                  <a:pt x="10801" y="7147"/>
                </a:cubicBezTo>
                <a:cubicBezTo>
                  <a:pt x="13652" y="7147"/>
                  <a:pt x="16334" y="6754"/>
                  <a:pt x="18345" y="6035"/>
                </a:cubicBezTo>
                <a:cubicBezTo>
                  <a:pt x="20240" y="5360"/>
                  <a:pt x="21327" y="4460"/>
                  <a:pt x="21327" y="3572"/>
                </a:cubicBezTo>
                <a:cubicBezTo>
                  <a:pt x="21327" y="2685"/>
                  <a:pt x="20240" y="1787"/>
                  <a:pt x="18345" y="1111"/>
                </a:cubicBezTo>
                <a:cubicBezTo>
                  <a:pt x="16334" y="398"/>
                  <a:pt x="13652" y="0"/>
                  <a:pt x="10801" y="0"/>
                </a:cubicBezTo>
                <a:close/>
                <a:moveTo>
                  <a:pt x="12" y="4505"/>
                </a:moveTo>
                <a:lnTo>
                  <a:pt x="12" y="5914"/>
                </a:lnTo>
                <a:cubicBezTo>
                  <a:pt x="12" y="8033"/>
                  <a:pt x="4846" y="9754"/>
                  <a:pt x="10811" y="9754"/>
                </a:cubicBezTo>
                <a:cubicBezTo>
                  <a:pt x="16776" y="9754"/>
                  <a:pt x="21600" y="8039"/>
                  <a:pt x="21600" y="5914"/>
                </a:cubicBezTo>
                <a:lnTo>
                  <a:pt x="21600" y="4505"/>
                </a:lnTo>
                <a:cubicBezTo>
                  <a:pt x="21136" y="5284"/>
                  <a:pt x="20088" y="5991"/>
                  <a:pt x="18531" y="6541"/>
                </a:cubicBezTo>
                <a:cubicBezTo>
                  <a:pt x="16460" y="7276"/>
                  <a:pt x="13718" y="7679"/>
                  <a:pt x="10806" y="7679"/>
                </a:cubicBezTo>
                <a:cubicBezTo>
                  <a:pt x="7894" y="7679"/>
                  <a:pt x="5146" y="7276"/>
                  <a:pt x="3081" y="6541"/>
                </a:cubicBezTo>
                <a:cubicBezTo>
                  <a:pt x="1524" y="5985"/>
                  <a:pt x="476" y="5284"/>
                  <a:pt x="12" y="4505"/>
                </a:cubicBezTo>
                <a:close/>
                <a:moveTo>
                  <a:pt x="0" y="7320"/>
                </a:moveTo>
                <a:lnTo>
                  <a:pt x="0" y="8284"/>
                </a:lnTo>
                <a:cubicBezTo>
                  <a:pt x="0" y="10402"/>
                  <a:pt x="4836" y="12123"/>
                  <a:pt x="10801" y="12123"/>
                </a:cubicBezTo>
                <a:cubicBezTo>
                  <a:pt x="16766" y="12123"/>
                  <a:pt x="21600" y="10408"/>
                  <a:pt x="21600" y="8284"/>
                </a:cubicBezTo>
                <a:lnTo>
                  <a:pt x="21600" y="7320"/>
                </a:lnTo>
                <a:cubicBezTo>
                  <a:pt x="21458" y="7495"/>
                  <a:pt x="21295" y="7664"/>
                  <a:pt x="21098" y="7827"/>
                </a:cubicBezTo>
                <a:cubicBezTo>
                  <a:pt x="20508" y="8329"/>
                  <a:pt x="19672" y="8769"/>
                  <a:pt x="18618" y="9145"/>
                </a:cubicBezTo>
                <a:cubicBezTo>
                  <a:pt x="16520" y="9891"/>
                  <a:pt x="13745" y="10299"/>
                  <a:pt x="10801" y="10299"/>
                </a:cubicBezTo>
                <a:cubicBezTo>
                  <a:pt x="7856" y="10299"/>
                  <a:pt x="5080" y="9891"/>
                  <a:pt x="2982" y="9145"/>
                </a:cubicBezTo>
                <a:cubicBezTo>
                  <a:pt x="1928" y="8769"/>
                  <a:pt x="1099" y="8329"/>
                  <a:pt x="504" y="7827"/>
                </a:cubicBezTo>
                <a:cubicBezTo>
                  <a:pt x="307" y="7664"/>
                  <a:pt x="142" y="7495"/>
                  <a:pt x="0" y="7320"/>
                </a:cubicBezTo>
                <a:close/>
                <a:moveTo>
                  <a:pt x="0" y="9689"/>
                </a:moveTo>
                <a:lnTo>
                  <a:pt x="0" y="10653"/>
                </a:lnTo>
                <a:cubicBezTo>
                  <a:pt x="0" y="12771"/>
                  <a:pt x="4836" y="14492"/>
                  <a:pt x="10801" y="14492"/>
                </a:cubicBezTo>
                <a:cubicBezTo>
                  <a:pt x="16766" y="14492"/>
                  <a:pt x="21600" y="12777"/>
                  <a:pt x="21600" y="10653"/>
                </a:cubicBezTo>
                <a:lnTo>
                  <a:pt x="21600" y="9689"/>
                </a:lnTo>
                <a:cubicBezTo>
                  <a:pt x="21458" y="9864"/>
                  <a:pt x="21295" y="10033"/>
                  <a:pt x="21098" y="10197"/>
                </a:cubicBezTo>
                <a:cubicBezTo>
                  <a:pt x="20508" y="10698"/>
                  <a:pt x="19672" y="11138"/>
                  <a:pt x="18618" y="11514"/>
                </a:cubicBezTo>
                <a:cubicBezTo>
                  <a:pt x="16520" y="12260"/>
                  <a:pt x="13745" y="12668"/>
                  <a:pt x="10801" y="12668"/>
                </a:cubicBezTo>
                <a:cubicBezTo>
                  <a:pt x="7856" y="12668"/>
                  <a:pt x="5080" y="12260"/>
                  <a:pt x="2982" y="11514"/>
                </a:cubicBezTo>
                <a:cubicBezTo>
                  <a:pt x="1928" y="11138"/>
                  <a:pt x="1099" y="10698"/>
                  <a:pt x="504" y="10197"/>
                </a:cubicBezTo>
                <a:cubicBezTo>
                  <a:pt x="307" y="10033"/>
                  <a:pt x="142" y="9864"/>
                  <a:pt x="0" y="9689"/>
                </a:cubicBezTo>
                <a:close/>
                <a:moveTo>
                  <a:pt x="0" y="12059"/>
                </a:moveTo>
                <a:lnTo>
                  <a:pt x="0" y="13022"/>
                </a:lnTo>
                <a:cubicBezTo>
                  <a:pt x="0" y="15141"/>
                  <a:pt x="4836" y="16862"/>
                  <a:pt x="10801" y="16862"/>
                </a:cubicBezTo>
                <a:cubicBezTo>
                  <a:pt x="16766" y="16862"/>
                  <a:pt x="21600" y="15146"/>
                  <a:pt x="21600" y="13022"/>
                </a:cubicBezTo>
                <a:lnTo>
                  <a:pt x="21600" y="12059"/>
                </a:lnTo>
                <a:cubicBezTo>
                  <a:pt x="21458" y="12233"/>
                  <a:pt x="21295" y="12402"/>
                  <a:pt x="21098" y="12566"/>
                </a:cubicBezTo>
                <a:cubicBezTo>
                  <a:pt x="20508" y="13067"/>
                  <a:pt x="19672" y="13507"/>
                  <a:pt x="18618" y="13883"/>
                </a:cubicBezTo>
                <a:cubicBezTo>
                  <a:pt x="16520" y="14629"/>
                  <a:pt x="13745" y="15037"/>
                  <a:pt x="10801" y="15037"/>
                </a:cubicBezTo>
                <a:cubicBezTo>
                  <a:pt x="7856" y="15037"/>
                  <a:pt x="5080" y="14629"/>
                  <a:pt x="2982" y="13883"/>
                </a:cubicBezTo>
                <a:cubicBezTo>
                  <a:pt x="1928" y="13507"/>
                  <a:pt x="1099" y="13067"/>
                  <a:pt x="504" y="12566"/>
                </a:cubicBezTo>
                <a:cubicBezTo>
                  <a:pt x="307" y="12402"/>
                  <a:pt x="142" y="12233"/>
                  <a:pt x="0" y="12059"/>
                </a:cubicBezTo>
                <a:close/>
                <a:moveTo>
                  <a:pt x="0" y="14428"/>
                </a:moveTo>
                <a:lnTo>
                  <a:pt x="0" y="15391"/>
                </a:lnTo>
                <a:cubicBezTo>
                  <a:pt x="0" y="17510"/>
                  <a:pt x="4836" y="19231"/>
                  <a:pt x="10801" y="19231"/>
                </a:cubicBezTo>
                <a:cubicBezTo>
                  <a:pt x="16766" y="19231"/>
                  <a:pt x="21600" y="17515"/>
                  <a:pt x="21600" y="15391"/>
                </a:cubicBezTo>
                <a:lnTo>
                  <a:pt x="21600" y="14428"/>
                </a:lnTo>
                <a:cubicBezTo>
                  <a:pt x="21458" y="14602"/>
                  <a:pt x="21295" y="14772"/>
                  <a:pt x="21098" y="14935"/>
                </a:cubicBezTo>
                <a:cubicBezTo>
                  <a:pt x="20508" y="15436"/>
                  <a:pt x="19672" y="15877"/>
                  <a:pt x="18618" y="16252"/>
                </a:cubicBezTo>
                <a:cubicBezTo>
                  <a:pt x="16520" y="16998"/>
                  <a:pt x="13745" y="17406"/>
                  <a:pt x="10801" y="17406"/>
                </a:cubicBezTo>
                <a:cubicBezTo>
                  <a:pt x="7856" y="17406"/>
                  <a:pt x="5080" y="16998"/>
                  <a:pt x="2982" y="16252"/>
                </a:cubicBezTo>
                <a:cubicBezTo>
                  <a:pt x="1928" y="15877"/>
                  <a:pt x="1099" y="15436"/>
                  <a:pt x="504" y="14935"/>
                </a:cubicBezTo>
                <a:cubicBezTo>
                  <a:pt x="307" y="14772"/>
                  <a:pt x="142" y="14602"/>
                  <a:pt x="0" y="14428"/>
                </a:cubicBezTo>
                <a:close/>
                <a:moveTo>
                  <a:pt x="0" y="16797"/>
                </a:moveTo>
                <a:lnTo>
                  <a:pt x="0" y="17760"/>
                </a:lnTo>
                <a:cubicBezTo>
                  <a:pt x="0" y="19879"/>
                  <a:pt x="4836" y="21600"/>
                  <a:pt x="10801" y="21600"/>
                </a:cubicBezTo>
                <a:cubicBezTo>
                  <a:pt x="16766" y="21600"/>
                  <a:pt x="21600" y="19879"/>
                  <a:pt x="21600" y="17760"/>
                </a:cubicBezTo>
                <a:lnTo>
                  <a:pt x="21600" y="16797"/>
                </a:lnTo>
                <a:cubicBezTo>
                  <a:pt x="21458" y="16971"/>
                  <a:pt x="21295" y="17141"/>
                  <a:pt x="21098" y="17304"/>
                </a:cubicBezTo>
                <a:cubicBezTo>
                  <a:pt x="20508" y="17805"/>
                  <a:pt x="19672" y="18246"/>
                  <a:pt x="18618" y="18622"/>
                </a:cubicBezTo>
                <a:cubicBezTo>
                  <a:pt x="16520" y="19368"/>
                  <a:pt x="13745" y="19775"/>
                  <a:pt x="10801" y="19775"/>
                </a:cubicBezTo>
                <a:cubicBezTo>
                  <a:pt x="7856" y="19775"/>
                  <a:pt x="5080" y="19368"/>
                  <a:pt x="2982" y="18622"/>
                </a:cubicBezTo>
                <a:cubicBezTo>
                  <a:pt x="1928" y="18246"/>
                  <a:pt x="1099" y="17805"/>
                  <a:pt x="504" y="17304"/>
                </a:cubicBezTo>
                <a:cubicBezTo>
                  <a:pt x="307" y="17141"/>
                  <a:pt x="142" y="16971"/>
                  <a:pt x="0" y="16797"/>
                </a:cubicBezTo>
                <a:close/>
              </a:path>
            </a:pathLst>
          </a:custGeom>
          <a:solidFill>
            <a:srgbClr val="E0DDBF"/>
          </a:solidFill>
          <a:ln w="12700">
            <a:miter lim="400000"/>
          </a:ln>
        </p:spPr>
        <p:txBody>
          <a:bodyPr lIns="45719" rIns="45719" anchor="ctr"/>
          <a:lstStyle/>
          <a:p>
            <a:endParaRPr dirty="0">
              <a:latin typeface="Avenir Book" panose="02000503020000020003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38AF00-AB4B-CEE9-73B1-630A9C86BA60}"/>
              </a:ext>
            </a:extLst>
          </p:cNvPr>
          <p:cNvSpPr txBox="1"/>
          <p:nvPr/>
        </p:nvSpPr>
        <p:spPr>
          <a:xfrm>
            <a:off x="10869583" y="3924542"/>
            <a:ext cx="9957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1,558 ligands</a:t>
            </a:r>
          </a:p>
        </p:txBody>
      </p:sp>
    </p:spTree>
    <p:extLst>
      <p:ext uri="{BB962C8B-B14F-4D97-AF65-F5344CB8AC3E}">
        <p14:creationId xmlns:p14="http://schemas.microsoft.com/office/powerpoint/2010/main" val="228924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8" grpId="0" animBg="1"/>
      <p:bldP spid="19" grpId="0"/>
      <p:bldP spid="21" grpId="0" animBg="1"/>
      <p:bldP spid="22" grpId="0"/>
      <p:bldP spid="23" grpId="0" animBg="1"/>
      <p:bldP spid="2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A3910-A4FA-F821-09EC-7EBA8FF70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4AE3722-0D3C-CD44-FC7F-353E369DC215}"/>
              </a:ext>
            </a:extLst>
          </p:cNvPr>
          <p:cNvSpPr/>
          <p:nvPr/>
        </p:nvSpPr>
        <p:spPr>
          <a:xfrm>
            <a:off x="5638801" y="1482032"/>
            <a:ext cx="6042095" cy="4542248"/>
          </a:xfrm>
          <a:prstGeom prst="roundRect">
            <a:avLst>
              <a:gd name="adj" fmla="val 2062"/>
            </a:avLst>
          </a:prstGeom>
          <a:solidFill>
            <a:srgbClr val="EAF6F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E89FC-BECB-58CA-4096-4F7C9343CDE1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Feature Based Representations: Towards Predicted Descriptors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D58682-5899-52DE-386B-F1470375EB20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11246C04-83AE-CBD6-72EF-D3CC564E3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4EA915-4C31-CFB8-3AA9-86E98D8C8AA7}"/>
              </a:ext>
            </a:extLst>
          </p:cNvPr>
          <p:cNvSpPr txBox="1"/>
          <p:nvPr/>
        </p:nvSpPr>
        <p:spPr>
          <a:xfrm>
            <a:off x="439272" y="1822070"/>
            <a:ext cx="1501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Experimental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D0376C-A704-4970-669A-C628A475FAE5}"/>
              </a:ext>
            </a:extLst>
          </p:cNvPr>
          <p:cNvSpPr txBox="1"/>
          <p:nvPr/>
        </p:nvSpPr>
        <p:spPr>
          <a:xfrm>
            <a:off x="5717452" y="1822070"/>
            <a:ext cx="1252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C436BF-BBB1-65B0-BF29-EAC1E9EBF01A}"/>
              </a:ext>
            </a:extLst>
          </p:cNvPr>
          <p:cNvSpPr txBox="1"/>
          <p:nvPr/>
        </p:nvSpPr>
        <p:spPr>
          <a:xfrm>
            <a:off x="8066277" y="2406190"/>
            <a:ext cx="11304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ML</a:t>
            </a:r>
          </a:p>
          <a:p>
            <a:pPr algn="ctr"/>
            <a:r>
              <a:rPr lang="en-US" dirty="0"/>
              <a:t>surrogate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B46DD21-353F-C525-B5FA-3DC9158CADD9}"/>
              </a:ext>
            </a:extLst>
          </p:cNvPr>
          <p:cNvSpPr/>
          <p:nvPr/>
        </p:nvSpPr>
        <p:spPr>
          <a:xfrm rot="16200000" flipH="1">
            <a:off x="4607099" y="3794512"/>
            <a:ext cx="3473421" cy="519953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Cost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03DA7A01-8C0B-4283-2B85-44D3A866C466}"/>
              </a:ext>
            </a:extLst>
          </p:cNvPr>
          <p:cNvSpPr/>
          <p:nvPr/>
        </p:nvSpPr>
        <p:spPr>
          <a:xfrm rot="10800000" flipH="1" flipV="1">
            <a:off x="2252947" y="2020546"/>
            <a:ext cx="3084521" cy="519953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Customizability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E3C4B1A7-2E68-00A9-5A6E-E9C6CFDC7C2A}"/>
              </a:ext>
            </a:extLst>
          </p:cNvPr>
          <p:cNvSpPr/>
          <p:nvPr/>
        </p:nvSpPr>
        <p:spPr>
          <a:xfrm flipH="1">
            <a:off x="2320693" y="1482032"/>
            <a:ext cx="3016775" cy="519953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Cost/Practicality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5DBC4967-A482-AB83-7600-35D494ED5AFC}"/>
              </a:ext>
            </a:extLst>
          </p:cNvPr>
          <p:cNvSpPr/>
          <p:nvPr/>
        </p:nvSpPr>
        <p:spPr>
          <a:xfrm rot="10800000" flipH="1" flipV="1">
            <a:off x="7055586" y="1724078"/>
            <a:ext cx="3430154" cy="519953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Accuracy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305496-9A93-C311-3CF6-8D612CD03885}"/>
              </a:ext>
            </a:extLst>
          </p:cNvPr>
          <p:cNvSpPr txBox="1"/>
          <p:nvPr/>
        </p:nvSpPr>
        <p:spPr>
          <a:xfrm>
            <a:off x="9383428" y="5283630"/>
            <a:ext cx="1037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CCSD(T)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824E29-FA21-F7DD-49EE-AE5F39765CD8}"/>
              </a:ext>
            </a:extLst>
          </p:cNvPr>
          <p:cNvSpPr txBox="1"/>
          <p:nvPr/>
        </p:nvSpPr>
        <p:spPr>
          <a:xfrm>
            <a:off x="8193517" y="4503535"/>
            <a:ext cx="577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08CC28-E14D-5FCF-0B88-7E603904FB16}"/>
              </a:ext>
            </a:extLst>
          </p:cNvPr>
          <p:cNvSpPr txBox="1"/>
          <p:nvPr/>
        </p:nvSpPr>
        <p:spPr>
          <a:xfrm>
            <a:off x="7350150" y="3663523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xTB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CEB6BD-C326-FC8B-571F-E0B0E8396521}"/>
              </a:ext>
            </a:extLst>
          </p:cNvPr>
          <p:cNvSpPr txBox="1"/>
          <p:nvPr/>
        </p:nvSpPr>
        <p:spPr>
          <a:xfrm>
            <a:off x="6662151" y="2500333"/>
            <a:ext cx="794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Force </a:t>
            </a:r>
          </a:p>
          <a:p>
            <a:r>
              <a:rPr lang="en-US" dirty="0"/>
              <a:t>Field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74CB18EA-CF91-B443-C5B6-93D37A44090C}"/>
              </a:ext>
            </a:extLst>
          </p:cNvPr>
          <p:cNvSpPr/>
          <p:nvPr/>
        </p:nvSpPr>
        <p:spPr>
          <a:xfrm>
            <a:off x="7400133" y="2552962"/>
            <a:ext cx="2599765" cy="2581835"/>
          </a:xfrm>
          <a:custGeom>
            <a:avLst/>
            <a:gdLst>
              <a:gd name="csX0" fmla="*/ 0 w 2599765"/>
              <a:gd name="csY0" fmla="*/ 0 h 2581835"/>
              <a:gd name="csX1" fmla="*/ 385483 w 2599765"/>
              <a:gd name="csY1" fmla="*/ 1084729 h 2581835"/>
              <a:gd name="csX2" fmla="*/ 1219200 w 2599765"/>
              <a:gd name="csY2" fmla="*/ 1775011 h 2581835"/>
              <a:gd name="csX3" fmla="*/ 1954306 w 2599765"/>
              <a:gd name="csY3" fmla="*/ 2321858 h 2581835"/>
              <a:gd name="csX4" fmla="*/ 2599765 w 2599765"/>
              <a:gd name="csY4" fmla="*/ 2581835 h 2581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99765" h="2581835">
                <a:moveTo>
                  <a:pt x="0" y="0"/>
                </a:moveTo>
                <a:cubicBezTo>
                  <a:pt x="91141" y="394447"/>
                  <a:pt x="182283" y="788894"/>
                  <a:pt x="385483" y="1084729"/>
                </a:cubicBezTo>
                <a:cubicBezTo>
                  <a:pt x="588683" y="1380564"/>
                  <a:pt x="957730" y="1568823"/>
                  <a:pt x="1219200" y="1775011"/>
                </a:cubicBezTo>
                <a:cubicBezTo>
                  <a:pt x="1480670" y="1981199"/>
                  <a:pt x="1724212" y="2187387"/>
                  <a:pt x="1954306" y="2321858"/>
                </a:cubicBezTo>
                <a:cubicBezTo>
                  <a:pt x="2184400" y="2456329"/>
                  <a:pt x="2392082" y="2519082"/>
                  <a:pt x="2599765" y="2581835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77831CA-3BD1-3120-AEB5-6F51534A6B5C}"/>
              </a:ext>
            </a:extLst>
          </p:cNvPr>
          <p:cNvSpPr/>
          <p:nvPr/>
        </p:nvSpPr>
        <p:spPr>
          <a:xfrm>
            <a:off x="7332526" y="2532784"/>
            <a:ext cx="173736" cy="17481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5465FE9-4134-E54D-9E24-E6DCA444CC3F}"/>
              </a:ext>
            </a:extLst>
          </p:cNvPr>
          <p:cNvSpPr/>
          <p:nvPr/>
        </p:nvSpPr>
        <p:spPr>
          <a:xfrm>
            <a:off x="7736829" y="3618957"/>
            <a:ext cx="173736" cy="17481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986CCB0-6BFE-948B-DB85-A99BAC1D6D4E}"/>
              </a:ext>
            </a:extLst>
          </p:cNvPr>
          <p:cNvSpPr/>
          <p:nvPr/>
        </p:nvSpPr>
        <p:spPr>
          <a:xfrm>
            <a:off x="8613147" y="4318634"/>
            <a:ext cx="173736" cy="17481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8E2BD9D-6249-28FB-6B5F-1A93ED213E37}"/>
              </a:ext>
            </a:extLst>
          </p:cNvPr>
          <p:cNvSpPr/>
          <p:nvPr/>
        </p:nvSpPr>
        <p:spPr>
          <a:xfrm>
            <a:off x="9815516" y="5013323"/>
            <a:ext cx="173736" cy="17481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7DD1E20-7233-14EE-6B54-D9BE41404246}"/>
              </a:ext>
            </a:extLst>
          </p:cNvPr>
          <p:cNvCxnSpPr>
            <a:cxnSpLocks/>
          </p:cNvCxnSpPr>
          <p:nvPr/>
        </p:nvCxnSpPr>
        <p:spPr>
          <a:xfrm flipH="1" flipV="1">
            <a:off x="8613147" y="3274631"/>
            <a:ext cx="86868" cy="99640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EC46B09D-0237-AC95-82FC-FA0205C5AB61}"/>
              </a:ext>
            </a:extLst>
          </p:cNvPr>
          <p:cNvSpPr/>
          <p:nvPr/>
        </p:nvSpPr>
        <p:spPr>
          <a:xfrm>
            <a:off x="8516964" y="3052521"/>
            <a:ext cx="173736" cy="17481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1F280B5-3EC0-CF93-DE1E-3E21B83D9E7C}"/>
              </a:ext>
            </a:extLst>
          </p:cNvPr>
          <p:cNvSpPr/>
          <p:nvPr/>
        </p:nvSpPr>
        <p:spPr>
          <a:xfrm>
            <a:off x="10089158" y="2552962"/>
            <a:ext cx="173736" cy="1748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7A9553-412A-120D-196A-45BCB8B5A74B}"/>
              </a:ext>
            </a:extLst>
          </p:cNvPr>
          <p:cNvSpPr txBox="1"/>
          <p:nvPr/>
        </p:nvSpPr>
        <p:spPr>
          <a:xfrm>
            <a:off x="10267245" y="2457657"/>
            <a:ext cx="943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UTOPIA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9C837E3-36F7-B05F-9EDF-E28346C7C0DC}"/>
              </a:ext>
            </a:extLst>
          </p:cNvPr>
          <p:cNvCxnSpPr/>
          <p:nvPr/>
        </p:nvCxnSpPr>
        <p:spPr>
          <a:xfrm>
            <a:off x="10334469" y="4152374"/>
            <a:ext cx="40341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E9BBB05-A544-9AD7-7C97-55020EAD7C1E}"/>
              </a:ext>
            </a:extLst>
          </p:cNvPr>
          <p:cNvSpPr txBox="1"/>
          <p:nvPr/>
        </p:nvSpPr>
        <p:spPr>
          <a:xfrm>
            <a:off x="10737880" y="3829208"/>
            <a:ext cx="943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Pareto front</a:t>
            </a:r>
          </a:p>
        </p:txBody>
      </p:sp>
    </p:spTree>
    <p:extLst>
      <p:ext uri="{BB962C8B-B14F-4D97-AF65-F5344CB8AC3E}">
        <p14:creationId xmlns:p14="http://schemas.microsoft.com/office/powerpoint/2010/main" val="130696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7" grpId="0"/>
      <p:bldP spid="11" grpId="0" animBg="1"/>
      <p:bldP spid="15" grpId="0" animBg="1"/>
      <p:bldP spid="16" grpId="0"/>
      <p:bldP spid="17" grpId="0"/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8" grpId="0" animBg="1"/>
      <p:bldP spid="29" grpId="0" animBg="1"/>
      <p:bldP spid="30" grpId="0"/>
      <p:bldP spid="3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80A70-6461-19BA-371F-DDF4FAAFD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706EBB-B8D6-3796-B2BE-DD9448AFFE57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Descriptors Survey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6252C7-F4E3-8D43-7C55-6F48D37C8993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7960C35C-8422-1E6E-0557-2FA775175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AC01AE-C427-3007-950A-0D693A5EFA0C}"/>
              </a:ext>
            </a:extLst>
          </p:cNvPr>
          <p:cNvSpPr txBox="1"/>
          <p:nvPr/>
        </p:nvSpPr>
        <p:spPr>
          <a:xfrm>
            <a:off x="3580119" y="1859339"/>
            <a:ext cx="503176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0050" indent="-400050">
              <a:buAutoNum type="romanUcPeriod"/>
            </a:pPr>
            <a:r>
              <a:rPr lang="en-US" b="1" dirty="0"/>
              <a:t>Small Molecule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Lipinski</a:t>
            </a:r>
          </a:p>
          <a:p>
            <a:pPr marL="857250" lvl="1" indent="-400050">
              <a:buAutoNum type="romanUcPeriod"/>
            </a:pPr>
            <a:r>
              <a:rPr lang="en-US" dirty="0"/>
              <a:t>Fingerprints</a:t>
            </a:r>
          </a:p>
          <a:p>
            <a:pPr marL="857250" lvl="1" indent="-400050">
              <a:buAutoNum type="romanUcPeriod"/>
            </a:pPr>
            <a:r>
              <a:rPr lang="en-US" dirty="0"/>
              <a:t>Experimentally Derived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Computed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Predicted Descriptors</a:t>
            </a:r>
          </a:p>
          <a:p>
            <a:pPr marL="400050" indent="-400050">
              <a:buAutoNum type="romanUcPeriod"/>
            </a:pPr>
            <a:endParaRPr lang="en-US" dirty="0"/>
          </a:p>
          <a:p>
            <a:pPr marL="400050" indent="-400050">
              <a:buFontTx/>
              <a:buAutoNum type="romanUcPeriod"/>
            </a:pPr>
            <a:r>
              <a:rPr lang="en-US" b="1" dirty="0"/>
              <a:t>Reaction Descriptors</a:t>
            </a:r>
          </a:p>
          <a:p>
            <a:pPr marL="857250" lvl="1" indent="-400050">
              <a:buAutoNum type="romanUcPeriod"/>
            </a:pPr>
            <a:r>
              <a:rPr lang="en-US" dirty="0"/>
              <a:t>Fingerprints</a:t>
            </a:r>
          </a:p>
          <a:p>
            <a:pPr marL="857250" lvl="1" indent="-400050">
              <a:buAutoNum type="romanUcPeriod"/>
            </a:pPr>
            <a:r>
              <a:rPr lang="en-US" dirty="0"/>
              <a:t>Energy Surfaces</a:t>
            </a:r>
          </a:p>
          <a:p>
            <a:pPr marL="857250" lvl="1" indent="-400050">
              <a:buAutoNum type="romanUcPeriod"/>
            </a:pPr>
            <a:r>
              <a:rPr lang="en-US" dirty="0"/>
              <a:t>Concatenation of Molecular Descriptors</a:t>
            </a:r>
          </a:p>
        </p:txBody>
      </p:sp>
    </p:spTree>
    <p:extLst>
      <p:ext uri="{BB962C8B-B14F-4D97-AF65-F5344CB8AC3E}">
        <p14:creationId xmlns:p14="http://schemas.microsoft.com/office/powerpoint/2010/main" val="21293459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93DAE-FBA6-D877-12BE-C8DC34FE9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126F99-D800-4D52-C1C6-6809469A854D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Examples of ML-Surrogates For Descriptor Generation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7EC98B-3CD4-AD88-E83B-265A2A65F36E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65564EBC-32A4-8167-E583-D6CCACADB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F696401C-3327-690C-3D5A-5D1D35F9D3BC}"/>
              </a:ext>
            </a:extLst>
          </p:cNvPr>
          <p:cNvGrpSpPr/>
          <p:nvPr/>
        </p:nvGrpSpPr>
        <p:grpSpPr>
          <a:xfrm>
            <a:off x="6162260" y="1154349"/>
            <a:ext cx="5123793" cy="2412124"/>
            <a:chOff x="6162260" y="1154349"/>
            <a:chExt cx="5123793" cy="2412124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40EE034-5A38-CA2B-2933-E143A09F10D1}"/>
                </a:ext>
              </a:extLst>
            </p:cNvPr>
            <p:cNvSpPr/>
            <p:nvPr/>
          </p:nvSpPr>
          <p:spPr>
            <a:xfrm>
              <a:off x="6162260" y="1154349"/>
              <a:ext cx="5123793" cy="2412124"/>
            </a:xfrm>
            <a:prstGeom prst="roundRect">
              <a:avLst>
                <a:gd name="adj" fmla="val 2288"/>
              </a:avLst>
            </a:prstGeom>
            <a:noFill/>
            <a:ln w="317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0FA280D-E9C8-06CF-DC40-DB3AB6621200}"/>
                </a:ext>
              </a:extLst>
            </p:cNvPr>
            <p:cNvSpPr txBox="1"/>
            <p:nvPr/>
          </p:nvSpPr>
          <p:spPr>
            <a:xfrm>
              <a:off x="6162260" y="1172527"/>
              <a:ext cx="5123792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/>
                <a:t>BDE predictions:</a:t>
              </a:r>
            </a:p>
            <a:p>
              <a:endParaRPr lang="en-US" sz="1800" dirty="0"/>
            </a:p>
            <a:p>
              <a:r>
                <a:rPr lang="en-US" sz="1800" dirty="0"/>
                <a:t>	• </a:t>
              </a:r>
              <a:r>
                <a:rPr lang="en-US" sz="1800" dirty="0" err="1"/>
                <a:t>BondNET</a:t>
              </a:r>
              <a:r>
                <a:rPr lang="en-US" sz="1800" dirty="0"/>
                <a:t> charged species</a:t>
              </a:r>
            </a:p>
            <a:p>
              <a:endParaRPr lang="en-US" sz="1800" dirty="0"/>
            </a:p>
            <a:p>
              <a:r>
                <a:rPr lang="en-US" sz="1800" dirty="0"/>
                <a:t>	• </a:t>
              </a:r>
              <a:r>
                <a:rPr lang="en-US" sz="1800" dirty="0" err="1"/>
                <a:t>Alfabet</a:t>
              </a:r>
              <a:r>
                <a:rPr lang="en-US" sz="1800" dirty="0"/>
                <a:t> (homolytic neutral molecules)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AF5AA80-C542-9FD2-B680-6A1858AC55AB}"/>
              </a:ext>
            </a:extLst>
          </p:cNvPr>
          <p:cNvGrpSpPr/>
          <p:nvPr/>
        </p:nvGrpSpPr>
        <p:grpSpPr>
          <a:xfrm>
            <a:off x="6162259" y="3668080"/>
            <a:ext cx="5123793" cy="2412124"/>
            <a:chOff x="6162259" y="3668080"/>
            <a:chExt cx="5123793" cy="241212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06B9CAA-FFAE-E938-0588-95935C7682E9}"/>
                </a:ext>
              </a:extLst>
            </p:cNvPr>
            <p:cNvSpPr txBox="1"/>
            <p:nvPr/>
          </p:nvSpPr>
          <p:spPr>
            <a:xfrm>
              <a:off x="6162259" y="3693001"/>
              <a:ext cx="512379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 err="1"/>
                <a:t>pKa</a:t>
              </a:r>
              <a:r>
                <a:rPr lang="en-US" sz="1800" dirty="0"/>
                <a:t> predictions:</a:t>
              </a:r>
            </a:p>
            <a:p>
              <a:r>
                <a:rPr lang="en-US" sz="1800" dirty="0" err="1"/>
                <a:t>MolGpKa</a:t>
              </a:r>
              <a:r>
                <a:rPr lang="en-US" sz="1800" dirty="0"/>
                <a:t> (https://</a:t>
              </a:r>
              <a:r>
                <a:rPr lang="en-US" sz="1800" dirty="0" err="1"/>
                <a:t>xundrug.cn</a:t>
              </a:r>
              <a:r>
                <a:rPr lang="en-US" sz="1800" dirty="0"/>
                <a:t>/</a:t>
              </a:r>
              <a:r>
                <a:rPr lang="en-US" sz="1800" dirty="0" err="1"/>
                <a:t>molgpka</a:t>
              </a:r>
              <a:r>
                <a:rPr lang="en-US" sz="1800" dirty="0"/>
                <a:t>)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4EE67B1-4591-39B0-308C-0A3E2D78E0C5}"/>
                </a:ext>
              </a:extLst>
            </p:cNvPr>
            <p:cNvSpPr/>
            <p:nvPr/>
          </p:nvSpPr>
          <p:spPr>
            <a:xfrm>
              <a:off x="6162259" y="3668080"/>
              <a:ext cx="5123793" cy="2412124"/>
            </a:xfrm>
            <a:prstGeom prst="roundRect">
              <a:avLst>
                <a:gd name="adj" fmla="val 2288"/>
              </a:avLst>
            </a:prstGeom>
            <a:noFill/>
            <a:ln w="317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88FB5F-6E8C-FC93-BD3A-7002B3CD249C}"/>
              </a:ext>
            </a:extLst>
          </p:cNvPr>
          <p:cNvGrpSpPr/>
          <p:nvPr/>
        </p:nvGrpSpPr>
        <p:grpSpPr>
          <a:xfrm>
            <a:off x="0" y="3668080"/>
            <a:ext cx="8663929" cy="2742204"/>
            <a:chOff x="0" y="3668080"/>
            <a:chExt cx="8663929" cy="274220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64BE6C-AB14-5815-081D-639BD7D1729C}"/>
                </a:ext>
              </a:extLst>
            </p:cNvPr>
            <p:cNvSpPr txBox="1"/>
            <p:nvPr/>
          </p:nvSpPr>
          <p:spPr>
            <a:xfrm>
              <a:off x="754984" y="3668080"/>
              <a:ext cx="1172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Solubility: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70BDCED-0603-B4BB-FF2C-E6D56E78FD8C}"/>
                </a:ext>
              </a:extLst>
            </p:cNvPr>
            <p:cNvSpPr/>
            <p:nvPr/>
          </p:nvSpPr>
          <p:spPr>
            <a:xfrm>
              <a:off x="750577" y="3680112"/>
              <a:ext cx="5123793" cy="2412124"/>
            </a:xfrm>
            <a:prstGeom prst="roundRect">
              <a:avLst>
                <a:gd name="adj" fmla="val 2288"/>
              </a:avLst>
            </a:prstGeom>
            <a:noFill/>
            <a:ln w="317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 descr="Fig. 1">
              <a:extLst>
                <a:ext uri="{FF2B5EF4-FFF2-40B4-BE49-F238E27FC236}">
                  <a16:creationId xmlns:a16="http://schemas.microsoft.com/office/drawing/2014/main" id="{8AC0B4A4-CF38-6CB1-6CFB-DA4DEB2C1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1360" y="3815970"/>
              <a:ext cx="2626153" cy="213540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7B25ECF-7A25-DCCD-1167-3860A0DBB284}"/>
                </a:ext>
              </a:extLst>
            </p:cNvPr>
            <p:cNvSpPr txBox="1"/>
            <p:nvPr/>
          </p:nvSpPr>
          <p:spPr>
            <a:xfrm>
              <a:off x="0" y="6148674"/>
              <a:ext cx="866392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 err="1"/>
                <a:t>Llompart</a:t>
              </a:r>
              <a:r>
                <a:rPr lang="en-US" sz="1100" dirty="0"/>
                <a:t>, P.; </a:t>
              </a:r>
              <a:r>
                <a:rPr lang="en-US" sz="1100" dirty="0" err="1"/>
                <a:t>Minoletti</a:t>
              </a:r>
              <a:r>
                <a:rPr lang="en-US" sz="1100" dirty="0"/>
                <a:t>, C.; </a:t>
              </a:r>
              <a:r>
                <a:rPr lang="en-US" sz="1100" dirty="0" err="1"/>
                <a:t>Baybekov</a:t>
              </a:r>
              <a:r>
                <a:rPr lang="en-US" sz="1100" dirty="0"/>
                <a:t>, S.; Horvath, D.; Marcou, G.; Varnek, A. </a:t>
              </a:r>
              <a:r>
                <a:rPr lang="en-US" sz="1100" i="1" dirty="0"/>
                <a:t>Sci Data </a:t>
              </a:r>
              <a:r>
                <a:rPr lang="en-US" sz="1100" b="1" dirty="0"/>
                <a:t>2024</a:t>
              </a:r>
              <a:r>
                <a:rPr lang="en-US" sz="1100" dirty="0"/>
                <a:t>, 11 (1)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2B99128-5132-8F00-F694-012EDA31D53B}"/>
              </a:ext>
            </a:extLst>
          </p:cNvPr>
          <p:cNvGrpSpPr/>
          <p:nvPr/>
        </p:nvGrpSpPr>
        <p:grpSpPr>
          <a:xfrm>
            <a:off x="750578" y="1154349"/>
            <a:ext cx="5123793" cy="2412124"/>
            <a:chOff x="750578" y="1154349"/>
            <a:chExt cx="5123793" cy="241212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80E294D-8278-B8A3-1324-1A9D763C1299}"/>
                </a:ext>
              </a:extLst>
            </p:cNvPr>
            <p:cNvSpPr txBox="1"/>
            <p:nvPr/>
          </p:nvSpPr>
          <p:spPr>
            <a:xfrm>
              <a:off x="763830" y="1167601"/>
              <a:ext cx="48821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MLIPs for Geometry Optimization (Wednesday!)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B9149610-8726-570D-A165-4C2A08247E9D}"/>
                </a:ext>
              </a:extLst>
            </p:cNvPr>
            <p:cNvSpPr/>
            <p:nvPr/>
          </p:nvSpPr>
          <p:spPr>
            <a:xfrm>
              <a:off x="750578" y="1154349"/>
              <a:ext cx="5123793" cy="2412124"/>
            </a:xfrm>
            <a:prstGeom prst="roundRect">
              <a:avLst>
                <a:gd name="adj" fmla="val 2288"/>
              </a:avLst>
            </a:prstGeom>
            <a:noFill/>
            <a:ln w="317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5AE6CAB-5D81-5923-EA87-09E3AC989238}"/>
                </a:ext>
              </a:extLst>
            </p:cNvPr>
            <p:cNvSpPr txBox="1"/>
            <p:nvPr/>
          </p:nvSpPr>
          <p:spPr>
            <a:xfrm>
              <a:off x="2452193" y="2020479"/>
              <a:ext cx="112082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• UMA</a:t>
              </a:r>
            </a:p>
            <a:p>
              <a:r>
                <a:rPr lang="en-US" dirty="0"/>
                <a:t>• MACE</a:t>
              </a:r>
            </a:p>
            <a:p>
              <a:r>
                <a:rPr lang="en-US" dirty="0"/>
                <a:t>• AIMNET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50363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4A089-83E9-27B6-119E-6DC815D3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999B84-ACF4-8CE4-4BFD-1A3FEB409D1D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Expert Crafted Descriptors: Using ML models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F2CD1D-1C94-D803-86DA-7CD7A13CC133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682C2540-D6E6-EFB2-2573-AC4616CD4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5DEE8C-C132-013D-6265-B3D852549C8A}"/>
              </a:ext>
            </a:extLst>
          </p:cNvPr>
          <p:cNvSpPr txBox="1"/>
          <p:nvPr/>
        </p:nvSpPr>
        <p:spPr>
          <a:xfrm>
            <a:off x="201168" y="1118795"/>
            <a:ext cx="11192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Prediction of BDEs using ML:</a:t>
            </a:r>
          </a:p>
        </p:txBody>
      </p:sp>
      <p:pic>
        <p:nvPicPr>
          <p:cNvPr id="5" name="Picture 4" descr="Bond dissociation energetics underpin the thermodynamics of chemical transformations where bonds are broken or formed and can also be used to predict reaction rates and selectivities.">
            <a:extLst>
              <a:ext uri="{FF2B5EF4-FFF2-40B4-BE49-F238E27FC236}">
                <a16:creationId xmlns:a16="http://schemas.microsoft.com/office/drawing/2014/main" id="{C3B3B73C-C092-2BCE-2F06-B8E839279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72" y="2543657"/>
            <a:ext cx="4190602" cy="1757349"/>
          </a:xfrm>
          <a:prstGeom prst="rect">
            <a:avLst/>
          </a:prstGeom>
        </p:spPr>
      </p:pic>
      <p:pic>
        <p:nvPicPr>
          <p:cNvPr id="6" name="Picture 5" descr="The caption contains a description of this image.">
            <a:extLst>
              <a:ext uri="{FF2B5EF4-FFF2-40B4-BE49-F238E27FC236}">
                <a16:creationId xmlns:a16="http://schemas.microsoft.com/office/drawing/2014/main" id="{833FB901-8607-EFE6-0F9F-8CFAAD0A22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000" b="56125"/>
          <a:stretch>
            <a:fillRect/>
          </a:stretch>
        </p:blipFill>
        <p:spPr>
          <a:xfrm>
            <a:off x="4737605" y="1477228"/>
            <a:ext cx="3466598" cy="2198656"/>
          </a:xfrm>
          <a:prstGeom prst="rect">
            <a:avLst/>
          </a:prstGeom>
        </p:spPr>
      </p:pic>
      <p:pic>
        <p:nvPicPr>
          <p:cNvPr id="7" name="Picture 6" descr="The caption contains a description of this image.">
            <a:extLst>
              <a:ext uri="{FF2B5EF4-FFF2-40B4-BE49-F238E27FC236}">
                <a16:creationId xmlns:a16="http://schemas.microsoft.com/office/drawing/2014/main" id="{A5BCC725-3F1E-3B94-CBC3-BF9469EBBE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796" t="43924" r="-796" b="-1027"/>
          <a:stretch>
            <a:fillRect/>
          </a:stretch>
        </p:blipFill>
        <p:spPr>
          <a:xfrm>
            <a:off x="8524234" y="1427218"/>
            <a:ext cx="3466598" cy="2861540"/>
          </a:xfrm>
          <a:prstGeom prst="rect">
            <a:avLst/>
          </a:prstGeom>
        </p:spPr>
      </p:pic>
      <p:pic>
        <p:nvPicPr>
          <p:cNvPr id="8" name="Picture 7" descr="The caption contains a description of this image.">
            <a:extLst>
              <a:ext uri="{FF2B5EF4-FFF2-40B4-BE49-F238E27FC236}">
                <a16:creationId xmlns:a16="http://schemas.microsoft.com/office/drawing/2014/main" id="{41152D68-04B5-8C39-79D5-D826FD2C89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184" b="70220"/>
          <a:stretch>
            <a:fillRect/>
          </a:stretch>
        </p:blipFill>
        <p:spPr>
          <a:xfrm>
            <a:off x="4788225" y="4394258"/>
            <a:ext cx="4726897" cy="148930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BDD0731-9F0A-0DF0-2EF4-6550AB3953E0}"/>
              </a:ext>
            </a:extLst>
          </p:cNvPr>
          <p:cNvSpPr/>
          <p:nvPr/>
        </p:nvSpPr>
        <p:spPr>
          <a:xfrm>
            <a:off x="4857751" y="1585913"/>
            <a:ext cx="242887" cy="2357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696B5B-F5D4-B6DD-B24B-DD4BCE677059}"/>
              </a:ext>
            </a:extLst>
          </p:cNvPr>
          <p:cNvSpPr/>
          <p:nvPr/>
        </p:nvSpPr>
        <p:spPr>
          <a:xfrm>
            <a:off x="4864895" y="4493527"/>
            <a:ext cx="242887" cy="2357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B5654B-94C9-65C9-0D54-87F4399EE41A}"/>
              </a:ext>
            </a:extLst>
          </p:cNvPr>
          <p:cNvSpPr/>
          <p:nvPr/>
        </p:nvSpPr>
        <p:spPr>
          <a:xfrm>
            <a:off x="8611344" y="1585360"/>
            <a:ext cx="242887" cy="1720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ED313E-62A6-86A9-F37A-464DFAD655F0}"/>
              </a:ext>
            </a:extLst>
          </p:cNvPr>
          <p:cNvSpPr txBox="1"/>
          <p:nvPr/>
        </p:nvSpPr>
        <p:spPr>
          <a:xfrm>
            <a:off x="0" y="6151803"/>
            <a:ext cx="108656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S. V., S. S.; Kim, Y.; Kim, S.; St. John, P. C.; Paton, R. S. </a:t>
            </a:r>
            <a:r>
              <a:rPr lang="en-US" sz="1100" i="1" dirty="0"/>
              <a:t>Digital Discovery </a:t>
            </a:r>
            <a:r>
              <a:rPr lang="en-US" sz="1100" b="1" dirty="0"/>
              <a:t>2023</a:t>
            </a:r>
            <a:r>
              <a:rPr lang="en-US" sz="1100" dirty="0"/>
              <a:t>, 2 (6), 1900–1910.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745395-D960-7AF6-25E0-FDDF8C64194E}"/>
              </a:ext>
            </a:extLst>
          </p:cNvPr>
          <p:cNvSpPr txBox="1"/>
          <p:nvPr/>
        </p:nvSpPr>
        <p:spPr>
          <a:xfrm>
            <a:off x="226972" y="2114550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ML pipeline: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BA27E8-4F56-E62C-2992-6D720FF45237}"/>
              </a:ext>
            </a:extLst>
          </p:cNvPr>
          <p:cNvSpPr txBox="1"/>
          <p:nvPr/>
        </p:nvSpPr>
        <p:spPr>
          <a:xfrm>
            <a:off x="9809122" y="6783764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ML pipeline: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43665A-F367-D555-D499-0E6185CB79C7}"/>
              </a:ext>
            </a:extLst>
          </p:cNvPr>
          <p:cNvSpPr txBox="1"/>
          <p:nvPr/>
        </p:nvSpPr>
        <p:spPr>
          <a:xfrm>
            <a:off x="4779021" y="1066188"/>
            <a:ext cx="395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Validation and Domain of Applicability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3A7FE6-7471-21BF-87A8-5EC49229BA8F}"/>
              </a:ext>
            </a:extLst>
          </p:cNvPr>
          <p:cNvSpPr txBox="1"/>
          <p:nvPr/>
        </p:nvSpPr>
        <p:spPr>
          <a:xfrm>
            <a:off x="9606080" y="4394258"/>
            <a:ext cx="26002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Always evaluate validity</a:t>
            </a:r>
          </a:p>
          <a:p>
            <a:r>
              <a:rPr lang="en-US" dirty="0"/>
              <a:t>Recompute some data points with the high accuracy method for important points!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450DB34-84E6-62D8-AE9E-3EAE4EA11196}"/>
              </a:ext>
            </a:extLst>
          </p:cNvPr>
          <p:cNvCxnSpPr/>
          <p:nvPr/>
        </p:nvCxnSpPr>
        <p:spPr>
          <a:xfrm>
            <a:off x="4600575" y="1271588"/>
            <a:ext cx="0" cy="4599998"/>
          </a:xfrm>
          <a:prstGeom prst="line">
            <a:avLst/>
          </a:prstGeom>
          <a:ln>
            <a:solidFill>
              <a:srgbClr val="EAF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63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B3C81-C666-76DF-BEAC-A2B47B059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C6511F-F093-41BE-C628-925CD0360F2C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Expert Crafted Descriptors: Using ML models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8B5E3-F0E5-8FF5-79F4-A825AC71BBD6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72DCAD3B-A0D8-2FC3-8ECC-AF29A5F89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9F2EFA-6D00-1C21-6C12-4DDFB1A4FC53}"/>
              </a:ext>
            </a:extLst>
          </p:cNvPr>
          <p:cNvSpPr txBox="1"/>
          <p:nvPr/>
        </p:nvSpPr>
        <p:spPr>
          <a:xfrm>
            <a:off x="201168" y="1118795"/>
            <a:ext cx="11192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Machine Learning Interatomic Potentials as DFT surrogate (Structure Optimization/Energy Calculation):  </a:t>
            </a:r>
          </a:p>
        </p:txBody>
      </p:sp>
      <p:pic>
        <p:nvPicPr>
          <p:cNvPr id="29" name="Picture 28" descr="Figure 9. Refer to the image caption for details.">
            <a:extLst>
              <a:ext uri="{FF2B5EF4-FFF2-40B4-BE49-F238E27FC236}">
                <a16:creationId xmlns:a16="http://schemas.microsoft.com/office/drawing/2014/main" id="{AA2ED089-660B-5AF1-1AF3-7928728682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813"/>
          <a:stretch>
            <a:fillRect/>
          </a:stretch>
        </p:blipFill>
        <p:spPr>
          <a:xfrm>
            <a:off x="469772" y="2325778"/>
            <a:ext cx="3697816" cy="2305398"/>
          </a:xfrm>
          <a:prstGeom prst="rect">
            <a:avLst/>
          </a:prstGeom>
        </p:spPr>
      </p:pic>
      <p:sp>
        <p:nvSpPr>
          <p:cNvPr id="30" name="Down Arrow 29">
            <a:extLst>
              <a:ext uri="{FF2B5EF4-FFF2-40B4-BE49-F238E27FC236}">
                <a16:creationId xmlns:a16="http://schemas.microsoft.com/office/drawing/2014/main" id="{23008069-D137-AAB0-0E35-C85F9471A2D7}"/>
              </a:ext>
            </a:extLst>
          </p:cNvPr>
          <p:cNvSpPr/>
          <p:nvPr/>
        </p:nvSpPr>
        <p:spPr>
          <a:xfrm rot="5400000">
            <a:off x="2395190" y="3428775"/>
            <a:ext cx="328612" cy="2733414"/>
          </a:xfrm>
          <a:prstGeom prst="downArrow">
            <a:avLst/>
          </a:prstGeom>
          <a:solidFill>
            <a:schemeClr val="bg1">
              <a:lumMod val="85000"/>
              <a:alpha val="48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23A07E-1E1B-5374-FFE4-7FAEF32431B8}"/>
              </a:ext>
            </a:extLst>
          </p:cNvPr>
          <p:cNvSpPr txBox="1"/>
          <p:nvPr/>
        </p:nvSpPr>
        <p:spPr>
          <a:xfrm>
            <a:off x="1347815" y="4906855"/>
            <a:ext cx="2743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&gt;99% reduction compute </a:t>
            </a:r>
          </a:p>
        </p:txBody>
      </p:sp>
      <p:pic>
        <p:nvPicPr>
          <p:cNvPr id="35" name="Graphic 34" descr="Figure 5. Refer to the image caption for details.">
            <a:extLst>
              <a:ext uri="{FF2B5EF4-FFF2-40B4-BE49-F238E27FC236}">
                <a16:creationId xmlns:a16="http://schemas.microsoft.com/office/drawing/2014/main" id="{EC079FD1-E428-AD2D-E73D-1F05B169CA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3044" t="41957" r="50710" b="49120"/>
          <a:stretch>
            <a:fillRect/>
          </a:stretch>
        </p:blipFill>
        <p:spPr>
          <a:xfrm>
            <a:off x="11486008" y="5032453"/>
            <a:ext cx="488133" cy="48726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35F8B41-2C5F-FF59-6855-1CDDB50FF0EF}"/>
              </a:ext>
            </a:extLst>
          </p:cNvPr>
          <p:cNvSpPr txBox="1"/>
          <p:nvPr/>
        </p:nvSpPr>
        <p:spPr>
          <a:xfrm>
            <a:off x="0" y="6155906"/>
            <a:ext cx="611916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Quirion, K. P.; Kong, W.-Y.; Stanley, B.; Joy, J.; Ess, D. H. </a:t>
            </a:r>
            <a:r>
              <a:rPr lang="en-US" sz="1100" i="1" dirty="0"/>
              <a:t>ACS </a:t>
            </a:r>
            <a:r>
              <a:rPr lang="en-US" sz="1100" i="1" dirty="0" err="1"/>
              <a:t>Catal</a:t>
            </a:r>
            <a:r>
              <a:rPr lang="en-US" sz="1100" dirty="0"/>
              <a:t>. </a:t>
            </a:r>
            <a:r>
              <a:rPr lang="en-US" sz="1100" b="1" dirty="0"/>
              <a:t>2026</a:t>
            </a:r>
            <a:r>
              <a:rPr lang="en-US" sz="1100" dirty="0"/>
              <a:t>. 16 (9): 8053–8066.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73813A3-CFCB-ACC2-D6A6-6AF629EF9C47}"/>
              </a:ext>
            </a:extLst>
          </p:cNvPr>
          <p:cNvGrpSpPr/>
          <p:nvPr/>
        </p:nvGrpSpPr>
        <p:grpSpPr>
          <a:xfrm>
            <a:off x="4343400" y="1643063"/>
            <a:ext cx="3159074" cy="4314248"/>
            <a:chOff x="4343400" y="1643063"/>
            <a:chExt cx="3159074" cy="4314248"/>
          </a:xfrm>
        </p:grpSpPr>
        <p:pic>
          <p:nvPicPr>
            <p:cNvPr id="32" name="Graphic 31" descr="Figure 4. Refer to the image caption for details.">
              <a:extLst>
                <a:ext uri="{FF2B5EF4-FFF2-40B4-BE49-F238E27FC236}">
                  <a16:creationId xmlns:a16="http://schemas.microsoft.com/office/drawing/2014/main" id="{075DDF0F-FFD0-AF2B-C6B9-BBAF235066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2735" r="68849" b="64421"/>
            <a:stretch>
              <a:fillRect/>
            </a:stretch>
          </p:blipFill>
          <p:spPr>
            <a:xfrm>
              <a:off x="4608368" y="2434481"/>
              <a:ext cx="2894106" cy="2611916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8FCF1C8-CBF7-F473-E856-60823D47C123}"/>
                </a:ext>
              </a:extLst>
            </p:cNvPr>
            <p:cNvSpPr txBox="1"/>
            <p:nvPr/>
          </p:nvSpPr>
          <p:spPr>
            <a:xfrm>
              <a:off x="4608368" y="1947367"/>
              <a:ext cx="14205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Closed shell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13D68B0-AF66-3FAE-AF74-729E5F6D3EAC}"/>
                </a:ext>
              </a:extLst>
            </p:cNvPr>
            <p:cNvCxnSpPr>
              <a:cxnSpLocks/>
            </p:cNvCxnSpPr>
            <p:nvPr/>
          </p:nvCxnSpPr>
          <p:spPr>
            <a:xfrm>
              <a:off x="4343400" y="1643063"/>
              <a:ext cx="0" cy="4314248"/>
            </a:xfrm>
            <a:prstGeom prst="line">
              <a:avLst/>
            </a:prstGeom>
            <a:ln>
              <a:solidFill>
                <a:srgbClr val="EAF6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8D15382-F010-E501-B7D5-4A3F5CA32C14}"/>
              </a:ext>
            </a:extLst>
          </p:cNvPr>
          <p:cNvGrpSpPr/>
          <p:nvPr/>
        </p:nvGrpSpPr>
        <p:grpSpPr>
          <a:xfrm>
            <a:off x="7981950" y="1643063"/>
            <a:ext cx="3854959" cy="4314248"/>
            <a:chOff x="7981950" y="1643063"/>
            <a:chExt cx="3854959" cy="4314248"/>
          </a:xfrm>
        </p:grpSpPr>
        <p:pic>
          <p:nvPicPr>
            <p:cNvPr id="34" name="Graphic 33" descr="Figure 5. Refer to the image caption for details.">
              <a:extLst>
                <a:ext uri="{FF2B5EF4-FFF2-40B4-BE49-F238E27FC236}">
                  <a16:creationId xmlns:a16="http://schemas.microsoft.com/office/drawing/2014/main" id="{74CA72AE-FEA3-09FD-CC30-827393B2AB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3179" r="57107" b="49120"/>
            <a:stretch>
              <a:fillRect/>
            </a:stretch>
          </p:blipFill>
          <p:spPr>
            <a:xfrm>
              <a:off x="8139093" y="2434481"/>
              <a:ext cx="3697816" cy="2873676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1D15414-594E-38FE-2E77-6799A10DE558}"/>
                </a:ext>
              </a:extLst>
            </p:cNvPr>
            <p:cNvSpPr txBox="1"/>
            <p:nvPr/>
          </p:nvSpPr>
          <p:spPr>
            <a:xfrm>
              <a:off x="8139093" y="1956446"/>
              <a:ext cx="1257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Open shell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FA06008-2E34-1BED-2DAA-E7BF07524881}"/>
                </a:ext>
              </a:extLst>
            </p:cNvPr>
            <p:cNvCxnSpPr>
              <a:cxnSpLocks/>
            </p:cNvCxnSpPr>
            <p:nvPr/>
          </p:nvCxnSpPr>
          <p:spPr>
            <a:xfrm>
              <a:off x="7981950" y="1643063"/>
              <a:ext cx="0" cy="4314248"/>
            </a:xfrm>
            <a:prstGeom prst="line">
              <a:avLst/>
            </a:prstGeom>
            <a:ln>
              <a:solidFill>
                <a:srgbClr val="EAF6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5318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8579B-83EC-C939-6ACA-511A3BC37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A19C57-D38A-7AE1-7BF1-B1745497DC9E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Expert Crafted Descriptors: Using ML models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87C452-736D-7AFB-1E9F-39589B5E0A90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C485C6FC-729D-EC07-F70C-ADB3B2B03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82F8502-54D1-F14F-F77B-7434E89FAC78}"/>
              </a:ext>
            </a:extLst>
          </p:cNvPr>
          <p:cNvSpPr/>
          <p:nvPr/>
        </p:nvSpPr>
        <p:spPr>
          <a:xfrm>
            <a:off x="588170" y="1407991"/>
            <a:ext cx="6042095" cy="4542248"/>
          </a:xfrm>
          <a:prstGeom prst="roundRect">
            <a:avLst>
              <a:gd name="adj" fmla="val 2062"/>
            </a:avLst>
          </a:prstGeom>
          <a:solidFill>
            <a:srgbClr val="EAF6F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DED779-C669-6FD1-1B19-0F0A93CBA71C}"/>
              </a:ext>
            </a:extLst>
          </p:cNvPr>
          <p:cNvSpPr txBox="1"/>
          <p:nvPr/>
        </p:nvSpPr>
        <p:spPr>
          <a:xfrm>
            <a:off x="666821" y="1748029"/>
            <a:ext cx="1252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25DD19-EBCD-F1FB-735E-FB5E330D43AE}"/>
              </a:ext>
            </a:extLst>
          </p:cNvPr>
          <p:cNvSpPr txBox="1"/>
          <p:nvPr/>
        </p:nvSpPr>
        <p:spPr>
          <a:xfrm>
            <a:off x="3118862" y="2400879"/>
            <a:ext cx="11304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ML</a:t>
            </a:r>
          </a:p>
          <a:p>
            <a:pPr algn="ctr"/>
            <a:r>
              <a:rPr lang="en-US" dirty="0"/>
              <a:t>surrogate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4E54F934-E328-7328-450C-4C1333F7978E}"/>
              </a:ext>
            </a:extLst>
          </p:cNvPr>
          <p:cNvSpPr/>
          <p:nvPr/>
        </p:nvSpPr>
        <p:spPr>
          <a:xfrm rot="16200000" flipH="1">
            <a:off x="-443532" y="3720471"/>
            <a:ext cx="3473421" cy="519953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Cost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0F863FF-0F1F-A578-942D-BD0D7AFD4DD0}"/>
              </a:ext>
            </a:extLst>
          </p:cNvPr>
          <p:cNvSpPr/>
          <p:nvPr/>
        </p:nvSpPr>
        <p:spPr>
          <a:xfrm rot="10800000" flipH="1" flipV="1">
            <a:off x="2004955" y="1650037"/>
            <a:ext cx="3430154" cy="519953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Accuracy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9F52C8-317A-042A-970E-8D10D2B30BB0}"/>
              </a:ext>
            </a:extLst>
          </p:cNvPr>
          <p:cNvSpPr txBox="1"/>
          <p:nvPr/>
        </p:nvSpPr>
        <p:spPr>
          <a:xfrm>
            <a:off x="4332797" y="5209589"/>
            <a:ext cx="1037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CCSD(T)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775C1C-889E-3618-9906-1F4593E788AB}"/>
              </a:ext>
            </a:extLst>
          </p:cNvPr>
          <p:cNvSpPr txBox="1"/>
          <p:nvPr/>
        </p:nvSpPr>
        <p:spPr>
          <a:xfrm>
            <a:off x="3142886" y="4429494"/>
            <a:ext cx="577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DFT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EC8150-4ECD-2253-D70D-830C1714FE95}"/>
              </a:ext>
            </a:extLst>
          </p:cNvPr>
          <p:cNvSpPr txBox="1"/>
          <p:nvPr/>
        </p:nvSpPr>
        <p:spPr>
          <a:xfrm>
            <a:off x="2299519" y="3589482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xTB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4B07DB-2A5A-CEB4-A45F-2E000F35E439}"/>
              </a:ext>
            </a:extLst>
          </p:cNvPr>
          <p:cNvSpPr txBox="1"/>
          <p:nvPr/>
        </p:nvSpPr>
        <p:spPr>
          <a:xfrm>
            <a:off x="1611520" y="2426292"/>
            <a:ext cx="794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Force </a:t>
            </a:r>
          </a:p>
          <a:p>
            <a:r>
              <a:rPr lang="en-US" dirty="0"/>
              <a:t>Field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BDB87F-A102-2992-8A1C-FA79C96A2759}"/>
              </a:ext>
            </a:extLst>
          </p:cNvPr>
          <p:cNvSpPr/>
          <p:nvPr/>
        </p:nvSpPr>
        <p:spPr>
          <a:xfrm>
            <a:off x="2349502" y="2478921"/>
            <a:ext cx="2599765" cy="2581835"/>
          </a:xfrm>
          <a:custGeom>
            <a:avLst/>
            <a:gdLst>
              <a:gd name="csX0" fmla="*/ 0 w 2599765"/>
              <a:gd name="csY0" fmla="*/ 0 h 2581835"/>
              <a:gd name="csX1" fmla="*/ 385483 w 2599765"/>
              <a:gd name="csY1" fmla="*/ 1084729 h 2581835"/>
              <a:gd name="csX2" fmla="*/ 1219200 w 2599765"/>
              <a:gd name="csY2" fmla="*/ 1775011 h 2581835"/>
              <a:gd name="csX3" fmla="*/ 1954306 w 2599765"/>
              <a:gd name="csY3" fmla="*/ 2321858 h 2581835"/>
              <a:gd name="csX4" fmla="*/ 2599765 w 2599765"/>
              <a:gd name="csY4" fmla="*/ 2581835 h 2581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99765" h="2581835">
                <a:moveTo>
                  <a:pt x="0" y="0"/>
                </a:moveTo>
                <a:cubicBezTo>
                  <a:pt x="91141" y="394447"/>
                  <a:pt x="182283" y="788894"/>
                  <a:pt x="385483" y="1084729"/>
                </a:cubicBezTo>
                <a:cubicBezTo>
                  <a:pt x="588683" y="1380564"/>
                  <a:pt x="957730" y="1568823"/>
                  <a:pt x="1219200" y="1775011"/>
                </a:cubicBezTo>
                <a:cubicBezTo>
                  <a:pt x="1480670" y="1981199"/>
                  <a:pt x="1724212" y="2187387"/>
                  <a:pt x="1954306" y="2321858"/>
                </a:cubicBezTo>
                <a:cubicBezTo>
                  <a:pt x="2184400" y="2456329"/>
                  <a:pt x="2392082" y="2519082"/>
                  <a:pt x="2599765" y="2581835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CE99D48-F1FC-F00B-846B-330025B7A80A}"/>
              </a:ext>
            </a:extLst>
          </p:cNvPr>
          <p:cNvSpPr/>
          <p:nvPr/>
        </p:nvSpPr>
        <p:spPr>
          <a:xfrm>
            <a:off x="2281895" y="2458743"/>
            <a:ext cx="173736" cy="17481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0D918B-B0A2-8BCF-8967-1CD11236585D}"/>
              </a:ext>
            </a:extLst>
          </p:cNvPr>
          <p:cNvSpPr/>
          <p:nvPr/>
        </p:nvSpPr>
        <p:spPr>
          <a:xfrm>
            <a:off x="2686198" y="3544916"/>
            <a:ext cx="173736" cy="17481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4B208EA-9FC5-BDC9-39F7-481705C5D776}"/>
              </a:ext>
            </a:extLst>
          </p:cNvPr>
          <p:cNvSpPr/>
          <p:nvPr/>
        </p:nvSpPr>
        <p:spPr>
          <a:xfrm>
            <a:off x="3562516" y="4244593"/>
            <a:ext cx="173736" cy="17481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CDE2AD-2E50-F65C-4687-CA8E56969124}"/>
              </a:ext>
            </a:extLst>
          </p:cNvPr>
          <p:cNvSpPr/>
          <p:nvPr/>
        </p:nvSpPr>
        <p:spPr>
          <a:xfrm>
            <a:off x="4764885" y="4939282"/>
            <a:ext cx="173736" cy="17481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7C6B2BE-4C67-5B37-AE82-2FE495D20BD9}"/>
              </a:ext>
            </a:extLst>
          </p:cNvPr>
          <p:cNvCxnSpPr>
            <a:cxnSpLocks/>
          </p:cNvCxnSpPr>
          <p:nvPr/>
        </p:nvCxnSpPr>
        <p:spPr>
          <a:xfrm flipV="1">
            <a:off x="3656528" y="3249603"/>
            <a:ext cx="0" cy="95453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5820F713-533C-5F0F-E559-CB6BF08386F0}"/>
              </a:ext>
            </a:extLst>
          </p:cNvPr>
          <p:cNvSpPr/>
          <p:nvPr/>
        </p:nvSpPr>
        <p:spPr>
          <a:xfrm>
            <a:off x="3576693" y="3040066"/>
            <a:ext cx="173736" cy="174812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8B3467E-A70B-DBE7-629B-C1E408FF9204}"/>
              </a:ext>
            </a:extLst>
          </p:cNvPr>
          <p:cNvSpPr/>
          <p:nvPr/>
        </p:nvSpPr>
        <p:spPr>
          <a:xfrm>
            <a:off x="4723213" y="2478921"/>
            <a:ext cx="173736" cy="17481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3C7FDB-366B-75F4-2ADF-972734183F88}"/>
              </a:ext>
            </a:extLst>
          </p:cNvPr>
          <p:cNvSpPr txBox="1"/>
          <p:nvPr/>
        </p:nvSpPr>
        <p:spPr>
          <a:xfrm>
            <a:off x="4901300" y="2383616"/>
            <a:ext cx="943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UTOPIA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D052B47-8E7E-9C2B-542E-2FC83A74E79A}"/>
              </a:ext>
            </a:extLst>
          </p:cNvPr>
          <p:cNvCxnSpPr/>
          <p:nvPr/>
        </p:nvCxnSpPr>
        <p:spPr>
          <a:xfrm>
            <a:off x="5283838" y="4078333"/>
            <a:ext cx="40341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BC4AE72-706F-C922-7775-F83F0E263EB1}"/>
              </a:ext>
            </a:extLst>
          </p:cNvPr>
          <p:cNvSpPr txBox="1"/>
          <p:nvPr/>
        </p:nvSpPr>
        <p:spPr>
          <a:xfrm>
            <a:off x="5687249" y="3755167"/>
            <a:ext cx="943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Pareto front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E0A581-3E63-4F38-EBF6-F09174B9E823}"/>
              </a:ext>
            </a:extLst>
          </p:cNvPr>
          <p:cNvSpPr txBox="1"/>
          <p:nvPr/>
        </p:nvSpPr>
        <p:spPr>
          <a:xfrm>
            <a:off x="7004673" y="2638141"/>
            <a:ext cx="50368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Ab-initio or semi-empirical computational tools have identifiable flaws/literature experience.</a:t>
            </a:r>
          </a:p>
          <a:p>
            <a:endParaRPr lang="en-US" dirty="0"/>
          </a:p>
          <a:p>
            <a:r>
              <a:rPr lang="en-US" dirty="0"/>
              <a:t>ML surrogates are less predictable: Good usage practice:</a:t>
            </a:r>
          </a:p>
          <a:p>
            <a:pPr marL="285750" indent="-285750">
              <a:buFontTx/>
              <a:buChar char="-"/>
            </a:pPr>
            <a:r>
              <a:rPr lang="en-US" dirty="0"/>
              <a:t>Benchmark few points vs DFT/reference method</a:t>
            </a:r>
          </a:p>
          <a:p>
            <a:pPr marL="285750" indent="-285750">
              <a:buFontTx/>
              <a:buChar char="-"/>
            </a:pPr>
            <a:r>
              <a:rPr lang="en-US" dirty="0"/>
              <a:t>Understand/evaluate domain of applicability</a:t>
            </a:r>
          </a:p>
        </p:txBody>
      </p:sp>
    </p:spTree>
    <p:extLst>
      <p:ext uri="{BB962C8B-B14F-4D97-AF65-F5344CB8AC3E}">
        <p14:creationId xmlns:p14="http://schemas.microsoft.com/office/powerpoint/2010/main" val="17810533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3C585-B9D5-CA80-1455-A156796FE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A13AB0F7-24B8-BE89-AC12-B9AC3C4743E0}"/>
              </a:ext>
            </a:extLst>
          </p:cNvPr>
          <p:cNvGrpSpPr/>
          <p:nvPr/>
        </p:nvGrpSpPr>
        <p:grpSpPr>
          <a:xfrm>
            <a:off x="7186610" y="1142728"/>
            <a:ext cx="4509774" cy="4592990"/>
            <a:chOff x="7186610" y="1142728"/>
            <a:chExt cx="4509774" cy="459299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EB7406C-7A95-6496-546B-84D6A8AE09E8}"/>
                </a:ext>
              </a:extLst>
            </p:cNvPr>
            <p:cNvGrpSpPr/>
            <p:nvPr/>
          </p:nvGrpSpPr>
          <p:grpSpPr>
            <a:xfrm>
              <a:off x="7186610" y="1142728"/>
              <a:ext cx="4509774" cy="4592990"/>
              <a:chOff x="7137398" y="1164149"/>
              <a:chExt cx="4509774" cy="4592990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165D5BFE-8897-E2F5-FE05-0891C599BA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7398" y="3866435"/>
                <a:ext cx="2205598" cy="2439"/>
              </a:xfrm>
              <a:prstGeom prst="line">
                <a:avLst/>
              </a:prstGeom>
              <a:ln>
                <a:solidFill>
                  <a:srgbClr val="45454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51242377-4D01-6C1F-0F9E-82179DF44C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64913" y="1364419"/>
                <a:ext cx="1504348" cy="892410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9E934FA-8FF5-B016-4076-2AC2667F8781}"/>
                  </a:ext>
                </a:extLst>
              </p:cNvPr>
              <p:cNvSpPr txBox="1"/>
              <p:nvPr/>
            </p:nvSpPr>
            <p:spPr>
              <a:xfrm>
                <a:off x="9058442" y="2473828"/>
                <a:ext cx="25887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Transition states</a:t>
                </a:r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DBA726E4-2D90-BF62-55F2-0B7EEC0C28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29707" y="3866435"/>
                <a:ext cx="1513289" cy="1890704"/>
              </a:xfrm>
              <a:prstGeom prst="line">
                <a:avLst/>
              </a:prstGeom>
              <a:ln>
                <a:solidFill>
                  <a:srgbClr val="9696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89A8A40-DA3F-6AB4-A6EE-9B540C063A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32677" y="1532941"/>
                <a:ext cx="0" cy="2342078"/>
              </a:xfrm>
              <a:prstGeom prst="line">
                <a:avLst/>
              </a:prstGeom>
              <a:ln>
                <a:solidFill>
                  <a:srgbClr val="45454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FBFC0189-5FA2-5240-B801-C799EF60A620}"/>
                  </a:ext>
                </a:extLst>
              </p:cNvPr>
              <p:cNvSpPr/>
              <p:nvPr/>
            </p:nvSpPr>
            <p:spPr>
              <a:xfrm>
                <a:off x="9241161" y="1422841"/>
                <a:ext cx="173736" cy="17481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E38018BE-EE9B-68AA-1C71-BAB62A1896BF}"/>
                  </a:ext>
                </a:extLst>
              </p:cNvPr>
              <p:cNvSpPr/>
              <p:nvPr/>
            </p:nvSpPr>
            <p:spPr>
              <a:xfrm>
                <a:off x="9414896" y="1164149"/>
                <a:ext cx="1849239" cy="1290011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DC8ED0A-4079-1BA1-E2D4-C58639AC2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29238" y="1496614"/>
              <a:ext cx="572064" cy="436514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65DD0BC-2D87-5047-4F09-587CB6222714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Expert-Crafter Descriptors: Precision/Generalizability Trade-off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9BF0E3-FC23-8FBF-7989-B3600EFE7EA7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A65C1985-0918-4F4F-B2F4-4D8ACC343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C88F8D9B-FC59-1719-FC66-E888333B6839}"/>
              </a:ext>
            </a:extLst>
          </p:cNvPr>
          <p:cNvSpPr/>
          <p:nvPr/>
        </p:nvSpPr>
        <p:spPr>
          <a:xfrm>
            <a:off x="5534655" y="5693354"/>
            <a:ext cx="6071874" cy="127571"/>
          </a:xfrm>
          <a:prstGeom prst="rightArrow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2736E4-4B6F-F87E-2804-C65D99461244}"/>
              </a:ext>
            </a:extLst>
          </p:cNvPr>
          <p:cNvSpPr txBox="1"/>
          <p:nvPr/>
        </p:nvSpPr>
        <p:spPr>
          <a:xfrm>
            <a:off x="6879220" y="5836616"/>
            <a:ext cx="2963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efficiency – expert bias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09818C-F1E1-24BA-34B8-3B5330506D60}"/>
              </a:ext>
            </a:extLst>
          </p:cNvPr>
          <p:cNvSpPr txBox="1"/>
          <p:nvPr/>
        </p:nvSpPr>
        <p:spPr>
          <a:xfrm rot="16200000">
            <a:off x="4224618" y="3586733"/>
            <a:ext cx="214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Generalizability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204F87DD-3B3A-2B9B-B40F-6B9FAC13D072}"/>
              </a:ext>
            </a:extLst>
          </p:cNvPr>
          <p:cNvSpPr/>
          <p:nvPr/>
        </p:nvSpPr>
        <p:spPr>
          <a:xfrm rot="16200000">
            <a:off x="3688763" y="3760607"/>
            <a:ext cx="3781406" cy="173738"/>
          </a:xfrm>
          <a:prstGeom prst="rightArrow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D4D40B4-7BFA-5B75-A5B6-38BA9A60F9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148" y="3502450"/>
            <a:ext cx="3759200" cy="4318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1919033-B715-E404-BEA9-2010BC49E4A2}"/>
              </a:ext>
            </a:extLst>
          </p:cNvPr>
          <p:cNvSpPr txBox="1"/>
          <p:nvPr/>
        </p:nvSpPr>
        <p:spPr>
          <a:xfrm>
            <a:off x="375439" y="2685317"/>
            <a:ext cx="4012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Descriptors for modeling rates of SN</a:t>
            </a:r>
            <a:r>
              <a:rPr lang="en-US" baseline="-25000" dirty="0"/>
              <a:t>2 </a:t>
            </a:r>
            <a:r>
              <a:rPr lang="en-US" dirty="0"/>
              <a:t>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E5D5B8-35B5-615B-1207-9888625392BC}"/>
              </a:ext>
            </a:extLst>
          </p:cNvPr>
          <p:cNvSpPr txBox="1"/>
          <p:nvPr/>
        </p:nvSpPr>
        <p:spPr>
          <a:xfrm>
            <a:off x="1907293" y="3306736"/>
            <a:ext cx="749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</a:t>
            </a:r>
            <a:r>
              <a:rPr lang="en-US" baseline="-25000" dirty="0" err="1"/>
              <a:t>Nu</a:t>
            </a:r>
            <a:r>
              <a:rPr lang="en-US" baseline="-25000" dirty="0"/>
              <a:t>, LG</a:t>
            </a:r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1C818FF0-DBF0-A59B-201E-0B1D90B646F2}"/>
              </a:ext>
            </a:extLst>
          </p:cNvPr>
          <p:cNvSpPr/>
          <p:nvPr/>
        </p:nvSpPr>
        <p:spPr>
          <a:xfrm rot="18551593">
            <a:off x="5043542" y="4548677"/>
            <a:ext cx="2975891" cy="145914"/>
          </a:xfrm>
          <a:prstGeom prst="rightArrow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D06246-73C8-773B-C62D-914563082242}"/>
              </a:ext>
            </a:extLst>
          </p:cNvPr>
          <p:cNvSpPr txBox="1"/>
          <p:nvPr/>
        </p:nvSpPr>
        <p:spPr>
          <a:xfrm rot="18581782">
            <a:off x="6144095" y="3989481"/>
            <a:ext cx="1004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Cost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475947-E0D5-6878-476E-96D9B4BA92FA}"/>
              </a:ext>
            </a:extLst>
          </p:cNvPr>
          <p:cNvGrpSpPr/>
          <p:nvPr/>
        </p:nvGrpSpPr>
        <p:grpSpPr>
          <a:xfrm>
            <a:off x="6941109" y="2966907"/>
            <a:ext cx="2051919" cy="2778394"/>
            <a:chOff x="6941109" y="2966907"/>
            <a:chExt cx="2051919" cy="2778394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1032B43-B53F-BB34-EC23-B38DF3950B89}"/>
                </a:ext>
              </a:extLst>
            </p:cNvPr>
            <p:cNvSpPr/>
            <p:nvPr/>
          </p:nvSpPr>
          <p:spPr>
            <a:xfrm>
              <a:off x="7504303" y="2966907"/>
              <a:ext cx="1274158" cy="11885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A809BC8-9780-962B-D205-0A742E6B83E2}"/>
                </a:ext>
              </a:extLst>
            </p:cNvPr>
            <p:cNvSpPr txBox="1"/>
            <p:nvPr/>
          </p:nvSpPr>
          <p:spPr>
            <a:xfrm>
              <a:off x="7289735" y="4094246"/>
              <a:ext cx="17032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molecular descriptors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B8757BB-D5BB-9E8E-6FE7-6CDAAA0A56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1109" y="4997031"/>
              <a:ext cx="600869" cy="748270"/>
            </a:xfrm>
            <a:prstGeom prst="line">
              <a:avLst/>
            </a:prstGeom>
            <a:ln>
              <a:solidFill>
                <a:srgbClr val="B0B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DBBD01-74CF-3319-9046-DF29C2AFD01C}"/>
                </a:ext>
              </a:extLst>
            </p:cNvPr>
            <p:cNvCxnSpPr>
              <a:cxnSpLocks/>
            </p:cNvCxnSpPr>
            <p:nvPr/>
          </p:nvCxnSpPr>
          <p:spPr>
            <a:xfrm>
              <a:off x="7538064" y="3992471"/>
              <a:ext cx="0" cy="997002"/>
            </a:xfrm>
            <a:prstGeom prst="line">
              <a:avLst/>
            </a:prstGeom>
            <a:ln>
              <a:solidFill>
                <a:srgbClr val="9F9F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53827CD-5DD5-37B1-10D3-635A6D94D9F9}"/>
                </a:ext>
              </a:extLst>
            </p:cNvPr>
            <p:cNvSpPr/>
            <p:nvPr/>
          </p:nvSpPr>
          <p:spPr>
            <a:xfrm>
              <a:off x="7452980" y="3911233"/>
              <a:ext cx="173736" cy="174812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DF64C6F7-8B4C-03F4-FA78-7F106108B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69972" y="3163084"/>
              <a:ext cx="825500" cy="8128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28F1FB8-4CC1-F99C-FFC4-FF0E2C24B1B6}"/>
              </a:ext>
            </a:extLst>
          </p:cNvPr>
          <p:cNvGrpSpPr/>
          <p:nvPr/>
        </p:nvGrpSpPr>
        <p:grpSpPr>
          <a:xfrm>
            <a:off x="5854500" y="1977406"/>
            <a:ext cx="1727890" cy="3774046"/>
            <a:chOff x="5854500" y="1963118"/>
            <a:chExt cx="1727890" cy="377404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8DF0A5F-9150-7D37-A67E-8DCA6BECA5D8}"/>
                </a:ext>
              </a:extLst>
            </p:cNvPr>
            <p:cNvSpPr txBox="1"/>
            <p:nvPr/>
          </p:nvSpPr>
          <p:spPr>
            <a:xfrm>
              <a:off x="5879097" y="2882421"/>
              <a:ext cx="1703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Graph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AE05731-054B-5617-8BC7-CF6B02429C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54500" y="5332727"/>
              <a:ext cx="327284" cy="404437"/>
            </a:xfrm>
            <a:prstGeom prst="line">
              <a:avLst/>
            </a:prstGeom>
            <a:ln>
              <a:solidFill>
                <a:srgbClr val="D1D1D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66A680E-453B-5D2F-FD76-ACA83B043646}"/>
                </a:ext>
              </a:extLst>
            </p:cNvPr>
            <p:cNvCxnSpPr>
              <a:cxnSpLocks/>
            </p:cNvCxnSpPr>
            <p:nvPr/>
          </p:nvCxnSpPr>
          <p:spPr>
            <a:xfrm>
              <a:off x="5981698" y="5333742"/>
              <a:ext cx="201101" cy="0"/>
            </a:xfrm>
            <a:prstGeom prst="line">
              <a:avLst/>
            </a:prstGeom>
            <a:ln>
              <a:solidFill>
                <a:srgbClr val="B7B7B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62BD5AD-C759-E2D3-ED5E-8BD959F323A8}"/>
                </a:ext>
              </a:extLst>
            </p:cNvPr>
            <p:cNvCxnSpPr>
              <a:cxnSpLocks/>
            </p:cNvCxnSpPr>
            <p:nvPr/>
          </p:nvCxnSpPr>
          <p:spPr>
            <a:xfrm>
              <a:off x="6173254" y="2991664"/>
              <a:ext cx="0" cy="2342078"/>
            </a:xfrm>
            <a:prstGeom prst="line">
              <a:avLst/>
            </a:prstGeom>
            <a:ln>
              <a:solidFill>
                <a:srgbClr val="54545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CCA1764-60FC-4098-349A-5FBFDCFBB662}"/>
                </a:ext>
              </a:extLst>
            </p:cNvPr>
            <p:cNvSpPr/>
            <p:nvPr/>
          </p:nvSpPr>
          <p:spPr>
            <a:xfrm>
              <a:off x="6092428" y="2850394"/>
              <a:ext cx="173736" cy="174812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519D774-E891-D48F-73AE-A8ACF9ABF9EE}"/>
                </a:ext>
              </a:extLst>
            </p:cNvPr>
            <p:cNvSpPr/>
            <p:nvPr/>
          </p:nvSpPr>
          <p:spPr>
            <a:xfrm>
              <a:off x="6007562" y="1963118"/>
              <a:ext cx="1184434" cy="95292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EFDC3C58-98DD-EDC3-7675-D60555191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68009" y="2230721"/>
              <a:ext cx="673100" cy="4318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630C340-80D3-1FE5-BA6A-89BFC7E0A77E}"/>
              </a:ext>
            </a:extLst>
          </p:cNvPr>
          <p:cNvGrpSpPr/>
          <p:nvPr/>
        </p:nvGrpSpPr>
        <p:grpSpPr>
          <a:xfrm>
            <a:off x="6209308" y="4014064"/>
            <a:ext cx="5458500" cy="1723680"/>
            <a:chOff x="6209308" y="4014064"/>
            <a:chExt cx="5458500" cy="172368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FFEC601-DC03-50A6-718D-1DFC3F01F647}"/>
                </a:ext>
              </a:extLst>
            </p:cNvPr>
            <p:cNvSpPr txBox="1"/>
            <p:nvPr/>
          </p:nvSpPr>
          <p:spPr>
            <a:xfrm>
              <a:off x="10215525" y="5008060"/>
              <a:ext cx="14522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atomic descriptors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2B35DF1-7CC2-A818-9A2E-F03208F57E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4835" y="4989474"/>
              <a:ext cx="600869" cy="748270"/>
            </a:xfrm>
            <a:prstGeom prst="line">
              <a:avLst/>
            </a:prstGeom>
            <a:ln>
              <a:solidFill>
                <a:srgbClr val="6B6B6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E90F287-E4B3-B881-7B7E-F12DD170B4B6}"/>
                </a:ext>
              </a:extLst>
            </p:cNvPr>
            <p:cNvCxnSpPr>
              <a:cxnSpLocks/>
            </p:cNvCxnSpPr>
            <p:nvPr/>
          </p:nvCxnSpPr>
          <p:spPr>
            <a:xfrm>
              <a:off x="6209308" y="4994138"/>
              <a:ext cx="3673460" cy="7558"/>
            </a:xfrm>
            <a:prstGeom prst="line">
              <a:avLst/>
            </a:prstGeom>
            <a:ln>
              <a:solidFill>
                <a:srgbClr val="9C9C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334847F-6BF3-2D1D-6C82-D93E9BB2FDBB}"/>
                </a:ext>
              </a:extLst>
            </p:cNvPr>
            <p:cNvSpPr/>
            <p:nvPr/>
          </p:nvSpPr>
          <p:spPr>
            <a:xfrm>
              <a:off x="9795069" y="4902481"/>
              <a:ext cx="173736" cy="174812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1D75B1AD-9604-A466-0BB4-487122275935}"/>
                </a:ext>
              </a:extLst>
            </p:cNvPr>
            <p:cNvSpPr/>
            <p:nvPr/>
          </p:nvSpPr>
          <p:spPr>
            <a:xfrm>
              <a:off x="9831617" y="4014064"/>
              <a:ext cx="1125244" cy="9764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7C8AD615-505A-D656-55DF-9327B5021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081104" y="4313710"/>
              <a:ext cx="660400" cy="495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840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6E3E8-87BD-749B-AE61-8D42CD2FB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E5B335-C704-D446-5BD3-B666E726F74F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Multi-parameter/Combinatorial Chemical Systems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B0FA90-C751-B62B-E73B-7194E6893FD5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DB6CC9CF-A286-9984-91A9-ADC19E8C0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3A79F636-9AE3-54EE-8625-C5EA5599E780}"/>
              </a:ext>
            </a:extLst>
          </p:cNvPr>
          <p:cNvSpPr/>
          <p:nvPr/>
        </p:nvSpPr>
        <p:spPr>
          <a:xfrm>
            <a:off x="8357574" y="2745507"/>
            <a:ext cx="711329" cy="37809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86702CF6-4CFE-A1FC-9057-0FE305274FFC}"/>
              </a:ext>
            </a:extLst>
          </p:cNvPr>
          <p:cNvSpPr/>
          <p:nvPr/>
        </p:nvSpPr>
        <p:spPr>
          <a:xfrm rot="10800000">
            <a:off x="2799437" y="2745506"/>
            <a:ext cx="711328" cy="37809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25EC0A-4326-2959-D956-9DB244367DDE}"/>
              </a:ext>
            </a:extLst>
          </p:cNvPr>
          <p:cNvSpPr txBox="1"/>
          <p:nvPr/>
        </p:nvSpPr>
        <p:spPr>
          <a:xfrm>
            <a:off x="-1" y="6143014"/>
            <a:ext cx="105752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Ball, M.; Horvath, D.; </a:t>
            </a:r>
            <a:r>
              <a:rPr lang="en-US" sz="1100" dirty="0" err="1"/>
              <a:t>Kogej</a:t>
            </a:r>
            <a:r>
              <a:rPr lang="en-US" sz="1100" dirty="0"/>
              <a:t>, T.; </a:t>
            </a:r>
            <a:r>
              <a:rPr lang="en-US" sz="1100" dirty="0" err="1"/>
              <a:t>Kabeshov</a:t>
            </a:r>
            <a:r>
              <a:rPr lang="en-US" sz="1100" dirty="0"/>
              <a:t>, M.; Varnek, A. Predicting Reaction Conditions: A Data-Driven Perspective. </a:t>
            </a:r>
            <a:r>
              <a:rPr lang="en-US" sz="1100" i="1" dirty="0"/>
              <a:t>Chem. Sci. </a:t>
            </a:r>
            <a:r>
              <a:rPr lang="en-US" sz="1100" b="1" dirty="0"/>
              <a:t>2025</a:t>
            </a:r>
            <a:r>
              <a:rPr lang="en-US" sz="1100" dirty="0"/>
              <a:t>, 16 (38), 17523–17541.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7A47F7-2F4D-C654-0A00-BD356DAA2380}"/>
              </a:ext>
            </a:extLst>
          </p:cNvPr>
          <p:cNvSpPr txBox="1"/>
          <p:nvPr/>
        </p:nvSpPr>
        <p:spPr>
          <a:xfrm>
            <a:off x="359985" y="2338172"/>
            <a:ext cx="2369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Concatenate descriptors of reactant, conditions and product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ABBDFE-B204-7C41-6F75-905F1E86D92B}"/>
              </a:ext>
            </a:extLst>
          </p:cNvPr>
          <p:cNvSpPr txBox="1"/>
          <p:nvPr/>
        </p:nvSpPr>
        <p:spPr>
          <a:xfrm>
            <a:off x="9214676" y="2611385"/>
            <a:ext cx="2369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Encode the reaction as a whole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F4A4FA-1A85-A211-AA65-9C5C8855DDFC}"/>
              </a:ext>
            </a:extLst>
          </p:cNvPr>
          <p:cNvSpPr txBox="1"/>
          <p:nvPr/>
        </p:nvSpPr>
        <p:spPr>
          <a:xfrm>
            <a:off x="26640" y="960233"/>
            <a:ext cx="4362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of Organic Reaction Conditions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16806D-D4A6-3CEF-78A7-2A3E05C65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1847" y="2022317"/>
            <a:ext cx="4678981" cy="179741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275AA0F-4DA9-3C8C-732A-104FFBBC9DCB}"/>
              </a:ext>
            </a:extLst>
          </p:cNvPr>
          <p:cNvSpPr/>
          <p:nvPr/>
        </p:nvSpPr>
        <p:spPr>
          <a:xfrm>
            <a:off x="198783" y="2022317"/>
            <a:ext cx="3393064" cy="2325756"/>
          </a:xfrm>
          <a:prstGeom prst="rect">
            <a:avLst/>
          </a:prstGeom>
          <a:solidFill>
            <a:schemeClr val="bg1">
              <a:alpha val="677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8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/>
      <p:bldP spid="14" grpId="0"/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3952F-F330-1291-6CCC-A7153C008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95320D-8182-E051-F513-EC26B21FEB41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Multi-parameter/Combinatorial Chemical Systems: Organic Reactions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CBF88C-0ECB-F7E9-A35B-8934664E2C6F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BF38E1D2-E5B5-F9BD-7117-75E2682FE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EEE3E6-CBE2-0CE2-37EE-E8EB657348F5}"/>
              </a:ext>
            </a:extLst>
          </p:cNvPr>
          <p:cNvSpPr txBox="1"/>
          <p:nvPr/>
        </p:nvSpPr>
        <p:spPr>
          <a:xfrm>
            <a:off x="0" y="954151"/>
            <a:ext cx="3863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Encode the reaction as a whole:</a:t>
            </a:r>
          </a:p>
          <a:p>
            <a:r>
              <a:rPr lang="en-US" dirty="0"/>
              <a:t>Reaction SMILES:</a:t>
            </a:r>
          </a:p>
          <a:p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AA7A59-9F4C-CC88-FA3E-DFF9AFF22CE2}"/>
              </a:ext>
            </a:extLst>
          </p:cNvPr>
          <p:cNvSpPr txBox="1"/>
          <p:nvPr/>
        </p:nvSpPr>
        <p:spPr>
          <a:xfrm>
            <a:off x="0" y="5992487"/>
            <a:ext cx="120247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Schneider, N.; Lowe, D. M.; Sayle, R. A.; Landrum, G. A. </a:t>
            </a:r>
            <a:r>
              <a:rPr lang="en-US" sz="1100" i="1" dirty="0"/>
              <a:t>J. Chem. Inf. Model. </a:t>
            </a:r>
            <a:r>
              <a:rPr lang="en-US" sz="1100" b="1" dirty="0"/>
              <a:t>2015</a:t>
            </a:r>
            <a:r>
              <a:rPr lang="en-US" sz="1100" dirty="0"/>
              <a:t>, 55 (1), 39–53. / Probst, D.; Schwaller, P.; Reymond, J.-L. </a:t>
            </a:r>
            <a:r>
              <a:rPr lang="en-US" sz="1100" i="1" dirty="0"/>
              <a:t>Digital Discovery </a:t>
            </a:r>
            <a:r>
              <a:rPr lang="en-US" sz="1100" b="1" dirty="0"/>
              <a:t>2022</a:t>
            </a:r>
            <a:r>
              <a:rPr lang="en-US" sz="1100" dirty="0"/>
              <a:t>, 1 (2), 91–97.</a:t>
            </a:r>
          </a:p>
          <a:p>
            <a:r>
              <a:rPr lang="en-US" sz="1100" dirty="0"/>
              <a:t>Schwaller, P.; Laino, T.; Gaudin, T.; </a:t>
            </a:r>
            <a:r>
              <a:rPr lang="en-US" sz="1100" dirty="0" err="1"/>
              <a:t>Bolgar</a:t>
            </a:r>
            <a:r>
              <a:rPr lang="en-US" sz="1100" dirty="0"/>
              <a:t>, P.; Hunter, C. A.; Bekas, C.; Lee, A. A. </a:t>
            </a:r>
            <a:r>
              <a:rPr lang="en-US" sz="1100" i="1" dirty="0"/>
              <a:t>ACS Cent. Sci.</a:t>
            </a:r>
            <a:r>
              <a:rPr lang="en-US" sz="1100" b="1" i="1" dirty="0"/>
              <a:t> </a:t>
            </a:r>
            <a:r>
              <a:rPr lang="en-US" sz="1100" b="1" dirty="0"/>
              <a:t>2019</a:t>
            </a:r>
            <a:r>
              <a:rPr lang="en-US" sz="1100" dirty="0"/>
              <a:t>, 5 (9), 1572–1583. /</a:t>
            </a:r>
          </a:p>
        </p:txBody>
      </p:sp>
      <p:pic>
        <p:nvPicPr>
          <p:cNvPr id="16" name="Picture 15" descr="The caption contains a description of this image.">
            <a:extLst>
              <a:ext uri="{FF2B5EF4-FFF2-40B4-BE49-F238E27FC236}">
                <a16:creationId xmlns:a16="http://schemas.microsoft.com/office/drawing/2014/main" id="{C1D6E7B4-BC1D-0A56-77C1-BA621FADF1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19" t="-317" r="23551" b="90395"/>
          <a:stretch>
            <a:fillRect/>
          </a:stretch>
        </p:blipFill>
        <p:spPr>
          <a:xfrm>
            <a:off x="194814" y="1687498"/>
            <a:ext cx="3141958" cy="6804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ABF43F1-F394-4652-CFCE-A4E066D65A2F}"/>
              </a:ext>
            </a:extLst>
          </p:cNvPr>
          <p:cNvSpPr txBox="1"/>
          <p:nvPr/>
        </p:nvSpPr>
        <p:spPr>
          <a:xfrm>
            <a:off x="3624672" y="1266798"/>
            <a:ext cx="6142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Differential Reaction Fingerprints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DD3C41-7A53-AC9C-D1A5-0024741E865E}"/>
              </a:ext>
            </a:extLst>
          </p:cNvPr>
          <p:cNvSpPr txBox="1"/>
          <p:nvPr/>
        </p:nvSpPr>
        <p:spPr>
          <a:xfrm>
            <a:off x="3624672" y="2421825"/>
            <a:ext cx="6142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Learned Encoding (Transformers)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5DCB55-1F79-6DAA-CD01-00A1F218CAC7}"/>
              </a:ext>
            </a:extLst>
          </p:cNvPr>
          <p:cNvSpPr/>
          <p:nvPr/>
        </p:nvSpPr>
        <p:spPr>
          <a:xfrm>
            <a:off x="1416289" y="2709567"/>
            <a:ext cx="51563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7A63F55-9B62-637C-CC4E-3FED0BF1CF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1364"/>
          <a:stretch>
            <a:fillRect/>
          </a:stretch>
        </p:blipFill>
        <p:spPr>
          <a:xfrm>
            <a:off x="4167808" y="2941566"/>
            <a:ext cx="3780182" cy="2828330"/>
          </a:xfrm>
          <a:prstGeom prst="rect">
            <a:avLst/>
          </a:prstGeom>
        </p:spPr>
      </p:pic>
      <p:pic>
        <p:nvPicPr>
          <p:cNvPr id="17" name="Image 0" descr="/sessions/magical-busy-bardeen/mnt/outputs/fp_bitvector.png">
            <a:extLst>
              <a:ext uri="{FF2B5EF4-FFF2-40B4-BE49-F238E27FC236}">
                <a16:creationId xmlns:a16="http://schemas.microsoft.com/office/drawing/2014/main" id="{23BFB79A-9F1E-5281-5EE7-202E7FF05D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4039450" y="1715300"/>
            <a:ext cx="5207253" cy="58726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149F970-7C04-728F-B123-859A5DA92C38}"/>
              </a:ext>
            </a:extLst>
          </p:cNvPr>
          <p:cNvSpPr/>
          <p:nvPr/>
        </p:nvSpPr>
        <p:spPr>
          <a:xfrm>
            <a:off x="8026434" y="1923396"/>
            <a:ext cx="139562" cy="17072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3FD5AB-9B6B-7858-AEFD-511A5DB85778}"/>
              </a:ext>
            </a:extLst>
          </p:cNvPr>
          <p:cNvSpPr/>
          <p:nvPr/>
        </p:nvSpPr>
        <p:spPr>
          <a:xfrm>
            <a:off x="7690953" y="1923473"/>
            <a:ext cx="139562" cy="17072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6C86A1-2012-FC85-4DEF-10FD247D7FC1}"/>
              </a:ext>
            </a:extLst>
          </p:cNvPr>
          <p:cNvSpPr/>
          <p:nvPr/>
        </p:nvSpPr>
        <p:spPr>
          <a:xfrm>
            <a:off x="6135204" y="1923473"/>
            <a:ext cx="139562" cy="17072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54F859-50EF-3F62-3483-400653CCEAFA}"/>
              </a:ext>
            </a:extLst>
          </p:cNvPr>
          <p:cNvSpPr/>
          <p:nvPr/>
        </p:nvSpPr>
        <p:spPr>
          <a:xfrm>
            <a:off x="5958647" y="1923473"/>
            <a:ext cx="139562" cy="17072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52C87EE-7AEE-2302-B47E-99DC6BF4F1C2}"/>
              </a:ext>
            </a:extLst>
          </p:cNvPr>
          <p:cNvCxnSpPr>
            <a:cxnSpLocks/>
          </p:cNvCxnSpPr>
          <p:nvPr/>
        </p:nvCxnSpPr>
        <p:spPr>
          <a:xfrm>
            <a:off x="3429000" y="1359045"/>
            <a:ext cx="0" cy="4314248"/>
          </a:xfrm>
          <a:prstGeom prst="line">
            <a:avLst/>
          </a:prstGeom>
          <a:ln>
            <a:solidFill>
              <a:srgbClr val="EAF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4F8FF07-2766-622F-FCC4-19C9330EBD2E}"/>
              </a:ext>
            </a:extLst>
          </p:cNvPr>
          <p:cNvCxnSpPr>
            <a:cxnSpLocks/>
          </p:cNvCxnSpPr>
          <p:nvPr/>
        </p:nvCxnSpPr>
        <p:spPr>
          <a:xfrm>
            <a:off x="9175577" y="1366116"/>
            <a:ext cx="0" cy="4314248"/>
          </a:xfrm>
          <a:prstGeom prst="line">
            <a:avLst/>
          </a:prstGeom>
          <a:ln>
            <a:solidFill>
              <a:srgbClr val="EAF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23A7FD5-F4C5-5248-6D64-442D1C8F64A6}"/>
              </a:ext>
            </a:extLst>
          </p:cNvPr>
          <p:cNvSpPr txBox="1"/>
          <p:nvPr/>
        </p:nvSpPr>
        <p:spPr>
          <a:xfrm>
            <a:off x="9333635" y="1359045"/>
            <a:ext cx="26585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Advantages:</a:t>
            </a:r>
          </a:p>
          <a:p>
            <a:r>
              <a:rPr lang="en-US" dirty="0"/>
              <a:t>• Universal</a:t>
            </a:r>
          </a:p>
          <a:p>
            <a:r>
              <a:rPr lang="en-US" dirty="0"/>
              <a:t>• Interpretable (DRFP)</a:t>
            </a:r>
          </a:p>
          <a:p>
            <a:endParaRPr lang="en-US" b="1" dirty="0"/>
          </a:p>
          <a:p>
            <a:r>
              <a:rPr lang="en-US" b="1" dirty="0"/>
              <a:t>Disadvantages:</a:t>
            </a:r>
          </a:p>
          <a:p>
            <a:r>
              <a:rPr lang="en-US" dirty="0"/>
              <a:t>• Coarse grained information</a:t>
            </a:r>
          </a:p>
          <a:p>
            <a:r>
              <a:rPr lang="en-US" dirty="0"/>
              <a:t>• Requires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420607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BB2F-62C3-C59B-C957-851FD3B38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BEE7AB-A4D6-77A9-5D2E-2AC4D6F977BD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Multi-parameter/Combinatorial Chemical Systems: Organic Reactions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0DD642-1869-E500-1ABB-7FE3486F843F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18BF250E-4F0F-EFDB-D9AD-19C56E620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BACFA7-7F58-FFDA-F417-798E2A2A7259}"/>
              </a:ext>
            </a:extLst>
          </p:cNvPr>
          <p:cNvSpPr txBox="1"/>
          <p:nvPr/>
        </p:nvSpPr>
        <p:spPr>
          <a:xfrm>
            <a:off x="0" y="954151"/>
            <a:ext cx="3863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Encode the reaction as a whole:</a:t>
            </a:r>
          </a:p>
          <a:p>
            <a:r>
              <a:rPr lang="en-US" dirty="0"/>
              <a:t>Reaction SMILES:</a:t>
            </a:r>
          </a:p>
          <a:p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3417AF-02E2-0342-44B9-9BED9768E2EC}"/>
              </a:ext>
            </a:extLst>
          </p:cNvPr>
          <p:cNvSpPr txBox="1"/>
          <p:nvPr/>
        </p:nvSpPr>
        <p:spPr>
          <a:xfrm>
            <a:off x="0" y="5992487"/>
            <a:ext cx="120247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Schneider, N.; Lowe, D. M.; Sayle, R. A.; Landrum, G. A. </a:t>
            </a:r>
            <a:r>
              <a:rPr lang="en-US" sz="1100" i="1" dirty="0"/>
              <a:t>J. Chem. Inf. Model. </a:t>
            </a:r>
            <a:r>
              <a:rPr lang="en-US" sz="1100" b="1" dirty="0"/>
              <a:t>2015</a:t>
            </a:r>
            <a:r>
              <a:rPr lang="en-US" sz="1100" dirty="0"/>
              <a:t>, 55 (1), 39–53. / Probst, D.; Schwaller, P.; Reymond, J.-L. </a:t>
            </a:r>
            <a:r>
              <a:rPr lang="en-US" sz="1100" i="1" dirty="0"/>
              <a:t>Digital Discovery </a:t>
            </a:r>
            <a:r>
              <a:rPr lang="en-US" sz="1100" b="1" dirty="0"/>
              <a:t>2022</a:t>
            </a:r>
            <a:r>
              <a:rPr lang="en-US" sz="1100" dirty="0"/>
              <a:t>, 1 (2), 91–97.</a:t>
            </a:r>
          </a:p>
          <a:p>
            <a:r>
              <a:rPr lang="en-US" sz="1100" dirty="0"/>
              <a:t>Schwaller, P.; Laino, T.; Gaudin, T.; </a:t>
            </a:r>
            <a:r>
              <a:rPr lang="en-US" sz="1100" dirty="0" err="1"/>
              <a:t>Bolgar</a:t>
            </a:r>
            <a:r>
              <a:rPr lang="en-US" sz="1100" dirty="0"/>
              <a:t>, P.; Hunter, C. A.; Bekas, C.; Lee, A. A. </a:t>
            </a:r>
            <a:r>
              <a:rPr lang="en-US" sz="1100" i="1" dirty="0"/>
              <a:t>ACS Cent. Sci.</a:t>
            </a:r>
            <a:r>
              <a:rPr lang="en-US" sz="1100" b="1" i="1" dirty="0"/>
              <a:t> </a:t>
            </a:r>
            <a:r>
              <a:rPr lang="en-US" sz="1100" b="1" dirty="0"/>
              <a:t>2019</a:t>
            </a:r>
            <a:r>
              <a:rPr lang="en-US" sz="1100" dirty="0"/>
              <a:t>, 5 (9), 1572–1583. /</a:t>
            </a:r>
          </a:p>
        </p:txBody>
      </p:sp>
      <p:pic>
        <p:nvPicPr>
          <p:cNvPr id="16" name="Picture 15" descr="The caption contains a description of this image.">
            <a:extLst>
              <a:ext uri="{FF2B5EF4-FFF2-40B4-BE49-F238E27FC236}">
                <a16:creationId xmlns:a16="http://schemas.microsoft.com/office/drawing/2014/main" id="{D961BF58-EDB8-C4FD-4E79-C50DFAEA90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19" t="-317" r="23551" b="90395"/>
          <a:stretch>
            <a:fillRect/>
          </a:stretch>
        </p:blipFill>
        <p:spPr>
          <a:xfrm>
            <a:off x="194814" y="1687498"/>
            <a:ext cx="3141958" cy="6804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61B051C-3A73-A5DD-2AF0-43CBEC1836FA}"/>
              </a:ext>
            </a:extLst>
          </p:cNvPr>
          <p:cNvSpPr txBox="1"/>
          <p:nvPr/>
        </p:nvSpPr>
        <p:spPr>
          <a:xfrm>
            <a:off x="3624672" y="1266798"/>
            <a:ext cx="6142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Differential Reaction Fingerprints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B5F7D0-47D7-0E20-34B4-9C3E7866C50F}"/>
              </a:ext>
            </a:extLst>
          </p:cNvPr>
          <p:cNvSpPr txBox="1"/>
          <p:nvPr/>
        </p:nvSpPr>
        <p:spPr>
          <a:xfrm>
            <a:off x="3624672" y="2421825"/>
            <a:ext cx="6142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Learned Encoding (Transformers)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E73FDC-E94E-BC17-7B07-2F96FB6950B8}"/>
              </a:ext>
            </a:extLst>
          </p:cNvPr>
          <p:cNvSpPr/>
          <p:nvPr/>
        </p:nvSpPr>
        <p:spPr>
          <a:xfrm>
            <a:off x="1416289" y="2709567"/>
            <a:ext cx="51563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BDFDCF6-CD5A-12D7-24DB-AD03F554BB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1364"/>
          <a:stretch>
            <a:fillRect/>
          </a:stretch>
        </p:blipFill>
        <p:spPr>
          <a:xfrm>
            <a:off x="4167808" y="2941566"/>
            <a:ext cx="3780182" cy="2828330"/>
          </a:xfrm>
          <a:prstGeom prst="rect">
            <a:avLst/>
          </a:prstGeom>
        </p:spPr>
      </p:pic>
      <p:pic>
        <p:nvPicPr>
          <p:cNvPr id="17" name="Image 0" descr="/sessions/magical-busy-bardeen/mnt/outputs/fp_bitvector.png">
            <a:extLst>
              <a:ext uri="{FF2B5EF4-FFF2-40B4-BE49-F238E27FC236}">
                <a16:creationId xmlns:a16="http://schemas.microsoft.com/office/drawing/2014/main" id="{16AF6B7F-A55C-2BE2-B65B-36492D93E1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4039450" y="1715300"/>
            <a:ext cx="5207253" cy="58726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9687E2D-8E9F-9949-97D8-5E778DA91F63}"/>
              </a:ext>
            </a:extLst>
          </p:cNvPr>
          <p:cNvSpPr/>
          <p:nvPr/>
        </p:nvSpPr>
        <p:spPr>
          <a:xfrm>
            <a:off x="8026434" y="1923396"/>
            <a:ext cx="139562" cy="17072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1D7581-23E5-3268-4FCB-26A084F3BF7B}"/>
              </a:ext>
            </a:extLst>
          </p:cNvPr>
          <p:cNvSpPr/>
          <p:nvPr/>
        </p:nvSpPr>
        <p:spPr>
          <a:xfrm>
            <a:off x="7690953" y="1923473"/>
            <a:ext cx="139562" cy="17072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E06D85-1847-8B12-059D-148DC582E9E5}"/>
              </a:ext>
            </a:extLst>
          </p:cNvPr>
          <p:cNvSpPr/>
          <p:nvPr/>
        </p:nvSpPr>
        <p:spPr>
          <a:xfrm>
            <a:off x="6135204" y="1923473"/>
            <a:ext cx="139562" cy="17072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EE3BDC-7669-50C2-64CD-DFD7DBAE6C0D}"/>
              </a:ext>
            </a:extLst>
          </p:cNvPr>
          <p:cNvSpPr/>
          <p:nvPr/>
        </p:nvSpPr>
        <p:spPr>
          <a:xfrm>
            <a:off x="5958647" y="1923473"/>
            <a:ext cx="139562" cy="17072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C17AB89-9104-86DA-7DB8-CE3A83A052D6}"/>
              </a:ext>
            </a:extLst>
          </p:cNvPr>
          <p:cNvCxnSpPr>
            <a:cxnSpLocks/>
          </p:cNvCxnSpPr>
          <p:nvPr/>
        </p:nvCxnSpPr>
        <p:spPr>
          <a:xfrm>
            <a:off x="3429000" y="1359045"/>
            <a:ext cx="0" cy="4314248"/>
          </a:xfrm>
          <a:prstGeom prst="line">
            <a:avLst/>
          </a:prstGeom>
          <a:ln>
            <a:solidFill>
              <a:srgbClr val="EAF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AE30E55-1E70-C73A-9F94-861CE3E23859}"/>
              </a:ext>
            </a:extLst>
          </p:cNvPr>
          <p:cNvCxnSpPr>
            <a:cxnSpLocks/>
          </p:cNvCxnSpPr>
          <p:nvPr/>
        </p:nvCxnSpPr>
        <p:spPr>
          <a:xfrm>
            <a:off x="9175577" y="1366116"/>
            <a:ext cx="0" cy="4314248"/>
          </a:xfrm>
          <a:prstGeom prst="line">
            <a:avLst/>
          </a:prstGeom>
          <a:ln>
            <a:solidFill>
              <a:srgbClr val="EAF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D95317A-4EA4-D0E4-E676-BB012B0F5EB9}"/>
              </a:ext>
            </a:extLst>
          </p:cNvPr>
          <p:cNvSpPr txBox="1"/>
          <p:nvPr/>
        </p:nvSpPr>
        <p:spPr>
          <a:xfrm>
            <a:off x="9333635" y="1359045"/>
            <a:ext cx="26585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Advantages:</a:t>
            </a:r>
          </a:p>
          <a:p>
            <a:r>
              <a:rPr lang="en-US" dirty="0"/>
              <a:t>• Universal</a:t>
            </a:r>
          </a:p>
          <a:p>
            <a:r>
              <a:rPr lang="en-US" dirty="0"/>
              <a:t>• Interpretable (DRFP)</a:t>
            </a:r>
          </a:p>
          <a:p>
            <a:endParaRPr lang="en-US" b="1" dirty="0"/>
          </a:p>
          <a:p>
            <a:r>
              <a:rPr lang="en-US" b="1" dirty="0"/>
              <a:t>Disadvantages:</a:t>
            </a:r>
          </a:p>
          <a:p>
            <a:r>
              <a:rPr lang="en-US" dirty="0"/>
              <a:t>• Coarse grained information</a:t>
            </a:r>
          </a:p>
          <a:p>
            <a:r>
              <a:rPr lang="en-US" dirty="0"/>
              <a:t>• Requires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390833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19" grpId="0" animBg="1"/>
      <p:bldP spid="22" grpId="0" animBg="1"/>
      <p:bldP spid="23" grpId="0" animBg="1"/>
      <p:bldP spid="24" grpId="0" animBg="1"/>
      <p:bldP spid="2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C6383-98FA-2ACE-D04A-741CD7450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B975BA-EB73-7475-54AF-0E3D2CFD8E72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Multi-parameter/Combinatorial Chemical Systems: Organic Reactions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51CEC8-CAF2-1AB5-15C1-37011D05EDED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547C6C7B-D4FA-7624-FF01-9049AA947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A461E0-59F6-F30F-836F-F44D4F1B657F}"/>
              </a:ext>
            </a:extLst>
          </p:cNvPr>
          <p:cNvSpPr txBox="1"/>
          <p:nvPr/>
        </p:nvSpPr>
        <p:spPr>
          <a:xfrm>
            <a:off x="0" y="954151"/>
            <a:ext cx="3863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Encode the reaction as a whole: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446E5C-E5C0-848B-AF59-DCBBD7145461}"/>
              </a:ext>
            </a:extLst>
          </p:cNvPr>
          <p:cNvSpPr txBox="1"/>
          <p:nvPr/>
        </p:nvSpPr>
        <p:spPr>
          <a:xfrm>
            <a:off x="0" y="6163857"/>
            <a:ext cx="120247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/>
              <a:t>Worakul</a:t>
            </a:r>
            <a:r>
              <a:rPr lang="en-US" sz="1100" dirty="0"/>
              <a:t>, T.; </a:t>
            </a:r>
            <a:r>
              <a:rPr lang="en-US" sz="1100" dirty="0" err="1"/>
              <a:t>Laplaza</a:t>
            </a:r>
            <a:r>
              <a:rPr lang="en-US" sz="1100" dirty="0"/>
              <a:t>, R.; Das, S.; Wodrich, M. D.; </a:t>
            </a:r>
            <a:r>
              <a:rPr lang="en-US" sz="1100" dirty="0" err="1"/>
              <a:t>Corminboeuf</a:t>
            </a:r>
            <a:r>
              <a:rPr lang="en-US" sz="1100" dirty="0"/>
              <a:t>, C</a:t>
            </a:r>
            <a:r>
              <a:rPr lang="en-US" sz="1100" i="1" dirty="0"/>
              <a:t>. ACS </a:t>
            </a:r>
            <a:r>
              <a:rPr lang="en-US" sz="1100" i="1" dirty="0" err="1"/>
              <a:t>Catal</a:t>
            </a:r>
            <a:r>
              <a:rPr lang="en-US" sz="1100" dirty="0"/>
              <a:t>. </a:t>
            </a:r>
            <a:r>
              <a:rPr lang="en-US" sz="1100" b="1" dirty="0"/>
              <a:t>2024</a:t>
            </a:r>
            <a:r>
              <a:rPr lang="en-US" sz="1100" dirty="0"/>
              <a:t>, 14 (13), 9829–9839.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F18DE3-5617-CD11-3A62-D5B1C5CFCD63}"/>
              </a:ext>
            </a:extLst>
          </p:cNvPr>
          <p:cNvSpPr/>
          <p:nvPr/>
        </p:nvSpPr>
        <p:spPr>
          <a:xfrm>
            <a:off x="1416289" y="2709567"/>
            <a:ext cx="51563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Figure 2">
            <a:extLst>
              <a:ext uri="{FF2B5EF4-FFF2-40B4-BE49-F238E27FC236}">
                <a16:creationId xmlns:a16="http://schemas.microsoft.com/office/drawing/2014/main" id="{E7CA532F-2E84-C6A1-FD39-C29AD7848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29" y="1670943"/>
            <a:ext cx="7025944" cy="403886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8A00D2-D3BB-DFB3-59A9-D2265CCC3DDA}"/>
              </a:ext>
            </a:extLst>
          </p:cNvPr>
          <p:cNvCxnSpPr>
            <a:cxnSpLocks/>
          </p:cNvCxnSpPr>
          <p:nvPr/>
        </p:nvCxnSpPr>
        <p:spPr>
          <a:xfrm>
            <a:off x="7716982" y="1589601"/>
            <a:ext cx="0" cy="4314248"/>
          </a:xfrm>
          <a:prstGeom prst="line">
            <a:avLst/>
          </a:prstGeom>
          <a:ln>
            <a:solidFill>
              <a:srgbClr val="EAF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BEBCD34-40F8-BC7E-C192-542931DB79ED}"/>
              </a:ext>
            </a:extLst>
          </p:cNvPr>
          <p:cNvSpPr txBox="1"/>
          <p:nvPr/>
        </p:nvSpPr>
        <p:spPr>
          <a:xfrm>
            <a:off x="7950992" y="1795560"/>
            <a:ext cx="401699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Advantages:</a:t>
            </a:r>
          </a:p>
          <a:p>
            <a:r>
              <a:rPr lang="en-US" dirty="0"/>
              <a:t>• Captures subtle reactivity trends</a:t>
            </a:r>
          </a:p>
          <a:p>
            <a:r>
              <a:rPr lang="en-US" dirty="0"/>
              <a:t>• Transferable between catalysts</a:t>
            </a:r>
          </a:p>
          <a:p>
            <a:endParaRPr lang="en-US" dirty="0"/>
          </a:p>
          <a:p>
            <a:r>
              <a:rPr lang="en-US" b="1" dirty="0"/>
              <a:t>Disadvantages:</a:t>
            </a:r>
          </a:p>
          <a:p>
            <a:r>
              <a:rPr lang="en-US" dirty="0"/>
              <a:t>• Mechanism must be known/constant</a:t>
            </a:r>
          </a:p>
          <a:p>
            <a:r>
              <a:rPr lang="en-US" dirty="0"/>
              <a:t>• Computationally costly</a:t>
            </a:r>
          </a:p>
          <a:p>
            <a:r>
              <a:rPr lang="en-US" dirty="0"/>
              <a:t>• Only encodes catalyst</a:t>
            </a:r>
          </a:p>
        </p:txBody>
      </p:sp>
    </p:spTree>
    <p:extLst>
      <p:ext uri="{BB962C8B-B14F-4D97-AF65-F5344CB8AC3E}">
        <p14:creationId xmlns:p14="http://schemas.microsoft.com/office/powerpoint/2010/main" val="294402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5D0BD-BBE1-9EC2-C89E-696F9C4C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4F9ECF-AE7E-9E7E-C85D-88D7E5D30063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Multi-parameter/Combinatorial Chemical Systems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1A8FB0-9479-81CC-E5ED-E9087CA64407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02EB0AA8-1FF3-6F12-E4FC-55585C56B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D989DFDD-09D9-1308-7C32-DB1F292DE4E6}"/>
              </a:ext>
            </a:extLst>
          </p:cNvPr>
          <p:cNvSpPr/>
          <p:nvPr/>
        </p:nvSpPr>
        <p:spPr>
          <a:xfrm>
            <a:off x="8357574" y="2745507"/>
            <a:ext cx="711329" cy="37809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73B00381-A440-03FD-5F87-7A58FB355F13}"/>
              </a:ext>
            </a:extLst>
          </p:cNvPr>
          <p:cNvSpPr/>
          <p:nvPr/>
        </p:nvSpPr>
        <p:spPr>
          <a:xfrm rot="10800000">
            <a:off x="2799437" y="2745506"/>
            <a:ext cx="711328" cy="37809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DB9E10-889E-486A-B133-F35E93BE208B}"/>
              </a:ext>
            </a:extLst>
          </p:cNvPr>
          <p:cNvSpPr txBox="1"/>
          <p:nvPr/>
        </p:nvSpPr>
        <p:spPr>
          <a:xfrm>
            <a:off x="-1" y="6143014"/>
            <a:ext cx="105752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Ball, M.; Horvath, D.; </a:t>
            </a:r>
            <a:r>
              <a:rPr lang="en-US" sz="1100" dirty="0" err="1"/>
              <a:t>Kogej</a:t>
            </a:r>
            <a:r>
              <a:rPr lang="en-US" sz="1100" dirty="0"/>
              <a:t>, T.; </a:t>
            </a:r>
            <a:r>
              <a:rPr lang="en-US" sz="1100" dirty="0" err="1"/>
              <a:t>Kabeshov</a:t>
            </a:r>
            <a:r>
              <a:rPr lang="en-US" sz="1100" dirty="0"/>
              <a:t>, M.; Varnek, A. Predicting Reaction Conditions: A Data-Driven Perspective. </a:t>
            </a:r>
            <a:r>
              <a:rPr lang="en-US" sz="1100" i="1" dirty="0"/>
              <a:t>Chem. Sci. </a:t>
            </a:r>
            <a:r>
              <a:rPr lang="en-US" sz="1100" b="1" dirty="0"/>
              <a:t>2025</a:t>
            </a:r>
            <a:r>
              <a:rPr lang="en-US" sz="1100" dirty="0"/>
              <a:t>, 16 (38), 17523–17541.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9517BE-5A51-98A6-628D-16A486044D83}"/>
              </a:ext>
            </a:extLst>
          </p:cNvPr>
          <p:cNvSpPr txBox="1"/>
          <p:nvPr/>
        </p:nvSpPr>
        <p:spPr>
          <a:xfrm>
            <a:off x="359985" y="2338172"/>
            <a:ext cx="2369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Concatenate descriptors of reactant, conditions and product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94E982-F7A4-4001-A27D-15FEF773CB70}"/>
              </a:ext>
            </a:extLst>
          </p:cNvPr>
          <p:cNvSpPr txBox="1"/>
          <p:nvPr/>
        </p:nvSpPr>
        <p:spPr>
          <a:xfrm>
            <a:off x="9214676" y="2611385"/>
            <a:ext cx="2369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Encode the reaction as a whole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0B1D9-2EA4-0DD4-2690-79B8E4174E20}"/>
              </a:ext>
            </a:extLst>
          </p:cNvPr>
          <p:cNvSpPr txBox="1"/>
          <p:nvPr/>
        </p:nvSpPr>
        <p:spPr>
          <a:xfrm>
            <a:off x="26640" y="960233"/>
            <a:ext cx="4362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of Organic Reaction Conditions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B410E3-6510-A453-2D80-A7497D561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1847" y="2022317"/>
            <a:ext cx="4678981" cy="179741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650B5F2-AB43-FC05-81CC-8EFE839D52A7}"/>
              </a:ext>
            </a:extLst>
          </p:cNvPr>
          <p:cNvSpPr/>
          <p:nvPr/>
        </p:nvSpPr>
        <p:spPr>
          <a:xfrm>
            <a:off x="8270828" y="1856062"/>
            <a:ext cx="3393064" cy="2325756"/>
          </a:xfrm>
          <a:prstGeom prst="rect">
            <a:avLst/>
          </a:prstGeom>
          <a:solidFill>
            <a:schemeClr val="bg1">
              <a:alpha val="677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59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/>
      <p:bldP spid="14" grpId="0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3EE5B-9E3A-23A2-8BF2-9B8857C99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1A0E0E-2B75-6ED2-995F-907FBB36D5B2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Multi-parameter/Combinatorial Chemical Systems: Organic Reactions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A846BB-C666-B96E-8830-0619C6906B40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9C1F321C-8678-1028-E7CA-066E5236D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A42CB2-BCE3-1D17-6674-C7EF85D4A34A}"/>
              </a:ext>
            </a:extLst>
          </p:cNvPr>
          <p:cNvSpPr txBox="1"/>
          <p:nvPr/>
        </p:nvSpPr>
        <p:spPr>
          <a:xfrm>
            <a:off x="0" y="954151"/>
            <a:ext cx="11715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Integrating multiple variables?</a:t>
            </a:r>
          </a:p>
        </p:txBody>
      </p:sp>
      <p:pic>
        <p:nvPicPr>
          <p:cNvPr id="8" name="Picture 7" descr="The caption contains a description of this image.">
            <a:extLst>
              <a:ext uri="{FF2B5EF4-FFF2-40B4-BE49-F238E27FC236}">
                <a16:creationId xmlns:a16="http://schemas.microsoft.com/office/drawing/2014/main" id="{D0D4310A-1BE0-84FD-AA62-CDC2CC1771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824" b="57743"/>
          <a:stretch>
            <a:fillRect/>
          </a:stretch>
        </p:blipFill>
        <p:spPr>
          <a:xfrm>
            <a:off x="1736226" y="2008537"/>
            <a:ext cx="7772400" cy="15309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5B21A3-D961-F32F-4D86-A8D1EAD7560A}"/>
              </a:ext>
            </a:extLst>
          </p:cNvPr>
          <p:cNvSpPr txBox="1"/>
          <p:nvPr/>
        </p:nvSpPr>
        <p:spPr>
          <a:xfrm>
            <a:off x="-1" y="6143014"/>
            <a:ext cx="105752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Ball, M.; Horvath, D.; </a:t>
            </a:r>
            <a:r>
              <a:rPr lang="en-US" sz="1100" dirty="0" err="1"/>
              <a:t>Kogej</a:t>
            </a:r>
            <a:r>
              <a:rPr lang="en-US" sz="1100" dirty="0"/>
              <a:t>, T.; </a:t>
            </a:r>
            <a:r>
              <a:rPr lang="en-US" sz="1100" dirty="0" err="1"/>
              <a:t>Kabeshov</a:t>
            </a:r>
            <a:r>
              <a:rPr lang="en-US" sz="1100" dirty="0"/>
              <a:t>, M.; Varnek, A. Predicting Reaction Conditions: A Data-Driven Perspective. </a:t>
            </a:r>
            <a:r>
              <a:rPr lang="en-US" sz="1100" i="1" dirty="0"/>
              <a:t>Chem. Sci. </a:t>
            </a:r>
            <a:r>
              <a:rPr lang="en-US" sz="1100" b="1" dirty="0"/>
              <a:t>2025</a:t>
            </a:r>
            <a:r>
              <a:rPr lang="en-US" sz="1100" dirty="0"/>
              <a:t>, 16 (38), 17523–17541.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5E39FC-5CDF-A2DF-9F26-9E3B93CF3167}"/>
              </a:ext>
            </a:extLst>
          </p:cNvPr>
          <p:cNvSpPr/>
          <p:nvPr/>
        </p:nvSpPr>
        <p:spPr>
          <a:xfrm>
            <a:off x="1601414" y="3034145"/>
            <a:ext cx="2777837" cy="3186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 0" descr="/sessions/magical-busy-bardeen/mnt/outputs/fp_bitvector.png">
            <a:extLst>
              <a:ext uri="{FF2B5EF4-FFF2-40B4-BE49-F238E27FC236}">
                <a16:creationId xmlns:a16="http://schemas.microsoft.com/office/drawing/2014/main" id="{891ECF8D-F2AA-FA4B-8447-1E7B917EBD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6736"/>
          <a:stretch>
            <a:fillRect/>
          </a:stretch>
        </p:blipFill>
        <p:spPr>
          <a:xfrm flipV="1">
            <a:off x="3241668" y="4133951"/>
            <a:ext cx="1211423" cy="587262"/>
          </a:xfrm>
          <a:prstGeom prst="rect">
            <a:avLst/>
          </a:prstGeom>
        </p:spPr>
      </p:pic>
      <p:pic>
        <p:nvPicPr>
          <p:cNvPr id="13" name="Image 0" descr="/sessions/magical-busy-bardeen/mnt/outputs/fp_bitvector.png">
            <a:extLst>
              <a:ext uri="{FF2B5EF4-FFF2-40B4-BE49-F238E27FC236}">
                <a16:creationId xmlns:a16="http://schemas.microsoft.com/office/drawing/2014/main" id="{23402315-299E-1683-62EF-79304FDCBD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36" t="2392" r="60373" b="-2392"/>
          <a:stretch>
            <a:fillRect/>
          </a:stretch>
        </p:blipFill>
        <p:spPr>
          <a:xfrm flipV="1">
            <a:off x="4716528" y="4113697"/>
            <a:ext cx="1379472" cy="587262"/>
          </a:xfrm>
          <a:prstGeom prst="rect">
            <a:avLst/>
          </a:prstGeom>
        </p:spPr>
      </p:pic>
      <p:pic>
        <p:nvPicPr>
          <p:cNvPr id="14" name="Image 0" descr="/sessions/magical-busy-bardeen/mnt/outputs/fp_bitvector.png">
            <a:extLst>
              <a:ext uri="{FF2B5EF4-FFF2-40B4-BE49-F238E27FC236}">
                <a16:creationId xmlns:a16="http://schemas.microsoft.com/office/drawing/2014/main" id="{00F2B975-F3C1-8DCD-E925-0AFD4931F8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016" t="5145" r="40256" b="-5145"/>
          <a:stretch>
            <a:fillRect/>
          </a:stretch>
        </p:blipFill>
        <p:spPr>
          <a:xfrm flipV="1">
            <a:off x="6359437" y="4113697"/>
            <a:ext cx="871064" cy="58726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C0AAC79-A674-E476-673B-86906595CA09}"/>
              </a:ext>
            </a:extLst>
          </p:cNvPr>
          <p:cNvSpPr txBox="1"/>
          <p:nvPr/>
        </p:nvSpPr>
        <p:spPr>
          <a:xfrm>
            <a:off x="3478292" y="3978720"/>
            <a:ext cx="908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solvent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F3A82B-8307-CAEF-DE38-B06A2F96F6E3}"/>
              </a:ext>
            </a:extLst>
          </p:cNvPr>
          <p:cNvSpPr txBox="1"/>
          <p:nvPr/>
        </p:nvSpPr>
        <p:spPr>
          <a:xfrm>
            <a:off x="5092373" y="397872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E81B69-F6C2-DF19-B084-FC79B20BABA8}"/>
              </a:ext>
            </a:extLst>
          </p:cNvPr>
          <p:cNvSpPr txBox="1"/>
          <p:nvPr/>
        </p:nvSpPr>
        <p:spPr>
          <a:xfrm>
            <a:off x="6312855" y="3978715"/>
            <a:ext cx="975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additive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D8C456-E2E0-B759-88EC-60B7A1D01325}"/>
              </a:ext>
            </a:extLst>
          </p:cNvPr>
          <p:cNvSpPr txBox="1"/>
          <p:nvPr/>
        </p:nvSpPr>
        <p:spPr>
          <a:xfrm>
            <a:off x="-155009" y="4203912"/>
            <a:ext cx="3303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dirty="0"/>
              <a:t>Concatenation of features: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F9ADD5-7E03-71C5-0F76-B8D071ECBC90}"/>
              </a:ext>
            </a:extLst>
          </p:cNvPr>
          <p:cNvSpPr txBox="1"/>
          <p:nvPr/>
        </p:nvSpPr>
        <p:spPr>
          <a:xfrm>
            <a:off x="1736226" y="5128448"/>
            <a:ext cx="8328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1800" b="1" dirty="0"/>
              <a:t>Choice of features: choosing the right amount of expert bias to use?	</a:t>
            </a:r>
          </a:p>
        </p:txBody>
      </p:sp>
    </p:spTree>
    <p:extLst>
      <p:ext uri="{BB962C8B-B14F-4D97-AF65-F5344CB8AC3E}">
        <p14:creationId xmlns:p14="http://schemas.microsoft.com/office/powerpoint/2010/main" val="123398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BDE99-6D7C-A534-34B4-6C6708B29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186325-5535-73DD-B993-51F8A692C919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Bias into Engineered descriptors?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FE8EBE-CDA0-2AAE-B2DE-1032CE9119CE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31D1DA45-C926-1E01-68F2-170B4B3BE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ACC87B-7A24-73FB-917A-1710C11B8CDD}"/>
              </a:ext>
            </a:extLst>
          </p:cNvPr>
          <p:cNvSpPr txBox="1"/>
          <p:nvPr/>
        </p:nvSpPr>
        <p:spPr>
          <a:xfrm>
            <a:off x="0" y="954151"/>
            <a:ext cx="11715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of solvent encoding</a:t>
            </a:r>
          </a:p>
        </p:txBody>
      </p:sp>
      <p:pic>
        <p:nvPicPr>
          <p:cNvPr id="11" name="Picture 10" descr="The caption contains a description of this image.">
            <a:extLst>
              <a:ext uri="{FF2B5EF4-FFF2-40B4-BE49-F238E27FC236}">
                <a16:creationId xmlns:a16="http://schemas.microsoft.com/office/drawing/2014/main" id="{DCA4CF6D-D87D-EF70-2B8A-6AAD933631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781" t="21444" r="24940" b="60265"/>
          <a:stretch>
            <a:fillRect/>
          </a:stretch>
        </p:blipFill>
        <p:spPr>
          <a:xfrm>
            <a:off x="984194" y="2191336"/>
            <a:ext cx="3016306" cy="1417787"/>
          </a:xfrm>
          <a:prstGeom prst="rect">
            <a:avLst/>
          </a:prstGeom>
        </p:spPr>
      </p:pic>
      <p:pic>
        <p:nvPicPr>
          <p:cNvPr id="12" name="Picture 11" descr="The caption contains a description of this image.">
            <a:extLst>
              <a:ext uri="{FF2B5EF4-FFF2-40B4-BE49-F238E27FC236}">
                <a16:creationId xmlns:a16="http://schemas.microsoft.com/office/drawing/2014/main" id="{83384D9B-0D24-6FCE-A8D3-C544F4FA3C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781" t="41051" r="24940" b="36414"/>
          <a:stretch>
            <a:fillRect/>
          </a:stretch>
        </p:blipFill>
        <p:spPr>
          <a:xfrm>
            <a:off x="4325261" y="2166992"/>
            <a:ext cx="3016306" cy="1746775"/>
          </a:xfrm>
          <a:prstGeom prst="rect">
            <a:avLst/>
          </a:prstGeom>
        </p:spPr>
      </p:pic>
      <p:pic>
        <p:nvPicPr>
          <p:cNvPr id="13" name="Picture 12" descr="The caption contains a description of this image.">
            <a:extLst>
              <a:ext uri="{FF2B5EF4-FFF2-40B4-BE49-F238E27FC236}">
                <a16:creationId xmlns:a16="http://schemas.microsoft.com/office/drawing/2014/main" id="{111F52F6-0526-9C88-4223-4AD3513B0B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781" t="66557" r="24940" b="8617"/>
          <a:stretch>
            <a:fillRect/>
          </a:stretch>
        </p:blipFill>
        <p:spPr>
          <a:xfrm>
            <a:off x="7894929" y="2193619"/>
            <a:ext cx="3016306" cy="1924310"/>
          </a:xfrm>
          <a:prstGeom prst="rect">
            <a:avLst/>
          </a:prstGeom>
        </p:spPr>
      </p:pic>
      <p:sp>
        <p:nvSpPr>
          <p:cNvPr id="14" name="Right Arrow 13">
            <a:extLst>
              <a:ext uri="{FF2B5EF4-FFF2-40B4-BE49-F238E27FC236}">
                <a16:creationId xmlns:a16="http://schemas.microsoft.com/office/drawing/2014/main" id="{B372BE71-5199-7E04-6EF8-3EB3FD48A158}"/>
              </a:ext>
            </a:extLst>
          </p:cNvPr>
          <p:cNvSpPr/>
          <p:nvPr/>
        </p:nvSpPr>
        <p:spPr>
          <a:xfrm rot="10800000" flipH="1" flipV="1">
            <a:off x="1165859" y="4695782"/>
            <a:ext cx="9498337" cy="623992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Expert bias / data efficiency (if feature related to property)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076CB5-CD81-6DF7-733B-B881F77ED208}"/>
              </a:ext>
            </a:extLst>
          </p:cNvPr>
          <p:cNvSpPr txBox="1"/>
          <p:nvPr/>
        </p:nvSpPr>
        <p:spPr>
          <a:xfrm>
            <a:off x="-1" y="6143014"/>
            <a:ext cx="1057523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Ball, M.; Horvath, D.; </a:t>
            </a:r>
            <a:r>
              <a:rPr lang="en-US" sz="1100" dirty="0" err="1"/>
              <a:t>Kogej</a:t>
            </a:r>
            <a:r>
              <a:rPr lang="en-US" sz="1100" dirty="0"/>
              <a:t>, T.; </a:t>
            </a:r>
            <a:r>
              <a:rPr lang="en-US" sz="1100" dirty="0" err="1"/>
              <a:t>Kabeshov</a:t>
            </a:r>
            <a:r>
              <a:rPr lang="en-US" sz="1100" dirty="0"/>
              <a:t>, M.; Varnek, A. Predicting Reaction Conditions: A Data-Driven Perspective. </a:t>
            </a:r>
            <a:r>
              <a:rPr lang="en-US" sz="1100" i="1" dirty="0"/>
              <a:t>Chem. Sci. </a:t>
            </a:r>
            <a:r>
              <a:rPr lang="en-US" sz="1100" b="1" dirty="0"/>
              <a:t>2025</a:t>
            </a:r>
            <a:r>
              <a:rPr lang="en-US" sz="1100" dirty="0"/>
              <a:t>, 16 (38), 17523–17541. </a:t>
            </a:r>
          </a:p>
        </p:txBody>
      </p:sp>
    </p:spTree>
    <p:extLst>
      <p:ext uri="{BB962C8B-B14F-4D97-AF65-F5344CB8AC3E}">
        <p14:creationId xmlns:p14="http://schemas.microsoft.com/office/powerpoint/2010/main" val="107236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C11DD-C924-AA2C-EA39-78E532B7E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2E5438-C563-6CC9-5587-318536D76581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Molecular Representations: Outlook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E39C0C-C243-E4A7-D241-D18126E71BCA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D3C740F7-F35F-0C3E-0D4F-1E7D55034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6C42B8-6254-2144-81DB-0A7B1C28A1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084"/>
          <a:stretch>
            <a:fillRect/>
          </a:stretch>
        </p:blipFill>
        <p:spPr>
          <a:xfrm>
            <a:off x="1157770" y="1082080"/>
            <a:ext cx="9876460" cy="51059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EAFFF9-CF0B-83CA-F521-8383EC4EAE8F}"/>
              </a:ext>
            </a:extLst>
          </p:cNvPr>
          <p:cNvSpPr txBox="1"/>
          <p:nvPr/>
        </p:nvSpPr>
        <p:spPr>
          <a:xfrm>
            <a:off x="-30480" y="6182392"/>
            <a:ext cx="142265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Pattanaik, L.; Coley, C. W. </a:t>
            </a:r>
            <a:r>
              <a:rPr lang="en-US" sz="1100" i="1" dirty="0"/>
              <a:t>Chem</a:t>
            </a:r>
            <a:r>
              <a:rPr lang="en-US" sz="1100" dirty="0"/>
              <a:t> </a:t>
            </a:r>
            <a:r>
              <a:rPr lang="en-US" sz="1100" b="1" dirty="0"/>
              <a:t>2020</a:t>
            </a:r>
            <a:r>
              <a:rPr lang="en-US" sz="1100" dirty="0"/>
              <a:t>, 6 (6), 1204–1207.</a:t>
            </a:r>
          </a:p>
        </p:txBody>
      </p:sp>
    </p:spTree>
    <p:extLst>
      <p:ext uri="{BB962C8B-B14F-4D97-AF65-F5344CB8AC3E}">
        <p14:creationId xmlns:p14="http://schemas.microsoft.com/office/powerpoint/2010/main" val="5414946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B8D79-7F1D-6C0B-1C3E-15BBCF8FF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8DFEA5-2EDB-1416-838B-E68ADFCBBBA5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Molecular Representations: Outlook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321940-4A50-7B99-7BEC-FA1D4397DEDB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5024B033-C31D-F4B4-5180-DB299AB94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2E68BE-D5F1-2A1D-9967-88F9369DD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538" y="1123209"/>
            <a:ext cx="10294924" cy="52602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FCDDFF-F2CD-4B49-126D-568B6127020C}"/>
              </a:ext>
            </a:extLst>
          </p:cNvPr>
          <p:cNvSpPr txBox="1"/>
          <p:nvPr/>
        </p:nvSpPr>
        <p:spPr>
          <a:xfrm>
            <a:off x="0" y="6160705"/>
            <a:ext cx="79361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4"/>
              </a:rPr>
              <a:t>https://github.com/camlcworkshop/camlcworkshop.github.io/blob/master/Sessions/Paton/Paton_2D_3D_Featurization.pdf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102895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8A9D9-A005-8DDC-65AA-261A887FB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9E8DB8-5C51-14D3-610C-5FA835D2293C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E8950F-3DD3-1C03-136D-244FE4622DC7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4816BE6F-C643-2C9B-2882-325BD6E35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FAD3E1-DF84-8C97-FF02-843B5C23496D}"/>
              </a:ext>
            </a:extLst>
          </p:cNvPr>
          <p:cNvSpPr txBox="1"/>
          <p:nvPr/>
        </p:nvSpPr>
        <p:spPr>
          <a:xfrm>
            <a:off x="1945178" y="1651590"/>
            <a:ext cx="7254999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• Evolution of “data-driven” chemistry</a:t>
            </a:r>
          </a:p>
          <a:p>
            <a:endParaRPr lang="en-US" sz="2500" dirty="0"/>
          </a:p>
          <a:p>
            <a:r>
              <a:rPr lang="en-US" sz="2500" dirty="0"/>
              <a:t>• Overview of existing representations</a:t>
            </a:r>
          </a:p>
          <a:p>
            <a:endParaRPr lang="en-US" sz="2500" dirty="0"/>
          </a:p>
          <a:p>
            <a:r>
              <a:rPr lang="en-US" sz="2500" b="1" dirty="0"/>
              <a:t>• Importance of the choice of the representation </a:t>
            </a:r>
          </a:p>
          <a:p>
            <a:endParaRPr lang="en-US" sz="2500" dirty="0"/>
          </a:p>
          <a:p>
            <a:r>
              <a:rPr lang="en-US" sz="2500" dirty="0"/>
              <a:t>• Data preprocessing: practical considerations</a:t>
            </a:r>
          </a:p>
          <a:p>
            <a:endParaRPr lang="en-US" sz="2500" b="1" dirty="0"/>
          </a:p>
          <a:p>
            <a:r>
              <a:rPr lang="en-US" sz="2500" dirty="0"/>
              <a:t>•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0262849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C54FC-1425-0024-6B8E-07DD83BCE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81361A9E-DE78-0CC4-557F-326BA49147B2}"/>
              </a:ext>
            </a:extLst>
          </p:cNvPr>
          <p:cNvGrpSpPr/>
          <p:nvPr/>
        </p:nvGrpSpPr>
        <p:grpSpPr>
          <a:xfrm>
            <a:off x="4626290" y="1147505"/>
            <a:ext cx="4509774" cy="4592990"/>
            <a:chOff x="7186610" y="1142728"/>
            <a:chExt cx="4509774" cy="459299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935172-3E64-13ED-07EF-C9A7C9672B4A}"/>
                </a:ext>
              </a:extLst>
            </p:cNvPr>
            <p:cNvGrpSpPr/>
            <p:nvPr/>
          </p:nvGrpSpPr>
          <p:grpSpPr>
            <a:xfrm>
              <a:off x="7186610" y="1142728"/>
              <a:ext cx="4509774" cy="4592990"/>
              <a:chOff x="7137398" y="1164149"/>
              <a:chExt cx="4509774" cy="4592990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B3DFB7B8-B3EF-15A2-1D3B-7988B8E398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37398" y="3866435"/>
                <a:ext cx="2205598" cy="2439"/>
              </a:xfrm>
              <a:prstGeom prst="line">
                <a:avLst/>
              </a:prstGeom>
              <a:ln>
                <a:solidFill>
                  <a:srgbClr val="45454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F2ADD6CA-A959-7A44-B9B9-756D1F01A8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64913" y="1364419"/>
                <a:ext cx="1504348" cy="892410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8F7E265-7FB6-1215-1EA9-31AD356B42B1}"/>
                  </a:ext>
                </a:extLst>
              </p:cNvPr>
              <p:cNvSpPr txBox="1"/>
              <p:nvPr/>
            </p:nvSpPr>
            <p:spPr>
              <a:xfrm>
                <a:off x="9058442" y="2473828"/>
                <a:ext cx="25887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Transition states</a:t>
                </a:r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543C8BEB-7403-8BE5-7C2B-3494970D87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29707" y="3866435"/>
                <a:ext cx="1513289" cy="1890704"/>
              </a:xfrm>
              <a:prstGeom prst="line">
                <a:avLst/>
              </a:prstGeom>
              <a:ln>
                <a:solidFill>
                  <a:srgbClr val="9696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AC4747F-7517-9321-7525-A443A659C6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32677" y="1532941"/>
                <a:ext cx="0" cy="2342078"/>
              </a:xfrm>
              <a:prstGeom prst="line">
                <a:avLst/>
              </a:prstGeom>
              <a:ln>
                <a:solidFill>
                  <a:srgbClr val="45454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51DB62F-1E76-C9A7-515C-57D361E6976F}"/>
                  </a:ext>
                </a:extLst>
              </p:cNvPr>
              <p:cNvSpPr/>
              <p:nvPr/>
            </p:nvSpPr>
            <p:spPr>
              <a:xfrm>
                <a:off x="9241161" y="1422841"/>
                <a:ext cx="173736" cy="17481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D504F2ED-A677-E0DA-BA10-F36EF26FFD46}"/>
                  </a:ext>
                </a:extLst>
              </p:cNvPr>
              <p:cNvSpPr/>
              <p:nvPr/>
            </p:nvSpPr>
            <p:spPr>
              <a:xfrm>
                <a:off x="9414896" y="1164149"/>
                <a:ext cx="1849239" cy="1290011"/>
              </a:xfrm>
              <a:prstGeom prst="ellips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A3EBDA4-D6DE-D66E-63B8-F1E0EBF70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29238" y="1496614"/>
              <a:ext cx="572064" cy="436514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83A643B-478E-5F48-883C-CEE0B21594F8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Expert-Crafter Descriptors: Precision/Generalizability Trade-off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1BCF4C-8BB5-471E-4969-B0883D739D66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B371C541-CE83-725E-4583-B6E55F492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F980DE3E-A0B7-BFEF-7690-B652E7350F42}"/>
              </a:ext>
            </a:extLst>
          </p:cNvPr>
          <p:cNvSpPr/>
          <p:nvPr/>
        </p:nvSpPr>
        <p:spPr>
          <a:xfrm>
            <a:off x="2974335" y="5698131"/>
            <a:ext cx="6071874" cy="127571"/>
          </a:xfrm>
          <a:prstGeom prst="rightArrow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243A8-99E4-579D-4EDA-22C4752F66CE}"/>
              </a:ext>
            </a:extLst>
          </p:cNvPr>
          <p:cNvSpPr txBox="1"/>
          <p:nvPr/>
        </p:nvSpPr>
        <p:spPr>
          <a:xfrm>
            <a:off x="4318900" y="5841393"/>
            <a:ext cx="2963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efficiency – expert bias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2A5670-0BA2-7D02-FDA3-67BA3D791F4E}"/>
              </a:ext>
            </a:extLst>
          </p:cNvPr>
          <p:cNvSpPr txBox="1"/>
          <p:nvPr/>
        </p:nvSpPr>
        <p:spPr>
          <a:xfrm rot="16200000">
            <a:off x="1664298" y="3591510"/>
            <a:ext cx="214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Generalizability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4D921F08-3A14-E20B-E1E9-A99B09E24371}"/>
              </a:ext>
            </a:extLst>
          </p:cNvPr>
          <p:cNvSpPr/>
          <p:nvPr/>
        </p:nvSpPr>
        <p:spPr>
          <a:xfrm rot="16200000">
            <a:off x="1128443" y="3765384"/>
            <a:ext cx="3781406" cy="173738"/>
          </a:xfrm>
          <a:prstGeom prst="rightArrow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E9B5F917-090A-87C3-BD0F-D3A3612A83DE}"/>
              </a:ext>
            </a:extLst>
          </p:cNvPr>
          <p:cNvSpPr/>
          <p:nvPr/>
        </p:nvSpPr>
        <p:spPr>
          <a:xfrm rot="18551593">
            <a:off x="2483222" y="4553454"/>
            <a:ext cx="2975891" cy="145914"/>
          </a:xfrm>
          <a:prstGeom prst="rightArrow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BFA774-5A56-E77C-0153-B9860CA6AC73}"/>
              </a:ext>
            </a:extLst>
          </p:cNvPr>
          <p:cNvSpPr txBox="1"/>
          <p:nvPr/>
        </p:nvSpPr>
        <p:spPr>
          <a:xfrm rot="18581782">
            <a:off x="3583775" y="3994258"/>
            <a:ext cx="1004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Cost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757A6AB-6AD8-C734-6580-B08267714563}"/>
              </a:ext>
            </a:extLst>
          </p:cNvPr>
          <p:cNvGrpSpPr/>
          <p:nvPr/>
        </p:nvGrpSpPr>
        <p:grpSpPr>
          <a:xfrm>
            <a:off x="4380789" y="2971684"/>
            <a:ext cx="2051919" cy="2778394"/>
            <a:chOff x="6941109" y="2966907"/>
            <a:chExt cx="2051919" cy="2778394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75C71861-C298-2676-C942-AAFD9A9A0FFF}"/>
                </a:ext>
              </a:extLst>
            </p:cNvPr>
            <p:cNvSpPr/>
            <p:nvPr/>
          </p:nvSpPr>
          <p:spPr>
            <a:xfrm>
              <a:off x="7504303" y="2966907"/>
              <a:ext cx="1274158" cy="118856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FA8C1E2-0B99-748B-69B9-A067A2D88094}"/>
                </a:ext>
              </a:extLst>
            </p:cNvPr>
            <p:cNvSpPr txBox="1"/>
            <p:nvPr/>
          </p:nvSpPr>
          <p:spPr>
            <a:xfrm>
              <a:off x="7289735" y="4094246"/>
              <a:ext cx="17032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molecular descriptors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DC6F598-A19F-117D-92CE-163D05E841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1109" y="4997031"/>
              <a:ext cx="600869" cy="748270"/>
            </a:xfrm>
            <a:prstGeom prst="line">
              <a:avLst/>
            </a:prstGeom>
            <a:ln>
              <a:solidFill>
                <a:srgbClr val="B0B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766B54F-E0B3-6BD1-328A-A8D6AB56139A}"/>
                </a:ext>
              </a:extLst>
            </p:cNvPr>
            <p:cNvCxnSpPr>
              <a:cxnSpLocks/>
            </p:cNvCxnSpPr>
            <p:nvPr/>
          </p:nvCxnSpPr>
          <p:spPr>
            <a:xfrm>
              <a:off x="7538064" y="3992471"/>
              <a:ext cx="0" cy="997002"/>
            </a:xfrm>
            <a:prstGeom prst="line">
              <a:avLst/>
            </a:prstGeom>
            <a:ln>
              <a:solidFill>
                <a:srgbClr val="9F9F9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9F443B0-C5E1-8DC1-D991-8EBB44821786}"/>
                </a:ext>
              </a:extLst>
            </p:cNvPr>
            <p:cNvSpPr/>
            <p:nvPr/>
          </p:nvSpPr>
          <p:spPr>
            <a:xfrm>
              <a:off x="7452980" y="3911233"/>
              <a:ext cx="173736" cy="174812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00DDE66-668F-F11C-3EC5-BBC4D5440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69972" y="3163084"/>
              <a:ext cx="825500" cy="8128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0E097F9-8AD5-34DA-5858-9599F3C16F05}"/>
              </a:ext>
            </a:extLst>
          </p:cNvPr>
          <p:cNvGrpSpPr/>
          <p:nvPr/>
        </p:nvGrpSpPr>
        <p:grpSpPr>
          <a:xfrm>
            <a:off x="3294180" y="1982183"/>
            <a:ext cx="1727890" cy="3774046"/>
            <a:chOff x="5854500" y="1963118"/>
            <a:chExt cx="1727890" cy="377404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2673488-16D2-5578-8805-ED8AF2D4B3AB}"/>
                </a:ext>
              </a:extLst>
            </p:cNvPr>
            <p:cNvSpPr txBox="1"/>
            <p:nvPr/>
          </p:nvSpPr>
          <p:spPr>
            <a:xfrm>
              <a:off x="5879097" y="2882421"/>
              <a:ext cx="1703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Graph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3710994-172F-6CC6-3BBB-2C829A0E9B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54500" y="5332727"/>
              <a:ext cx="327284" cy="404437"/>
            </a:xfrm>
            <a:prstGeom prst="line">
              <a:avLst/>
            </a:prstGeom>
            <a:ln>
              <a:solidFill>
                <a:srgbClr val="D1D1D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0EED41D-C5EC-45D7-F935-74EA70D0CE6D}"/>
                </a:ext>
              </a:extLst>
            </p:cNvPr>
            <p:cNvCxnSpPr>
              <a:cxnSpLocks/>
            </p:cNvCxnSpPr>
            <p:nvPr/>
          </p:nvCxnSpPr>
          <p:spPr>
            <a:xfrm>
              <a:off x="5981698" y="5333742"/>
              <a:ext cx="201101" cy="0"/>
            </a:xfrm>
            <a:prstGeom prst="line">
              <a:avLst/>
            </a:prstGeom>
            <a:ln>
              <a:solidFill>
                <a:srgbClr val="B7B7B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C4D814D-5AA0-F90B-ABAF-B6582CF230D2}"/>
                </a:ext>
              </a:extLst>
            </p:cNvPr>
            <p:cNvCxnSpPr>
              <a:cxnSpLocks/>
            </p:cNvCxnSpPr>
            <p:nvPr/>
          </p:nvCxnSpPr>
          <p:spPr>
            <a:xfrm>
              <a:off x="6173254" y="2991664"/>
              <a:ext cx="0" cy="2342078"/>
            </a:xfrm>
            <a:prstGeom prst="line">
              <a:avLst/>
            </a:prstGeom>
            <a:ln>
              <a:solidFill>
                <a:srgbClr val="54545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A4AF75C-13B0-1EE6-CA4C-3BA908CF056D}"/>
                </a:ext>
              </a:extLst>
            </p:cNvPr>
            <p:cNvSpPr/>
            <p:nvPr/>
          </p:nvSpPr>
          <p:spPr>
            <a:xfrm>
              <a:off x="6092428" y="2850394"/>
              <a:ext cx="173736" cy="174812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B6CDE905-80C5-0ECC-A348-24A4E98493FE}"/>
                </a:ext>
              </a:extLst>
            </p:cNvPr>
            <p:cNvSpPr/>
            <p:nvPr/>
          </p:nvSpPr>
          <p:spPr>
            <a:xfrm>
              <a:off x="6007562" y="1963118"/>
              <a:ext cx="1184434" cy="95292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A39A6CA5-F3F4-BD96-BC6E-7E4772D30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68009" y="2230721"/>
              <a:ext cx="673100" cy="4318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D4A4C47-6961-DF10-C3CF-3BFC37F12769}"/>
              </a:ext>
            </a:extLst>
          </p:cNvPr>
          <p:cNvGrpSpPr/>
          <p:nvPr/>
        </p:nvGrpSpPr>
        <p:grpSpPr>
          <a:xfrm>
            <a:off x="3648988" y="4018841"/>
            <a:ext cx="5458500" cy="1723680"/>
            <a:chOff x="6209308" y="4014064"/>
            <a:chExt cx="5458500" cy="172368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C809C27-5ED4-363E-6CC4-419D0531BD3E}"/>
                </a:ext>
              </a:extLst>
            </p:cNvPr>
            <p:cNvSpPr txBox="1"/>
            <p:nvPr/>
          </p:nvSpPr>
          <p:spPr>
            <a:xfrm>
              <a:off x="10215525" y="5008060"/>
              <a:ext cx="14522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atomic descriptors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DB5FE5A-FB55-B936-B94C-82D5984D9E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4835" y="4989474"/>
              <a:ext cx="600869" cy="748270"/>
            </a:xfrm>
            <a:prstGeom prst="line">
              <a:avLst/>
            </a:prstGeom>
            <a:ln>
              <a:solidFill>
                <a:srgbClr val="6B6B6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D646D96-22F8-CB06-2294-338692C97DBB}"/>
                </a:ext>
              </a:extLst>
            </p:cNvPr>
            <p:cNvCxnSpPr>
              <a:cxnSpLocks/>
            </p:cNvCxnSpPr>
            <p:nvPr/>
          </p:nvCxnSpPr>
          <p:spPr>
            <a:xfrm>
              <a:off x="6209308" y="4994138"/>
              <a:ext cx="3673460" cy="7558"/>
            </a:xfrm>
            <a:prstGeom prst="line">
              <a:avLst/>
            </a:prstGeom>
            <a:ln>
              <a:solidFill>
                <a:srgbClr val="9C9C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1431467-945B-E094-F337-951098DD2C67}"/>
                </a:ext>
              </a:extLst>
            </p:cNvPr>
            <p:cNvSpPr/>
            <p:nvPr/>
          </p:nvSpPr>
          <p:spPr>
            <a:xfrm>
              <a:off x="9795069" y="4902481"/>
              <a:ext cx="173736" cy="174812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547B5ED9-EC88-969A-51DC-928594C48C50}"/>
                </a:ext>
              </a:extLst>
            </p:cNvPr>
            <p:cNvSpPr/>
            <p:nvPr/>
          </p:nvSpPr>
          <p:spPr>
            <a:xfrm>
              <a:off x="9831617" y="4014064"/>
              <a:ext cx="1125244" cy="97647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A33C7943-AE9C-DABF-AC59-BDE3E8B17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081104" y="4313710"/>
              <a:ext cx="660400" cy="495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81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7DFFF-5AE8-A894-03A0-52377B78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7F493D-5F3F-68DA-F8CF-14735A35A306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9B1E92-4A7C-A67A-6CE7-52404BED1BA3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4F28628E-D3EE-BE04-8A71-142B2606D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3070CA-BE50-0C83-1860-D67B493B1058}"/>
              </a:ext>
            </a:extLst>
          </p:cNvPr>
          <p:cNvSpPr txBox="1"/>
          <p:nvPr/>
        </p:nvSpPr>
        <p:spPr>
          <a:xfrm>
            <a:off x="1945178" y="1651590"/>
            <a:ext cx="6954789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• Evolution of “data-driven” chemistry</a:t>
            </a:r>
          </a:p>
          <a:p>
            <a:endParaRPr lang="en-US" sz="2500" dirty="0"/>
          </a:p>
          <a:p>
            <a:r>
              <a:rPr lang="en-US" sz="2500" dirty="0"/>
              <a:t>• Overview of existing representations</a:t>
            </a:r>
          </a:p>
          <a:p>
            <a:endParaRPr lang="en-US" sz="2500" dirty="0"/>
          </a:p>
          <a:p>
            <a:r>
              <a:rPr lang="en-US" sz="2500" dirty="0"/>
              <a:t>• Importance of the choice of the representation </a:t>
            </a:r>
          </a:p>
          <a:p>
            <a:endParaRPr lang="en-US" sz="2500" dirty="0"/>
          </a:p>
          <a:p>
            <a:r>
              <a:rPr lang="en-US" sz="2500" b="1" dirty="0"/>
              <a:t>• Data preprocessing: practical considerations</a:t>
            </a:r>
          </a:p>
          <a:p>
            <a:endParaRPr lang="en-US" sz="2500" b="1" dirty="0"/>
          </a:p>
          <a:p>
            <a:r>
              <a:rPr lang="en-US" sz="2500" dirty="0"/>
              <a:t>•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1574023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2A4B2-FEEB-7F5E-66CE-F5D320F84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4791A4-53BD-478F-D807-455533C90BC0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Multiple feature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333136-96DD-B62E-0B25-94C0F9A98478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735E2BB4-0F7A-0F07-81E2-3F57BD365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C6F6D0-633E-8D5A-50B7-4AAFB80E4F61}"/>
              </a:ext>
            </a:extLst>
          </p:cNvPr>
          <p:cNvSpPr txBox="1"/>
          <p:nvPr/>
        </p:nvSpPr>
        <p:spPr>
          <a:xfrm>
            <a:off x="824174" y="2413337"/>
            <a:ext cx="1018791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• Standardization</a:t>
            </a:r>
          </a:p>
          <a:p>
            <a:endParaRPr lang="en-US" b="1" dirty="0"/>
          </a:p>
          <a:p>
            <a:r>
              <a:rPr lang="en-US" b="1" dirty="0"/>
              <a:t>• Removing zero-variance features</a:t>
            </a:r>
          </a:p>
          <a:p>
            <a:endParaRPr lang="en-US" b="1" dirty="0"/>
          </a:p>
          <a:p>
            <a:r>
              <a:rPr lang="en-US" b="1" dirty="0"/>
              <a:t>• Removing correlated features</a:t>
            </a:r>
          </a:p>
          <a:p>
            <a:endParaRPr lang="en-US" b="1" dirty="0"/>
          </a:p>
          <a:p>
            <a:r>
              <a:rPr lang="en-US" b="1" dirty="0"/>
              <a:t>• Data visualization: understanding local and global data structure/potentially removing outliers</a:t>
            </a:r>
          </a:p>
        </p:txBody>
      </p:sp>
    </p:spTree>
    <p:extLst>
      <p:ext uri="{BB962C8B-B14F-4D97-AF65-F5344CB8AC3E}">
        <p14:creationId xmlns:p14="http://schemas.microsoft.com/office/powerpoint/2010/main" val="36762311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BF1D2-4084-DFB2-5699-C6986BC5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091CE2-811C-F9DF-8AB1-2AE6C1537233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8E6B2B-9B6B-B382-3E98-EB6817A5BC36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75D293-BD9B-1AAB-2B66-8B94AF520087}"/>
              </a:ext>
            </a:extLst>
          </p:cNvPr>
          <p:cNvSpPr txBox="1"/>
          <p:nvPr/>
        </p:nvSpPr>
        <p:spPr>
          <a:xfrm>
            <a:off x="1945178" y="1651590"/>
            <a:ext cx="6954789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• Evolution of “data-driven” chemistry</a:t>
            </a:r>
          </a:p>
          <a:p>
            <a:endParaRPr lang="en-US" sz="2500" dirty="0"/>
          </a:p>
          <a:p>
            <a:r>
              <a:rPr lang="en-US" sz="2500" dirty="0"/>
              <a:t>• Overview of existing representations</a:t>
            </a:r>
          </a:p>
          <a:p>
            <a:endParaRPr lang="en-US" sz="2500" dirty="0"/>
          </a:p>
          <a:p>
            <a:r>
              <a:rPr lang="en-US" sz="2500" dirty="0"/>
              <a:t>• Importance of the choice of the representation </a:t>
            </a:r>
          </a:p>
          <a:p>
            <a:endParaRPr lang="en-US" sz="2500" dirty="0"/>
          </a:p>
          <a:p>
            <a:r>
              <a:rPr lang="en-US" sz="2500" dirty="0"/>
              <a:t>• Data preprocessing: practical considerations</a:t>
            </a:r>
          </a:p>
          <a:p>
            <a:endParaRPr lang="en-US" sz="2500" b="1" dirty="0"/>
          </a:p>
          <a:p>
            <a:r>
              <a:rPr lang="en-US" sz="2500" b="1" dirty="0"/>
              <a:t>• Data visualization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9549AA91-0E67-5C58-4D5F-FF27006FE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2184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F655E-B389-6EC0-BC96-FAFF777C5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424286-013B-114B-3BA5-E5D94AA08B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40" t="23540" r="15779" b="29014"/>
          <a:stretch>
            <a:fillRect/>
          </a:stretch>
        </p:blipFill>
        <p:spPr>
          <a:xfrm>
            <a:off x="3657601" y="2244436"/>
            <a:ext cx="4932218" cy="2590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093825-3B48-D31C-A0F1-1B927C5F9E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40" t="13138" r="14259" b="29015"/>
          <a:stretch>
            <a:fillRect/>
          </a:stretch>
        </p:blipFill>
        <p:spPr>
          <a:xfrm>
            <a:off x="3657600" y="1676400"/>
            <a:ext cx="5043055" cy="3158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FA47A0-F868-EFE2-D04B-101225368D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95" t="19481" r="15780" b="33074"/>
          <a:stretch>
            <a:fillRect/>
          </a:stretch>
        </p:blipFill>
        <p:spPr>
          <a:xfrm>
            <a:off x="3158836" y="2022764"/>
            <a:ext cx="5430982" cy="25908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B3EA946-122B-4AB6-8BE6-0CAB6564640D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Principal Component Analysis (PCA)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DCA144-C06B-625E-3092-F4DF31727A00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B171FFF3-A257-469A-B983-22B7CAE86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449D04-3949-B567-952C-E99F15D19660}"/>
              </a:ext>
            </a:extLst>
          </p:cNvPr>
          <p:cNvSpPr txBox="1"/>
          <p:nvPr/>
        </p:nvSpPr>
        <p:spPr>
          <a:xfrm>
            <a:off x="-13855" y="6166527"/>
            <a:ext cx="5990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Figure from: </a:t>
            </a:r>
            <a:r>
              <a:rPr lang="en-US" sz="1100" dirty="0">
                <a:hlinkClick r:id="rId6"/>
              </a:rPr>
              <a:t>https://github.com/BingqingCheng/ML-in-chemistry-101/blob/master/slides/l5.pdf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8059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8D51-8B2D-03CE-95D8-32DFDB100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C71BCA-6235-8188-6B3E-DE42DFE14BF4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PCA: an example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422C2A-8B2E-703D-F3CF-E05F5136868D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2F0DB34D-3C51-CC93-A350-77AA419FA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850B2C-EA08-E866-2C53-D072450822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00"/>
          <a:stretch>
            <a:fillRect/>
          </a:stretch>
        </p:blipFill>
        <p:spPr>
          <a:xfrm>
            <a:off x="6540501" y="1681048"/>
            <a:ext cx="5505054" cy="4048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D95794-CC54-7B39-DAED-D6BA6D36A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52" y="1847908"/>
            <a:ext cx="3876585" cy="25843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28E42F-229C-FAF5-6742-749848BB4E0D}"/>
              </a:ext>
            </a:extLst>
          </p:cNvPr>
          <p:cNvSpPr txBox="1"/>
          <p:nvPr/>
        </p:nvSpPr>
        <p:spPr>
          <a:xfrm>
            <a:off x="0" y="6193363"/>
            <a:ext cx="121919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Delaney, J. S. </a:t>
            </a:r>
            <a:r>
              <a:rPr lang="en-US" sz="1100" i="1" dirty="0"/>
              <a:t>J. Chem. Inf. </a:t>
            </a:r>
            <a:r>
              <a:rPr lang="en-US" sz="1100" i="1" dirty="0" err="1"/>
              <a:t>Comput</a:t>
            </a:r>
            <a:r>
              <a:rPr lang="en-US" sz="1100" i="1" dirty="0"/>
              <a:t>. Sci. </a:t>
            </a:r>
            <a:r>
              <a:rPr lang="en-US" sz="1100" b="1" dirty="0"/>
              <a:t>2004</a:t>
            </a:r>
            <a:r>
              <a:rPr lang="en-US" sz="1100" dirty="0"/>
              <a:t>, 44 (3), 1000–1005.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B2BE7D-B5FD-299B-ACC4-8DC7A9EAB13A}"/>
              </a:ext>
            </a:extLst>
          </p:cNvPr>
          <p:cNvSpPr txBox="1"/>
          <p:nvPr/>
        </p:nvSpPr>
        <p:spPr>
          <a:xfrm>
            <a:off x="304225" y="1249623"/>
            <a:ext cx="225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molecules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31F360-6FAF-C979-2944-4FFE8DF13825}"/>
              </a:ext>
            </a:extLst>
          </p:cNvPr>
          <p:cNvSpPr txBox="1"/>
          <p:nvPr/>
        </p:nvSpPr>
        <p:spPr>
          <a:xfrm>
            <a:off x="304225" y="4661251"/>
            <a:ext cx="57033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Molecular descriptors used:</a:t>
            </a:r>
          </a:p>
          <a:p>
            <a:r>
              <a:rPr lang="en-US" dirty="0" err="1"/>
              <a:t>MolWt</a:t>
            </a:r>
            <a:r>
              <a:rPr lang="en-US" dirty="0"/>
              <a:t>, TPSA, #</a:t>
            </a:r>
            <a:r>
              <a:rPr lang="en-US" dirty="0" err="1"/>
              <a:t>HeavyAtoms</a:t>
            </a:r>
            <a:r>
              <a:rPr lang="en-US" dirty="0"/>
              <a:t>, #Ring, </a:t>
            </a:r>
            <a:r>
              <a:rPr lang="en-US" dirty="0" err="1"/>
              <a:t>MolLopP</a:t>
            </a:r>
            <a:r>
              <a:rPr lang="en-US" dirty="0"/>
              <a:t>, #</a:t>
            </a:r>
            <a:r>
              <a:rPr lang="en-US" dirty="0" err="1"/>
              <a:t>HDonors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463A0E-51DC-9E96-D8E3-6497513A3A27}"/>
              </a:ext>
            </a:extLst>
          </p:cNvPr>
          <p:cNvSpPr txBox="1"/>
          <p:nvPr/>
        </p:nvSpPr>
        <p:spPr>
          <a:xfrm>
            <a:off x="7487692" y="1259262"/>
            <a:ext cx="327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PCA projection (PC1 and PC2)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997EC5-AB72-1A91-39F6-92A807399E03}"/>
              </a:ext>
            </a:extLst>
          </p:cNvPr>
          <p:cNvSpPr txBox="1"/>
          <p:nvPr/>
        </p:nvSpPr>
        <p:spPr>
          <a:xfrm>
            <a:off x="7346499" y="5711384"/>
            <a:ext cx="3415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variance explained = 86.9%</a:t>
            </a:r>
          </a:p>
        </p:txBody>
      </p:sp>
    </p:spTree>
    <p:extLst>
      <p:ext uri="{BB962C8B-B14F-4D97-AF65-F5344CB8AC3E}">
        <p14:creationId xmlns:p14="http://schemas.microsoft.com/office/powerpoint/2010/main" val="18859244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6506F-7979-3DC0-F878-5A83F3B2B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9046F8-D601-FB51-3C5C-293DB0BECAE6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PCA limitations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1DBBC3-2A48-F4A6-1B36-987E4D5D1A0A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6CC18BC1-6F12-1F34-2DDF-2A2013816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9297D2-BAB7-9552-01D9-7E91D5098E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797" t="47191" r="30201" b="18424"/>
          <a:stretch>
            <a:fillRect/>
          </a:stretch>
        </p:blipFill>
        <p:spPr>
          <a:xfrm>
            <a:off x="4296975" y="1080655"/>
            <a:ext cx="3281461" cy="23483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C9C4BC-B123-D9EF-E718-B440DE66E3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56" t="39752" r="286" b="4900"/>
          <a:stretch>
            <a:fillRect/>
          </a:stretch>
        </p:blipFill>
        <p:spPr>
          <a:xfrm>
            <a:off x="3481259" y="3726873"/>
            <a:ext cx="5229482" cy="23975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CC2410-2F03-74BC-763E-706D287D6072}"/>
              </a:ext>
            </a:extLst>
          </p:cNvPr>
          <p:cNvSpPr txBox="1"/>
          <p:nvPr/>
        </p:nvSpPr>
        <p:spPr>
          <a:xfrm>
            <a:off x="-13855" y="6166527"/>
            <a:ext cx="59907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Figure from: </a:t>
            </a:r>
            <a:r>
              <a:rPr lang="en-US" sz="1100" dirty="0">
                <a:hlinkClick r:id="rId5"/>
              </a:rPr>
              <a:t>https://github.com/BingqingCheng/ML-in-chemistry-101/blob/master/slides/l5.pdf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926183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291C3-21B4-F4BC-7950-2F9D5DC88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EDEFBF-AEFD-4B01-4585-A5E0C8DB516F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Beyond PCA for Dimensionality Reduction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B5958D-17A2-6074-D5F1-4C41B037CBD7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CC1E4192-F26B-0117-44A0-BE07761AF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280422-B878-6B5F-B79F-EB528A065D6D}"/>
              </a:ext>
            </a:extLst>
          </p:cNvPr>
          <p:cNvSpPr txBox="1"/>
          <p:nvPr/>
        </p:nvSpPr>
        <p:spPr>
          <a:xfrm>
            <a:off x="0" y="6168986"/>
            <a:ext cx="61237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3"/>
              </a:rPr>
              <a:t>https://pair-code.github.io/understanding-umap/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F0CAA6-EA20-F137-FF4E-E35B2A048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1854" y="2198422"/>
            <a:ext cx="5397779" cy="286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152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5524F-1E1F-8C61-7937-D654355F2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882439-6F79-2B24-7B80-99C1700E15D7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Beyond PCA for Dimensionality Reduction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B6FC99-0A06-D8A8-08A5-E005E8A3AC5D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5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C9EB3543-686F-8763-686B-B53AC9BB3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7A654D-CB87-8183-C1A7-428981FF649D}"/>
              </a:ext>
            </a:extLst>
          </p:cNvPr>
          <p:cNvSpPr txBox="1"/>
          <p:nvPr/>
        </p:nvSpPr>
        <p:spPr>
          <a:xfrm>
            <a:off x="371532" y="4753819"/>
            <a:ext cx="2964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to preserve local and global structure while reducing dimension?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399C02-8C55-19F6-9B65-145667217ED4}"/>
              </a:ext>
            </a:extLst>
          </p:cNvPr>
          <p:cNvSpPr txBox="1"/>
          <p:nvPr/>
        </p:nvSpPr>
        <p:spPr>
          <a:xfrm>
            <a:off x="0" y="6168986"/>
            <a:ext cx="61237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3"/>
              </a:rPr>
              <a:t>https://pair-code.github.io/understanding-umap/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55D35E-01F2-83ED-8B4A-4A3E2E4AA189}"/>
              </a:ext>
            </a:extLst>
          </p:cNvPr>
          <p:cNvSpPr txBox="1"/>
          <p:nvPr/>
        </p:nvSpPr>
        <p:spPr>
          <a:xfrm>
            <a:off x="9365672" y="1555457"/>
            <a:ext cx="282632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Hyperparameters really matter.</a:t>
            </a:r>
          </a:p>
          <a:p>
            <a:pPr marL="342900" indent="-342900">
              <a:buAutoNum type="arabicPeriod"/>
            </a:pPr>
            <a:r>
              <a:rPr lang="en-US" dirty="0"/>
              <a:t>Cluster sizes in a UMAP plot mean nothing.</a:t>
            </a:r>
          </a:p>
          <a:p>
            <a:pPr marL="342900" indent="-342900">
              <a:buAutoNum type="arabicPeriod"/>
            </a:pPr>
            <a:r>
              <a:rPr lang="en-US" dirty="0"/>
              <a:t>Distances between clusters might not mean anything.</a:t>
            </a:r>
          </a:p>
          <a:p>
            <a:pPr marL="342900" indent="-342900">
              <a:buAutoNum type="arabicPeriod"/>
            </a:pPr>
            <a:r>
              <a:rPr lang="en-US" dirty="0"/>
              <a:t>Random noise doesn’t always look random.</a:t>
            </a:r>
          </a:p>
          <a:p>
            <a:pPr marL="342900" indent="-342900">
              <a:buAutoNum type="arabicPeriod"/>
            </a:pPr>
            <a:r>
              <a:rPr lang="en-US" dirty="0"/>
              <a:t>You may need more than one plot</a:t>
            </a:r>
          </a:p>
          <a:p>
            <a:endParaRPr lang="en-US" b="1" dirty="0"/>
          </a:p>
          <a:p>
            <a:r>
              <a:rPr lang="en-US" b="1" dirty="0"/>
              <a:t>Conclusion: Do not overinterpret!!!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11109A-B464-26F2-1D37-52D9D9F31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68" y="2463848"/>
            <a:ext cx="1828800" cy="1943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11A723-DB14-BA46-2B60-5B1AF80D30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896" y="1827849"/>
            <a:ext cx="3217696" cy="346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945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291AA-0E90-488A-5988-DEE7F0124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E6D173-04F2-14A6-C277-A5CF2544EDBD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venir Book" panose="02000503020000020003" pitchFamily="2" charset="0"/>
              </a:rPr>
              <a:t>Future Lectures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F5AB78-61FF-C420-054C-7C82C0DF18FE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4" name="Picture 3" descr="Details are in the caption following the image">
            <a:extLst>
              <a:ext uri="{FF2B5EF4-FFF2-40B4-BE49-F238E27FC236}">
                <a16:creationId xmlns:a16="http://schemas.microsoft.com/office/drawing/2014/main" id="{76F8BED2-42B3-9663-20A3-A0ACDCCA2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55" y="2114564"/>
            <a:ext cx="7279397" cy="29475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E50109-413D-13B1-E8F8-8D23BE4B79D9}"/>
              </a:ext>
            </a:extLst>
          </p:cNvPr>
          <p:cNvSpPr txBox="1"/>
          <p:nvPr/>
        </p:nvSpPr>
        <p:spPr>
          <a:xfrm>
            <a:off x="8675059" y="2940451"/>
            <a:ext cx="293734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 Graphs Neural Networks</a:t>
            </a:r>
          </a:p>
          <a:p>
            <a:endParaRPr lang="en-US" dirty="0"/>
          </a:p>
          <a:p>
            <a:r>
              <a:rPr lang="en-US" dirty="0"/>
              <a:t>• Variational Auto-Encoders</a:t>
            </a:r>
          </a:p>
          <a:p>
            <a:endParaRPr lang="en-US" dirty="0"/>
          </a:p>
          <a:p>
            <a:r>
              <a:rPr lang="en-US" dirty="0"/>
              <a:t>• Transformers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332EDC-C14E-5288-3F2C-6AC7E5C8681B}"/>
              </a:ext>
            </a:extLst>
          </p:cNvPr>
          <p:cNvSpPr txBox="1"/>
          <p:nvPr/>
        </p:nvSpPr>
        <p:spPr>
          <a:xfrm>
            <a:off x="18288" y="6142418"/>
            <a:ext cx="151242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Wigh, D. S.; Goodman, J. M.; Lapkin, A. A. </a:t>
            </a:r>
            <a:r>
              <a:rPr lang="en-US" sz="1100" i="1" dirty="0"/>
              <a:t>WIREs </a:t>
            </a:r>
            <a:r>
              <a:rPr lang="en-US" sz="1100" i="1" dirty="0" err="1"/>
              <a:t>Comput</a:t>
            </a:r>
            <a:r>
              <a:rPr lang="en-US" sz="1100" i="1" dirty="0"/>
              <a:t> Mol Sci </a:t>
            </a:r>
            <a:r>
              <a:rPr lang="en-US" sz="1100" b="1" dirty="0"/>
              <a:t>2022</a:t>
            </a:r>
            <a:r>
              <a:rPr lang="en-US" sz="1100" dirty="0"/>
              <a:t>, 12 (5).</a:t>
            </a:r>
          </a:p>
        </p:txBody>
      </p:sp>
      <p:pic>
        <p:nvPicPr>
          <p:cNvPr id="9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4B932E66-CEF1-73CC-9B51-B93C81306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7815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34C24-C278-A058-8A69-2260E76E0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3F4D1E-92BE-853B-DFE2-48B87A77EDD1}"/>
              </a:ext>
            </a:extLst>
          </p:cNvPr>
          <p:cNvSpPr/>
          <p:nvPr/>
        </p:nvSpPr>
        <p:spPr>
          <a:xfrm>
            <a:off x="0" y="0"/>
            <a:ext cx="12192000" cy="9359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latin typeface="Avenir Book" panose="02000503020000020003" pitchFamily="2" charset="0"/>
              </a:rPr>
              <a:t>Questions?</a:t>
            </a:r>
            <a:endParaRPr lang="en-US" sz="2800" dirty="0">
              <a:solidFill>
                <a:schemeClr val="tx1"/>
              </a:solidFill>
              <a:latin typeface="Avenir Book" panose="02000503020000020003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465906-947B-1002-5710-9F34E08D24AE}"/>
              </a:ext>
            </a:extLst>
          </p:cNvPr>
          <p:cNvSpPr/>
          <p:nvPr/>
        </p:nvSpPr>
        <p:spPr>
          <a:xfrm>
            <a:off x="0" y="6422316"/>
            <a:ext cx="12192000" cy="457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AI4ChemicalSciences </a:t>
            </a:r>
            <a:r>
              <a:rPr lang="en-US" dirty="0" err="1">
                <a:solidFill>
                  <a:schemeClr val="tx1"/>
                </a:solidFill>
                <a:latin typeface="Avenir Book" panose="02000503020000020003" pitchFamily="2" charset="0"/>
              </a:rPr>
              <a:t>BootCamp</a:t>
            </a:r>
            <a:r>
              <a:rPr lang="en-US" dirty="0">
                <a:solidFill>
                  <a:schemeClr val="tx1"/>
                </a:solidFill>
                <a:latin typeface="Avenir Book" panose="02000503020000020003" pitchFamily="2" charset="0"/>
              </a:rPr>
              <a:t> 2026</a:t>
            </a:r>
          </a:p>
        </p:txBody>
      </p:sp>
      <p:pic>
        <p:nvPicPr>
          <p:cNvPr id="9" name="Image 0" descr="/sessions/magical-busy-bardeen/mnt/MLChem Bootcamp/flyer/caltech-new-logo.png">
            <a:extLst>
              <a:ext uri="{FF2B5EF4-FFF2-40B4-BE49-F238E27FC236}">
                <a16:creationId xmlns:a16="http://schemas.microsoft.com/office/drawing/2014/main" id="{36DA7582-9A60-7B57-46DE-AE7B15954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" y="6461177"/>
            <a:ext cx="1554480" cy="3794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D805DB-D531-28CE-0B64-D810084A6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510074"/>
            <a:ext cx="7772400" cy="43380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62050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18982</TotalTime>
  <Words>3216</Words>
  <Application>Microsoft Macintosh PowerPoint</Application>
  <PresentationFormat>Widescreen</PresentationFormat>
  <Paragraphs>689</Paragraphs>
  <Slides>58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Aptos</vt:lpstr>
      <vt:lpstr>Aptos Display</vt:lpstr>
      <vt:lpstr>Arial</vt:lpstr>
      <vt:lpstr>Avenir Book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Schleinitz, Jules</dc:creator>
  <cp:lastModifiedBy>Schleinitz, Jules</cp:lastModifiedBy>
  <cp:revision>87</cp:revision>
  <dcterms:created xsi:type="dcterms:W3CDTF">2026-07-17T19:13:41Z</dcterms:created>
  <dcterms:modified xsi:type="dcterms:W3CDTF">2026-08-11T22:26:06Z</dcterms:modified>
</cp:coreProperties>
</file>