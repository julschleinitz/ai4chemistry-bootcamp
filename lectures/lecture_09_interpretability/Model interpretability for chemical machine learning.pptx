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60"/>
  </p:notesMasterIdLst>
  <p:sldIdLst>
    <p:sldId id="256" r:id="rId2"/>
    <p:sldId id="277" r:id="rId3"/>
    <p:sldId id="279" r:id="rId4"/>
    <p:sldId id="289" r:id="rId5"/>
    <p:sldId id="291" r:id="rId6"/>
    <p:sldId id="283" r:id="rId7"/>
    <p:sldId id="294" r:id="rId8"/>
    <p:sldId id="351" r:id="rId9"/>
    <p:sldId id="287" r:id="rId10"/>
    <p:sldId id="295" r:id="rId11"/>
    <p:sldId id="296" r:id="rId12"/>
    <p:sldId id="315" r:id="rId13"/>
    <p:sldId id="352" r:id="rId14"/>
    <p:sldId id="300" r:id="rId15"/>
    <p:sldId id="301" r:id="rId16"/>
    <p:sldId id="302" r:id="rId17"/>
    <p:sldId id="303" r:id="rId18"/>
    <p:sldId id="316" r:id="rId19"/>
    <p:sldId id="353" r:id="rId20"/>
    <p:sldId id="339" r:id="rId21"/>
    <p:sldId id="343" r:id="rId22"/>
    <p:sldId id="344" r:id="rId23"/>
    <p:sldId id="345" r:id="rId24"/>
    <p:sldId id="346" r:id="rId25"/>
    <p:sldId id="347" r:id="rId26"/>
    <p:sldId id="348" r:id="rId27"/>
    <p:sldId id="350" r:id="rId28"/>
    <p:sldId id="354" r:id="rId29"/>
    <p:sldId id="305" r:id="rId30"/>
    <p:sldId id="306" r:id="rId31"/>
    <p:sldId id="317" r:id="rId32"/>
    <p:sldId id="355" r:id="rId33"/>
    <p:sldId id="307" r:id="rId34"/>
    <p:sldId id="308" r:id="rId35"/>
    <p:sldId id="309" r:id="rId36"/>
    <p:sldId id="310" r:id="rId37"/>
    <p:sldId id="318" r:id="rId38"/>
    <p:sldId id="320" r:id="rId39"/>
    <p:sldId id="321" r:id="rId40"/>
    <p:sldId id="322" r:id="rId41"/>
    <p:sldId id="326" r:id="rId42"/>
    <p:sldId id="329" r:id="rId43"/>
    <p:sldId id="330" r:id="rId44"/>
    <p:sldId id="331" r:id="rId45"/>
    <p:sldId id="332" r:id="rId46"/>
    <p:sldId id="333" r:id="rId47"/>
    <p:sldId id="364" r:id="rId48"/>
    <p:sldId id="335" r:id="rId49"/>
    <p:sldId id="336" r:id="rId50"/>
    <p:sldId id="337" r:id="rId51"/>
    <p:sldId id="338" r:id="rId52"/>
    <p:sldId id="360" r:id="rId53"/>
    <p:sldId id="363" r:id="rId54"/>
    <p:sldId id="362" r:id="rId55"/>
    <p:sldId id="340" r:id="rId56"/>
    <p:sldId id="323" r:id="rId57"/>
    <p:sldId id="324" r:id="rId58"/>
    <p:sldId id="349" r:id="rId5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719" autoAdjust="0"/>
    <p:restoredTop sz="62520" autoAdjust="0"/>
  </p:normalViewPr>
  <p:slideViewPr>
    <p:cSldViewPr snapToGrid="0">
      <p:cViewPr varScale="1">
        <p:scale>
          <a:sx n="66" d="100"/>
          <a:sy n="66" d="100"/>
        </p:scale>
        <p:origin x="1600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84D61A-6371-4C3E-A035-0DDE54D9B155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67FDC2-19CB-4ECF-AEF9-A876D13A39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7628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67FDC2-19CB-4ECF-AEF9-A876D13A391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5078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67FDC2-19CB-4ECF-AEF9-A876D13A391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9560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67FDC2-19CB-4ECF-AEF9-A876D13A391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8891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67FDC2-19CB-4ECF-AEF9-A876D13A391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7722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67FDC2-19CB-4ECF-AEF9-A876D13A391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0662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67FDC2-19CB-4ECF-AEF9-A876D13A391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6362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67FDC2-19CB-4ECF-AEF9-A876D13A391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2662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67FDC2-19CB-4ECF-AEF9-A876D13A391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4114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67FDC2-19CB-4ECF-AEF9-A876D13A391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4655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67FDC2-19CB-4ECF-AEF9-A876D13A391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0276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67FDC2-19CB-4ECF-AEF9-A876D13A391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5237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67FDC2-19CB-4ECF-AEF9-A876D13A391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86087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67FDC2-19CB-4ECF-AEF9-A876D13A391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3873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67FDC2-19CB-4ECF-AEF9-A876D13A391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22103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67FDC2-19CB-4ECF-AEF9-A876D13A391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0953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67FDC2-19CB-4ECF-AEF9-A876D13A391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43975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67FDC2-19CB-4ECF-AEF9-A876D13A391C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62154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67FDC2-19CB-4ECF-AEF9-A876D13A391C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52622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67FDC2-19CB-4ECF-AEF9-A876D13A391C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93781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67FDC2-19CB-4ECF-AEF9-A876D13A391C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20319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67FDC2-19CB-4ECF-AEF9-A876D13A391C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93171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67FDC2-19CB-4ECF-AEF9-A876D13A391C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59500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67FDC2-19CB-4ECF-AEF9-A876D13A391C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3471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67FDC2-19CB-4ECF-AEF9-A876D13A391C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4924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67FDC2-19CB-4ECF-AEF9-A876D13A391C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17699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67FDC2-19CB-4ECF-AEF9-A876D13A391C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22732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67FDC2-19CB-4ECF-AEF9-A876D13A391C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41599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67FDC2-19CB-4ECF-AEF9-A876D13A391C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09296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67FDC2-19CB-4ECF-AEF9-A876D13A391C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72532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67FDC2-19CB-4ECF-AEF9-A876D13A391C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36054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67FDC2-19CB-4ECF-AEF9-A876D13A391C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90390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67FDC2-19CB-4ECF-AEF9-A876D13A391C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56252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67FDC2-19CB-4ECF-AEF9-A876D13A391C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64231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67FDC2-19CB-4ECF-AEF9-A876D13A391C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18879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67FDC2-19CB-4ECF-AEF9-A876D13A391C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54961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67FDC2-19CB-4ECF-AEF9-A876D13A391C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27400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67FDC2-19CB-4ECF-AEF9-A876D13A391C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70077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67FDC2-19CB-4ECF-AEF9-A876D13A391C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35320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67FDC2-19CB-4ECF-AEF9-A876D13A391C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01125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67FDC2-19CB-4ECF-AEF9-A876D13A391C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62959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67FDC2-19CB-4ECF-AEF9-A876D13A391C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76235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67FDC2-19CB-4ECF-AEF9-A876D13A391C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82463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67FDC2-19CB-4ECF-AEF9-A876D13A391C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25549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67FDC2-19CB-4ECF-AEF9-A876D13A391C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1564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67FDC2-19CB-4ECF-AEF9-A876D13A391C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6882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76EA5B-61DD-E227-FB08-EB8CA9B14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E97AF7-21DD-AF70-D897-B62DB78C61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991778-C62E-D67B-0AC9-F28DB0E82B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6AD3CA-0DF7-76D8-36BB-722EAD3440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67FDC2-19CB-4ECF-AEF9-A876D13A391C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813029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67FDC2-19CB-4ECF-AEF9-A876D13A391C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818870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67FDC2-19CB-4ECF-AEF9-A876D13A391C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014387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67FDC2-19CB-4ECF-AEF9-A876D13A391C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858487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67FDC2-19CB-4ECF-AEF9-A876D13A391C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787712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67FDC2-19CB-4ECF-AEF9-A876D13A391C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030819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67FDC2-19CB-4ECF-AEF9-A876D13A391C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935545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67FDC2-19CB-4ECF-AEF9-A876D13A391C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6037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8331F-8ACB-C1A7-F397-706B70D445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A9AB7A-9FF8-7257-BEE7-47E2ACCDAF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73435D-21D3-B3C1-B407-B522394E1F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35E21-865D-43DA-9FCD-4161F2039E37}" type="datetime1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B0AF97-906F-F08B-678F-0242B8982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735EB-BF7F-1CD5-796C-7FA3841E4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158D2-2874-47A5-BF5F-065C8F7FE0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4876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C1567-0761-1F68-4562-92C616EB7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3DBA42-CFFA-6DE5-2544-78732C37D4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345D03-6233-0C9A-AFCC-451644E92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04955-9DEC-4ACF-969C-9A0D8073F5CB}" type="datetime1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6F9992-8751-AB77-D091-7F380B515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5E2BE3-1C88-8E10-0C5C-292362604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158D2-2874-47A5-BF5F-065C8F7FE0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6954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17EC8-99F2-B2C1-43B2-EA7421123D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9D9D04-6C79-B8A8-354B-55D2B3A2A4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F2D8A9-286C-69D4-64A5-C1F5F965A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FF248-E201-403F-8FF4-9BE2AF717BE0}" type="datetime1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AF125-67FF-BF01-DF21-B7D0D806E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7D350D-B6C8-B695-8C14-8F128DF5D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158D2-2874-47A5-BF5F-065C8F7FE0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1818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FA58F-73B4-CDB0-9037-37DE8E8BF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05CCB7-2A51-3672-DD54-F0C187E3ED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3EDCEE-9D0D-33AE-B564-EAC4F86E46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E2FC18-B6C0-072E-7C4E-FA7EF5BF7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FD7B5-EE5D-4ECE-B4D7-2936F094B656}" type="datetime1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861E8C-DB4A-B7F0-1B43-04EDB11CE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39C063-6F89-7BCB-8626-FAA15B508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158D2-2874-47A5-BF5F-065C8F7FE0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8083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1BBC6-CB9C-2663-623F-4F4F5C482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8F902F-65AB-C26E-84D5-EAFC8AC885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DFCC84-6284-9D9B-D59A-A3CADDFA4D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7E4A7B-BE43-33C9-1CFA-0F52CDAFA8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BE5826-AD96-6347-6670-FC47DEECDA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921E5B-9A0F-E9D4-807E-491C3C4A5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62619-6812-4E21-B0F0-5ED985939519}" type="datetime1">
              <a:rPr lang="en-US" smtClean="0"/>
              <a:t>8/16/2026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C1E4F4-CB54-C7D6-6D1D-D12EC1CBE2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D365C16-95C7-B777-3A97-09261C1AF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158D2-2874-47A5-BF5F-065C8F7FE0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5392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71E37-1422-D39B-D6E3-7166B69D6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F944A7-9A7A-7905-7F4F-3E43DA77F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FAF90-277E-4511-BB9F-3896CFEF31AA}" type="datetime1">
              <a:rPr lang="en-US" smtClean="0"/>
              <a:t>8/16/2026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C34E22-E01B-C306-D88B-CE33532E9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697DC3-40A7-0649-B5B4-F6FCC3AF6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158D2-2874-47A5-BF5F-065C8F7FE0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6119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0607E7-994E-DFD2-25C9-2D36678D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95E4C-1A9E-43BA-80E2-CBFF49320C10}" type="datetime1">
              <a:rPr lang="en-US" smtClean="0"/>
              <a:t>8/16/2026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774885-5022-B4CA-0530-EF0DCF15C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771E57-7831-E38B-51E1-8D35AF085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158D2-2874-47A5-BF5F-065C8F7FE0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3270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7F410-25C9-CEED-E404-8C4EEA0788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00C7C4-3C70-E091-777F-6CCAAA1BCC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008AA5-2185-DEFD-FCCD-3EC6C02928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C8E2EF-8CFD-3434-4B0F-8DD4B2E7C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7CDE7-C5B7-4571-996B-B4FCC85F7F57}" type="datetime1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CABE49-2144-2EA7-1A2C-D07481F25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0A8FAD-FFDF-7B70-2EAF-ADA73751A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158D2-2874-47A5-BF5F-065C8F7FE0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0792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C9CAA-3A11-73E4-A7F8-F049092C9C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859C71-9D02-7664-A66D-E9A7634C05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AE59E2-124C-225F-1E99-3C3ECF82AC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394C65-ACE8-C1C5-B92D-96710203D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8ACC6-E9FD-4A96-BC0B-76636D3F54A7}" type="datetime1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B43EF7-E0C2-0092-CA70-EF31CE345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65CD50-8369-B708-1929-0B630EC1D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158D2-2874-47A5-BF5F-065C8F7FE0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421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8F51A-6FD9-624A-3195-723AD42B7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74F9D4-E216-24C5-D61F-66750C6B2D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ECEBC9-1939-5816-B44F-1AB46F191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AA556-DACF-45FF-8904-4463BD60400E}" type="datetime1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88634C-E191-9A58-4380-6266D7E572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079F28-3599-62A8-7707-C725CFC35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158D2-2874-47A5-BF5F-065C8F7FE0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789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0B5F7BA-2730-23AD-9692-0F7DDD15BF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CB5026-908F-0D79-E908-BEE735124B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5D6575-ACC9-4696-FCCD-40CE36EC0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779C8-6DF4-4A82-B807-9F0E8BA3C2ED}" type="datetime1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DA1982-02E1-F7CA-3DD0-A274731CF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F5EA70-94A8-AAF1-747A-361105951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158D2-2874-47A5-BF5F-065C8F7FE0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1831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2FB0B3-2047-4E08-BC9D-876722DF55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C9041C-518B-D70E-9A1E-4CF9D70457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FD6DD9-636C-C09E-F60A-422F58DB2A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ECD653-CF74-4DBA-915D-EA5D695CDC5B}" type="datetime1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06034E-C530-3081-40FF-1474B6FB47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73B234-10FB-EC57-B2EC-5B0A04DC3D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A158D2-2874-47A5-BF5F-065C8F7FE0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304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38/s41467-019-08987-4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.png"/><Relationship Id="rId4" Type="http://schemas.openxmlformats.org/officeDocument/2006/relationships/hyperlink" Target="https://doi.org/10.1038/d41586-023-02980-0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hristophm.github.io/interpretable-ml-book/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hristophm.github.io/interpretable-ml-book/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5" Type="http://schemas.openxmlformats.org/officeDocument/2006/relationships/hyperlink" Target="https://doi.org/10.1007/s12599-024-00922-2" TargetMode="External"/><Relationship Id="rId4" Type="http://schemas.openxmlformats.org/officeDocument/2006/relationships/hyperlink" Target="https://doi.org/10.1111/2041-210X.14061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hristophm.github.io/interpretable-ml-book/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hristophm.github.io/interpretable-ml-book/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e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38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e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38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emf"/><Relationship Id="rId3" Type="http://schemas.openxmlformats.org/officeDocument/2006/relationships/image" Target="../media/image51.png"/><Relationship Id="rId7" Type="http://schemas.openxmlformats.org/officeDocument/2006/relationships/oleObject" Target="../embeddings/oleObject1.bin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image" Target="../media/image38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.bin"/><Relationship Id="rId7" Type="http://schemas.openxmlformats.org/officeDocument/2006/relationships/image" Target="../media/image5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38.png"/><Relationship Id="rId9" Type="http://schemas.openxmlformats.org/officeDocument/2006/relationships/image" Target="../media/image22.emf"/></Relationships>
</file>

<file path=ppt/slides/_rels/slide25.xml.rels><?xml version="1.0" encoding="UTF-8" standalone="yes"?>
<Relationships xmlns="http://schemas.openxmlformats.org/package/2006/relationships"><Relationship Id="rId7" Type="http://schemas.openxmlformats.org/officeDocument/2006/relationships/image" Target="../media/image22.em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.bin"/><Relationship Id="rId5" Type="http://schemas.openxmlformats.org/officeDocument/2006/relationships/image" Target="../media/image25.png"/><Relationship Id="rId4" Type="http://schemas.openxmlformats.org/officeDocument/2006/relationships/image" Target="../media/image5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22.em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.bin"/><Relationship Id="rId5" Type="http://schemas.openxmlformats.org/officeDocument/2006/relationships/image" Target="../media/image27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hristophm.github.io/interpretable-ml-book/" TargetMode="Externa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hristophm.github.io/interpretable-ml-book/" TargetMode="Externa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7" Type="http://schemas.openxmlformats.org/officeDocument/2006/relationships/image" Target="../media/image22.emf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.bin"/><Relationship Id="rId5" Type="http://schemas.openxmlformats.org/officeDocument/2006/relationships/image" Target="../media/image34.png"/><Relationship Id="rId4" Type="http://schemas.openxmlformats.org/officeDocument/2006/relationships/image" Target="../media/image330.png"/></Relationships>
</file>

<file path=ppt/slides/_rels/slide40.xml.rels><?xml version="1.0" encoding="UTF-8" standalone="yes"?>
<Relationships xmlns="http://schemas.openxmlformats.org/package/2006/relationships"><Relationship Id="rId7" Type="http://schemas.openxmlformats.org/officeDocument/2006/relationships/image" Target="../media/image22.emf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.bin"/><Relationship Id="rId5" Type="http://schemas.openxmlformats.org/officeDocument/2006/relationships/image" Target="../media/image33.png"/><Relationship Id="rId4" Type="http://schemas.openxmlformats.org/officeDocument/2006/relationships/image" Target="../media/image330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e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38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emf"/><Relationship Id="rId3" Type="http://schemas.openxmlformats.org/officeDocument/2006/relationships/image" Target="../media/image39.png"/><Relationship Id="rId7" Type="http://schemas.openxmlformats.org/officeDocument/2006/relationships/oleObject" Target="../embeddings/oleObject1.bin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8.png"/></Relationships>
</file>

<file path=ppt/slides/_rels/slide43.xml.rels><?xml version="1.0" encoding="UTF-8" standalone="yes"?>
<Relationships xmlns="http://schemas.openxmlformats.org/package/2006/relationships"><Relationship Id="rId7" Type="http://schemas.openxmlformats.org/officeDocument/2006/relationships/image" Target="../media/image22.emf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.bin"/><Relationship Id="rId5" Type="http://schemas.openxmlformats.org/officeDocument/2006/relationships/image" Target="../media/image41.png"/><Relationship Id="rId4" Type="http://schemas.openxmlformats.org/officeDocument/2006/relationships/image" Target="../media/image38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emf"/><Relationship Id="rId7" Type="http://schemas.openxmlformats.org/officeDocument/2006/relationships/oleObject" Target="../embeddings/oleObject1.bin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38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.bin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38.png"/><Relationship Id="rId9" Type="http://schemas.openxmlformats.org/officeDocument/2006/relationships/image" Target="../media/image22.emf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.bin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38.png"/><Relationship Id="rId9" Type="http://schemas.openxmlformats.org/officeDocument/2006/relationships/image" Target="../media/image22.emf"/></Relationships>
</file>

<file path=ppt/slides/_rels/slide47.xml.rels><?xml version="1.0" encoding="UTF-8" standalone="yes"?>
<Relationships xmlns="http://schemas.openxmlformats.org/package/2006/relationships"><Relationship Id="rId7" Type="http://schemas.openxmlformats.org/officeDocument/2006/relationships/image" Target="../media/image22.emf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.bin"/><Relationship Id="rId5" Type="http://schemas.openxmlformats.org/officeDocument/2006/relationships/image" Target="../media/image33.png"/><Relationship Id="rId4" Type="http://schemas.openxmlformats.org/officeDocument/2006/relationships/image" Target="../media/image330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hyperlink" Target="https://papers.nips.cc/paper_files/paper/2018/hash/294a8ed24b1ad22ec2e7efea049b8737-Abstract.html" TargetMode="External"/><Relationship Id="rId3" Type="http://schemas.openxmlformats.org/officeDocument/2006/relationships/hyperlink" Target="https://doi.org/10.1111/rssb.12377" TargetMode="External"/><Relationship Id="rId7" Type="http://schemas.openxmlformats.org/officeDocument/2006/relationships/hyperlink" Target="https://arxiv.org/abs/1903.03894" TargetMode="External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captum.ai/docs/extension/integrated_gradients" TargetMode="External"/><Relationship Id="rId5" Type="http://schemas.openxmlformats.org/officeDocument/2006/relationships/hyperlink" Target="https://interpret.ml/docs/ebm.html" TargetMode="External"/><Relationship Id="rId10" Type="http://schemas.openxmlformats.org/officeDocument/2006/relationships/hyperlink" Target="https://quantus.readthedocs.io/" TargetMode="External"/><Relationship Id="rId4" Type="http://schemas.openxmlformats.org/officeDocument/2006/relationships/hyperlink" Target="https://interpret.ml/DiCE/" TargetMode="External"/><Relationship Id="rId9" Type="http://schemas.openxmlformats.org/officeDocument/2006/relationships/hyperlink" Target="https://doi.org/10.1038/s42256-019-0048-x" TargetMode="Externa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0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0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876F91EF-8152-455A-6D22-B83ACEFAB5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662836"/>
            <a:ext cx="12192000" cy="8183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CE6D687-082A-D3EF-6023-138E60AC7D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>
            <a:normAutofit fontScale="90000"/>
          </a:bodyPr>
          <a:lstStyle/>
          <a:p>
            <a:r>
              <a:rPr lang="en-US" dirty="0"/>
              <a:t>Model interpretability for chemical machine learning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387931-BEB4-23D4-2FBD-D498AC10D9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r>
              <a:rPr lang="en-US" dirty="0"/>
              <a:t>Michael Yusov</a:t>
            </a:r>
          </a:p>
        </p:txBody>
      </p:sp>
    </p:spTree>
    <p:extLst>
      <p:ext uri="{BB962C8B-B14F-4D97-AF65-F5344CB8AC3E}">
        <p14:creationId xmlns:p14="http://schemas.microsoft.com/office/powerpoint/2010/main" val="4450754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12E93-D01D-5BD4-629D-D0471C3F9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/>
              <a:t>Clever </a:t>
            </a:r>
            <a:r>
              <a:rPr lang="en-US" dirty="0"/>
              <a:t>Hans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F939CB-F9C1-F981-5BF2-37CB7CB00274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algn="r"/>
            <a:r>
              <a:rPr lang="en-US" dirty="0"/>
              <a:t>“In the field of artificial intelligence, </a:t>
            </a:r>
            <a:r>
              <a:rPr lang="en-US" b="1" dirty="0">
                <a:solidFill>
                  <a:schemeClr val="accent1"/>
                </a:solidFill>
              </a:rPr>
              <a:t>the Clever Hans effect</a:t>
            </a:r>
            <a:r>
              <a:rPr lang="en-US" dirty="0"/>
              <a:t> describes a phenomenon where an algorithm seems to make correct predictions without having the relevant data and/or by using incorrect reasoning.” —Wikipedia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A91A61A1-2940-8675-CCF3-0148238FC555}"/>
              </a:ext>
            </a:extLst>
          </p:cNvPr>
          <p:cNvPicPr>
            <a:picLocks noGrp="1" noChangeAspect="1" noChangeArrowheads="1"/>
          </p:cNvPicPr>
          <p:nvPr>
            <p:ph type="pic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17" r="12117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20F25CB-8851-6D3A-ED09-7834BD9D9A0E}"/>
              </a:ext>
            </a:extLst>
          </p:cNvPr>
          <p:cNvSpPr txBox="1"/>
          <p:nvPr/>
        </p:nvSpPr>
        <p:spPr>
          <a:xfrm>
            <a:off x="0" y="6581001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https://en.wikipedia.org/wiki/Clever_Hans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C160712-D3B6-CF67-C91D-19308DF80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158D2-2874-47A5-BF5F-065C8F7FE08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503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D5F4E-900D-CD9E-5989-A7B1AB2A6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pPr algn="ctr"/>
            <a:r>
              <a:rPr lang="en-US" dirty="0"/>
              <a:t>The Clever Hans effect in AI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57E9A73-F56D-3AAC-3418-4D2B7BC776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581001"/>
            <a:ext cx="12192000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Lapuschkin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S. 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et al.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Unmasking Clever Hans predictors and assessing what machines really learn. 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Nat. Commun.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10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1096 (2019).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linkClick r:id="rId3"/>
              </a:rPr>
              <a:t>https://doi.org/10.1038/s41467-019-08987-4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BEB8E3A-EBC3-54A8-CA21-AF247B5146D9}"/>
              </a:ext>
            </a:extLst>
          </p:cNvPr>
          <p:cNvGrpSpPr/>
          <p:nvPr/>
        </p:nvGrpSpPr>
        <p:grpSpPr>
          <a:xfrm>
            <a:off x="838200" y="2245310"/>
            <a:ext cx="10515600" cy="3781069"/>
            <a:chOff x="838200" y="2060028"/>
            <a:chExt cx="10515600" cy="3781069"/>
          </a:xfrm>
        </p:grpSpPr>
        <p:pic>
          <p:nvPicPr>
            <p:cNvPr id="3074" name="Picture 2" descr="Fig. 2">
              <a:extLst>
                <a:ext uri="{FF2B5EF4-FFF2-40B4-BE49-F238E27FC236}">
                  <a16:creationId xmlns:a16="http://schemas.microsoft.com/office/drawing/2014/main" id="{8A32B67A-16C7-EBD7-9A14-3C8B2D4B4AC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47" b="54636"/>
            <a:stretch>
              <a:fillRect/>
            </a:stretch>
          </p:blipFill>
          <p:spPr bwMode="auto">
            <a:xfrm>
              <a:off x="838200" y="2165131"/>
              <a:ext cx="10515600" cy="367596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3C328D5-7288-B112-8F4F-09452CB947F5}"/>
                </a:ext>
              </a:extLst>
            </p:cNvPr>
            <p:cNvSpPr/>
            <p:nvPr/>
          </p:nvSpPr>
          <p:spPr>
            <a:xfrm>
              <a:off x="838200" y="2060028"/>
              <a:ext cx="286407" cy="3258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0B50A7E-293F-A29A-1003-015E1A4D5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158D2-2874-47A5-BF5F-065C8F7FE08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9703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30617-E8F7-A054-B27B-88288B9B0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pPr algn="ctr"/>
            <a:r>
              <a:rPr lang="en-US" dirty="0"/>
              <a:t>What is model interpretability?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672F85-DAA6-77A4-2960-5AC232C9BB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</a:rPr>
              <a:t>Definition: </a:t>
            </a:r>
            <a:r>
              <a:rPr lang="en-US" b="1" dirty="0"/>
              <a:t>Model interpretability is the extent to which a human can understand how a machine learning model uses input features to produce predictions, including why a particular prediction was made and what relationships the model has learned.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dirty="0"/>
              <a:t>In this lecture, we use “interpretability” and “explainability” interchangeably.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0560BE-6FC0-4203-FE7B-5199BF9B4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158D2-2874-47A5-BF5F-065C8F7FE08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094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10412-2171-8829-088B-D54DA4F38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Why study model interpretability for chemical machine learning?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FE08DB-60E8-DD30-FC51-BDEC17E1562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anchor="ctr"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We study interpretability to:</a:t>
            </a:r>
          </a:p>
          <a:p>
            <a:pPr marL="514350" indent="-514350">
              <a:buAutoNum type="arabicPeriod"/>
            </a:pPr>
            <a:r>
              <a:rPr lang="en-US" dirty="0"/>
              <a:t>avoid blindly trusting predictive performance and check whether the model learned meaningful features,</a:t>
            </a:r>
          </a:p>
          <a:p>
            <a:pPr marL="514350" indent="-514350">
              <a:buAutoNum type="arabicPeriod"/>
            </a:pPr>
            <a:r>
              <a:rPr lang="en-US" dirty="0"/>
              <a:t>generate scientific insight and make predictions actionable,</a:t>
            </a:r>
          </a:p>
          <a:p>
            <a:pPr marL="514350" indent="-514350">
              <a:buAutoNum type="arabicPeriod"/>
            </a:pPr>
            <a:r>
              <a:rPr lang="en-US" dirty="0"/>
              <a:t>build trust with collaborators or debug models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953695-21B8-26E8-7CB3-35F405B028B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anchor="ctr">
            <a:normAutofit fontScale="92500"/>
          </a:bodyPr>
          <a:lstStyle/>
          <a:p>
            <a:pPr marL="0" indent="0">
              <a:buNone/>
            </a:pPr>
            <a:r>
              <a:rPr lang="en-US" b="1" dirty="0"/>
              <a:t>The goal of science is to gain knowledge</a:t>
            </a:r>
            <a:r>
              <a:rPr lang="en-US" dirty="0"/>
              <a:t>; knowing why a model made certain predictions can help us learn more about the chemistry we are studying.</a:t>
            </a:r>
          </a:p>
          <a:p>
            <a:pPr marL="0" indent="0">
              <a:buNone/>
            </a:pPr>
            <a:r>
              <a:rPr lang="en-US" dirty="0"/>
              <a:t>Interpretable machine learning allows the model itself to become the source of knowledge instead of the data.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C711FA-D024-52B7-2E29-EC8936203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158D2-2874-47A5-BF5F-065C8F7FE08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854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B8F02-BCEC-5894-BC18-46EA175BF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pPr algn="ctr"/>
            <a:r>
              <a:rPr lang="en-US" dirty="0"/>
              <a:t>“AI and science: what 1,600 researchers think” (September 2023)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046208C-1D59-1400-783C-7C1F56B812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1355" y="1959572"/>
            <a:ext cx="3845754" cy="4352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7A42101-27CA-FBAF-A6D7-9DAA1B8BC7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581001"/>
            <a:ext cx="12192000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Van Noorden, R. &amp; Perkel, J. M. AI and science: what 1,600 researchers think. 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Nature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621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672–675 (2023).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linkClick r:id="rId4"/>
              </a:rPr>
              <a:t>https://doi.org/10.1038/d41586-023-02980-0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066C35CD-447F-8922-CB11-B9DBD97C289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7669"/>
          <a:stretch>
            <a:fillRect/>
          </a:stretch>
        </p:blipFill>
        <p:spPr bwMode="auto">
          <a:xfrm>
            <a:off x="6545715" y="1959572"/>
            <a:ext cx="4597069" cy="536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6" name="Picture 2">
            <a:extLst>
              <a:ext uri="{FF2B5EF4-FFF2-40B4-BE49-F238E27FC236}">
                <a16:creationId xmlns:a16="http://schemas.microsoft.com/office/drawing/2014/main" id="{1A325184-A626-E94E-2F19-662F6C20E0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5716" y="1959572"/>
            <a:ext cx="4597069" cy="4352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2B3C94-AF1D-148A-AC36-4F8DBF41F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158D2-2874-47A5-BF5F-065C8F7FE08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455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35D81-C19A-F67C-CCD4-D8734F2B0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Taxonomy of interpretability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E6DA79-7BFF-4EE2-E7ED-79E9D28C4B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CCFE04C5-3DE8-2931-681A-519A5B282A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8728" y="1825624"/>
            <a:ext cx="6085831" cy="4351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15D57FD-E679-2EE2-49F1-8746A4E7F4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581001"/>
            <a:ext cx="12192000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dirty="0"/>
              <a:t>Molnar, C. </a:t>
            </a:r>
            <a:r>
              <a:rPr lang="en-US" sz="1200" i="1" dirty="0"/>
              <a:t>Interpretable Machine Learning: A Guide for Making Black Box Models Explainable</a:t>
            </a:r>
            <a:r>
              <a:rPr lang="en-US" sz="1200" dirty="0"/>
              <a:t> 3rd </a:t>
            </a:r>
            <a:r>
              <a:rPr lang="en-US" sz="1200" dirty="0" err="1"/>
              <a:t>edn</a:t>
            </a:r>
            <a:r>
              <a:rPr lang="en-US" sz="1200" dirty="0"/>
              <a:t>. (2025). </a:t>
            </a:r>
            <a:r>
              <a:rPr lang="en-US" sz="1200" dirty="0">
                <a:hlinkClick r:id="rId4"/>
              </a:rPr>
              <a:t>https://christophm.github.io/interpretable-ml-book/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ECDD19-6C41-4989-41A9-5AFD88453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158D2-2874-47A5-BF5F-065C8F7FE081}" type="slidenum">
              <a:rPr lang="en-US" smtClean="0"/>
              <a:t>7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37C5C5-5967-CC94-2F96-5AE2CB3C3C85}"/>
              </a:ext>
            </a:extLst>
          </p:cNvPr>
          <p:cNvSpPr txBox="1"/>
          <p:nvPr/>
        </p:nvSpPr>
        <p:spPr>
          <a:xfrm>
            <a:off x="2405848" y="3100071"/>
            <a:ext cx="19797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the model itself is understandable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D75081-BC5D-0718-C31A-ACCC1B632998}"/>
              </a:ext>
            </a:extLst>
          </p:cNvPr>
          <p:cNvSpPr txBox="1"/>
          <p:nvPr/>
        </p:nvSpPr>
        <p:spPr>
          <a:xfrm>
            <a:off x="7806431" y="3100071"/>
            <a:ext cx="27136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first train a model and then analyze it afterward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1A49242-A93E-9E88-E46B-5E68D9063B33}"/>
              </a:ext>
            </a:extLst>
          </p:cNvPr>
          <p:cNvSpPr txBox="1"/>
          <p:nvPr/>
        </p:nvSpPr>
        <p:spPr>
          <a:xfrm>
            <a:off x="7308635" y="5454789"/>
            <a:ext cx="22924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asks what the model learned overall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F622B25-A2C2-5D4E-6882-F7F9B442B713}"/>
              </a:ext>
            </a:extLst>
          </p:cNvPr>
          <p:cNvSpPr txBox="1"/>
          <p:nvPr/>
        </p:nvSpPr>
        <p:spPr>
          <a:xfrm>
            <a:off x="2122644" y="5454789"/>
            <a:ext cx="236058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asks why one prediction was made</a:t>
            </a:r>
          </a:p>
        </p:txBody>
      </p:sp>
    </p:spTree>
    <p:extLst>
      <p:ext uri="{BB962C8B-B14F-4D97-AF65-F5344CB8AC3E}">
        <p14:creationId xmlns:p14="http://schemas.microsoft.com/office/powerpoint/2010/main" val="17265726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448772-2FB8-C671-5DE9-4072A1E6B5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1273E-6B46-DCC0-4ECF-CC71C1A19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Interpretability by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6B1B53-58EE-D406-F60D-424B82961D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D358F194-8386-3541-512E-91B0552AF4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8728" y="1825624"/>
            <a:ext cx="6085831" cy="4351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BCF956E-35E9-C948-0D74-F297489DF3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581001"/>
            <a:ext cx="12192000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dirty="0"/>
              <a:t>Molnar, C. </a:t>
            </a:r>
            <a:r>
              <a:rPr lang="en-US" sz="1200" i="1" dirty="0"/>
              <a:t>Interpretable Machine Learning: A Guide for Making Black Box Models Explainable</a:t>
            </a:r>
            <a:r>
              <a:rPr lang="en-US" sz="1200" dirty="0"/>
              <a:t> 3rd </a:t>
            </a:r>
            <a:r>
              <a:rPr lang="en-US" sz="1200" dirty="0" err="1"/>
              <a:t>edn</a:t>
            </a:r>
            <a:r>
              <a:rPr lang="en-US" sz="1200" dirty="0"/>
              <a:t>. (2025). </a:t>
            </a:r>
            <a:r>
              <a:rPr lang="en-US" sz="1200" dirty="0">
                <a:hlinkClick r:id="rId4"/>
              </a:rPr>
              <a:t>https://christophm.github.io/interpretable-ml-book/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E37B49A-0FA9-6C3B-CC1E-2D5046906DB0}"/>
              </a:ext>
            </a:extLst>
          </p:cNvPr>
          <p:cNvSpPr/>
          <p:nvPr/>
        </p:nvSpPr>
        <p:spPr>
          <a:xfrm>
            <a:off x="6124911" y="2547169"/>
            <a:ext cx="2165684" cy="1190173"/>
          </a:xfrm>
          <a:prstGeom prst="rect">
            <a:avLst/>
          </a:prstGeom>
          <a:solidFill>
            <a:srgbClr val="FFFFFF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26C591B-9B63-F2DF-4E90-7D95280653E3}"/>
              </a:ext>
            </a:extLst>
          </p:cNvPr>
          <p:cNvSpPr/>
          <p:nvPr/>
        </p:nvSpPr>
        <p:spPr>
          <a:xfrm>
            <a:off x="4279605" y="3737344"/>
            <a:ext cx="5055781" cy="2349796"/>
          </a:xfrm>
          <a:prstGeom prst="rect">
            <a:avLst/>
          </a:prstGeom>
          <a:solidFill>
            <a:srgbClr val="FFFFFF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0422FB-99B0-5A17-310F-811CAF976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158D2-2874-47A5-BF5F-065C8F7FE08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580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01E8A-721E-FF46-76BD-76C2D92F3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 common misconception: the performance-interpretability trade-off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00AE16-AF58-8491-A17E-DD8CB013E4B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91E563-B533-2283-C4C7-F030C1460FF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8" name="Picture 4" descr="Details are in the caption following the image">
            <a:extLst>
              <a:ext uri="{FF2B5EF4-FFF2-40B4-BE49-F238E27FC236}">
                <a16:creationId xmlns:a16="http://schemas.microsoft.com/office/drawing/2014/main" id="{C6056B09-EB38-BE57-C81E-888FAA95F8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169564"/>
            <a:ext cx="5181600" cy="3440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C07EE52-10E6-57BF-ADA9-F0538DD2CC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198" y="6027003"/>
            <a:ext cx="10515601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Pichler, M. &amp; Hartig, F. Machine learning and deep learning—A review for ecologists. Methods Ecol. Evol. 14, 994–1016 (2023).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linkClick r:id="rId4"/>
              </a:rPr>
              <a:t>https://doi.org/10.1111/2041-210X.14061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dirty="0"/>
              <a:t>Kruschel, S. </a:t>
            </a:r>
            <a:r>
              <a:rPr lang="en-US" altLang="en-US" sz="1200" i="1" dirty="0"/>
              <a:t>et al.</a:t>
            </a:r>
            <a:r>
              <a:rPr lang="en-US" sz="1200" dirty="0"/>
              <a:t> Challenging the performance-interpretability trade-off: An evaluation of interpretable machine learning models. </a:t>
            </a:r>
            <a:r>
              <a:rPr lang="en-US" sz="1200" i="1" dirty="0"/>
              <a:t>Bus. Inf. Syst. Eng.</a:t>
            </a:r>
            <a:r>
              <a:rPr lang="en-US" sz="1200" dirty="0"/>
              <a:t> </a:t>
            </a:r>
            <a:r>
              <a:rPr lang="en-US" sz="1200" b="1" dirty="0"/>
              <a:t>68</a:t>
            </a:r>
            <a:r>
              <a:rPr lang="en-US" sz="1200" dirty="0"/>
              <a:t>, 159–183 (2026). </a:t>
            </a:r>
            <a:r>
              <a:rPr lang="en-US" sz="1200" dirty="0">
                <a:hlinkClick r:id="rId5"/>
              </a:rPr>
              <a:t>https://doi.org/10.1007/s12599-024-00922-2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pic>
        <p:nvPicPr>
          <p:cNvPr id="2053" name="Picture 5" descr="Fig. 5">
            <a:extLst>
              <a:ext uri="{FF2B5EF4-FFF2-40B4-BE49-F238E27FC236}">
                <a16:creationId xmlns:a16="http://schemas.microsoft.com/office/drawing/2014/main" id="{52610C99-6605-E7C3-7622-FE638B49B6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1" y="1825625"/>
            <a:ext cx="5181600" cy="4128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A4D67A-36B3-143A-C132-AA066493A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158D2-2874-47A5-BF5F-065C8F7FE08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994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88591-65FF-AD7C-7DD0-BD9EF639A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Interpretability by design</a:t>
            </a:r>
            <a:r>
              <a:rPr lang="en-US" dirty="0"/>
              <a:t>: linear model coefficients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C5EC6-2DB6-175D-BD39-379C0096F2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DFFD76-D029-4D80-B3BE-B09033820F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852821"/>
            <a:ext cx="10515600" cy="429694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DA46D13-8C68-7253-E5E1-E3249D41F33C}"/>
                  </a:ext>
                </a:extLst>
              </p:cNvPr>
              <p:cNvSpPr txBox="1"/>
              <p:nvPr/>
            </p:nvSpPr>
            <p:spPr>
              <a:xfrm>
                <a:off x="2991296" y="3287298"/>
                <a:ext cx="2948762" cy="2043508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r>
                  <a:rPr lang="en-US" dirty="0"/>
                  <a:t>Input: interpretable descriptors of small organic molecules</a:t>
                </a:r>
              </a:p>
              <a:p>
                <a:endParaRPr lang="en-US" dirty="0"/>
              </a:p>
              <a:p>
                <a:r>
                  <a:rPr lang="en-US" dirty="0"/>
                  <a:t>Model: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1">
                            <a:latin typeface="Cambria Math" panose="02040503050406030204" pitchFamily="18" charset="0"/>
                          </a:rPr>
                          <m:t>𝐰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b="1">
                        <a:latin typeface="Cambria Math" panose="02040503050406030204" pitchFamily="18" charset="0"/>
                      </a:rPr>
                      <m:t>𝐰𝐱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US" i="1" dirty="0"/>
              </a:p>
              <a:p>
                <a:endParaRPr lang="en-US" dirty="0"/>
              </a:p>
              <a:p>
                <a:r>
                  <a:rPr lang="en-US" dirty="0"/>
                  <a:t>Output: aqueous solubility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DA46D13-8C68-7253-E5E1-E3249D41F3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1296" y="3287298"/>
                <a:ext cx="2948762" cy="2043508"/>
              </a:xfrm>
              <a:prstGeom prst="rect">
                <a:avLst/>
              </a:prstGeom>
              <a:blipFill>
                <a:blip r:embed="rId4"/>
                <a:stretch>
                  <a:fillRect l="-1863" t="-896" b="-47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69313F6-90CC-6C2C-DC9E-657A0541C747}"/>
                  </a:ext>
                </a:extLst>
              </p:cNvPr>
              <p:cNvSpPr txBox="1"/>
              <p:nvPr/>
            </p:nvSpPr>
            <p:spPr>
              <a:xfrm>
                <a:off x="7804298" y="4952914"/>
                <a:ext cx="3055088" cy="374270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=0.71</m:t>
                      </m:r>
                    </m:oMath>
                  </m:oMathPara>
                </a14:m>
                <a:endParaRPr lang="en-US" i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69313F6-90CC-6C2C-DC9E-657A0541C7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4298" y="4952914"/>
                <a:ext cx="3055088" cy="37427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23247459-E7DE-C9EC-23AB-B364C50C97D3}"/>
              </a:ext>
            </a:extLst>
          </p:cNvPr>
          <p:cNvSpPr txBox="1"/>
          <p:nvPr/>
        </p:nvSpPr>
        <p:spPr>
          <a:xfrm>
            <a:off x="838200" y="6176962"/>
            <a:ext cx="105155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We will use the Delaney/ESOL aqueous solubility dataset for this lecture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CD5F79-009C-1D0E-0DA2-CCBF55B2E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158D2-2874-47A5-BF5F-065C8F7FE08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1215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174E8B-0693-E7B8-3691-2F19F9AD7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9276D52-6D0A-AA98-1E26-108449A8C4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852821"/>
            <a:ext cx="10515600" cy="429694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99C0745-6AFB-3035-EF88-AF4F14906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Interpretability by design</a:t>
            </a:r>
            <a:r>
              <a:rPr lang="en-US" dirty="0"/>
              <a:t>: decision trees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1AB711-BBEB-0B8E-617D-3DCE40555397}"/>
              </a:ext>
            </a:extLst>
          </p:cNvPr>
          <p:cNvSpPr txBox="1"/>
          <p:nvPr/>
        </p:nvSpPr>
        <p:spPr>
          <a:xfrm>
            <a:off x="838200" y="2244684"/>
            <a:ext cx="422998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dirty="0"/>
              <a:t>Model: decision tree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3FC0F49-475B-84D9-14FA-A2760FD8EFC6}"/>
                  </a:ext>
                </a:extLst>
              </p:cNvPr>
              <p:cNvSpPr txBox="1"/>
              <p:nvPr/>
            </p:nvSpPr>
            <p:spPr>
              <a:xfrm>
                <a:off x="7123814" y="2244684"/>
                <a:ext cx="4229985" cy="37555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=0.69</m:t>
                      </m:r>
                    </m:oMath>
                  </m:oMathPara>
                </a14:m>
                <a:endParaRPr lang="en-US" b="0" i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3FC0F49-475B-84D9-14FA-A2760FD8EF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3814" y="2244684"/>
                <a:ext cx="4229985" cy="37555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BA957E5-6AE0-DDF8-D10C-CA3A1DD4A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158D2-2874-47A5-BF5F-065C8F7FE08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4087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4D5C8-6F15-92B8-8558-3BAE285F0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Interpretability by design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782169-496C-DC04-3985-A86F88BAF3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dirty="0"/>
              <a:t>Strengths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B35F35-8576-D3D2-C3EC-FDF4F87509C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Provides directly inspectable models </a:t>
            </a:r>
            <a:r>
              <a:rPr lang="en-US" dirty="0"/>
              <a:t>whose structure is understandable from the start</a:t>
            </a:r>
          </a:p>
          <a:p>
            <a:r>
              <a:rPr lang="en-US" b="1" dirty="0"/>
              <a:t>Helps reveal</a:t>
            </a:r>
            <a:r>
              <a:rPr lang="en-US" dirty="0"/>
              <a:t> simple trends, signs, rules, or constraints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0B9483-96B5-3B67-604F-D8AFF11D86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US" dirty="0"/>
              <a:t>Limitations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50E1C2-D157-4599-4585-AB6C31F68767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Does not guarantee high predictive accuracy</a:t>
            </a:r>
            <a:r>
              <a:rPr lang="en-US" dirty="0"/>
              <a:t> if the true relationship is highly nonlinear or interaction-rich</a:t>
            </a:r>
          </a:p>
          <a:p>
            <a:r>
              <a:rPr lang="en-US" b="1" dirty="0"/>
              <a:t>Can mislead when</a:t>
            </a:r>
            <a:r>
              <a:rPr lang="en-US" dirty="0"/>
              <a:t> simple coefficients or rules are treated as mechanistic truth</a:t>
            </a:r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DCF532-A250-56B8-6C73-D173F9212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158D2-2874-47A5-BF5F-065C8F7FE08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6098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2B75B3-A0C7-5A53-52A1-DEC81830C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9C219-FAE4-5660-A317-21CC4D232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Model-specific post-hoc interpretability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3C5DB4-2FF3-59EB-351F-7CD6907241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4FE20E15-22E0-D8C2-BA12-8E22527F4E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8728" y="1825624"/>
            <a:ext cx="6085831" cy="4351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F9F652F-4A99-CA45-7899-A9C3B78E28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581001"/>
            <a:ext cx="12192000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dirty="0"/>
              <a:t>Molnar, C. </a:t>
            </a:r>
            <a:r>
              <a:rPr lang="en-US" sz="1200" i="1" dirty="0"/>
              <a:t>Interpretable Machine Learning: A Guide for Making Black Box Models Explainable</a:t>
            </a:r>
            <a:r>
              <a:rPr lang="en-US" sz="1200" dirty="0"/>
              <a:t> 3rd </a:t>
            </a:r>
            <a:r>
              <a:rPr lang="en-US" sz="1200" dirty="0" err="1"/>
              <a:t>edn</a:t>
            </a:r>
            <a:r>
              <a:rPr lang="en-US" sz="1200" dirty="0"/>
              <a:t>. (2025). </a:t>
            </a:r>
            <a:r>
              <a:rPr lang="en-US" sz="1200" dirty="0">
                <a:hlinkClick r:id="rId4"/>
              </a:rPr>
              <a:t>https://christophm.github.io/interpretable-ml-book/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D8F8BED-9E86-FC82-D33C-B754DB47068C}"/>
              </a:ext>
            </a:extLst>
          </p:cNvPr>
          <p:cNvSpPr/>
          <p:nvPr/>
        </p:nvSpPr>
        <p:spPr>
          <a:xfrm>
            <a:off x="3930316" y="2547169"/>
            <a:ext cx="2165684" cy="1190173"/>
          </a:xfrm>
          <a:prstGeom prst="rect">
            <a:avLst/>
          </a:prstGeom>
          <a:solidFill>
            <a:srgbClr val="FFFFFF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0482275-A121-96BB-E05F-0D68A2B9D54E}"/>
              </a:ext>
            </a:extLst>
          </p:cNvPr>
          <p:cNvSpPr/>
          <p:nvPr/>
        </p:nvSpPr>
        <p:spPr>
          <a:xfrm>
            <a:off x="4279605" y="3722873"/>
            <a:ext cx="3078125" cy="2391453"/>
          </a:xfrm>
          <a:prstGeom prst="rect">
            <a:avLst/>
          </a:prstGeom>
          <a:solidFill>
            <a:srgbClr val="FFFFFF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44104C-1C7A-E2EC-61DD-00BB439BF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158D2-2874-47A5-BF5F-065C8F7FE08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7813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75DB4-283A-4794-D569-F8384C6C5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b="1" dirty="0"/>
              <a:t>Model-specific post-hoc interpretability</a:t>
            </a:r>
            <a:r>
              <a:rPr lang="en-US" sz="3200" dirty="0"/>
              <a:t>: mean decrease in impurity (MDI) for random forests and gradient boosted trees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9DA1F80-BBBB-6A6D-4FBB-4F596127466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>
                    <a:solidFill>
                      <a:schemeClr val="accent1"/>
                    </a:solidFill>
                  </a:rPr>
                  <a:t>Definition: </a:t>
                </a:r>
                <a:r>
                  <a:rPr lang="en-US" b="1" dirty="0"/>
                  <a:t>The impurity of a node following the squared-error criterion is the variance of the target values in that node.</a:t>
                </a: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b="0" i="1" dirty="0"/>
              </a:p>
              <a:p>
                <a:pPr marL="0" indent="0">
                  <a:buNone/>
                </a:pPr>
                <a:r>
                  <a:rPr lang="en-US" dirty="0"/>
                  <a:t>where: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:</a:t>
                </a:r>
                <a:r>
                  <a:rPr lang="en-US" i="1" dirty="0"/>
                  <a:t> </a:t>
                </a:r>
                <a:r>
                  <a:rPr lang="en-US" dirty="0"/>
                  <a:t>impurity/within-node variance of node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: number of training samples in node</a:t>
                </a:r>
                <a:r>
                  <a:rPr lang="en-US" i="1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i="1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: measured target value of sample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i="1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: average target value of samples in node</a:t>
                </a:r>
                <a:r>
                  <a:rPr lang="en-US" i="1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i="1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9DA1F80-BBBB-6A6D-4FBB-4F596127466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17" t="-2241" r="-1159" b="-37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199D8A-F0DF-944C-41CE-FACA3E35E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158D2-2874-47A5-BF5F-065C8F7FE08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674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68032-5BE9-3EEE-2A1D-89012026D0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010F0-CF6A-0CB4-A2C5-69F93B75E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b="1" dirty="0"/>
              <a:t>Model-specific post-hoc interpretability</a:t>
            </a:r>
            <a:r>
              <a:rPr lang="en-US" sz="3200" dirty="0"/>
              <a:t>: mean decrease in impurity (MDI) for random forests and gradient boosted trees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6171B35-D1B9-BDCD-E3CD-E77DD75A182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)−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𝐿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)−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𝑅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US" b="0" i="1" dirty="0"/>
              </a:p>
              <a:p>
                <a:pPr marL="0" indent="0">
                  <a:buNone/>
                </a:pPr>
                <a:r>
                  <a:rPr lang="en-US" dirty="0"/>
                  <a:t>where: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: total number of training samples in the tree</a:t>
                </a:r>
                <a:endParaRPr lang="en-US" i="1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dirty="0"/>
                  <a:t>: number of samples in the left and right children</a:t>
                </a:r>
                <a:endParaRPr lang="en-US" i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6171B35-D1B9-BDCD-E3CD-E77DD75A182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DBD58997-BC21-5C61-A86B-78DCA9FB8580}"/>
                  </a:ext>
                </a:extLst>
              </p:cNvPr>
              <p:cNvSpPr/>
              <p:nvPr/>
            </p:nvSpPr>
            <p:spPr>
              <a:xfrm>
                <a:off x="5638800" y="4350488"/>
                <a:ext cx="914400" cy="91440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Parent node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DBD58997-BC21-5C61-A86B-78DCA9FB85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8800" y="4350488"/>
                <a:ext cx="914400" cy="914400"/>
              </a:xfrm>
              <a:prstGeom prst="rect">
                <a:avLst/>
              </a:prstGeom>
              <a:blipFill>
                <a:blip r:embed="rId4"/>
                <a:stretch>
                  <a:fillRect l="-1961" r="-65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D2B59896-D581-9C3F-B849-14D2D7CF171B}"/>
                  </a:ext>
                </a:extLst>
              </p:cNvPr>
              <p:cNvSpPr/>
              <p:nvPr/>
            </p:nvSpPr>
            <p:spPr>
              <a:xfrm>
                <a:off x="4263659" y="5719763"/>
                <a:ext cx="914400" cy="91440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Left child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endParaRPr lang="en-US" i="1" dirty="0"/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D2B59896-D581-9C3F-B849-14D2D7CF171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3659" y="5719763"/>
                <a:ext cx="914400" cy="914400"/>
              </a:xfrm>
              <a:prstGeom prst="rect">
                <a:avLst/>
              </a:prstGeom>
              <a:blipFill>
                <a:blip r:embed="rId5"/>
                <a:stretch>
                  <a:fillRect l="-26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343E0275-07D5-2301-53AC-A009372FDFBC}"/>
                  </a:ext>
                </a:extLst>
              </p:cNvPr>
              <p:cNvSpPr/>
              <p:nvPr/>
            </p:nvSpPr>
            <p:spPr>
              <a:xfrm>
                <a:off x="7013942" y="5719763"/>
                <a:ext cx="914400" cy="91440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Right child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endParaRPr lang="en-US" i="1" dirty="0"/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343E0275-07D5-2301-53AC-A009372FDFB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3942" y="5719763"/>
                <a:ext cx="914400" cy="914400"/>
              </a:xfrm>
              <a:prstGeom prst="rect">
                <a:avLst/>
              </a:prstGeom>
              <a:blipFill>
                <a:blip r:embed="rId6"/>
                <a:stretch>
                  <a:fillRect l="-45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5B1BD08-3B9F-3258-9519-BC6038289C0E}"/>
              </a:ext>
            </a:extLst>
          </p:cNvPr>
          <p:cNvCxnSpPr>
            <a:stCxn id="7" idx="2"/>
            <a:endCxn id="9" idx="0"/>
          </p:cNvCxnSpPr>
          <p:nvPr/>
        </p:nvCxnSpPr>
        <p:spPr>
          <a:xfrm flipH="1">
            <a:off x="4720859" y="5264888"/>
            <a:ext cx="1375141" cy="4548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3966735-204D-DC42-C5B3-1947759BAB36}"/>
              </a:ext>
            </a:extLst>
          </p:cNvPr>
          <p:cNvCxnSpPr>
            <a:stCxn id="7" idx="2"/>
            <a:endCxn id="11" idx="0"/>
          </p:cNvCxnSpPr>
          <p:nvPr/>
        </p:nvCxnSpPr>
        <p:spPr>
          <a:xfrm>
            <a:off x="6096000" y="5264888"/>
            <a:ext cx="1375142" cy="4548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4D230E74-F1B2-5872-0C4A-2BCC4E41EBCF}"/>
              </a:ext>
            </a:extLst>
          </p:cNvPr>
          <p:cNvSpPr txBox="1"/>
          <p:nvPr/>
        </p:nvSpPr>
        <p:spPr>
          <a:xfrm>
            <a:off x="5586886" y="5307659"/>
            <a:ext cx="10182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Split</a:t>
            </a:r>
          </a:p>
          <a:p>
            <a:pPr algn="ctr"/>
            <a:r>
              <a:rPr lang="en-US" dirty="0"/>
              <a:t>criterion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C058FA-1A03-63D5-ED0F-B10D47A26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158D2-2874-47A5-BF5F-065C8F7FE08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0045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23378-150A-C824-4684-3284BF2F1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b="1" dirty="0"/>
              <a:t>Model-specific post-hoc interpretability</a:t>
            </a:r>
            <a:r>
              <a:rPr lang="en-US" sz="3200" dirty="0"/>
              <a:t>: mean decrease in impurity (MDI) for random forests and gradient boosted trees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6D655C6-FBB7-F181-EC81-D5F7CD27D77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For one tree, the importance of feature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i="1" dirty="0"/>
                  <a:t> </a:t>
                </a:r>
                <a:r>
                  <a:rPr lang="en-US" dirty="0"/>
                  <a:t>is: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importance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p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:</m:t>
                              </m:r>
                              <m:r>
                                <m:rPr>
                                  <m:sty m:val="p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split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feature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)=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/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𝐼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limLoc m:val="subSup"/>
                              <m:supHide m:val="on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9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/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: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split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feature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)=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  <m:sup/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∆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𝐼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nary>
                            </m:e>
                          </m:nary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For random forests and gradient boosted tree models: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RF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GB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importance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importance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where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importance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</m:oMath>
                </a14:m>
                <a:r>
                  <a:rPr lang="en-US" dirty="0"/>
                  <a:t> is the importance of feature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/>
                  <a:t> in tree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6D655C6-FBB7-F181-EC81-D5F7CD27D7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0AB145-3B88-1385-6F3A-EE33B3BCA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158D2-2874-47A5-BF5F-065C8F7FE081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063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4DCF68-D557-76DE-1BB9-8F455ADF1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897A3-3955-EF7A-9618-A6B131D9E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b="1" dirty="0"/>
              <a:t>Model-specific post-hoc interpretability</a:t>
            </a:r>
            <a:r>
              <a:rPr lang="en-US" sz="3200" dirty="0"/>
              <a:t>: mean decrease in impurity (MDI) for random forests and gradient boosted trees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EBDF65-5576-14EF-8303-EF3FB20C71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dirty="0"/>
              <a:t>Random forest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0D56FB-F02B-EB02-37ED-6435EBFC604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CA8715-ACD1-1D4E-6A46-984F84B79D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US" dirty="0"/>
              <a:t>Gradient boosted tree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6BD308-756D-1E57-ACEA-96B7C852EC3C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2172601-138E-5957-36DD-102386C484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12" y="2518140"/>
            <a:ext cx="5157216" cy="365845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04B208F-CCE0-98EA-E04E-FA80DAA88E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5186" y="2518140"/>
            <a:ext cx="5157216" cy="365845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9A902F1-F0C1-BA25-C359-9FA06DAFCA74}"/>
                  </a:ext>
                </a:extLst>
              </p:cNvPr>
              <p:cNvSpPr txBox="1"/>
              <p:nvPr/>
            </p:nvSpPr>
            <p:spPr>
              <a:xfrm>
                <a:off x="2606511" y="5181551"/>
                <a:ext cx="3292312" cy="374270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=0.859</m:t>
                      </m:r>
                    </m:oMath>
                  </m:oMathPara>
                </a14:m>
                <a:endParaRPr lang="en-US" i="1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9A902F1-F0C1-BA25-C359-9FA06DAFCA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6511" y="5181551"/>
                <a:ext cx="3292312" cy="37427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EC70B79-003B-38DC-E691-7EF7FE938D2B}"/>
                  </a:ext>
                </a:extLst>
              </p:cNvPr>
              <p:cNvSpPr txBox="1"/>
              <p:nvPr/>
            </p:nvSpPr>
            <p:spPr>
              <a:xfrm>
                <a:off x="7957498" y="5176837"/>
                <a:ext cx="3292312" cy="374270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=0.862</m:t>
                      </m:r>
                    </m:oMath>
                  </m:oMathPara>
                </a14:m>
                <a:endParaRPr lang="en-US" i="1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EC70B79-003B-38DC-E691-7EF7FE938D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7498" y="5176837"/>
                <a:ext cx="3292312" cy="37427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D16563A8-2DCC-6E9F-7CC6-8CDBAFCEE199}"/>
              </a:ext>
            </a:extLst>
          </p:cNvPr>
          <p:cNvSpPr txBox="1"/>
          <p:nvPr/>
        </p:nvSpPr>
        <p:spPr>
          <a:xfrm>
            <a:off x="3082351" y="4216564"/>
            <a:ext cx="233316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25"/>
              </a:lnSpc>
              <a:buNone/>
            </a:pPr>
            <a:r>
              <a:rPr lang="en-US" sz="1050" b="0" dirty="0" err="1">
                <a:effectLst/>
                <a:latin typeface="Consolas" panose="020B0609020204030204" pitchFamily="49" charset="0"/>
              </a:rPr>
              <a:t>rf_model.feature_importances</a:t>
            </a:r>
            <a:r>
              <a:rPr lang="en-US" sz="1050" b="0" dirty="0">
                <a:effectLst/>
                <a:latin typeface="Consolas" panose="020B0609020204030204" pitchFamily="49" charset="0"/>
              </a:rPr>
              <a:t>_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82EBFE6-3DC6-C4E7-7FCA-27C73D7BB05A}"/>
              </a:ext>
            </a:extLst>
          </p:cNvPr>
          <p:cNvSpPr txBox="1"/>
          <p:nvPr/>
        </p:nvSpPr>
        <p:spPr>
          <a:xfrm>
            <a:off x="8437071" y="4216564"/>
            <a:ext cx="233316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25"/>
              </a:lnSpc>
              <a:buNone/>
            </a:pPr>
            <a:r>
              <a:rPr lang="en-US" sz="1050" dirty="0" err="1">
                <a:latin typeface="Consolas" panose="020B0609020204030204" pitchFamily="49" charset="0"/>
              </a:rPr>
              <a:t>gb</a:t>
            </a:r>
            <a:r>
              <a:rPr lang="en-US" sz="1050" b="0" dirty="0" err="1">
                <a:effectLst/>
                <a:latin typeface="Consolas" panose="020B0609020204030204" pitchFamily="49" charset="0"/>
              </a:rPr>
              <a:t>_model.feature_importances</a:t>
            </a:r>
            <a:r>
              <a:rPr lang="en-US" sz="1050" b="0" dirty="0">
                <a:effectLst/>
                <a:latin typeface="Consolas" panose="020B0609020204030204" pitchFamily="49" charset="0"/>
              </a:rPr>
              <a:t>_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F84600-7233-D2C5-ED6F-C72B75860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158D2-2874-47A5-BF5F-065C8F7FE081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4639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30D28-0837-41BB-5623-8600FE18E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b="1" dirty="0"/>
              <a:t>Model-specific post-hoc interpretability</a:t>
            </a:r>
            <a:r>
              <a:rPr lang="en-US" sz="3200" dirty="0"/>
              <a:t>: mean decrease in impurity (MDI) for random forests and gradient boosted trees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61D273-1E73-96C3-79C4-AC449FF5DA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dirty="0"/>
              <a:t>Strengths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4AF104-06EC-C920-70F7-4C70E649FE2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Provides a fast global feature ranking</a:t>
            </a:r>
            <a:r>
              <a:rPr lang="en-US" dirty="0"/>
              <a:t> for random forests and gradient boosted trees</a:t>
            </a:r>
          </a:p>
          <a:p>
            <a:r>
              <a:rPr lang="en-US" b="1" dirty="0"/>
              <a:t>Works well when</a:t>
            </a:r>
            <a:r>
              <a:rPr lang="en-US" dirty="0"/>
              <a:t> you want a quick first look at which features helped trees make useful splits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12ECE4-2D7A-C6E8-EACB-FFDF76BC1D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US" dirty="0"/>
              <a:t>Limitations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A3D994-8FF2-5F31-ECAA-257A454A514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Does not show direction or local effects</a:t>
            </a:r>
            <a:r>
              <a:rPr lang="en-US" dirty="0"/>
              <a:t> because importances are unsigned and global</a:t>
            </a:r>
          </a:p>
          <a:p>
            <a:r>
              <a:rPr lang="en-US" b="1" dirty="0"/>
              <a:t>Sensitive to feature correlation</a:t>
            </a:r>
            <a:r>
              <a:rPr lang="en-US" dirty="0"/>
              <a:t> because correlated features can receive biased/split importance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95FAEF-8A22-05D1-678E-A55BEF29C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158D2-2874-47A5-BF5F-065C8F7FE081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8154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806769-DCE7-6DDD-C49E-E7CDBB61D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2CEEE-ED3F-310E-BBD3-9CA1AB0F7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Local post-hoc model-agnostic local interpretability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972EBD-8116-AC18-8CF5-84FA4707A6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CA7C7C35-D771-5EDB-8B3D-4974298061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8728" y="1825624"/>
            <a:ext cx="6085831" cy="4351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D994169-90D7-0186-5415-BEE690647A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581001"/>
            <a:ext cx="12192000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dirty="0"/>
              <a:t>Molnar, C. </a:t>
            </a:r>
            <a:r>
              <a:rPr lang="en-US" sz="1200" i="1" dirty="0"/>
              <a:t>Interpretable Machine Learning: A Guide for Making Black Box Models Explainable</a:t>
            </a:r>
            <a:r>
              <a:rPr lang="en-US" sz="1200" dirty="0"/>
              <a:t> 3rd </a:t>
            </a:r>
            <a:r>
              <a:rPr lang="en-US" sz="1200" dirty="0" err="1"/>
              <a:t>edn</a:t>
            </a:r>
            <a:r>
              <a:rPr lang="en-US" sz="1200" dirty="0"/>
              <a:t>. (2025). </a:t>
            </a:r>
            <a:r>
              <a:rPr lang="en-US" sz="1200" dirty="0">
                <a:hlinkClick r:id="rId4"/>
              </a:rPr>
              <a:t>https://christophm.github.io/interpretable-ml-book/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CD68377-646A-6C80-22C7-4203FAF9B8E5}"/>
              </a:ext>
            </a:extLst>
          </p:cNvPr>
          <p:cNvSpPr/>
          <p:nvPr/>
        </p:nvSpPr>
        <p:spPr>
          <a:xfrm>
            <a:off x="3930316" y="2547169"/>
            <a:ext cx="2165684" cy="1190173"/>
          </a:xfrm>
          <a:prstGeom prst="rect">
            <a:avLst/>
          </a:prstGeom>
          <a:solidFill>
            <a:srgbClr val="FFFFFF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737D2C8-FB3F-6004-6800-DE5826E72091}"/>
              </a:ext>
            </a:extLst>
          </p:cNvPr>
          <p:cNvSpPr/>
          <p:nvPr/>
        </p:nvSpPr>
        <p:spPr>
          <a:xfrm>
            <a:off x="5818667" y="4910668"/>
            <a:ext cx="3078125" cy="1350432"/>
          </a:xfrm>
          <a:prstGeom prst="rect">
            <a:avLst/>
          </a:prstGeom>
          <a:solidFill>
            <a:srgbClr val="FFFFFF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7E97EAD-9751-DFFB-9BCE-31EA14AFDA99}"/>
              </a:ext>
            </a:extLst>
          </p:cNvPr>
          <p:cNvSpPr/>
          <p:nvPr/>
        </p:nvSpPr>
        <p:spPr>
          <a:xfrm>
            <a:off x="7357730" y="3785510"/>
            <a:ext cx="3078125" cy="2391453"/>
          </a:xfrm>
          <a:prstGeom prst="rect">
            <a:avLst/>
          </a:prstGeom>
          <a:solidFill>
            <a:srgbClr val="FFFFFF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D7F5B5-3FB1-297F-0D00-C534BE737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158D2-2874-47A5-BF5F-065C8F7FE081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3340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5EB71-9DCE-1B03-A2E3-31CE1077F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b="1" dirty="0"/>
              <a:t>Local model-agnostic post-hoc interpretability</a:t>
            </a:r>
            <a:r>
              <a:rPr lang="en-US" sz="3200" dirty="0"/>
              <a:t>: Local Interpretable Model-agnostic Explanations (LIME)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4698CE7-5049-600A-AB80-2E837DD0D5C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b="1" dirty="0"/>
                  <a:t>Core idea: </a:t>
                </a:r>
                <a:r>
                  <a:rPr lang="en-US" dirty="0"/>
                  <a:t>Explain an individual prediction by fitting a simple model that mimics a complex model only near the point being explained.</a:t>
                </a:r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r>
                  <a:rPr lang="en-US" dirty="0"/>
                  <a:t>Let the original model be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and define a simple, typically linear surrogate model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 The goal of LIME is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dirty="0"/>
                  <a:t> to behave like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 near the data point being evaluated.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4698CE7-5049-600A-AB80-2E837DD0D5C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17" t="-2241" r="-2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437205-9AA4-B739-0779-C8358EDE3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158D2-2874-47A5-BF5F-065C8F7FE081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574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F4D54B-CA96-721D-FC21-8DB64ABD7E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124E4-48CC-8353-0D1D-3AA2F702E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b="1" dirty="0"/>
              <a:t>Local model-agnostic post-hoc interpretability</a:t>
            </a:r>
            <a:r>
              <a:rPr lang="en-US" sz="3200" dirty="0"/>
              <a:t>: Local Interpretable Model-agnostic Explanations (LIME)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A09FEE-23F8-F2F0-DC4E-9B801F4874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Example:</a:t>
            </a:r>
          </a:p>
          <a:p>
            <a:pPr marL="0" indent="0">
              <a:buNone/>
            </a:pPr>
            <a:r>
              <a:rPr lang="en-US" dirty="0"/>
              <a:t>Step 1: Pick the molecule to explain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FF7FFC2-D81E-662C-B290-4F3AAE5AA31B}"/>
                  </a:ext>
                </a:extLst>
              </p:cNvPr>
              <p:cNvSpPr txBox="1"/>
              <p:nvPr/>
            </p:nvSpPr>
            <p:spPr>
              <a:xfrm>
                <a:off x="1047748" y="5498814"/>
                <a:ext cx="1978940" cy="3919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𝑔𝑏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=−3.252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673728F-D5AC-F5D2-6B1C-30EA54CDC1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7748" y="5498814"/>
                <a:ext cx="1978940" cy="391902"/>
              </a:xfrm>
              <a:prstGeom prst="rect">
                <a:avLst/>
              </a:prstGeom>
              <a:blipFill>
                <a:blip r:embed="rId4"/>
                <a:stretch>
                  <a:fillRect b="-9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A560A6-D355-B68C-A423-89C901A3C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158D2-2874-47A5-BF5F-065C8F7FE081}" type="slidenum">
              <a:rPr lang="en-US" smtClean="0"/>
              <a:t>21</a:t>
            </a:fld>
            <a:endParaRPr lang="en-US"/>
          </a:p>
        </p:txBody>
      </p:sp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FFE9ADEA-7529-2BC6-7952-3068D776ABF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201765"/>
              </p:ext>
            </p:extLst>
          </p:nvPr>
        </p:nvGraphicFramePr>
        <p:xfrm>
          <a:off x="1160216" y="3185174"/>
          <a:ext cx="1753998" cy="23085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64-bit Drawing" r:id="rId5" imgW="833231" imgH="1096748" progId="ChemDraw_x64.Document.6.0">
                  <p:embed/>
                </p:oleObj>
              </mc:Choice>
              <mc:Fallback>
                <p:oleObj name="CS ChemDraw 64-bit Drawing" r:id="rId5" imgW="833231" imgH="1096748" progId="ChemDraw_x64.Document.6.0">
                  <p:embed/>
                  <p:pic>
                    <p:nvPicPr>
                      <p:cNvPr id="10" name="Object 9">
                        <a:extLst>
                          <a:ext uri="{FF2B5EF4-FFF2-40B4-BE49-F238E27FC236}">
                            <a16:creationId xmlns:a16="http://schemas.microsoft.com/office/drawing/2014/main" id="{A6E78F3C-33A1-77A6-CE2B-4B4A9B3487C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160216" y="3185174"/>
                        <a:ext cx="1753998" cy="230859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865916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A5880-B6C1-A7E7-6B6E-816315DE7D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C3FDA-C0C8-DA71-6E26-5D54B396B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b="1" dirty="0"/>
              <a:t>Local model-agnostic post-hoc interpretability</a:t>
            </a:r>
            <a:r>
              <a:rPr lang="en-US" sz="3200" dirty="0"/>
              <a:t>: Local Interpretable Model-agnostic Explanations (LIME)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78405D-ED52-A0CB-5E4E-8716186CFE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Example:</a:t>
            </a:r>
          </a:p>
          <a:p>
            <a:pPr marL="0" indent="0">
              <a:buNone/>
            </a:pPr>
            <a:r>
              <a:rPr lang="en-US" dirty="0"/>
              <a:t>Step 2: Generate perturbed versions of the molecule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5186D58-B9C3-62EF-2D6A-1B02B8634997}"/>
                  </a:ext>
                </a:extLst>
              </p:cNvPr>
              <p:cNvSpPr txBox="1"/>
              <p:nvPr/>
            </p:nvSpPr>
            <p:spPr>
              <a:xfrm>
                <a:off x="1047748" y="5498814"/>
                <a:ext cx="1978940" cy="3919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𝑔𝑏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=−3.252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673728F-D5AC-F5D2-6B1C-30EA54CDC1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7748" y="5498814"/>
                <a:ext cx="1978940" cy="391902"/>
              </a:xfrm>
              <a:prstGeom prst="rect">
                <a:avLst/>
              </a:prstGeom>
              <a:blipFill>
                <a:blip r:embed="rId4"/>
                <a:stretch>
                  <a:fillRect b="-9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FFBBEB1-0FD1-7ACE-8B8A-B6B1C92387B5}"/>
              </a:ext>
            </a:extLst>
          </p:cNvPr>
          <p:cNvGraphicFramePr>
            <a:graphicFrameLocks noGrp="1"/>
          </p:cNvGraphicFramePr>
          <p:nvPr/>
        </p:nvGraphicFramePr>
        <p:xfrm>
          <a:off x="3236235" y="3202314"/>
          <a:ext cx="8117562" cy="101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2927">
                  <a:extLst>
                    <a:ext uri="{9D8B030D-6E8A-4147-A177-3AD203B41FA5}">
                      <a16:colId xmlns:a16="http://schemas.microsoft.com/office/drawing/2014/main" val="40606782"/>
                    </a:ext>
                  </a:extLst>
                </a:gridCol>
                <a:gridCol w="1352927">
                  <a:extLst>
                    <a:ext uri="{9D8B030D-6E8A-4147-A177-3AD203B41FA5}">
                      <a16:colId xmlns:a16="http://schemas.microsoft.com/office/drawing/2014/main" val="2131220821"/>
                    </a:ext>
                  </a:extLst>
                </a:gridCol>
                <a:gridCol w="1352927">
                  <a:extLst>
                    <a:ext uri="{9D8B030D-6E8A-4147-A177-3AD203B41FA5}">
                      <a16:colId xmlns:a16="http://schemas.microsoft.com/office/drawing/2014/main" val="1831196201"/>
                    </a:ext>
                  </a:extLst>
                </a:gridCol>
                <a:gridCol w="1352927">
                  <a:extLst>
                    <a:ext uri="{9D8B030D-6E8A-4147-A177-3AD203B41FA5}">
                      <a16:colId xmlns:a16="http://schemas.microsoft.com/office/drawing/2014/main" val="512420757"/>
                    </a:ext>
                  </a:extLst>
                </a:gridCol>
                <a:gridCol w="1352927">
                  <a:extLst>
                    <a:ext uri="{9D8B030D-6E8A-4147-A177-3AD203B41FA5}">
                      <a16:colId xmlns:a16="http://schemas.microsoft.com/office/drawing/2014/main" val="554433838"/>
                    </a:ext>
                  </a:extLst>
                </a:gridCol>
                <a:gridCol w="1352927">
                  <a:extLst>
                    <a:ext uri="{9D8B030D-6E8A-4147-A177-3AD203B41FA5}">
                      <a16:colId xmlns:a16="http://schemas.microsoft.com/office/drawing/2014/main" val="5716423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Minimum Degree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Molecular Weight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Number of H-Bond Donors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Number of Rings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Number of Rotatable Bonds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Polar Surface Area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667562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261.119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54.86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595734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1049490B-69FD-B95B-941B-C858EE4C45B3}"/>
              </a:ext>
            </a:extLst>
          </p:cNvPr>
          <p:cNvSpPr txBox="1"/>
          <p:nvPr/>
        </p:nvSpPr>
        <p:spPr>
          <a:xfrm>
            <a:off x="3236235" y="2832982"/>
            <a:ext cx="2056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Descriptor values: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C9AB4D0-15FB-901A-EE87-05E8D6245A6E}"/>
              </a:ext>
            </a:extLst>
          </p:cNvPr>
          <p:cNvSpPr txBox="1"/>
          <p:nvPr/>
        </p:nvSpPr>
        <p:spPr>
          <a:xfrm>
            <a:off x="3236232" y="4213234"/>
            <a:ext cx="46002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Generate 5000 perturbed samples nearby: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1061FA79-86F0-F1DE-B280-474E765247B0}"/>
              </a:ext>
            </a:extLst>
          </p:cNvPr>
          <p:cNvGraphicFramePr>
            <a:graphicFrameLocks noGrp="1"/>
          </p:cNvGraphicFramePr>
          <p:nvPr/>
        </p:nvGraphicFramePr>
        <p:xfrm>
          <a:off x="3236235" y="4561863"/>
          <a:ext cx="8117562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2927">
                  <a:extLst>
                    <a:ext uri="{9D8B030D-6E8A-4147-A177-3AD203B41FA5}">
                      <a16:colId xmlns:a16="http://schemas.microsoft.com/office/drawing/2014/main" val="40606782"/>
                    </a:ext>
                  </a:extLst>
                </a:gridCol>
                <a:gridCol w="1352927">
                  <a:extLst>
                    <a:ext uri="{9D8B030D-6E8A-4147-A177-3AD203B41FA5}">
                      <a16:colId xmlns:a16="http://schemas.microsoft.com/office/drawing/2014/main" val="2131220821"/>
                    </a:ext>
                  </a:extLst>
                </a:gridCol>
                <a:gridCol w="1352927">
                  <a:extLst>
                    <a:ext uri="{9D8B030D-6E8A-4147-A177-3AD203B41FA5}">
                      <a16:colId xmlns:a16="http://schemas.microsoft.com/office/drawing/2014/main" val="1831196201"/>
                    </a:ext>
                  </a:extLst>
                </a:gridCol>
                <a:gridCol w="1352927">
                  <a:extLst>
                    <a:ext uri="{9D8B030D-6E8A-4147-A177-3AD203B41FA5}">
                      <a16:colId xmlns:a16="http://schemas.microsoft.com/office/drawing/2014/main" val="512420757"/>
                    </a:ext>
                  </a:extLst>
                </a:gridCol>
                <a:gridCol w="1352927">
                  <a:extLst>
                    <a:ext uri="{9D8B030D-6E8A-4147-A177-3AD203B41FA5}">
                      <a16:colId xmlns:a16="http://schemas.microsoft.com/office/drawing/2014/main" val="554433838"/>
                    </a:ext>
                  </a:extLst>
                </a:gridCol>
                <a:gridCol w="1352927">
                  <a:extLst>
                    <a:ext uri="{9D8B030D-6E8A-4147-A177-3AD203B41FA5}">
                      <a16:colId xmlns:a16="http://schemas.microsoft.com/office/drawing/2014/main" val="5716423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Minimum Degree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Molecular Weight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Number of H-Bond Donors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Number of Rings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Number of Rotatable Bonds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Polar Surface Area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667562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0.997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69.567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3.301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2.000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2.564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39.467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59573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0.911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226.866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3.222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3.064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9.390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0.000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793475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0.918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455.888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0.000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4.111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2.352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95.249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3541809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3020D467-D035-C98F-4202-2083B9AAA7FD}"/>
              </a:ext>
            </a:extLst>
          </p:cNvPr>
          <p:cNvSpPr txBox="1"/>
          <p:nvPr/>
        </p:nvSpPr>
        <p:spPr>
          <a:xfrm rot="5400000">
            <a:off x="7157071" y="6315366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1FCFDA-26A4-A9D2-E4B3-08EE63F8D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158D2-2874-47A5-BF5F-065C8F7FE081}" type="slidenum">
              <a:rPr lang="en-US" smtClean="0"/>
              <a:t>22</a:t>
            </a:fld>
            <a:endParaRPr lang="en-US"/>
          </a:p>
        </p:txBody>
      </p:sp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A6E78F3C-33A1-77A6-CE2B-4B4A9B3487C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2739464"/>
              </p:ext>
            </p:extLst>
          </p:nvPr>
        </p:nvGraphicFramePr>
        <p:xfrm>
          <a:off x="1160216" y="3185174"/>
          <a:ext cx="1753998" cy="23085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64-bit Drawing" r:id="rId5" imgW="833231" imgH="1096748" progId="ChemDraw_x64.Document.6.0">
                  <p:embed/>
                </p:oleObj>
              </mc:Choice>
              <mc:Fallback>
                <p:oleObj name="CS ChemDraw 64-bit Drawing" r:id="rId5" imgW="833231" imgH="1096748" progId="ChemDraw_x64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160216" y="3185174"/>
                        <a:ext cx="1753998" cy="230859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086600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F9789B-EDB9-52E5-84D1-CAF77193A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522FC-7E4C-9C56-59E8-96452D8E4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b="1" dirty="0"/>
              <a:t>Local model-agnostic post-hoc interpretability</a:t>
            </a:r>
            <a:r>
              <a:rPr lang="en-US" sz="3200" dirty="0"/>
              <a:t>: Local Interpretable Model-agnostic Explanations (LIME)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DC16567-0FBF-CF3E-D51D-A763D11F625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b="1" dirty="0"/>
                  <a:t>Example:</a:t>
                </a:r>
              </a:p>
              <a:p>
                <a:pPr marL="0" indent="0">
                  <a:buNone/>
                </a:pPr>
                <a:r>
                  <a:rPr lang="en-US" dirty="0"/>
                  <a:t>Step 3: Predict the perturbed samples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DC16567-0FBF-CF3E-D51D-A763D11F625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B40CAE5-C556-057F-D2D0-7F78C54F9190}"/>
                  </a:ext>
                </a:extLst>
              </p:cNvPr>
              <p:cNvSpPr txBox="1"/>
              <p:nvPr/>
            </p:nvSpPr>
            <p:spPr>
              <a:xfrm>
                <a:off x="1047748" y="5498814"/>
                <a:ext cx="1978940" cy="3919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𝑔𝑏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=−3.252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673728F-D5AC-F5D2-6B1C-30EA54CDC1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7748" y="5498814"/>
                <a:ext cx="1978940" cy="391902"/>
              </a:xfrm>
              <a:prstGeom prst="rect">
                <a:avLst/>
              </a:prstGeom>
              <a:blipFill>
                <a:blip r:embed="rId5"/>
                <a:stretch>
                  <a:fillRect b="-9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B5EB79D2-6C6C-5165-C897-4500BA675841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236238" y="3203791"/>
              <a:ext cx="8117564" cy="1752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59652">
                      <a:extLst>
                        <a:ext uri="{9D8B030D-6E8A-4147-A177-3AD203B41FA5}">
                          <a16:colId xmlns:a16="http://schemas.microsoft.com/office/drawing/2014/main" val="40606782"/>
                        </a:ext>
                      </a:extLst>
                    </a:gridCol>
                    <a:gridCol w="1159652">
                      <a:extLst>
                        <a:ext uri="{9D8B030D-6E8A-4147-A177-3AD203B41FA5}">
                          <a16:colId xmlns:a16="http://schemas.microsoft.com/office/drawing/2014/main" val="2131220821"/>
                        </a:ext>
                      </a:extLst>
                    </a:gridCol>
                    <a:gridCol w="1159652">
                      <a:extLst>
                        <a:ext uri="{9D8B030D-6E8A-4147-A177-3AD203B41FA5}">
                          <a16:colId xmlns:a16="http://schemas.microsoft.com/office/drawing/2014/main" val="1831196201"/>
                        </a:ext>
                      </a:extLst>
                    </a:gridCol>
                    <a:gridCol w="1159652">
                      <a:extLst>
                        <a:ext uri="{9D8B030D-6E8A-4147-A177-3AD203B41FA5}">
                          <a16:colId xmlns:a16="http://schemas.microsoft.com/office/drawing/2014/main" val="512420757"/>
                        </a:ext>
                      </a:extLst>
                    </a:gridCol>
                    <a:gridCol w="1159652">
                      <a:extLst>
                        <a:ext uri="{9D8B030D-6E8A-4147-A177-3AD203B41FA5}">
                          <a16:colId xmlns:a16="http://schemas.microsoft.com/office/drawing/2014/main" val="554433838"/>
                        </a:ext>
                      </a:extLst>
                    </a:gridCol>
                    <a:gridCol w="1159652">
                      <a:extLst>
                        <a:ext uri="{9D8B030D-6E8A-4147-A177-3AD203B41FA5}">
                          <a16:colId xmlns:a16="http://schemas.microsoft.com/office/drawing/2014/main" val="571642331"/>
                        </a:ext>
                      </a:extLst>
                    </a:gridCol>
                    <a:gridCol w="1159652">
                      <a:extLst>
                        <a:ext uri="{9D8B030D-6E8A-4147-A177-3AD203B41FA5}">
                          <a16:colId xmlns:a16="http://schemas.microsoft.com/office/drawing/2014/main" val="90695893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Minimum Degree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Molecular Weight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Number of H-Bond Donors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Number of Rings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Number of Rotatable Bonds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Polar Surface Area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1" i="1" smtClean="0">
                                    <a:latin typeface="Cambria Math" panose="02040503050406030204" pitchFamily="18" charset="0"/>
                                  </a:rPr>
                                  <m:t>𝒇</m:t>
                                </m:r>
                                <m:r>
                                  <a:rPr lang="en-US" sz="1200" b="1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1200" b="1" i="1" smtClean="0">
                                    <a:latin typeface="Cambria Math" panose="02040503050406030204" pitchFamily="18" charset="0"/>
                                  </a:rPr>
                                  <m:t>𝒛</m:t>
                                </m:r>
                                <m:r>
                                  <a:rPr lang="en-US" sz="1200" b="1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16675628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0.997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69.567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3.301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2.000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2.564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39.467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-0.060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7595734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0.911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226.866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3.222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3.064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9.390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0.000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-8.016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7934759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0.918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455.888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0.000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4.111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2.352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95.249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-5.524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0354180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B5EB79D2-6C6C-5165-C897-4500BA67584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42981927"/>
                  </p:ext>
                </p:extLst>
              </p:nvPr>
            </p:nvGraphicFramePr>
            <p:xfrm>
              <a:off x="3236238" y="3203791"/>
              <a:ext cx="8117564" cy="1752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59652">
                      <a:extLst>
                        <a:ext uri="{9D8B030D-6E8A-4147-A177-3AD203B41FA5}">
                          <a16:colId xmlns:a16="http://schemas.microsoft.com/office/drawing/2014/main" val="40606782"/>
                        </a:ext>
                      </a:extLst>
                    </a:gridCol>
                    <a:gridCol w="1159652">
                      <a:extLst>
                        <a:ext uri="{9D8B030D-6E8A-4147-A177-3AD203B41FA5}">
                          <a16:colId xmlns:a16="http://schemas.microsoft.com/office/drawing/2014/main" val="2131220821"/>
                        </a:ext>
                      </a:extLst>
                    </a:gridCol>
                    <a:gridCol w="1159652">
                      <a:extLst>
                        <a:ext uri="{9D8B030D-6E8A-4147-A177-3AD203B41FA5}">
                          <a16:colId xmlns:a16="http://schemas.microsoft.com/office/drawing/2014/main" val="1831196201"/>
                        </a:ext>
                      </a:extLst>
                    </a:gridCol>
                    <a:gridCol w="1159652">
                      <a:extLst>
                        <a:ext uri="{9D8B030D-6E8A-4147-A177-3AD203B41FA5}">
                          <a16:colId xmlns:a16="http://schemas.microsoft.com/office/drawing/2014/main" val="512420757"/>
                        </a:ext>
                      </a:extLst>
                    </a:gridCol>
                    <a:gridCol w="1159652">
                      <a:extLst>
                        <a:ext uri="{9D8B030D-6E8A-4147-A177-3AD203B41FA5}">
                          <a16:colId xmlns:a16="http://schemas.microsoft.com/office/drawing/2014/main" val="554433838"/>
                        </a:ext>
                      </a:extLst>
                    </a:gridCol>
                    <a:gridCol w="1159652">
                      <a:extLst>
                        <a:ext uri="{9D8B030D-6E8A-4147-A177-3AD203B41FA5}">
                          <a16:colId xmlns:a16="http://schemas.microsoft.com/office/drawing/2014/main" val="571642331"/>
                        </a:ext>
                      </a:extLst>
                    </a:gridCol>
                    <a:gridCol w="1159652">
                      <a:extLst>
                        <a:ext uri="{9D8B030D-6E8A-4147-A177-3AD203B41FA5}">
                          <a16:colId xmlns:a16="http://schemas.microsoft.com/office/drawing/2014/main" val="906958933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Minimum Degree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Molecular Weight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Number of H-Bond Donors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Number of Rings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Number of Rotatable Bonds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Polar Surface Area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602105" t="-943" r="-2105" b="-17452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675628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0.997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69.567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3.301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2.000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2.564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39.467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-0.060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7595734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0.911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226.866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3.222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3.064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9.390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0.000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-8.016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7934759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0.918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455.888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0.000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4.111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2.352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95.249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-5.524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0354180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30ABE752-E947-EDD9-4F37-FC1FFB483861}"/>
              </a:ext>
            </a:extLst>
          </p:cNvPr>
          <p:cNvSpPr txBox="1"/>
          <p:nvPr/>
        </p:nvSpPr>
        <p:spPr>
          <a:xfrm rot="5400000">
            <a:off x="7157071" y="5013849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27CE5A-31BB-9B63-60E3-463F31F49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158D2-2874-47A5-BF5F-065C8F7FE081}" type="slidenum">
              <a:rPr lang="en-US" smtClean="0"/>
              <a:t>23</a:t>
            </a:fld>
            <a:endParaRPr lang="en-US"/>
          </a:p>
        </p:txBody>
      </p:sp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A01FF38C-DABF-3849-49A3-26A77DA7BF0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201765"/>
              </p:ext>
            </p:extLst>
          </p:nvPr>
        </p:nvGraphicFramePr>
        <p:xfrm>
          <a:off x="1160216" y="3185174"/>
          <a:ext cx="1753998" cy="23085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64-bit Drawing" r:id="rId7" imgW="833231" imgH="1096748" progId="ChemDraw_x64.Document.6.0">
                  <p:embed/>
                </p:oleObj>
              </mc:Choice>
              <mc:Fallback>
                <p:oleObj name="CS ChemDraw 64-bit Drawing" r:id="rId7" imgW="833231" imgH="1096748" progId="ChemDraw_x64.Document.6.0">
                  <p:embed/>
                  <p:pic>
                    <p:nvPicPr>
                      <p:cNvPr id="10" name="Object 9">
                        <a:extLst>
                          <a:ext uri="{FF2B5EF4-FFF2-40B4-BE49-F238E27FC236}">
                            <a16:creationId xmlns:a16="http://schemas.microsoft.com/office/drawing/2014/main" id="{A6E78F3C-33A1-77A6-CE2B-4B4A9B3487C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160216" y="3185174"/>
                        <a:ext cx="1753998" cy="230859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527680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D3DA31-089F-E698-22D1-ABCB04C2E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5A382-6576-FB89-1768-0DF5E26DC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b="1" dirty="0"/>
              <a:t>Local model-agnostic post-hoc interpretability</a:t>
            </a:r>
            <a:r>
              <a:rPr lang="en-US" sz="3200" dirty="0"/>
              <a:t>: Local Interpretable Model-agnostic Explanations (LIME)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E90453-B93F-7284-D47D-B7D77A8F65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/>
              <a:t>Example:</a:t>
            </a:r>
          </a:p>
          <a:p>
            <a:pPr marL="0" indent="0">
              <a:buNone/>
            </a:pPr>
            <a:r>
              <a:rPr lang="en-US"/>
              <a:t>Step 4: Compute how close each perturbed sample is to the original molecule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72A2365-C517-A967-5083-31F01F7388CD}"/>
                  </a:ext>
                </a:extLst>
              </p:cNvPr>
              <p:cNvSpPr txBox="1"/>
              <p:nvPr/>
            </p:nvSpPr>
            <p:spPr>
              <a:xfrm>
                <a:off x="1047748" y="5498814"/>
                <a:ext cx="1978940" cy="3919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𝑔𝑏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=−3.252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673728F-D5AC-F5D2-6B1C-30EA54CDC1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7748" y="5498814"/>
                <a:ext cx="1978940" cy="391902"/>
              </a:xfrm>
              <a:prstGeom prst="rect">
                <a:avLst/>
              </a:prstGeom>
              <a:blipFill>
                <a:blip r:embed="rId4"/>
                <a:stretch>
                  <a:fillRect b="-9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7319D1ED-5ACF-179A-2C94-4863C92D8EE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236238" y="3203791"/>
              <a:ext cx="8117568" cy="1752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14696">
                      <a:extLst>
                        <a:ext uri="{9D8B030D-6E8A-4147-A177-3AD203B41FA5}">
                          <a16:colId xmlns:a16="http://schemas.microsoft.com/office/drawing/2014/main" val="40606782"/>
                        </a:ext>
                      </a:extLst>
                    </a:gridCol>
                    <a:gridCol w="1014696">
                      <a:extLst>
                        <a:ext uri="{9D8B030D-6E8A-4147-A177-3AD203B41FA5}">
                          <a16:colId xmlns:a16="http://schemas.microsoft.com/office/drawing/2014/main" val="2131220821"/>
                        </a:ext>
                      </a:extLst>
                    </a:gridCol>
                    <a:gridCol w="1014696">
                      <a:extLst>
                        <a:ext uri="{9D8B030D-6E8A-4147-A177-3AD203B41FA5}">
                          <a16:colId xmlns:a16="http://schemas.microsoft.com/office/drawing/2014/main" val="1831196201"/>
                        </a:ext>
                      </a:extLst>
                    </a:gridCol>
                    <a:gridCol w="1014696">
                      <a:extLst>
                        <a:ext uri="{9D8B030D-6E8A-4147-A177-3AD203B41FA5}">
                          <a16:colId xmlns:a16="http://schemas.microsoft.com/office/drawing/2014/main" val="512420757"/>
                        </a:ext>
                      </a:extLst>
                    </a:gridCol>
                    <a:gridCol w="1014696">
                      <a:extLst>
                        <a:ext uri="{9D8B030D-6E8A-4147-A177-3AD203B41FA5}">
                          <a16:colId xmlns:a16="http://schemas.microsoft.com/office/drawing/2014/main" val="554433838"/>
                        </a:ext>
                      </a:extLst>
                    </a:gridCol>
                    <a:gridCol w="1014696">
                      <a:extLst>
                        <a:ext uri="{9D8B030D-6E8A-4147-A177-3AD203B41FA5}">
                          <a16:colId xmlns:a16="http://schemas.microsoft.com/office/drawing/2014/main" val="571642331"/>
                        </a:ext>
                      </a:extLst>
                    </a:gridCol>
                    <a:gridCol w="1014696">
                      <a:extLst>
                        <a:ext uri="{9D8B030D-6E8A-4147-A177-3AD203B41FA5}">
                          <a16:colId xmlns:a16="http://schemas.microsoft.com/office/drawing/2014/main" val="906958933"/>
                        </a:ext>
                      </a:extLst>
                    </a:gridCol>
                    <a:gridCol w="1014696">
                      <a:extLst>
                        <a:ext uri="{9D8B030D-6E8A-4147-A177-3AD203B41FA5}">
                          <a16:colId xmlns:a16="http://schemas.microsoft.com/office/drawing/2014/main" val="111960108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Minimum Degree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Molecular Weight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Number of H-Bond Donors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Number of Rings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Number of Rotatable Bonds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Polar Surface Area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1" i="1" smtClean="0">
                                    <a:latin typeface="Cambria Math" panose="02040503050406030204" pitchFamily="18" charset="0"/>
                                  </a:rPr>
                                  <m:t>𝒇</m:t>
                                </m:r>
                                <m:r>
                                  <a:rPr lang="en-US" sz="1200" b="1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1200" b="1" i="1" smtClean="0">
                                    <a:latin typeface="Cambria Math" panose="02040503050406030204" pitchFamily="18" charset="0"/>
                                  </a:rPr>
                                  <m:t>𝒛</m:t>
                                </m:r>
                                <m:r>
                                  <a:rPr lang="en-US" sz="1200" b="1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200" b="1" i="1" smtClean="0"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</m:e>
                                      <m:sub>
                                        <m:r>
                                          <a:rPr lang="en-US" sz="1200" b="1" i="1" smtClean="0">
                                            <a:latin typeface="Cambria Math" panose="02040503050406030204" pitchFamily="18" charset="0"/>
                                          </a:rPr>
                                          <m:t>𝒊</m:t>
                                        </m:r>
                                      </m:sub>
                                    </m:sSub>
                                  </m:sub>
                                </m:sSub>
                                <m:r>
                                  <a:rPr lang="en-US" sz="1200" b="1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1200" b="1" i="1" smtClean="0">
                                    <a:latin typeface="Cambria Math" panose="02040503050406030204" pitchFamily="18" charset="0"/>
                                  </a:rPr>
                                  <m:t>𝒛</m:t>
                                </m:r>
                                <m:r>
                                  <a:rPr lang="en-US" sz="1200" b="1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16675628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0.997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69.567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3.301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2.000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2.564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39.467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-0.060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0.641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7595734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0.911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226.866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3.222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3.064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9.390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0.000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-8.016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0.553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7934759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0.918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455.888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0.000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4.111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2.352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95.249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-5.524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0.553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0354180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7319D1ED-5ACF-179A-2C94-4863C92D8EE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28112221"/>
                  </p:ext>
                </p:extLst>
              </p:nvPr>
            </p:nvGraphicFramePr>
            <p:xfrm>
              <a:off x="3236238" y="3203791"/>
              <a:ext cx="8117568" cy="1752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14696">
                      <a:extLst>
                        <a:ext uri="{9D8B030D-6E8A-4147-A177-3AD203B41FA5}">
                          <a16:colId xmlns:a16="http://schemas.microsoft.com/office/drawing/2014/main" val="40606782"/>
                        </a:ext>
                      </a:extLst>
                    </a:gridCol>
                    <a:gridCol w="1014696">
                      <a:extLst>
                        <a:ext uri="{9D8B030D-6E8A-4147-A177-3AD203B41FA5}">
                          <a16:colId xmlns:a16="http://schemas.microsoft.com/office/drawing/2014/main" val="2131220821"/>
                        </a:ext>
                      </a:extLst>
                    </a:gridCol>
                    <a:gridCol w="1014696">
                      <a:extLst>
                        <a:ext uri="{9D8B030D-6E8A-4147-A177-3AD203B41FA5}">
                          <a16:colId xmlns:a16="http://schemas.microsoft.com/office/drawing/2014/main" val="1831196201"/>
                        </a:ext>
                      </a:extLst>
                    </a:gridCol>
                    <a:gridCol w="1014696">
                      <a:extLst>
                        <a:ext uri="{9D8B030D-6E8A-4147-A177-3AD203B41FA5}">
                          <a16:colId xmlns:a16="http://schemas.microsoft.com/office/drawing/2014/main" val="512420757"/>
                        </a:ext>
                      </a:extLst>
                    </a:gridCol>
                    <a:gridCol w="1014696">
                      <a:extLst>
                        <a:ext uri="{9D8B030D-6E8A-4147-A177-3AD203B41FA5}">
                          <a16:colId xmlns:a16="http://schemas.microsoft.com/office/drawing/2014/main" val="554433838"/>
                        </a:ext>
                      </a:extLst>
                    </a:gridCol>
                    <a:gridCol w="1014696">
                      <a:extLst>
                        <a:ext uri="{9D8B030D-6E8A-4147-A177-3AD203B41FA5}">
                          <a16:colId xmlns:a16="http://schemas.microsoft.com/office/drawing/2014/main" val="571642331"/>
                        </a:ext>
                      </a:extLst>
                    </a:gridCol>
                    <a:gridCol w="1014696">
                      <a:extLst>
                        <a:ext uri="{9D8B030D-6E8A-4147-A177-3AD203B41FA5}">
                          <a16:colId xmlns:a16="http://schemas.microsoft.com/office/drawing/2014/main" val="906958933"/>
                        </a:ext>
                      </a:extLst>
                    </a:gridCol>
                    <a:gridCol w="1014696">
                      <a:extLst>
                        <a:ext uri="{9D8B030D-6E8A-4147-A177-3AD203B41FA5}">
                          <a16:colId xmlns:a16="http://schemas.microsoft.com/office/drawing/2014/main" val="1119601081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Minimum Degree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Molecular Weight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Number of H-Bond Donors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Number of Rings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Number of Rotatable Bonds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Polar Surface Area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603012" t="-943" r="-103012" b="-1745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698802" t="-943" r="-2395" b="-17452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675628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0.997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69.567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3.301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2.000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2.564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39.467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-0.060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0.641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7595734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0.911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226.866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3.222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3.064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9.390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0.000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-8.016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0.553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7934759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0.918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455.888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0.000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4.111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2.352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95.249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-5.524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0.553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0354180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D9DF9AD5-B5FC-E81A-DF05-08B92772B458}"/>
              </a:ext>
            </a:extLst>
          </p:cNvPr>
          <p:cNvSpPr txBox="1"/>
          <p:nvPr/>
        </p:nvSpPr>
        <p:spPr>
          <a:xfrm rot="5400000">
            <a:off x="7157071" y="5013849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5A5F5DE-70FD-A980-1DEC-71B6397904D2}"/>
                  </a:ext>
                </a:extLst>
              </p:cNvPr>
              <p:cNvSpPr txBox="1"/>
              <p:nvPr/>
            </p:nvSpPr>
            <p:spPr>
              <a:xfrm>
                <a:off x="3236236" y="5406264"/>
                <a:ext cx="4058338" cy="997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A common choice of kernel is: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exp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5A5F5DE-70FD-A980-1DEC-71B6397904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6236" y="5406264"/>
                <a:ext cx="4058338" cy="997324"/>
              </a:xfrm>
              <a:prstGeom prst="rect">
                <a:avLst/>
              </a:prstGeom>
              <a:blipFill>
                <a:blip r:embed="rId6"/>
                <a:stretch>
                  <a:fillRect l="-1351" t="-30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8440EE9-54F0-0B8A-C8B3-34547D7E9A26}"/>
                  </a:ext>
                </a:extLst>
              </p:cNvPr>
              <p:cNvSpPr txBox="1"/>
              <p:nvPr/>
            </p:nvSpPr>
            <p:spPr>
              <a:xfrm>
                <a:off x="7294574" y="5406264"/>
                <a:ext cx="4058338" cy="12275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r>
                  <a:rPr lang="en-US" dirty="0"/>
                  <a:t>: weight assigned to perturbation sample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: Euclidean distance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/>
                  <a:t>: kernel width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8440EE9-54F0-0B8A-C8B3-34547D7E9A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4574" y="5406264"/>
                <a:ext cx="4058338" cy="1227516"/>
              </a:xfrm>
              <a:prstGeom prst="rect">
                <a:avLst/>
              </a:prstGeom>
              <a:blipFill>
                <a:blip r:embed="rId7"/>
                <a:stretch>
                  <a:fillRect l="-1053" t="-2488" b="-74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213707-91C2-4C56-FCED-1E1318351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158D2-2874-47A5-BF5F-065C8F7FE081}" type="slidenum">
              <a:rPr lang="en-US" smtClean="0"/>
              <a:t>24</a:t>
            </a:fld>
            <a:endParaRPr lang="en-US"/>
          </a:p>
        </p:txBody>
      </p:sp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EB80F8F8-7787-EEBF-616B-77EED90FF32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201765"/>
              </p:ext>
            </p:extLst>
          </p:nvPr>
        </p:nvGraphicFramePr>
        <p:xfrm>
          <a:off x="1160216" y="3185174"/>
          <a:ext cx="1753998" cy="23085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64-bit Drawing" r:id="rId8" imgW="833231" imgH="1096748" progId="ChemDraw_x64.Document.6.0">
                  <p:embed/>
                </p:oleObj>
              </mc:Choice>
              <mc:Fallback>
                <p:oleObj name="CS ChemDraw 64-bit Drawing" r:id="rId8" imgW="833231" imgH="1096748" progId="ChemDraw_x64.Document.6.0">
                  <p:embed/>
                  <p:pic>
                    <p:nvPicPr>
                      <p:cNvPr id="10" name="Object 9">
                        <a:extLst>
                          <a:ext uri="{FF2B5EF4-FFF2-40B4-BE49-F238E27FC236}">
                            <a16:creationId xmlns:a16="http://schemas.microsoft.com/office/drawing/2014/main" id="{A6E78F3C-33A1-77A6-CE2B-4B4A9B3487C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160216" y="3185174"/>
                        <a:ext cx="1753998" cy="230859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633562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62E578-2EBB-3119-9658-FD037D39C1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283ED-41C9-2A04-3DB2-1E3F3F19E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b="1" dirty="0"/>
              <a:t>Local model-agnostic post-hoc interpretability</a:t>
            </a:r>
            <a:r>
              <a:rPr lang="en-US" sz="3200" dirty="0"/>
              <a:t>: Local Interpretable Model-agnostic Explanations (LIME)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31C6B8-0F0C-0BD9-2045-F773A89CBA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Example:</a:t>
            </a:r>
          </a:p>
          <a:p>
            <a:pPr marL="0" indent="0">
              <a:buNone/>
            </a:pPr>
            <a:r>
              <a:rPr lang="en-US" dirty="0"/>
              <a:t>Step 5: Fit a simple weighted surrogate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759478A-1FA4-D3C5-C388-2FF03BB73C6C}"/>
                  </a:ext>
                </a:extLst>
              </p:cNvPr>
              <p:cNvSpPr txBox="1"/>
              <p:nvPr/>
            </p:nvSpPr>
            <p:spPr>
              <a:xfrm>
                <a:off x="1047748" y="5498814"/>
                <a:ext cx="2088457" cy="12228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𝑔𝑏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=−3.252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=−2.809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=0.054</m:t>
                      </m:r>
                    </m:oMath>
                  </m:oMathPara>
                </a14:m>
                <a:endParaRPr lang="en-US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759478A-1FA4-D3C5-C388-2FF03BB73C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7748" y="5498814"/>
                <a:ext cx="2088457" cy="12228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D627C1F-35D4-5A73-E39B-F5BEE6331D5C}"/>
                  </a:ext>
                </a:extLst>
              </p:cNvPr>
              <p:cNvSpPr txBox="1"/>
              <p:nvPr/>
            </p:nvSpPr>
            <p:spPr>
              <a:xfrm>
                <a:off x="3236236" y="2890001"/>
                <a:ext cx="8117564" cy="364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i="1">
                          <a:latin typeface="Cambria Math" panose="02040503050406030204" pitchFamily="18" charset="0"/>
                        </a:rPr>
                        <m:t>𝜉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argmin</m:t>
                              </m:r>
                            </m:e>
                            <m:li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𝐺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5000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𝑓</m:t>
                                      </m:r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𝑧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𝑘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𝑔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(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func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</m:d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≤4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Using rule-based bins instead of feature coefficients,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=−3.279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+1.099∗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26.30&lt;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Polar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Surface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Area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≤56.79</m:t>
                          </m:r>
                        </m:e>
                      </m:d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−0.685∗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190.35&lt;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Molecular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Weight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278.06</m:t>
                          </m:r>
                        </m:e>
                      </m:d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+0.151∗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1.00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Number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of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Rotatable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Bonds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3.00</m:t>
                          </m:r>
                        </m:e>
                      </m:d>
                    </m:oMath>
                  </m:oMathPara>
                </a14:m>
                <a:endParaRPr lang="en-US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−0.067∗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Minimum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Degree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1.00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D627C1F-35D4-5A73-E39B-F5BEE6331D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6236" y="2890001"/>
                <a:ext cx="8117564" cy="3640997"/>
              </a:xfrm>
              <a:prstGeom prst="rect">
                <a:avLst/>
              </a:prstGeom>
              <a:blipFill>
                <a:blip r:embed="rId5"/>
                <a:stretch>
                  <a:fillRect l="-676" b="-11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292C2E-C071-1934-EAC7-FA72651C0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158D2-2874-47A5-BF5F-065C8F7FE081}" type="slidenum">
              <a:rPr lang="en-US" smtClean="0"/>
              <a:t>25</a:t>
            </a:fld>
            <a:endParaRPr lang="en-US"/>
          </a:p>
        </p:txBody>
      </p:sp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8709F333-13C0-2878-DE68-20CC6F63BC5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6419573"/>
              </p:ext>
            </p:extLst>
          </p:nvPr>
        </p:nvGraphicFramePr>
        <p:xfrm>
          <a:off x="1140966" y="3185174"/>
          <a:ext cx="1753998" cy="23085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64-bit Drawing" r:id="rId6" imgW="833231" imgH="1096748" progId="ChemDraw_x64.Document.6.0">
                  <p:embed/>
                </p:oleObj>
              </mc:Choice>
              <mc:Fallback>
                <p:oleObj name="CS ChemDraw 64-bit Drawing" r:id="rId6" imgW="833231" imgH="1096748" progId="ChemDraw_x64.Document.6.0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EB80F8F8-7787-EEBF-616B-77EED90FF32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140966" y="3185174"/>
                        <a:ext cx="1753998" cy="230859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555579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3AC786-7054-813D-A0FA-A69250152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0BF726E2-336D-0EEE-DD43-C36B65405F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2774" y="2916699"/>
            <a:ext cx="8119872" cy="358828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8A4D344-8026-01CB-DC41-1415082C7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b="1" dirty="0"/>
              <a:t>Local model-agnostic post-hoc interpretability</a:t>
            </a:r>
            <a:r>
              <a:rPr lang="en-US" sz="3200" dirty="0"/>
              <a:t>: Local Interpretable Model-agnostic Explanations (LIME)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6AEB85-6099-317E-69C0-7C91B272D5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Example:</a:t>
            </a:r>
          </a:p>
          <a:p>
            <a:pPr marL="0" indent="0">
              <a:buNone/>
            </a:pPr>
            <a:r>
              <a:rPr lang="en-US" dirty="0"/>
              <a:t>Step 5: Fit a simple weighted surrogate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CE88253-E450-29BD-2D9F-8D6EF9DB4C08}"/>
                  </a:ext>
                </a:extLst>
              </p:cNvPr>
              <p:cNvSpPr txBox="1"/>
              <p:nvPr/>
            </p:nvSpPr>
            <p:spPr>
              <a:xfrm>
                <a:off x="1047748" y="5498814"/>
                <a:ext cx="2088457" cy="12228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𝑔𝑏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=−3.252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>
                          <a:latin typeface="Cambria Math" panose="02040503050406030204" pitchFamily="18" charset="0"/>
                        </a:rPr>
                        <m:t>=−2.809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=0.054</m:t>
                      </m:r>
                    </m:oMath>
                  </m:oMathPara>
                </a14:m>
                <a:endParaRPr lang="en-US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CE88253-E450-29BD-2D9F-8D6EF9DB4C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7748" y="5498814"/>
                <a:ext cx="2088457" cy="12228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9CE1CE-A53E-9769-BA1F-1F8F2D0A2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158D2-2874-47A5-BF5F-065C8F7FE081}" type="slidenum">
              <a:rPr lang="en-US" smtClean="0"/>
              <a:t>26</a:t>
            </a:fld>
            <a:endParaRPr lang="en-US"/>
          </a:p>
        </p:txBody>
      </p:sp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A90B8EEE-FAA5-2F0C-5C26-D58942B67E2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201765"/>
              </p:ext>
            </p:extLst>
          </p:nvPr>
        </p:nvGraphicFramePr>
        <p:xfrm>
          <a:off x="1160216" y="3185174"/>
          <a:ext cx="1753998" cy="23085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64-bit Drawing" r:id="rId6" imgW="833231" imgH="1096748" progId="ChemDraw_x64.Document.6.0">
                  <p:embed/>
                </p:oleObj>
              </mc:Choice>
              <mc:Fallback>
                <p:oleObj name="CS ChemDraw 64-bit Drawing" r:id="rId6" imgW="833231" imgH="1096748" progId="ChemDraw_x64.Document.6.0">
                  <p:embed/>
                  <p:pic>
                    <p:nvPicPr>
                      <p:cNvPr id="10" name="Object 9">
                        <a:extLst>
                          <a:ext uri="{FF2B5EF4-FFF2-40B4-BE49-F238E27FC236}">
                            <a16:creationId xmlns:a16="http://schemas.microsoft.com/office/drawing/2014/main" id="{A6E78F3C-33A1-77A6-CE2B-4B4A9B3487C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160216" y="3185174"/>
                        <a:ext cx="1753998" cy="230859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059566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ADAD48-FD9B-D7EC-B1A9-C7A280CE0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84BC0-80E1-600B-62F2-0537F53BE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b="1" dirty="0"/>
              <a:t>Local model-agnostic post-hoc interpretability</a:t>
            </a:r>
            <a:r>
              <a:rPr lang="en-US" sz="3200" dirty="0"/>
              <a:t>: Local Interpretable Model-agnostic Explanations (LIME)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95ADF8-526C-2654-E9A6-27F4956C7E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dirty="0"/>
              <a:t>Strengths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C3E709-ADC3-A5EA-EF15-C12513082CD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Provides local, human-readable explanations</a:t>
            </a:r>
            <a:r>
              <a:rPr lang="en-US" sz="2400" dirty="0"/>
              <a:t> for individual predictions</a:t>
            </a:r>
          </a:p>
          <a:p>
            <a:r>
              <a:rPr lang="en-US" sz="2400" b="1" dirty="0"/>
              <a:t>Works well when </a:t>
            </a:r>
            <a:r>
              <a:rPr lang="en-US" sz="2400" dirty="0"/>
              <a:t>a simple local surrogate can approximate the black-box model near the sample being explained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75A099-A424-BD5C-7982-4EA570DA7B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US" dirty="0"/>
              <a:t>Limitations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66B56E-6A9F-905E-2EFF-5D37503989C8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Autofit/>
          </a:bodyPr>
          <a:lstStyle/>
          <a:p>
            <a:r>
              <a:rPr lang="en-US" sz="2400" b="1" dirty="0"/>
              <a:t>Does not explain the black-box model directly</a:t>
            </a:r>
            <a:r>
              <a:rPr lang="en-US" sz="2400" dirty="0"/>
              <a:t>; it explains a local surrogate approximation</a:t>
            </a:r>
          </a:p>
          <a:p>
            <a:r>
              <a:rPr lang="en-US" sz="2400" b="1" dirty="0"/>
              <a:t>Sensitive to perturbation strategy, random seed, kernel width, number of features, etc.</a:t>
            </a:r>
          </a:p>
          <a:p>
            <a:r>
              <a:rPr lang="en-US" sz="2400" b="1" dirty="0"/>
              <a:t>Can mislead when</a:t>
            </a:r>
            <a:r>
              <a:rPr lang="en-US" sz="2400" dirty="0"/>
              <a:t> the local surrogate has poor fidelity</a:t>
            </a:r>
            <a:endParaRPr lang="en-US" sz="2400" b="1" dirty="0">
              <a:solidFill>
                <a:schemeClr val="accent2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6B0C74-4002-8D2F-0200-80CDEDA62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158D2-2874-47A5-BF5F-065C8F7FE081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0401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C61581-939D-FAD3-3111-48A2E5DB7F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097FD-C5F9-9BAC-6FA8-C416F8049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Global post-hoc model-agnostic local interpretability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F7F70A-A69C-754F-A94D-0CBACB60E9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021362B8-1F5D-0E3F-6001-4801E1D87F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8728" y="1825624"/>
            <a:ext cx="6085831" cy="4351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CCE4229-4D43-89B3-51AF-AEDAA64393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581001"/>
            <a:ext cx="12192000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dirty="0"/>
              <a:t>Molnar, C. </a:t>
            </a:r>
            <a:r>
              <a:rPr lang="en-US" sz="1200" i="1" dirty="0"/>
              <a:t>Interpretable Machine Learning: A Guide for Making Black Box Models Explainable</a:t>
            </a:r>
            <a:r>
              <a:rPr lang="en-US" sz="1200" dirty="0"/>
              <a:t> 3rd </a:t>
            </a:r>
            <a:r>
              <a:rPr lang="en-US" sz="1200" dirty="0" err="1"/>
              <a:t>edn</a:t>
            </a:r>
            <a:r>
              <a:rPr lang="en-US" sz="1200" dirty="0"/>
              <a:t>. (2025). </a:t>
            </a:r>
            <a:r>
              <a:rPr lang="en-US" sz="1200" dirty="0">
                <a:hlinkClick r:id="rId4"/>
              </a:rPr>
              <a:t>https://christophm.github.io/interpretable-ml-book/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D145CBC-81C9-4CA8-6ABF-9C27C4944D98}"/>
              </a:ext>
            </a:extLst>
          </p:cNvPr>
          <p:cNvSpPr/>
          <p:nvPr/>
        </p:nvSpPr>
        <p:spPr>
          <a:xfrm>
            <a:off x="3930316" y="2547169"/>
            <a:ext cx="2165684" cy="1190173"/>
          </a:xfrm>
          <a:prstGeom prst="rect">
            <a:avLst/>
          </a:prstGeom>
          <a:solidFill>
            <a:srgbClr val="FFFFFF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0AC75F1-951E-EAA5-D74B-BDEBF3949460}"/>
              </a:ext>
            </a:extLst>
          </p:cNvPr>
          <p:cNvSpPr/>
          <p:nvPr/>
        </p:nvSpPr>
        <p:spPr>
          <a:xfrm>
            <a:off x="2604820" y="4910668"/>
            <a:ext cx="3078125" cy="1350432"/>
          </a:xfrm>
          <a:prstGeom prst="rect">
            <a:avLst/>
          </a:prstGeom>
          <a:solidFill>
            <a:srgbClr val="FFFFFF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A8F37CE-52DE-5D90-81E7-FA5B0F218455}"/>
              </a:ext>
            </a:extLst>
          </p:cNvPr>
          <p:cNvSpPr/>
          <p:nvPr/>
        </p:nvSpPr>
        <p:spPr>
          <a:xfrm>
            <a:off x="7357730" y="3785510"/>
            <a:ext cx="3078125" cy="2391453"/>
          </a:xfrm>
          <a:prstGeom prst="rect">
            <a:avLst/>
          </a:prstGeom>
          <a:solidFill>
            <a:srgbClr val="FFFFFF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9F1A86-3B60-24E9-AE80-70D063966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158D2-2874-47A5-BF5F-065C8F7FE081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3405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0FDF7-C3B2-05A6-CE69-B44F91F79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Global model-agnostic post-hoc interpretability</a:t>
            </a:r>
            <a:r>
              <a:rPr lang="en-US" dirty="0"/>
              <a:t>: permutation importance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239C03C-1943-EEAA-77C4-D4A5BE71B58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sz="2000" dirty="0"/>
                  <a:t>Let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000" dirty="0"/>
                  <a:t> be a fitted model, let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000" dirty="0"/>
                  <a:t> be the dataset used for inspection (usually a held-out validation or test set), and let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/>
                  <a:t> be the corresponding target values.</a:t>
                </a:r>
              </a:p>
              <a:p>
                <a:pPr marL="514350" indent="-514350">
                  <a:buAutoNum type="arabicPeriod"/>
                </a:pPr>
                <a:r>
                  <a:rPr lang="en-US" sz="2000" dirty="0"/>
                  <a:t>Compute the baseline score: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000">
                        <a:latin typeface="Cambria Math" panose="02040503050406030204" pitchFamily="18" charset="0"/>
                      </a:rPr>
                      <m:t>score</m:t>
                    </m:r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(here, we will use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r>
                  <a:rPr lang="en-US" sz="2000" dirty="0"/>
                  <a:t>).</a:t>
                </a:r>
              </a:p>
              <a:p>
                <a:pPr marL="514350" indent="-514350">
                  <a:buAutoNum type="arabicPeriod"/>
                </a:pPr>
                <a:r>
                  <a:rPr lang="en-US" sz="2000" dirty="0"/>
                  <a:t>Choose feature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000" dirty="0"/>
                  <a:t>. Randomly permute column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000" dirty="0"/>
                  <a:t>, leaving all other columns unchanged. Call the corrupted dataset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000" dirty="0"/>
                  <a:t>.</a:t>
                </a:r>
              </a:p>
              <a:p>
                <a:pPr marL="514350" indent="-514350">
                  <a:buAutoNum type="arabicPeriod"/>
                </a:pPr>
                <a:r>
                  <a:rPr lang="en-US" sz="2000" dirty="0"/>
                  <a:t>Compute the score on the corrupted dataset: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200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000">
                        <a:latin typeface="Cambria Math" panose="02040503050406030204" pitchFamily="18" charset="0"/>
                      </a:rPr>
                      <m:t>score</m:t>
                    </m:r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/>
              </a:p>
              <a:p>
                <a:pPr marL="514350" indent="-514350">
                  <a:buAutoNum type="arabicPeriod"/>
                </a:pPr>
                <a:r>
                  <a:rPr lang="en-US" sz="2000" dirty="0"/>
                  <a:t>The permutation importance of feature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000" dirty="0"/>
                  <a:t> is: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PI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20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000" dirty="0"/>
                  <a:t>.</a:t>
                </a:r>
              </a:p>
              <a:p>
                <a:pPr marL="514350" indent="-514350">
                  <a:buAutoNum type="arabicPeriod"/>
                </a:pPr>
                <a:r>
                  <a:rPr lang="en-US" sz="2000" dirty="0"/>
                  <a:t>Repeat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2000" dirty="0"/>
                  <a:t> times for each feature and average the score after shuffling: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PI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</m:sup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2000" i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239C03C-1943-EEAA-77C4-D4A5BE71B58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696" t="-12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0FF5AB-386E-4598-B942-F5527400A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158D2-2874-47A5-BF5F-065C8F7FE081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2795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AEEE0E-7A6C-2117-8914-D7D55F622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81104-0A20-21FD-06B7-FA09898BB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Global model-agnostic post-hoc interpretability</a:t>
            </a:r>
            <a:r>
              <a:rPr lang="en-US" dirty="0"/>
              <a:t>: permutation importance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D8AB24-5A41-A902-A494-C01EF9554B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endParaRPr lang="en-US" sz="2000" i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690B13-987F-C1E9-E886-DDEE904F0D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852821"/>
            <a:ext cx="10515600" cy="429694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8E8006-2CA2-B8D5-451C-ECA3F01AB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158D2-2874-47A5-BF5F-065C8F7FE081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25328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F5017-A0B5-7D79-3F7E-64EDFB91A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Global model-agnostic post-hoc interpretability</a:t>
            </a:r>
            <a:r>
              <a:rPr lang="en-US" dirty="0"/>
              <a:t>: permutation importance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5A7E5-F58B-1C14-E5C3-FC8D5AB1C9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dirty="0"/>
              <a:t>Strengths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42D5E8-A46E-E5BE-0261-2651E37DC94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Provides a model-agnostic global feature ranking</a:t>
            </a:r>
            <a:r>
              <a:rPr lang="en-US" dirty="0"/>
              <a:t> based on predictive performance</a:t>
            </a:r>
          </a:p>
          <a:p>
            <a:r>
              <a:rPr lang="en-US" b="1" dirty="0"/>
              <a:t>Helps reveal</a:t>
            </a:r>
            <a:r>
              <a:rPr lang="en-US" dirty="0"/>
              <a:t> how much performance decreases when each feature’s information is destroyed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00763B-CE43-949E-C1A5-ED706C6611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US" dirty="0"/>
              <a:t>Limitations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E490785-DEA8-5787-90C7-502A6515FBE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Autofit/>
          </a:bodyPr>
          <a:lstStyle/>
          <a:p>
            <a:r>
              <a:rPr lang="en-US" b="1" dirty="0"/>
              <a:t>Does not show direction or local effects</a:t>
            </a:r>
            <a:r>
              <a:rPr lang="en-US" dirty="0"/>
              <a:t> because it measures performance drop, not positive/negative contribution</a:t>
            </a:r>
          </a:p>
          <a:p>
            <a:r>
              <a:rPr lang="en-US" b="1" dirty="0"/>
              <a:t>Can mislead when</a:t>
            </a:r>
            <a:r>
              <a:rPr lang="en-US" dirty="0"/>
              <a:t> redundant descriptors hide each other’s importance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88DBF2-92E1-3BD7-660C-AFC0F97FA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158D2-2874-47A5-BF5F-065C8F7FE081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49221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DBEED-1C2B-81BB-20B1-928DA7084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3E08B-2FEC-3764-948D-783724A7A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Local &amp; global post-hoc model-agnostic local interpretability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C09C42-A5EB-5645-C517-C027365288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181B2F8D-FF89-2324-764F-4218FB3C9A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8728" y="1825624"/>
            <a:ext cx="6085831" cy="4351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628A85B-4156-9D61-AD40-F376F61A41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581001"/>
            <a:ext cx="12192000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dirty="0"/>
              <a:t>Molnar, C. </a:t>
            </a:r>
            <a:r>
              <a:rPr lang="en-US" sz="1200" i="1" dirty="0"/>
              <a:t>Interpretable Machine Learning: A Guide for Making Black Box Models Explainable</a:t>
            </a:r>
            <a:r>
              <a:rPr lang="en-US" sz="1200" dirty="0"/>
              <a:t> 3rd </a:t>
            </a:r>
            <a:r>
              <a:rPr lang="en-US" sz="1200" dirty="0" err="1"/>
              <a:t>edn</a:t>
            </a:r>
            <a:r>
              <a:rPr lang="en-US" sz="1200" dirty="0"/>
              <a:t>. (2025). </a:t>
            </a:r>
            <a:r>
              <a:rPr lang="en-US" sz="1200" dirty="0">
                <a:hlinkClick r:id="rId4"/>
              </a:rPr>
              <a:t>https://christophm.github.io/interpretable-ml-book/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FE9D5DD-F0BC-A6E8-4E96-6A01820AA484}"/>
              </a:ext>
            </a:extLst>
          </p:cNvPr>
          <p:cNvSpPr/>
          <p:nvPr/>
        </p:nvSpPr>
        <p:spPr>
          <a:xfrm>
            <a:off x="3930316" y="2547169"/>
            <a:ext cx="2165684" cy="1190173"/>
          </a:xfrm>
          <a:prstGeom prst="rect">
            <a:avLst/>
          </a:prstGeom>
          <a:solidFill>
            <a:srgbClr val="FFFFFF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7176DD6-5AEA-135C-32B1-3E0263084FA0}"/>
              </a:ext>
            </a:extLst>
          </p:cNvPr>
          <p:cNvSpPr/>
          <p:nvPr/>
        </p:nvSpPr>
        <p:spPr>
          <a:xfrm>
            <a:off x="7357730" y="3785510"/>
            <a:ext cx="3078125" cy="2391453"/>
          </a:xfrm>
          <a:prstGeom prst="rect">
            <a:avLst/>
          </a:prstGeom>
          <a:solidFill>
            <a:srgbClr val="FFFFFF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5D02E7-0F92-12AA-0539-08EC07182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158D2-2874-47A5-BF5F-065C8F7FE081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87400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0105E-5495-91D6-BA42-8027CE083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b="1" dirty="0"/>
              <a:t>Local &amp; global model-agnostic post-hoc interpretability</a:t>
            </a:r>
            <a:r>
              <a:rPr lang="en-US" sz="3200" dirty="0"/>
              <a:t>: individual conditional expectation (ICE) and partial dependence plots (PDP)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BA68E83-E7CC-3DA2-D878-291946C99FB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be a fitted model. </a:t>
                </a:r>
              </a:p>
              <a:p>
                <a:pPr marL="0" indent="0">
                  <a:buNone/>
                </a:pPr>
                <a:r>
                  <a:rPr lang="en-US" dirty="0"/>
                  <a:t>For measurement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, feature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/>
                  <a:t>, and a chosen value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dirty="0"/>
                  <a:t>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, the ICE value is: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ICE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,−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,−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: all features other than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 for measurement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A PDP averages the ICE curves over all measurements: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PDP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i="1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BA68E83-E7CC-3DA2-D878-291946C99FB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17" t="-32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0A3EE9-5F37-D3F5-EF78-C63EBD0D2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158D2-2874-47A5-BF5F-065C8F7FE081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618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2D201-B770-2CF7-17F7-7EE14A0B2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b="1" dirty="0"/>
              <a:t>Local &amp; global model-agnostic post-hoc interpretability</a:t>
            </a:r>
            <a:r>
              <a:rPr lang="en-US" sz="3200" dirty="0"/>
              <a:t>: individual conditional expectation (ICE) and partial dependence plots (PDP)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6C2734-7C19-13DF-B4F4-828C3731DA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765DCB-4A65-A1C5-12D5-9C386B9BA6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852053"/>
            <a:ext cx="10515600" cy="429848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BCF4018-E033-377D-1ECB-C0641878DA35}"/>
              </a:ext>
            </a:extLst>
          </p:cNvPr>
          <p:cNvSpPr txBox="1"/>
          <p:nvPr/>
        </p:nvSpPr>
        <p:spPr>
          <a:xfrm>
            <a:off x="6096000" y="1946417"/>
            <a:ext cx="5156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ICE curves show a consistent decrease in predicted log solubility with increasing molecular weight.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Molecules with more rings tend to have lower predicted solubility at the same molecular weight.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Ring count primarily shifts the baseline prediction and does not fundamentally changing the molecular-weight dependence.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96114C-0BEB-66C3-BF4D-696D745D5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158D2-2874-47A5-BF5F-065C8F7FE081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98213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FE79F-A5B0-5A76-8ECD-BBB92CD41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b="1" dirty="0"/>
              <a:t>Local &amp; global model-agnostic post-hoc interpretability</a:t>
            </a:r>
            <a:r>
              <a:rPr lang="en-US" sz="3200" dirty="0"/>
              <a:t>: individual conditional expectation (ICE) and partial dependence plots (PDP)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D2676B-A855-F000-919D-38D56562F0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C0A866-9CD1-4BD4-FBC9-5B329A0E29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852821"/>
            <a:ext cx="10515600" cy="429694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AD865AA-11CA-68B8-7719-8E163A17A55B}"/>
              </a:ext>
            </a:extLst>
          </p:cNvPr>
          <p:cNvSpPr txBox="1"/>
          <p:nvPr/>
        </p:nvSpPr>
        <p:spPr>
          <a:xfrm>
            <a:off x="5054600" y="4289567"/>
            <a:ext cx="51562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ICE/PDP curves show that predicted log solubility increases with polar surface area, especially at low polar surface area, and then largely plateaus.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Molecules with more rings are predicted to be less soluble at the same polar surface area.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Ring count appears to shift the baseline prediction more than it changes the shape of the polar-surface-area dependence.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9B2CC1-0C7E-71D7-D803-12D03A77B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158D2-2874-47A5-BF5F-065C8F7FE081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98744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D9BD5C-5629-CE61-127E-9F42477835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72564-8736-086F-D34E-6B1EBBDE2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b="1" dirty="0"/>
              <a:t>Local &amp; global model-agnostic post-hoc interpretability</a:t>
            </a:r>
            <a:r>
              <a:rPr lang="en-US" sz="3200" dirty="0"/>
              <a:t>: individual conditional expectation (ICE) and partial dependence plots (PDP)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5D43D2-C057-8756-5B73-B51CDE2077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6CB0DD2-BF87-4103-6E95-E4FB4DC583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852821"/>
            <a:ext cx="10515600" cy="429694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93C9B82-C7E5-1B89-1BBA-AE58038CFDE5}"/>
              </a:ext>
            </a:extLst>
          </p:cNvPr>
          <p:cNvSpPr txBox="1"/>
          <p:nvPr/>
        </p:nvSpPr>
        <p:spPr>
          <a:xfrm>
            <a:off x="3517900" y="1946417"/>
            <a:ext cx="5156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Predicted log solubility decreases strongly with molecular weight and increases with polar surface area.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Polar surface area can partially compensate for high molecular weight, suggesting that the model has learned an interaction between molecular size and polarity.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EC5E61-0E25-436E-3F70-1991B907C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158D2-2874-47A5-BF5F-065C8F7FE081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2177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6C069-5E28-EC36-2673-604E17C0A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b="1" dirty="0"/>
              <a:t>Local &amp; global model-agnostic post-hoc interpretability</a:t>
            </a:r>
            <a:r>
              <a:rPr lang="en-US" sz="3200" dirty="0"/>
              <a:t>: individual conditional expectation (ICE) and partial dependence plots (PDP)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12B3E9-049B-3D5F-0C13-1710F222D1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dirty="0"/>
              <a:t>Strengths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025372-E3E1-85CA-6284-9996C8B324B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Works well when</a:t>
            </a:r>
            <a:r>
              <a:rPr lang="en-US" dirty="0"/>
              <a:t> you want to move from “which features matter?” to “how does the model use this feature?” </a:t>
            </a:r>
          </a:p>
          <a:p>
            <a:r>
              <a:rPr lang="en-US" b="1" dirty="0"/>
              <a:t>Helps reveal</a:t>
            </a:r>
            <a:r>
              <a:rPr lang="en-US" dirty="0"/>
              <a:t> direction, nonlinearity, thresholds, saturation, and heterogeneity across samples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E56614-A0A7-8351-214F-6A761CCB0F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US" dirty="0"/>
              <a:t>Limitations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FEA6F0-5B44-3CD6-1398-DDF981FBFEEC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Do not prove causal effects </a:t>
            </a:r>
            <a:r>
              <a:rPr lang="en-US" dirty="0"/>
              <a:t>because they evaluate model behavior under artificial feature changes</a:t>
            </a:r>
          </a:p>
          <a:p>
            <a:r>
              <a:rPr lang="en-US" b="1" dirty="0"/>
              <a:t>Can mislead when</a:t>
            </a:r>
            <a:r>
              <a:rPr lang="en-US" dirty="0"/>
              <a:t> PDP averages hide heterogeneous ICE behavior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2A533A-26F0-F34C-971F-BC1EB32A8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158D2-2874-47A5-BF5F-065C8F7FE081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79337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0E824-13DB-0A63-9198-B9D32CB7A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b="1" dirty="0"/>
              <a:t>Local &amp; global model-agnostic post-hoc interpretability</a:t>
            </a:r>
            <a:r>
              <a:rPr lang="en-US" sz="3200" dirty="0"/>
              <a:t>: </a:t>
            </a:r>
            <a:r>
              <a:rPr lang="en-US" sz="3200" dirty="0" err="1"/>
              <a:t>SHapley</a:t>
            </a:r>
            <a:r>
              <a:rPr lang="en-US" sz="3200" dirty="0"/>
              <a:t> Additive </a:t>
            </a:r>
            <a:r>
              <a:rPr lang="en-US" sz="3200" dirty="0" err="1"/>
              <a:t>exPlanations</a:t>
            </a:r>
            <a:r>
              <a:rPr lang="en-US" sz="3200" dirty="0"/>
              <a:t> (SHAP)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38DF987-C8F8-E608-F62C-1E5BE5B98E7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b="1" dirty="0"/>
                  <a:t>Core idea: </a:t>
                </a:r>
                <a:r>
                  <a:rPr lang="en-US" dirty="0"/>
                  <a:t>every prediction is decomposed as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lang="en-US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dirty="0"/>
                  <a:t>where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: model prediction for sample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: baseline prediction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: SHAP value for feature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/>
                  <a:t> in sample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: number of features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38DF987-C8F8-E608-F62C-1E5BE5B98E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A93403-DB61-DD0F-A42B-555181878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158D2-2874-47A5-BF5F-065C8F7FE081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81938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79B89-F60E-AAA0-4858-E543F32FD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b="1" dirty="0"/>
              <a:t>Local &amp; global model-agnostic post-hoc interpretability</a:t>
            </a:r>
            <a:r>
              <a:rPr lang="en-US" sz="3200" dirty="0"/>
              <a:t>: </a:t>
            </a:r>
            <a:r>
              <a:rPr lang="en-US" sz="3200" dirty="0" err="1"/>
              <a:t>SHapley</a:t>
            </a:r>
            <a:r>
              <a:rPr lang="en-US" sz="3200" dirty="0"/>
              <a:t> Additive </a:t>
            </a:r>
            <a:r>
              <a:rPr lang="en-US" sz="3200" dirty="0" err="1"/>
              <a:t>exPlanations</a:t>
            </a:r>
            <a:r>
              <a:rPr lang="en-US" sz="3200" dirty="0"/>
              <a:t> (SHAP)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77A893-2404-2EDF-746D-DE6609F8A0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Example: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8028829-4D49-5D98-8005-F7BA0AA884AE}"/>
                  </a:ext>
                </a:extLst>
              </p:cNvPr>
              <p:cNvSpPr txBox="1"/>
              <p:nvPr/>
            </p:nvSpPr>
            <p:spPr>
              <a:xfrm>
                <a:off x="1047748" y="2449231"/>
                <a:ext cx="1978940" cy="3919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𝑔𝑏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=−3.252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8028829-4D49-5D98-8005-F7BA0AA884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7748" y="2449231"/>
                <a:ext cx="1978940" cy="391902"/>
              </a:xfrm>
              <a:prstGeom prst="rect">
                <a:avLst/>
              </a:prstGeom>
              <a:blipFill>
                <a:blip r:embed="rId4"/>
                <a:stretch>
                  <a:fillRect b="-9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3571E09F-6F7B-DA07-791D-61929DC6F1B5}"/>
              </a:ext>
            </a:extLst>
          </p:cNvPr>
          <p:cNvSpPr txBox="1"/>
          <p:nvPr/>
        </p:nvSpPr>
        <p:spPr>
          <a:xfrm>
            <a:off x="838200" y="5158114"/>
            <a:ext cx="10515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How much did molecular weight, polar surface area, ring count, and the other descriptors push the predicted log solubility above or below a reference prediction?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DB1413D-BE2D-B471-3501-190871823080}"/>
                  </a:ext>
                </a:extLst>
              </p:cNvPr>
              <p:cNvSpPr txBox="1"/>
              <p:nvPr/>
            </p:nvSpPr>
            <p:spPr>
              <a:xfrm>
                <a:off x="3236236" y="2449231"/>
                <a:ext cx="8117563" cy="15940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=−2.885</m:t>
                      </m:r>
                    </m:oMath>
                  </m:oMathPara>
                </a14:m>
                <a:endParaRPr lang="en-US" i="1" dirty="0"/>
              </a:p>
              <a:p>
                <a:endParaRPr lang="en-US" i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∴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pt-P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pt-P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mw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pt-P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pt-P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psa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pt-P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pt-P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pt-PT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#</m:t>
                          </m:r>
                          <m:r>
                            <m:rPr>
                              <m:sty m:val="p"/>
                            </m:rPr>
                            <a:rPr lang="pt-PT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r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pt-P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pt-P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pt-PT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#</m:t>
                          </m:r>
                          <m:r>
                            <m:rPr>
                              <m:sty m:val="p"/>
                            </m:rPr>
                            <a:rPr lang="pt-PT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hbd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pt-P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pt-P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pt-PT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md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pt-P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pt-P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pt-PT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#</m:t>
                          </m:r>
                          <m:r>
                            <m:rPr>
                              <m:sty m:val="p"/>
                            </m:rPr>
                            <a:rPr lang="pt-PT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rb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=−3.252−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−2.885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=−0.367</m:t>
                      </m:r>
                    </m:oMath>
                  </m:oMathPara>
                </a14:m>
                <a:endParaRPr lang="en-US" i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DB1413D-BE2D-B471-3501-1908718230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6236" y="2449231"/>
                <a:ext cx="8117563" cy="159409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E34210-63FA-2850-6C21-DF5913811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158D2-2874-47A5-BF5F-065C8F7FE081}" type="slidenum">
              <a:rPr lang="en-US" smtClean="0"/>
              <a:t>39</a:t>
            </a:fld>
            <a:endParaRPr lang="en-US"/>
          </a:p>
        </p:txBody>
      </p:sp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398A66BE-39A8-7B59-1438-7DB109DA11C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6610334"/>
              </p:ext>
            </p:extLst>
          </p:nvPr>
        </p:nvGraphicFramePr>
        <p:xfrm>
          <a:off x="1160216" y="2841133"/>
          <a:ext cx="1753998" cy="23085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64-bit Drawing" r:id="rId6" imgW="833231" imgH="1096748" progId="ChemDraw_x64.Document.6.0">
                  <p:embed/>
                </p:oleObj>
              </mc:Choice>
              <mc:Fallback>
                <p:oleObj name="CS ChemDraw 64-bit Drawing" r:id="rId6" imgW="833231" imgH="1096748" progId="ChemDraw_x64.Document.6.0">
                  <p:embed/>
                  <p:pic>
                    <p:nvPicPr>
                      <p:cNvPr id="10" name="Object 9">
                        <a:extLst>
                          <a:ext uri="{FF2B5EF4-FFF2-40B4-BE49-F238E27FC236}">
                            <a16:creationId xmlns:a16="http://schemas.microsoft.com/office/drawing/2014/main" id="{A6E78F3C-33A1-77A6-CE2B-4B4A9B3487C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160216" y="2841133"/>
                        <a:ext cx="1753998" cy="230859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1273200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F19957-0F8E-405F-9752-A92DDB607D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45A81-D4B2-0D9B-1BCE-98A3E070E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b="1" dirty="0"/>
              <a:t>Local &amp; global model-agnostic post-hoc interpretability</a:t>
            </a:r>
            <a:r>
              <a:rPr lang="en-US" sz="3200" dirty="0"/>
              <a:t>: </a:t>
            </a:r>
            <a:r>
              <a:rPr lang="en-US" sz="3200" dirty="0" err="1"/>
              <a:t>SHapley</a:t>
            </a:r>
            <a:r>
              <a:rPr lang="en-US" sz="3200" dirty="0"/>
              <a:t> Additive </a:t>
            </a:r>
            <a:r>
              <a:rPr lang="en-US" sz="3200" dirty="0" err="1"/>
              <a:t>exPlanations</a:t>
            </a:r>
            <a:r>
              <a:rPr lang="en-US" sz="3200" dirty="0"/>
              <a:t> (SHAP)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6EC7EE-E6FA-D010-89C3-7F76DC0EAC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Example: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3E00555-9D0C-33F7-EB3C-EF9E51C82383}"/>
                  </a:ext>
                </a:extLst>
              </p:cNvPr>
              <p:cNvSpPr txBox="1"/>
              <p:nvPr/>
            </p:nvSpPr>
            <p:spPr>
              <a:xfrm>
                <a:off x="1047748" y="2449231"/>
                <a:ext cx="1978940" cy="3919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𝑔𝑏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=−3.252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3E00555-9D0C-33F7-EB3C-EF9E51C823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7748" y="2449231"/>
                <a:ext cx="1978940" cy="391902"/>
              </a:xfrm>
              <a:prstGeom prst="rect">
                <a:avLst/>
              </a:prstGeom>
              <a:blipFill>
                <a:blip r:embed="rId4"/>
                <a:stretch>
                  <a:fillRect b="-9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22A10D2D-B7AE-7841-C55E-A6D9F1EA22E6}"/>
              </a:ext>
            </a:extLst>
          </p:cNvPr>
          <p:cNvSpPr txBox="1"/>
          <p:nvPr/>
        </p:nvSpPr>
        <p:spPr>
          <a:xfrm>
            <a:off x="838200" y="5158114"/>
            <a:ext cx="10515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How much did molecular weight, polar surface area, ring count, and the other descriptors push the predicted log solubility above or below a reference prediction?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1AE96BE-7113-420E-228D-09631500CA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35082" y="2449231"/>
            <a:ext cx="8119872" cy="2643429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B436DD-10C7-09FA-E15C-98B062905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158D2-2874-47A5-BF5F-065C8F7FE081}" type="slidenum">
              <a:rPr lang="en-US" smtClean="0"/>
              <a:t>40</a:t>
            </a:fld>
            <a:endParaRPr lang="en-US"/>
          </a:p>
        </p:txBody>
      </p:sp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F5D3AA52-E730-5860-2705-13C5C09A38E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6280502"/>
              </p:ext>
            </p:extLst>
          </p:nvPr>
        </p:nvGraphicFramePr>
        <p:xfrm>
          <a:off x="1160216" y="2841133"/>
          <a:ext cx="1753998" cy="23085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64-bit Drawing" r:id="rId6" imgW="833231" imgH="1096748" progId="ChemDraw_x64.Document.6.0">
                  <p:embed/>
                </p:oleObj>
              </mc:Choice>
              <mc:Fallback>
                <p:oleObj name="CS ChemDraw 64-bit Drawing" r:id="rId6" imgW="833231" imgH="1096748" progId="ChemDraw_x64.Document.6.0">
                  <p:embed/>
                  <p:pic>
                    <p:nvPicPr>
                      <p:cNvPr id="10" name="Object 9">
                        <a:extLst>
                          <a:ext uri="{FF2B5EF4-FFF2-40B4-BE49-F238E27FC236}">
                            <a16:creationId xmlns:a16="http://schemas.microsoft.com/office/drawing/2014/main" id="{398A66BE-39A8-7B59-1438-7DB109DA11C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160216" y="2841133"/>
                        <a:ext cx="1753998" cy="230859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8916218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A9B03C-EBAA-6A26-4DF6-6FBAEA53E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63528-2620-4C0E-910E-83E2767CC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b="1" dirty="0"/>
              <a:t>Local &amp; global model-agnostic post-hoc interpretability</a:t>
            </a:r>
            <a:r>
              <a:rPr lang="en-US" sz="3200" dirty="0"/>
              <a:t>: </a:t>
            </a:r>
            <a:r>
              <a:rPr lang="en-US" sz="3200" dirty="0" err="1"/>
              <a:t>SHapley</a:t>
            </a:r>
            <a:r>
              <a:rPr lang="en-US" sz="3200" dirty="0"/>
              <a:t> Additive </a:t>
            </a:r>
            <a:r>
              <a:rPr lang="en-US" sz="3200" dirty="0" err="1"/>
              <a:t>exPlanations</a:t>
            </a:r>
            <a:r>
              <a:rPr lang="en-US" sz="3200" dirty="0"/>
              <a:t> (SHAP)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DC41E8-C5A8-8233-1883-6B57502BC6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Example:</a:t>
            </a:r>
          </a:p>
          <a:p>
            <a:pPr marL="0" indent="0">
              <a:buNone/>
            </a:pPr>
            <a:r>
              <a:rPr lang="en-US" dirty="0"/>
              <a:t>Step 1: Pick the molecule to explain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673728F-D5AC-F5D2-6B1C-30EA54CDC1AF}"/>
                  </a:ext>
                </a:extLst>
              </p:cNvPr>
              <p:cNvSpPr txBox="1"/>
              <p:nvPr/>
            </p:nvSpPr>
            <p:spPr>
              <a:xfrm>
                <a:off x="1047748" y="5498814"/>
                <a:ext cx="1978940" cy="3919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𝑔𝑏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=−3.252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673728F-D5AC-F5D2-6B1C-30EA54CDC1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7748" y="5498814"/>
                <a:ext cx="1978940" cy="391902"/>
              </a:xfrm>
              <a:prstGeom prst="rect">
                <a:avLst/>
              </a:prstGeom>
              <a:blipFill>
                <a:blip r:embed="rId4"/>
                <a:stretch>
                  <a:fillRect b="-9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8C741B-0B89-B809-ABF5-553FDCDE2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158D2-2874-47A5-BF5F-065C8F7FE081}" type="slidenum">
              <a:rPr lang="en-US" smtClean="0"/>
              <a:t>41</a:t>
            </a:fld>
            <a:endParaRPr lang="en-US"/>
          </a:p>
        </p:txBody>
      </p:sp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96400978-AB59-600E-3EF4-B8605624D5D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4812445"/>
              </p:ext>
            </p:extLst>
          </p:nvPr>
        </p:nvGraphicFramePr>
        <p:xfrm>
          <a:off x="1160216" y="3190216"/>
          <a:ext cx="1753998" cy="23085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64-bit Drawing" r:id="rId5" imgW="833231" imgH="1096748" progId="ChemDraw_x64.Document.6.0">
                  <p:embed/>
                </p:oleObj>
              </mc:Choice>
              <mc:Fallback>
                <p:oleObj name="CS ChemDraw 64-bit Drawing" r:id="rId5" imgW="833231" imgH="1096748" progId="ChemDraw_x64.Document.6.0">
                  <p:embed/>
                  <p:pic>
                    <p:nvPicPr>
                      <p:cNvPr id="10" name="Object 9">
                        <a:extLst>
                          <a:ext uri="{FF2B5EF4-FFF2-40B4-BE49-F238E27FC236}">
                            <a16:creationId xmlns:a16="http://schemas.microsoft.com/office/drawing/2014/main" id="{398A66BE-39A8-7B59-1438-7DB109DA11C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160216" y="3190216"/>
                        <a:ext cx="1753998" cy="230859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404294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C99E9D-F668-B455-4D41-7A614C56C0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0AE98-35C8-46A4-FD07-35CA73676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b="1" dirty="0"/>
              <a:t>Local &amp; global model-agnostic post-hoc interpretability</a:t>
            </a:r>
            <a:r>
              <a:rPr lang="en-US" sz="3200" dirty="0"/>
              <a:t>: </a:t>
            </a:r>
            <a:r>
              <a:rPr lang="en-US" sz="3200" dirty="0" err="1"/>
              <a:t>SHapley</a:t>
            </a:r>
            <a:r>
              <a:rPr lang="en-US" sz="3200" dirty="0"/>
              <a:t> Additive </a:t>
            </a:r>
            <a:r>
              <a:rPr lang="en-US" sz="3200" dirty="0" err="1"/>
              <a:t>exPlanations</a:t>
            </a:r>
            <a:r>
              <a:rPr lang="en-US" sz="3200" dirty="0"/>
              <a:t> (SHAP)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4F2F51F-CDE0-7491-E14C-FF05EA43D33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b="1" dirty="0"/>
                  <a:t>Example:</a:t>
                </a:r>
              </a:p>
              <a:p>
                <a:pPr marL="0" indent="0">
                  <a:buNone/>
                </a:pPr>
                <a:r>
                  <a:rPr lang="en-US" dirty="0"/>
                  <a:t>Step 2: Choose a background dataset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4F2F51F-CDE0-7491-E14C-FF05EA43D3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917863C-423C-D2EF-D120-DF5F4E42F355}"/>
                  </a:ext>
                </a:extLst>
              </p:cNvPr>
              <p:cNvSpPr txBox="1"/>
              <p:nvPr/>
            </p:nvSpPr>
            <p:spPr>
              <a:xfrm>
                <a:off x="1047748" y="5498814"/>
                <a:ext cx="1978940" cy="3919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𝑔𝑏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=−3.252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917863C-423C-D2EF-D120-DF5F4E42F3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7748" y="5498814"/>
                <a:ext cx="1978940" cy="391902"/>
              </a:xfrm>
              <a:prstGeom prst="rect">
                <a:avLst/>
              </a:prstGeom>
              <a:blipFill>
                <a:blip r:embed="rId5"/>
                <a:stretch>
                  <a:fillRect b="-9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2107A30-807E-4D7A-0D5C-0F9B01A1000E}"/>
                  </a:ext>
                </a:extLst>
              </p:cNvPr>
              <p:cNvSpPr txBox="1"/>
              <p:nvPr/>
            </p:nvSpPr>
            <p:spPr>
              <a:xfrm>
                <a:off x="3236236" y="2815842"/>
                <a:ext cx="239803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>
                    <a:latin typeface="Courier New" panose="02070309020205020404" pitchFamily="49" charset="0"/>
                  </a:rPr>
                  <a:t> </a:t>
                </a:r>
                <a:r>
                  <a:rPr lang="en-US" dirty="0" err="1">
                    <a:latin typeface="Courier New" panose="02070309020205020404" pitchFamily="49" charset="0"/>
                  </a:rPr>
                  <a:t>X_train</a:t>
                </a:r>
                <a:endParaRPr lang="en-US" sz="12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2107A30-807E-4D7A-0D5C-0F9B01A100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6236" y="2815842"/>
                <a:ext cx="2398036" cy="369332"/>
              </a:xfrm>
              <a:prstGeom prst="rect">
                <a:avLst/>
              </a:prstGeom>
              <a:blipFill>
                <a:blip r:embed="rId6"/>
                <a:stretch>
                  <a:fillRect t="-8197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25B18F-8D55-857B-BC1D-54EDD8629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158D2-2874-47A5-BF5F-065C8F7FE081}" type="slidenum">
              <a:rPr lang="en-US" smtClean="0"/>
              <a:t>42</a:t>
            </a:fld>
            <a:endParaRPr lang="en-US"/>
          </a:p>
        </p:txBody>
      </p:sp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A35645E7-982E-C2D5-7184-15BAC3268CB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2925589"/>
              </p:ext>
            </p:extLst>
          </p:nvPr>
        </p:nvGraphicFramePr>
        <p:xfrm>
          <a:off x="1160216" y="3190216"/>
          <a:ext cx="1753998" cy="23085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64-bit Drawing" r:id="rId7" imgW="833231" imgH="1096748" progId="ChemDraw_x64.Document.6.0">
                  <p:embed/>
                </p:oleObj>
              </mc:Choice>
              <mc:Fallback>
                <p:oleObj name="CS ChemDraw 64-bit Drawing" r:id="rId7" imgW="833231" imgH="1096748" progId="ChemDraw_x64.Document.6.0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96400978-AB59-600E-3EF4-B8605624D5D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160216" y="3190216"/>
                        <a:ext cx="1753998" cy="230859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5041617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9C4832-B452-60C9-3B57-F1922E7F5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5662E-B1F1-B4AB-DBE2-AAF5C96AF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b="1" dirty="0"/>
              <a:t>Local &amp; global model-agnostic post-hoc interpretability</a:t>
            </a:r>
            <a:r>
              <a:rPr lang="en-US" sz="3200" dirty="0"/>
              <a:t>: </a:t>
            </a:r>
            <a:r>
              <a:rPr lang="en-US" sz="3200" dirty="0" err="1"/>
              <a:t>SHapley</a:t>
            </a:r>
            <a:r>
              <a:rPr lang="en-US" sz="3200" dirty="0"/>
              <a:t> Additive </a:t>
            </a:r>
            <a:r>
              <a:rPr lang="en-US" sz="3200" dirty="0" err="1"/>
              <a:t>exPlanations</a:t>
            </a:r>
            <a:r>
              <a:rPr lang="en-US" sz="3200" dirty="0"/>
              <a:t> (SHAP)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561616-AAB9-0B42-6B1B-7CA332F5A0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Example:</a:t>
            </a:r>
          </a:p>
          <a:p>
            <a:pPr marL="0" indent="0">
              <a:buNone/>
            </a:pPr>
            <a:r>
              <a:rPr lang="en-US" dirty="0"/>
              <a:t>Step 3: Compute the baseline prediction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8C819DE-917D-DE5A-495B-7C0CBC9656DA}"/>
                  </a:ext>
                </a:extLst>
              </p:cNvPr>
              <p:cNvSpPr txBox="1"/>
              <p:nvPr/>
            </p:nvSpPr>
            <p:spPr>
              <a:xfrm>
                <a:off x="1047748" y="5498814"/>
                <a:ext cx="1978940" cy="3919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𝑔𝑏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=−3.252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8C819DE-917D-DE5A-495B-7C0CBC9656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7748" y="5498814"/>
                <a:ext cx="1978940" cy="391902"/>
              </a:xfrm>
              <a:prstGeom prst="rect">
                <a:avLst/>
              </a:prstGeom>
              <a:blipFill>
                <a:blip r:embed="rId4"/>
                <a:stretch>
                  <a:fillRect b="-9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DA63E7D-E290-0D2F-CA3A-038201C6B352}"/>
                  </a:ext>
                </a:extLst>
              </p:cNvPr>
              <p:cNvSpPr txBox="1"/>
              <p:nvPr/>
            </p:nvSpPr>
            <p:spPr>
              <a:xfrm>
                <a:off x="3236236" y="2815842"/>
                <a:ext cx="2859764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>
                    <a:latin typeface="Courier New" panose="02070309020205020404" pitchFamily="49" charset="0"/>
                  </a:rPr>
                  <a:t> </a:t>
                </a:r>
                <a:r>
                  <a:rPr lang="en-US" dirty="0" err="1">
                    <a:latin typeface="Courier New" panose="02070309020205020404" pitchFamily="49" charset="0"/>
                  </a:rPr>
                  <a:t>X_train</a:t>
                </a:r>
                <a:endParaRPr lang="en-US" dirty="0">
                  <a:latin typeface="Courier New" panose="02070309020205020404" pitchFamily="49" charset="0"/>
                </a:endParaRPr>
              </a:p>
              <a:p>
                <a:endParaRPr lang="en-US" i="1" dirty="0">
                  <a:latin typeface="Courier New" panose="02070309020205020404" pitchFamily="49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=−2.885</m:t>
                      </m:r>
                    </m:oMath>
                  </m:oMathPara>
                </a14:m>
                <a:endParaRPr lang="en-US" i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DA63E7D-E290-0D2F-CA3A-038201C6B3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6236" y="2815842"/>
                <a:ext cx="2859764" cy="923330"/>
              </a:xfrm>
              <a:prstGeom prst="rect">
                <a:avLst/>
              </a:prstGeom>
              <a:blipFill>
                <a:blip r:embed="rId5"/>
                <a:stretch>
                  <a:fillRect t="-3311" b="-4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1B514E-FDF6-4E52-66DB-4FDF5C676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158D2-2874-47A5-BF5F-065C8F7FE081}" type="slidenum">
              <a:rPr lang="en-US" smtClean="0"/>
              <a:t>43</a:t>
            </a:fld>
            <a:endParaRPr lang="en-US"/>
          </a:p>
        </p:txBody>
      </p:sp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ECF0ACE1-F55D-D4AE-F3BA-F03AD0C7C33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2925589"/>
              </p:ext>
            </p:extLst>
          </p:nvPr>
        </p:nvGraphicFramePr>
        <p:xfrm>
          <a:off x="1160216" y="3190216"/>
          <a:ext cx="1753998" cy="23085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64-bit Drawing" r:id="rId6" imgW="833231" imgH="1096748" progId="ChemDraw_x64.Document.6.0">
                  <p:embed/>
                </p:oleObj>
              </mc:Choice>
              <mc:Fallback>
                <p:oleObj name="CS ChemDraw 64-bit Drawing" r:id="rId6" imgW="833231" imgH="1096748" progId="ChemDraw_x64.Document.6.0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96400978-AB59-600E-3EF4-B8605624D5D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160216" y="3190216"/>
                        <a:ext cx="1753998" cy="230859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7692418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37DE9-3D4C-2A31-6B00-FACD521C0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BF779-46F4-A3AC-C873-9B5D82387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b="1" dirty="0"/>
              <a:t>Local &amp; global model-agnostic post-hoc interpretability</a:t>
            </a:r>
            <a:r>
              <a:rPr lang="en-US" sz="3200" dirty="0"/>
              <a:t>: </a:t>
            </a:r>
            <a:r>
              <a:rPr lang="en-US" sz="3200" dirty="0" err="1"/>
              <a:t>SHapley</a:t>
            </a:r>
            <a:r>
              <a:rPr lang="en-US" sz="3200" dirty="0"/>
              <a:t> Additive </a:t>
            </a:r>
            <a:r>
              <a:rPr lang="en-US" sz="3200" dirty="0" err="1"/>
              <a:t>exPlanations</a:t>
            </a:r>
            <a:r>
              <a:rPr lang="en-US" sz="3200" dirty="0"/>
              <a:t> (SHAP)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9A6F93-B8F8-760E-6788-14887D54B2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Example:</a:t>
            </a:r>
          </a:p>
          <a:p>
            <a:pPr marL="0" indent="0">
              <a:buNone/>
            </a:pPr>
            <a:r>
              <a:rPr lang="en-US" dirty="0"/>
              <a:t>Step 4: Consider all feature coalitions without molecular weight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AD70987-C9D7-CB6D-F697-0515F380CDC2}"/>
                  </a:ext>
                </a:extLst>
              </p:cNvPr>
              <p:cNvSpPr txBox="1"/>
              <p:nvPr/>
            </p:nvSpPr>
            <p:spPr>
              <a:xfrm>
                <a:off x="1047748" y="5498814"/>
                <a:ext cx="1978940" cy="3919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𝑔𝑏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=−3.252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AD70987-C9D7-CB6D-F697-0515F380CD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7748" y="5498814"/>
                <a:ext cx="1978940" cy="391902"/>
              </a:xfrm>
              <a:prstGeom prst="rect">
                <a:avLst/>
              </a:prstGeom>
              <a:blipFill>
                <a:blip r:embed="rId4"/>
                <a:stretch>
                  <a:fillRect b="-9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F562A35-2FBA-E32B-D843-9072957A388F}"/>
                  </a:ext>
                </a:extLst>
              </p:cNvPr>
              <p:cNvSpPr txBox="1"/>
              <p:nvPr/>
            </p:nvSpPr>
            <p:spPr>
              <a:xfrm>
                <a:off x="3236236" y="2815842"/>
                <a:ext cx="2859764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>
                    <a:latin typeface="Courier New" panose="02070309020205020404" pitchFamily="49" charset="0"/>
                  </a:rPr>
                  <a:t> </a:t>
                </a:r>
                <a:r>
                  <a:rPr lang="en-US" dirty="0" err="1">
                    <a:latin typeface="Courier New" panose="02070309020205020404" pitchFamily="49" charset="0"/>
                  </a:rPr>
                  <a:t>X_train</a:t>
                </a:r>
                <a:endParaRPr lang="en-US" dirty="0">
                  <a:latin typeface="Courier New" panose="02070309020205020404" pitchFamily="49" charset="0"/>
                </a:endParaRPr>
              </a:p>
              <a:p>
                <a:endParaRPr lang="en-US" i="1" dirty="0">
                  <a:latin typeface="Courier New" panose="02070309020205020404" pitchFamily="49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=−2.885</m:t>
                      </m:r>
                    </m:oMath>
                  </m:oMathPara>
                </a14:m>
                <a:endParaRPr lang="en-US" i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F562A35-2FBA-E32B-D843-9072957A38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6236" y="2815842"/>
                <a:ext cx="2859764" cy="923330"/>
              </a:xfrm>
              <a:prstGeom prst="rect">
                <a:avLst/>
              </a:prstGeom>
              <a:blipFill>
                <a:blip r:embed="rId5"/>
                <a:stretch>
                  <a:fillRect t="-3311" b="-4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DF35867-5FAB-EFEA-1790-81F1CC9FA74D}"/>
                  </a:ext>
                </a:extLst>
              </p:cNvPr>
              <p:cNvSpPr txBox="1"/>
              <p:nvPr/>
            </p:nvSpPr>
            <p:spPr>
              <a:xfrm>
                <a:off x="3236236" y="3828613"/>
                <a:ext cx="2859764" cy="20621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100" dirty="0"/>
                  <a:t>{}</a:t>
                </a:r>
              </a:p>
              <a:p>
                <a:r>
                  <a:rPr lang="en-US" sz="1100" dirty="0"/>
                  <a:t>{Polar Surface Area}</a:t>
                </a:r>
              </a:p>
              <a:p>
                <a:r>
                  <a:rPr lang="en-US" sz="1100" dirty="0"/>
                  <a:t>{Number of Rings}</a:t>
                </a:r>
              </a:p>
              <a:p>
                <a:r>
                  <a:rPr lang="en-US" sz="1100" dirty="0"/>
                  <a:t>{Polar Surface Area, Number of Rings}</a:t>
                </a:r>
              </a:p>
              <a:p>
                <a:r>
                  <a:rPr lang="en-US" sz="1100" dirty="0"/>
                  <a:t>{Number of Rings, Number of Rotatable Bonds}</a:t>
                </a:r>
              </a:p>
              <a:p>
                <a:r>
                  <a:rPr lang="en-US" sz="1100" dirty="0"/>
                  <a:t>...</a:t>
                </a:r>
              </a:p>
              <a:p>
                <a:r>
                  <a:rPr lang="en-US" sz="1100" dirty="0"/>
                  <a:t>{Polar Surface Area, Number of Rings, Rotatable Bonds, H-Bond Donors, Minimum Degree}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6−1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=32</m:t>
                    </m:r>
                  </m:oMath>
                </a14:m>
                <a:r>
                  <a:rPr lang="en-US" dirty="0"/>
                  <a:t> total coalitions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DF35867-5FAB-EFEA-1790-81F1CC9FA7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6236" y="3828613"/>
                <a:ext cx="2859764" cy="2062103"/>
              </a:xfrm>
              <a:prstGeom prst="rect">
                <a:avLst/>
              </a:prstGeom>
              <a:blipFill>
                <a:blip r:embed="rId6"/>
                <a:stretch>
                  <a:fillRect b="-41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BDD6C5-E205-03D4-00CC-D3C3508BF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158D2-2874-47A5-BF5F-065C8F7FE081}" type="slidenum">
              <a:rPr lang="en-US" smtClean="0"/>
              <a:t>44</a:t>
            </a:fld>
            <a:endParaRPr lang="en-US"/>
          </a:p>
        </p:txBody>
      </p:sp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B0426D53-A0AD-CC36-C5EB-23765DFA524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2925589"/>
              </p:ext>
            </p:extLst>
          </p:nvPr>
        </p:nvGraphicFramePr>
        <p:xfrm>
          <a:off x="1160216" y="3190216"/>
          <a:ext cx="1753998" cy="23085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64-bit Drawing" r:id="rId7" imgW="833231" imgH="1096748" progId="ChemDraw_x64.Document.6.0">
                  <p:embed/>
                </p:oleObj>
              </mc:Choice>
              <mc:Fallback>
                <p:oleObj name="CS ChemDraw 64-bit Drawing" r:id="rId7" imgW="833231" imgH="1096748" progId="ChemDraw_x64.Document.6.0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96400978-AB59-600E-3EF4-B8605624D5D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160216" y="3190216"/>
                        <a:ext cx="1753998" cy="230859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3345623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75C3FB-FF8B-21B1-6A46-2D65411751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EDEB0-8E58-7E57-518E-A93C761CE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b="1" dirty="0"/>
              <a:t>Local &amp; global model-agnostic post-hoc interpretability</a:t>
            </a:r>
            <a:r>
              <a:rPr lang="en-US" sz="3200" dirty="0"/>
              <a:t>: </a:t>
            </a:r>
            <a:r>
              <a:rPr lang="en-US" sz="3200" dirty="0" err="1"/>
              <a:t>SHapley</a:t>
            </a:r>
            <a:r>
              <a:rPr lang="en-US" sz="3200" dirty="0"/>
              <a:t> Additive </a:t>
            </a:r>
            <a:r>
              <a:rPr lang="en-US" sz="3200" dirty="0" err="1"/>
              <a:t>exPlanations</a:t>
            </a:r>
            <a:r>
              <a:rPr lang="en-US" sz="3200" dirty="0"/>
              <a:t> (SHAP)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3C2D7D-548D-91B6-A787-9B79A99915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Example:</a:t>
            </a:r>
          </a:p>
          <a:p>
            <a:pPr marL="0" indent="0">
              <a:buNone/>
            </a:pPr>
            <a:r>
              <a:rPr lang="en-US" dirty="0"/>
              <a:t>Step 5: Measure what happens when molecular weight is added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FAB2C7F-B4B1-2412-94EF-C6DCA5DB1EB3}"/>
                  </a:ext>
                </a:extLst>
              </p:cNvPr>
              <p:cNvSpPr txBox="1"/>
              <p:nvPr/>
            </p:nvSpPr>
            <p:spPr>
              <a:xfrm>
                <a:off x="1047748" y="5498814"/>
                <a:ext cx="1978940" cy="3919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𝑔𝑏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=−3.252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FAB2C7F-B4B1-2412-94EF-C6DCA5DB1E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7748" y="5498814"/>
                <a:ext cx="1978940" cy="391902"/>
              </a:xfrm>
              <a:prstGeom prst="rect">
                <a:avLst/>
              </a:prstGeom>
              <a:blipFill>
                <a:blip r:embed="rId4"/>
                <a:stretch>
                  <a:fillRect b="-9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9589C9B-8631-BE4B-FC29-BF65BAFA7A31}"/>
                  </a:ext>
                </a:extLst>
              </p:cNvPr>
              <p:cNvSpPr txBox="1"/>
              <p:nvPr/>
            </p:nvSpPr>
            <p:spPr>
              <a:xfrm>
                <a:off x="3236236" y="2815842"/>
                <a:ext cx="2859764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>
                    <a:latin typeface="Courier New" panose="02070309020205020404" pitchFamily="49" charset="0"/>
                  </a:rPr>
                  <a:t> </a:t>
                </a:r>
                <a:r>
                  <a:rPr lang="en-US" dirty="0" err="1">
                    <a:latin typeface="Courier New" panose="02070309020205020404" pitchFamily="49" charset="0"/>
                  </a:rPr>
                  <a:t>X_train</a:t>
                </a:r>
                <a:endParaRPr lang="en-US" dirty="0">
                  <a:latin typeface="Courier New" panose="02070309020205020404" pitchFamily="49" charset="0"/>
                </a:endParaRPr>
              </a:p>
              <a:p>
                <a:endParaRPr lang="en-US" i="1" dirty="0">
                  <a:latin typeface="Courier New" panose="02070309020205020404" pitchFamily="49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=−2.885</m:t>
                      </m:r>
                    </m:oMath>
                  </m:oMathPara>
                </a14:m>
                <a:endParaRPr lang="en-US" i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9589C9B-8631-BE4B-FC29-BF65BAFA7A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6236" y="2815842"/>
                <a:ext cx="2859764" cy="923330"/>
              </a:xfrm>
              <a:prstGeom prst="rect">
                <a:avLst/>
              </a:prstGeom>
              <a:blipFill>
                <a:blip r:embed="rId5"/>
                <a:stretch>
                  <a:fillRect t="-3311" b="-4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A50662B-9994-5666-8B38-DF04F9127AC2}"/>
                  </a:ext>
                </a:extLst>
              </p:cNvPr>
              <p:cNvSpPr txBox="1"/>
              <p:nvPr/>
            </p:nvSpPr>
            <p:spPr>
              <a:xfrm>
                <a:off x="3236236" y="3828613"/>
                <a:ext cx="2859764" cy="20621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100" dirty="0"/>
                  <a:t>{}</a:t>
                </a:r>
              </a:p>
              <a:p>
                <a:r>
                  <a:rPr lang="en-US" sz="1100" dirty="0"/>
                  <a:t>{Polar Surface Area}</a:t>
                </a:r>
              </a:p>
              <a:p>
                <a:r>
                  <a:rPr lang="en-US" sz="1100" dirty="0"/>
                  <a:t>{Number of Rings}</a:t>
                </a:r>
              </a:p>
              <a:p>
                <a:r>
                  <a:rPr lang="en-US" sz="1100" dirty="0"/>
                  <a:t>{Polar Surface Area, Number of Rings}</a:t>
                </a:r>
              </a:p>
              <a:p>
                <a:r>
                  <a:rPr lang="en-US" sz="1100" dirty="0"/>
                  <a:t>{Number of Rings, Number of Rotatable Bonds}</a:t>
                </a:r>
              </a:p>
              <a:p>
                <a:r>
                  <a:rPr lang="en-US" sz="1100" dirty="0"/>
                  <a:t>...</a:t>
                </a:r>
              </a:p>
              <a:p>
                <a:r>
                  <a:rPr lang="en-US" sz="1100" dirty="0"/>
                  <a:t>{Polar Surface Area, Number of Rings, Rotatable Bonds, H-Bond Donors, Minimum Degree}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6−1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=32</m:t>
                    </m:r>
                  </m:oMath>
                </a14:m>
                <a:r>
                  <a:rPr lang="en-US" dirty="0"/>
                  <a:t> total coalitions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A50662B-9994-5666-8B38-DF04F9127A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6236" y="3828613"/>
                <a:ext cx="2859764" cy="2062103"/>
              </a:xfrm>
              <a:prstGeom prst="rect">
                <a:avLst/>
              </a:prstGeom>
              <a:blipFill>
                <a:blip r:embed="rId6"/>
                <a:stretch>
                  <a:fillRect b="-41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879F37D-BC7D-D0C4-7769-D8AB47CA5C8D}"/>
                  </a:ext>
                </a:extLst>
              </p:cNvPr>
              <p:cNvSpPr txBox="1"/>
              <p:nvPr/>
            </p:nvSpPr>
            <p:spPr>
              <a:xfrm>
                <a:off x="6096000" y="2815842"/>
                <a:ext cx="5257800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Compute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𝑣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∪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MW</m:t>
                            </m:r>
                          </m:e>
                        </m:d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for each subset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endParaRPr lang="en-US" dirty="0"/>
              </a:p>
              <a:p>
                <a:r>
                  <a:rPr lang="en-US" dirty="0"/>
                  <a:t>E.g.,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𝑣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{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Rings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MW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}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𝑣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Rings</m:t>
                              </m:r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=−1.02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𝑣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{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PSA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Rings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MW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}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𝑣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PSA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Rings</m:t>
                              </m:r>
                            </m:e>
                          </m:d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0.95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879F37D-BC7D-D0C4-7769-D8AB47CA5C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2815842"/>
                <a:ext cx="5257800" cy="1200329"/>
              </a:xfrm>
              <a:prstGeom prst="rect">
                <a:avLst/>
              </a:prstGeom>
              <a:blipFill>
                <a:blip r:embed="rId7"/>
                <a:stretch>
                  <a:fillRect l="-927" t="-2538" b="-45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30ED3C-9297-4108-81C3-2E0330BA4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158D2-2874-47A5-BF5F-065C8F7FE081}" type="slidenum">
              <a:rPr lang="en-US" smtClean="0"/>
              <a:t>45</a:t>
            </a:fld>
            <a:endParaRPr lang="en-US"/>
          </a:p>
        </p:txBody>
      </p:sp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BBF6D7BB-26C3-1A8D-250E-25C1ED74ADF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2925589"/>
              </p:ext>
            </p:extLst>
          </p:nvPr>
        </p:nvGraphicFramePr>
        <p:xfrm>
          <a:off x="1160216" y="3190216"/>
          <a:ext cx="1753998" cy="23085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64-bit Drawing" r:id="rId8" imgW="833231" imgH="1096748" progId="ChemDraw_x64.Document.6.0">
                  <p:embed/>
                </p:oleObj>
              </mc:Choice>
              <mc:Fallback>
                <p:oleObj name="CS ChemDraw 64-bit Drawing" r:id="rId8" imgW="833231" imgH="1096748" progId="ChemDraw_x64.Document.6.0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96400978-AB59-600E-3EF4-B8605624D5D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160216" y="3190216"/>
                        <a:ext cx="1753998" cy="230859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0717252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7F121-1DB4-3162-9BFC-97CDD670C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0E208-0ABC-EA68-6858-85E5F4281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b="1" dirty="0"/>
              <a:t>Local &amp; global model-agnostic post-hoc interpretability</a:t>
            </a:r>
            <a:r>
              <a:rPr lang="en-US" sz="3200" dirty="0"/>
              <a:t>: </a:t>
            </a:r>
            <a:r>
              <a:rPr lang="en-US" sz="3200" dirty="0" err="1"/>
              <a:t>SHapley</a:t>
            </a:r>
            <a:r>
              <a:rPr lang="en-US" sz="3200" dirty="0"/>
              <a:t> Additive </a:t>
            </a:r>
            <a:r>
              <a:rPr lang="en-US" sz="3200" dirty="0" err="1"/>
              <a:t>exPlanations</a:t>
            </a:r>
            <a:r>
              <a:rPr lang="en-US" sz="3200" dirty="0"/>
              <a:t> (SHAP)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FFB818-DDEA-3C70-50AF-B6E450B2F2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Example:</a:t>
            </a:r>
          </a:p>
          <a:p>
            <a:pPr marL="0" indent="0">
              <a:buNone/>
            </a:pPr>
            <a:r>
              <a:rPr lang="en-US" dirty="0"/>
              <a:t>Step 6: Average all marginal contributions with Shapley weights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9CF146E-22F2-BC58-2F2E-5776696A6F96}"/>
                  </a:ext>
                </a:extLst>
              </p:cNvPr>
              <p:cNvSpPr txBox="1"/>
              <p:nvPr/>
            </p:nvSpPr>
            <p:spPr>
              <a:xfrm>
                <a:off x="1047748" y="5498814"/>
                <a:ext cx="1978940" cy="3919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𝑔𝑏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=−3.252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9CF146E-22F2-BC58-2F2E-5776696A6F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7748" y="5498814"/>
                <a:ext cx="1978940" cy="391902"/>
              </a:xfrm>
              <a:prstGeom prst="rect">
                <a:avLst/>
              </a:prstGeom>
              <a:blipFill>
                <a:blip r:embed="rId4"/>
                <a:stretch>
                  <a:fillRect b="-9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563E414-00C3-DBE0-6B85-A8D1A774A73F}"/>
                  </a:ext>
                </a:extLst>
              </p:cNvPr>
              <p:cNvSpPr txBox="1"/>
              <p:nvPr/>
            </p:nvSpPr>
            <p:spPr>
              <a:xfrm>
                <a:off x="3236236" y="2815842"/>
                <a:ext cx="2859764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>
                    <a:latin typeface="Courier New" panose="02070309020205020404" pitchFamily="49" charset="0"/>
                  </a:rPr>
                  <a:t> </a:t>
                </a:r>
                <a:r>
                  <a:rPr lang="en-US" dirty="0" err="1">
                    <a:latin typeface="Courier New" panose="02070309020205020404" pitchFamily="49" charset="0"/>
                  </a:rPr>
                  <a:t>X_train</a:t>
                </a:r>
                <a:endParaRPr lang="en-US" dirty="0">
                  <a:latin typeface="Courier New" panose="02070309020205020404" pitchFamily="49" charset="0"/>
                </a:endParaRPr>
              </a:p>
              <a:p>
                <a:endParaRPr lang="en-US" i="1" dirty="0">
                  <a:latin typeface="Courier New" panose="02070309020205020404" pitchFamily="49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=−2.885</m:t>
                      </m:r>
                    </m:oMath>
                  </m:oMathPara>
                </a14:m>
                <a:endParaRPr lang="en-US" i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563E414-00C3-DBE0-6B85-A8D1A774A7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6236" y="2815842"/>
                <a:ext cx="2859764" cy="923330"/>
              </a:xfrm>
              <a:prstGeom prst="rect">
                <a:avLst/>
              </a:prstGeom>
              <a:blipFill>
                <a:blip r:embed="rId5"/>
                <a:stretch>
                  <a:fillRect t="-3311" b="-4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B2D2A0C-975B-BB6F-72A3-857474786AA8}"/>
                  </a:ext>
                </a:extLst>
              </p:cNvPr>
              <p:cNvSpPr txBox="1"/>
              <p:nvPr/>
            </p:nvSpPr>
            <p:spPr>
              <a:xfrm>
                <a:off x="3236236" y="3828613"/>
                <a:ext cx="2859764" cy="20621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100" dirty="0"/>
                  <a:t>{}</a:t>
                </a:r>
              </a:p>
              <a:p>
                <a:r>
                  <a:rPr lang="en-US" sz="1100" dirty="0"/>
                  <a:t>{Polar Surface Area}</a:t>
                </a:r>
              </a:p>
              <a:p>
                <a:r>
                  <a:rPr lang="en-US" sz="1100" dirty="0"/>
                  <a:t>{Number of Rings}</a:t>
                </a:r>
              </a:p>
              <a:p>
                <a:r>
                  <a:rPr lang="en-US" sz="1100" dirty="0"/>
                  <a:t>{Polar Surface Area, Number of Rings}</a:t>
                </a:r>
              </a:p>
              <a:p>
                <a:r>
                  <a:rPr lang="en-US" sz="1100" dirty="0"/>
                  <a:t>{Number of Rings, Number of Rotatable Bonds}</a:t>
                </a:r>
              </a:p>
              <a:p>
                <a:r>
                  <a:rPr lang="en-US" sz="1100" dirty="0"/>
                  <a:t>...</a:t>
                </a:r>
              </a:p>
              <a:p>
                <a:r>
                  <a:rPr lang="en-US" sz="1100" dirty="0"/>
                  <a:t>{Polar Surface Area, Number of Rings, Rotatable Bonds, H-Bond Donors, Minimum Degree}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6−1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=32</m:t>
                    </m:r>
                  </m:oMath>
                </a14:m>
                <a:r>
                  <a:rPr lang="en-US" dirty="0"/>
                  <a:t> total coalitions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B2D2A0C-975B-BB6F-72A3-857474786A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6236" y="3828613"/>
                <a:ext cx="2859764" cy="2062103"/>
              </a:xfrm>
              <a:prstGeom prst="rect">
                <a:avLst/>
              </a:prstGeom>
              <a:blipFill>
                <a:blip r:embed="rId6"/>
                <a:stretch>
                  <a:fillRect b="-41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5CECACA-025A-D575-B48D-F9A0080A8DAD}"/>
                  </a:ext>
                </a:extLst>
              </p:cNvPr>
              <p:cNvSpPr txBox="1"/>
              <p:nvPr/>
            </p:nvSpPr>
            <p:spPr>
              <a:xfrm>
                <a:off x="6096000" y="2815842"/>
                <a:ext cx="5257800" cy="27375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Compute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𝑣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∪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MW</m:t>
                            </m:r>
                          </m:e>
                        </m:d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for each subset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endParaRPr lang="en-US" dirty="0"/>
              </a:p>
              <a:p>
                <a:r>
                  <a:rPr lang="en-US" dirty="0"/>
                  <a:t>E.g.,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𝑣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{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Rings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MW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}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𝑣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Rings</m:t>
                              </m:r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=−1.02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𝑣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{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PSA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Rings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MW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}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𝑣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PSA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Rings</m:t>
                              </m:r>
                            </m:e>
                          </m:d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0.95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MW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⊆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\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MW</m:t>
                              </m:r>
                            </m:e>
                          </m:d>
                        </m:sub>
                        <m:sup/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</m:d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den>
                          </m:f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∪</m:t>
                                  </m:r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MW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=−1.01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5CECACA-025A-D575-B48D-F9A0080A8D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2815842"/>
                <a:ext cx="5257800" cy="2737544"/>
              </a:xfrm>
              <a:prstGeom prst="rect">
                <a:avLst/>
              </a:prstGeom>
              <a:blipFill>
                <a:blip r:embed="rId7"/>
                <a:stretch>
                  <a:fillRect l="-927" t="-11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8295A6-9104-3CE0-0204-1E6B8B0D2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158D2-2874-47A5-BF5F-065C8F7FE081}" type="slidenum">
              <a:rPr lang="en-US" smtClean="0"/>
              <a:t>46</a:t>
            </a:fld>
            <a:endParaRPr lang="en-US"/>
          </a:p>
        </p:txBody>
      </p:sp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4A368FBB-7370-16E9-B94F-A5A0C44AE93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2925589"/>
              </p:ext>
            </p:extLst>
          </p:nvPr>
        </p:nvGraphicFramePr>
        <p:xfrm>
          <a:off x="1160216" y="3190216"/>
          <a:ext cx="1753998" cy="23085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64-bit Drawing" r:id="rId8" imgW="833231" imgH="1096748" progId="ChemDraw_x64.Document.6.0">
                  <p:embed/>
                </p:oleObj>
              </mc:Choice>
              <mc:Fallback>
                <p:oleObj name="CS ChemDraw 64-bit Drawing" r:id="rId8" imgW="833231" imgH="1096748" progId="ChemDraw_x64.Document.6.0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96400978-AB59-600E-3EF4-B8605624D5D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160216" y="3190216"/>
                        <a:ext cx="1753998" cy="230859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8537175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D095E6-339C-0E4F-C1DA-3EC2E8F96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5FE57-77FB-5B28-0F87-8347D51E7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b="1" dirty="0"/>
              <a:t>Local &amp; global model-agnostic post-hoc interpretability</a:t>
            </a:r>
            <a:r>
              <a:rPr lang="en-US" sz="3200" dirty="0"/>
              <a:t>: </a:t>
            </a:r>
            <a:r>
              <a:rPr lang="en-US" sz="3200" dirty="0" err="1"/>
              <a:t>SHapley</a:t>
            </a:r>
            <a:r>
              <a:rPr lang="en-US" sz="3200" dirty="0"/>
              <a:t> Additive </a:t>
            </a:r>
            <a:r>
              <a:rPr lang="en-US" sz="3200" dirty="0" err="1"/>
              <a:t>exPlanations</a:t>
            </a:r>
            <a:r>
              <a:rPr lang="en-US" sz="3200" dirty="0"/>
              <a:t> (SHAP)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5EC2D0-0C9B-99A2-7634-77B3360E78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Example: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7A46006-5E1E-B048-6C24-5C6C3202005B}"/>
                  </a:ext>
                </a:extLst>
              </p:cNvPr>
              <p:cNvSpPr txBox="1"/>
              <p:nvPr/>
            </p:nvSpPr>
            <p:spPr>
              <a:xfrm>
                <a:off x="1047748" y="2449231"/>
                <a:ext cx="1978940" cy="3919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𝑔𝑏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=−3.252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3E00555-9D0C-33F7-EB3C-EF9E51C823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7748" y="2449231"/>
                <a:ext cx="1978940" cy="391902"/>
              </a:xfrm>
              <a:prstGeom prst="rect">
                <a:avLst/>
              </a:prstGeom>
              <a:blipFill>
                <a:blip r:embed="rId4"/>
                <a:stretch>
                  <a:fillRect b="-9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B20065DA-7E16-8B51-7DEA-DF0C5CCB184E}"/>
              </a:ext>
            </a:extLst>
          </p:cNvPr>
          <p:cNvSpPr txBox="1"/>
          <p:nvPr/>
        </p:nvSpPr>
        <p:spPr>
          <a:xfrm>
            <a:off x="838200" y="5158114"/>
            <a:ext cx="10515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How much did molecular weight, polar surface area, ring count, and the other descriptors push the predicted log solubility above or below a reference prediction?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C4A49D6-9D21-D1FD-8889-3F0CEE96B7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35082" y="2449231"/>
            <a:ext cx="8119872" cy="2643429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00798F-C9D3-761B-A379-8DCA6BA78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158D2-2874-47A5-BF5F-065C8F7FE081}" type="slidenum">
              <a:rPr lang="en-US" smtClean="0"/>
              <a:t>47</a:t>
            </a:fld>
            <a:endParaRPr lang="en-US"/>
          </a:p>
        </p:txBody>
      </p:sp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2EB40EE1-FCC1-738C-702B-831A0C87924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60216" y="2841133"/>
          <a:ext cx="1753998" cy="23085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64-bit Drawing" r:id="rId6" imgW="833231" imgH="1096748" progId="ChemDraw_x64.Document.6.0">
                  <p:embed/>
                </p:oleObj>
              </mc:Choice>
              <mc:Fallback>
                <p:oleObj name="CS ChemDraw 64-bit Drawing" r:id="rId6" imgW="833231" imgH="1096748" progId="ChemDraw_x64.Document.6.0">
                  <p:embed/>
                  <p:pic>
                    <p:nvPicPr>
                      <p:cNvPr id="10" name="Object 9">
                        <a:extLst>
                          <a:ext uri="{FF2B5EF4-FFF2-40B4-BE49-F238E27FC236}">
                            <a16:creationId xmlns:a16="http://schemas.microsoft.com/office/drawing/2014/main" id="{F5D3AA52-E730-5860-2705-13C5C09A38E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160216" y="2841133"/>
                        <a:ext cx="1753998" cy="230859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3388596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20B29A-FE47-CC57-430B-B4CD0DFAE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69842-1DD6-A266-3EF7-B3031E30C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b="1" dirty="0"/>
              <a:t>Local &amp; global model-agnostic post-hoc interpretability</a:t>
            </a:r>
            <a:r>
              <a:rPr lang="en-US" sz="3200" dirty="0"/>
              <a:t>: </a:t>
            </a:r>
            <a:r>
              <a:rPr lang="en-US" sz="3200" dirty="0" err="1"/>
              <a:t>SHapley</a:t>
            </a:r>
            <a:r>
              <a:rPr lang="en-US" sz="3200" dirty="0"/>
              <a:t> Additive </a:t>
            </a:r>
            <a:r>
              <a:rPr lang="en-US" sz="3200" dirty="0" err="1"/>
              <a:t>exPlanations</a:t>
            </a:r>
            <a:r>
              <a:rPr lang="en-US" sz="3200" dirty="0"/>
              <a:t> (SHAP)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9E5FB6-D6B9-918C-392F-84A6DFB675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0F8E27E-FB84-1C9C-30FF-E9EB67A989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852821"/>
            <a:ext cx="10515600" cy="429694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DF2A167-3989-7A9E-EFF5-8D8E0A99EBB5}"/>
                  </a:ext>
                </a:extLst>
              </p:cNvPr>
              <p:cNvSpPr txBox="1"/>
              <p:nvPr/>
            </p:nvSpPr>
            <p:spPr>
              <a:xfrm>
                <a:off x="4524292" y="3804989"/>
                <a:ext cx="6726804" cy="39260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𝜑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r>
                  <a:rPr lang="en-US" dirty="0"/>
                  <a:t> gives global feature importance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DF2A167-3989-7A9E-EFF5-8D8E0A99EB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4292" y="3804989"/>
                <a:ext cx="6726804" cy="392608"/>
              </a:xfrm>
              <a:prstGeom prst="rect">
                <a:avLst/>
              </a:prstGeom>
              <a:blipFill>
                <a:blip r:embed="rId4"/>
                <a:stretch>
                  <a:fillRect t="-107692" b="-170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92CB16-90C1-19F8-849C-AC871504D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158D2-2874-47A5-BF5F-065C8F7FE081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28609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9E7CA-27AA-F4D0-A305-9067B07BB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5B253-0296-4EF4-44B9-1EBB1BBE7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b="1" dirty="0"/>
              <a:t>Local &amp; global model-agnostic post-hoc interpretability</a:t>
            </a:r>
            <a:r>
              <a:rPr lang="en-US" sz="3200" dirty="0"/>
              <a:t>: </a:t>
            </a:r>
            <a:r>
              <a:rPr lang="en-US" sz="3200" dirty="0" err="1"/>
              <a:t>SHapley</a:t>
            </a:r>
            <a:r>
              <a:rPr lang="en-US" sz="3200" dirty="0"/>
              <a:t> Additive </a:t>
            </a:r>
            <a:r>
              <a:rPr lang="en-US" sz="3200" dirty="0" err="1"/>
              <a:t>exPlanations</a:t>
            </a:r>
            <a:r>
              <a:rPr lang="en-US" sz="3200" dirty="0"/>
              <a:t> (SHAP)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3D0104-41A6-31D8-27CA-AA0F6814E6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A5CBFAB-6CDF-8D1C-983A-EF11065E527F}"/>
                  </a:ext>
                </a:extLst>
              </p:cNvPr>
              <p:cNvSpPr txBox="1"/>
              <p:nvPr/>
            </p:nvSpPr>
            <p:spPr>
              <a:xfrm>
                <a:off x="4524292" y="3804989"/>
                <a:ext cx="6726804" cy="39260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𝜑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r>
                  <a:rPr lang="en-US" dirty="0"/>
                  <a:t> gives global feature importance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A5CBFAB-6CDF-8D1C-983A-EF11065E52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4292" y="3804989"/>
                <a:ext cx="6726804" cy="392608"/>
              </a:xfrm>
              <a:prstGeom prst="rect">
                <a:avLst/>
              </a:prstGeom>
              <a:blipFill>
                <a:blip r:embed="rId3"/>
                <a:stretch>
                  <a:fillRect t="-107692" b="-170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95305DF5-C045-16D8-B014-6BDA126830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1705899"/>
            <a:ext cx="10515600" cy="4593077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CF2ED6-709A-08D0-CD76-79156000A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158D2-2874-47A5-BF5F-065C8F7FE081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65975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6AE93B-D5D9-58E3-352B-2F9EF406B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C5E3F-FE3E-CB6D-4C42-6DDBFBC1D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b="1" dirty="0"/>
              <a:t>Local &amp; global model-agnostic post-hoc interpretability</a:t>
            </a:r>
            <a:r>
              <a:rPr lang="en-US" sz="3200" dirty="0"/>
              <a:t>: </a:t>
            </a:r>
            <a:r>
              <a:rPr lang="en-US" sz="3200" dirty="0" err="1"/>
              <a:t>SHapley</a:t>
            </a:r>
            <a:r>
              <a:rPr lang="en-US" sz="3200" dirty="0"/>
              <a:t> Additive </a:t>
            </a:r>
            <a:r>
              <a:rPr lang="en-US" sz="3200" dirty="0" err="1"/>
              <a:t>exPlanations</a:t>
            </a:r>
            <a:r>
              <a:rPr lang="en-US" sz="3200" dirty="0"/>
              <a:t> (SHAP)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71F0E0-F04E-243E-3716-AE5E7BF345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78814E0-EC63-B11E-7EAF-ADA1845169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231" y="1825625"/>
            <a:ext cx="5106259" cy="435254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6EFADC8-ED1A-2999-3EA7-4EFF6348E4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5511" y="1825625"/>
            <a:ext cx="5106258" cy="4352544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A436E8-55FC-6CD5-4629-C2F162A8F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158D2-2874-47A5-BF5F-065C8F7FE081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55284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9E97D-C84A-7647-5209-098C3C265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b="1" dirty="0"/>
              <a:t>Local &amp; global model-agnostic post-hoc interpretability</a:t>
            </a:r>
            <a:r>
              <a:rPr lang="en-US" sz="3200" dirty="0"/>
              <a:t>: </a:t>
            </a:r>
            <a:r>
              <a:rPr lang="en-US" sz="3200" dirty="0" err="1"/>
              <a:t>SHapley</a:t>
            </a:r>
            <a:r>
              <a:rPr lang="en-US" sz="3200" dirty="0"/>
              <a:t> Additive </a:t>
            </a:r>
            <a:r>
              <a:rPr lang="en-US" sz="3200" dirty="0" err="1"/>
              <a:t>exPlanations</a:t>
            </a:r>
            <a:r>
              <a:rPr lang="en-US" sz="3200" dirty="0"/>
              <a:t> (SHAP)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7C81F8-E4C3-1DDB-100E-DD6DCE9C8F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dirty="0"/>
              <a:t>Strengths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B28ABC-C346-4498-5192-6706537C4B6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US" sz="2400" b="1" dirty="0"/>
              <a:t>Provides local additive feature attributions </a:t>
            </a:r>
            <a:r>
              <a:rPr lang="en-US" sz="2400" dirty="0"/>
              <a:t>for individual predictions</a:t>
            </a:r>
          </a:p>
          <a:p>
            <a:r>
              <a:rPr lang="en-US" sz="2400" b="1" dirty="0"/>
              <a:t>Works well when </a:t>
            </a:r>
            <a:r>
              <a:rPr lang="en-US" sz="2400" dirty="0"/>
              <a:t>you want both local explanations and global summaries from aggregated SHAP values</a:t>
            </a:r>
          </a:p>
          <a:p>
            <a:r>
              <a:rPr lang="en-US" sz="2400" b="1" dirty="0"/>
              <a:t>Helps reveal </a:t>
            </a:r>
            <a:r>
              <a:rPr lang="en-US" sz="2400" dirty="0"/>
              <a:t>direction, magnitude, and distribution of feature contributions across samples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3382F6-75B8-EB56-7A21-0FE3214147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US" dirty="0"/>
              <a:t>Limitations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996EE2-9FBE-1FD3-E5D2-9EE614C259D6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Autofit/>
          </a:bodyPr>
          <a:lstStyle/>
          <a:p>
            <a:r>
              <a:rPr lang="en-US" sz="2400" b="1" dirty="0"/>
              <a:t>Does not prove mechanism or causality</a:t>
            </a:r>
            <a:r>
              <a:rPr lang="en-US" sz="2400" dirty="0"/>
              <a:t>; it explains the model’s attribution of a prediction </a:t>
            </a:r>
          </a:p>
          <a:p>
            <a:r>
              <a:rPr lang="en-US" sz="2400" b="1" dirty="0"/>
              <a:t>Sensitive to correlated feature and background/reference distribution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13DE30-6D49-A800-077D-3076F50B5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158D2-2874-47A5-BF5F-065C8F7FE081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50029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34FAC-BABE-57EB-5BFB-B1213AF1C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Closing thoughts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C2F1F2-E466-2F6C-F1C8-F6C998CE3EDB}"/>
              </a:ext>
            </a:extLst>
          </p:cNvPr>
          <p:cNvSpPr txBox="1"/>
          <p:nvPr/>
        </p:nvSpPr>
        <p:spPr>
          <a:xfrm>
            <a:off x="4625084" y="1822450"/>
            <a:ext cx="29418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Choosing the right model</a:t>
            </a:r>
          </a:p>
        </p:txBody>
      </p:sp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182741C8-F8CB-5E0A-FBC8-7EC958C9D24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6562092"/>
              </p:ext>
            </p:extLst>
          </p:nvPr>
        </p:nvGraphicFramePr>
        <p:xfrm>
          <a:off x="838200" y="2192156"/>
          <a:ext cx="105156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4267223416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6907314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Question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Method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33206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Which features matter globally?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MDI, permutation importance, mean |SHAP|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12424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How does a feature affect predictions?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ICE/PDP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95219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Why this specific prediction?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LIME, SHAP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57545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Does the model learn chemistry or shortcuts?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Compare methods + domain knowledge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174825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396874A-84A2-92C3-6DE5-629DF01A92F0}"/>
              </a:ext>
            </a:extLst>
          </p:cNvPr>
          <p:cNvSpPr txBox="1"/>
          <p:nvPr/>
        </p:nvSpPr>
        <p:spPr>
          <a:xfrm>
            <a:off x="838201" y="4160654"/>
            <a:ext cx="5257800" cy="2585323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A practical workflow</a:t>
            </a:r>
          </a:p>
          <a:p>
            <a:pPr marL="342900" indent="-342900">
              <a:buAutoNum type="arabicPeriod"/>
            </a:pPr>
            <a:r>
              <a:rPr lang="en-US" dirty="0"/>
              <a:t>Start with an interpretable baseline</a:t>
            </a:r>
          </a:p>
          <a:p>
            <a:pPr marL="342900" indent="-342900">
              <a:buAutoNum type="arabicPeriod"/>
            </a:pPr>
            <a:r>
              <a:rPr lang="en-US" dirty="0"/>
              <a:t>Compare against flexible models</a:t>
            </a:r>
          </a:p>
          <a:p>
            <a:pPr marL="342900" indent="-342900">
              <a:buAutoNum type="arabicPeriod"/>
            </a:pPr>
            <a:r>
              <a:rPr lang="en-US" dirty="0"/>
              <a:t>Use global explanation methods to identify model reliance</a:t>
            </a:r>
          </a:p>
          <a:p>
            <a:pPr marL="342900" indent="-342900">
              <a:buAutoNum type="arabicPeriod"/>
            </a:pPr>
            <a:r>
              <a:rPr lang="en-US" dirty="0"/>
              <a:t>Use local explanations to inspect examples and outliers</a:t>
            </a:r>
          </a:p>
          <a:p>
            <a:pPr marL="342900" indent="-342900">
              <a:buAutoNum type="arabicPeriod"/>
            </a:pPr>
            <a:r>
              <a:rPr lang="en-US" dirty="0"/>
              <a:t>Check whether explanations make chemical sense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4702DA-0C57-AD9E-8B35-65976FECFBB9}"/>
              </a:ext>
            </a:extLst>
          </p:cNvPr>
          <p:cNvSpPr txBox="1"/>
          <p:nvPr/>
        </p:nvSpPr>
        <p:spPr>
          <a:xfrm>
            <a:off x="6096001" y="4160654"/>
            <a:ext cx="5257800" cy="2585323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Common failure modes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correlated descriptors split or hide importance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local explanations are treated as global rules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feature attributions are interpreted as mechanisms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visually convincing plots create false confidence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515B27A-9878-8959-9557-93B5638C0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158D2-2874-47A5-BF5F-065C8F7FE081}" type="slidenum">
              <a:rPr lang="en-US" smtClean="0"/>
              <a:t>52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3051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02920" y="1325880"/>
            <a:ext cx="11201400" cy="27432"/>
          </a:xfrm>
          <a:prstGeom prst="rect">
            <a:avLst/>
          </a:prstGeom>
          <a:solidFill>
            <a:srgbClr val="DCDCDC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85800" y="1527048"/>
            <a:ext cx="41148" cy="713232"/>
          </a:xfrm>
          <a:prstGeom prst="rect">
            <a:avLst/>
          </a:prstGeom>
          <a:solidFill>
            <a:srgbClr val="0077A8"/>
          </a:solidFill>
          <a:ln>
            <a:solidFill>
              <a:srgbClr val="007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95528" y="1508760"/>
            <a:ext cx="4965192" cy="7918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20" b="1" dirty="0">
                <a:solidFill>
                  <a:srgbClr val="000000"/>
                </a:solidFill>
                <a:latin typeface="+mj-lt"/>
              </a:rPr>
              <a:t>Accumulated local effects (ALE)</a:t>
            </a:r>
          </a:p>
          <a:p>
            <a:pPr>
              <a:spcAft>
                <a:spcPts val="0"/>
              </a:spcAft>
            </a:pPr>
            <a:r>
              <a:rPr sz="1220" dirty="0">
                <a:solidFill>
                  <a:srgbClr val="000000"/>
                </a:solidFill>
                <a:latin typeface="+mj-lt"/>
              </a:rPr>
              <a:t>Feature-effect plots that reduce extrapolation issues when features are correlated.</a:t>
            </a:r>
          </a:p>
          <a:p>
            <a:pPr>
              <a:spcAft>
                <a:spcPts val="0"/>
              </a:spcAft>
            </a:pPr>
            <a:r>
              <a:rPr sz="1019" dirty="0">
                <a:solidFill>
                  <a:srgbClr val="0077A8"/>
                </a:solidFill>
                <a:latin typeface="+mj-lt"/>
                <a:hlinkClick r:id="rId3"/>
              </a:rPr>
              <a:t>Apley &amp; Zhu, JRSS B 2020</a:t>
            </a:r>
          </a:p>
        </p:txBody>
      </p:sp>
      <p:sp>
        <p:nvSpPr>
          <p:cNvPr id="7" name="Rectangle 6"/>
          <p:cNvSpPr/>
          <p:nvPr/>
        </p:nvSpPr>
        <p:spPr>
          <a:xfrm>
            <a:off x="6263640" y="1527048"/>
            <a:ext cx="41148" cy="713232"/>
          </a:xfrm>
          <a:prstGeom prst="rect">
            <a:avLst/>
          </a:prstGeom>
          <a:solidFill>
            <a:srgbClr val="D25F14"/>
          </a:solidFill>
          <a:ln>
            <a:solidFill>
              <a:srgbClr val="D25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373368" y="1508760"/>
            <a:ext cx="4965192" cy="7918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20" b="1">
                <a:solidFill>
                  <a:srgbClr val="000000"/>
                </a:solidFill>
                <a:latin typeface="+mj-lt"/>
              </a:rPr>
              <a:t>Counterfactual explanations</a:t>
            </a:r>
          </a:p>
          <a:p>
            <a:pPr>
              <a:spcAft>
                <a:spcPts val="0"/>
              </a:spcAft>
            </a:pPr>
            <a:r>
              <a:rPr sz="1220">
                <a:solidFill>
                  <a:srgbClr val="000000"/>
                </a:solidFill>
                <a:latin typeface="+mj-lt"/>
              </a:rPr>
              <a:t>Ask: “What minimal molecular/property change would flip the prediction?”</a:t>
            </a:r>
          </a:p>
          <a:p>
            <a:pPr>
              <a:spcAft>
                <a:spcPts val="0"/>
              </a:spcAft>
            </a:pPr>
            <a:r>
              <a:rPr sz="1019">
                <a:solidFill>
                  <a:srgbClr val="D25F14"/>
                </a:solidFill>
                <a:latin typeface="+mj-lt"/>
                <a:hlinkClick r:id="rId4"/>
              </a:rPr>
              <a:t>interpret.ml/DiCE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624328"/>
            <a:ext cx="41148" cy="713232"/>
          </a:xfrm>
          <a:prstGeom prst="rect">
            <a:avLst/>
          </a:prstGeom>
          <a:solidFill>
            <a:srgbClr val="0077A8"/>
          </a:solidFill>
          <a:ln>
            <a:solidFill>
              <a:srgbClr val="007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95528" y="2606040"/>
            <a:ext cx="4965192" cy="7918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20" b="1" dirty="0">
                <a:solidFill>
                  <a:srgbClr val="000000"/>
                </a:solidFill>
                <a:latin typeface="+mj-lt"/>
              </a:rPr>
              <a:t>Explainable Boosting Machines</a:t>
            </a:r>
          </a:p>
          <a:p>
            <a:pPr>
              <a:spcAft>
                <a:spcPts val="0"/>
              </a:spcAft>
            </a:pPr>
            <a:r>
              <a:rPr sz="1220" dirty="0">
                <a:solidFill>
                  <a:srgbClr val="000000"/>
                </a:solidFill>
                <a:latin typeface="+mj-lt"/>
              </a:rPr>
              <a:t>Interpretable GAM-like models with learned nonlinear feature functions and interactions.</a:t>
            </a:r>
          </a:p>
          <a:p>
            <a:pPr>
              <a:spcAft>
                <a:spcPts val="0"/>
              </a:spcAft>
            </a:pPr>
            <a:r>
              <a:rPr sz="1019" dirty="0">
                <a:solidFill>
                  <a:srgbClr val="0077A8"/>
                </a:solidFill>
                <a:latin typeface="+mj-lt"/>
                <a:hlinkClick r:id="rId5"/>
              </a:rPr>
              <a:t>interpret.ml/docs/ebm.html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2624328"/>
            <a:ext cx="41148" cy="713232"/>
          </a:xfrm>
          <a:prstGeom prst="rect">
            <a:avLst/>
          </a:prstGeom>
          <a:solidFill>
            <a:srgbClr val="D25F14"/>
          </a:solidFill>
          <a:ln>
            <a:solidFill>
              <a:srgbClr val="D25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373368" y="2606040"/>
            <a:ext cx="4965192" cy="7918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20" b="1" dirty="0">
                <a:solidFill>
                  <a:srgbClr val="000000"/>
                </a:solidFill>
                <a:latin typeface="+mj-lt"/>
              </a:rPr>
              <a:t>Integrated gradients / </a:t>
            </a:r>
            <a:r>
              <a:rPr sz="1520" b="1" dirty="0" err="1">
                <a:solidFill>
                  <a:srgbClr val="000000"/>
                </a:solidFill>
                <a:latin typeface="+mj-lt"/>
              </a:rPr>
              <a:t>Captum</a:t>
            </a:r>
            <a:endParaRPr sz="1520" b="1" dirty="0">
              <a:solidFill>
                <a:srgbClr val="000000"/>
              </a:solidFill>
              <a:latin typeface="+mj-lt"/>
            </a:endParaRPr>
          </a:p>
          <a:p>
            <a:pPr>
              <a:spcAft>
                <a:spcPts val="0"/>
              </a:spcAft>
            </a:pPr>
            <a:r>
              <a:rPr sz="1220" dirty="0">
                <a:solidFill>
                  <a:srgbClr val="000000"/>
                </a:solidFill>
                <a:latin typeface="+mj-lt"/>
              </a:rPr>
              <a:t>Attribution methods for neural networks; useful for differentiable molecular models.</a:t>
            </a:r>
          </a:p>
          <a:p>
            <a:pPr>
              <a:spcAft>
                <a:spcPts val="0"/>
              </a:spcAft>
            </a:pPr>
            <a:r>
              <a:rPr sz="1019" dirty="0">
                <a:solidFill>
                  <a:srgbClr val="D25F14"/>
                </a:solidFill>
                <a:latin typeface="+mj-lt"/>
                <a:hlinkClick r:id="rId6"/>
              </a:rPr>
              <a:t>captum.ai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3721607"/>
            <a:ext cx="41148" cy="713232"/>
          </a:xfrm>
          <a:prstGeom prst="rect">
            <a:avLst/>
          </a:prstGeom>
          <a:solidFill>
            <a:srgbClr val="0077A8"/>
          </a:solidFill>
          <a:ln>
            <a:solidFill>
              <a:srgbClr val="007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95528" y="3703320"/>
            <a:ext cx="4965192" cy="6041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20" b="1">
                <a:solidFill>
                  <a:srgbClr val="000000"/>
                </a:solidFill>
                <a:latin typeface="+mj-lt"/>
              </a:rPr>
              <a:t>GNNExplainer</a:t>
            </a:r>
          </a:p>
          <a:p>
            <a:pPr>
              <a:spcAft>
                <a:spcPts val="0"/>
              </a:spcAft>
            </a:pPr>
            <a:r>
              <a:rPr sz="1220">
                <a:solidFill>
                  <a:srgbClr val="000000"/>
                </a:solidFill>
                <a:latin typeface="+mj-lt"/>
              </a:rPr>
              <a:t>Subgraph and node-feature explanations for graph neural networks.</a:t>
            </a:r>
          </a:p>
          <a:p>
            <a:pPr>
              <a:spcAft>
                <a:spcPts val="0"/>
              </a:spcAft>
            </a:pPr>
            <a:r>
              <a:rPr sz="1019">
                <a:solidFill>
                  <a:srgbClr val="0077A8"/>
                </a:solidFill>
                <a:latin typeface="+mj-lt"/>
                <a:hlinkClick r:id="rId7"/>
              </a:rPr>
              <a:t>arxiv.org/abs/1903.03894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3721607"/>
            <a:ext cx="41148" cy="713232"/>
          </a:xfrm>
          <a:prstGeom prst="rect">
            <a:avLst/>
          </a:prstGeom>
          <a:solidFill>
            <a:srgbClr val="D25F14"/>
          </a:solidFill>
          <a:ln>
            <a:solidFill>
              <a:srgbClr val="D25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373368" y="3703320"/>
            <a:ext cx="4965192" cy="7918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20" b="1">
                <a:solidFill>
                  <a:srgbClr val="000000"/>
                </a:solidFill>
                <a:latin typeface="+mj-lt"/>
              </a:rPr>
              <a:t>Sanity checks for explanations</a:t>
            </a:r>
          </a:p>
          <a:p>
            <a:pPr>
              <a:spcAft>
                <a:spcPts val="0"/>
              </a:spcAft>
            </a:pPr>
            <a:r>
              <a:rPr sz="1220">
                <a:solidFill>
                  <a:srgbClr val="000000"/>
                </a:solidFill>
                <a:latin typeface="+mj-lt"/>
              </a:rPr>
              <a:t>Test whether saliency/explanation maps actually depend on the model and data.</a:t>
            </a:r>
          </a:p>
          <a:p>
            <a:pPr>
              <a:spcAft>
                <a:spcPts val="0"/>
              </a:spcAft>
            </a:pPr>
            <a:r>
              <a:rPr sz="1019">
                <a:solidFill>
                  <a:srgbClr val="D25F14"/>
                </a:solidFill>
                <a:latin typeface="+mj-lt"/>
                <a:hlinkClick r:id="rId8"/>
              </a:rPr>
              <a:t>Adebayo et al., NeurIPS 2018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4818888"/>
            <a:ext cx="41148" cy="713232"/>
          </a:xfrm>
          <a:prstGeom prst="rect">
            <a:avLst/>
          </a:prstGeom>
          <a:solidFill>
            <a:srgbClr val="0077A8"/>
          </a:solidFill>
          <a:ln>
            <a:solidFill>
              <a:srgbClr val="007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95528" y="4800600"/>
            <a:ext cx="4965192" cy="7918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20" b="1">
                <a:solidFill>
                  <a:srgbClr val="000000"/>
                </a:solidFill>
                <a:latin typeface="+mj-lt"/>
              </a:rPr>
              <a:t>Use interpretable models when possible</a:t>
            </a:r>
          </a:p>
          <a:p>
            <a:pPr>
              <a:spcAft>
                <a:spcPts val="0"/>
              </a:spcAft>
            </a:pPr>
            <a:r>
              <a:rPr sz="1220">
                <a:solidFill>
                  <a:srgbClr val="000000"/>
                </a:solidFill>
                <a:latin typeface="+mj-lt"/>
              </a:rPr>
              <a:t>A cautionary perspective on post-hoc explanations in high-stakes settings.</a:t>
            </a:r>
          </a:p>
          <a:p>
            <a:pPr>
              <a:spcAft>
                <a:spcPts val="0"/>
              </a:spcAft>
            </a:pPr>
            <a:r>
              <a:rPr sz="1019">
                <a:solidFill>
                  <a:srgbClr val="0077A8"/>
                </a:solidFill>
                <a:latin typeface="+mj-lt"/>
                <a:hlinkClick r:id="rId9"/>
              </a:rPr>
              <a:t>Rudin, Nat. Mach. Intell. 2019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818888"/>
            <a:ext cx="41148" cy="713232"/>
          </a:xfrm>
          <a:prstGeom prst="rect">
            <a:avLst/>
          </a:prstGeom>
          <a:solidFill>
            <a:srgbClr val="D25F14"/>
          </a:solidFill>
          <a:ln>
            <a:solidFill>
              <a:srgbClr val="D25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373368" y="4800600"/>
            <a:ext cx="4965192" cy="7918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20" b="1">
                <a:solidFill>
                  <a:srgbClr val="000000"/>
                </a:solidFill>
                <a:latin typeface="+mj-lt"/>
              </a:rPr>
              <a:t>Benchmark explanation quality</a:t>
            </a:r>
          </a:p>
          <a:p>
            <a:pPr>
              <a:spcAft>
                <a:spcPts val="0"/>
              </a:spcAft>
            </a:pPr>
            <a:r>
              <a:rPr sz="1220">
                <a:solidFill>
                  <a:srgbClr val="000000"/>
                </a:solidFill>
                <a:latin typeface="+mj-lt"/>
              </a:rPr>
              <a:t>Libraries such as Quantus help compare robustness and faithfulness of explanations.</a:t>
            </a:r>
          </a:p>
          <a:p>
            <a:pPr>
              <a:spcAft>
                <a:spcPts val="0"/>
              </a:spcAft>
            </a:pPr>
            <a:r>
              <a:rPr sz="1019">
                <a:solidFill>
                  <a:srgbClr val="D25F14"/>
                </a:solidFill>
                <a:latin typeface="+mj-lt"/>
                <a:hlinkClick r:id="rId10"/>
              </a:rPr>
              <a:t>quantus.readthedocs.io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543D4D2B-25F7-C657-D4C3-8EC17EE204E6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Additional resources</a:t>
            </a:r>
          </a:p>
        </p:txBody>
      </p:sp>
      <p:sp>
        <p:nvSpPr>
          <p:cNvPr id="24" name="Slide Number Placeholder 2">
            <a:extLst>
              <a:ext uri="{FF2B5EF4-FFF2-40B4-BE49-F238E27FC236}">
                <a16:creationId xmlns:a16="http://schemas.microsoft.com/office/drawing/2014/main" id="{B649BFEA-1301-4080-8706-650122093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32A158D2-2874-47A5-BF5F-065C8F7FE081}" type="slidenum">
              <a:rPr lang="en-US" smtClean="0"/>
              <a:t>53</a:t>
            </a:fld>
            <a:endParaRPr lang="en-US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BD2C9-BE8A-7331-9EDF-73E0DBF9E0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Extra slides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9112E9-3E55-9216-D23E-C99E32F9985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93259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6EBE4-9525-53F0-78DD-BC0D34959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b="1" dirty="0"/>
              <a:t>Local model-agnostic post-hoc interpretability</a:t>
            </a:r>
            <a:r>
              <a:rPr lang="en-US" sz="3200" dirty="0"/>
              <a:t>: Local Interpretable Model-agnostic Explanations (LIME)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525F181-990D-5E6E-0974-39D228B29B5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en-US" b="1" dirty="0"/>
                  <a:t>Definition:</a:t>
                </a: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i="1" smtClean="0">
                          <a:latin typeface="Cambria Math" panose="02040503050406030204" pitchFamily="18" charset="0"/>
                        </a:rPr>
                        <m:t>𝜉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argmin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𝐺</m:t>
                              </m:r>
                            </m:lim>
                          </m:limLow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ℒ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l-GR" b="0" i="0" smtClean="0">
                              <a:latin typeface="Cambria Math" panose="02040503050406030204" pitchFamily="18" charset="0"/>
                            </a:rPr>
                            <m:t>Ω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where: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: the point being explained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: the original, complex model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dirty="0"/>
                  <a:t>: interpretable, usually linear surrogate model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/>
                  <a:t>: class of possible interpretable models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dirty="0"/>
                  <a:t>: locality weighting function that gives more weight to perturbed samples close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sub>
                        </m:sSub>
                      </m:e>
                    </m:d>
                  </m:oMath>
                </a14:m>
                <a:r>
                  <a:rPr lang="en-US" dirty="0"/>
                  <a:t>: measure of how well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dirty="0"/>
                  <a:t> approximates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 near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: regularization term, to ensure the explanation stays simple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525F181-990D-5E6E-0974-39D228B29B5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3221" b="-21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63A819-277D-83D0-245C-FB8E7F75D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158D2-2874-47A5-BF5F-065C8F7FE081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79852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2130AB0-D872-50CA-6D98-E3046F288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EE0A3-13A1-D2AE-5056-3788CDCAF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b="1" dirty="0"/>
              <a:t>Local &amp; global model-agnostic post-hoc interpretability</a:t>
            </a:r>
            <a:r>
              <a:rPr lang="en-US" sz="3200" dirty="0"/>
              <a:t>: </a:t>
            </a:r>
            <a:r>
              <a:rPr lang="en-US" sz="3200" dirty="0" err="1"/>
              <a:t>SHapley</a:t>
            </a:r>
            <a:r>
              <a:rPr lang="en-US" sz="3200" dirty="0"/>
              <a:t> Additive </a:t>
            </a:r>
            <a:r>
              <a:rPr lang="en-US" sz="3200" dirty="0" err="1"/>
              <a:t>exPlanations</a:t>
            </a:r>
            <a:r>
              <a:rPr lang="en-US" sz="3200" dirty="0"/>
              <a:t> (SHAP)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6BED71-FC19-010C-7A14-7B79F16E6F0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pt-PT" sz="3000" b="1" dirty="0">
                    <a:solidFill>
                      <a:schemeClr val="accent1"/>
                    </a:solidFill>
                  </a:rPr>
                  <a:t>Formal definition:</a:t>
                </a:r>
              </a:p>
              <a:p>
                <a:pPr marL="0" indent="0">
                  <a:buNone/>
                </a:pPr>
                <a:r>
                  <a:rPr lang="pt-PT" sz="2100" dirty="0"/>
                  <a:t>L</a:t>
                </a:r>
                <a:r>
                  <a:rPr lang="en-US" sz="2100" dirty="0"/>
                  <a:t>et the full set of features be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PT" sz="2100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21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1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100" b="0" i="1" smtClean="0">
                              <a:latin typeface="Cambria Math" panose="02040503050406030204" pitchFamily="18" charset="0"/>
                            </a:rPr>
                            <m:t>1,2,…,</m:t>
                          </m:r>
                          <m:r>
                            <a:rPr lang="en-US" sz="21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</m:oMath>
                  </m:oMathPara>
                </a14:m>
                <a:endParaRPr lang="en-US" sz="2100" dirty="0"/>
              </a:p>
              <a:p>
                <a:pPr marL="0" indent="0">
                  <a:buNone/>
                </a:pPr>
                <a:r>
                  <a:rPr lang="en-US" sz="2100" dirty="0"/>
                  <a:t>For feature </a:t>
                </a:r>
                <a14:m>
                  <m:oMath xmlns:m="http://schemas.openxmlformats.org/officeDocument/2006/math">
                    <m:r>
                      <a:rPr lang="en-US" sz="2100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100" dirty="0"/>
                  <a:t>, its SHAP value is: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1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1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1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21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1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1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sz="2100" b="0" i="1" smtClean="0">
                              <a:latin typeface="Cambria Math" panose="02040503050406030204" pitchFamily="18" charset="0"/>
                            </a:rPr>
                            <m:t>⊆</m:t>
                          </m:r>
                          <m:r>
                            <a:rPr lang="en-US" sz="21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en-US" sz="2100" b="0" i="1" smtClean="0">
                              <a:latin typeface="Cambria Math" panose="02040503050406030204" pitchFamily="18" charset="0"/>
                            </a:rPr>
                            <m:t>\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sz="21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1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</m:sub>
                        <m:sup/>
                        <m:e>
                          <m:f>
                            <m:fPr>
                              <m:ctrlPr>
                                <a:rPr lang="en-US" sz="21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100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</m:d>
                              <m:r>
                                <a:rPr lang="en-US" sz="2100" b="0" i="1" smtClean="0"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  <m:d>
                                <m:dPr>
                                  <m:ctrlPr>
                                    <a:rPr lang="en-US" sz="2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1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en-US" sz="21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21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100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</m:d>
                                  <m:r>
                                    <a:rPr lang="en-US" sz="21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  <m:r>
                                <a:rPr lang="en-US" sz="2100" b="0" i="1" smtClean="0"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num>
                            <m:den>
                              <m:r>
                                <a:rPr lang="en-US" sz="21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sz="2100" b="0" i="1" smtClean="0"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den>
                          </m:f>
                          <m:d>
                            <m:dPr>
                              <m:begChr m:val="["/>
                              <m:endChr m:val="]"/>
                              <m:ctrlPr>
                                <a:rPr lang="en-US" sz="21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1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d>
                                <m:dPr>
                                  <m:ctrlPr>
                                    <a:rPr lang="en-US" sz="2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100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sz="2100" b="0" i="1" smtClean="0">
                                      <a:latin typeface="Cambria Math" panose="02040503050406030204" pitchFamily="18" charset="0"/>
                                    </a:rPr>
                                    <m:t>∪</m:t>
                                  </m:r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sz="21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100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a:rPr lang="en-US" sz="21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1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a:rPr lang="en-US" sz="21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1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  <m:r>
                                <a:rPr lang="en-US" sz="21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US" sz="2100" dirty="0"/>
              </a:p>
              <a:p>
                <a14:m>
                  <m:oMath xmlns:m="http://schemas.openxmlformats.org/officeDocument/2006/math">
                    <m:r>
                      <a:rPr lang="en-US" sz="2100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100" dirty="0"/>
                  <a:t>: subset of features that does not include feature </a:t>
                </a:r>
                <a14:m>
                  <m:oMath xmlns:m="http://schemas.openxmlformats.org/officeDocument/2006/math">
                    <m:r>
                      <a:rPr lang="en-US" sz="2100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en-US" sz="2100" dirty="0"/>
              </a:p>
              <a:p>
                <a14:m>
                  <m:oMath xmlns:m="http://schemas.openxmlformats.org/officeDocument/2006/math">
                    <m:r>
                      <a:rPr lang="en-US" sz="2100" b="0" i="1" smtClean="0">
                        <a:latin typeface="Cambria Math" panose="02040503050406030204" pitchFamily="18" charset="0"/>
                      </a:rPr>
                      <m:t>𝑣</m:t>
                    </m:r>
                    <m:d>
                      <m:dPr>
                        <m:ctrlPr>
                          <a:rPr lang="en-US" sz="21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1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</m:oMath>
                </a14:m>
                <a:r>
                  <a:rPr lang="en-US" sz="2100" dirty="0"/>
                  <a:t>: model value when only the features in </a:t>
                </a:r>
                <a14:m>
                  <m:oMath xmlns:m="http://schemas.openxmlformats.org/officeDocument/2006/math">
                    <m:r>
                      <a:rPr lang="en-US" sz="2100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100" dirty="0"/>
                  <a:t> are “known”</a:t>
                </a:r>
              </a:p>
              <a:p>
                <a14:m>
                  <m:oMath xmlns:m="http://schemas.openxmlformats.org/officeDocument/2006/math">
                    <m:r>
                      <a:rPr lang="en-US" sz="2100" i="1">
                        <a:latin typeface="Cambria Math" panose="02040503050406030204" pitchFamily="18" charset="0"/>
                      </a:rPr>
                      <m:t>𝑣</m:t>
                    </m:r>
                    <m:d>
                      <m:dPr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∪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sz="21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1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d>
                      </m:e>
                    </m:d>
                    <m:r>
                      <a:rPr lang="en-US" sz="21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100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1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10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1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100" dirty="0"/>
                  <a:t>: marginal contribution of feature </a:t>
                </a:r>
                <a14:m>
                  <m:oMath xmlns:m="http://schemas.openxmlformats.org/officeDocument/2006/math">
                    <m:r>
                      <a:rPr lang="en-US" sz="2100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100" dirty="0"/>
                  <a:t> when it is added to the feature subset </a:t>
                </a:r>
                <a14:m>
                  <m:oMath xmlns:m="http://schemas.openxmlformats.org/officeDocument/2006/math">
                    <m:r>
                      <a:rPr lang="en-US" sz="2100" i="1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endParaRPr lang="en-US" sz="2100" dirty="0"/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|"/>
                            <m:endChr m:val="|"/>
                            <m:ctrlPr>
                              <a:rPr lang="en-US" sz="21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1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</m:d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!</m:t>
                        </m:r>
                        <m:d>
                          <m:dPr>
                            <m:ctrlPr>
                              <a:rPr lang="en-US" sz="21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1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sz="21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21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100" i="1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</m:d>
                            <m:r>
                              <a:rPr lang="en-US" sz="21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r>
                  <a:rPr lang="en-US" sz="2100" dirty="0"/>
                  <a:t>: weight for averaging the marginal contribution over all possible orders in which the features could be added (“Shapley weight”)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6BED71-FC19-010C-7A14-7B79F16E6F0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39C0EE-0F0C-578E-F1BD-2D1654A1B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158D2-2874-47A5-BF5F-065C8F7FE081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46088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596EEE0-C92F-34CD-AC4C-EDDBD909B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D67B7-A8A3-44DB-EFEE-DEA38E4F5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b="1" dirty="0"/>
              <a:t>Local &amp; global model-agnostic post-hoc interpretability</a:t>
            </a:r>
            <a:r>
              <a:rPr lang="en-US" sz="3200" dirty="0"/>
              <a:t>: </a:t>
            </a:r>
            <a:r>
              <a:rPr lang="en-US" sz="3200" dirty="0" err="1"/>
              <a:t>SHapley</a:t>
            </a:r>
            <a:r>
              <a:rPr lang="en-US" sz="3200" dirty="0"/>
              <a:t> Additive </a:t>
            </a:r>
            <a:r>
              <a:rPr lang="en-US" sz="3200" dirty="0" err="1"/>
              <a:t>exPlanations</a:t>
            </a:r>
            <a:r>
              <a:rPr lang="en-US" sz="3200" dirty="0"/>
              <a:t> (SHAP)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6D04A9B-967C-DA26-07D3-2970FF3F522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pt-PT" b="1" dirty="0">
                    <a:solidFill>
                      <a:schemeClr val="accent1"/>
                    </a:solidFill>
                  </a:rPr>
                  <a:t>Formal definition (cont.):</a:t>
                </a:r>
              </a:p>
              <a:p>
                <a:pPr marL="0" indent="0">
                  <a:buNone/>
                </a:pPr>
                <a:r>
                  <a:rPr lang="pt-PT" dirty="0"/>
                  <a:t>What does it mean for a feature to be “known” or “missing”?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𝑣</m:t>
                      </m:r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acc>
                                <m:accPr>
                                  <m:chr m:val="̅"/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</m:acc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acc>
                                <m:accPr>
                                  <m:chr m:val="̅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</m:acc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pt-PT" dirty="0"/>
              </a:p>
              <a:p>
                <a:pPr marL="0" indent="0">
                  <a:buNone/>
                </a:pPr>
                <a:r>
                  <a:rPr lang="pt-PT" dirty="0"/>
                  <a:t>where: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pt-PT" dirty="0"/>
                  <a:t>: the actual feature values for the sample for features in subset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endParaRPr lang="pt-PT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</m:acc>
                      </m:sub>
                    </m:sSub>
                  </m:oMath>
                </a14:m>
                <a:r>
                  <a:rPr lang="pt-PT" dirty="0"/>
                  <a:t>: remaining missing features</a:t>
                </a:r>
              </a:p>
              <a:p>
                <a:pPr marL="0" indent="0" algn="ctr">
                  <a:buNone/>
                </a:pPr>
                <a:r>
                  <a:rPr lang="pt-PT" b="1" dirty="0"/>
                  <a:t>Keep the selected features fixed at the sample’s value, fill in the missing features using background samples, and average the model prediction.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6D04A9B-967C-DA26-07D3-2970FF3F522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3221" r="-58" b="-1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318CD6-E754-F62C-119E-823BD2E0A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158D2-2874-47A5-BF5F-065C8F7FE081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25231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16084-31B2-D4F5-53FD-E687C36F3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b="1" dirty="0"/>
              <a:t>Local &amp; global model-agnostic post-hoc interpretability</a:t>
            </a:r>
            <a:r>
              <a:rPr lang="en-US" sz="3200" dirty="0"/>
              <a:t>: </a:t>
            </a:r>
            <a:r>
              <a:rPr lang="en-US" sz="3200" dirty="0" err="1"/>
              <a:t>SHapley</a:t>
            </a:r>
            <a:r>
              <a:rPr lang="en-US" sz="3200" dirty="0"/>
              <a:t> Additive </a:t>
            </a:r>
            <a:r>
              <a:rPr lang="en-US" sz="3200" dirty="0" err="1"/>
              <a:t>exPlanations</a:t>
            </a:r>
            <a:r>
              <a:rPr lang="en-US" sz="3200" dirty="0"/>
              <a:t> (SHAP)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3E8784-115B-84E5-4732-B8082ADDEF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A3AA4D-5251-1646-AF2D-9EA948B6F1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852053"/>
            <a:ext cx="10515600" cy="4298482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4087A3-38E7-273B-FE0C-503B6312E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158D2-2874-47A5-BF5F-065C8F7FE081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6879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0072B2"/>
      </a:accent1>
      <a:accent2>
        <a:srgbClr val="D55E00"/>
      </a:accent2>
      <a:accent3>
        <a:srgbClr val="009E73"/>
      </a:accent3>
      <a:accent4>
        <a:srgbClr val="CC79A7"/>
      </a:accent4>
      <a:accent5>
        <a:srgbClr val="E69F00"/>
      </a:accent5>
      <a:accent6>
        <a:srgbClr val="56B4E9"/>
      </a:accent6>
      <a:hlink>
        <a:srgbClr val="467886"/>
      </a:hlink>
      <a:folHlink>
        <a:srgbClr val="96607D"/>
      </a:folHlink>
    </a:clrScheme>
    <a:fontScheme name="Custom 3">
      <a:majorFont>
        <a:latin typeface="Helvetica LT Pro"/>
        <a:ea typeface=""/>
        <a:cs typeface=""/>
      </a:majorFont>
      <a:minorFont>
        <a:latin typeface="Helvetica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30548</TotalTime>
  <Words>3770</Words>
  <Application>Microsoft Office PowerPoint</Application>
  <PresentationFormat>Widescreen</PresentationFormat>
  <Paragraphs>591</Paragraphs>
  <Slides>58</Slides>
  <Notes>53</Notes>
  <HiddenSlides>5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67" baseType="lpstr">
      <vt:lpstr>Aptos</vt:lpstr>
      <vt:lpstr>Arial</vt:lpstr>
      <vt:lpstr>Cambria Math</vt:lpstr>
      <vt:lpstr>Consolas</vt:lpstr>
      <vt:lpstr>Courier New</vt:lpstr>
      <vt:lpstr>Helvetica LT Pro</vt:lpstr>
      <vt:lpstr>Helvetica LT Pro Light</vt:lpstr>
      <vt:lpstr>Office Theme</vt:lpstr>
      <vt:lpstr>CS ChemDraw 64-bit Drawing</vt:lpstr>
      <vt:lpstr>Model interpretability for chemical machine learning</vt:lpstr>
      <vt:lpstr>Clever Hans</vt:lpstr>
      <vt:lpstr>The Clever Hans effect in AI</vt:lpstr>
      <vt:lpstr>What is model interpretability?</vt:lpstr>
      <vt:lpstr>Why study model interpretability for chemical machine learning?</vt:lpstr>
      <vt:lpstr>“AI and science: what 1,600 researchers think” (September 2023)</vt:lpstr>
      <vt:lpstr>Taxonomy of interpretability methods</vt:lpstr>
      <vt:lpstr>Interpretability by design</vt:lpstr>
      <vt:lpstr>A common misconception: the performance-interpretability trade-off</vt:lpstr>
      <vt:lpstr>Interpretability by design: linear model coefficients</vt:lpstr>
      <vt:lpstr>Interpretability by design: decision trees</vt:lpstr>
      <vt:lpstr>Interpretability by design</vt:lpstr>
      <vt:lpstr>Model-specific post-hoc interpretability</vt:lpstr>
      <vt:lpstr>Model-specific post-hoc interpretability: mean decrease in impurity (MDI) for random forests and gradient boosted trees</vt:lpstr>
      <vt:lpstr>Model-specific post-hoc interpretability: mean decrease in impurity (MDI) for random forests and gradient boosted trees</vt:lpstr>
      <vt:lpstr>Model-specific post-hoc interpretability: mean decrease in impurity (MDI) for random forests and gradient boosted trees</vt:lpstr>
      <vt:lpstr>Model-specific post-hoc interpretability: mean decrease in impurity (MDI) for random forests and gradient boosted trees</vt:lpstr>
      <vt:lpstr>Model-specific post-hoc interpretability: mean decrease in impurity (MDI) for random forests and gradient boosted trees</vt:lpstr>
      <vt:lpstr>Local post-hoc model-agnostic local interpretability</vt:lpstr>
      <vt:lpstr>Local model-agnostic post-hoc interpretability: Local Interpretable Model-agnostic Explanations (LIME)</vt:lpstr>
      <vt:lpstr>Local model-agnostic post-hoc interpretability: Local Interpretable Model-agnostic Explanations (LIME)</vt:lpstr>
      <vt:lpstr>Local model-agnostic post-hoc interpretability: Local Interpretable Model-agnostic Explanations (LIME)</vt:lpstr>
      <vt:lpstr>Local model-agnostic post-hoc interpretability: Local Interpretable Model-agnostic Explanations (LIME)</vt:lpstr>
      <vt:lpstr>Local model-agnostic post-hoc interpretability: Local Interpretable Model-agnostic Explanations (LIME)</vt:lpstr>
      <vt:lpstr>Local model-agnostic post-hoc interpretability: Local Interpretable Model-agnostic Explanations (LIME)</vt:lpstr>
      <vt:lpstr>Local model-agnostic post-hoc interpretability: Local Interpretable Model-agnostic Explanations (LIME)</vt:lpstr>
      <vt:lpstr>Local model-agnostic post-hoc interpretability: Local Interpretable Model-agnostic Explanations (LIME)</vt:lpstr>
      <vt:lpstr>Global post-hoc model-agnostic local interpretability</vt:lpstr>
      <vt:lpstr>Global model-agnostic post-hoc interpretability: permutation importance</vt:lpstr>
      <vt:lpstr>Global model-agnostic post-hoc interpretability: permutation importance</vt:lpstr>
      <vt:lpstr>Global model-agnostic post-hoc interpretability: permutation importance</vt:lpstr>
      <vt:lpstr>Local &amp; global post-hoc model-agnostic local interpretability</vt:lpstr>
      <vt:lpstr>Local &amp; global model-agnostic post-hoc interpretability: individual conditional expectation (ICE) and partial dependence plots (PDP)</vt:lpstr>
      <vt:lpstr>Local &amp; global model-agnostic post-hoc interpretability: individual conditional expectation (ICE) and partial dependence plots (PDP)</vt:lpstr>
      <vt:lpstr>Local &amp; global model-agnostic post-hoc interpretability: individual conditional expectation (ICE) and partial dependence plots (PDP)</vt:lpstr>
      <vt:lpstr>Local &amp; global model-agnostic post-hoc interpretability: individual conditional expectation (ICE) and partial dependence plots (PDP)</vt:lpstr>
      <vt:lpstr>Local &amp; global model-agnostic post-hoc interpretability: individual conditional expectation (ICE) and partial dependence plots (PDP)</vt:lpstr>
      <vt:lpstr>Local &amp; global model-agnostic post-hoc interpretability: SHapley Additive exPlanations (SHAP)</vt:lpstr>
      <vt:lpstr>Local &amp; global model-agnostic post-hoc interpretability: SHapley Additive exPlanations (SHAP)</vt:lpstr>
      <vt:lpstr>Local &amp; global model-agnostic post-hoc interpretability: SHapley Additive exPlanations (SHAP)</vt:lpstr>
      <vt:lpstr>Local &amp; global model-agnostic post-hoc interpretability: SHapley Additive exPlanations (SHAP)</vt:lpstr>
      <vt:lpstr>Local &amp; global model-agnostic post-hoc interpretability: SHapley Additive exPlanations (SHAP)</vt:lpstr>
      <vt:lpstr>Local &amp; global model-agnostic post-hoc interpretability: SHapley Additive exPlanations (SHAP)</vt:lpstr>
      <vt:lpstr>Local &amp; global model-agnostic post-hoc interpretability: SHapley Additive exPlanations (SHAP)</vt:lpstr>
      <vt:lpstr>Local &amp; global model-agnostic post-hoc interpretability: SHapley Additive exPlanations (SHAP)</vt:lpstr>
      <vt:lpstr>Local &amp; global model-agnostic post-hoc interpretability: SHapley Additive exPlanations (SHAP)</vt:lpstr>
      <vt:lpstr>Local &amp; global model-agnostic post-hoc interpretability: SHapley Additive exPlanations (SHAP)</vt:lpstr>
      <vt:lpstr>Local &amp; global model-agnostic post-hoc interpretability: SHapley Additive exPlanations (SHAP)</vt:lpstr>
      <vt:lpstr>Local &amp; global model-agnostic post-hoc interpretability: SHapley Additive exPlanations (SHAP)</vt:lpstr>
      <vt:lpstr>Local &amp; global model-agnostic post-hoc interpretability: SHapley Additive exPlanations (SHAP)</vt:lpstr>
      <vt:lpstr>Local &amp; global model-agnostic post-hoc interpretability: SHapley Additive exPlanations (SHAP)</vt:lpstr>
      <vt:lpstr>Closing thoughts</vt:lpstr>
      <vt:lpstr>PowerPoint Presentation</vt:lpstr>
      <vt:lpstr>Extra slides</vt:lpstr>
      <vt:lpstr>Local model-agnostic post-hoc interpretability: Local Interpretable Model-agnostic Explanations (LIME)</vt:lpstr>
      <vt:lpstr>Local &amp; global model-agnostic post-hoc interpretability: SHapley Additive exPlanations (SHAP)</vt:lpstr>
      <vt:lpstr>Local &amp; global model-agnostic post-hoc interpretability: SHapley Additive exPlanations (SHAP)</vt:lpstr>
      <vt:lpstr>Local &amp; global model-agnostic post-hoc interpretability: SHapley Additive exPlanations (SHAP)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Yusov, Michael A.</dc:creator>
  <cp:lastModifiedBy>Yusov, Michael A.</cp:lastModifiedBy>
  <cp:revision>23</cp:revision>
  <dcterms:created xsi:type="dcterms:W3CDTF">2026-06-12T18:05:56Z</dcterms:created>
  <dcterms:modified xsi:type="dcterms:W3CDTF">2026-08-17T01:04:46Z</dcterms:modified>
</cp:coreProperties>
</file>