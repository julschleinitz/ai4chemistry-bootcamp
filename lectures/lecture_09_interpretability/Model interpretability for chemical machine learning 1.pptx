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sldIdLst>
    <p:sldId id="256" r:id="rId2"/>
    <p:sldId id="277" r:id="rId3"/>
    <p:sldId id="279" r:id="rId4"/>
    <p:sldId id="289" r:id="rId5"/>
    <p:sldId id="291" r:id="rId6"/>
    <p:sldId id="283" r:id="rId7"/>
    <p:sldId id="294" r:id="rId8"/>
    <p:sldId id="351" r:id="rId9"/>
    <p:sldId id="287" r:id="rId10"/>
    <p:sldId id="295" r:id="rId11"/>
    <p:sldId id="296" r:id="rId12"/>
    <p:sldId id="315" r:id="rId13"/>
    <p:sldId id="352" r:id="rId14"/>
    <p:sldId id="300" r:id="rId15"/>
    <p:sldId id="301" r:id="rId16"/>
    <p:sldId id="302" r:id="rId17"/>
    <p:sldId id="303" r:id="rId18"/>
    <p:sldId id="316" r:id="rId19"/>
    <p:sldId id="353" r:id="rId20"/>
    <p:sldId id="339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4" r:id="rId30"/>
    <p:sldId id="305" r:id="rId31"/>
    <p:sldId id="306" r:id="rId32"/>
    <p:sldId id="317" r:id="rId33"/>
    <p:sldId id="355" r:id="rId34"/>
    <p:sldId id="307" r:id="rId35"/>
    <p:sldId id="308" r:id="rId36"/>
    <p:sldId id="309" r:id="rId37"/>
    <p:sldId id="310" r:id="rId38"/>
    <p:sldId id="318" r:id="rId39"/>
    <p:sldId id="320" r:id="rId40"/>
    <p:sldId id="321" r:id="rId41"/>
    <p:sldId id="322" r:id="rId42"/>
    <p:sldId id="326" r:id="rId43"/>
    <p:sldId id="329" r:id="rId44"/>
    <p:sldId id="330" r:id="rId45"/>
    <p:sldId id="331" r:id="rId46"/>
    <p:sldId id="332" r:id="rId47"/>
    <p:sldId id="333" r:id="rId48"/>
    <p:sldId id="335" r:id="rId49"/>
    <p:sldId id="336" r:id="rId50"/>
    <p:sldId id="337" r:id="rId51"/>
    <p:sldId id="338" r:id="rId52"/>
    <p:sldId id="360" r:id="rId53"/>
    <p:sldId id="363" r:id="rId54"/>
    <p:sldId id="362" r:id="rId55"/>
    <p:sldId id="340" r:id="rId56"/>
    <p:sldId id="323" r:id="rId57"/>
    <p:sldId id="324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87316" autoAdjust="0"/>
  </p:normalViewPr>
  <p:slideViewPr>
    <p:cSldViewPr snapToGrid="0">
      <p:cViewPr varScale="1">
        <p:scale>
          <a:sx n="93" d="100"/>
          <a:sy n="93" d="100"/>
        </p:scale>
        <p:origin x="5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4D61A-6371-4C3E-A035-0DDE54D9B15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7FDC2-19CB-4ECF-AEF9-A876D13A3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Explanation methods reveal “Clever Hans” shortcuts</a:t>
            </a:r>
            <a:endParaRPr lang="en-US" dirty="0"/>
          </a:p>
          <a:p>
            <a:r>
              <a:rPr lang="en-US" dirty="0"/>
              <a:t>A model correctly classified horse images, but not because it reliably recognized horses.</a:t>
            </a:r>
          </a:p>
          <a:p>
            <a:r>
              <a:rPr lang="en-US" dirty="0"/>
              <a:t>Relevance maps showed the Fisher vector classifier focused on a small source tag/watermark that was spuriously correlated with horse images.</a:t>
            </a:r>
          </a:p>
          <a:p>
            <a:r>
              <a:rPr lang="en-US" dirty="0"/>
              <a:t>Removing the tag weakened the “horse” prediction; adding the tag to a car image flipped the prediction from “car” to “horse.”</a:t>
            </a:r>
          </a:p>
          <a:p>
            <a:r>
              <a:rPr lang="en-US" dirty="0"/>
              <a:t>Main message: high accuracy can hide invalid reasoning, so model explanations are needed to test whether the model learned meaningful features or dataset artifacts.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Layer-wise relevance propagation (LRP) method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56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331F-8ACB-C1A7-F397-706B70D44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9AB7A-9FF8-7257-BEE7-47E2ACCDA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3435D-21D3-B3C1-B407-B522394E1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5E21-865D-43DA-9FCD-4161F2039E37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0AF97-906F-F08B-678F-0242B898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735EB-BF7F-1CD5-796C-7FA3841E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1567-0761-1F68-4562-92C616EB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BA42-CFFA-6DE5-2544-78732C37D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45D03-6233-0C9A-AFCC-451644E92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4955-9DEC-4ACF-969C-9A0D8073F5CB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9992-8751-AB77-D091-7F380B51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E2BE3-1C88-8E10-0C5C-29236260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9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7EC8-99F2-B2C1-43B2-EA742112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9D04-6C79-B8A8-354B-55D2B3A2A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2D8A9-286C-69D4-64A5-C1F5F965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FF248-E201-403F-8FF4-9BE2AF717BE0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AF125-67FF-BF01-DF21-B7D0D806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D350D-B6C8-B695-8C14-8F128DF5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8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A58F-73B4-CDB0-9037-37DE8E8B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5CCB7-2A51-3672-DD54-F0C187E3E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EDCEE-9D0D-33AE-B564-EAC4F86E4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2FC18-B6C0-072E-7C4E-FA7EF5BF7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D7B5-EE5D-4ECE-B4D7-2936F094B656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61E8C-DB4A-B7F0-1B43-04EDB11C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9C063-6F89-7BCB-8626-FAA15B50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0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BBC6-CB9C-2663-623F-4F4F5C48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F902F-65AB-C26E-84D5-EAFC8AC88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FCC84-6284-9D9B-D59A-A3CADDFA4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E4A7B-BE43-33C9-1CFA-0F52CDAFA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E5826-AD96-6347-6670-FC47DEECD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21E5B-9A0F-E9D4-807E-491C3C4A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2619-6812-4E21-B0F0-5ED985939519}" type="datetime1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C1E4F4-CB54-C7D6-6D1D-D12EC1CBE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365C16-95C7-B777-3A97-09261C1A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3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1E37-1422-D39B-D6E3-7166B69D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944A7-9A7A-7905-7F4F-3E43DA77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AF90-277E-4511-BB9F-3896CFEF31AA}" type="datetime1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34E22-E01B-C306-D88B-CE33532E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97DC3-40A7-0649-B5B4-F6FCC3AF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1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607E7-994E-DFD2-25C9-2D36678D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5E4C-1A9E-43BA-80E2-CBFF49320C10}" type="datetime1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74885-5022-B4CA-0530-EF0DCF15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71E57-7831-E38B-51E1-8D35AF08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F410-25C9-CEED-E404-8C4EEA07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C7C4-3C70-E091-777F-6CCAAA1BC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08AA5-2185-DEFD-FCCD-3EC6C0292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8E2EF-8CFD-3434-4B0F-8DD4B2E7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CDE7-C5B7-4571-996B-B4FCC85F7F57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ABE49-2144-2EA7-1A2C-D07481F2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A8FAD-FFDF-7B70-2EAF-ADA73751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7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9CAA-3A11-73E4-A7F8-F049092C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59C71-9D02-7664-A66D-E9A7634C0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E59E2-124C-225F-1E99-3C3ECF82A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94C65-ACE8-C1C5-B92D-96710203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8ACC6-E9FD-4A96-BC0B-76636D3F54A7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43EF7-E0C2-0092-CA70-EF31CE34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5CD50-8369-B708-1929-0B630EC1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F51A-6FD9-624A-3195-723AD42B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4F9D4-E216-24C5-D61F-66750C6B2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CEBC9-1939-5816-B44F-1AB46F19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A556-DACF-45FF-8904-4463BD60400E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8634C-E191-9A58-4380-6266D7E57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79F28-3599-62A8-7707-C725CFC3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5F7BA-2730-23AD-9692-0F7DDD15B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B5026-908F-0D79-E908-BEE735124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D6575-ACC9-4696-FCCD-40CE36EC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79C8-6DF4-4A82-B807-9F0E8BA3C2ED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A1982-02E1-F7CA-3DD0-A274731C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5EA70-94A8-AAF1-747A-36110595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8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FB0B3-2047-4E08-BC9D-876722DF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9041C-518B-D70E-9A1E-4CF9D7045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D6DD9-636C-C09E-F60A-422F58DB2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CD653-CF74-4DBA-915D-EA5D695CDC5B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6034E-C530-3081-40FF-1474B6FB4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3B234-10FB-EC57-B2EC-5B0A04DC3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0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467-019-08987-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d41586-023-02980-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2041-210X.1406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hyperlink" Target="https://doi.org/10.1007/s12599-024-00922-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8.png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5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3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ophm.github.io/interpretable-ml-book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4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4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s42256-019-0048-x" TargetMode="External"/><Relationship Id="rId3" Type="http://schemas.openxmlformats.org/officeDocument/2006/relationships/hyperlink" Target="https://interpret.ml/DiCE/" TargetMode="External"/><Relationship Id="rId7" Type="http://schemas.openxmlformats.org/officeDocument/2006/relationships/hyperlink" Target="https://papers.nips.cc/paper_files/paper/2018/hash/294a8ed24b1ad22ec2e7efea049b8737-Abstract.html" TargetMode="External"/><Relationship Id="rId2" Type="http://schemas.openxmlformats.org/officeDocument/2006/relationships/hyperlink" Target="https://doi.org/10.1111/rssb.12377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1903.03894" TargetMode="External"/><Relationship Id="rId5" Type="http://schemas.openxmlformats.org/officeDocument/2006/relationships/hyperlink" Target="https://captum.ai/docs/extension/integrated_gradients" TargetMode="External"/><Relationship Id="rId4" Type="http://schemas.openxmlformats.org/officeDocument/2006/relationships/hyperlink" Target="https://interpret.ml/docs/ebm.html" TargetMode="External"/><Relationship Id="rId9" Type="http://schemas.openxmlformats.org/officeDocument/2006/relationships/hyperlink" Target="https://quantus.readthedocs.io/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76F91EF-8152-455A-6D22-B83ACEFAB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62836"/>
            <a:ext cx="12192000" cy="818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E6D687-082A-D3EF-6023-138E60AC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90000"/>
          </a:bodyPr>
          <a:lstStyle/>
          <a:p>
            <a:r>
              <a:rPr lang="en-US" dirty="0"/>
              <a:t>Model interpretability for chemical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87931-BEB4-23D4-2FBD-D498AC10D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dirty="0"/>
              <a:t>Michael Yusov</a:t>
            </a:r>
          </a:p>
        </p:txBody>
      </p:sp>
    </p:spTree>
    <p:extLst>
      <p:ext uri="{BB962C8B-B14F-4D97-AF65-F5344CB8AC3E}">
        <p14:creationId xmlns:p14="http://schemas.microsoft.com/office/powerpoint/2010/main" val="44507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2E93-D01D-5BD4-629D-D0471C3F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Clver</a:t>
            </a:r>
            <a:r>
              <a:rPr lang="en-US" dirty="0"/>
              <a:t> Hans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939CB-F9C1-F981-5BF2-37CB7CB00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r"/>
            <a:r>
              <a:rPr lang="en-US" dirty="0"/>
              <a:t>“In the field of artificial intelligence, </a:t>
            </a:r>
            <a:r>
              <a:rPr lang="en-US" b="1" dirty="0">
                <a:solidFill>
                  <a:schemeClr val="accent1"/>
                </a:solidFill>
              </a:rPr>
              <a:t>the Clever Hans effect</a:t>
            </a:r>
            <a:r>
              <a:rPr lang="en-US" dirty="0"/>
              <a:t> describes a phenomenon where an algorithm seems to make correct predictions without having the relevant data and/or by using incorrect reasoning.” —Wikipedia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91A61A1-2940-8675-CCF3-0148238FC555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7" r="1211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0F25CB-8851-6D3A-ED09-7834BD9D9A0E}"/>
              </a:ext>
            </a:extLst>
          </p:cNvPr>
          <p:cNvSpPr txBox="1"/>
          <p:nvPr/>
        </p:nvSpPr>
        <p:spPr>
          <a:xfrm>
            <a:off x="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https://en.wikipedia.org/wiki/Clever_Hans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160712-D3B6-CF67-C91D-19308DF8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0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5F4E-900D-CD9E-5989-A7B1AB2A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ctr"/>
            <a:r>
              <a:rPr lang="en-US" dirty="0"/>
              <a:t>The Clever Hans effect in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7E9A73-F56D-3AAC-3418-4D2B7BC77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Lapuschkin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 al.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Unmasking Clever Hans predictors and assessing what machines really learn.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Nat. Commun.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1096 (2019).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https://doi.org/10.1038/s41467-019-08987-4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EB8E3A-EBC3-54A8-CA21-AF247B5146D9}"/>
              </a:ext>
            </a:extLst>
          </p:cNvPr>
          <p:cNvGrpSpPr/>
          <p:nvPr/>
        </p:nvGrpSpPr>
        <p:grpSpPr>
          <a:xfrm>
            <a:off x="838200" y="2245310"/>
            <a:ext cx="10515600" cy="3781069"/>
            <a:chOff x="838200" y="2060028"/>
            <a:chExt cx="10515600" cy="3781069"/>
          </a:xfrm>
        </p:grpSpPr>
        <p:pic>
          <p:nvPicPr>
            <p:cNvPr id="3074" name="Picture 2" descr="Fig. 2">
              <a:extLst>
                <a:ext uri="{FF2B5EF4-FFF2-40B4-BE49-F238E27FC236}">
                  <a16:creationId xmlns:a16="http://schemas.microsoft.com/office/drawing/2014/main" id="{8A32B67A-16C7-EBD7-9A14-3C8B2D4B4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7" b="54636"/>
            <a:stretch>
              <a:fillRect/>
            </a:stretch>
          </p:blipFill>
          <p:spPr bwMode="auto">
            <a:xfrm>
              <a:off x="838200" y="2165131"/>
              <a:ext cx="10515600" cy="36759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C328D5-7288-B112-8F4F-09452CB947F5}"/>
                </a:ext>
              </a:extLst>
            </p:cNvPr>
            <p:cNvSpPr/>
            <p:nvPr/>
          </p:nvSpPr>
          <p:spPr>
            <a:xfrm>
              <a:off x="838200" y="2060028"/>
              <a:ext cx="286407" cy="325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B50A7E-293F-A29A-1003-015E1A4D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7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0617-E8F7-A054-B27B-88288B9B0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ctr"/>
            <a:r>
              <a:rPr lang="en-US" dirty="0"/>
              <a:t>What is model interpretability?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72F85-DAA6-77A4-2960-5AC232C9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Definition: </a:t>
            </a:r>
            <a:r>
              <a:rPr lang="en-US" b="1" dirty="0"/>
              <a:t>Model interpretability is the extent to which a human can understand how a machine learning model uses input features to produce predictions, including why a particular prediction was made and what relationships the model has learned.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In this lecture, we use “interpretability” and “explainability” interchangeably.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560BE-6FC0-4203-FE7B-5199BF9B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9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0412-2171-8829-088B-D54DA4F3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study model interpretability for chemical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08DB-60E8-DD30-FC51-BDEC17E156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We study interpretability to:</a:t>
            </a:r>
          </a:p>
          <a:p>
            <a:pPr marL="514350" indent="-514350">
              <a:buAutoNum type="arabicPeriod"/>
            </a:pPr>
            <a:r>
              <a:rPr lang="en-US" dirty="0"/>
              <a:t>avoid blindly trusting predictive performance,</a:t>
            </a:r>
          </a:p>
          <a:p>
            <a:pPr marL="514350" indent="-514350">
              <a:buAutoNum type="arabicPeriod"/>
            </a:pPr>
            <a:r>
              <a:rPr lang="en-US" dirty="0"/>
              <a:t>check whether the model learned meaningful features,</a:t>
            </a:r>
          </a:p>
          <a:p>
            <a:pPr marL="514350" indent="-514350">
              <a:buAutoNum type="arabicPeriod"/>
            </a:pPr>
            <a:r>
              <a:rPr lang="en-US" dirty="0"/>
              <a:t>generate scientific insight,</a:t>
            </a:r>
          </a:p>
          <a:p>
            <a:pPr marL="514350" indent="-514350">
              <a:buAutoNum type="arabicPeriod"/>
            </a:pPr>
            <a:r>
              <a:rPr lang="en-US" dirty="0"/>
              <a:t>make predictions actionable,</a:t>
            </a:r>
          </a:p>
          <a:p>
            <a:pPr marL="514350" indent="-514350">
              <a:buAutoNum type="arabicPeriod"/>
            </a:pPr>
            <a:r>
              <a:rPr lang="en-US" dirty="0"/>
              <a:t>build trust with collaborators,</a:t>
            </a:r>
          </a:p>
          <a:p>
            <a:pPr marL="514350" indent="-514350">
              <a:buAutoNum type="arabicPeriod"/>
            </a:pPr>
            <a:r>
              <a:rPr lang="en-US" dirty="0"/>
              <a:t>or debug models.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53695-21B8-26E8-7CB3-35F405B028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The goal of science is to gain knowledge</a:t>
            </a:r>
            <a:r>
              <a:rPr lang="en-US" dirty="0"/>
              <a:t>; knowing why a model made certain predictions can help us learn more about the chemistry we are studying.</a:t>
            </a:r>
          </a:p>
          <a:p>
            <a:pPr marL="0" indent="0">
              <a:buNone/>
            </a:pPr>
            <a:r>
              <a:rPr lang="en-US" dirty="0"/>
              <a:t>Interpretable machine learning allows the model itself to become the source of knowledge instead of the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711FA-D024-52B7-2E29-EC893620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54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B8F02-BCEC-5894-BC18-46EA175B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ctr"/>
            <a:r>
              <a:rPr lang="en-US" dirty="0"/>
              <a:t>“AI and science: what 1,600 researchers think” (September 2023)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46208C-1D59-1400-783C-7C1F56B81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355" y="1959572"/>
            <a:ext cx="3845754" cy="435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A42101-27CA-FBAF-A6D7-9DAA1B8BC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Van Noorden, R. &amp; Perkel, J. M. AI and science: what 1,600 researchers think.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Nature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621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672–675 (2023).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https://doi.org/10.1038/d41586-023-02980-0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66C35CD-447F-8922-CB11-B9DBD97C2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69"/>
          <a:stretch>
            <a:fillRect/>
          </a:stretch>
        </p:blipFill>
        <p:spPr bwMode="auto">
          <a:xfrm>
            <a:off x="6545715" y="1959572"/>
            <a:ext cx="4597069" cy="53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1A325184-A626-E94E-2F19-662F6C20E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716" y="1959572"/>
            <a:ext cx="4597069" cy="435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3C94-AF1D-148A-AC36-4F8DBF41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5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81-C19A-F67C-CCD4-D8734F2B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Taxonomy of interpretability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DA79-7BFF-4EE2-E7ED-79E9D28C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CFE04C5-3DE8-2931-681A-519A5B282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5D57FD-E679-2EE2-49F1-8746A4E7F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3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CDD19-6C41-4989-41A9-5AFD8845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72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8772-2FB8-C671-5DE9-4072A1E6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273E-6B46-DCC0-4ECF-CC71C1A1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Interpretability by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B1B53-58EE-D406-F60D-424B82961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58F194-8386-3541-512E-91B0552A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CF956E-35E9-C948-0D74-F297489DF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3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7B49A-0FA9-6C3B-CC1E-2D5046906DB0}"/>
              </a:ext>
            </a:extLst>
          </p:cNvPr>
          <p:cNvSpPr/>
          <p:nvPr/>
        </p:nvSpPr>
        <p:spPr>
          <a:xfrm>
            <a:off x="6124911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6C591B-9B63-F2DF-4E90-7D95280653E3}"/>
              </a:ext>
            </a:extLst>
          </p:cNvPr>
          <p:cNvSpPr/>
          <p:nvPr/>
        </p:nvSpPr>
        <p:spPr>
          <a:xfrm>
            <a:off x="4279605" y="3737344"/>
            <a:ext cx="5055781" cy="2349796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2FB-99B0-5A17-310F-811CAF976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8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1E8A-721E-FF46-76BD-76C2D92F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 common misconception: the performance-interpretability trade-off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AE16-AF58-8491-A17E-DD8CB013E4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1E563-B533-2283-C4C7-F030C1460F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Details are in the caption following the image">
            <a:extLst>
              <a:ext uri="{FF2B5EF4-FFF2-40B4-BE49-F238E27FC236}">
                <a16:creationId xmlns:a16="http://schemas.microsoft.com/office/drawing/2014/main" id="{C6056B09-EB38-BE57-C81E-888FAA95F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69564"/>
            <a:ext cx="5181600" cy="344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07EE52-10E6-57BF-ADA9-F0538DD2C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6027003"/>
            <a:ext cx="105156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Pichler, M. &amp; Hartig, F. Machine learning and deep learning—A review for ecologists. Methods Ecol. Evol. 14, 994–1016 (2023).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https://doi.org/10.1111/2041-210X.14061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Kruschel, S. </a:t>
            </a:r>
            <a:r>
              <a:rPr lang="en-US" altLang="en-US" sz="1200" i="1" dirty="0"/>
              <a:t>et al.</a:t>
            </a:r>
            <a:r>
              <a:rPr lang="en-US" sz="1200" dirty="0"/>
              <a:t> Challenging the performance-interpretability trade-off: An evaluation of interpretable machine learning models. </a:t>
            </a:r>
            <a:r>
              <a:rPr lang="en-US" sz="1200" i="1" dirty="0"/>
              <a:t>Bus. Inf. Syst. Eng.</a:t>
            </a:r>
            <a:r>
              <a:rPr lang="en-US" sz="1200" dirty="0"/>
              <a:t> </a:t>
            </a:r>
            <a:r>
              <a:rPr lang="en-US" sz="1200" b="1" dirty="0"/>
              <a:t>68</a:t>
            </a:r>
            <a:r>
              <a:rPr lang="en-US" sz="1200" dirty="0"/>
              <a:t>, 159–183 (2026). </a:t>
            </a:r>
            <a:r>
              <a:rPr lang="en-US" sz="1200" dirty="0">
                <a:hlinkClick r:id="rId4"/>
              </a:rPr>
              <a:t>https://doi.org/10.1007/s12599-024-00922-2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053" name="Picture 5" descr="Fig. 5">
            <a:extLst>
              <a:ext uri="{FF2B5EF4-FFF2-40B4-BE49-F238E27FC236}">
                <a16:creationId xmlns:a16="http://schemas.microsoft.com/office/drawing/2014/main" id="{52610C99-6605-E7C3-7622-FE638B49B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1825625"/>
            <a:ext cx="5181600" cy="412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4D67A-36B3-143A-C132-AA066493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9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8591-65FF-AD7C-7DD0-BD9EF639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Interpretability by design</a:t>
            </a:r>
            <a:r>
              <a:rPr lang="en-US" dirty="0"/>
              <a:t>: linear model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5EC6-2DB6-175D-BD39-379C0096F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FFD76-D029-4D80-B3BE-B0903382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A46D13-8C68-7253-E5E1-E3249D41F33C}"/>
                  </a:ext>
                </a:extLst>
              </p:cNvPr>
              <p:cNvSpPr txBox="1"/>
              <p:nvPr/>
            </p:nvSpPr>
            <p:spPr>
              <a:xfrm>
                <a:off x="2991296" y="3287298"/>
                <a:ext cx="2948762" cy="204350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dirty="0"/>
                  <a:t>Input: interpretable descriptors of small organic molecules</a:t>
                </a:r>
              </a:p>
              <a:p>
                <a:endParaRPr lang="en-US" dirty="0"/>
              </a:p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𝐰𝐱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i="1" dirty="0"/>
              </a:p>
              <a:p>
                <a:endParaRPr lang="en-US" dirty="0"/>
              </a:p>
              <a:p>
                <a:r>
                  <a:rPr lang="en-US" dirty="0"/>
                  <a:t>Output: aqueous solubility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A46D13-8C68-7253-E5E1-E3249D41F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296" y="3287298"/>
                <a:ext cx="2948762" cy="2043508"/>
              </a:xfrm>
              <a:prstGeom prst="rect">
                <a:avLst/>
              </a:prstGeom>
              <a:blipFill>
                <a:blip r:embed="rId3"/>
                <a:stretch>
                  <a:fillRect l="-1863" t="-896" b="-4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9313F6-90CC-6C2C-DC9E-657A0541C747}"/>
                  </a:ext>
                </a:extLst>
              </p:cNvPr>
              <p:cNvSpPr txBox="1"/>
              <p:nvPr/>
            </p:nvSpPr>
            <p:spPr>
              <a:xfrm>
                <a:off x="7804298" y="4952914"/>
                <a:ext cx="3055088" cy="37427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9313F6-90CC-6C2C-DC9E-657A0541C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298" y="4952914"/>
                <a:ext cx="3055088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3247459-E7DE-C9EC-23AB-B364C50C97D3}"/>
              </a:ext>
            </a:extLst>
          </p:cNvPr>
          <p:cNvSpPr txBox="1"/>
          <p:nvPr/>
        </p:nvSpPr>
        <p:spPr>
          <a:xfrm>
            <a:off x="838200" y="6176962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We will use the Delaney/ESOL aqueous solubility dataset for this lecture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D5F79-009C-1D0E-0DA2-CCBF55B2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4E8B-0693-E7B8-3691-2F19F9AD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276D52-6D0A-AA98-1E26-108449A8C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9C0745-6AFB-3035-EF88-AF4F1490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Interpretability by design</a:t>
            </a:r>
            <a:r>
              <a:rPr lang="en-US" dirty="0"/>
              <a:t>: decision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1AB711-BBEB-0B8E-617D-3DCE40555397}"/>
              </a:ext>
            </a:extLst>
          </p:cNvPr>
          <p:cNvSpPr txBox="1"/>
          <p:nvPr/>
        </p:nvSpPr>
        <p:spPr>
          <a:xfrm>
            <a:off x="838200" y="2244684"/>
            <a:ext cx="422998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Model: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FC0F49-475B-84D9-14FA-A2760FD8EFC6}"/>
                  </a:ext>
                </a:extLst>
              </p:cNvPr>
              <p:cNvSpPr txBox="1"/>
              <p:nvPr/>
            </p:nvSpPr>
            <p:spPr>
              <a:xfrm>
                <a:off x="7123814" y="2244684"/>
                <a:ext cx="4229985" cy="37555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=0.69</m:t>
                      </m:r>
                    </m:oMath>
                  </m:oMathPara>
                </a14:m>
                <a:endParaRPr lang="en-US" b="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FC0F49-475B-84D9-14FA-A2760FD8E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814" y="2244684"/>
                <a:ext cx="4229985" cy="375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A957E5-6AE0-DDF8-D10C-CA3A1DD4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08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D5C8-6F15-92B8-8558-3BAE285F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Interpretability by design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82169-496C-DC04-3985-A86F88BAF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35F35-8576-D3D2-C3EC-FDF4F87509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Provides directly inspectable models </a:t>
            </a:r>
            <a:r>
              <a:rPr lang="en-US" dirty="0"/>
              <a:t>whose structure is understandable from the start</a:t>
            </a:r>
          </a:p>
          <a:p>
            <a:r>
              <a:rPr lang="en-US" b="1" dirty="0"/>
              <a:t>Helps reveal</a:t>
            </a:r>
            <a:r>
              <a:rPr lang="en-US" dirty="0"/>
              <a:t> simple trends, signs, rules, or constraints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B9483-96B5-3B67-604F-D8AFF11D8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0E1C2-D157-4599-4585-AB6C31F6876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Does not guarantee high predictive accuracy</a:t>
            </a:r>
            <a:r>
              <a:rPr lang="en-US" dirty="0"/>
              <a:t> if the true relationship is highly nonlinear or interaction-rich</a:t>
            </a:r>
          </a:p>
          <a:p>
            <a:r>
              <a:rPr lang="en-US" b="1" dirty="0"/>
              <a:t>Can mislead when</a:t>
            </a:r>
            <a:r>
              <a:rPr lang="en-US" dirty="0"/>
              <a:t> simple coefficients or rules are treated as mechanistic truth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CF532-A250-56B8-6C73-D173F921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0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75B3-A0C7-5A53-52A1-DEC81830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C219-FAE4-5660-A317-21CC4D23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Model-specific post-hoc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C5DB4-2FF3-59EB-351F-7CD690724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FE20E15-22E0-D8C2-BA12-8E22527F4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9F652F-4A99-CA45-7899-A9C3B78E2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3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F8BED-9E86-FC82-D33C-B754DB47068C}"/>
              </a:ext>
            </a:extLst>
          </p:cNvPr>
          <p:cNvSpPr/>
          <p:nvPr/>
        </p:nvSpPr>
        <p:spPr>
          <a:xfrm>
            <a:off x="3930316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482275-A121-96BB-E05F-0D68A2B9D54E}"/>
              </a:ext>
            </a:extLst>
          </p:cNvPr>
          <p:cNvSpPr/>
          <p:nvPr/>
        </p:nvSpPr>
        <p:spPr>
          <a:xfrm>
            <a:off x="4279605" y="3722873"/>
            <a:ext cx="3078125" cy="239145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4104C-1C7A-E2EC-61DD-00BB439B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8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5DB4-283A-4794-D569-F8384C6C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A1F80-BBBB-6A6D-4FBB-4F5961274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</a:rPr>
                  <a:t>Definition: </a:t>
                </a:r>
                <a:r>
                  <a:rPr lang="en-US" b="1" dirty="0"/>
                  <a:t>The impurity of a node following the squared-error criterion is the variance of the target values in that node.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i="1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 </a:t>
                </a:r>
                <a:r>
                  <a:rPr lang="en-US" dirty="0"/>
                  <a:t>impurity/within-node variance of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number of training samples in node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measured target value of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average target value of samples in node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A1F80-BBBB-6A6D-4FBB-4F5961274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2C50AB5-70CB-04B3-35D3-BB99DD85FB47}"/>
                  </a:ext>
                </a:extLst>
              </p:cNvPr>
              <p:cNvSpPr/>
              <p:nvPr/>
            </p:nvSpPr>
            <p:spPr>
              <a:xfrm>
                <a:off x="8844517" y="2971800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Parent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2C50AB5-70CB-04B3-35D3-BB99DD85F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517" y="2971800"/>
                <a:ext cx="914400" cy="914400"/>
              </a:xfrm>
              <a:prstGeom prst="rect">
                <a:avLst/>
              </a:prstGeom>
              <a:blipFill>
                <a:blip r:embed="rId3"/>
                <a:stretch>
                  <a:fillRect l="-2614"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99D8A-F0DF-944C-41CE-FACA3E35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74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8032-5BE9-3EEE-2A1D-89012026D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10F0-CF6A-0CB4-A2C5-69F93B75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171B35-D1B9-BDCD-E3CD-E77DD75A18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i="1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: total number of training samples in the tree</a:t>
                </a:r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: number of samples in the left and right children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171B35-D1B9-BDCD-E3CD-E77DD75A1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D58997-BC21-5C61-A86B-78DCA9FB8580}"/>
                  </a:ext>
                </a:extLst>
              </p:cNvPr>
              <p:cNvSpPr/>
              <p:nvPr/>
            </p:nvSpPr>
            <p:spPr>
              <a:xfrm>
                <a:off x="5638800" y="4350488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Parent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D58997-BC21-5C61-A86B-78DCA9FB8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350488"/>
                <a:ext cx="914400" cy="914400"/>
              </a:xfrm>
              <a:prstGeom prst="rect">
                <a:avLst/>
              </a:prstGeom>
              <a:blipFill>
                <a:blip r:embed="rId3"/>
                <a:stretch>
                  <a:fillRect l="-1961" r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2B59896-D581-9C3F-B849-14D2D7CF171B}"/>
                  </a:ext>
                </a:extLst>
              </p:cNvPr>
              <p:cNvSpPr/>
              <p:nvPr/>
            </p:nvSpPr>
            <p:spPr>
              <a:xfrm>
                <a:off x="4263659" y="5719763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Left child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2B59896-D581-9C3F-B849-14D2D7CF1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659" y="5719763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 l="-2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43E0275-07D5-2301-53AC-A009372FDFBC}"/>
                  </a:ext>
                </a:extLst>
              </p:cNvPr>
              <p:cNvSpPr/>
              <p:nvPr/>
            </p:nvSpPr>
            <p:spPr>
              <a:xfrm>
                <a:off x="7013942" y="5719763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Right child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43E0275-07D5-2301-53AC-A009372FD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942" y="5719763"/>
                <a:ext cx="914400" cy="914400"/>
              </a:xfrm>
              <a:prstGeom prst="rect">
                <a:avLst/>
              </a:prstGeom>
              <a:blipFill>
                <a:blip r:embed="rId5"/>
                <a:stretch>
                  <a:fillRect l="-4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B1BD08-3B9F-3258-9519-BC6038289C0E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4720859" y="5264888"/>
            <a:ext cx="1375141" cy="454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966735-204D-DC42-C5B3-1947759BAB36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6096000" y="5264888"/>
            <a:ext cx="1375142" cy="454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D230E74-F1B2-5872-0C4A-2BCC4E41EBCF}"/>
              </a:ext>
            </a:extLst>
          </p:cNvPr>
          <p:cNvSpPr txBox="1"/>
          <p:nvPr/>
        </p:nvSpPr>
        <p:spPr>
          <a:xfrm>
            <a:off x="5586886" y="5307659"/>
            <a:ext cx="1018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Split</a:t>
            </a:r>
          </a:p>
          <a:p>
            <a:pPr algn="ctr"/>
            <a:r>
              <a:rPr lang="en-US" dirty="0"/>
              <a:t>criterion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058FA-1A03-63D5-ED0F-B10D47A2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04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3378-150A-C824-4684-3284BF2F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655C6-FBB7-F181-EC81-D5F7CD27D7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For one tree, the importance of feature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importance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split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feature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split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feature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random forests and gradient boosted tree models: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RF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GB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importance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importance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importance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 is the importance of feature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in tree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655C6-FBB7-F181-EC81-D5F7CD27D7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AB145-3B88-1385-6F3A-EE33B3BC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63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DCF68-D557-76DE-1BB9-8F455ADF1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97A3-3955-EF7A-9618-A6B131D9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BDF65-5576-14EF-8303-EF3FB20C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Random forest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D56FB-F02B-EB02-37ED-6435EBFC60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A8715-ACD1-1D4E-6A46-984F84B79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Gradient boosted tree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6BD308-756D-1E57-ACEA-96B7C852EC3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72601-138E-5957-36DD-102386C48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2518140"/>
            <a:ext cx="5157216" cy="3658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4B208F-CCE0-98EA-E04E-FA80DAA88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186" y="2518140"/>
            <a:ext cx="5157216" cy="3658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A902F1-F0C1-BA25-C359-9FA06DAFCA74}"/>
                  </a:ext>
                </a:extLst>
              </p:cNvPr>
              <p:cNvSpPr txBox="1"/>
              <p:nvPr/>
            </p:nvSpPr>
            <p:spPr>
              <a:xfrm>
                <a:off x="2606511" y="5181551"/>
                <a:ext cx="3292312" cy="37427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=0.859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A902F1-F0C1-BA25-C359-9FA06DAFC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511" y="5181551"/>
                <a:ext cx="3292312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C70B79-003B-38DC-E691-7EF7FE938D2B}"/>
                  </a:ext>
                </a:extLst>
              </p:cNvPr>
              <p:cNvSpPr txBox="1"/>
              <p:nvPr/>
            </p:nvSpPr>
            <p:spPr>
              <a:xfrm>
                <a:off x="7957498" y="5176837"/>
                <a:ext cx="3292312" cy="37427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=0.862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C70B79-003B-38DC-E691-7EF7FE938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498" y="5176837"/>
                <a:ext cx="3292312" cy="374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16563A8-2DCC-6E9F-7CC6-8CDBAFCEE199}"/>
              </a:ext>
            </a:extLst>
          </p:cNvPr>
          <p:cNvSpPr txBox="1"/>
          <p:nvPr/>
        </p:nvSpPr>
        <p:spPr>
          <a:xfrm>
            <a:off x="3082351" y="4216564"/>
            <a:ext cx="23331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1050" b="0" dirty="0" err="1">
                <a:effectLst/>
                <a:latin typeface="Consolas" panose="020B0609020204030204" pitchFamily="49" charset="0"/>
              </a:rPr>
              <a:t>rf_model.feature_importances</a:t>
            </a:r>
            <a:r>
              <a:rPr lang="en-US" sz="1050" b="0" dirty="0">
                <a:effectLst/>
                <a:latin typeface="Consolas" panose="020B0609020204030204" pitchFamily="49" charset="0"/>
              </a:rPr>
              <a:t>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2EBFE6-3DC6-C4E7-7FCA-27C73D7BB05A}"/>
              </a:ext>
            </a:extLst>
          </p:cNvPr>
          <p:cNvSpPr txBox="1"/>
          <p:nvPr/>
        </p:nvSpPr>
        <p:spPr>
          <a:xfrm>
            <a:off x="8437071" y="4216564"/>
            <a:ext cx="23331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1050" dirty="0" err="1">
                <a:latin typeface="Consolas" panose="020B0609020204030204" pitchFamily="49" charset="0"/>
              </a:rPr>
              <a:t>gb</a:t>
            </a:r>
            <a:r>
              <a:rPr lang="en-US" sz="1050" b="0" dirty="0" err="1">
                <a:effectLst/>
                <a:latin typeface="Consolas" panose="020B0609020204030204" pitchFamily="49" charset="0"/>
              </a:rPr>
              <a:t>_model.feature_importances</a:t>
            </a:r>
            <a:r>
              <a:rPr lang="en-US" sz="1050" b="0" dirty="0">
                <a:effectLst/>
                <a:latin typeface="Consolas" panose="020B0609020204030204" pitchFamily="49" charset="0"/>
              </a:rPr>
              <a:t>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6FF62-E0FD-7F1C-CEA3-9C3E201A1F21}"/>
              </a:ext>
            </a:extLst>
          </p:cNvPr>
          <p:cNvSpPr txBox="1"/>
          <p:nvPr/>
        </p:nvSpPr>
        <p:spPr>
          <a:xfrm>
            <a:off x="836612" y="6176598"/>
            <a:ext cx="1051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MDI feature importance tells us which features helped the trees reduce impurity. MDI is model-specific—it can only be applied to tree-based models.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84600-7233-D2C5-ED6F-C72B7586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63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0D28-0837-41BB-5623-8600FE18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D273-1E73-96C3-79C4-AC449FF5D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AF104-06EC-C920-70F7-4C70E649FE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Provides a fast global feature ranking</a:t>
            </a:r>
            <a:r>
              <a:rPr lang="en-US" dirty="0"/>
              <a:t> for random forests and gradient boosted trees</a:t>
            </a:r>
          </a:p>
          <a:p>
            <a:r>
              <a:rPr lang="en-US" b="1" dirty="0"/>
              <a:t>Works well when</a:t>
            </a:r>
            <a:r>
              <a:rPr lang="en-US" dirty="0"/>
              <a:t> you want a quick first look at which features helped trees make useful splits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2ECE4-2D7A-C6E8-EACB-FFDF76BC1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3D994-8FF2-5F31-ECAA-257A454A51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Does not show direction or local effects</a:t>
            </a:r>
            <a:r>
              <a:rPr lang="en-US" dirty="0"/>
              <a:t> because importances are unsigned and global</a:t>
            </a:r>
          </a:p>
          <a:p>
            <a:r>
              <a:rPr lang="en-US" b="1" dirty="0"/>
              <a:t>Sensitive to feature correlation</a:t>
            </a:r>
            <a:r>
              <a:rPr lang="en-US" dirty="0"/>
              <a:t> because correlated features can receive biased/split importance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5FAEF-8A22-05D1-678E-A55BEF29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15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6769-DCE7-6DDD-C49E-E7CDBB61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CEEE-ED3F-310E-BBD3-9CA1AB0F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Local post-hoc model-agnostic local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72EBD-8116-AC18-8CF5-84FA4707A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A7C7C35-D771-5EDB-8B3D-497429806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994169-90D7-0186-5415-BEE690647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3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D68377-646A-6C80-22C7-4203FAF9B8E5}"/>
              </a:ext>
            </a:extLst>
          </p:cNvPr>
          <p:cNvSpPr/>
          <p:nvPr/>
        </p:nvSpPr>
        <p:spPr>
          <a:xfrm>
            <a:off x="3930316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7D2C8-FB3F-6004-6800-DE5826E72091}"/>
              </a:ext>
            </a:extLst>
          </p:cNvPr>
          <p:cNvSpPr/>
          <p:nvPr/>
        </p:nvSpPr>
        <p:spPr>
          <a:xfrm>
            <a:off x="5818667" y="4910668"/>
            <a:ext cx="3078125" cy="1350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97EAD-9751-DFFB-9BCE-31EA14AFDA99}"/>
              </a:ext>
            </a:extLst>
          </p:cNvPr>
          <p:cNvSpPr/>
          <p:nvPr/>
        </p:nvSpPr>
        <p:spPr>
          <a:xfrm>
            <a:off x="7357730" y="3785510"/>
            <a:ext cx="3078125" cy="239145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7F5B5-3FB1-297F-0D00-C534BE73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3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EB71-9DCE-1B03-A2E3-31CE1077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698CE7-5049-600A-AB80-2E837DD0D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Core idea: </a:t>
                </a:r>
                <a:r>
                  <a:rPr lang="en-US" dirty="0"/>
                  <a:t>Explain an individual prediction by fitting a simple model that mimics a complex model only near the point being explained.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Let the original model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define a simple, typically linear surrogate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The goal of LIME is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to behave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near the data point being evaluated.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698CE7-5049-600A-AB80-2E837DD0D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37205-9AA4-B739-0779-C8358EDE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74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4D54B-CA96-721D-FC21-8DB64ABD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24E4-48CC-8353-0D1D-3AA2F702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09FEE-23F8-F2F0-DC4E-9B801F487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1: Pick the molecule to explain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6CA39F1-4A92-AA79-BE9B-034CA03A4A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6CA39F1-4A92-AA79-BE9B-034CA03A4A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F7FFC2-D81E-662C-B290-4F3AAE5AA31B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560A6-D355-B68C-A423-89C901A3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91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5880-B6C1-A7E7-6B6E-816315DE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3FDA-C0C8-DA71-6E26-5D54B396B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8405D-ED52-A0CB-5E4E-8716186CF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2: Generate perturbed versions of the molecule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0EC5077-252D-8C17-BB5D-44DB67C8D6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0EC5077-252D-8C17-BB5D-44DB67C8D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186D58-B9C3-62EF-2D6A-1B02B8634997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FBBEB1-0FD1-7ACE-8B8A-B6B1C92387B5}"/>
              </a:ext>
            </a:extLst>
          </p:cNvPr>
          <p:cNvGraphicFramePr>
            <a:graphicFrameLocks noGrp="1"/>
          </p:cNvGraphicFramePr>
          <p:nvPr/>
        </p:nvGraphicFramePr>
        <p:xfrm>
          <a:off x="3236235" y="3202314"/>
          <a:ext cx="811756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927">
                  <a:extLst>
                    <a:ext uri="{9D8B030D-6E8A-4147-A177-3AD203B41FA5}">
                      <a16:colId xmlns:a16="http://schemas.microsoft.com/office/drawing/2014/main" val="40606782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2131220821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1831196201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12420757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54433838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71642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Minimum 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Molecular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H-Bond Donors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Rotatable Bonds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Polar Surface 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756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261.119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54.86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573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049490B-69FD-B95B-941B-C858EE4C45B3}"/>
              </a:ext>
            </a:extLst>
          </p:cNvPr>
          <p:cNvSpPr txBox="1"/>
          <p:nvPr/>
        </p:nvSpPr>
        <p:spPr>
          <a:xfrm>
            <a:off x="3236235" y="2832982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Descriptor values: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9AB4D0-15FB-901A-EE87-05E8D6245A6E}"/>
              </a:ext>
            </a:extLst>
          </p:cNvPr>
          <p:cNvSpPr txBox="1"/>
          <p:nvPr/>
        </p:nvSpPr>
        <p:spPr>
          <a:xfrm>
            <a:off x="3236232" y="4213234"/>
            <a:ext cx="4600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Generate 5000 perturbed samples nearby: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61FA79-86F0-F1DE-B280-474E765247B0}"/>
              </a:ext>
            </a:extLst>
          </p:cNvPr>
          <p:cNvGraphicFramePr>
            <a:graphicFrameLocks noGrp="1"/>
          </p:cNvGraphicFramePr>
          <p:nvPr/>
        </p:nvGraphicFramePr>
        <p:xfrm>
          <a:off x="3236235" y="4561863"/>
          <a:ext cx="811756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927">
                  <a:extLst>
                    <a:ext uri="{9D8B030D-6E8A-4147-A177-3AD203B41FA5}">
                      <a16:colId xmlns:a16="http://schemas.microsoft.com/office/drawing/2014/main" val="40606782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2131220821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1831196201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12420757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54433838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71642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Minimum 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Molecular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H-Bond Donors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Rotatable Bonds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Polar Surface 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756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0.997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69.567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2.564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39.467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57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0.911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226.866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3.064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9.390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347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0.918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455.888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4.111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2.352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95.249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54180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020D467-D035-C98F-4202-2083B9AAA7FD}"/>
              </a:ext>
            </a:extLst>
          </p:cNvPr>
          <p:cNvSpPr txBox="1"/>
          <p:nvPr/>
        </p:nvSpPr>
        <p:spPr>
          <a:xfrm rot="5400000">
            <a:off x="7157071" y="63153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FCFDA-26A4-A9D2-E4B3-08EE63F8D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0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9789B-EDB9-52E5-84D1-CAF77193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22FC-7E4C-9C56-59E8-96452D8E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16567-0FBF-CF3E-D51D-A763D11F6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indent="0">
                  <a:buNone/>
                </a:pPr>
                <a:r>
                  <a:rPr lang="en-US" dirty="0"/>
                  <a:t>Step 3: Predict the perturbed samples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16567-0FBF-CF3E-D51D-A763D11F6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16162F6-32E7-15FA-5E77-C125E509E1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3" imgW="1307586" imgH="1261348" progId="ChemDraw_x64.Document.6.0">
                  <p:embed/>
                </p:oleObj>
              </mc:Choice>
              <mc:Fallback>
                <p:oleObj name="CS ChemDraw 64-bit Drawing" r:id="rId3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16162F6-32E7-15FA-5E77-C125E509E1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40CAE5-C556-057F-D2D0-7F78C54F9190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5EB79D2-6C6C-5165-C897-4500BA6758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36238" y="3203791"/>
              <a:ext cx="8117564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9652">
                      <a:extLst>
                        <a:ext uri="{9D8B030D-6E8A-4147-A177-3AD203B41FA5}">
                          <a16:colId xmlns:a16="http://schemas.microsoft.com/office/drawing/2014/main" val="40606782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213122082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183119620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12420757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54433838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7164233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9069589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Minimum Degree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Molecular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H-Bond Donors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Rings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Rotatable Bonds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Polar Surface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6756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69.567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3.301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2.564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39.467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-0.060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595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226.866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3.222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3.064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9.390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-8.016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347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455.888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4.111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2.352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95.249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-5.524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5418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5EB79D2-6C6C-5165-C897-4500BA6758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2981927"/>
                  </p:ext>
                </p:extLst>
              </p:nvPr>
            </p:nvGraphicFramePr>
            <p:xfrm>
              <a:off x="3236238" y="3203791"/>
              <a:ext cx="8117564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9652">
                      <a:extLst>
                        <a:ext uri="{9D8B030D-6E8A-4147-A177-3AD203B41FA5}">
                          <a16:colId xmlns:a16="http://schemas.microsoft.com/office/drawing/2014/main" val="40606782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213122082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183119620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12420757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54433838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7164233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90695893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Minimum Degree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Molecular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H-Bond Donors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Rings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Rotatable Bonds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Polar Surface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02105" t="-943" r="-2105" b="-1745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6756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69.567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3.301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2.564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39.467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-0.060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595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226.866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3.222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3.064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9.390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-8.016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347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455.888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4.111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2.352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95.249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-5.524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5418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0ABE752-E947-EDD9-4F37-FC1FFB483861}"/>
              </a:ext>
            </a:extLst>
          </p:cNvPr>
          <p:cNvSpPr txBox="1"/>
          <p:nvPr/>
        </p:nvSpPr>
        <p:spPr>
          <a:xfrm rot="5400000">
            <a:off x="7157071" y="50138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7CE5A-31BB-9B63-60E3-463F31F4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68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3DA31-089F-E698-22D1-ABCB04C2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A382-6576-FB89-1768-0DF5E26D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90453-B93F-7284-D47D-B7D77A8F6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Example:</a:t>
            </a:r>
          </a:p>
          <a:p>
            <a:pPr marL="0" indent="0">
              <a:buNone/>
            </a:pPr>
            <a:r>
              <a:rPr lang="en-US"/>
              <a:t>Step 4: Compute how close each perturbed sample is to the original molecule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8285812-9156-C395-47ED-BCDEAF4FF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8285812-9156-C395-47ED-BCDEAF4FF6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2A2365-C517-A967-5083-31F01F7388CD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319D1ED-5ACF-179A-2C94-4863C92D8EE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36238" y="3203791"/>
              <a:ext cx="8117568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4696">
                      <a:extLst>
                        <a:ext uri="{9D8B030D-6E8A-4147-A177-3AD203B41FA5}">
                          <a16:colId xmlns:a16="http://schemas.microsoft.com/office/drawing/2014/main" val="40606782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213122082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183119620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12420757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54433838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7164233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906958933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11196010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Minimum Degree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Molecular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H-Bond Donors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Rings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Rotatable Bonds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Polar Surface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2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6756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69.567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3.301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2.564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39.467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-0.060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0.641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595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226.866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3.222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3.064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9.390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-8.016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0.553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347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455.888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4.111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2.352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95.249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-5.524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0.553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5418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319D1ED-5ACF-179A-2C94-4863C92D8E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8112221"/>
                  </p:ext>
                </p:extLst>
              </p:nvPr>
            </p:nvGraphicFramePr>
            <p:xfrm>
              <a:off x="3236238" y="3203791"/>
              <a:ext cx="8117568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4696">
                      <a:extLst>
                        <a:ext uri="{9D8B030D-6E8A-4147-A177-3AD203B41FA5}">
                          <a16:colId xmlns:a16="http://schemas.microsoft.com/office/drawing/2014/main" val="40606782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213122082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183119620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12420757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54433838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7164233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906958933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111960108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Minimum Degree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Molecular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H-Bond Donors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Rings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Rotatable Bonds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Polar Surface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03012" t="-943" r="-103012" b="-17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98802" t="-943" r="-2395" b="-1745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6756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69.567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3.301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2.564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39.467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-0.060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0.641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595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226.866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3.222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3.064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9.390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-8.016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0.553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347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455.888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4.111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2.352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95.249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-5.524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0.553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5418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9DF9AD5-B5FC-E81A-DF05-08B92772B458}"/>
              </a:ext>
            </a:extLst>
          </p:cNvPr>
          <p:cNvSpPr txBox="1"/>
          <p:nvPr/>
        </p:nvSpPr>
        <p:spPr>
          <a:xfrm rot="5400000">
            <a:off x="7157071" y="50138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A5F5DE-70FD-A980-1DEC-71B6397904D2}"/>
                  </a:ext>
                </a:extLst>
              </p:cNvPr>
              <p:cNvSpPr txBox="1"/>
              <p:nvPr/>
            </p:nvSpPr>
            <p:spPr>
              <a:xfrm>
                <a:off x="3236236" y="5406264"/>
                <a:ext cx="4058338" cy="997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common choice of kernel is: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A5F5DE-70FD-A980-1DEC-71B639790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5406264"/>
                <a:ext cx="4058338" cy="997324"/>
              </a:xfrm>
              <a:prstGeom prst="rect">
                <a:avLst/>
              </a:prstGeom>
              <a:blipFill>
                <a:blip r:embed="rId6"/>
                <a:stretch>
                  <a:fillRect l="-1351" t="-3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40EE9-54F0-0B8A-C8B3-34547D7E9A26}"/>
                  </a:ext>
                </a:extLst>
              </p:cNvPr>
              <p:cNvSpPr txBox="1"/>
              <p:nvPr/>
            </p:nvSpPr>
            <p:spPr>
              <a:xfrm>
                <a:off x="7294574" y="5406264"/>
                <a:ext cx="4058338" cy="1227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: weight assigned to perturbation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Euclidean distance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 kernel width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40EE9-54F0-0B8A-C8B3-34547D7E9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574" y="5406264"/>
                <a:ext cx="4058338" cy="1227516"/>
              </a:xfrm>
              <a:prstGeom prst="rect">
                <a:avLst/>
              </a:prstGeom>
              <a:blipFill>
                <a:blip r:embed="rId7"/>
                <a:stretch>
                  <a:fillRect l="-1053" t="-2488"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13707-91C2-4C56-FCED-1E131835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56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E578-2EBB-3119-9658-FD037D39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83ED-41C9-2A04-3DB2-1E3F3F19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C6B8-0F0C-0BD9-2045-F773A89CB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5: Fit a simple weighted surrogate model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997A2CA-5B81-E7A8-6C50-F9C5F9326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997A2CA-5B81-E7A8-6C50-F9C5F93267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59478A-1FA4-D3C5-C388-2FF03BB73C6C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2088457" cy="12228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=−2.809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=0.054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59478A-1FA4-D3C5-C388-2FF03BB73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2088457" cy="12228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627C1F-35D4-5A73-E39B-F5BEE6331D5C}"/>
                  </a:ext>
                </a:extLst>
              </p:cNvPr>
              <p:cNvSpPr txBox="1"/>
              <p:nvPr/>
            </p:nvSpPr>
            <p:spPr>
              <a:xfrm>
                <a:off x="3236236" y="2890001"/>
                <a:ext cx="8117564" cy="364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5000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Using rule-based bins instead of feature coefficients,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=−3.279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+1.099∗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26.30&lt;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Polar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Surface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≤56.79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−0.685∗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190.35&lt;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Molecular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Weight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278.06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+0.151∗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1.00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Rotatable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Bonds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3.00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−0.067∗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Minimum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Degree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627C1F-35D4-5A73-E39B-F5BEE6331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90001"/>
                <a:ext cx="8117564" cy="3640997"/>
              </a:xfrm>
              <a:prstGeom prst="rect">
                <a:avLst/>
              </a:prstGeom>
              <a:blipFill>
                <a:blip r:embed="rId5"/>
                <a:stretch>
                  <a:fillRect l="-676" b="-1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92C2E-C071-1934-EAC7-FA72651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57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C786-7054-813D-A0FA-A6925015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BF726E2-336D-0EEE-DD43-C36B65405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74" y="2916699"/>
            <a:ext cx="8119872" cy="35882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A4D344-8026-01CB-DC41-1415082C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AEB85-6099-317E-69C0-7C91B272D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5: Fit a simple weighted surrogate model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02EB140-C2A4-49EC-145F-A926EC4769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3" imgW="1307586" imgH="1261348" progId="ChemDraw_x64.Document.6.0">
                  <p:embed/>
                </p:oleObj>
              </mc:Choice>
              <mc:Fallback>
                <p:oleObj name="CS ChemDraw 64-bit Drawing" r:id="rId3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02EB140-C2A4-49EC-145F-A926EC476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88253-E450-29BD-2D9F-8D6EF9DB4C08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2088457" cy="12228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=−2.809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=0.054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88253-E450-29BD-2D9F-8D6EF9DB4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2088457" cy="12228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CE1CE-A53E-9769-BA1F-1F8F2D0A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56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6084-31B2-D4F5-53FD-E687C36F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8784-115B-84E5-4732-B8082ADDE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3AA4D-5251-1646-AF2D-9EA948B6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053"/>
            <a:ext cx="10515600" cy="42984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087A3-38E7-273B-FE0C-503B6312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5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AD48-FD9B-D7EC-B1A9-C7A280CE0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4BC0-80E1-600B-62F2-0537F53B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DF8-526C-2654-E9A6-27F4956C7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3E709-ADC3-A5EA-EF15-C12513082C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Provides local, human-readable explanations</a:t>
            </a:r>
            <a:r>
              <a:rPr lang="en-US" sz="2400" dirty="0"/>
              <a:t> for individual predictions</a:t>
            </a:r>
          </a:p>
          <a:p>
            <a:r>
              <a:rPr lang="en-US" sz="2400" b="1" dirty="0"/>
              <a:t>Works well when </a:t>
            </a:r>
            <a:r>
              <a:rPr lang="en-US" sz="2400" dirty="0"/>
              <a:t>a simple local surrogate can approximate the black-box model near the sample being explained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5A099-A424-BD5C-7982-4EA570DA7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6B56E-6A9F-905E-2EFF-5D37503989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Does not explain the black-box model directly</a:t>
            </a:r>
            <a:r>
              <a:rPr lang="en-US" sz="2400" dirty="0"/>
              <a:t>; it explains a local surrogate approximation</a:t>
            </a:r>
          </a:p>
          <a:p>
            <a:r>
              <a:rPr lang="en-US" sz="2400" b="1" dirty="0"/>
              <a:t>Sensitive to perturbation strategy, random seed, kernel width, number of features, etc.</a:t>
            </a:r>
          </a:p>
          <a:p>
            <a:r>
              <a:rPr lang="en-US" sz="2400" b="1" dirty="0"/>
              <a:t>Can mislead when</a:t>
            </a:r>
            <a:r>
              <a:rPr lang="en-US" sz="2400" dirty="0"/>
              <a:t> the local surrogate has poor fidelity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B0C74-4002-8D2F-0200-80CDEDA6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40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1581-939D-FAD3-3111-48A2E5DB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97FD-C5F9-9BAC-6FA8-C416F804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Global post-hoc model-agnostic local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F70A-A69C-754F-A94D-0CBACB60E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21362B8-1F5D-0E3F-6001-4801E1D87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CE4229-4D43-89B3-51AF-AEDAA6439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3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145CBC-81C9-4CA8-6ABF-9C27C4944D98}"/>
              </a:ext>
            </a:extLst>
          </p:cNvPr>
          <p:cNvSpPr/>
          <p:nvPr/>
        </p:nvSpPr>
        <p:spPr>
          <a:xfrm>
            <a:off x="3930316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AC75F1-951E-EAA5-D74B-BDEBF3949460}"/>
              </a:ext>
            </a:extLst>
          </p:cNvPr>
          <p:cNvSpPr/>
          <p:nvPr/>
        </p:nvSpPr>
        <p:spPr>
          <a:xfrm>
            <a:off x="2604820" y="4910668"/>
            <a:ext cx="3078125" cy="1350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F37CE-52DE-5D90-81E7-FA5B0F218455}"/>
              </a:ext>
            </a:extLst>
          </p:cNvPr>
          <p:cNvSpPr/>
          <p:nvPr/>
        </p:nvSpPr>
        <p:spPr>
          <a:xfrm>
            <a:off x="7357730" y="3785510"/>
            <a:ext cx="3078125" cy="239145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F1A86-3B60-24E9-AE80-70D06396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40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FDF7-C3B2-05A6-CE69-B44F91F7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Global model-agnostic post-hoc interpretability</a:t>
            </a:r>
            <a:r>
              <a:rPr lang="en-US" dirty="0"/>
              <a:t>: permutation importance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9C03C-1943-EEAA-77C4-D4A5BE71B5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be a fitted model,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 be the dataset used for inspection (usually a held-out validation or test set), and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be the corresponding target values.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Compute the baseline score: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(here, we will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Choose feature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. Randomly permute column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, leaving all other columns unchanged. Call the corrupted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Compute the score on the corrupted dataset: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The permutation importance of feature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PI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Repeat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times for each feature and average the score after shuffling: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PI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9C03C-1943-EEAA-77C4-D4A5BE71B5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FF5AB-386E-4598-B942-F5527400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79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EEE0E-7A6C-2117-8914-D7D55F62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1104-0A20-21FD-06B7-FA09898B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Global model-agnostic post-hoc interpretability</a:t>
            </a:r>
            <a:r>
              <a:rPr lang="en-US" dirty="0"/>
              <a:t>: permutation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8AB24-5A41-A902-A494-C01EF9554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0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90B13-987F-C1E9-E886-DDEE904F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6662BB-F359-6D96-5DF1-E715BA651341}"/>
              </a:ext>
            </a:extLst>
          </p:cNvPr>
          <p:cNvSpPr txBox="1"/>
          <p:nvPr/>
        </p:nvSpPr>
        <p:spPr>
          <a:xfrm>
            <a:off x="836612" y="6176598"/>
            <a:ext cx="1051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When two features are correlated, permuting one feature may leave the model access to similar information through the correlated feature, reducing the reported importance for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E8006-2CA2-B8D5-451C-ECA3F01A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3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5017-A0B5-7D79-3F7E-64EDFB91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Global model-agnostic post-hoc interpretability</a:t>
            </a:r>
            <a:r>
              <a:rPr lang="en-US" dirty="0"/>
              <a:t>: permutation importance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5A7E5-F58B-1C14-E5C3-FC8D5AB1C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2D5E8-A46E-E5BE-0261-2651E37DC9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Provides a model-agnostic global feature ranking</a:t>
            </a:r>
            <a:r>
              <a:rPr lang="en-US" dirty="0"/>
              <a:t> based on predictive performance</a:t>
            </a:r>
          </a:p>
          <a:p>
            <a:r>
              <a:rPr lang="en-US" b="1" dirty="0"/>
              <a:t>Helps reveal</a:t>
            </a:r>
            <a:r>
              <a:rPr lang="en-US" dirty="0"/>
              <a:t> how much performance decreases when each feature’s information is destroyed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0763B-CE43-949E-C1A5-ED706C661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490785-DEA8-5787-90C7-502A6515FB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Does not show direction or local effects</a:t>
            </a:r>
            <a:r>
              <a:rPr lang="en-US" dirty="0"/>
              <a:t> because it measures performance drop, not positive/negative contribution</a:t>
            </a:r>
          </a:p>
          <a:p>
            <a:r>
              <a:rPr lang="en-US" b="1" dirty="0"/>
              <a:t>Can mislead when</a:t>
            </a:r>
            <a:r>
              <a:rPr lang="en-US" dirty="0"/>
              <a:t> redundant descriptors hide each other’s importance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8DBF2-92E1-3BD7-660C-AFC0F97F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92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DBEED-1C2B-81BB-20B1-928DA708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E08B-2FEC-3764-948D-783724A7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Local &amp; global post-hoc model-agnostic local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C42-A5EB-5645-C517-C02736528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81B2F8D-FF89-2324-764F-4218FB3C9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28A85B-4156-9D61-AD40-F376F61A4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3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9D5DD-F0BC-A6E8-4E96-6A01820AA484}"/>
              </a:ext>
            </a:extLst>
          </p:cNvPr>
          <p:cNvSpPr/>
          <p:nvPr/>
        </p:nvSpPr>
        <p:spPr>
          <a:xfrm>
            <a:off x="3930316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76DD6-5AEA-135C-32B1-3E0263084FA0}"/>
              </a:ext>
            </a:extLst>
          </p:cNvPr>
          <p:cNvSpPr/>
          <p:nvPr/>
        </p:nvSpPr>
        <p:spPr>
          <a:xfrm>
            <a:off x="7357730" y="3785510"/>
            <a:ext cx="3078125" cy="239145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D02E7-0F92-12AA-0539-08EC0718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74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105E-5495-91D6-BA42-8027CE08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A68E83-E7CC-3DA2-D878-291946C99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 a fitted model. </a:t>
                </a:r>
              </a:p>
              <a:p>
                <a:pPr marL="0" indent="0">
                  <a:buNone/>
                </a:pPr>
                <a:r>
                  <a:rPr lang="en-US" dirty="0"/>
                  <a:t>For measurement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feature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, and a chosen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the ICE value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ICE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 all features other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for measurement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PDP averages the ICE curves over all measurements: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PDP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A68E83-E7CC-3DA2-D878-291946C99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A3EE9-5F37-D3F5-EF78-C63EBD0D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18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D201-B770-2CF7-17F7-7EE14A0B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C2734-7C19-13DF-B4F4-828C3731D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65DCB-4A65-A1C5-12D5-9C386B9BA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053"/>
            <a:ext cx="10515600" cy="4298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F4018-E033-377D-1ECB-C0641878DA35}"/>
              </a:ext>
            </a:extLst>
          </p:cNvPr>
          <p:cNvSpPr txBox="1"/>
          <p:nvPr/>
        </p:nvSpPr>
        <p:spPr>
          <a:xfrm>
            <a:off x="6096000" y="1946417"/>
            <a:ext cx="515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ICE curves show a consistent decrease in predicted log solubility with increasing molecular weight.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Molecules with more rings tend to have lower predicted solubility at the same molecular weight.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Ring count primarily shifts the baseline prediction and does not fundamentally changing the molecular-weight dependence.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6114C-0BEB-66C3-BF4D-696D745D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82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E79F-A5B0-5A76-8ECD-BBB92CD41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2676B-A855-F000-919D-38D56562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0A866-9CD1-4BD4-FBC9-5B329A0E2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D865AA-11CA-68B8-7719-8E163A17A55B}"/>
              </a:ext>
            </a:extLst>
          </p:cNvPr>
          <p:cNvSpPr txBox="1"/>
          <p:nvPr/>
        </p:nvSpPr>
        <p:spPr>
          <a:xfrm>
            <a:off x="5054600" y="4289567"/>
            <a:ext cx="515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ICE/PDP curves show that predicted log solubility increases with polar surface area, especially at low polar surface area, and then largely plateaus.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Molecules with more rings are predicted to be less soluble at the same polar surface 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Ring count appears to shift the baseline prediction more than it changes the shape of the polar-surface-area dependence.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B2CC1-0C7E-71D7-D803-12D03A77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87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9BD5C-5629-CE61-127E-9F424778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2564-8736-086F-D34E-6B1EBBDE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D43D2-C057-8756-5B73-B51CDE207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B0DD2-BF87-4103-6E95-E4FB4DC58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3C9B82-C7E5-1B89-1BBA-AE58038CFDE5}"/>
              </a:ext>
            </a:extLst>
          </p:cNvPr>
          <p:cNvSpPr txBox="1"/>
          <p:nvPr/>
        </p:nvSpPr>
        <p:spPr>
          <a:xfrm>
            <a:off x="3517900" y="1946417"/>
            <a:ext cx="515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Predicted log solubility decreases strongly with molecular weight and increases with polar surface area.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Polar surface area can partially compensate for high molecular weight, suggesting that the model has learned an interaction between molecular size and polarity.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C5E61-0E25-436E-3F70-1991B907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7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C069-5E28-EC36-2673-604E17C0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2B3E9-049B-3D5F-0C13-1710F222D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25372-E3E1-85CA-6284-9996C8B324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Works well when</a:t>
            </a:r>
            <a:r>
              <a:rPr lang="en-US" dirty="0"/>
              <a:t> you want to move from “which features matter?” to “how does the model use this feature?” </a:t>
            </a:r>
          </a:p>
          <a:p>
            <a:r>
              <a:rPr lang="en-US" b="1" dirty="0"/>
              <a:t>Helps reveal</a:t>
            </a:r>
            <a:r>
              <a:rPr lang="en-US" dirty="0"/>
              <a:t> direction, nonlinearity, thresholds, saturation, and heterogeneity across samples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56614-A0A7-8351-214F-6A761CCB0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EA6F0-5B44-3CD6-1398-DDF981FBFE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 not prove causal effects </a:t>
            </a:r>
            <a:r>
              <a:rPr lang="en-US" dirty="0"/>
              <a:t>because they evaluate model behavior under artificial feature changes</a:t>
            </a:r>
          </a:p>
          <a:p>
            <a:r>
              <a:rPr lang="en-US" b="1" dirty="0"/>
              <a:t>Can mislead when</a:t>
            </a:r>
            <a:r>
              <a:rPr lang="en-US" dirty="0"/>
              <a:t> PDP averages hide heterogeneous ICE behavior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A533A-26F0-F34C-971F-BC1EB32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93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E824-13DB-0A63-9198-B9D32CB7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DF987-C8F8-E608-F62C-1E5BE5B98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Core idea: </a:t>
                </a:r>
                <a:r>
                  <a:rPr lang="en-US" dirty="0"/>
                  <a:t>every prediction is decomposed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model prediction for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baseline prediction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 SHAP value for feature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in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number of features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DF987-C8F8-E608-F62C-1E5BE5B98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93403-DB61-DD0F-A42B-55518187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193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9B89-F60E-AAA0-4858-E543F32F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7A893-2404-2EDF-746D-DE6609F8A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5A75255-E62B-923D-5909-478E6D989A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26822"/>
              </p:ext>
            </p:extLst>
          </p:nvPr>
        </p:nvGraphicFramePr>
        <p:xfrm>
          <a:off x="838200" y="28444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5A75255-E62B-923D-5909-478E6D989A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28444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028829-4D49-5D98-8005-F7BA0AA884AE}"/>
                  </a:ext>
                </a:extLst>
              </p:cNvPr>
              <p:cNvSpPr txBox="1"/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028829-4D49-5D98-8005-F7BA0AA8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571E09F-6F7B-DA07-791D-61929DC6F1B5}"/>
              </a:ext>
            </a:extLst>
          </p:cNvPr>
          <p:cNvSpPr txBox="1"/>
          <p:nvPr/>
        </p:nvSpPr>
        <p:spPr>
          <a:xfrm>
            <a:off x="838200" y="515811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How much did molecular weight, polar surface area, ring count, and the other descriptors push the predicted log solubility above or below a reference prediction?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1413D-BE2D-B471-3501-190871823080}"/>
                  </a:ext>
                </a:extLst>
              </p:cNvPr>
              <p:cNvSpPr txBox="1"/>
              <p:nvPr/>
            </p:nvSpPr>
            <p:spPr>
              <a:xfrm>
                <a:off x="3236236" y="2449231"/>
                <a:ext cx="8117563" cy="1594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  <a:p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mw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psa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hbd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=−3.252−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−2.885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=−0.367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1413D-BE2D-B471-3501-190871823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449231"/>
                <a:ext cx="8117563" cy="15940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4210-63FA-2850-6C21-DF591381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32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9957-0F8E-405F-9752-A92DDB60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5A81-D4B2-0D9B-1BCE-98A3E070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EC7EE-E6FA-D010-89C3-7F76DC0EA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5C3B7A0-0BD1-152C-B56A-966A20192C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8444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5C3B7A0-0BD1-152C-B56A-966A20192C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28444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E00555-9D0C-33F7-EB3C-EF9E51C82383}"/>
                  </a:ext>
                </a:extLst>
              </p:cNvPr>
              <p:cNvSpPr txBox="1"/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E00555-9D0C-33F7-EB3C-EF9E51C82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2A10D2D-B7AE-7841-C55E-A6D9F1EA22E6}"/>
              </a:ext>
            </a:extLst>
          </p:cNvPr>
          <p:cNvSpPr txBox="1"/>
          <p:nvPr/>
        </p:nvSpPr>
        <p:spPr>
          <a:xfrm>
            <a:off x="838200" y="515811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How much did molecular weight, polar surface area, ring count, and the other descriptors push the predicted log solubility above or below a reference prediction?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AE96BE-7113-420E-228D-09631500C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082" y="2449231"/>
            <a:ext cx="8119872" cy="26434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436DD-10C7-09FA-E15C-98B06290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62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9B03C-EBAA-6A26-4DF6-6FBAEA53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3528-2620-4C0E-910E-83E2767C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41E8-C5A8-8233-1883-6B57502BC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1: Pick the molecule to explain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915D748-AAD6-91D7-92BB-B1E2B8615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567830"/>
              </p:ext>
            </p:extLst>
          </p:nvPr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915D748-AAD6-91D7-92BB-B1E2B8615B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C741B-0B89-B809-ABF5-553FDCDE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2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99E9D-F668-B455-4D41-7A614C56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AE98-35C8-46A4-FD07-35CA7367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2F51F-CDE0-7491-E14C-FF05EA43D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indent="0">
                  <a:buNone/>
                </a:pPr>
                <a:r>
                  <a:rPr lang="en-US" dirty="0"/>
                  <a:t>Step 2: Choose a background dataset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2F51F-CDE0-7491-E14C-FF05EA43D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CFC303A-CCD1-8C93-02DC-782EB064D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3" imgW="1307586" imgH="1261348" progId="ChemDraw_x64.Document.6.0">
                  <p:embed/>
                </p:oleObj>
              </mc:Choice>
              <mc:Fallback>
                <p:oleObj name="CS ChemDraw 64-bit Drawing" r:id="rId3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CFC303A-CCD1-8C93-02DC-782EB064D2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17863C-423C-D2EF-D120-DF5F4E42F355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17863C-423C-D2EF-D120-DF5F4E42F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107A30-807E-4D7A-0D5C-0F9B01A1000E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3980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107A30-807E-4D7A-0D5C-0F9B01A10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398036" cy="369332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5B18F-8D55-857B-BC1D-54EDD862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16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4832-B452-60C9-3B57-F1922E7F5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662E-B1F1-B4AB-DBE2-AAF5C96A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1616-AAB9-0B42-6B1B-7CA332F5A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3: Compute the baseline prediction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1EA541E-17AD-F96E-851C-5FE2D6FE3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1EA541E-17AD-F96E-851C-5FE2D6FE3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C819DE-917D-DE5A-495B-7C0CBC9656DA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C819DE-917D-DE5A-495B-7C0CBC965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A63E7D-E290-0D2F-CA3A-038201C6B352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endParaRPr lang="en-US" i="1" dirty="0">
                  <a:latin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A63E7D-E290-0D2F-CA3A-038201C6B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blipFill>
                <a:blip r:embed="rId5"/>
                <a:stretch>
                  <a:fillRect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B514E-FDF6-4E52-66DB-4FDF5C67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241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7DE9-3D4C-2A31-6B00-FACD521C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F779-46F4-A3AC-C873-9B5D8238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A6F93-B8F8-760E-6788-14887D54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4: Consider all feature coalitions without molecular weight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056BC2D-9E10-D281-F08E-9429F9BBFC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056BC2D-9E10-D281-F08E-9429F9BBFC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D70987-C9D7-CB6D-F697-0515F380CDC2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D70987-C9D7-CB6D-F697-0515F380C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562A35-2FBA-E32B-D843-9072957A388F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endParaRPr lang="en-US" i="1" dirty="0">
                  <a:latin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562A35-2FBA-E32B-D843-9072957A3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blipFill>
                <a:blip r:embed="rId5"/>
                <a:stretch>
                  <a:fillRect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F35867-5FAB-EFEA-1790-81F1CC9FA74D}"/>
                  </a:ext>
                </a:extLst>
              </p:cNvPr>
              <p:cNvSpPr txBox="1"/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dirty="0"/>
                  <a:t>{}</a:t>
                </a:r>
              </a:p>
              <a:p>
                <a:r>
                  <a:rPr lang="en-US" sz="1100" dirty="0"/>
                  <a:t>{Polar Surface Area}</a:t>
                </a:r>
              </a:p>
              <a:p>
                <a:r>
                  <a:rPr lang="en-US" sz="1100" dirty="0"/>
                  <a:t>{Number of Rings}</a:t>
                </a:r>
              </a:p>
              <a:p>
                <a:r>
                  <a:rPr lang="en-US" sz="1100" dirty="0"/>
                  <a:t>{Polar Surface Area, Number of Rings}</a:t>
                </a:r>
              </a:p>
              <a:p>
                <a:r>
                  <a:rPr lang="en-US" sz="1100" dirty="0"/>
                  <a:t>{Number of Rings, Number of Rotatable Bonds}</a:t>
                </a:r>
              </a:p>
              <a:p>
                <a:r>
                  <a:rPr lang="en-US" sz="1100" dirty="0"/>
                  <a:t>...</a:t>
                </a:r>
              </a:p>
              <a:p>
                <a:r>
                  <a:rPr lang="en-US" sz="1100" dirty="0"/>
                  <a:t>{Polar Surface Area, Number of Rings, Rotatable Bonds, H-Bond Donors, Minimum Degree}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dirty="0"/>
                  <a:t> total coalitions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F35867-5FAB-EFEA-1790-81F1CC9FA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blipFill>
                <a:blip r:embed="rId6"/>
                <a:stretch>
                  <a:fillRect b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DD6C5-E205-03D4-00CC-D3C3508B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56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C3FB-FF8B-21B1-6A46-2D654117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DEB0-8E58-7E57-518E-A93C761C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2D7D-548D-91B6-A787-9B79A9991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5: Measure what happens when molecular weight is added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08D3131-4DBD-3354-8D53-A6D2A1D81F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08D3131-4DBD-3354-8D53-A6D2A1D81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AB2C7F-B4B1-2412-94EF-C6DCA5DB1EB3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AB2C7F-B4B1-2412-94EF-C6DCA5DB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589C9B-8631-BE4B-FC29-BF65BAFA7A31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endParaRPr lang="en-US" i="1" dirty="0">
                  <a:latin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589C9B-8631-BE4B-FC29-BF65BAFA7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blipFill>
                <a:blip r:embed="rId5"/>
                <a:stretch>
                  <a:fillRect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0662B-9994-5666-8B38-DF04F9127AC2}"/>
                  </a:ext>
                </a:extLst>
              </p:cNvPr>
              <p:cNvSpPr txBox="1"/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dirty="0"/>
                  <a:t>{}</a:t>
                </a:r>
              </a:p>
              <a:p>
                <a:r>
                  <a:rPr lang="en-US" sz="1100" dirty="0"/>
                  <a:t>{Polar Surface Area}</a:t>
                </a:r>
              </a:p>
              <a:p>
                <a:r>
                  <a:rPr lang="en-US" sz="1100" dirty="0"/>
                  <a:t>{Number of Rings}</a:t>
                </a:r>
              </a:p>
              <a:p>
                <a:r>
                  <a:rPr lang="en-US" sz="1100" dirty="0"/>
                  <a:t>{Polar Surface Area, Number of Rings}</a:t>
                </a:r>
              </a:p>
              <a:p>
                <a:r>
                  <a:rPr lang="en-US" sz="1100" dirty="0"/>
                  <a:t>{Number of Rings, Number of Rotatable Bonds}</a:t>
                </a:r>
              </a:p>
              <a:p>
                <a:r>
                  <a:rPr lang="en-US" sz="1100" dirty="0"/>
                  <a:t>...</a:t>
                </a:r>
              </a:p>
              <a:p>
                <a:r>
                  <a:rPr lang="en-US" sz="1100" dirty="0"/>
                  <a:t>{Polar Surface Area, Number of Rings, Rotatable Bonds, H-Bond Donors, Minimum Degree}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dirty="0"/>
                  <a:t> total coalitions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0662B-9994-5666-8B38-DF04F9127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blipFill>
                <a:blip r:embed="rId6"/>
                <a:stretch>
                  <a:fillRect b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79F37D-BC7D-D0C4-7769-D8AB47CA5C8D}"/>
                  </a:ext>
                </a:extLst>
              </p:cNvPr>
              <p:cNvSpPr txBox="1"/>
              <p:nvPr/>
            </p:nvSpPr>
            <p:spPr>
              <a:xfrm>
                <a:off x="6096000" y="2815842"/>
                <a:ext cx="52578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MW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each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E.g.,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Rings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MW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Rings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=−1.02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PSA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Rings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MW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PSA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Rings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79F37D-BC7D-D0C4-7769-D8AB47CA5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15842"/>
                <a:ext cx="5257800" cy="1200329"/>
              </a:xfrm>
              <a:prstGeom prst="rect">
                <a:avLst/>
              </a:prstGeom>
              <a:blipFill>
                <a:blip r:embed="rId7"/>
                <a:stretch>
                  <a:fillRect l="-927" t="-2538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0ED3C-9297-4108-81C3-2E0330BA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725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F121-1DB4-3162-9BFC-97CDD670C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E208-0ABC-EA68-6858-85E5F428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B818-DDEA-3C70-50AF-B6E450B2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6: Average all marginal contributions with Shapley weights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AD857DB-0ABB-C027-CE0A-CFAABE5E6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185174"/>
          <a:ext cx="2398036" cy="23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307586" imgH="1261348" progId="ChemDraw_x64.Document.6.0">
                  <p:embed/>
                </p:oleObj>
              </mc:Choice>
              <mc:Fallback>
                <p:oleObj name="CS ChemDraw 64-bit Drawing" r:id="rId2" imgW="1307586" imgH="1261348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AD857DB-0ABB-C027-CE0A-CFAABE5E60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3185174"/>
                        <a:ext cx="2398036" cy="23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146E-22F2-BC58-2F2E-5776696A6F96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146E-22F2-BC58-2F2E-5776696A6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63E414-00C3-DBE0-6B85-A8D1A774A73F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endParaRPr lang="en-US" i="1" dirty="0">
                  <a:latin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63E414-00C3-DBE0-6B85-A8D1A774A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blipFill>
                <a:blip r:embed="rId5"/>
                <a:stretch>
                  <a:fillRect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2D2A0C-975B-BB6F-72A3-857474786AA8}"/>
                  </a:ext>
                </a:extLst>
              </p:cNvPr>
              <p:cNvSpPr txBox="1"/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dirty="0"/>
                  <a:t>{}</a:t>
                </a:r>
              </a:p>
              <a:p>
                <a:r>
                  <a:rPr lang="en-US" sz="1100" dirty="0"/>
                  <a:t>{Polar Surface Area}</a:t>
                </a:r>
              </a:p>
              <a:p>
                <a:r>
                  <a:rPr lang="en-US" sz="1100" dirty="0"/>
                  <a:t>{Number of Rings}</a:t>
                </a:r>
              </a:p>
              <a:p>
                <a:r>
                  <a:rPr lang="en-US" sz="1100" dirty="0"/>
                  <a:t>{Polar Surface Area, Number of Rings}</a:t>
                </a:r>
              </a:p>
              <a:p>
                <a:r>
                  <a:rPr lang="en-US" sz="1100" dirty="0"/>
                  <a:t>{Number of Rings, Number of Rotatable Bonds}</a:t>
                </a:r>
              </a:p>
              <a:p>
                <a:r>
                  <a:rPr lang="en-US" sz="1100" dirty="0"/>
                  <a:t>...</a:t>
                </a:r>
              </a:p>
              <a:p>
                <a:r>
                  <a:rPr lang="en-US" sz="1100" dirty="0"/>
                  <a:t>{Polar Surface Area, Number of Rings, Rotatable Bonds, H-Bond Donors, Minimum Degree}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dirty="0"/>
                  <a:t> total coalitions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2D2A0C-975B-BB6F-72A3-857474786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blipFill>
                <a:blip r:embed="rId6"/>
                <a:stretch>
                  <a:fillRect b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CECACA-025A-D575-B48D-F9A0080A8DAD}"/>
                  </a:ext>
                </a:extLst>
              </p:cNvPr>
              <p:cNvSpPr txBox="1"/>
              <p:nvPr/>
            </p:nvSpPr>
            <p:spPr>
              <a:xfrm>
                <a:off x="6096000" y="2815842"/>
                <a:ext cx="5257800" cy="2737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MW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each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E.g.,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Rings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MW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Rings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=−1.02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PSA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Rings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MW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PSA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Rings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MW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\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MW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∪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MW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=−1.01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CECACA-025A-D575-B48D-F9A0080A8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15842"/>
                <a:ext cx="5257800" cy="2737544"/>
              </a:xfrm>
              <a:prstGeom prst="rect">
                <a:avLst/>
              </a:prstGeom>
              <a:blipFill>
                <a:blip r:embed="rId7"/>
                <a:stretch>
                  <a:fillRect l="-927" t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295A6-9104-3CE0-0204-1E6B8B0D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717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0B29A-FE47-CC57-430B-B4CD0DFA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9842-1DD6-A266-3EF7-B3031E30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E5FB6-D6B9-918C-392F-84A6DFB67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F8E27E-FB84-1C9C-30FF-E9EB67A9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F2A167-3989-7A9E-EFF5-8D8E0A99EBB5}"/>
                  </a:ext>
                </a:extLst>
              </p:cNvPr>
              <p:cNvSpPr txBox="1"/>
              <p:nvPr/>
            </p:nvSpPr>
            <p:spPr>
              <a:xfrm>
                <a:off x="4524292" y="3804989"/>
                <a:ext cx="6726804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gives global feature importance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F2A167-3989-7A9E-EFF5-8D8E0A99E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292" y="3804989"/>
                <a:ext cx="6726804" cy="392608"/>
              </a:xfrm>
              <a:prstGeom prst="rect">
                <a:avLst/>
              </a:prstGeom>
              <a:blipFill>
                <a:blip r:embed="rId3"/>
                <a:stretch>
                  <a:fillRect t="-107692" b="-17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2CB16-90C1-19F8-849C-AC871504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86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E7CA-27AA-F4D0-A305-9067B07B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B253-0296-4EF4-44B9-1EBB1BB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0104-41A6-31D8-27CA-AA0F6814E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5CBFAB-6CDF-8D1C-983A-EF11065E527F}"/>
                  </a:ext>
                </a:extLst>
              </p:cNvPr>
              <p:cNvSpPr txBox="1"/>
              <p:nvPr/>
            </p:nvSpPr>
            <p:spPr>
              <a:xfrm>
                <a:off x="4524292" y="3804989"/>
                <a:ext cx="6726804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gives global feature importance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5CBFAB-6CDF-8D1C-983A-EF11065E5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292" y="3804989"/>
                <a:ext cx="6726804" cy="392608"/>
              </a:xfrm>
              <a:prstGeom prst="rect">
                <a:avLst/>
              </a:prstGeom>
              <a:blipFill>
                <a:blip r:embed="rId2"/>
                <a:stretch>
                  <a:fillRect t="-107692" b="-17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5305DF5-C045-16D8-B014-6BDA12683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05899"/>
            <a:ext cx="10515600" cy="45930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F2ED6-709A-08D0-CD76-79156000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59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E93B-D5D9-58E3-352B-2F9EF406B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5E3F-FE3E-CB6D-4C42-6DDBFBC1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1F0E0-F04E-243E-3716-AE5E7BF34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814E0-EC63-B11E-7EAF-ADA184516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31" y="1825625"/>
            <a:ext cx="5106259" cy="43525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EFADC8-ED1A-2999-3EA7-4EFF6348E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511" y="1825625"/>
            <a:ext cx="5106258" cy="43525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436E8-55FC-6CD5-4629-C2F162A8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52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E97D-C84A-7647-5209-098C3C26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C81F8-E4C3-1DDB-100E-DD6DCE9C8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28ABC-C346-4498-5192-6706537C4B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Provides local additive feature attributions </a:t>
            </a:r>
            <a:r>
              <a:rPr lang="en-US" sz="2400" dirty="0"/>
              <a:t>for individual predictions</a:t>
            </a:r>
          </a:p>
          <a:p>
            <a:r>
              <a:rPr lang="en-US" sz="2400" b="1" dirty="0"/>
              <a:t>Works well when </a:t>
            </a:r>
            <a:r>
              <a:rPr lang="en-US" sz="2400" dirty="0"/>
              <a:t>you want both local explanations and global summaries from aggregated SHAP values</a:t>
            </a:r>
          </a:p>
          <a:p>
            <a:r>
              <a:rPr lang="en-US" sz="2400" b="1" dirty="0"/>
              <a:t>Helps reveal </a:t>
            </a:r>
            <a:r>
              <a:rPr lang="en-US" sz="2400" dirty="0"/>
              <a:t>direction, magnitude, and distribution of feature contributions across samples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382F6-75B8-EB56-7A21-0FE321414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6EE2-9FBE-1FD3-E5D2-9EE614C259D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Does not prove mechanism or causality</a:t>
            </a:r>
            <a:r>
              <a:rPr lang="en-US" sz="2400" dirty="0"/>
              <a:t>; it explains the model’s attribution of a prediction </a:t>
            </a:r>
          </a:p>
          <a:p>
            <a:r>
              <a:rPr lang="en-US" sz="2400" b="1" dirty="0"/>
              <a:t>Sensitive to correlated feature and background/reference distribution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3DE30-6D49-A800-077D-3076F50B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002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34FAC-BABE-57EB-5BFB-B1213AF1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Closing thoughts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2F1F2-E466-2F6C-F1C8-F6C998CE3EDB}"/>
              </a:ext>
            </a:extLst>
          </p:cNvPr>
          <p:cNvSpPr txBox="1"/>
          <p:nvPr/>
        </p:nvSpPr>
        <p:spPr>
          <a:xfrm>
            <a:off x="4625084" y="1822450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Choosing the right model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82741C8-F8CB-5E0A-FBC8-7EC958C9D2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562092"/>
              </p:ext>
            </p:extLst>
          </p:nvPr>
        </p:nvGraphicFramePr>
        <p:xfrm>
          <a:off x="838200" y="2192156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672234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90731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32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Which features matter globally?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MDI, permutation importance, mean |SHAP|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24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How does a feature affect predictions?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ICE/PDP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52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Why this specific prediction?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LIME, SHAP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754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Does the model learn chemistry or shortcuts?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Compare methods + domain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482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96874A-84A2-92C3-6DE5-629DF01A92F0}"/>
              </a:ext>
            </a:extLst>
          </p:cNvPr>
          <p:cNvSpPr txBox="1"/>
          <p:nvPr/>
        </p:nvSpPr>
        <p:spPr>
          <a:xfrm>
            <a:off x="838201" y="4160654"/>
            <a:ext cx="5257800" cy="258532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 practical workflow</a:t>
            </a:r>
          </a:p>
          <a:p>
            <a:pPr marL="342900" indent="-342900">
              <a:buAutoNum type="arabicPeriod"/>
            </a:pPr>
            <a:r>
              <a:rPr lang="en-US" dirty="0"/>
              <a:t>Start with an interpretable baseline</a:t>
            </a:r>
          </a:p>
          <a:p>
            <a:pPr marL="342900" indent="-342900">
              <a:buAutoNum type="arabicPeriod"/>
            </a:pPr>
            <a:r>
              <a:rPr lang="en-US" dirty="0"/>
              <a:t>Compare against flexible models</a:t>
            </a:r>
          </a:p>
          <a:p>
            <a:pPr marL="342900" indent="-342900">
              <a:buAutoNum type="arabicPeriod"/>
            </a:pPr>
            <a:r>
              <a:rPr lang="en-US" dirty="0"/>
              <a:t>Use global explanation methods to identify model reliance</a:t>
            </a:r>
          </a:p>
          <a:p>
            <a:pPr marL="342900" indent="-342900">
              <a:buAutoNum type="arabicPeriod"/>
            </a:pPr>
            <a:r>
              <a:rPr lang="en-US" dirty="0"/>
              <a:t>Use local explanations to inspect examples and outliers</a:t>
            </a:r>
          </a:p>
          <a:p>
            <a:pPr marL="342900" indent="-342900">
              <a:buAutoNum type="arabicPeriod"/>
            </a:pPr>
            <a:r>
              <a:rPr lang="en-US" dirty="0"/>
              <a:t>Check whether explanations make chemical sense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702DA-0C57-AD9E-8B35-65976FECFBB9}"/>
              </a:ext>
            </a:extLst>
          </p:cNvPr>
          <p:cNvSpPr txBox="1"/>
          <p:nvPr/>
        </p:nvSpPr>
        <p:spPr>
          <a:xfrm>
            <a:off x="6096001" y="4160654"/>
            <a:ext cx="5257800" cy="258532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Common failure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correlated descriptors split or hide 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explanations are treated as global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attributions are interpreted as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visually convincing plots create false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15B27A-9878-8959-9557-93B5638C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051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20" y="1325880"/>
            <a:ext cx="11201400" cy="27432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527048"/>
            <a:ext cx="41148" cy="713232"/>
          </a:xfrm>
          <a:prstGeom prst="rect">
            <a:avLst/>
          </a:prstGeom>
          <a:solidFill>
            <a:srgbClr val="0077A8"/>
          </a:solidFill>
          <a:ln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Accumulated local effects (ALE)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Feature-effect plots that reduce extrapolation issues when features are correlated.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0077A8"/>
                </a:solidFill>
                <a:latin typeface="+mj-lt"/>
                <a:hlinkClick r:id="rId2"/>
              </a:rPr>
              <a:t>Apley &amp; Zhu, JRSS B 2020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527048"/>
            <a:ext cx="41148" cy="713232"/>
          </a:xfrm>
          <a:prstGeom prst="rect">
            <a:avLst/>
          </a:prstGeom>
          <a:solidFill>
            <a:srgbClr val="D25F14"/>
          </a:solidFill>
          <a:ln>
            <a:solidFill>
              <a:srgbClr val="D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3368" y="150876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Counterfactual explanations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Ask: “What minimal molecular/property change would flip the prediction?”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D25F14"/>
                </a:solidFill>
                <a:latin typeface="+mj-lt"/>
                <a:hlinkClick r:id="rId3"/>
              </a:rPr>
              <a:t>interpret.ml/DiCE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24328"/>
            <a:ext cx="41148" cy="713232"/>
          </a:xfrm>
          <a:prstGeom prst="rect">
            <a:avLst/>
          </a:prstGeom>
          <a:solidFill>
            <a:srgbClr val="0077A8"/>
          </a:solidFill>
          <a:ln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260604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 dirty="0">
                <a:solidFill>
                  <a:srgbClr val="000000"/>
                </a:solidFill>
                <a:latin typeface="+mj-lt"/>
              </a:rPr>
              <a:t>Explainable Boosting Machines</a:t>
            </a:r>
          </a:p>
          <a:p>
            <a:pPr>
              <a:spcAft>
                <a:spcPts val="0"/>
              </a:spcAft>
            </a:pPr>
            <a:r>
              <a:rPr sz="1220" dirty="0">
                <a:solidFill>
                  <a:srgbClr val="000000"/>
                </a:solidFill>
                <a:latin typeface="+mj-lt"/>
              </a:rPr>
              <a:t>Interpretable GAM-like models with learned nonlinear feature functions and interactions.</a:t>
            </a:r>
          </a:p>
          <a:p>
            <a:pPr>
              <a:spcAft>
                <a:spcPts val="0"/>
              </a:spcAft>
            </a:pPr>
            <a:r>
              <a:rPr sz="1019" dirty="0">
                <a:solidFill>
                  <a:srgbClr val="0077A8"/>
                </a:solidFill>
                <a:latin typeface="+mj-lt"/>
                <a:hlinkClick r:id="rId4"/>
              </a:rPr>
              <a:t>interpret.ml/docs/ebm.html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624328"/>
            <a:ext cx="41148" cy="713232"/>
          </a:xfrm>
          <a:prstGeom prst="rect">
            <a:avLst/>
          </a:prstGeom>
          <a:solidFill>
            <a:srgbClr val="D25F14"/>
          </a:solidFill>
          <a:ln>
            <a:solidFill>
              <a:srgbClr val="D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73368" y="260604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Integrated gradients / Captum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Attribution methods for neural networks; useful for differentiable molecular models.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D25F14"/>
                </a:solidFill>
                <a:latin typeface="+mj-lt"/>
                <a:hlinkClick r:id="rId5"/>
              </a:rPr>
              <a:t>captum.ai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21607"/>
            <a:ext cx="41148" cy="713232"/>
          </a:xfrm>
          <a:prstGeom prst="rect">
            <a:avLst/>
          </a:prstGeom>
          <a:solidFill>
            <a:srgbClr val="0077A8"/>
          </a:solidFill>
          <a:ln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5528" y="3703320"/>
            <a:ext cx="4965192" cy="604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GNNExplainer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Subgraph and node-feature explanations for graph neural networks.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0077A8"/>
                </a:solidFill>
                <a:latin typeface="+mj-lt"/>
                <a:hlinkClick r:id="rId6"/>
              </a:rPr>
              <a:t>arxiv.org/abs/1903.03894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721607"/>
            <a:ext cx="41148" cy="713232"/>
          </a:xfrm>
          <a:prstGeom prst="rect">
            <a:avLst/>
          </a:prstGeom>
          <a:solidFill>
            <a:srgbClr val="D25F14"/>
          </a:solidFill>
          <a:ln>
            <a:solidFill>
              <a:srgbClr val="D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3368" y="370332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Sanity checks for explanations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Test whether saliency/explanation maps actually depend on the model and data.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D25F14"/>
                </a:solidFill>
                <a:latin typeface="+mj-lt"/>
                <a:hlinkClick r:id="rId7"/>
              </a:rPr>
              <a:t>Adebayo et al., NeurIPS 2018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18888"/>
            <a:ext cx="41148" cy="713232"/>
          </a:xfrm>
          <a:prstGeom prst="rect">
            <a:avLst/>
          </a:prstGeom>
          <a:solidFill>
            <a:srgbClr val="0077A8"/>
          </a:solidFill>
          <a:ln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5528" y="480060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Use interpretable models when possible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A cautionary perspective on post-hoc explanations in high-stakes settings.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0077A8"/>
                </a:solidFill>
                <a:latin typeface="+mj-lt"/>
                <a:hlinkClick r:id="rId8"/>
              </a:rPr>
              <a:t>Rudin, Nat. Mach. Intell. 2019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18888"/>
            <a:ext cx="41148" cy="713232"/>
          </a:xfrm>
          <a:prstGeom prst="rect">
            <a:avLst/>
          </a:prstGeom>
          <a:solidFill>
            <a:srgbClr val="D25F14"/>
          </a:solidFill>
          <a:ln>
            <a:solidFill>
              <a:srgbClr val="D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73368" y="480060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Benchmark explanation quality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Libraries such as Quantus help compare robustness and faithfulness of explanations.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D25F14"/>
                </a:solidFill>
                <a:latin typeface="+mj-lt"/>
                <a:hlinkClick r:id="rId9"/>
              </a:rPr>
              <a:t>quantus.readthedocs.io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43D4D2B-25F7-C657-D4C3-8EC17EE204E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Additional resources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B649BFEA-1301-4080-8706-65012209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2A158D2-2874-47A5-BF5F-065C8F7FE081}" type="slidenum">
              <a:rPr lang="en-US" smtClean="0"/>
              <a:t>53</a:t>
            </a:fld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D2C9-BE8A-7331-9EDF-73E0DBF9E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112E9-3E55-9216-D23E-C99E32F998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325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EBE4-9525-53F0-78DD-BC0D34959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5F181-990D-5E6E-0974-39D228B29B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the point being explained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: the original, complex model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: interpretable, usually linear surrogate model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: class of possible interpretable models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: locality weighting function that gives more weight to perturbed samples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dirty="0"/>
                  <a:t>: measure of how well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approximates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regularization term, to ensure the explanation stays simple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5F181-990D-5E6E-0974-39D228B29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3A819-277D-83D0-245C-FB8E7F75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985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130AB0-D872-50CA-6D98-E3046F28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E0A3-13A1-D2AE-5056-3788CDCA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BED71-FC19-010C-7A14-7B79F16E6F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pt-PT" sz="3000" b="1" dirty="0">
                    <a:solidFill>
                      <a:schemeClr val="accent1"/>
                    </a:solidFill>
                  </a:rPr>
                  <a:t>Formal definition:</a:t>
                </a:r>
              </a:p>
              <a:p>
                <a:pPr marL="0" indent="0">
                  <a:buNone/>
                </a:pPr>
                <a:r>
                  <a:rPr lang="pt-PT" sz="2100" dirty="0"/>
                  <a:t>L</a:t>
                </a:r>
                <a:r>
                  <a:rPr lang="en-US" sz="2100" dirty="0"/>
                  <a:t>et the full set of features be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1,2,…,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100" dirty="0"/>
              </a:p>
              <a:p>
                <a:pPr marL="0" indent="0">
                  <a:buNone/>
                </a:pPr>
                <a:r>
                  <a:rPr lang="en-US" sz="2100" dirty="0"/>
                  <a:t>For feature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100" dirty="0"/>
                  <a:t>, its SHAP value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∪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100" dirty="0"/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100" dirty="0"/>
                  <a:t>: subset of features that does not include feature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100" dirty="0"/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100" dirty="0"/>
                  <a:t>: model value when only the features in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100" dirty="0"/>
                  <a:t> are “known”</a:t>
                </a:r>
              </a:p>
              <a:p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: marginal contribution of feature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100" dirty="0"/>
                  <a:t> when it is added to the feature subset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1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sz="2100" dirty="0"/>
                  <a:t>: weight for averaging the marginal contribution over all possible orders in which the features could be added (“Shapley weight”)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BED71-FC19-010C-7A14-7B79F16E6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9C0EE-0F0C-578E-F1BD-2D1654A1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608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96EEE0-C92F-34CD-AC4C-EDDBD909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67B7-A8A3-44DB-EFEE-DEA38E4F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D04A9B-967C-DA26-07D3-2970FF3F5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t-PT" b="1" dirty="0">
                    <a:solidFill>
                      <a:schemeClr val="accent1"/>
                    </a:solidFill>
                  </a:rPr>
                  <a:t>Formal definition (cont.):</a:t>
                </a:r>
              </a:p>
              <a:p>
                <a:pPr marL="0" indent="0">
                  <a:buNone/>
                </a:pPr>
                <a:r>
                  <a:rPr lang="pt-PT" dirty="0"/>
                  <a:t>What does it mean for a feature to be “known” or “missing”?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PT" dirty="0"/>
              </a:p>
              <a:p>
                <a:pPr marL="0" indent="0">
                  <a:buNone/>
                </a:pPr>
                <a:r>
                  <a:rPr lang="pt-PT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pt-PT" dirty="0"/>
                  <a:t>: the actual feature values for the sample for features in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pt-PT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sub>
                    </m:sSub>
                  </m:oMath>
                </a14:m>
                <a:r>
                  <a:rPr lang="pt-PT" dirty="0"/>
                  <a:t>: remaining missing features</a:t>
                </a:r>
              </a:p>
              <a:p>
                <a:pPr marL="0" indent="0" algn="ctr">
                  <a:buNone/>
                </a:pPr>
                <a:r>
                  <a:rPr lang="pt-PT" b="1" dirty="0"/>
                  <a:t>Keep the selected features fixed at the sample’s value, fill in the missing features using background samples, and average the model prediction.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D04A9B-967C-DA26-07D3-2970FF3F5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221" r="-58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18CD6-E754-F62C-119E-823BD2E0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5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72B2"/>
      </a:accent1>
      <a:accent2>
        <a:srgbClr val="D55E00"/>
      </a:accent2>
      <a:accent3>
        <a:srgbClr val="009E73"/>
      </a:accent3>
      <a:accent4>
        <a:srgbClr val="CC79A7"/>
      </a:accent4>
      <a:accent5>
        <a:srgbClr val="E69F00"/>
      </a:accent5>
      <a:accent6>
        <a:srgbClr val="56B4E9"/>
      </a:accent6>
      <a:hlink>
        <a:srgbClr val="467886"/>
      </a:hlink>
      <a:folHlink>
        <a:srgbClr val="96607D"/>
      </a:folHlink>
    </a:clrScheme>
    <a:fontScheme name="Custom 3">
      <a:majorFont>
        <a:latin typeface="Helvetica LT Pro"/>
        <a:ea typeface=""/>
        <a:cs typeface=""/>
      </a:majorFont>
      <a:minorFont>
        <a:latin typeface="Helvetica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28523</TotalTime>
  <Words>3809</Words>
  <Application>Microsoft Office PowerPoint</Application>
  <PresentationFormat>Widescreen</PresentationFormat>
  <Paragraphs>543</Paragraphs>
  <Slides>57</Slides>
  <Notes>1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Model interpretability for chemical machine learning</vt:lpstr>
      <vt:lpstr>Clver Hans</vt:lpstr>
      <vt:lpstr>The Clever Hans effect in AI</vt:lpstr>
      <vt:lpstr>What is model interpretability?</vt:lpstr>
      <vt:lpstr>Why study model interpretability for chemical machine learning?</vt:lpstr>
      <vt:lpstr>“AI and science: what 1,600 researchers think” (September 2023)</vt:lpstr>
      <vt:lpstr>Taxonomy of interpretability methods</vt:lpstr>
      <vt:lpstr>Interpretability by design</vt:lpstr>
      <vt:lpstr>A common misconception: the performance-interpretability trade-off</vt:lpstr>
      <vt:lpstr>Interpretability by design: linear model coefficients</vt:lpstr>
      <vt:lpstr>Interpretability by design: decision trees</vt:lpstr>
      <vt:lpstr>Interpretability by design</vt:lpstr>
      <vt:lpstr>Model-specific post-hoc interpretability</vt:lpstr>
      <vt:lpstr>Model-specific post-hoc interpretability: mean decrease in impurity (MDI) for random forests and gradient boosted trees</vt:lpstr>
      <vt:lpstr>Model-specific post-hoc interpretability: mean decrease in impurity (MDI) for random forests and gradient boosted trees</vt:lpstr>
      <vt:lpstr>Model-specific post-hoc interpretability: mean decrease in impurity (MDI) for random forests and gradient boosted trees</vt:lpstr>
      <vt:lpstr>Model-specific post-hoc interpretability: mean decrease in impurity (MDI) for random forests and gradient boosted trees</vt:lpstr>
      <vt:lpstr>Model-specific post-hoc interpretability: mean decrease in impurity (MDI) for random forests and gradient boosted trees</vt:lpstr>
      <vt:lpstr>Local post-hoc model-agnostic local interpretability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Global post-hoc model-agnostic local interpretability</vt:lpstr>
      <vt:lpstr>Global model-agnostic post-hoc interpretability: permutation importance</vt:lpstr>
      <vt:lpstr>Global model-agnostic post-hoc interpretability: permutation importance</vt:lpstr>
      <vt:lpstr>Global model-agnostic post-hoc interpretability: permutation importance</vt:lpstr>
      <vt:lpstr>Local &amp; global post-hoc model-agnostic local interpretability</vt:lpstr>
      <vt:lpstr>Local &amp; global model-agnostic post-hoc interpretability: individual conditional expectation (ICE) and partial dependence plots (PDP)</vt:lpstr>
      <vt:lpstr>Local &amp; global model-agnostic post-hoc interpretability: individual conditional expectation (ICE) and partial dependence plots (PDP)</vt:lpstr>
      <vt:lpstr>Local &amp; global model-agnostic post-hoc interpretability: individual conditional expectation (ICE) and partial dependence plots (PDP)</vt:lpstr>
      <vt:lpstr>Local &amp; global model-agnostic post-hoc interpretability: individual conditional expectation (ICE) and partial dependence plots (PDP)</vt:lpstr>
      <vt:lpstr>Local &amp; global model-agnostic post-hoc interpretability: individual conditional expectation (ICE) and partial dependence plots (PDP)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Closing thoughts</vt:lpstr>
      <vt:lpstr>PowerPoint Presentation</vt:lpstr>
      <vt:lpstr>Extra slides</vt:lpstr>
      <vt:lpstr>Local model-agnostic post-hoc interpretability: Local Interpretable Model-agnostic Explanations (LIME)</vt:lpstr>
      <vt:lpstr>Local &amp; global model-agnostic post-hoc interpretability: SHapley Additive exPlanations (SHAP)</vt:lpstr>
      <vt:lpstr>Local &amp; global model-agnostic post-hoc interpretability: SHapley Additive exPlanations (SHAP)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Yusov, Michael A.</dc:creator>
  <cp:lastModifiedBy>Yusov, Michael A.</cp:lastModifiedBy>
  <cp:revision>21</cp:revision>
  <dcterms:created xsi:type="dcterms:W3CDTF">2026-06-12T18:05:56Z</dcterms:created>
  <dcterms:modified xsi:type="dcterms:W3CDTF">2026-08-16T19:09:06Z</dcterms:modified>
</cp:coreProperties>
</file>