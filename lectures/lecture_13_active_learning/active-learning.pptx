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C5B_37651770.xml" ContentType="application/vnd.ms-powerpoint.comments+xml"/>
  <Override PartName="/ppt/comments/modernComment_C62_EFF88E27.xml" ContentType="application/vnd.ms-powerpoint.comments+xml"/>
  <Override PartName="/ppt/comments/modernComment_C5E_DE6A064C.xml" ContentType="application/vnd.ms-powerpoint.comments+xml"/>
  <Override PartName="/ppt/comments/modernComment_C3D_59E245FE.xml" ContentType="application/vnd.ms-powerpoint.comments+xml"/>
  <Override PartName="/ppt/comments/modernComment_C3E_FEF7D9FD.xml" ContentType="application/vnd.ms-powerpoint.comments+xml"/>
  <Override PartName="/ppt/comments/modernComment_C41_B6EE7368.xml" ContentType="application/vnd.ms-powerpoint.comments+xml"/>
  <Override PartName="/ppt/comments/modernComment_C3F_CC1F27EC.xml" ContentType="application/vnd.ms-powerpoint.comments+xml"/>
  <Override PartName="/ppt/comments/modernComment_C40_54BA64E9.xml" ContentType="application/vnd.ms-powerpoint.comments+xml"/>
  <Override PartName="/ppt/notesSlides/notesSlide18.xml" ContentType="application/vnd.openxmlformats-officedocument.presentationml.notesSlide+xml"/>
  <Override PartName="/ppt/comments/modernComment_C5F_18A1F06.xml" ContentType="application/vnd.ms-powerpoint.comments+xml"/>
  <Override PartName="/ppt/comments/modernComment_C42_2E16FA19.xml" ContentType="application/vnd.ms-powerpoint.comments+xml"/>
  <Override PartName="/ppt/comments/modernComment_C44_40EF0AD7.xml" ContentType="application/vnd.ms-powerpoint.comments+xml"/>
  <Override PartName="/ppt/notesSlides/notesSlide19.xml" ContentType="application/vnd.openxmlformats-officedocument.presentationml.notesSlide+xml"/>
  <Override PartName="/ppt/comments/modernComment_C60_DDA9C74A.xml" ContentType="application/vnd.ms-powerpoint.comments+xml"/>
  <Override PartName="/ppt/comments/modernComment_C61_512F1099.xml" ContentType="application/vnd.ms-powerpoint.comments+xml"/>
  <Override PartName="/ppt/comments/modernComment_C45_F285F918.xml" ContentType="application/vnd.ms-powerpoint.comment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3163" r:id="rId18"/>
    <p:sldId id="3132" r:id="rId19"/>
    <p:sldId id="3042" r:id="rId20"/>
    <p:sldId id="3170" r:id="rId21"/>
    <p:sldId id="3164" r:id="rId22"/>
    <p:sldId id="3165" r:id="rId23"/>
    <p:sldId id="3142" r:id="rId24"/>
    <p:sldId id="3131" r:id="rId25"/>
    <p:sldId id="3166" r:id="rId26"/>
    <p:sldId id="3133" r:id="rId27"/>
    <p:sldId id="3134" r:id="rId28"/>
    <p:sldId id="3137" r:id="rId29"/>
    <p:sldId id="3135" r:id="rId30"/>
    <p:sldId id="3136" r:id="rId31"/>
    <p:sldId id="279" r:id="rId32"/>
    <p:sldId id="3167" r:id="rId33"/>
    <p:sldId id="3138" r:id="rId34"/>
    <p:sldId id="3140" r:id="rId35"/>
    <p:sldId id="3168" r:id="rId36"/>
    <p:sldId id="3169" r:id="rId37"/>
    <p:sldId id="3141" r:id="rId38"/>
    <p:sldId id="284" r:id="rId39"/>
    <p:sldId id="285" r:id="rId40"/>
    <p:sldId id="286" r:id="rId41"/>
    <p:sldId id="287" r:id="rId42"/>
    <p:sldId id="3171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57670E-80CC-21E0-37A9-A912B40E1B17}" name="Schleinitz, Jules" initials="SJ" userId="S::jul@caltech.edu::95914fd0-5308-46ae-bb57-a92f3c5aa61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4D6"/>
    <a:srgbClr val="EAF6F1"/>
    <a:srgbClr val="454545"/>
    <a:srgbClr val="9F9F9F"/>
    <a:srgbClr val="9C9C9C"/>
    <a:srgbClr val="6B6B6B"/>
    <a:srgbClr val="B0B0B0"/>
    <a:srgbClr val="969696"/>
    <a:srgbClr val="545454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152"/>
    <p:restoredTop sz="94351"/>
  </p:normalViewPr>
  <p:slideViewPr>
    <p:cSldViewPr snapToGrid="0">
      <p:cViewPr>
        <p:scale>
          <a:sx n="71" d="100"/>
          <a:sy n="71" d="100"/>
        </p:scale>
        <p:origin x="144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modernComment_C3D_59E245F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5C30F2-837E-8940-82CF-A00C00DFE5DA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08001278" sldId="3133"/>
      <ac:spMk id="7" creationId="{B54DDF9A-80D4-B104-E430-B764704F9185}"/>
    </ac:deMkLst>
    <p188:txBody>
      <a:bodyPr/>
      <a:lstStyle/>
      <a:p>
        <a:r>
          <a:rPr lang="en-US"/>
          <a:t>Réduire tableau</a:t>
        </a:r>
      </a:p>
    </p188:txBody>
  </p188:cm>
  <p188:cm id="{BBAB5598-52AE-BE47-B8FE-3FC7D387AE3D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3E_FEF7D9F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F85530-2A98-6D42-B91A-F0FAE31114D0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77656061" sldId="3134"/>
      <ac:spMk id="7" creationId="{5163FCAA-1C6D-3A67-664D-DE68B3822E6E}"/>
    </ac:deMkLst>
    <p188:txBody>
      <a:bodyPr/>
      <a:lstStyle/>
      <a:p>
        <a:r>
          <a:rPr lang="en-US"/>
          <a:t>Réduire tableau</a:t>
        </a:r>
      </a:p>
    </p188:txBody>
  </p188:cm>
  <p188:cm id="{9E5AC371-D2AD-E241-A742-12C8B052789D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3F_CC1F27E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CCCB25-8ADD-D74B-BC6E-A0CBD3116D57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24593900" sldId="3135"/>
      <ac:spMk id="7" creationId="{B0A304AD-8021-2394-4489-754B23B77B2A}"/>
    </ac:deMkLst>
    <p188:txBody>
      <a:bodyPr/>
      <a:lstStyle/>
      <a:p>
        <a:r>
          <a:rPr lang="en-US"/>
          <a:t>Réduire tableau</a:t>
        </a:r>
      </a:p>
    </p188:txBody>
  </p188:cm>
  <p188:cm id="{4D37A775-275C-8D48-ACEE-46F9B7F1332B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5B_376517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B3E144-758F-5046-8C20-097B3C808FF5}" authorId="{AB57670E-80CC-21E0-37A9-A912B40E1B17}" created="2024-05-09T17:22:05.528">
    <pc:sldMkLst xmlns:pc="http://schemas.microsoft.com/office/powerpoint/2013/main/command">
      <pc:docMk/>
      <pc:sldMk cId="1281551070" sldId="262"/>
    </pc:sldMkLst>
    <p188:txBody>
      <a:bodyPr/>
      <a:lstStyle/>
      <a:p>
        <a:r>
          <a:rPr lang="en-US"/>
          <a:t>Physico-chimie organique
Synergie entre les deux</a:t>
        </a:r>
      </a:p>
    </p188:txBody>
  </p188:cm>
</p188:cmLst>
</file>

<file path=ppt/comments/modernComment_C5E_DE6A06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4E0DD9-1F05-E849-BA05-B76C2EA6EF8F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31490380" sldId="3166"/>
      <ac:spMk id="7" creationId="{24A2CEBA-E37A-E910-9473-DDDD265C1984}"/>
    </ac:deMkLst>
    <p188:txBody>
      <a:bodyPr/>
      <a:lstStyle/>
      <a:p>
        <a:r>
          <a:rPr lang="en-US"/>
          <a:t>Réduire tableau</a:t>
        </a:r>
      </a:p>
    </p188:txBody>
  </p188:cm>
  <p188:cm id="{29850E1F-2898-3741-A872-A6B32FFF13F0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5F_18A1F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C820F3-9282-1D42-9D85-D4B084F0CC2D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29126" sldId="3167"/>
      <ac:spMk id="7" creationId="{24A2CEBA-E37A-E910-9473-DDDD265C1984}"/>
    </ac:deMkLst>
    <p188:txBody>
      <a:bodyPr/>
      <a:lstStyle/>
      <a:p>
        <a:r>
          <a:rPr lang="en-US"/>
          <a:t>Réduire tableau</a:t>
        </a:r>
      </a:p>
    </p188:txBody>
  </p188:cm>
  <p188:cm id="{01C59A72-BD36-F84C-961D-E1FF69292892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40_54BA64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C0E75F6-FF6F-984E-8932-D8BE69AE3957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421501673" sldId="3136"/>
      <ac:spMk id="7" creationId="{15A03C4B-5731-EA6E-1782-734537F2A4FB}"/>
    </ac:deMkLst>
    <p188:txBody>
      <a:bodyPr/>
      <a:lstStyle/>
      <a:p>
        <a:r>
          <a:rPr lang="en-US"/>
          <a:t>Réduire tableau</a:t>
        </a:r>
      </a:p>
    </p188:txBody>
  </p188:cm>
  <p188:cm id="{E830C9EF-F5C5-ED45-8EFA-5D4E5F15595D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41_B6EE73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AD30C7-A084-4E48-B466-59B8F972183A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69080424" sldId="3137"/>
      <ac:spMk id="7" creationId="{F884A72A-116B-1CF6-29F5-308C1243B5EF}"/>
    </ac:deMkLst>
    <p188:txBody>
      <a:bodyPr/>
      <a:lstStyle/>
      <a:p>
        <a:r>
          <a:rPr lang="en-US"/>
          <a:t>Réduire tableau</a:t>
        </a:r>
      </a:p>
    </p188:txBody>
  </p188:cm>
  <p188:cm id="{88613FCC-C17B-AB4F-B6FD-92207B5B6759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42_2E16FA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454FCB-5F89-BD43-A7C9-FC767064E502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73257753" sldId="3138"/>
      <ac:spMk id="7" creationId="{5524E257-979B-1174-FFF2-39D4448E650F}"/>
    </ac:deMkLst>
    <p188:txBody>
      <a:bodyPr/>
      <a:lstStyle/>
      <a:p>
        <a:r>
          <a:rPr lang="en-US"/>
          <a:t>Réduire tableau</a:t>
        </a:r>
      </a:p>
    </p188:txBody>
  </p188:cm>
  <p188:cm id="{4469C80C-F558-B745-8C89-6383A3D7C4F1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44_40EF0AD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68302DC-2977-6349-BCB9-138E4AC26FC9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89407703" sldId="3140"/>
      <ac:spMk id="7" creationId="{C0F7F06F-DD41-D52B-C925-6D858D118862}"/>
    </ac:deMkLst>
    <p188:txBody>
      <a:bodyPr/>
      <a:lstStyle/>
      <a:p>
        <a:r>
          <a:rPr lang="en-US"/>
          <a:t>Réduire tableau</a:t>
        </a:r>
      </a:p>
    </p188:txBody>
  </p188:cm>
  <p188:cm id="{025FF990-A896-1B4D-9E59-8B1CA5299A73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45_F285F9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D5DDD9-05E5-7B4B-8687-2C6570A58F46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068866328" sldId="3141"/>
      <ac:spMk id="7" creationId="{90CC28A4-F5A2-6F3D-670C-9FAAA3FA81F0}"/>
    </ac:deMkLst>
    <p188:txBody>
      <a:bodyPr/>
      <a:lstStyle/>
      <a:p>
        <a:r>
          <a:rPr lang="en-US"/>
          <a:t>Réduire tableau</a:t>
        </a:r>
      </a:p>
    </p188:txBody>
  </p188:cm>
  <p188:cm id="{8FF6551C-7557-004E-BD21-C0A93048A738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60_DDA9C7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3DBC1A-4E2E-C84A-8414-DCB451F2F76E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18891338" sldId="3168"/>
      <ac:spMk id="7" creationId="{24A2CEBA-E37A-E910-9473-DDDD265C1984}"/>
    </ac:deMkLst>
    <p188:txBody>
      <a:bodyPr/>
      <a:lstStyle/>
      <a:p>
        <a:r>
          <a:rPr lang="en-US"/>
          <a:t>Réduire tableau</a:t>
        </a:r>
      </a:p>
    </p188:txBody>
  </p188:cm>
  <p188:cm id="{BE7881B8-FDB0-1A4A-8E41-CA3BA8B100F8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61_512F10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567823-D9E8-694D-88F5-29DD0C4926FD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62038937" sldId="3169"/>
      <ac:spMk id="7" creationId="{D172134E-439E-0F62-F6CE-D8431A549E65}"/>
    </ac:deMkLst>
    <p188:txBody>
      <a:bodyPr/>
      <a:lstStyle/>
      <a:p>
        <a:r>
          <a:rPr lang="en-US"/>
          <a:t>Réduire tableau</a:t>
        </a:r>
      </a:p>
    </p188:txBody>
  </p188:cm>
  <p188:cm id="{BC9DBEEA-CC37-0545-A24D-D3F969B669FA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comments/modernComment_C62_EFF88E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A84E99D-C858-CD42-9609-54F3DE2E97DE}" authorId="{AB57670E-80CC-21E0-37A9-A912B40E1B17}" created="2024-05-09T17:20:48.0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026043943" sldId="3170"/>
      <ac:spMk id="7" creationId="{C11546AF-F0ED-8329-1932-FCD3DFCA7482}"/>
    </ac:deMkLst>
    <p188:txBody>
      <a:bodyPr/>
      <a:lstStyle/>
      <a:p>
        <a:r>
          <a:rPr lang="en-US"/>
          <a:t>Réduire tableau</a:t>
        </a:r>
      </a:p>
    </p188:txBody>
  </p188:cm>
  <p188:cm id="{5C798B09-436C-114D-9A8C-390CFC605CC7}" authorId="{AB57670E-80CC-21E0-37A9-A912B40E1B17}" created="2024-05-09T17:21:31.473">
    <pc:sldMkLst xmlns:pc="http://schemas.microsoft.com/office/powerpoint/2013/main/command">
      <pc:docMk/>
      <pc:sldMk cId="3566404321" sldId="268"/>
    </pc:sldMkLst>
    <p188:txBody>
      <a:bodyPr/>
      <a:lstStyle/>
      <a:p>
        <a:r>
          <a:rPr lang="en-US"/>
          <a:t>Synergie théorie expérience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B35AC-7727-EC43-B70F-1C84BD04C1D7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B1D49-D9AB-6D4C-A0A7-DB8D98134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61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Lecture 13. Ninety minutes. Tutorial follows — DFT active learning, also yours.</a:t>
            </a:r>
          </a:p>
          <a:p>
            <a:endParaRPr dirty="0"/>
          </a:p>
          <a:p>
            <a:r>
              <a:rPr dirty="0"/>
              <a:t>Open with the sentence on the slide and nothing else. It is the whole lecture, and every</a:t>
            </a:r>
          </a:p>
          <a:p>
            <a:r>
              <a:rPr dirty="0"/>
              <a:t>section is a consequence of it.</a:t>
            </a:r>
          </a:p>
          <a:p>
            <a:endParaRPr dirty="0"/>
          </a:p>
          <a:p>
            <a:r>
              <a:rPr dirty="0"/>
              <a:t>Structure of the hour, so they know where they are going: fifteen minutes of setup, half</a:t>
            </a:r>
          </a:p>
          <a:p>
            <a:r>
              <a:rPr dirty="0"/>
              <a:t>an hour on one real campaign end to end, then the part that makes it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We are entering: 1 · The loop you saw yesterday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IMPORTANT: copy these five shapes across from the L12 deck so they sit in exactly the same</a:t>
            </a:r>
          </a:p>
          <a:p>
            <a:r>
              <a:t>positions with the same arrows. The recognition is the teaching — if it looks like a new</a:t>
            </a:r>
          </a:p>
          <a:p>
            <a:r>
              <a:t>diagram you have lost the point.</a:t>
            </a:r>
          </a:p>
          <a:p>
            <a:endParaRPr/>
          </a:p>
          <a:p>
            <a:r>
              <a:t>Ninety seconds. Name the four boxes, point at the red one, move on. They know this.</a:t>
            </a:r>
          </a:p>
          <a:p>
            <a:endParaRPr/>
          </a:p>
          <a:p>
            <a:r>
              <a:t>The one word to change from yesterday: "score CANDIDATES" rather than "score the pool" —</a:t>
            </a:r>
          </a:p>
          <a:p>
            <a:r>
              <a:t>because today the candidate set is sometimes a library and sometimes a design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UCB because it is the one you can read off the page: predicted mean plus a bit of error</a:t>
            </a:r>
          </a:p>
          <a:p>
            <a:r>
              <a:t>bar. No expectation, no integral.</a:t>
            </a:r>
          </a:p>
          <a:p>
            <a:endParaRPr/>
          </a:p>
          <a:p>
            <a:r>
              <a:t>MAKE THEM PREDICT. Show the top panels, cover the bottom, ask where the next experiment</a:t>
            </a:r>
          </a:p>
          <a:p>
            <a:r>
              <a:t>goes for beta = 1 and for beta = 3. Then reveal.</a:t>
            </a:r>
          </a:p>
          <a:p>
            <a:endParaRPr/>
          </a:p>
          <a:p>
            <a:r>
              <a:t>Both panels use the same six observations. beta = 1 picks x = 3.1, right next to the</a:t>
            </a:r>
          </a:p>
          <a:p>
            <a:r>
              <a:t>incumbent. beta = 3 picks x = 7.0, in the middle of the gap. One number, completely</a:t>
            </a:r>
          </a:p>
          <a:p>
            <a:r>
              <a:t>different campaign.</a:t>
            </a:r>
          </a:p>
          <a:p>
            <a:endParaRPr/>
          </a:p>
          <a:p>
            <a:r>
              <a:t>The bridge to the next section, and say it in these words: BOTH of those are still trying</a:t>
            </a:r>
          </a:p>
          <a:p>
            <a:r>
              <a:t>to find the maximum. The exploration term is instrumental — you explore because it helps</a:t>
            </a:r>
          </a:p>
          <a:p>
            <a:r>
              <a:t>you optimise later. Today we stop pretending that is why we explore.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We are entering: 2 · The model is the deliverable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money figure. Same landscape, same budget, same seed — say all three out loud or</a:t>
            </a:r>
          </a:p>
          <a:p>
            <a:r>
              <a:t>somebody assumes you tuned it.</a:t>
            </a:r>
          </a:p>
          <a:p>
            <a:endParaRPr/>
          </a:p>
          <a:p>
            <a:r>
              <a:t>Point at the two numbers under each panel. BO finds the better optimum. AL gives the</a:t>
            </a:r>
          </a:p>
          <a:p>
            <a:r>
              <a:t>better model away from the optimum. Neither is wrong; they answer different questions.</a:t>
            </a:r>
          </a:p>
          <a:p>
            <a:endParaRPr/>
          </a:p>
          <a:p>
            <a:r>
              <a:t>Over 30 seeds: AL wins on away-from-optimum RMSE in 28/30, BO wins on best-found in 28/30.</a:t>
            </a:r>
          </a:p>
          <a:p>
            <a:r>
              <a:t>That is on the figure so you do not have to be believed on trust.</a:t>
            </a:r>
          </a:p>
          <a:p>
            <a:endParaRPr/>
          </a:p>
          <a:p>
            <a:r>
              <a:t>Note the AL panel's points at the edges — that is a real property of variance sampling and</a:t>
            </a:r>
          </a:p>
          <a:p>
            <a:r>
              <a:t>you come back to it in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room first — "when do you actually want a good model rather than a good point?" —</a:t>
            </a:r>
          </a:p>
          <a:p>
            <a:r>
              <a:t>and take two answers before revealing these.</a:t>
            </a:r>
          </a:p>
          <a:p>
            <a:endParaRPr/>
          </a:p>
          <a:p>
            <a:r>
              <a:t>The first two are the ones this audience will feel. INTERPRETABILITY: a model that is only</a:t>
            </a:r>
          </a:p>
          <a:p>
            <a:r>
              <a:t>accurate near the optimum gives you a rate law that is only true near the optimum.</a:t>
            </a:r>
          </a:p>
          <a:p>
            <a:r>
              <a:t>DEPLOYMENT: this is why the MLIP community was doing active learning before anyone called</a:t>
            </a:r>
          </a:p>
          <a:p>
            <a:r>
              <a:t>it that — you ship the potential, and it meets configurations you never sampled.</a:t>
            </a:r>
          </a:p>
          <a:p>
            <a:endParaRPr/>
          </a:p>
          <a:p>
            <a:r>
              <a:t>The third is the honest one. You do not know what you will be asked next year, and a model</a:t>
            </a:r>
          </a:p>
          <a:p>
            <a:r>
              <a:t>of the space survives a change of objective in a way that an optimum does not.</a:t>
            </a:r>
          </a:p>
          <a:p>
            <a:endParaRPr/>
          </a:p>
          <a:p>
            <a:r>
              <a:t>The footnote is a promise. Keep it in section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We are entering: 3 · What changes in the acquisition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the map for the next fifteen minutes. Three regimes, one per card, and each</a:t>
            </a:r>
          </a:p>
          <a:p>
            <a:r>
              <a:t>gets a worked failure or a worked example.</a:t>
            </a:r>
          </a:p>
          <a:p>
            <a:endParaRPr/>
          </a:p>
          <a:p>
            <a:r>
              <a:t>The bottom line is the unifying idea and it is worth pausing on: MARGIN NEEDS A RUNNER-UP.</a:t>
            </a:r>
          </a:p>
          <a:p>
            <a:r>
              <a:t>Classification gives you one. Ranking gives you one. A scalar regression does not, which is</a:t>
            </a:r>
          </a:p>
          <a:p>
            <a:r>
              <a:t>exactly why least-confident, margin and entropy all reduce to the same thing — the standard</a:t>
            </a:r>
          </a:p>
          <a:p>
            <a:r>
              <a:t>deviation — the moment your output is continuous.</a:t>
            </a:r>
          </a:p>
          <a:p>
            <a:endParaRPr/>
          </a:p>
          <a:p>
            <a:r>
              <a:t>Do not do entropy here. It belongs with the epistemic/aleatoric material in section 5,</a:t>
            </a:r>
          </a:p>
          <a:p>
            <a:r>
              <a:t>where the reason it fails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GP formula is free — they derived it yesterday. Spend the time on the box.</a:t>
            </a:r>
          </a:p>
          <a:p>
            <a:endParaRPr/>
          </a:p>
          <a:p>
            <a:r>
              <a:t>The "no y values" observation surprises people every time. It is also the cleanest way to</a:t>
            </a:r>
          </a:p>
          <a:p>
            <a:r>
              <a:t>see why uncertainty sampling alone is not enough: if the acquisition ignores the labels, it</a:t>
            </a:r>
          </a:p>
          <a:p>
            <a:r>
              <a:t>is doing geometry, and geometry does not know which regions matter.</a:t>
            </a:r>
          </a:p>
          <a:p>
            <a:endParaRPr/>
          </a:p>
          <a:p>
            <a:r>
              <a:t>This is also a live callback to A. Schmidt's DOE lecture — a space-filling design is a</a:t>
            </a:r>
          </a:p>
          <a:p>
            <a:r>
              <a:t>Latin hypercube, and if that is all you were going to get you did not need the GP.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them predict where the next point goes before you reveal panel (a). They will say "in</a:t>
            </a:r>
          </a:p>
          <a:p>
            <a:r>
              <a:t>the gap". They are right, and the edge is the surprise.</a:t>
            </a:r>
          </a:p>
          <a:p>
            <a:endParaRPr/>
          </a:p>
          <a:p>
            <a:r>
              <a:t>Panel (b) is the punchline: run it long enough and you have reinvented a space-filling</a:t>
            </a:r>
          </a:p>
          <a:p>
            <a:r>
              <a:t>design. Which is fine! But say so, and do not pretend the GP earned it.</a:t>
            </a:r>
          </a:p>
          <a:p>
            <a:endParaRPr/>
          </a:p>
          <a:p>
            <a:r>
              <a:t>Then the transition: on a continuous design space, going to the corner is merely wasteful.</a:t>
            </a:r>
          </a:p>
          <a:p>
            <a:r>
              <a:t>On an enumerated library it is worse, and that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concrete version of the trap. Budget of 12 ligands from an enumerated library, spent</a:t>
            </a:r>
          </a:p>
          <a:p>
            <a:r>
              <a:t>two ways on identical data.</a:t>
            </a:r>
          </a:p>
          <a:p>
            <a:endParaRPr/>
          </a:p>
          <a:p>
            <a:r>
              <a:t>LEFT: plain uncertainty sampling. Six of the twelve picks are the exotics — every single</a:t>
            </a:r>
          </a:p>
          <a:p>
            <a:r>
              <a:t>exotic in the library. They are maximally uncertain precisely because nothing resembles</a:t>
            </a:r>
          </a:p>
          <a:p>
            <a:r>
              <a:t>them, and that is also why labelling them teaches you nothing transferable. You have spent</a:t>
            </a:r>
          </a:p>
          <a:p>
            <a:r>
              <a:t>half your budget characterising the tail.</a:t>
            </a:r>
          </a:p>
          <a:p>
            <a:endParaRPr/>
          </a:p>
          <a:p>
            <a:r>
              <a:t>RIGHT: multiply the uncertainty by a density term. Zero exotics; the budget lands in the</a:t>
            </a:r>
          </a:p>
          <a:p>
            <a:r>
              <a:t>three populated families where your future predictions will actually be made.</a:t>
            </a:r>
          </a:p>
          <a:p>
            <a:endParaRPr/>
          </a:p>
          <a:p>
            <a:r>
              <a:t>BE HONEST ABOUT THE FIGURE, it says so on its face: the descriptor axes are real (Tolman</a:t>
            </a:r>
          </a:p>
          <a:p>
            <a:r>
              <a:t>cone angle, nu-CO) but the library is synthetic. The mechanism is real; this is not a</a:t>
            </a:r>
          </a:p>
          <a:p>
            <a:r>
              <a:t>result on a real catalogue.</a:t>
            </a:r>
          </a:p>
          <a:p>
            <a:endParaRPr/>
          </a:p>
          <a:p>
            <a:r>
              <a:t>Ask the room whether they have had an uncertainty ranking hand them a compound that turned</a:t>
            </a:r>
          </a:p>
          <a:p>
            <a:r>
              <a:t>out to be a bad SMILES or a charged organometallic in a set of neutrals. Hands go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general statement of what the ligand slide showed. Settles' figure 7 is the canonical</a:t>
            </a:r>
          </a:p>
          <a:p>
            <a:r>
              <a:t>picture and it is worth the thirty seconds.</a:t>
            </a:r>
          </a:p>
          <a:p>
            <a:endParaRPr/>
          </a:p>
          <a:p>
            <a:r>
              <a:t>The formula is deliberately the simplest possible fix — multiply by how typical the point</a:t>
            </a:r>
          </a:p>
          <a:p>
            <a:r>
              <a:t>is. beta is a free hyperparameter, which is its weakness; BADGE and core-set are the</a:t>
            </a:r>
          </a:p>
          <a:p>
            <a:r>
              <a:t>principled versions and you are not covering them today.</a:t>
            </a:r>
          </a:p>
          <a:p>
            <a:endParaRPr/>
          </a:p>
          <a:p>
            <a:r>
              <a:t>The practical recommendation at the bottom is what most people in the room will actually</a:t>
            </a:r>
          </a:p>
          <a:p>
            <a:r>
              <a:t>implement, and it is defensible: shortlist by uncertainty, then Tanimoto diversity-pick.</a:t>
            </a:r>
          </a:p>
          <a:p>
            <a:endParaRPr/>
          </a:p>
          <a:p>
            <a:r>
              <a:t>Do not spend more than a minute here. The next regime is more interesting.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Build these as PowerPoint equation objects or clean text boxes — not rendered images — so</a:t>
            </a:r>
          </a:p>
          <a:p>
            <a:r>
              <a:t>you can edit them live if someone asks.</a:t>
            </a:r>
          </a:p>
          <a:p>
            <a:endParaRPr/>
          </a:p>
          <a:p>
            <a:r>
              <a:t>Say the bottom line before anyone asks it. The three criteria only differ with three or</a:t>
            </a:r>
          </a:p>
          <a:p>
            <a:r>
              <a:t>more classes.</a:t>
            </a:r>
          </a:p>
          <a:p>
            <a:endParaRPr/>
          </a:p>
          <a:p>
            <a:r>
              <a:t>Margin is highlighted because it is the one this lecture uses twice: here, and again for</a:t>
            </a:r>
          </a:p>
          <a:p>
            <a:r>
              <a:t>ranking in two slides'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Short slide, and its only job is the handoff.</a:t>
            </a:r>
          </a:p>
          <a:p>
            <a:endParaRPr/>
          </a:p>
          <a:p>
            <a:r>
              <a:t>The conceptual point, worth stating cleanly because it is the one people get wrong: MARGIN</a:t>
            </a:r>
          </a:p>
          <a:p>
            <a:r>
              <a:t>IS A PROPERTY OF THE DECISION, NOT OF THE MODEL. The underlying model here predicts a</a:t>
            </a:r>
          </a:p>
          <a:p>
            <a:r>
              <a:t>per-site reactivity — a regression — but the decision is a choice among finitely many</a:t>
            </a:r>
          </a:p>
          <a:p>
            <a:r>
              <a:t>sites, so margin is well defined and top-1 accuracy is the metric.</a:t>
            </a:r>
          </a:p>
          <a:p>
            <a:endParaRPr/>
          </a:p>
          <a:p>
            <a:r>
              <a:t>If someone asks about regression with a discrete decision more generally: yes, the same</a:t>
            </a:r>
          </a:p>
          <a:p>
            <a:r>
              <a:t>thing happens whenever you are choosing among candidates. The quantity becomes the</a:t>
            </a:r>
          </a:p>
          <a:p>
            <a:r>
              <a:t>probability that the top-ranked candidate really beats the runner-up, which is the</a:t>
            </a:r>
          </a:p>
          <a:p>
            <a:r>
              <a:t>ranking-and-selection view and the bridge back to Thompson sampling from yesterday.</a:t>
            </a:r>
          </a:p>
          <a:p>
            <a:endParaRPr/>
          </a:p>
          <a:p>
            <a:r>
              <a:t>Put the target substrate up and go straight into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We are entering: 4 · A worked example: regioselectivity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A71A9-4D25-ED84-D726-B7E5D716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956FFE-6636-C169-C7E4-5514521D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6F6CD-9F6C-56DB-4661-B897B8BAB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Stage: Master avec GN </a:t>
            </a:r>
            <a:r>
              <a:rPr lang="en-US" dirty="0" err="1"/>
              <a:t>synthese</a:t>
            </a:r>
            <a:r>
              <a:rPr lang="en-US" dirty="0"/>
              <a:t> et </a:t>
            </a:r>
            <a:r>
              <a:rPr lang="en-US" dirty="0" err="1"/>
              <a:t>ccharacterrization</a:t>
            </a:r>
            <a:r>
              <a:rPr lang="en-US" dirty="0"/>
              <a:t> de </a:t>
            </a:r>
            <a:r>
              <a:rPr lang="en-US" dirty="0" err="1"/>
              <a:t>complexe</a:t>
            </a:r>
            <a:r>
              <a:rPr lang="en-US" dirty="0"/>
              <a:t> de lanthanides </a:t>
            </a:r>
            <a:r>
              <a:rPr lang="en-US" dirty="0" err="1"/>
              <a:t>divalents</a:t>
            </a:r>
            <a:br>
              <a:rPr lang="en-US" dirty="0"/>
            </a:br>
            <a:r>
              <a:rPr lang="en-US" dirty="0"/>
              <a:t>These AGPR sous la direction de LG et ML: </a:t>
            </a:r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Méca</a:t>
            </a:r>
            <a:r>
              <a:rPr lang="en-US" dirty="0"/>
              <a:t> et ML: études de </a:t>
            </a:r>
            <a:r>
              <a:rPr lang="en-US" dirty="0" err="1"/>
              <a:t>mécanismes</a:t>
            </a:r>
            <a:r>
              <a:rPr lang="en-US" dirty="0"/>
              <a:t> et utilization de ML pour prediction de </a:t>
            </a:r>
            <a:r>
              <a:rPr lang="en-US" dirty="0" err="1"/>
              <a:t>rendements</a:t>
            </a:r>
            <a:br>
              <a:rPr lang="en-US" dirty="0"/>
            </a:br>
            <a:r>
              <a:rPr lang="en-US" dirty="0"/>
              <a:t>Postdoc </a:t>
            </a:r>
            <a:r>
              <a:rPr lang="en-US" dirty="0" err="1"/>
              <a:t>développement</a:t>
            </a:r>
            <a:r>
              <a:rPr lang="en-US" dirty="0"/>
              <a:t> de </a:t>
            </a:r>
            <a:r>
              <a:rPr lang="en-US" dirty="0" err="1"/>
              <a:t>méthodes</a:t>
            </a:r>
            <a:r>
              <a:rPr lang="en-US" dirty="0"/>
              <a:t> de ML pour la </a:t>
            </a:r>
            <a:r>
              <a:rPr lang="en-US" dirty="0" err="1"/>
              <a:t>synthèse</a:t>
            </a:r>
            <a:r>
              <a:rPr lang="en-US" dirty="0"/>
              <a:t> </a:t>
            </a:r>
            <a:r>
              <a:rPr lang="en-US" dirty="0" err="1"/>
              <a:t>organique</a:t>
            </a:r>
            <a:r>
              <a:rPr lang="en-US" dirty="0"/>
              <a:t>. Collaboration CCAS: experts </a:t>
            </a:r>
            <a:r>
              <a:rPr lang="en-US" dirty="0" err="1"/>
              <a:t>en</a:t>
            </a:r>
            <a:r>
              <a:rPr lang="en-US" dirty="0"/>
              <a:t> ML et experts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synthèse</a:t>
            </a:r>
            <a:r>
              <a:rPr lang="en-US" dirty="0"/>
              <a:t> </a:t>
            </a:r>
            <a:r>
              <a:rPr lang="en-US" dirty="0" err="1"/>
              <a:t>organique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L’essential</a:t>
            </a:r>
            <a:r>
              <a:rPr lang="en-US" dirty="0"/>
              <a:t> de </a:t>
            </a:r>
            <a:r>
              <a:rPr lang="en-US" dirty="0" err="1"/>
              <a:t>mes</a:t>
            </a:r>
            <a:r>
              <a:rPr lang="en-US" dirty="0"/>
              <a:t> travaux </a:t>
            </a:r>
            <a:r>
              <a:rPr lang="en-US" dirty="0" err="1"/>
              <a:t>utilisent</a:t>
            </a:r>
            <a:r>
              <a:rPr lang="en-US" dirty="0"/>
              <a:t> </a:t>
            </a:r>
            <a:r>
              <a:rPr lang="en-US" dirty="0" err="1"/>
              <a:t>à</a:t>
            </a:r>
            <a:r>
              <a:rPr lang="en-US" dirty="0"/>
              <a:t> la </a:t>
            </a:r>
            <a:r>
              <a:rPr lang="en-US" dirty="0" err="1"/>
              <a:t>fois</a:t>
            </a:r>
            <a:r>
              <a:rPr lang="en-US" dirty="0"/>
              <a:t> des études </a:t>
            </a:r>
            <a:r>
              <a:rPr lang="en-US" dirty="0" err="1"/>
              <a:t>expérimentales</a:t>
            </a:r>
            <a:r>
              <a:rPr lang="en-US" dirty="0"/>
              <a:t> et de la pour la comprehension de la </a:t>
            </a:r>
            <a:r>
              <a:rPr lang="en-US" dirty="0" err="1"/>
              <a:t>réactivité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chimie</a:t>
            </a:r>
            <a:r>
              <a:rPr lang="en-US" dirty="0"/>
              <a:t> </a:t>
            </a:r>
            <a:r>
              <a:rPr lang="en-US" dirty="0" err="1"/>
              <a:t>organique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1ACFB-FF84-EA8B-1D1C-22498BD1E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64475-86F6-DA49-8F3D-BFFF75A19E4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066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slide where the abstract argument becomes visible chemistry, and it is the best</a:t>
            </a:r>
          </a:p>
          <a:p>
            <a:r>
              <a:t>one in the section because you did not go looking for it.</a:t>
            </a:r>
          </a:p>
          <a:p>
            <a:endParaRPr/>
          </a:p>
          <a:p>
            <a:r>
              <a:t>LEFT panel: AF_SC picks polycyclic cage after polycyclic cage. RIGHT panel: AF_CH picks</a:t>
            </a:r>
          </a:p>
          <a:p>
            <a:r>
              <a:t>isopropyl after isopropyl. Both are buying the same information repeatedly.</a:t>
            </a:r>
          </a:p>
          <a:p>
            <a:endParaRPr/>
          </a:p>
          <a:p>
            <a:r>
              <a:t>MIDDLE: AF_AL draws from both families — the decalins that AF_SC likes and the isopropyls</a:t>
            </a:r>
          </a:p>
          <a:p>
            <a:r>
              <a:t>that AF_CH likes.</a:t>
            </a:r>
          </a:p>
          <a:p>
            <a:endParaRPr/>
          </a:p>
          <a:p>
            <a:r>
              <a:t>AND THE NEGATIVE RESULT, which is what makes the rest credible: bolting CLUSTERING onto</a:t>
            </a:r>
          </a:p>
          <a:p>
            <a:r>
              <a:t>AF_SC and AF_CH to force diversity DID NOT improve performance. The fix was not a diversity</a:t>
            </a:r>
          </a:p>
          <a:p>
            <a:r>
              <a:t>filter applied afterwards; it was an acquisition function that is diverse by construction,</a:t>
            </a:r>
          </a:p>
          <a:p>
            <a:r>
              <a:t>because weighting by reactivity times uncertainty automatically stops rewarding the tenth</a:t>
            </a:r>
          </a:p>
          <a:p>
            <a:r>
              <a:t>analogue of something you have already learned.</a:t>
            </a:r>
          </a:p>
          <a:p>
            <a:endParaRPr/>
          </a:p>
          <a:p>
            <a:r>
              <a:t>This is also the batch-redundancy problem in miniature — you meet it properly in section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FBBB99-B931-0D4F-8524-66430C8DF071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242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We are entering: 5 · Which uncertainty is worth buying?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Build this slowly. It is the idea in the lecture most likely to change what someone does on</a:t>
            </a:r>
          </a:p>
          <a:p>
            <a:r>
              <a:t>Monday, and it lands harder here — after section 4 — than it would have before, because</a:t>
            </a:r>
          </a:p>
          <a:p>
            <a:r>
              <a:t>they have just watched an ensemble-uncertainty acquisition function work.</a:t>
            </a:r>
          </a:p>
          <a:p>
            <a:endParaRPr/>
          </a:p>
          <a:p>
            <a:r>
              <a:t>Do NOT show the equation yet. Get them to feel the difference first: ask which compound they</a:t>
            </a:r>
          </a:p>
          <a:p>
            <a:r>
              <a:t>would run. Most say A, correctly. Then ask WHY, and the answer is the next slide.</a:t>
            </a:r>
          </a:p>
          <a:p>
            <a:endParaRPr/>
          </a:p>
          <a:p>
            <a:r>
              <a:t>No amount of data shrinks B's error bar. The uncertainty is in the assay, not the model.</a:t>
            </a:r>
          </a:p>
          <a:p>
            <a:endParaRPr/>
          </a:p>
          <a:p>
            <a:r>
              <a:t>The chemistry examples worth naming: A is a new heterocycle nobody has oxidised. B is a</a:t>
            </a:r>
          </a:p>
          <a:p>
            <a:r>
              <a:t>compound whose assay has a 30% coefficient of variation, or a substrate with two genuinely</a:t>
            </a:r>
          </a:p>
          <a:p>
            <a:r>
              <a:t>equireactive sites where the true answer IS a 50:50 mixture.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it in words, then in symbols, then in chemistry.</a:t>
            </a:r>
          </a:p>
          <a:p>
            <a:endParaRPr/>
          </a:p>
          <a:p>
            <a:r>
              <a:t>  total       = "I don't know."</a:t>
            </a:r>
          </a:p>
          <a:p>
            <a:r>
              <a:t>  epistemic   = "I don't know YET, and an experiment would fix it."</a:t>
            </a:r>
          </a:p>
          <a:p>
            <a:r>
              <a:t>  aleatoric   = "Nobody knows, and running it again will not help."</a:t>
            </a:r>
          </a:p>
          <a:p>
            <a:endParaRPr/>
          </a:p>
          <a:p>
            <a:r>
              <a:t>STRESS THAT IT IS EXACT. I(A;B) = H(A) - H(A|B) is the definition of mutual information.</a:t>
            </a:r>
          </a:p>
          <a:p>
            <a:r>
              <a:t>The decomposition is free; there is nothing to approximate and nothing to assume.</a:t>
            </a:r>
          </a:p>
          <a:p>
            <a:endParaRPr/>
          </a:p>
          <a:p>
            <a:r>
              <a:t>GIVE THEM THE VARIANCE FORM — most chemists accept it on sight where the entropy version</a:t>
            </a:r>
          </a:p>
          <a:p>
            <a:r>
              <a:t>makes them work: spread of the members' MEANS, plus the average of the members' NOISE.</a:t>
            </a:r>
          </a:p>
          <a:p>
            <a:endParaRPr/>
          </a:p>
          <a:p>
            <a:r>
              <a:t>HOW IT IS COMPUTED, in one line, because it explains why the noise cancels: entropy of the</a:t>
            </a:r>
          </a:p>
          <a:p>
            <a:r>
              <a:t>average prediction, minus the average of the individual entropies. If a point is</a:t>
            </a:r>
          </a:p>
          <a:p>
            <a:r>
              <a:t>irreducibly noisy, every member is broad, so both terms are large and they cancel. If it is</a:t>
            </a:r>
          </a:p>
          <a:p>
            <a:r>
              <a:t>unexplored, each member is sharp but they disagree, so only the first term is large.</a:t>
            </a:r>
          </a:p>
          <a:p>
            <a:endParaRPr/>
          </a:p>
          <a:p>
            <a:r>
              <a:t>⚠ AND THE CAVEAT, which is the most useful thing on this slide and is almost never said:</a:t>
            </a:r>
          </a:p>
          <a:p>
            <a:r>
              <a:t>if your likelihood has a single global sigma-squared — one fitted noise term for the whole</a:t>
            </a:r>
          </a:p>
          <a:p>
            <a:r>
              <a:t>domain — then the aleatoric part is a CONSTANT in x. Subtracting a constant does not change</a:t>
            </a:r>
          </a:p>
          <a:p>
            <a:r>
              <a:t>an argmax, so BALD and entropy rank identically and you have gained nothing. You need</a:t>
            </a:r>
          </a:p>
          <a:p>
            <a:r>
              <a:t>heteroscedastic noise, sigma-squared as a function of x. Ask the room whether their model</a:t>
            </a:r>
          </a:p>
          <a:p>
            <a:r>
              <a:t>has that. Most do not.</a:t>
            </a:r>
          </a:p>
          <a:p>
            <a:endParaRPr/>
          </a:p>
          <a:p>
            <a:r>
              <a:t>ATTRIBUTION: "epistemic" and "aleatoric" do not appear in Houlsby et al. Credit the</a:t>
            </a:r>
          </a:p>
          <a:p>
            <a:r>
              <a:t>uncertainty-quantification literature for the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Having built the previous slide, BALD is now almost trivially motivated: it is the</a:t>
            </a:r>
          </a:p>
          <a:p>
            <a:r>
              <a:t>acquisition function that buys the first term and refuses to buy the second.</a:t>
            </a:r>
          </a:p>
          <a:p>
            <a:endParaRPr/>
          </a:p>
          <a:p>
            <a:r>
              <a:t>    I( y ; ω )  =  H( y )  −  Eω[ H( y | ω ) ]</a:t>
            </a:r>
          </a:p>
          <a:p>
            <a:endParaRPr/>
          </a:p>
          <a:p>
            <a:r>
              <a:t>Walk the three panels left to right, and SLOW DOWN ON THE MIDDLE ONE. Ask: "entropy</a:t>
            </a:r>
          </a:p>
          <a:p>
            <a:r>
              <a:t>sampling puts this at the top of its list. Should we run it?"</a:t>
            </a:r>
          </a:p>
          <a:p>
            <a:endParaRPr/>
          </a:p>
          <a:p>
            <a:r>
              <a:t>THE READING THAT MAKES BALD CLICK, and say it twice: BALD is high only when the individual</a:t>
            </a:r>
          </a:p>
          <a:p>
            <a:r>
              <a:t>models are each CONFIDENT and they confidently DISAGREE. Not "everybody is unsure" — that</a:t>
            </a:r>
          </a:p>
          <a:p>
            <a:r>
              <a:t>is entropy, and it includes the noise. "Everybody is sure, and sure of different things."</a:t>
            </a:r>
          </a:p>
          <a:p>
            <a:r>
              <a:t>That state only arises when several distinct hypotheses still fit your data, which is</a:t>
            </a:r>
          </a:p>
          <a:p>
            <a:r>
              <a:t>exactly when an experiment is worth running.</a:t>
            </a:r>
          </a:p>
          <a:p>
            <a:endParaRPr/>
          </a:p>
          <a:p>
            <a:r>
              <a:t>The numbers are computed on the figure, so you can point at them: panel (b) has H = 1.00</a:t>
            </a:r>
          </a:p>
          <a:p>
            <a:r>
              <a:t>bit and BALD = 0.00; panel (c) has H = 1.00 and BALD = 0.80.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5ACF9-E037-51B9-99BC-418EAC437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94CDA-A614-0DB7-3E7B-495223D4E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58FFB-3FC6-51F3-8CA7-F1875BDA9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Having built the previous slide, BALD is now almost trivially motivated: it is the</a:t>
            </a:r>
          </a:p>
          <a:p>
            <a:r>
              <a:t>acquisition function that buys the first term and refuses to buy the second.</a:t>
            </a:r>
          </a:p>
          <a:p>
            <a:endParaRPr/>
          </a:p>
          <a:p>
            <a:r>
              <a:t>    I( y ; ω )  =  H( y )  −  Eω[ H( y | ω ) ]</a:t>
            </a:r>
          </a:p>
          <a:p>
            <a:endParaRPr/>
          </a:p>
          <a:p>
            <a:r>
              <a:t>Walk the three panels left to right, and SLOW DOWN ON THE MIDDLE ONE. Ask: "entropy</a:t>
            </a:r>
          </a:p>
          <a:p>
            <a:r>
              <a:t>sampling puts this at the top of its list. Should we run it?"</a:t>
            </a:r>
          </a:p>
          <a:p>
            <a:endParaRPr/>
          </a:p>
          <a:p>
            <a:r>
              <a:t>THE READING THAT MAKES BALD CLICK, and say it twice: BALD is high only when the individual</a:t>
            </a:r>
          </a:p>
          <a:p>
            <a:r>
              <a:t>models are each CONFIDENT and they confidently DISAGREE. Not "everybody is unsure" — that</a:t>
            </a:r>
          </a:p>
          <a:p>
            <a:r>
              <a:t>is entropy, and it includes the noise. "Everybody is sure, and sure of different things."</a:t>
            </a:r>
          </a:p>
          <a:p>
            <a:r>
              <a:t>That state only arises when several distinct hypotheses still fit your data, which is</a:t>
            </a:r>
          </a:p>
          <a:p>
            <a:r>
              <a:t>exactly when an experiment is worth running.</a:t>
            </a:r>
          </a:p>
          <a:p>
            <a:endParaRPr/>
          </a:p>
          <a:p>
            <a:r>
              <a:t>The numbers are computed on the figure, so you can point at them: panel (b) has H = 1.00</a:t>
            </a:r>
          </a:p>
          <a:p>
            <a:r>
              <a:t>bit and BALD = 0.00; panel (c) has H = 1.00 and BALD = 0.80.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95A91-D4B4-691D-2F19-2FA3EA9F7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45681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bridge from the theory back to what people actually run — and back to section 4, where</a:t>
            </a:r>
          </a:p>
          <a:p>
            <a:r>
              <a:t>the uncertainty was ensemble spread.</a:t>
            </a:r>
          </a:p>
          <a:p>
            <a:endParaRPr/>
          </a:p>
          <a:p>
            <a:r>
              <a:t>Land the point plainly: chemists have been doing BALD since 1992 without calling it that.</a:t>
            </a:r>
          </a:p>
          <a:p>
            <a:r>
              <a:t>Seung, Opper and Sompolinsky, COLT '92.</a:t>
            </a:r>
          </a:p>
          <a:p>
            <a:endParaRPr/>
          </a:p>
          <a:p>
            <a:r>
              <a:t>The table is the practical menu. The line to emphasise is "deep ensemble — under-disperses":</a:t>
            </a:r>
          </a:p>
          <a:p>
            <a:r>
              <a:t>members trained on the same data with the same architecture are correlated, so their spread</a:t>
            </a:r>
          </a:p>
          <a:p>
            <a:r>
              <a:t>UNDER-estimates the epistemic term, and you drift back toward random sampling without</a:t>
            </a:r>
          </a:p>
          <a:p>
            <a:r>
              <a:t>noticing. That is a real failure mode and it connects to section 6.</a:t>
            </a:r>
          </a:p>
          <a:p>
            <a:endParaRPr/>
          </a:p>
          <a:p>
            <a:r>
              <a:t>If asked about the difference between QBC and exact BALD: the committee is a crude,</a:t>
            </a:r>
          </a:p>
          <a:p>
            <a:r>
              <a:t>finite, non-Bayesian sample of the posterior. It gets you the disagreement structure, which</a:t>
            </a:r>
          </a:p>
          <a:p>
            <a:r>
              <a:t>is most of the value, and it costs you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Ninety seconds, and it is the compressible slide in this section — cut it to thirty if you</a:t>
            </a:r>
          </a:p>
          <a:p>
            <a:r>
              <a:t>are behind.</a:t>
            </a:r>
          </a:p>
          <a:p>
            <a:endParaRPr/>
          </a:p>
          <a:p>
            <a:r>
              <a:t>Open with the failure, not the fix. Ask who has done this. Some will have.</a:t>
            </a:r>
          </a:p>
          <a:p>
            <a:endParaRPr/>
          </a:p>
          <a:p>
            <a:r>
              <a:t>The one-line diagnosis is what to remember: INDEPENDENCE IN THE SCORING MEANS REDUNDANCY IN</a:t>
            </a:r>
          </a:p>
          <a:p>
            <a:r>
              <a:t>THE BATCH. Batch size 1 has no problem; batch size 96 has a severe one; and chemistry is</a:t>
            </a:r>
          </a:p>
          <a:p>
            <a:r>
              <a:t>almost never batch size 1.</a:t>
            </a:r>
          </a:p>
          <a:p>
            <a:endParaRPr/>
          </a:p>
          <a:p>
            <a:r>
              <a:t>Name BatchBALD and core-set and move on — do not derive either. If someone wants the</a:t>
            </a:r>
          </a:p>
          <a:p>
            <a:r>
              <a:t>information-theoretic version: BALD summed over a batch double-counts the overlap between</a:t>
            </a:r>
          </a:p>
          <a:p>
            <a:r>
              <a:t>what the points would tell you, and BatchBALD scores the union instead. That is the whole</a:t>
            </a:r>
          </a:p>
          <a:p>
            <a:r>
              <a:t>idea.</a:t>
            </a:r>
          </a:p>
          <a:p>
            <a:endParaRPr/>
          </a:p>
          <a:p>
            <a:r>
              <a:t>CALLBACK: they have already seen this in real data — AF_CH's nine isopropyls in Figure 3b.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We are entering: 6 · Practical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first practical lesson, and it is the one they will hit first.</a:t>
            </a:r>
          </a:p>
          <a:p>
            <a:endParaRPr/>
          </a:p>
          <a:p>
            <a:r>
              <a:t>Say that they have now met this failure three times in ninety minutes — the ligand</a:t>
            </a:r>
          </a:p>
          <a:p>
            <a:r>
              <a:t>catalogue, Settles' isolated point A, and the GP walking to 200 degrees and 20 mol%. It is</a:t>
            </a:r>
          </a:p>
          <a:p>
            <a:r>
              <a:t>not an edge case; it is the default behaviour of an unconstrained uncertainty criterion.</a:t>
            </a:r>
          </a:p>
          <a:p>
            <a:endParaRPr/>
          </a:p>
          <a:p>
            <a:r>
              <a:t>THE THIRD FIX IS THE ONE WITH EVIDENCE BEHIND IT and it is from your own paper: biasing</a:t>
            </a:r>
          </a:p>
          <a:p>
            <a:r>
              <a:t>AF_AL toward small molecules raised the count from 27 to 31 targets. That is a</a:t>
            </a:r>
          </a:p>
          <a:p>
            <a:r>
              <a:t>constraint on the POOL, motivated by characterisability, not a cleverer score. Constraining</a:t>
            </a:r>
          </a:p>
          <a:p>
            <a:r>
              <a:t>the candidate set is usually easier and more effective than fixing the acquisition function.</a:t>
            </a:r>
          </a:p>
          <a:p>
            <a:endParaRPr/>
          </a:p>
          <a:p>
            <a:r>
              <a:t>Practical framing for the room: before you score anything, ask what you would refuse to make</a:t>
            </a:r>
          </a:p>
          <a:p>
            <a:r>
              <a:t>even if the model begged for it. Then remove those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successor-model problem is the most under-appreciated point in the lecture and the one</a:t>
            </a:r>
          </a:p>
          <a:p>
            <a:r>
              <a:t>with the biggest practical consequence for this audience.</a:t>
            </a:r>
          </a:p>
          <a:p>
            <a:endParaRPr/>
          </a:p>
          <a:p>
            <a:r>
              <a:t>People curate a data set with an AL loop, publish it as a resource, and then somebody trains</a:t>
            </a:r>
          </a:p>
          <a:p>
            <a:r>
              <a:t>a different architecture on it and does WORSE than they would have with a random sample of</a:t>
            </a:r>
          </a:p>
          <a:p>
            <a:r>
              <a:t>the same size. If you are building a data set others will reuse with unknown models, that is</a:t>
            </a:r>
          </a:p>
          <a:p>
            <a:r>
              <a:t>an argument for random or diversity sampling, not AL.</a:t>
            </a:r>
          </a:p>
          <a:p>
            <a:endParaRPr/>
          </a:p>
          <a:p>
            <a:r>
              <a:t>The figure: the gap between the two curves is the sampling bias, and it GROWS over the</a:t>
            </a:r>
          </a:p>
          <a:p>
            <a:r>
              <a:t>campaign. Uncertainty sampling deliberately buys hard points, so the error measured on its</a:t>
            </a:r>
          </a:p>
          <a:p>
            <a:r>
              <a:t>own acquisitions over-states the difficulty of the problem.</a:t>
            </a:r>
          </a:p>
          <a:p>
            <a:endParaRPr/>
          </a:p>
          <a:p>
            <a:r>
              <a:t>The rule is one line: hold out a random test set at round zero and never touch it. It costs</a:t>
            </a:r>
          </a:p>
          <a:p>
            <a:r>
              <a:t>you a few labels at the start of a campaign and it is the only thing standing between you</a:t>
            </a:r>
          </a:p>
          <a:p>
            <a:r>
              <a:t>and a number that means nothing.</a:t>
            </a:r>
          </a:p>
          <a:p>
            <a:endParaRPr/>
          </a:p>
          <a:p>
            <a:r>
              <a:t>CALLBACK: this also invalidates the learning-curve-plateau stopping rule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answers the problem you deliberately left open at the end of section 4.</a:t>
            </a:r>
          </a:p>
          <a:p>
            <a:endParaRPr/>
          </a:p>
          <a:p>
            <a:r>
              <a:t>Walk the table quickly. The first row is the honest one and Settles says so: "the real</a:t>
            </a:r>
          </a:p>
          <a:p>
            <a:r>
              <a:t>stopping criterion for practical applications is based on economic or other external</a:t>
            </a:r>
          </a:p>
          <a:p>
            <a:r>
              <a:t>factors". Most campaigns stop when the money runs out.</a:t>
            </a:r>
          </a:p>
          <a:p>
            <a:endParaRPr/>
          </a:p>
          <a:p>
            <a:r>
              <a:t>But the last row is a genuine, published, WORKING intrinsic criterion, and it is worth the</a:t>
            </a:r>
          </a:p>
          <a:p>
            <a:r>
              <a:t>time because it tells you the condition under which stopping rules work at all. Smith et</a:t>
            </a:r>
          </a:p>
          <a:p>
            <a:r>
              <a:t>al.'s ANI loop stops when fewer than 5% of the not-yet-added data are still fail cases,</a:t>
            </a:r>
          </a:p>
          <a:p>
            <a:r>
              <a:t>where a fail case is |E_ANI - E_DFT|/sqrt(N) &gt; 0.04 kcal/mol.</a:t>
            </a:r>
          </a:p>
          <a:p>
            <a:endParaRPr/>
          </a:p>
          <a:p>
            <a:r>
              <a:t>WHY IT WORKS: they fixed an error tolerance IN PHYSICAL UNITS before starting. Not "when</a:t>
            </a:r>
          </a:p>
          <a:p>
            <a:r>
              <a:t>the curve flattens", not "when I feel confident" — a number, in kcal/mol, decided in</a:t>
            </a:r>
          </a:p>
          <a:p>
            <a:r>
              <a:t>advance and defensible on chemical grounds.</a:t>
            </a:r>
          </a:p>
          <a:p>
            <a:endParaRPr/>
          </a:p>
          <a:p>
            <a:r>
              <a:t>END ON THE QUESTION. Ask the room what their 0.04 kcal/mol is. Most people have never</a:t>
            </a:r>
          </a:p>
          <a:p>
            <a:r>
              <a:t>written it down, and that — not the lack of a clever criterion — is why stopping feels</a:t>
            </a:r>
          </a:p>
          <a:p>
            <a:r>
              <a:t>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cut this slide. It is what separates a lecture from a sales pitch, and everyone here</a:t>
            </a:r>
          </a:p>
          <a:p>
            <a:r>
              <a:t>is going to go and run these methods.</a:t>
            </a:r>
          </a:p>
          <a:p>
            <a:endParaRPr/>
          </a:p>
          <a:p>
            <a:r>
              <a:t>Warn them explicitly that they will see the cold start in the tutorial this morning and that</a:t>
            </a:r>
          </a:p>
          <a:p>
            <a:r>
              <a:t>it is NOT a bug in their code. Uncertainty sampling is worse than random for the first four</a:t>
            </a:r>
          </a:p>
          <a:p>
            <a:r>
              <a:t>rounds of this simulation, over 40 runs, and crosses over at 18 labels.</a:t>
            </a:r>
          </a:p>
          <a:p>
            <a:endParaRPr/>
          </a:p>
          <a:p>
            <a:r>
              <a:t>The mechanism is worth one sentence: a model trained on almost nothing produces biased,</a:t>
            </a:r>
          </a:p>
          <a:p>
            <a:r>
              <a:t>outlier-seeking queries. It cannot yet tell the difference between "I have not looked there"</a:t>
            </a:r>
          </a:p>
          <a:p>
            <a:r>
              <a:t>and "there is nothing there".</a:t>
            </a:r>
          </a:p>
          <a:p>
            <a:endParaRPr/>
          </a:p>
          <a:p>
            <a:r>
              <a:t>The seed-set advice is the single most actionable thing in this section. Diversity-pick your</a:t>
            </a:r>
          </a:p>
          <a:p>
            <a:r>
              <a:t>first batch. Do not let the model choose it.</a:t>
            </a:r>
          </a:p>
          <a:p>
            <a:endParaRPr/>
          </a:p>
          <a:p>
            <a:r>
              <a:t>And the boxed rule: always plot random on the same axes. You are not arguing that AL does</a:t>
            </a:r>
          </a:p>
          <a:p>
            <a:r>
              <a:t>not work — section 4 was your own paper — you are arguing that the baseline is not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We are entering: 7 · Active learning in the wild — and what is not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canonical active-learning paper in chemistry, and the title is this lecture's thesis in</a:t>
            </a:r>
          </a:p>
          <a:p>
            <a:r>
              <a:t>three words. Two minutes.</a:t>
            </a:r>
          </a:p>
          <a:p>
            <a:endParaRPr/>
          </a:p>
          <a:p>
            <a:r>
              <a:t>Their Figure 2 contains the loop, the acquisition criterion AND the stopping rule in one</a:t>
            </a:r>
          </a:p>
          <a:p>
            <a:r>
              <a:t>picture, which is why it is worth showing rather than describing.</a:t>
            </a:r>
          </a:p>
          <a:p>
            <a:endParaRPr/>
          </a:p>
          <a:p>
            <a:r>
              <a:t>The criterion is the deployment argument from section 2 made concrete: rho = sigma(E)/sqrt(N)</a:t>
            </a:r>
          </a:p>
          <a:p>
            <a:r>
              <a:t>— ensemble spread, normalised by atom count so ONE threshold works across molecules of</a:t>
            </a:r>
          </a:p>
          <a:p>
            <a:r>
              <a:t>different size. Without the square root, big molecules always look uncertain, which is a</a:t>
            </a:r>
          </a:p>
          <a:p>
            <a:r>
              <a:t>representation problem rather than an information problem, and they fixed it in the metric.</a:t>
            </a:r>
          </a:p>
          <a:p>
            <a:endParaRPr/>
          </a:p>
          <a:p>
            <a:r>
              <a:t>⚠ THE PUBLISHED FIGURE HAS THE INEQUALITY BACKWARDS, in three places: "Add rho_i &lt; rho-hat".</a:t>
            </a:r>
          </a:p>
          <a:p>
            <a:r>
              <a:t>The body text is unambiguous and physically correct — include when rho_i is GREATER than</a:t>
            </a:r>
          </a:p>
          <a:p>
            <a:r>
              <a:t>rho-hat, because rho is an uncertainty. It is a typo in the figure. If a student points at</a:t>
            </a:r>
          </a:p>
          <a:p>
            <a:r>
              <a:t>it, agree with them, say Eq. 1 and the text are authoritative, and move on. Do NOT read the</a:t>
            </a:r>
          </a:p>
          <a:p>
            <a:r>
              <a:t>sign off the figure and do not try to rationalise it from the podium.</a:t>
            </a:r>
          </a:p>
          <a:p>
            <a:endParaRPr/>
          </a:p>
          <a:p>
            <a:r>
              <a:t>The quotable line from the abstract: active learning improves the potential "by mitigating</a:t>
            </a:r>
          </a:p>
          <a:p>
            <a:r>
              <a:t>human biases in deciding what new training data to use."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explain this figure — point at it and let them watch. Ninety seconds.</a:t>
            </a:r>
          </a:p>
          <a:p>
            <a:endParaRPr/>
          </a:p>
          <a:p>
            <a:r>
              <a:t>Panel a: the trajectory starts in the FCC crystal at 162 K. At t = 5 ps it melts and hits</a:t>
            </a:r>
          </a:p>
          <a:p>
            <a:r>
              <a:t>5006 K. Black dots are DFT calls.</a:t>
            </a:r>
          </a:p>
          <a:p>
            <a:r>
              <a:t>Panel b: cumulative DFT calls and the fitted noise. Both flat, then both step, at exactly</a:t>
            </a:r>
          </a:p>
          <a:p>
            <a:r>
              <a:t>the melting transition.</a:t>
            </a:r>
          </a:p>
          <a:p>
            <a:endParaRPr/>
          </a:p>
          <a:p>
            <a:r>
              <a:t>The audience SEES the model leave the chemistry it knows and ask for help. Nobody told it</a:t>
            </a:r>
          </a:p>
          <a:p>
            <a:r>
              <a:t>melting was coming.</a:t>
            </a:r>
          </a:p>
          <a:p>
            <a:endParaRPr/>
          </a:p>
          <a:p>
            <a:r>
              <a:t>Worth noting because it differs from everything else today: there is no pool here. The MD</a:t>
            </a:r>
          </a:p>
          <a:p>
            <a:r>
              <a:t>generates the candidates as it goes, and the decision to keep or discard is made once, in</a:t>
            </a:r>
          </a:p>
          <a:p>
            <a:r>
              <a:t>real time. That is a genuinely different setting from section 4's enumerated library.</a:t>
            </a:r>
          </a:p>
          <a:p>
            <a:endParaRPr/>
          </a:p>
          <a:p>
            <a:r>
              <a:t>The honest caveat, fifteen seconds: the trigger is a threshold on the GP's own uncertainty,</a:t>
            </a:r>
          </a:p>
          <a:p>
            <a:r>
              <a:t>so it inherits whatever the kernel believes. If the kernel cannot represent the new physics,</a:t>
            </a:r>
          </a:p>
          <a:p>
            <a:r>
              <a:t>the uncertainty may not rise at all — the bias term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closes the loop on section 2, and it is the most useful piece of literature</a:t>
            </a:r>
          </a:p>
          <a:p>
            <a:r>
              <a:t>advice in the lecture.</a:t>
            </a:r>
          </a:p>
          <a:p>
            <a:endParaRPr/>
          </a:p>
          <a:p>
            <a:r>
              <a:t>Work across the three and say, for each, WHAT IT WANTS:</a:t>
            </a:r>
          </a:p>
          <a:p>
            <a:r>
              <a:t>  - MolPAL wants the top of a ranking. Explicitly BO-flavoured; the authors are not hiding</a:t>
            </a:r>
          </a:p>
          <a:p>
            <a:r>
              <a:t>    it. Fine — just do not copy it expecting a calibrated model.</a:t>
            </a:r>
          </a:p>
          <a:p>
            <a:r>
              <a:t>  - A-Lab wants novel compounds. Active learning appears as recipe repair after a failed</a:t>
            </a:r>
          </a:p>
          <a:p>
            <a:r>
              <a:t>    synthesis; it is not the core claim.</a:t>
            </a:r>
          </a:p>
          <a:p>
            <a:r>
              <a:t>  - PAL wants the Pareto front. Read its first line out loud and the point makes itself.</a:t>
            </a:r>
          </a:p>
          <a:p>
            <a:endParaRPr/>
          </a:p>
          <a:p>
            <a:r>
              <a:t>THE PRACTICAL RULE: when you read a chemistry paper with "active learning" in the title,</a:t>
            </a:r>
          </a:p>
          <a:p>
            <a:r>
              <a:t>find the OBJECTIVE before you find the method. If it reports "best found", it is optimizing.</a:t>
            </a:r>
          </a:p>
          <a:p>
            <a:r>
              <a:t>If it reports test error across a domain, it is doing what we did today.</a:t>
            </a:r>
          </a:p>
          <a:p>
            <a:endParaRPr/>
          </a:p>
          <a:p>
            <a:r>
              <a:t>WHERE AL GENUINELY DOMINATES IN CHEMISTRY, and be honest that the list is short: building</a:t>
            </a:r>
          </a:p>
          <a:p>
            <a:r>
              <a:t>interatomic potentials and building data sets. Both are cases where the model IS the</a:t>
            </a:r>
          </a:p>
          <a:p>
            <a:r>
              <a:t>deliverable. That is not a coincidence — it is section 2 showing up in the shape of the</a:t>
            </a:r>
          </a:p>
          <a:p>
            <a:r>
              <a:t>literature.</a:t>
            </a:r>
          </a:p>
          <a:p>
            <a:endParaRPr/>
          </a:p>
          <a:p>
            <a:r>
              <a:t>If you are behind, this whole slide is 60 seconds from the three red boxes.</a:t>
            </a:r>
          </a:p>
          <a:p>
            <a:endParaRPr/>
          </a:p>
          <a:p>
            <a:r>
              <a:t>On A-Lab, get the numbers right: a 2026 Author Correction re-analysed the diffraction by</a:t>
            </a:r>
          </a:p>
          <a:p>
            <a:r>
              <a:t>hand and found the platform correct in 36 of 40 reported successes, 4 inconclusive and now</a:t>
            </a:r>
          </a:p>
          <a:p>
            <a:r>
              <a:t>removed. "Novel" meant new to the prediction platform, not new to science. Do not say "most</a:t>
            </a:r>
          </a:p>
          <a:p>
            <a:r>
              <a:t>were not really made" — that is not what the record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marker. We are entering: 8 · 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sentences, then stop. Do not summarise the summary.</a:t>
            </a:r>
          </a:p>
          <a:p>
            <a:endParaRPr/>
          </a:p>
          <a:p>
            <a:r>
              <a:t>If they remember one line, make it the second one: NOT ALL UNCERTAINTY IS WORTH BUYING.</a:t>
            </a:r>
          </a:p>
          <a:p>
            <a:endParaRPr/>
          </a:p>
          <a:p>
            <a:r>
              <a:t>Then send them to the tutorial with the warning about the cold start, so they do not spend</a:t>
            </a:r>
          </a:p>
          <a:p>
            <a:r>
              <a:t>twenty minutes debugging correct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Leave up during questions. Several of these have no DOI — arXiv IDs and anthology links are given instead; do not invent DOI strings for them. Full figure provenance and licences: lecture_13_CREDITS.md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Leave up during questions. Several of these have no DOI — arXiv IDs and anthology links are given instead; do not invent DOI strings for them. Full figure provenance and licences: lecture_13_CREDITS.md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FCFE-30EA-15C2-0079-CE50B057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BCADC-8577-51CC-4FFC-BFAE04D98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71E36-766F-27F9-934F-42CA4EF8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16339-2319-9405-5169-0E1AD016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EE86-1EA0-452C-1FDF-12394A03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8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BD33-4213-E577-B6E8-AD845ED6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B018D-C286-CF14-EB8F-74FAC087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17B41-F21B-FE25-EEA1-91FEDB018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035A8-2A44-4925-E6F2-FB2DC50A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111F9-59D8-00C5-BBDC-B5E10B1D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5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01A0-EEE7-4CE8-86EB-6B668C83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FDC73-D696-3AB6-59AE-14C9B9C42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7F559-1384-FB6E-4197-6959805E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BD67-6739-D45F-6AD7-1131E3E2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BF6FB-9889-7539-0F3A-27661D1C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4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C13D-EE92-D1C8-42C3-D9D502AC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D61BD-5137-CA14-767E-DD95B4888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69210-EE0D-D7C0-53BE-9DF1BF282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D91EB-E133-C8EF-6965-51CAF69F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C8067-8D45-18D8-B318-CE442E3D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EC5D3-51E5-62FD-4869-4B329DE85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2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4D919-B29D-3F0A-AFA2-3CE5ABEB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AC8F1-B8D9-96C9-42FD-A11CE3970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1CD45-EDB7-32B2-7A43-CB149B186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26979-DEFA-6291-2B1B-F02D32412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6046F-BF91-EA7C-A63E-E6A9BBDEA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59EA03-587B-93E1-F15C-A9F86D1F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E48CA-DAF8-7420-9F13-C8574E615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382CD-D4DA-DACB-D27D-1E2A7864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3478-7586-DAD0-BBAC-9C50EF27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3DAAA4-4012-8CB9-750B-AA355607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BD9A9-FAE9-187D-66D8-CF50C61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BA2B7-7364-8FFC-4934-C4DC6F77C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300C1E-3393-ADC2-C850-585C4F4E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EAA1D-1CAA-7DE7-80BE-08E99110E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86C34-2ED5-AA80-B028-9B03C125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6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D578-5F56-3E94-CC1B-0A51EA2F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3D991-13BF-348D-F9DA-EC5B1C00D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6D522-9CFA-C907-3B26-95022DAFA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BBC84-2ED7-4308-263A-1542129F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5E1AF-B534-32E7-5217-13BF5C4C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C9D2-9869-6D45-6BA5-0998E02E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0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2FFE4-B64F-1071-4B8D-24548C54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17446C-C381-ADE6-BCF2-84D7659A7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C11A1-E8D9-F82C-99E2-1137493CB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C2BE3-526B-3449-C080-B55F9D9E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63DBE-F065-4FDB-E3ED-A9FB5C5F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5CE51-E186-B11C-5FC3-6B32A68B9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E236-F7BC-E54A-E355-875C14D2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7A2AB-EF55-75CD-2713-84DFC0D16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CE04C-0D94-10F9-28B1-C11E9648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08AAA-3F74-6592-9D94-4F1891B38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6D591-D272-CEB0-9C06-DFA79A16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9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2C35C-21AB-B0E1-47A6-FBB660E61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D8866-F016-7611-08A1-862A6ADA2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2830B-991D-CF25-D982-3B8A8CB0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C3DF2-14AC-0994-0929-F147638F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D98ED-BD7A-DBA9-3FA8-660610FF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6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15FB3-293F-DCCE-0700-A95124D6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71CD0-7472-1733-B23F-23C2B9F13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5EEE-F8D1-E777-F538-DD71D31A7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C5ABB-601C-F448-8A76-D4082F0C0AAD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AF20B-855C-D3FC-9254-CC3C9F7B7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DF2E7-9883-FC25-4D8C-3F305CC3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9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gif"/><Relationship Id="rId3" Type="http://schemas.microsoft.com/office/2018/10/relationships/comments" Target="../comments/modernComment_C5B_37651770.xml"/><Relationship Id="rId7" Type="http://schemas.openxmlformats.org/officeDocument/2006/relationships/image" Target="../media/image1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emf"/><Relationship Id="rId9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9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5.emf"/><Relationship Id="rId7" Type="http://schemas.openxmlformats.org/officeDocument/2006/relationships/image" Target="../media/image3.png"/><Relationship Id="rId2" Type="http://schemas.microsoft.com/office/2018/10/relationships/comments" Target="../comments/modernComment_C62_EFF88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2.png"/><Relationship Id="rId4" Type="http://schemas.openxmlformats.org/officeDocument/2006/relationships/image" Target="../media/image26.emf"/><Relationship Id="rId9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jpeg"/><Relationship Id="rId4" Type="http://schemas.openxmlformats.org/officeDocument/2006/relationships/image" Target="../media/image24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microsoft.com/office/2007/relationships/hdphoto" Target="../media/hdphoto1.wdp"/><Relationship Id="rId7" Type="http://schemas.openxmlformats.org/officeDocument/2006/relationships/image" Target="../media/image33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Relationship Id="rId9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7" Type="http://schemas.openxmlformats.org/officeDocument/2006/relationships/image" Target="../media/image1.png"/><Relationship Id="rId2" Type="http://schemas.microsoft.com/office/2018/10/relationships/comments" Target="../comments/modernComment_C5E_DE6A064C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1.png"/><Relationship Id="rId5" Type="http://schemas.openxmlformats.org/officeDocument/2006/relationships/image" Target="../media/image40.emf"/><Relationship Id="rId4" Type="http://schemas.microsoft.com/office/2018/10/relationships/comments" Target="../comments/modernComment_C3D_59E245FE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42.png"/><Relationship Id="rId5" Type="http://schemas.openxmlformats.org/officeDocument/2006/relationships/image" Target="../media/image40.emf"/><Relationship Id="rId4" Type="http://schemas.microsoft.com/office/2018/10/relationships/comments" Target="../comments/modernComment_C3E_FEF7D9FD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microsoft.com/office/2018/10/relationships/comments" Target="../comments/modernComment_C41_B6EE73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1.png"/><Relationship Id="rId2" Type="http://schemas.microsoft.com/office/2018/10/relationships/comments" Target="../comments/modernComment_C3F_CC1F27EC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7.emf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microsoft.com/office/2018/10/relationships/comments" Target="../comments/modernComment_C40_54BA64E9.xml"/><Relationship Id="rId9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1.png"/><Relationship Id="rId2" Type="http://schemas.microsoft.com/office/2018/10/relationships/comments" Target="../comments/modernComment_C5F_18A1F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microsoft.com/office/2018/10/relationships/comments" Target="../comments/modernComment_C42_2E16FA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microsoft.com/office/2018/10/relationships/comments" Target="../comments/modernComment_C44_40EF0AD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3" Type="http://schemas.microsoft.com/office/2018/10/relationships/comments" Target="../comments/modernComment_C60_DDA9C74A.xml"/><Relationship Id="rId7" Type="http://schemas.openxmlformats.org/officeDocument/2006/relationships/image" Target="../media/image57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10" Type="http://schemas.openxmlformats.org/officeDocument/2006/relationships/image" Target="../media/image1.png"/><Relationship Id="rId4" Type="http://schemas.openxmlformats.org/officeDocument/2006/relationships/image" Target="../media/image13.jpeg"/><Relationship Id="rId9" Type="http://schemas.openxmlformats.org/officeDocument/2006/relationships/image" Target="../media/image59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1.png"/><Relationship Id="rId2" Type="http://schemas.microsoft.com/office/2018/10/relationships/comments" Target="../comments/modernComment_C61_512F109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5.emf"/><Relationship Id="rId7" Type="http://schemas.openxmlformats.org/officeDocument/2006/relationships/image" Target="../media/image3.png"/><Relationship Id="rId2" Type="http://schemas.microsoft.com/office/2018/10/relationships/comments" Target="../comments/modernComment_C45_F285F9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2.png"/><Relationship Id="rId4" Type="http://schemas.openxmlformats.org/officeDocument/2006/relationships/image" Target="../media/image26.emf"/><Relationship Id="rId9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Active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78562" y="5819289"/>
            <a:ext cx="393723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 dirty="0">
                <a:solidFill>
                  <a:srgbClr val="777777"/>
                </a:solidFill>
                <a:latin typeface="Avenir Book"/>
              </a:rPr>
              <a:t>J. Schleinitz</a:t>
            </a:r>
            <a:endParaRPr lang="en-US" sz="1400" dirty="0">
              <a:solidFill>
                <a:srgbClr val="777777"/>
              </a:solidFill>
              <a:latin typeface="Avenir Book"/>
            </a:endParaRPr>
          </a:p>
          <a:p>
            <a:pPr algn="r"/>
            <a:r>
              <a:rPr lang="en-US" sz="1400" b="0" i="0" dirty="0">
                <a:solidFill>
                  <a:srgbClr val="777777"/>
                </a:solidFill>
                <a:latin typeface="Avenir Book"/>
              </a:rPr>
              <a:t>S</a:t>
            </a:r>
            <a:r>
              <a:rPr lang="en-US" sz="1400" dirty="0">
                <a:solidFill>
                  <a:srgbClr val="777777"/>
                </a:solidFill>
                <a:latin typeface="Avenir Book"/>
              </a:rPr>
              <a:t>ome slides were created using Claude Code</a:t>
            </a:r>
            <a:endParaRPr sz="1400" b="0" i="0" dirty="0">
              <a:solidFill>
                <a:srgbClr val="777777"/>
              </a:solidFill>
              <a:latin typeface="Avenir Boo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9CAC38-77E2-0EED-6415-723DC1DDE71A}"/>
              </a:ext>
            </a:extLst>
          </p:cNvPr>
          <p:cNvSpPr txBox="1"/>
          <p:nvPr/>
        </p:nvSpPr>
        <p:spPr>
          <a:xfrm>
            <a:off x="8547231" y="3082055"/>
            <a:ext cx="361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spcAft>
                <a:spcPts val="450"/>
              </a:spcAft>
              <a:defRPr/>
            </a:pP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0" name="Coins">
            <a:extLst>
              <a:ext uri="{FF2B5EF4-FFF2-40B4-BE49-F238E27FC236}">
                <a16:creationId xmlns:a16="http://schemas.microsoft.com/office/drawing/2014/main" id="{432700A9-E954-C46F-4FD6-B3EB372B5CF1}"/>
              </a:ext>
            </a:extLst>
          </p:cNvPr>
          <p:cNvSpPr/>
          <p:nvPr/>
        </p:nvSpPr>
        <p:spPr>
          <a:xfrm flipH="1">
            <a:off x="3728415" y="2895371"/>
            <a:ext cx="952997" cy="8532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7949" y="0"/>
                  <a:pt x="5266" y="392"/>
                  <a:pt x="3255" y="1111"/>
                </a:cubicBezTo>
                <a:cubicBezTo>
                  <a:pt x="1360" y="1787"/>
                  <a:pt x="273" y="2685"/>
                  <a:pt x="273" y="3572"/>
                </a:cubicBezTo>
                <a:cubicBezTo>
                  <a:pt x="273" y="4460"/>
                  <a:pt x="1360" y="5360"/>
                  <a:pt x="3255" y="6035"/>
                </a:cubicBezTo>
                <a:cubicBezTo>
                  <a:pt x="5266" y="6749"/>
                  <a:pt x="7949" y="7147"/>
                  <a:pt x="10801" y="7147"/>
                </a:cubicBezTo>
                <a:cubicBezTo>
                  <a:pt x="13652" y="7147"/>
                  <a:pt x="16334" y="6754"/>
                  <a:pt x="18345" y="6035"/>
                </a:cubicBezTo>
                <a:cubicBezTo>
                  <a:pt x="20240" y="5360"/>
                  <a:pt x="21327" y="4460"/>
                  <a:pt x="21327" y="3572"/>
                </a:cubicBezTo>
                <a:cubicBezTo>
                  <a:pt x="21327" y="2685"/>
                  <a:pt x="20240" y="1787"/>
                  <a:pt x="18345" y="1111"/>
                </a:cubicBezTo>
                <a:cubicBezTo>
                  <a:pt x="16334" y="398"/>
                  <a:pt x="13652" y="0"/>
                  <a:pt x="10801" y="0"/>
                </a:cubicBezTo>
                <a:close/>
                <a:moveTo>
                  <a:pt x="12" y="4505"/>
                </a:moveTo>
                <a:lnTo>
                  <a:pt x="12" y="5914"/>
                </a:lnTo>
                <a:cubicBezTo>
                  <a:pt x="12" y="8033"/>
                  <a:pt x="4846" y="9754"/>
                  <a:pt x="10811" y="9754"/>
                </a:cubicBezTo>
                <a:cubicBezTo>
                  <a:pt x="16776" y="9754"/>
                  <a:pt x="21600" y="8039"/>
                  <a:pt x="21600" y="5914"/>
                </a:cubicBezTo>
                <a:lnTo>
                  <a:pt x="21600" y="4505"/>
                </a:lnTo>
                <a:cubicBezTo>
                  <a:pt x="21136" y="5284"/>
                  <a:pt x="20088" y="5991"/>
                  <a:pt x="18531" y="6541"/>
                </a:cubicBezTo>
                <a:cubicBezTo>
                  <a:pt x="16460" y="7276"/>
                  <a:pt x="13718" y="7679"/>
                  <a:pt x="10806" y="7679"/>
                </a:cubicBezTo>
                <a:cubicBezTo>
                  <a:pt x="7894" y="7679"/>
                  <a:pt x="5146" y="7276"/>
                  <a:pt x="3081" y="6541"/>
                </a:cubicBezTo>
                <a:cubicBezTo>
                  <a:pt x="1524" y="5985"/>
                  <a:pt x="476" y="5284"/>
                  <a:pt x="12" y="4505"/>
                </a:cubicBezTo>
                <a:close/>
                <a:moveTo>
                  <a:pt x="0" y="7320"/>
                </a:moveTo>
                <a:lnTo>
                  <a:pt x="0" y="8284"/>
                </a:lnTo>
                <a:cubicBezTo>
                  <a:pt x="0" y="10402"/>
                  <a:pt x="4836" y="12123"/>
                  <a:pt x="10801" y="12123"/>
                </a:cubicBezTo>
                <a:cubicBezTo>
                  <a:pt x="16766" y="12123"/>
                  <a:pt x="21600" y="10408"/>
                  <a:pt x="21600" y="8284"/>
                </a:cubicBezTo>
                <a:lnTo>
                  <a:pt x="21600" y="7320"/>
                </a:lnTo>
                <a:cubicBezTo>
                  <a:pt x="21458" y="7495"/>
                  <a:pt x="21295" y="7664"/>
                  <a:pt x="21098" y="7827"/>
                </a:cubicBezTo>
                <a:cubicBezTo>
                  <a:pt x="20508" y="8329"/>
                  <a:pt x="19672" y="8769"/>
                  <a:pt x="18618" y="9145"/>
                </a:cubicBezTo>
                <a:cubicBezTo>
                  <a:pt x="16520" y="9891"/>
                  <a:pt x="13745" y="10299"/>
                  <a:pt x="10801" y="10299"/>
                </a:cubicBezTo>
                <a:cubicBezTo>
                  <a:pt x="7856" y="10299"/>
                  <a:pt x="5080" y="9891"/>
                  <a:pt x="2982" y="9145"/>
                </a:cubicBezTo>
                <a:cubicBezTo>
                  <a:pt x="1928" y="8769"/>
                  <a:pt x="1099" y="8329"/>
                  <a:pt x="504" y="7827"/>
                </a:cubicBezTo>
                <a:cubicBezTo>
                  <a:pt x="307" y="7664"/>
                  <a:pt x="142" y="7495"/>
                  <a:pt x="0" y="7320"/>
                </a:cubicBezTo>
                <a:close/>
                <a:moveTo>
                  <a:pt x="0" y="9689"/>
                </a:moveTo>
                <a:lnTo>
                  <a:pt x="0" y="10653"/>
                </a:lnTo>
                <a:cubicBezTo>
                  <a:pt x="0" y="12771"/>
                  <a:pt x="4836" y="14492"/>
                  <a:pt x="10801" y="14492"/>
                </a:cubicBezTo>
                <a:cubicBezTo>
                  <a:pt x="16766" y="14492"/>
                  <a:pt x="21600" y="12777"/>
                  <a:pt x="21600" y="10653"/>
                </a:cubicBezTo>
                <a:lnTo>
                  <a:pt x="21600" y="9689"/>
                </a:lnTo>
                <a:cubicBezTo>
                  <a:pt x="21458" y="9864"/>
                  <a:pt x="21295" y="10033"/>
                  <a:pt x="21098" y="10197"/>
                </a:cubicBezTo>
                <a:cubicBezTo>
                  <a:pt x="20508" y="10698"/>
                  <a:pt x="19672" y="11138"/>
                  <a:pt x="18618" y="11514"/>
                </a:cubicBezTo>
                <a:cubicBezTo>
                  <a:pt x="16520" y="12260"/>
                  <a:pt x="13745" y="12668"/>
                  <a:pt x="10801" y="12668"/>
                </a:cubicBezTo>
                <a:cubicBezTo>
                  <a:pt x="7856" y="12668"/>
                  <a:pt x="5080" y="12260"/>
                  <a:pt x="2982" y="11514"/>
                </a:cubicBezTo>
                <a:cubicBezTo>
                  <a:pt x="1928" y="11138"/>
                  <a:pt x="1099" y="10698"/>
                  <a:pt x="504" y="10197"/>
                </a:cubicBezTo>
                <a:cubicBezTo>
                  <a:pt x="307" y="10033"/>
                  <a:pt x="142" y="9864"/>
                  <a:pt x="0" y="9689"/>
                </a:cubicBezTo>
                <a:close/>
                <a:moveTo>
                  <a:pt x="0" y="12059"/>
                </a:moveTo>
                <a:lnTo>
                  <a:pt x="0" y="13022"/>
                </a:lnTo>
                <a:cubicBezTo>
                  <a:pt x="0" y="15141"/>
                  <a:pt x="4836" y="16862"/>
                  <a:pt x="10801" y="16862"/>
                </a:cubicBezTo>
                <a:cubicBezTo>
                  <a:pt x="16766" y="16862"/>
                  <a:pt x="21600" y="15146"/>
                  <a:pt x="21600" y="13022"/>
                </a:cubicBezTo>
                <a:lnTo>
                  <a:pt x="21600" y="12059"/>
                </a:lnTo>
                <a:cubicBezTo>
                  <a:pt x="21458" y="12233"/>
                  <a:pt x="21295" y="12402"/>
                  <a:pt x="21098" y="12566"/>
                </a:cubicBezTo>
                <a:cubicBezTo>
                  <a:pt x="20508" y="13067"/>
                  <a:pt x="19672" y="13507"/>
                  <a:pt x="18618" y="13883"/>
                </a:cubicBezTo>
                <a:cubicBezTo>
                  <a:pt x="16520" y="14629"/>
                  <a:pt x="13745" y="15037"/>
                  <a:pt x="10801" y="15037"/>
                </a:cubicBezTo>
                <a:cubicBezTo>
                  <a:pt x="7856" y="15037"/>
                  <a:pt x="5080" y="14629"/>
                  <a:pt x="2982" y="13883"/>
                </a:cubicBezTo>
                <a:cubicBezTo>
                  <a:pt x="1928" y="13507"/>
                  <a:pt x="1099" y="13067"/>
                  <a:pt x="504" y="12566"/>
                </a:cubicBezTo>
                <a:cubicBezTo>
                  <a:pt x="307" y="12402"/>
                  <a:pt x="142" y="12233"/>
                  <a:pt x="0" y="12059"/>
                </a:cubicBezTo>
                <a:close/>
                <a:moveTo>
                  <a:pt x="0" y="14428"/>
                </a:moveTo>
                <a:lnTo>
                  <a:pt x="0" y="15391"/>
                </a:lnTo>
                <a:cubicBezTo>
                  <a:pt x="0" y="17510"/>
                  <a:pt x="4836" y="19231"/>
                  <a:pt x="10801" y="19231"/>
                </a:cubicBezTo>
                <a:cubicBezTo>
                  <a:pt x="16766" y="19231"/>
                  <a:pt x="21600" y="17515"/>
                  <a:pt x="21600" y="15391"/>
                </a:cubicBezTo>
                <a:lnTo>
                  <a:pt x="21600" y="14428"/>
                </a:lnTo>
                <a:cubicBezTo>
                  <a:pt x="21458" y="14602"/>
                  <a:pt x="21295" y="14772"/>
                  <a:pt x="21098" y="14935"/>
                </a:cubicBezTo>
                <a:cubicBezTo>
                  <a:pt x="20508" y="15436"/>
                  <a:pt x="19672" y="15877"/>
                  <a:pt x="18618" y="16252"/>
                </a:cubicBezTo>
                <a:cubicBezTo>
                  <a:pt x="16520" y="16998"/>
                  <a:pt x="13745" y="17406"/>
                  <a:pt x="10801" y="17406"/>
                </a:cubicBezTo>
                <a:cubicBezTo>
                  <a:pt x="7856" y="17406"/>
                  <a:pt x="5080" y="16998"/>
                  <a:pt x="2982" y="16252"/>
                </a:cubicBezTo>
                <a:cubicBezTo>
                  <a:pt x="1928" y="15877"/>
                  <a:pt x="1099" y="15436"/>
                  <a:pt x="504" y="14935"/>
                </a:cubicBezTo>
                <a:cubicBezTo>
                  <a:pt x="307" y="14772"/>
                  <a:pt x="142" y="14602"/>
                  <a:pt x="0" y="14428"/>
                </a:cubicBezTo>
                <a:close/>
                <a:moveTo>
                  <a:pt x="0" y="16797"/>
                </a:moveTo>
                <a:lnTo>
                  <a:pt x="0" y="17760"/>
                </a:lnTo>
                <a:cubicBezTo>
                  <a:pt x="0" y="19879"/>
                  <a:pt x="4836" y="21600"/>
                  <a:pt x="10801" y="21600"/>
                </a:cubicBezTo>
                <a:cubicBezTo>
                  <a:pt x="16766" y="21600"/>
                  <a:pt x="21600" y="19879"/>
                  <a:pt x="21600" y="17760"/>
                </a:cubicBezTo>
                <a:lnTo>
                  <a:pt x="21600" y="16797"/>
                </a:lnTo>
                <a:cubicBezTo>
                  <a:pt x="21458" y="16971"/>
                  <a:pt x="21295" y="17141"/>
                  <a:pt x="21098" y="17304"/>
                </a:cubicBezTo>
                <a:cubicBezTo>
                  <a:pt x="20508" y="17805"/>
                  <a:pt x="19672" y="18246"/>
                  <a:pt x="18618" y="18622"/>
                </a:cubicBezTo>
                <a:cubicBezTo>
                  <a:pt x="16520" y="19368"/>
                  <a:pt x="13745" y="19775"/>
                  <a:pt x="10801" y="19775"/>
                </a:cubicBezTo>
                <a:cubicBezTo>
                  <a:pt x="7856" y="19775"/>
                  <a:pt x="5080" y="19368"/>
                  <a:pt x="2982" y="18622"/>
                </a:cubicBezTo>
                <a:cubicBezTo>
                  <a:pt x="1928" y="18246"/>
                  <a:pt x="1099" y="17805"/>
                  <a:pt x="504" y="17304"/>
                </a:cubicBezTo>
                <a:cubicBezTo>
                  <a:pt x="307" y="17141"/>
                  <a:pt x="142" y="16971"/>
                  <a:pt x="0" y="16797"/>
                </a:cubicBezTo>
                <a:close/>
              </a:path>
            </a:pathLst>
          </a:custGeom>
          <a:solidFill>
            <a:srgbClr val="E0DDBF"/>
          </a:solidFill>
          <a:ln w="12700">
            <a:miter lim="400000"/>
          </a:ln>
        </p:spPr>
        <p:txBody>
          <a:bodyPr lIns="45719" rIns="45719" anchor="ctr"/>
          <a:lstStyle/>
          <a:p>
            <a:endParaRPr dirty="0">
              <a:latin typeface="Avenir Book" panose="02000503020000020003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CEA4A5-74E4-2A09-F82B-14ECCBC1A488}"/>
              </a:ext>
            </a:extLst>
          </p:cNvPr>
          <p:cNvSpPr txBox="1"/>
          <p:nvPr/>
        </p:nvSpPr>
        <p:spPr>
          <a:xfrm>
            <a:off x="7969638" y="3391975"/>
            <a:ext cx="2361751" cy="71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spcAft>
                <a:spcPts val="45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Design/Select</a:t>
            </a:r>
          </a:p>
          <a:p>
            <a:pPr algn="ctr" defTabSz="342900">
              <a:spcAft>
                <a:spcPts val="45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Experiments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910E4C-0306-3129-F12B-0DE9EAD7CB9B}"/>
              </a:ext>
            </a:extLst>
          </p:cNvPr>
          <p:cNvSpPr txBox="1"/>
          <p:nvPr/>
        </p:nvSpPr>
        <p:spPr>
          <a:xfrm>
            <a:off x="2889945" y="5478734"/>
            <a:ext cx="2004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spcAft>
                <a:spcPts val="45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Perform Experiment</a:t>
            </a:r>
          </a:p>
        </p:txBody>
      </p:sp>
      <p:pic>
        <p:nvPicPr>
          <p:cNvPr id="18" name="chimiste_fou.png" descr="chimiste_fou.png">
            <a:extLst>
              <a:ext uri="{FF2B5EF4-FFF2-40B4-BE49-F238E27FC236}">
                <a16:creationId xmlns:a16="http://schemas.microsoft.com/office/drawing/2014/main" id="{12886FC4-5451-2027-CBC4-891103DDCA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3940"/>
          <a:stretch>
            <a:fillRect/>
          </a:stretch>
        </p:blipFill>
        <p:spPr>
          <a:xfrm>
            <a:off x="3454862" y="4616524"/>
            <a:ext cx="725913" cy="70570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7CE6A51-5912-CAF3-95B3-DEFC85BA1131}"/>
              </a:ext>
            </a:extLst>
          </p:cNvPr>
          <p:cNvSpPr txBox="1"/>
          <p:nvPr/>
        </p:nvSpPr>
        <p:spPr>
          <a:xfrm>
            <a:off x="3054588" y="1893648"/>
            <a:ext cx="2004996" cy="311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spcAft>
                <a:spcPts val="45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Train model</a:t>
            </a:r>
          </a:p>
        </p:txBody>
      </p:sp>
      <p:pic>
        <p:nvPicPr>
          <p:cNvPr id="23" name="computer_ml.png" descr="computer_ml.png">
            <a:extLst>
              <a:ext uri="{FF2B5EF4-FFF2-40B4-BE49-F238E27FC236}">
                <a16:creationId xmlns:a16="http://schemas.microsoft.com/office/drawing/2014/main" id="{D4B6D153-3A26-EC09-5701-B5D481109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123" y="1215246"/>
            <a:ext cx="859115" cy="656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" name="chimiste_fou.png" descr="chimiste_fou.png">
            <a:extLst>
              <a:ext uri="{FF2B5EF4-FFF2-40B4-BE49-F238E27FC236}">
                <a16:creationId xmlns:a16="http://schemas.microsoft.com/office/drawing/2014/main" id="{98747E52-3E2A-297A-98B4-621F2CC9C0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3940"/>
          <a:stretch>
            <a:fillRect/>
          </a:stretch>
        </p:blipFill>
        <p:spPr>
          <a:xfrm>
            <a:off x="8254762" y="2574284"/>
            <a:ext cx="725913" cy="705705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computer_ml.png" descr="computer_ml.png">
            <a:extLst>
              <a:ext uri="{FF2B5EF4-FFF2-40B4-BE49-F238E27FC236}">
                <a16:creationId xmlns:a16="http://schemas.microsoft.com/office/drawing/2014/main" id="{7F7ADDDC-8F33-97C9-FCB0-D0EA19B84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9707" y="2618240"/>
            <a:ext cx="859115" cy="656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006BE78-7DB6-F5B9-C5CC-F2BC5BCA8D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5545" y="1751536"/>
            <a:ext cx="859114" cy="859114"/>
          </a:xfrm>
          <a:prstGeom prst="rect">
            <a:avLst/>
          </a:prstGeom>
        </p:spPr>
      </p:pic>
      <p:sp>
        <p:nvSpPr>
          <p:cNvPr id="28" name="Circular Arrow 27">
            <a:extLst>
              <a:ext uri="{FF2B5EF4-FFF2-40B4-BE49-F238E27FC236}">
                <a16:creationId xmlns:a16="http://schemas.microsoft.com/office/drawing/2014/main" id="{D54541B2-F2DF-D18C-CCEB-C3F3683D1778}"/>
              </a:ext>
            </a:extLst>
          </p:cNvPr>
          <p:cNvSpPr>
            <a:spLocks/>
          </p:cNvSpPr>
          <p:nvPr/>
        </p:nvSpPr>
        <p:spPr>
          <a:xfrm rot="10800000">
            <a:off x="4020386" y="1666872"/>
            <a:ext cx="3931920" cy="3931920"/>
          </a:xfrm>
          <a:prstGeom prst="circularArrow">
            <a:avLst>
              <a:gd name="adj1" fmla="val 1674"/>
              <a:gd name="adj2" fmla="val 507254"/>
              <a:gd name="adj3" fmla="val 20490491"/>
              <a:gd name="adj4" fmla="val 16254404"/>
              <a:gd name="adj5" fmla="val 22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Circular Arrow 28">
            <a:extLst>
              <a:ext uri="{FF2B5EF4-FFF2-40B4-BE49-F238E27FC236}">
                <a16:creationId xmlns:a16="http://schemas.microsoft.com/office/drawing/2014/main" id="{1D659D9D-CEA9-1946-0364-CC1BCD0818FB}"/>
              </a:ext>
            </a:extLst>
          </p:cNvPr>
          <p:cNvSpPr>
            <a:spLocks/>
          </p:cNvSpPr>
          <p:nvPr/>
        </p:nvSpPr>
        <p:spPr>
          <a:xfrm rot="17940212">
            <a:off x="4017144" y="1683085"/>
            <a:ext cx="3931920" cy="3931920"/>
          </a:xfrm>
          <a:prstGeom prst="circularArrow">
            <a:avLst>
              <a:gd name="adj1" fmla="val 1674"/>
              <a:gd name="adj2" fmla="val 507254"/>
              <a:gd name="adj3" fmla="val 20490491"/>
              <a:gd name="adj4" fmla="val 16254404"/>
              <a:gd name="adj5" fmla="val 22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0" name="chimiste_fou.png" descr="chimiste_fou.png">
            <a:extLst>
              <a:ext uri="{FF2B5EF4-FFF2-40B4-BE49-F238E27FC236}">
                <a16:creationId xmlns:a16="http://schemas.microsoft.com/office/drawing/2014/main" id="{18C91BFC-03D8-B417-FA5D-21C5583705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534" r="64865" b="-1"/>
          <a:stretch>
            <a:fillRect/>
          </a:stretch>
        </p:blipFill>
        <p:spPr>
          <a:xfrm>
            <a:off x="6131809" y="4799056"/>
            <a:ext cx="533276" cy="1113906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Freeform 30">
            <a:extLst>
              <a:ext uri="{FF2B5EF4-FFF2-40B4-BE49-F238E27FC236}">
                <a16:creationId xmlns:a16="http://schemas.microsoft.com/office/drawing/2014/main" id="{90356E03-2154-D36D-CFBB-7724962BA5DD}"/>
              </a:ext>
            </a:extLst>
          </p:cNvPr>
          <p:cNvSpPr/>
          <p:nvPr/>
        </p:nvSpPr>
        <p:spPr>
          <a:xfrm>
            <a:off x="6485466" y="5190067"/>
            <a:ext cx="313267" cy="711200"/>
          </a:xfrm>
          <a:custGeom>
            <a:avLst/>
            <a:gdLst>
              <a:gd name="csX0" fmla="*/ 262467 w 313267"/>
              <a:gd name="csY0" fmla="*/ 0 h 711200"/>
              <a:gd name="csX1" fmla="*/ 262467 w 313267"/>
              <a:gd name="csY1" fmla="*/ 0 h 711200"/>
              <a:gd name="csX2" fmla="*/ 118534 w 313267"/>
              <a:gd name="csY2" fmla="*/ 101600 h 711200"/>
              <a:gd name="csX3" fmla="*/ 76200 w 313267"/>
              <a:gd name="csY3" fmla="*/ 143933 h 711200"/>
              <a:gd name="csX4" fmla="*/ 59267 w 313267"/>
              <a:gd name="csY4" fmla="*/ 169333 h 711200"/>
              <a:gd name="csX5" fmla="*/ 25400 w 313267"/>
              <a:gd name="csY5" fmla="*/ 220133 h 711200"/>
              <a:gd name="csX6" fmla="*/ 0 w 313267"/>
              <a:gd name="csY6" fmla="*/ 228600 h 711200"/>
              <a:gd name="csX7" fmla="*/ 16934 w 313267"/>
              <a:gd name="csY7" fmla="*/ 347133 h 711200"/>
              <a:gd name="csX8" fmla="*/ 33867 w 313267"/>
              <a:gd name="csY8" fmla="*/ 397933 h 711200"/>
              <a:gd name="csX9" fmla="*/ 59267 w 313267"/>
              <a:gd name="csY9" fmla="*/ 448733 h 711200"/>
              <a:gd name="csX10" fmla="*/ 93134 w 313267"/>
              <a:gd name="csY10" fmla="*/ 499533 h 711200"/>
              <a:gd name="csX11" fmla="*/ 101600 w 313267"/>
              <a:gd name="csY11" fmla="*/ 524933 h 711200"/>
              <a:gd name="csX12" fmla="*/ 118534 w 313267"/>
              <a:gd name="csY12" fmla="*/ 550333 h 711200"/>
              <a:gd name="csX13" fmla="*/ 143934 w 313267"/>
              <a:gd name="csY13" fmla="*/ 635000 h 711200"/>
              <a:gd name="csX14" fmla="*/ 160867 w 313267"/>
              <a:gd name="csY14" fmla="*/ 660400 h 711200"/>
              <a:gd name="csX15" fmla="*/ 177800 w 313267"/>
              <a:gd name="csY15" fmla="*/ 711200 h 711200"/>
              <a:gd name="csX16" fmla="*/ 228600 w 313267"/>
              <a:gd name="csY16" fmla="*/ 702733 h 711200"/>
              <a:gd name="csX17" fmla="*/ 254000 w 313267"/>
              <a:gd name="csY17" fmla="*/ 651933 h 711200"/>
              <a:gd name="csX18" fmla="*/ 270934 w 313267"/>
              <a:gd name="csY18" fmla="*/ 626533 h 711200"/>
              <a:gd name="csX19" fmla="*/ 287867 w 313267"/>
              <a:gd name="csY19" fmla="*/ 575733 h 711200"/>
              <a:gd name="csX20" fmla="*/ 296334 w 313267"/>
              <a:gd name="csY20" fmla="*/ 550333 h 711200"/>
              <a:gd name="csX21" fmla="*/ 313267 w 313267"/>
              <a:gd name="csY21" fmla="*/ 491066 h 711200"/>
              <a:gd name="csX22" fmla="*/ 304800 w 313267"/>
              <a:gd name="csY22" fmla="*/ 338666 h 711200"/>
              <a:gd name="csX23" fmla="*/ 270934 w 313267"/>
              <a:gd name="csY23" fmla="*/ 220133 h 711200"/>
              <a:gd name="csX24" fmla="*/ 254000 w 313267"/>
              <a:gd name="csY24" fmla="*/ 152400 h 711200"/>
              <a:gd name="csX25" fmla="*/ 245534 w 313267"/>
              <a:gd name="csY25" fmla="*/ 127000 h 711200"/>
              <a:gd name="csX26" fmla="*/ 262467 w 313267"/>
              <a:gd name="csY26" fmla="*/ 0 h 71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13267" h="711200">
                <a:moveTo>
                  <a:pt x="262467" y="0"/>
                </a:moveTo>
                <a:lnTo>
                  <a:pt x="262467" y="0"/>
                </a:lnTo>
                <a:cubicBezTo>
                  <a:pt x="148307" y="62269"/>
                  <a:pt x="194341" y="25794"/>
                  <a:pt x="118534" y="101600"/>
                </a:cubicBezTo>
                <a:lnTo>
                  <a:pt x="76200" y="143933"/>
                </a:lnTo>
                <a:cubicBezTo>
                  <a:pt x="70556" y="152400"/>
                  <a:pt x="63818" y="160232"/>
                  <a:pt x="59267" y="169333"/>
                </a:cubicBezTo>
                <a:cubicBezTo>
                  <a:pt x="43733" y="200401"/>
                  <a:pt x="61512" y="196058"/>
                  <a:pt x="25400" y="220133"/>
                </a:cubicBezTo>
                <a:cubicBezTo>
                  <a:pt x="17974" y="225084"/>
                  <a:pt x="8467" y="225778"/>
                  <a:pt x="0" y="228600"/>
                </a:cubicBezTo>
                <a:cubicBezTo>
                  <a:pt x="5885" y="287446"/>
                  <a:pt x="3122" y="301094"/>
                  <a:pt x="16934" y="347133"/>
                </a:cubicBezTo>
                <a:cubicBezTo>
                  <a:pt x="22063" y="364230"/>
                  <a:pt x="23966" y="383081"/>
                  <a:pt x="33867" y="397933"/>
                </a:cubicBezTo>
                <a:cubicBezTo>
                  <a:pt x="109048" y="510706"/>
                  <a:pt x="837" y="343560"/>
                  <a:pt x="59267" y="448733"/>
                </a:cubicBezTo>
                <a:cubicBezTo>
                  <a:pt x="69151" y="466523"/>
                  <a:pt x="93134" y="499533"/>
                  <a:pt x="93134" y="499533"/>
                </a:cubicBezTo>
                <a:cubicBezTo>
                  <a:pt x="95956" y="508000"/>
                  <a:pt x="97609" y="516951"/>
                  <a:pt x="101600" y="524933"/>
                </a:cubicBezTo>
                <a:cubicBezTo>
                  <a:pt x="106151" y="534035"/>
                  <a:pt x="114526" y="540980"/>
                  <a:pt x="118534" y="550333"/>
                </a:cubicBezTo>
                <a:cubicBezTo>
                  <a:pt x="132736" y="583472"/>
                  <a:pt x="121161" y="600840"/>
                  <a:pt x="143934" y="635000"/>
                </a:cubicBezTo>
                <a:cubicBezTo>
                  <a:pt x="149578" y="643467"/>
                  <a:pt x="156734" y="651101"/>
                  <a:pt x="160867" y="660400"/>
                </a:cubicBezTo>
                <a:cubicBezTo>
                  <a:pt x="168116" y="676711"/>
                  <a:pt x="177800" y="711200"/>
                  <a:pt x="177800" y="711200"/>
                </a:cubicBezTo>
                <a:cubicBezTo>
                  <a:pt x="194733" y="708378"/>
                  <a:pt x="213245" y="710410"/>
                  <a:pt x="228600" y="702733"/>
                </a:cubicBezTo>
                <a:cubicBezTo>
                  <a:pt x="244779" y="694644"/>
                  <a:pt x="247320" y="665292"/>
                  <a:pt x="254000" y="651933"/>
                </a:cubicBezTo>
                <a:cubicBezTo>
                  <a:pt x="258551" y="642831"/>
                  <a:pt x="265289" y="635000"/>
                  <a:pt x="270934" y="626533"/>
                </a:cubicBezTo>
                <a:lnTo>
                  <a:pt x="287867" y="575733"/>
                </a:lnTo>
                <a:cubicBezTo>
                  <a:pt x="290689" y="567266"/>
                  <a:pt x="294170" y="558991"/>
                  <a:pt x="296334" y="550333"/>
                </a:cubicBezTo>
                <a:cubicBezTo>
                  <a:pt x="306964" y="507808"/>
                  <a:pt x="301120" y="527505"/>
                  <a:pt x="313267" y="491066"/>
                </a:cubicBezTo>
                <a:cubicBezTo>
                  <a:pt x="310445" y="440266"/>
                  <a:pt x="310220" y="389255"/>
                  <a:pt x="304800" y="338666"/>
                </a:cubicBezTo>
                <a:cubicBezTo>
                  <a:pt x="287941" y="181314"/>
                  <a:pt x="299620" y="306190"/>
                  <a:pt x="270934" y="220133"/>
                </a:cubicBezTo>
                <a:cubicBezTo>
                  <a:pt x="263574" y="198055"/>
                  <a:pt x="261359" y="174478"/>
                  <a:pt x="254000" y="152400"/>
                </a:cubicBezTo>
                <a:lnTo>
                  <a:pt x="245534" y="127000"/>
                </a:lnTo>
                <a:cubicBezTo>
                  <a:pt x="254628" y="36054"/>
                  <a:pt x="259645" y="21167"/>
                  <a:pt x="262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chimiste_fou.png" descr="chimiste_fou.png">
            <a:extLst>
              <a:ext uri="{FF2B5EF4-FFF2-40B4-BE49-F238E27FC236}">
                <a16:creationId xmlns:a16="http://schemas.microsoft.com/office/drawing/2014/main" id="{956323DD-5825-C6BB-F02F-F97588B87A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534" r="64865" b="-1"/>
          <a:stretch>
            <a:fillRect/>
          </a:stretch>
        </p:blipFill>
        <p:spPr>
          <a:xfrm>
            <a:off x="6614284" y="4555973"/>
            <a:ext cx="533276" cy="1113906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Freeform 32">
            <a:extLst>
              <a:ext uri="{FF2B5EF4-FFF2-40B4-BE49-F238E27FC236}">
                <a16:creationId xmlns:a16="http://schemas.microsoft.com/office/drawing/2014/main" id="{D38D2953-7FD7-AB12-26D6-840B73C7576B}"/>
              </a:ext>
            </a:extLst>
          </p:cNvPr>
          <p:cNvSpPr/>
          <p:nvPr/>
        </p:nvSpPr>
        <p:spPr>
          <a:xfrm>
            <a:off x="6967941" y="4946984"/>
            <a:ext cx="313267" cy="711200"/>
          </a:xfrm>
          <a:custGeom>
            <a:avLst/>
            <a:gdLst>
              <a:gd name="csX0" fmla="*/ 262467 w 313267"/>
              <a:gd name="csY0" fmla="*/ 0 h 711200"/>
              <a:gd name="csX1" fmla="*/ 262467 w 313267"/>
              <a:gd name="csY1" fmla="*/ 0 h 711200"/>
              <a:gd name="csX2" fmla="*/ 118534 w 313267"/>
              <a:gd name="csY2" fmla="*/ 101600 h 711200"/>
              <a:gd name="csX3" fmla="*/ 76200 w 313267"/>
              <a:gd name="csY3" fmla="*/ 143933 h 711200"/>
              <a:gd name="csX4" fmla="*/ 59267 w 313267"/>
              <a:gd name="csY4" fmla="*/ 169333 h 711200"/>
              <a:gd name="csX5" fmla="*/ 25400 w 313267"/>
              <a:gd name="csY5" fmla="*/ 220133 h 711200"/>
              <a:gd name="csX6" fmla="*/ 0 w 313267"/>
              <a:gd name="csY6" fmla="*/ 228600 h 711200"/>
              <a:gd name="csX7" fmla="*/ 16934 w 313267"/>
              <a:gd name="csY7" fmla="*/ 347133 h 711200"/>
              <a:gd name="csX8" fmla="*/ 33867 w 313267"/>
              <a:gd name="csY8" fmla="*/ 397933 h 711200"/>
              <a:gd name="csX9" fmla="*/ 59267 w 313267"/>
              <a:gd name="csY9" fmla="*/ 448733 h 711200"/>
              <a:gd name="csX10" fmla="*/ 93134 w 313267"/>
              <a:gd name="csY10" fmla="*/ 499533 h 711200"/>
              <a:gd name="csX11" fmla="*/ 101600 w 313267"/>
              <a:gd name="csY11" fmla="*/ 524933 h 711200"/>
              <a:gd name="csX12" fmla="*/ 118534 w 313267"/>
              <a:gd name="csY12" fmla="*/ 550333 h 711200"/>
              <a:gd name="csX13" fmla="*/ 143934 w 313267"/>
              <a:gd name="csY13" fmla="*/ 635000 h 711200"/>
              <a:gd name="csX14" fmla="*/ 160867 w 313267"/>
              <a:gd name="csY14" fmla="*/ 660400 h 711200"/>
              <a:gd name="csX15" fmla="*/ 177800 w 313267"/>
              <a:gd name="csY15" fmla="*/ 711200 h 711200"/>
              <a:gd name="csX16" fmla="*/ 228600 w 313267"/>
              <a:gd name="csY16" fmla="*/ 702733 h 711200"/>
              <a:gd name="csX17" fmla="*/ 254000 w 313267"/>
              <a:gd name="csY17" fmla="*/ 651933 h 711200"/>
              <a:gd name="csX18" fmla="*/ 270934 w 313267"/>
              <a:gd name="csY18" fmla="*/ 626533 h 711200"/>
              <a:gd name="csX19" fmla="*/ 287867 w 313267"/>
              <a:gd name="csY19" fmla="*/ 575733 h 711200"/>
              <a:gd name="csX20" fmla="*/ 296334 w 313267"/>
              <a:gd name="csY20" fmla="*/ 550333 h 711200"/>
              <a:gd name="csX21" fmla="*/ 313267 w 313267"/>
              <a:gd name="csY21" fmla="*/ 491066 h 711200"/>
              <a:gd name="csX22" fmla="*/ 304800 w 313267"/>
              <a:gd name="csY22" fmla="*/ 338666 h 711200"/>
              <a:gd name="csX23" fmla="*/ 270934 w 313267"/>
              <a:gd name="csY23" fmla="*/ 220133 h 711200"/>
              <a:gd name="csX24" fmla="*/ 254000 w 313267"/>
              <a:gd name="csY24" fmla="*/ 152400 h 711200"/>
              <a:gd name="csX25" fmla="*/ 245534 w 313267"/>
              <a:gd name="csY25" fmla="*/ 127000 h 711200"/>
              <a:gd name="csX26" fmla="*/ 262467 w 313267"/>
              <a:gd name="csY26" fmla="*/ 0 h 71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13267" h="711200">
                <a:moveTo>
                  <a:pt x="262467" y="0"/>
                </a:moveTo>
                <a:lnTo>
                  <a:pt x="262467" y="0"/>
                </a:lnTo>
                <a:cubicBezTo>
                  <a:pt x="148307" y="62269"/>
                  <a:pt x="194341" y="25794"/>
                  <a:pt x="118534" y="101600"/>
                </a:cubicBezTo>
                <a:lnTo>
                  <a:pt x="76200" y="143933"/>
                </a:lnTo>
                <a:cubicBezTo>
                  <a:pt x="70556" y="152400"/>
                  <a:pt x="63818" y="160232"/>
                  <a:pt x="59267" y="169333"/>
                </a:cubicBezTo>
                <a:cubicBezTo>
                  <a:pt x="43733" y="200401"/>
                  <a:pt x="61512" y="196058"/>
                  <a:pt x="25400" y="220133"/>
                </a:cubicBezTo>
                <a:cubicBezTo>
                  <a:pt x="17974" y="225084"/>
                  <a:pt x="8467" y="225778"/>
                  <a:pt x="0" y="228600"/>
                </a:cubicBezTo>
                <a:cubicBezTo>
                  <a:pt x="5885" y="287446"/>
                  <a:pt x="3122" y="301094"/>
                  <a:pt x="16934" y="347133"/>
                </a:cubicBezTo>
                <a:cubicBezTo>
                  <a:pt x="22063" y="364230"/>
                  <a:pt x="23966" y="383081"/>
                  <a:pt x="33867" y="397933"/>
                </a:cubicBezTo>
                <a:cubicBezTo>
                  <a:pt x="109048" y="510706"/>
                  <a:pt x="837" y="343560"/>
                  <a:pt x="59267" y="448733"/>
                </a:cubicBezTo>
                <a:cubicBezTo>
                  <a:pt x="69151" y="466523"/>
                  <a:pt x="93134" y="499533"/>
                  <a:pt x="93134" y="499533"/>
                </a:cubicBezTo>
                <a:cubicBezTo>
                  <a:pt x="95956" y="508000"/>
                  <a:pt x="97609" y="516951"/>
                  <a:pt x="101600" y="524933"/>
                </a:cubicBezTo>
                <a:cubicBezTo>
                  <a:pt x="106151" y="534035"/>
                  <a:pt x="114526" y="540980"/>
                  <a:pt x="118534" y="550333"/>
                </a:cubicBezTo>
                <a:cubicBezTo>
                  <a:pt x="132736" y="583472"/>
                  <a:pt x="121161" y="600840"/>
                  <a:pt x="143934" y="635000"/>
                </a:cubicBezTo>
                <a:cubicBezTo>
                  <a:pt x="149578" y="643467"/>
                  <a:pt x="156734" y="651101"/>
                  <a:pt x="160867" y="660400"/>
                </a:cubicBezTo>
                <a:cubicBezTo>
                  <a:pt x="168116" y="676711"/>
                  <a:pt x="177800" y="711200"/>
                  <a:pt x="177800" y="711200"/>
                </a:cubicBezTo>
                <a:cubicBezTo>
                  <a:pt x="194733" y="708378"/>
                  <a:pt x="213245" y="710410"/>
                  <a:pt x="228600" y="702733"/>
                </a:cubicBezTo>
                <a:cubicBezTo>
                  <a:pt x="244779" y="694644"/>
                  <a:pt x="247320" y="665292"/>
                  <a:pt x="254000" y="651933"/>
                </a:cubicBezTo>
                <a:cubicBezTo>
                  <a:pt x="258551" y="642831"/>
                  <a:pt x="265289" y="635000"/>
                  <a:pt x="270934" y="626533"/>
                </a:cubicBezTo>
                <a:lnTo>
                  <a:pt x="287867" y="575733"/>
                </a:lnTo>
                <a:cubicBezTo>
                  <a:pt x="290689" y="567266"/>
                  <a:pt x="294170" y="558991"/>
                  <a:pt x="296334" y="550333"/>
                </a:cubicBezTo>
                <a:cubicBezTo>
                  <a:pt x="306964" y="507808"/>
                  <a:pt x="301120" y="527505"/>
                  <a:pt x="313267" y="491066"/>
                </a:cubicBezTo>
                <a:cubicBezTo>
                  <a:pt x="310445" y="440266"/>
                  <a:pt x="310220" y="389255"/>
                  <a:pt x="304800" y="338666"/>
                </a:cubicBezTo>
                <a:cubicBezTo>
                  <a:pt x="287941" y="181314"/>
                  <a:pt x="299620" y="306190"/>
                  <a:pt x="270934" y="220133"/>
                </a:cubicBezTo>
                <a:cubicBezTo>
                  <a:pt x="263574" y="198055"/>
                  <a:pt x="261359" y="174478"/>
                  <a:pt x="254000" y="152400"/>
                </a:cubicBezTo>
                <a:lnTo>
                  <a:pt x="245534" y="127000"/>
                </a:lnTo>
                <a:cubicBezTo>
                  <a:pt x="254628" y="36054"/>
                  <a:pt x="259645" y="21167"/>
                  <a:pt x="262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ircular Arrow 15">
            <a:extLst>
              <a:ext uri="{FF2B5EF4-FFF2-40B4-BE49-F238E27FC236}">
                <a16:creationId xmlns:a16="http://schemas.microsoft.com/office/drawing/2014/main" id="{35D6B6EC-11CB-E4B9-85DF-C09D37D61E4A}"/>
              </a:ext>
            </a:extLst>
          </p:cNvPr>
          <p:cNvSpPr>
            <a:spLocks/>
          </p:cNvSpPr>
          <p:nvPr/>
        </p:nvSpPr>
        <p:spPr>
          <a:xfrm rot="3747382">
            <a:off x="4023626" y="1670112"/>
            <a:ext cx="3931920" cy="3931920"/>
          </a:xfrm>
          <a:prstGeom prst="circularArrow">
            <a:avLst>
              <a:gd name="adj1" fmla="val 1674"/>
              <a:gd name="adj2" fmla="val 507254"/>
              <a:gd name="adj3" fmla="val 20490491"/>
              <a:gd name="adj4" fmla="val 16254404"/>
              <a:gd name="adj5" fmla="val 227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32560" y="2085798"/>
            <a:ext cx="932688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i="0" dirty="0">
                <a:latin typeface="Avenir Book"/>
              </a:rPr>
              <a:t>1 · The </a:t>
            </a:r>
            <a:r>
              <a:rPr lang="en-US" b="1" i="0" dirty="0">
                <a:latin typeface="Avenir Book"/>
              </a:rPr>
              <a:t>BO/AL </a:t>
            </a:r>
            <a:r>
              <a:rPr b="1" i="0" dirty="0">
                <a:latin typeface="Avenir Book"/>
              </a:rPr>
              <a:t>loop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2 · </a:t>
            </a:r>
            <a:r>
              <a:rPr lang="en-US" b="0" i="0" dirty="0">
                <a:latin typeface="Avenir Book"/>
              </a:rPr>
              <a:t>Objective = </a:t>
            </a:r>
            <a:r>
              <a:rPr b="0" i="0" dirty="0">
                <a:latin typeface="Avenir Book"/>
              </a:rPr>
              <a:t>model </a:t>
            </a:r>
            <a:r>
              <a:rPr lang="en-US" b="0" i="0" dirty="0">
                <a:latin typeface="Avenir Book"/>
              </a:rPr>
              <a:t>improvement</a:t>
            </a:r>
            <a:endParaRPr b="0" i="0" dirty="0">
              <a:latin typeface="Avenir Book"/>
            </a:endParaRP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3 · What changes in the acquisition function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4 · A worked example: regioselectivity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5 · Which uncertainty is worth buying?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6 · Practical issues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7 · Active learning in the wild — and what is not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8 ·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 dirty="0">
                <a:solidFill>
                  <a:srgbClr val="123830"/>
                </a:solidFill>
                <a:latin typeface="Avenir Book"/>
              </a:rPr>
              <a:t>The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642504D-522F-BE5A-3C60-98B76154C080}"/>
              </a:ext>
            </a:extLst>
          </p:cNvPr>
          <p:cNvGrpSpPr/>
          <p:nvPr/>
        </p:nvGrpSpPr>
        <p:grpSpPr>
          <a:xfrm>
            <a:off x="7689385" y="1892140"/>
            <a:ext cx="4187952" cy="1188720"/>
            <a:chOff x="7689385" y="1892140"/>
            <a:chExt cx="4187952" cy="1188720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2A813D6B-DB60-A34B-AF94-90A554502EE6}"/>
                </a:ext>
              </a:extLst>
            </p:cNvPr>
            <p:cNvSpPr/>
            <p:nvPr/>
          </p:nvSpPr>
          <p:spPr>
            <a:xfrm>
              <a:off x="8631217" y="1892140"/>
              <a:ext cx="3246120" cy="1188720"/>
            </a:xfrm>
            <a:prstGeom prst="roundRect">
              <a:avLst>
                <a:gd name="adj" fmla="val 10000"/>
              </a:avLst>
            </a:prstGeom>
            <a:solidFill>
              <a:srgbClr val="EAF6F1"/>
            </a:solidFill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64008" rIns="109728" bIns="64008" rtlCol="0" anchor="ctr"/>
            <a:lstStyle/>
            <a:p>
              <a:pPr algn="ctr">
                <a:spcAft>
                  <a:spcPts val="400"/>
                </a:spcAft>
              </a:pPr>
              <a:r>
                <a:rPr sz="1400" b="1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2   ACQUISITION FUNCTION</a:t>
              </a:r>
            </a:p>
            <a:p>
              <a:pPr algn="ctr"/>
              <a:r>
                <a:rPr sz="1150" b="0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score every candidate,</a:t>
              </a:r>
            </a:p>
            <a:p>
              <a:pPr algn="ctr"/>
              <a:r>
                <a:rPr sz="1150" b="0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using the posterior</a:t>
              </a:r>
            </a:p>
          </p:txBody>
        </p:sp>
        <p:cxnSp>
          <p:nvCxnSpPr>
            <p:cNvPr id="19" name="Connector 8">
              <a:extLst>
                <a:ext uri="{FF2B5EF4-FFF2-40B4-BE49-F238E27FC236}">
                  <a16:creationId xmlns:a16="http://schemas.microsoft.com/office/drawing/2014/main" id="{240DA1F2-6263-6771-D2B8-D2B802645F04}"/>
                </a:ext>
              </a:extLst>
            </p:cNvPr>
            <p:cNvCxnSpPr>
              <a:cxnSpLocks/>
              <a:stCxn id="31" idx="3"/>
              <a:endCxn id="18" idx="1"/>
            </p:cNvCxnSpPr>
            <p:nvPr/>
          </p:nvCxnSpPr>
          <p:spPr>
            <a:xfrm>
              <a:off x="7689385" y="2486500"/>
              <a:ext cx="941832" cy="0"/>
            </a:xfrm>
            <a:prstGeom prst="line">
              <a:avLst/>
            </a:prstGeom>
            <a:ln w="76200">
              <a:solidFill>
                <a:schemeClr val="tx1">
                  <a:lumMod val="75000"/>
                  <a:lumOff val="25000"/>
                </a:scheme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632E610-4F56-4CA5-A45B-D9D427509FDD}"/>
              </a:ext>
            </a:extLst>
          </p:cNvPr>
          <p:cNvGrpSpPr/>
          <p:nvPr/>
        </p:nvGrpSpPr>
        <p:grpSpPr>
          <a:xfrm>
            <a:off x="8631217" y="3080860"/>
            <a:ext cx="3246120" cy="2240280"/>
            <a:chOff x="8631217" y="3080860"/>
            <a:chExt cx="3246120" cy="2240280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1CDF8A45-BEDD-50F2-BFD2-32A2F91055BA}"/>
                </a:ext>
              </a:extLst>
            </p:cNvPr>
            <p:cNvSpPr/>
            <p:nvPr/>
          </p:nvSpPr>
          <p:spPr>
            <a:xfrm>
              <a:off x="8631217" y="4132420"/>
              <a:ext cx="3246120" cy="1188720"/>
            </a:xfrm>
            <a:prstGeom prst="roundRect">
              <a:avLst>
                <a:gd name="adj" fmla="val 10000"/>
              </a:avLst>
            </a:prstGeom>
            <a:solidFill>
              <a:srgbClr val="EAF6F1"/>
            </a:solidFill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64008" rIns="109728" bIns="64008" rtlCol="0" anchor="ctr"/>
            <a:lstStyle/>
            <a:p>
              <a:pPr algn="ctr">
                <a:spcAft>
                  <a:spcPts val="400"/>
                </a:spcAft>
              </a:pPr>
              <a:r>
                <a:rPr sz="1400" b="1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3   RUN THE EXPERIMENT</a:t>
              </a:r>
            </a:p>
            <a:p>
              <a:pPr algn="ctr"/>
              <a:r>
                <a:rPr lang="en-US" sz="1150" b="0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$$$</a:t>
              </a:r>
              <a:endParaRPr sz="1150" b="0" i="0" dirty="0">
                <a:solidFill>
                  <a:sysClr val="windowText" lastClr="000000"/>
                </a:solidFill>
                <a:latin typeface="Avenir Book" panose="02000503020000020003" pitchFamily="2" charset="0"/>
              </a:endParaRPr>
            </a:p>
          </p:txBody>
        </p:sp>
        <p:cxnSp>
          <p:nvCxnSpPr>
            <p:cNvPr id="22" name="Connector 9">
              <a:extLst>
                <a:ext uri="{FF2B5EF4-FFF2-40B4-BE49-F238E27FC236}">
                  <a16:creationId xmlns:a16="http://schemas.microsoft.com/office/drawing/2014/main" id="{40F7E96A-86AD-AD7D-361F-0EBF88DC5A6A}"/>
                </a:ext>
              </a:extLst>
            </p:cNvPr>
            <p:cNvCxnSpPr/>
            <p:nvPr/>
          </p:nvCxnSpPr>
          <p:spPr>
            <a:xfrm>
              <a:off x="10254277" y="3080860"/>
              <a:ext cx="0" cy="1051560"/>
            </a:xfrm>
            <a:prstGeom prst="line">
              <a:avLst/>
            </a:prstGeom>
            <a:ln w="76200">
              <a:solidFill>
                <a:schemeClr val="tx1">
                  <a:lumMod val="75000"/>
                  <a:lumOff val="25000"/>
                </a:scheme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7A7DB2-EF34-AB84-83E6-BF9E5976F735}"/>
              </a:ext>
            </a:extLst>
          </p:cNvPr>
          <p:cNvGrpSpPr/>
          <p:nvPr/>
        </p:nvGrpSpPr>
        <p:grpSpPr>
          <a:xfrm>
            <a:off x="4443265" y="4132420"/>
            <a:ext cx="4187952" cy="1188720"/>
            <a:chOff x="4443265" y="4132420"/>
            <a:chExt cx="4187952" cy="1188720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07D02B1-0F30-0050-DDAC-E790182F7528}"/>
                </a:ext>
              </a:extLst>
            </p:cNvPr>
            <p:cNvSpPr/>
            <p:nvPr/>
          </p:nvSpPr>
          <p:spPr>
            <a:xfrm>
              <a:off x="4443265" y="4132420"/>
              <a:ext cx="3246120" cy="1188720"/>
            </a:xfrm>
            <a:prstGeom prst="roundRect">
              <a:avLst>
                <a:gd name="adj" fmla="val 10000"/>
              </a:avLst>
            </a:prstGeom>
            <a:solidFill>
              <a:srgbClr val="EAF6F1"/>
            </a:solidFill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64008" rIns="109728" bIns="64008" rtlCol="0" anchor="ctr"/>
            <a:lstStyle/>
            <a:p>
              <a:pPr algn="ctr">
                <a:spcAft>
                  <a:spcPts val="400"/>
                </a:spcAft>
              </a:pPr>
              <a:r>
                <a:rPr sz="1400" b="1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4   UPDATE</a:t>
              </a:r>
            </a:p>
            <a:p>
              <a:pPr algn="ctr"/>
              <a:r>
                <a:rPr sz="1150" b="0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recompute the posterior</a:t>
              </a:r>
            </a:p>
          </p:txBody>
        </p:sp>
        <p:cxnSp>
          <p:nvCxnSpPr>
            <p:cNvPr id="25" name="Connector 10">
              <a:extLst>
                <a:ext uri="{FF2B5EF4-FFF2-40B4-BE49-F238E27FC236}">
                  <a16:creationId xmlns:a16="http://schemas.microsoft.com/office/drawing/2014/main" id="{C57E99F3-ED0D-F83F-11F8-4AC1FAC05F6D}"/>
                </a:ext>
              </a:extLst>
            </p:cNvPr>
            <p:cNvCxnSpPr>
              <a:cxnSpLocks/>
              <a:stCxn id="21" idx="1"/>
              <a:endCxn id="24" idx="3"/>
            </p:cNvCxnSpPr>
            <p:nvPr/>
          </p:nvCxnSpPr>
          <p:spPr>
            <a:xfrm flipH="1">
              <a:off x="7689385" y="4726780"/>
              <a:ext cx="941832" cy="0"/>
            </a:xfrm>
            <a:prstGeom prst="line">
              <a:avLst/>
            </a:prstGeom>
            <a:ln w="76200">
              <a:solidFill>
                <a:schemeClr val="tx1">
                  <a:lumMod val="75000"/>
                  <a:lumOff val="25000"/>
                </a:scheme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7C40FC1-A31A-36BB-0AC5-651C10F2A3AC}"/>
              </a:ext>
            </a:extLst>
          </p:cNvPr>
          <p:cNvGrpSpPr/>
          <p:nvPr/>
        </p:nvGrpSpPr>
        <p:grpSpPr>
          <a:xfrm>
            <a:off x="6066325" y="3080860"/>
            <a:ext cx="2802636" cy="1051560"/>
            <a:chOff x="6066325" y="3080860"/>
            <a:chExt cx="2802636" cy="1051560"/>
          </a:xfrm>
        </p:grpSpPr>
        <p:cxnSp>
          <p:nvCxnSpPr>
            <p:cNvPr id="27" name="Connector 11">
              <a:extLst>
                <a:ext uri="{FF2B5EF4-FFF2-40B4-BE49-F238E27FC236}">
                  <a16:creationId xmlns:a16="http://schemas.microsoft.com/office/drawing/2014/main" id="{9FA03E15-2433-11DC-DBF9-E3C6810A2E66}"/>
                </a:ext>
              </a:extLst>
            </p:cNvPr>
            <p:cNvCxnSpPr/>
            <p:nvPr/>
          </p:nvCxnSpPr>
          <p:spPr>
            <a:xfrm flipV="1">
              <a:off x="6066325" y="3080860"/>
              <a:ext cx="0" cy="1051560"/>
            </a:xfrm>
            <a:prstGeom prst="line">
              <a:avLst/>
            </a:prstGeom>
            <a:ln w="76200">
              <a:solidFill>
                <a:schemeClr val="tx1">
                  <a:lumMod val="75000"/>
                  <a:lumOff val="25000"/>
                </a:scheme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EE5F76C-DC0D-CCF3-668E-E365AD9019A0}"/>
                </a:ext>
              </a:extLst>
            </p:cNvPr>
            <p:cNvSpPr txBox="1"/>
            <p:nvPr/>
          </p:nvSpPr>
          <p:spPr>
            <a:xfrm>
              <a:off x="7451641" y="3224484"/>
              <a:ext cx="1417320" cy="7643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1200" b="0" i="1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repeat until</a:t>
              </a:r>
            </a:p>
            <a:p>
              <a:pPr algn="ctr"/>
              <a:r>
                <a:rPr sz="1200" b="0" i="1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the budget is spent</a:t>
              </a:r>
              <a:r>
                <a:rPr lang="en-US" sz="1200" b="0" i="1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 or objective is reached</a:t>
              </a:r>
              <a:endParaRPr sz="1200" b="0" i="1" dirty="0">
                <a:solidFill>
                  <a:sysClr val="windowText" lastClr="000000"/>
                </a:solidFill>
                <a:latin typeface="Avenir Book" panose="02000503020000020003" pitchFamily="2" charset="0"/>
              </a:endParaRPr>
            </a:p>
          </p:txBody>
        </p:sp>
      </p:grp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977EF50-19B4-7DA1-1BE2-A7F10BF43BB0}"/>
              </a:ext>
            </a:extLst>
          </p:cNvPr>
          <p:cNvSpPr/>
          <p:nvPr/>
        </p:nvSpPr>
        <p:spPr>
          <a:xfrm>
            <a:off x="265444" y="1892140"/>
            <a:ext cx="3246120" cy="1188720"/>
          </a:xfrm>
          <a:prstGeom prst="roundRect">
            <a:avLst>
              <a:gd name="adj" fmla="val 10000"/>
            </a:avLst>
          </a:prstGeom>
          <a:solidFill>
            <a:srgbClr val="EAF6F1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>
              <a:spcAft>
                <a:spcPts val="400"/>
              </a:spcAft>
            </a:pPr>
            <a:r>
              <a:rPr lang="en-US" sz="1400" b="1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0</a:t>
            </a:r>
            <a:r>
              <a:rPr sz="1400" b="1" i="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   </a:t>
            </a:r>
            <a:r>
              <a:rPr lang="en-US" sz="1400" b="1" i="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INITIALIZATION</a:t>
            </a:r>
          </a:p>
          <a:p>
            <a:pPr algn="ctr"/>
            <a:r>
              <a:rPr lang="en-US" sz="115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s</a:t>
            </a:r>
            <a:r>
              <a:rPr lang="en-US" sz="1150" b="0" i="0" dirty="0">
                <a:solidFill>
                  <a:sysClr val="windowText" lastClr="000000"/>
                </a:solidFill>
                <a:latin typeface="Avenir Book" panose="02000503020000020003" pitchFamily="2" charset="0"/>
              </a:rPr>
              <a:t>elect few data points to label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0BEBB7-0A28-FBC0-BD0C-F9537A32842A}"/>
              </a:ext>
            </a:extLst>
          </p:cNvPr>
          <p:cNvGrpSpPr/>
          <p:nvPr/>
        </p:nvGrpSpPr>
        <p:grpSpPr>
          <a:xfrm>
            <a:off x="3501433" y="1892140"/>
            <a:ext cx="4187952" cy="1188720"/>
            <a:chOff x="3501433" y="1892140"/>
            <a:chExt cx="4187952" cy="1188720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E94B53CA-700B-0816-FD00-9C9FA064D435}"/>
                </a:ext>
              </a:extLst>
            </p:cNvPr>
            <p:cNvSpPr/>
            <p:nvPr/>
          </p:nvSpPr>
          <p:spPr>
            <a:xfrm>
              <a:off x="4443265" y="1892140"/>
              <a:ext cx="3246120" cy="1188720"/>
            </a:xfrm>
            <a:prstGeom prst="roundRect">
              <a:avLst>
                <a:gd name="adj" fmla="val 10000"/>
              </a:avLst>
            </a:prstGeom>
            <a:solidFill>
              <a:srgbClr val="EAF6F1"/>
            </a:solidFill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64008" rIns="109728" bIns="64008" rtlCol="0" anchor="ctr"/>
            <a:lstStyle/>
            <a:p>
              <a:pPr algn="ctr">
                <a:spcAft>
                  <a:spcPts val="400"/>
                </a:spcAft>
              </a:pPr>
              <a:r>
                <a:rPr sz="1400" b="1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1   SURROGATE MODEL</a:t>
              </a:r>
            </a:p>
            <a:p>
              <a:pPr algn="ctr"/>
              <a:r>
                <a:rPr sz="1150" b="0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a cheap probabilistic model of </a:t>
              </a:r>
              <a:r>
                <a:rPr lang="en-US" sz="1150" b="0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f</a:t>
              </a:r>
              <a:endParaRPr sz="1150" b="0" i="0" dirty="0">
                <a:solidFill>
                  <a:sysClr val="windowText" lastClr="000000"/>
                </a:solidFill>
                <a:latin typeface="Avenir Book" panose="02000503020000020003" pitchFamily="2" charset="0"/>
              </a:endParaRPr>
            </a:p>
            <a:p>
              <a:pPr algn="ctr"/>
              <a:r>
                <a:rPr sz="1150" b="1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mean </a:t>
              </a:r>
              <a:r>
                <a:rPr lang="en-US" sz="1150" b="1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+</a:t>
              </a:r>
              <a:r>
                <a:rPr sz="1150" b="1" i="0" dirty="0">
                  <a:solidFill>
                    <a:sysClr val="windowText" lastClr="000000"/>
                  </a:solidFill>
                  <a:latin typeface="Avenir Book" panose="02000503020000020003" pitchFamily="2" charset="0"/>
                </a:rPr>
                <a:t> uncertainty</a:t>
              </a:r>
            </a:p>
          </p:txBody>
        </p:sp>
        <p:cxnSp>
          <p:nvCxnSpPr>
            <p:cNvPr id="32" name="Connector 8">
              <a:extLst>
                <a:ext uri="{FF2B5EF4-FFF2-40B4-BE49-F238E27FC236}">
                  <a16:creationId xmlns:a16="http://schemas.microsoft.com/office/drawing/2014/main" id="{38B9183B-0B4A-6D8D-0B4A-2027EC7CED67}"/>
                </a:ext>
              </a:extLst>
            </p:cNvPr>
            <p:cNvCxnSpPr>
              <a:cxnSpLocks/>
            </p:cNvCxnSpPr>
            <p:nvPr/>
          </p:nvCxnSpPr>
          <p:spPr>
            <a:xfrm>
              <a:off x="3501433" y="2486500"/>
              <a:ext cx="941832" cy="0"/>
            </a:xfrm>
            <a:prstGeom prst="line">
              <a:avLst/>
            </a:prstGeom>
            <a:ln w="76200">
              <a:solidFill>
                <a:schemeClr val="tx1">
                  <a:lumMod val="75000"/>
                  <a:lumOff val="25000"/>
                </a:scheme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b="0" i="0" dirty="0">
                <a:solidFill>
                  <a:srgbClr val="123830"/>
                </a:solidFill>
                <a:latin typeface="Avenir Book"/>
              </a:rPr>
              <a:t>Bayesian Optimization Acquisition Function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17_ucb_recap" descr="fig_17_ucb_recap.png"/>
          <p:cNvPicPr>
            <a:picLocks noChangeAspect="1"/>
          </p:cNvPicPr>
          <p:nvPr/>
        </p:nvPicPr>
        <p:blipFill>
          <a:blip r:embed="rId4"/>
          <a:srcRect b="5192"/>
          <a:stretch>
            <a:fillRect/>
          </a:stretch>
        </p:blipFill>
        <p:spPr>
          <a:xfrm>
            <a:off x="2317113" y="1086970"/>
            <a:ext cx="7527293" cy="45350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25879" y="5591646"/>
            <a:ext cx="9509760" cy="566928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 dirty="0">
                <a:solidFill>
                  <a:srgbClr val="123830"/>
                </a:solidFill>
                <a:latin typeface="Avenir Book"/>
              </a:rPr>
              <a:t>β small → trust the mean, stay near the best point.     β large → buy the error bar, go somewhere new.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3BA053-A6F4-E832-0F2A-E823F08D700C}"/>
              </a:ext>
            </a:extLst>
          </p:cNvPr>
          <p:cNvSpPr txBox="1"/>
          <p:nvPr/>
        </p:nvSpPr>
        <p:spPr>
          <a:xfrm>
            <a:off x="1432560" y="2085798"/>
            <a:ext cx="932688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1 · The </a:t>
            </a:r>
            <a:r>
              <a:rPr lang="en-US" i="0" dirty="0">
                <a:latin typeface="Avenir Book"/>
              </a:rPr>
              <a:t>BO/AL </a:t>
            </a:r>
            <a:r>
              <a:rPr i="0" dirty="0">
                <a:latin typeface="Avenir Book"/>
              </a:rPr>
              <a:t>loop</a:t>
            </a:r>
          </a:p>
          <a:p>
            <a:pPr>
              <a:spcAft>
                <a:spcPts val="900"/>
              </a:spcAft>
            </a:pPr>
            <a:r>
              <a:rPr b="1" i="0" dirty="0">
                <a:latin typeface="Avenir Book"/>
              </a:rPr>
              <a:t>2 · </a:t>
            </a:r>
            <a:r>
              <a:rPr lang="en-US" b="1" i="0" dirty="0">
                <a:latin typeface="Avenir Book"/>
              </a:rPr>
              <a:t>Objective = </a:t>
            </a:r>
            <a:r>
              <a:rPr b="1" i="0" dirty="0">
                <a:latin typeface="Avenir Book"/>
              </a:rPr>
              <a:t>model </a:t>
            </a:r>
            <a:r>
              <a:rPr lang="en-US" b="1" i="0" dirty="0">
                <a:latin typeface="Avenir Book"/>
              </a:rPr>
              <a:t>improvement</a:t>
            </a:r>
            <a:endParaRPr b="1" i="0" dirty="0">
              <a:latin typeface="Avenir Book"/>
            </a:endParaRP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3 · What changes in the acquisition function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4 · A worked example: regioselectivity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5 · Which uncertainty is worth buying?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6 · Practical issues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7 · Active learning in the wild — and what is not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8 ·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dirty="0">
                <a:solidFill>
                  <a:srgbClr val="123830"/>
                </a:solidFill>
                <a:latin typeface="Avenir Book"/>
              </a:rPr>
              <a:t>BO and AL: same loop but different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01_two_campaigns" descr="fig_01_two_campaigns.png"/>
          <p:cNvPicPr>
            <a:picLocks noChangeAspect="1"/>
          </p:cNvPicPr>
          <p:nvPr/>
        </p:nvPicPr>
        <p:blipFill>
          <a:blip r:embed="rId4"/>
          <a:srcRect t="3326"/>
          <a:stretch>
            <a:fillRect/>
          </a:stretch>
        </p:blipFill>
        <p:spPr>
          <a:xfrm>
            <a:off x="1446448" y="1091386"/>
            <a:ext cx="8981604" cy="5254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When the model is the deliverable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596613"/>
            <a:ext cx="103327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 dirty="0">
                <a:solidFill>
                  <a:srgbClr val="2E6FBA"/>
                </a:solidFill>
                <a:latin typeface="Avenir Book"/>
              </a:rPr>
              <a:t>You are going to </a:t>
            </a:r>
            <a:r>
              <a:rPr lang="en-US" sz="1900" b="1" dirty="0">
                <a:solidFill>
                  <a:srgbClr val="2E6FBA"/>
                </a:solidFill>
                <a:latin typeface="Avenir Book"/>
              </a:rPr>
              <a:t>interpret</a:t>
            </a:r>
            <a:r>
              <a:rPr sz="1900" b="1" i="0" dirty="0">
                <a:solidFill>
                  <a:srgbClr val="2E6FBA"/>
                </a:solidFill>
                <a:latin typeface="Avenir Book"/>
              </a:rPr>
              <a:t>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35525"/>
            <a:ext cx="1033272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dirty="0">
                <a:solidFill>
                  <a:srgbClr val="123830"/>
                </a:solidFill>
                <a:latin typeface="Avenir Book"/>
              </a:rPr>
              <a:t>Interpretability. If you will pull SHAP values or a rate law out of it, it has to be right in the</a:t>
            </a:r>
            <a:r>
              <a:rPr lang="en-US" sz="1500" b="0" i="0" dirty="0">
                <a:solidFill>
                  <a:srgbClr val="123830"/>
                </a:solidFill>
                <a:latin typeface="Avenir Book"/>
              </a:rPr>
              <a:t> whole</a:t>
            </a:r>
            <a:r>
              <a:rPr sz="1500" b="0" i="0" dirty="0">
                <a:solidFill>
                  <a:srgbClr val="123830"/>
                </a:solidFill>
                <a:latin typeface="Avenir Book"/>
              </a:rPr>
              <a:t> region you will interpret</a:t>
            </a:r>
            <a:r>
              <a:rPr lang="en-US" sz="1500" b="0" i="0" dirty="0">
                <a:solidFill>
                  <a:srgbClr val="123830"/>
                </a:solidFill>
                <a:latin typeface="Avenir Book"/>
              </a:rPr>
              <a:t>.</a:t>
            </a:r>
            <a:endParaRPr sz="15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095153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E6FBA"/>
                </a:solidFill>
                <a:latin typeface="Avenir Book"/>
              </a:rPr>
              <a:t>You are going to run it a million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34065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dirty="0">
                <a:solidFill>
                  <a:srgbClr val="123830"/>
                </a:solidFill>
                <a:latin typeface="Avenir Book"/>
              </a:rPr>
              <a:t>Deployment at scale. An interatomic potential, a regioselectivity model, a </a:t>
            </a:r>
            <a:r>
              <a:rPr sz="1500" b="0" i="0" dirty="0" err="1">
                <a:solidFill>
                  <a:srgbClr val="123830"/>
                </a:solidFill>
                <a:latin typeface="Avenir Book"/>
              </a:rPr>
              <a:t>pKa</a:t>
            </a:r>
            <a:r>
              <a:rPr sz="1500" b="0" i="0" dirty="0">
                <a:solidFill>
                  <a:srgbClr val="123830"/>
                </a:solidFill>
                <a:latin typeface="Avenir Book"/>
              </a:rPr>
              <a:t> predictor. Its value is accuracy across the whole domain, on inputs nobody has looked 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E4F4B1-7D46-0147-9F42-3D8924314527}"/>
              </a:ext>
            </a:extLst>
          </p:cNvPr>
          <p:cNvSpPr txBox="1"/>
          <p:nvPr/>
        </p:nvSpPr>
        <p:spPr>
          <a:xfrm>
            <a:off x="1432560" y="2085798"/>
            <a:ext cx="932688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1 · The </a:t>
            </a:r>
            <a:r>
              <a:rPr lang="en-US" i="0" dirty="0">
                <a:latin typeface="Avenir Book"/>
              </a:rPr>
              <a:t>BO/AL </a:t>
            </a:r>
            <a:r>
              <a:rPr i="0" dirty="0">
                <a:latin typeface="Avenir Book"/>
              </a:rPr>
              <a:t>loop</a:t>
            </a:r>
          </a:p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2 · </a:t>
            </a:r>
            <a:r>
              <a:rPr lang="en-US" i="0" dirty="0">
                <a:latin typeface="Avenir Book"/>
              </a:rPr>
              <a:t>Objective = </a:t>
            </a:r>
            <a:r>
              <a:rPr i="0" dirty="0">
                <a:latin typeface="Avenir Book"/>
              </a:rPr>
              <a:t>model </a:t>
            </a:r>
            <a:r>
              <a:rPr lang="en-US" i="0" dirty="0">
                <a:latin typeface="Avenir Book"/>
              </a:rPr>
              <a:t>improvement</a:t>
            </a:r>
            <a:endParaRPr i="0" dirty="0">
              <a:latin typeface="Avenir Book"/>
            </a:endParaRPr>
          </a:p>
          <a:p>
            <a:pPr>
              <a:spcAft>
                <a:spcPts val="900"/>
              </a:spcAft>
            </a:pPr>
            <a:r>
              <a:rPr b="1" i="0" dirty="0">
                <a:latin typeface="Avenir Book"/>
              </a:rPr>
              <a:t>3 · What changes in the acquisition function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4 · A worked example: regioselectivity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5 · Which uncertainty is worth buying?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6 · Practical issues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7 · Active learning in the wild — and what is not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8 · 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b="0" i="0" dirty="0">
                <a:solidFill>
                  <a:srgbClr val="123830"/>
                </a:solidFill>
                <a:latin typeface="Avenir Book"/>
              </a:rPr>
              <a:t>Acquisition Function depends on Model Objective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962068"/>
            <a:ext cx="3566160" cy="3611880"/>
          </a:xfrm>
          <a:prstGeom prst="roundRect">
            <a:avLst>
              <a:gd name="adj" fmla="val 5000"/>
            </a:avLst>
          </a:prstGeom>
          <a:solidFill>
            <a:srgbClr val="FCFCFC"/>
          </a:solidFill>
          <a:ln w="16510">
            <a:solidFill>
              <a:srgbClr val="2E6F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2080940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777777"/>
                </a:solidFill>
                <a:latin typeface="Avenir Book"/>
              </a:rPr>
              <a:t>you are predicting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55260"/>
            <a:ext cx="3246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23830"/>
                </a:solidFill>
                <a:latin typeface="Avenir Book"/>
              </a:rPr>
              <a:t>A value, across a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76468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2E6FBA"/>
                </a:solidFill>
                <a:latin typeface="Avenir Book"/>
              </a:rPr>
              <a:t>→  uncertainty sampling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269660"/>
            <a:ext cx="3154680" cy="603504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0" i="0">
                <a:solidFill>
                  <a:srgbClr val="123830"/>
                </a:solidFill>
                <a:latin typeface="Avenir Book"/>
              </a:rPr>
              <a:t>σ(x) — GP variance or ensemble spread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19468"/>
            <a:ext cx="320040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 dirty="0">
                <a:solidFill>
                  <a:srgbClr val="123830"/>
                </a:solidFill>
                <a:latin typeface="Avenir Book"/>
              </a:rPr>
              <a:t>You want low error everywhere. </a:t>
            </a:r>
            <a:endParaRPr lang="en-US" sz="1250" b="0" i="0" dirty="0">
              <a:solidFill>
                <a:srgbClr val="123830"/>
              </a:solidFill>
              <a:latin typeface="Avenir Book"/>
            </a:endParaRPr>
          </a:p>
          <a:p>
            <a:pPr algn="l"/>
            <a:r>
              <a:rPr lang="en-US" sz="1250" b="0" i="0" dirty="0">
                <a:solidFill>
                  <a:srgbClr val="123830"/>
                </a:solidFill>
                <a:latin typeface="Avenir Book"/>
              </a:rPr>
              <a:t>Sampling</a:t>
            </a:r>
            <a:r>
              <a:rPr sz="1250" b="0" i="0" dirty="0">
                <a:solidFill>
                  <a:srgbClr val="123830"/>
                </a:solidFill>
                <a:latin typeface="Avenir Book"/>
              </a:rPr>
              <a:t> where the model knows least.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62068"/>
            <a:ext cx="3566160" cy="3611880"/>
          </a:xfrm>
          <a:prstGeom prst="roundRect">
            <a:avLst>
              <a:gd name="adj" fmla="val 5000"/>
            </a:avLst>
          </a:prstGeom>
          <a:solidFill>
            <a:srgbClr val="FCFCFC"/>
          </a:solidFill>
          <a:ln w="1651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2080940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777777"/>
                </a:solidFill>
                <a:latin typeface="Avenir Book"/>
              </a:rPr>
              <a:t>you are predicting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355260"/>
            <a:ext cx="3246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23830"/>
                </a:solidFill>
                <a:latin typeface="Avenir Book"/>
              </a:rPr>
              <a:t>A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876468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E0A526"/>
                </a:solidFill>
                <a:latin typeface="Avenir Book"/>
              </a:rPr>
              <a:t>→  margin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3269660"/>
            <a:ext cx="3154680" cy="603504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0" i="0">
                <a:solidFill>
                  <a:srgbClr val="123830"/>
                </a:solidFill>
                <a:latin typeface="Avenir Book"/>
              </a:rPr>
              <a:t>P(ŷ₁|x) − P(ŷ₂|x)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019468"/>
            <a:ext cx="3200400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 dirty="0">
                <a:solidFill>
                  <a:srgbClr val="123830"/>
                </a:solidFill>
                <a:latin typeface="Avenir Book"/>
              </a:rPr>
              <a:t>You want the decision right. </a:t>
            </a:r>
            <a:endParaRPr lang="en-US" sz="1250" b="0" i="0" dirty="0">
              <a:solidFill>
                <a:srgbClr val="123830"/>
              </a:solidFill>
              <a:latin typeface="Avenir Book"/>
            </a:endParaRPr>
          </a:p>
          <a:p>
            <a:pPr algn="l"/>
            <a:r>
              <a:rPr lang="en-US" sz="1250" dirty="0">
                <a:solidFill>
                  <a:srgbClr val="123830"/>
                </a:solidFill>
                <a:latin typeface="Avenir Book"/>
              </a:rPr>
              <a:t>Sampling</a:t>
            </a:r>
            <a:r>
              <a:rPr sz="1250" b="0" i="0" dirty="0">
                <a:solidFill>
                  <a:srgbClr val="123830"/>
                </a:solidFill>
                <a:latin typeface="Avenir Book"/>
              </a:rPr>
              <a:t> where the top two are closest to a tie.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962068"/>
            <a:ext cx="3566160" cy="3611880"/>
          </a:xfrm>
          <a:prstGeom prst="roundRect">
            <a:avLst>
              <a:gd name="adj" fmla="val 5000"/>
            </a:avLst>
          </a:prstGeom>
          <a:solidFill>
            <a:srgbClr val="FCFCFC"/>
          </a:solidFill>
          <a:ln w="1651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080940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777777"/>
                </a:solidFill>
                <a:latin typeface="Avenir Book"/>
              </a:rPr>
              <a:t>you are predicting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55260"/>
            <a:ext cx="32461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23830"/>
                </a:solidFill>
                <a:latin typeface="Avenir Book"/>
              </a:rPr>
              <a:t>A ranking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876468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C00000"/>
                </a:solidFill>
                <a:latin typeface="Avenir Book"/>
              </a:rPr>
              <a:t>→  margin, again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3269660"/>
            <a:ext cx="3154680" cy="603504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0" i="0">
                <a:solidFill>
                  <a:srgbClr val="123830"/>
                </a:solidFill>
                <a:latin typeface="Avenir Book"/>
              </a:rPr>
              <a:t>score(top site) − score(runner-up)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4019468"/>
            <a:ext cx="3200400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 dirty="0">
                <a:solidFill>
                  <a:srgbClr val="123830"/>
                </a:solidFill>
                <a:latin typeface="Avenir Book"/>
              </a:rPr>
              <a:t>Which C–H reacts? </a:t>
            </a:r>
            <a:endParaRPr lang="en-US" sz="1250" b="0" i="0" dirty="0">
              <a:solidFill>
                <a:srgbClr val="123830"/>
              </a:solidFill>
              <a:latin typeface="Avenir Book"/>
            </a:endParaRPr>
          </a:p>
          <a:p>
            <a:pPr algn="l"/>
            <a:r>
              <a:rPr sz="1250" b="0" i="0" dirty="0">
                <a:solidFill>
                  <a:srgbClr val="123830"/>
                </a:solidFill>
                <a:latin typeface="Avenir Book"/>
              </a:rPr>
              <a:t>An argmax over sites — so the same criterion applies.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b="0" i="0" dirty="0">
                <a:solidFill>
                  <a:srgbClr val="123830"/>
                </a:solidFill>
                <a:latin typeface="Avenir Book"/>
              </a:rPr>
              <a:t>I. Optimizing Regressor Prediction across Chemical Space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1170" y="2568119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E6FBA"/>
                </a:solidFill>
                <a:latin typeface="Avenir Book"/>
              </a:rPr>
              <a:t>Gaussian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1170" y="2988743"/>
            <a:ext cx="5212080" cy="804672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i="0" dirty="0">
                <a:solidFill>
                  <a:srgbClr val="123830"/>
                </a:solidFill>
                <a:latin typeface="Aptos" panose="020B0004020202020204" pitchFamily="34" charset="0"/>
              </a:rPr>
              <a:t>x*  =  argmax  σ²(x)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6170" y="2568119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E6FBA"/>
                </a:solidFill>
                <a:latin typeface="Avenir Book"/>
              </a:rPr>
              <a:t>Any ensemble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6170" y="2988743"/>
            <a:ext cx="5212080" cy="804672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i="0" dirty="0">
                <a:solidFill>
                  <a:srgbClr val="123830"/>
                </a:solidFill>
                <a:latin typeface="Aptos" panose="020B0004020202020204" pitchFamily="34" charset="0"/>
              </a:rPr>
              <a:t>σ̂</a:t>
            </a:r>
            <a:r>
              <a:rPr lang="en-US" sz="1600" b="0" i="0" dirty="0">
                <a:solidFill>
                  <a:srgbClr val="123830"/>
                </a:solidFill>
                <a:latin typeface="Aptos" panose="020B0004020202020204" pitchFamily="34" charset="0"/>
              </a:rPr>
              <a:t>²</a:t>
            </a:r>
            <a:r>
              <a:rPr lang="en-US" sz="1600" dirty="0">
                <a:solidFill>
                  <a:srgbClr val="123830"/>
                </a:solidFill>
                <a:latin typeface="Aptos" panose="020B0004020202020204" pitchFamily="34" charset="0"/>
              </a:rPr>
              <a:t>(x)</a:t>
            </a:r>
            <a:r>
              <a:rPr sz="1600" b="0" i="0" dirty="0">
                <a:solidFill>
                  <a:srgbClr val="123830"/>
                </a:solidFill>
                <a:latin typeface="Aptos" panose="020B0004020202020204" pitchFamily="34" charset="0"/>
              </a:rPr>
              <a:t> = (1/M) </a:t>
            </a:r>
            <a:r>
              <a:rPr sz="1600" b="0" i="0" dirty="0" err="1">
                <a:solidFill>
                  <a:srgbClr val="123830"/>
                </a:solidFill>
                <a:latin typeface="Aptos" panose="020B0004020202020204" pitchFamily="34" charset="0"/>
              </a:rPr>
              <a:t>Σ</a:t>
            </a:r>
            <a:r>
              <a:rPr sz="1600" b="0" i="0" dirty="0">
                <a:solidFill>
                  <a:srgbClr val="123830"/>
                </a:solidFill>
                <a:latin typeface="Aptos" panose="020B0004020202020204" pitchFamily="34" charset="0"/>
              </a:rPr>
              <a:t>ₘ ( fₘ(x) − f̄(x) 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170" y="3921431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dirty="0">
                <a:solidFill>
                  <a:srgbClr val="123830"/>
                </a:solidFill>
                <a:latin typeface="Avenir Book"/>
              </a:rPr>
              <a:t>Closed form, no retraining, no label needed to evaluate it. Ideal for small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6170" y="3921431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dirty="0">
                <a:solidFill>
                  <a:srgbClr val="123830"/>
                </a:solidFill>
                <a:latin typeface="Avenir Book"/>
              </a:rPr>
              <a:t>Model-agnostic — random forests, D-MPNN, neural-network potentials. Costs M× training.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dirty="0">
                <a:solidFill>
                  <a:srgbClr val="123830"/>
                </a:solidFill>
                <a:latin typeface="Avenir Book"/>
              </a:rPr>
              <a:t>Uncertainty sampling reaches for outliers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04_gp_variance_sampling" descr="fig_04_gp_variance_samp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393" y="1429691"/>
            <a:ext cx="9975214" cy="44988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14B6FF-6962-AE43-9E09-215C71FA59A1}"/>
              </a:ext>
            </a:extLst>
          </p:cNvPr>
          <p:cNvSpPr/>
          <p:nvPr/>
        </p:nvSpPr>
        <p:spPr>
          <a:xfrm>
            <a:off x="6364941" y="1183341"/>
            <a:ext cx="5145741" cy="4966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b="0" i="0" dirty="0">
                <a:solidFill>
                  <a:srgbClr val="123830"/>
                </a:solidFill>
                <a:latin typeface="Avenir Book"/>
              </a:rPr>
              <a:t>Uncertainty sampling reaches for outliers 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18_ligand_trap" descr="fig_18_ligand_trap.png"/>
          <p:cNvPicPr>
            <a:picLocks noChangeAspect="1"/>
          </p:cNvPicPr>
          <p:nvPr/>
        </p:nvPicPr>
        <p:blipFill>
          <a:blip r:embed="rId4"/>
          <a:srcRect t="7524" b="10841"/>
          <a:stretch>
            <a:fillRect/>
          </a:stretch>
        </p:blipFill>
        <p:spPr>
          <a:xfrm>
            <a:off x="1792431" y="1574800"/>
            <a:ext cx="8607137" cy="4292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E30775-2545-8EEF-F6CB-8FE09BE74425}"/>
              </a:ext>
            </a:extLst>
          </p:cNvPr>
          <p:cNvSpPr/>
          <p:nvPr/>
        </p:nvSpPr>
        <p:spPr>
          <a:xfrm>
            <a:off x="6364941" y="1183341"/>
            <a:ext cx="5145741" cy="49664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741356-53F0-7221-E7F3-9AADEA7A72AF}"/>
              </a:ext>
            </a:extLst>
          </p:cNvPr>
          <p:cNvSpPr txBox="1"/>
          <p:nvPr/>
        </p:nvSpPr>
        <p:spPr>
          <a:xfrm>
            <a:off x="45720" y="6146293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 dirty="0">
                <a:solidFill>
                  <a:srgbClr val="777777"/>
                </a:solidFill>
                <a:latin typeface="Avenir Book"/>
              </a:rPr>
              <a:t>After Settles, Active Learning Literature Survey, TR1648, 2009, Fig. 7 · information density: Settles &amp; Craven, EMNLP 2008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dirty="0">
                <a:solidFill>
                  <a:srgbClr val="123830"/>
                </a:solidFill>
                <a:latin typeface="Avenir Book"/>
              </a:rPr>
              <a:t>Bias towards Representativeness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05_outlier_trap" descr="fig_05_outlier_trap.png"/>
          <p:cNvPicPr>
            <a:picLocks noChangeAspect="1"/>
          </p:cNvPicPr>
          <p:nvPr/>
        </p:nvPicPr>
        <p:blipFill>
          <a:blip r:embed="rId4"/>
          <a:srcRect t="6060"/>
          <a:stretch>
            <a:fillRect/>
          </a:stretch>
        </p:blipFill>
        <p:spPr>
          <a:xfrm>
            <a:off x="526267" y="1577787"/>
            <a:ext cx="5714025" cy="40801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10487" y="2912093"/>
            <a:ext cx="4983480" cy="1024128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 dirty="0">
                <a:solidFill>
                  <a:srgbClr val="123830"/>
                </a:solidFill>
                <a:latin typeface="Avenir Book"/>
              </a:rPr>
              <a:t>a(x)  =  </a:t>
            </a:r>
            <a:r>
              <a:rPr sz="1800" b="1" i="0" dirty="0" err="1">
                <a:solidFill>
                  <a:srgbClr val="123830"/>
                </a:solidFill>
                <a:latin typeface="Avenir Book"/>
              </a:rPr>
              <a:t>σ</a:t>
            </a:r>
            <a:r>
              <a:rPr sz="1800" b="1" i="0" dirty="0">
                <a:solidFill>
                  <a:srgbClr val="123830"/>
                </a:solidFill>
                <a:latin typeface="Avenir Book"/>
              </a:rPr>
              <a:t>(x)  ·  density(x)</a:t>
            </a:r>
            <a:r>
              <a:rPr lang="en-US" sz="1800" b="1" i="0" baseline="30000" dirty="0">
                <a:solidFill>
                  <a:srgbClr val="123830"/>
                </a:solidFill>
                <a:latin typeface="Avenir Book"/>
              </a:rPr>
              <a:t>b</a:t>
            </a:r>
            <a:endParaRPr sz="1800" b="1" i="0" baseline="3000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" y="6146293"/>
            <a:ext cx="7315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 dirty="0">
                <a:solidFill>
                  <a:srgbClr val="777777"/>
                </a:solidFill>
                <a:latin typeface="Avenir Book"/>
              </a:rPr>
              <a:t>After Settles, Active Learning Literature Survey, TR1648, 2009, Fig. 7 · information density: Settles &amp; Craven, EMNLP 2008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b="0" i="0" dirty="0">
                <a:solidFill>
                  <a:srgbClr val="123830"/>
                </a:solidFill>
                <a:latin typeface="Avenir Book"/>
              </a:rPr>
              <a:t>II. Classification task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27512" y="1404903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C00000"/>
                </a:solidFill>
                <a:latin typeface="Avenir Book"/>
              </a:rPr>
              <a:t>Margin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22072" y="1296252"/>
            <a:ext cx="3977639" cy="566928"/>
          </a:xfrm>
          <a:prstGeom prst="roundRect">
            <a:avLst>
              <a:gd name="adj" fmla="val 6000"/>
            </a:avLst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123830"/>
                </a:solidFill>
                <a:latin typeface="Avenir Book"/>
              </a:rPr>
              <a:t>x*  =  argmin  [ P(ŷ₁ | x) − P(ŷ₂ | x) ]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4ADE226-CDE1-48F3-C446-AC18D59D0FAE}"/>
              </a:ext>
            </a:extLst>
          </p:cNvPr>
          <p:cNvSpPr/>
          <p:nvPr/>
        </p:nvSpPr>
        <p:spPr>
          <a:xfrm>
            <a:off x="3844514" y="3031177"/>
            <a:ext cx="1234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2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 i="0" dirty="0">
                <a:solidFill>
                  <a:srgbClr val="123830"/>
                </a:solidFill>
                <a:latin typeface="Avenir Book"/>
              </a:rPr>
              <a:t>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BF3C8EA-D779-FA35-0EC6-B927F15B3AFE}"/>
              </a:ext>
            </a:extLst>
          </p:cNvPr>
          <p:cNvSpPr/>
          <p:nvPr/>
        </p:nvSpPr>
        <p:spPr>
          <a:xfrm>
            <a:off x="7689924" y="3006365"/>
            <a:ext cx="1234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2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 i="0">
                <a:solidFill>
                  <a:srgbClr val="123830"/>
                </a:solidFill>
                <a:latin typeface="Avenir Book"/>
              </a:rPr>
              <a:t>8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AF0CB9-2813-FFD1-4DA2-8F18D9DC9AF0}"/>
              </a:ext>
            </a:extLst>
          </p:cNvPr>
          <p:cNvGrpSpPr/>
          <p:nvPr/>
        </p:nvGrpSpPr>
        <p:grpSpPr>
          <a:xfrm>
            <a:off x="5794112" y="3010036"/>
            <a:ext cx="1234440" cy="1234440"/>
            <a:chOff x="5877036" y="2883496"/>
            <a:chExt cx="1234440" cy="123444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CC5B901F-0777-848D-EC96-6C76DF5BC9AC}"/>
                </a:ext>
              </a:extLst>
            </p:cNvPr>
            <p:cNvSpPr/>
            <p:nvPr/>
          </p:nvSpPr>
          <p:spPr>
            <a:xfrm>
              <a:off x="5877036" y="2883496"/>
              <a:ext cx="1234440" cy="123444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12383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4400" b="1" i="0">
                  <a:solidFill>
                    <a:srgbClr val="123830"/>
                  </a:solidFill>
                  <a:latin typeface="Avenir Book"/>
                </a:rPr>
                <a:t>8</a:t>
              </a:r>
            </a:p>
          </p:txBody>
        </p:sp>
        <p:pic>
          <p:nvPicPr>
            <p:cNvPr id="19" name="Picture 18" descr="Tensorflow 8: MNIST NN 1 – Gooorack">
              <a:extLst>
                <a:ext uri="{FF2B5EF4-FFF2-40B4-BE49-F238E27FC236}">
                  <a16:creationId xmlns:a16="http://schemas.microsoft.com/office/drawing/2014/main" id="{8DBED84D-3DB1-4591-7F79-D09BFA78B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5971" t="55201" r="15971" b="8500"/>
            <a:stretch>
              <a:fillRect/>
            </a:stretch>
          </p:blipFill>
          <p:spPr>
            <a:xfrm>
              <a:off x="6046558" y="3024604"/>
              <a:ext cx="931254" cy="930131"/>
            </a:xfrm>
            <a:prstGeom prst="rect">
              <a:avLst/>
            </a:prstGeom>
          </p:spPr>
        </p:pic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95E0B05-454C-10BF-A387-EAE9D4F08172}"/>
              </a:ext>
            </a:extLst>
          </p:cNvPr>
          <p:cNvCxnSpPr>
            <a:cxnSpLocks/>
          </p:cNvCxnSpPr>
          <p:nvPr/>
        </p:nvCxnSpPr>
        <p:spPr>
          <a:xfrm>
            <a:off x="2924733" y="4443858"/>
            <a:ext cx="72255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A05F8F2-A2E2-1E36-9599-A3D39307BFD1}"/>
              </a:ext>
            </a:extLst>
          </p:cNvPr>
          <p:cNvSpPr txBox="1"/>
          <p:nvPr/>
        </p:nvSpPr>
        <p:spPr>
          <a:xfrm>
            <a:off x="9603665" y="408095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04DC7E-A559-4B2D-E779-93123FF7B8FC}"/>
              </a:ext>
            </a:extLst>
          </p:cNvPr>
          <p:cNvSpPr txBox="1"/>
          <p:nvPr/>
        </p:nvSpPr>
        <p:spPr>
          <a:xfrm>
            <a:off x="3915784" y="4806766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P(3|x) ~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B18747-0FC0-4590-448F-000C54F03419}"/>
              </a:ext>
            </a:extLst>
          </p:cNvPr>
          <p:cNvSpPr txBox="1"/>
          <p:nvPr/>
        </p:nvSpPr>
        <p:spPr>
          <a:xfrm>
            <a:off x="7766771" y="4806766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P(8|x) ~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90E94-9C23-1609-5FAB-BA0B76D6116F}"/>
              </a:ext>
            </a:extLst>
          </p:cNvPr>
          <p:cNvSpPr txBox="1"/>
          <p:nvPr/>
        </p:nvSpPr>
        <p:spPr>
          <a:xfrm>
            <a:off x="5947807" y="4806766"/>
            <a:ext cx="1269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P(3|x) ~ 0.5</a:t>
            </a:r>
          </a:p>
          <a:p>
            <a:r>
              <a:rPr lang="en-US" dirty="0"/>
              <a:t>P(8|x) ~ 0.5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b="0" i="0" dirty="0">
                <a:solidFill>
                  <a:srgbClr val="123830"/>
                </a:solidFill>
                <a:latin typeface="Avenir Book"/>
              </a:rPr>
              <a:t>III</a:t>
            </a:r>
            <a:r>
              <a:rPr sz="2800" b="0" i="0" dirty="0">
                <a:solidFill>
                  <a:srgbClr val="123830"/>
                </a:solidFill>
                <a:latin typeface="Avenir Book"/>
              </a:rPr>
              <a:t>: </a:t>
            </a:r>
            <a:r>
              <a:rPr lang="en-US" sz="2800" dirty="0">
                <a:solidFill>
                  <a:srgbClr val="123830"/>
                </a:solidFill>
                <a:latin typeface="Avenir Book"/>
              </a:rPr>
              <a:t>R</a:t>
            </a:r>
            <a:r>
              <a:rPr sz="2800" b="0" i="0" dirty="0">
                <a:solidFill>
                  <a:srgbClr val="123830"/>
                </a:solidFill>
                <a:latin typeface="Avenir Book"/>
              </a:rPr>
              <a:t>anking the two most reactive sites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" y="1207008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i="0">
                <a:solidFill>
                  <a:srgbClr val="123830"/>
                </a:solidFill>
                <a:latin typeface="Avenir Book"/>
              </a:rPr>
              <a:t>Which C–H bond reacts?  An argmax over the sites in one molecule.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39" y="2249424"/>
            <a:ext cx="10607039" cy="868680"/>
          </a:xfrm>
          <a:prstGeom prst="roundRect">
            <a:avLst>
              <a:gd name="adj" fmla="val 6000"/>
            </a:avLst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123830"/>
                </a:solidFill>
                <a:latin typeface="Avenir Book"/>
              </a:rPr>
              <a:t>margin  =  score( best site )  −  score( runner-up 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4289AD-115A-3F0F-4950-9F39B0C73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647" y="3756291"/>
            <a:ext cx="2094222" cy="16236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90C177-3184-003D-09E2-7910802DAA1A}"/>
              </a:ext>
            </a:extLst>
          </p:cNvPr>
          <p:cNvSpPr txBox="1"/>
          <p:nvPr/>
        </p:nvSpPr>
        <p:spPr>
          <a:xfrm>
            <a:off x="1432560" y="2085798"/>
            <a:ext cx="932688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1 · The </a:t>
            </a:r>
            <a:r>
              <a:rPr lang="en-US" i="0" dirty="0">
                <a:latin typeface="Avenir Book"/>
              </a:rPr>
              <a:t>BO/AL </a:t>
            </a:r>
            <a:r>
              <a:rPr i="0" dirty="0">
                <a:latin typeface="Avenir Book"/>
              </a:rPr>
              <a:t>loop</a:t>
            </a:r>
          </a:p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2 · </a:t>
            </a:r>
            <a:r>
              <a:rPr lang="en-US" i="0" dirty="0">
                <a:latin typeface="Avenir Book"/>
              </a:rPr>
              <a:t>Objective = </a:t>
            </a:r>
            <a:r>
              <a:rPr i="0" dirty="0">
                <a:latin typeface="Avenir Book"/>
              </a:rPr>
              <a:t>model </a:t>
            </a:r>
            <a:r>
              <a:rPr lang="en-US" i="0" dirty="0">
                <a:latin typeface="Avenir Book"/>
              </a:rPr>
              <a:t>improvement</a:t>
            </a:r>
            <a:endParaRPr i="0" dirty="0">
              <a:latin typeface="Avenir Book"/>
            </a:endParaRPr>
          </a:p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3 · What changes in the acquisition function</a:t>
            </a:r>
          </a:p>
          <a:p>
            <a:pPr>
              <a:spcAft>
                <a:spcPts val="900"/>
              </a:spcAft>
            </a:pPr>
            <a:r>
              <a:rPr b="1" i="0" dirty="0">
                <a:latin typeface="Avenir Book"/>
              </a:rPr>
              <a:t>4 · A worked example: regioselectivity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5 · Which uncertainty is worth buying?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6 · Practical issues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7 · Active learning in the wild — and what is not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8 · Conclusion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6B0FE-FC1F-8447-B132-A18632300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708BFC9-71C5-698E-BE74-A8FBA67779E9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3F0BDB-0DC6-EDC4-8B54-E2461DCCB6C7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Avenir Book" panose="02000503020000020003" pitchFamily="2" charset="0"/>
              </a:rPr>
              <a:t>Csp</a:t>
            </a:r>
            <a:r>
              <a:rPr lang="en-US" sz="3200" baseline="30000" dirty="0">
                <a:latin typeface="Avenir Book" panose="02000503020000020003" pitchFamily="2" charset="0"/>
              </a:rPr>
              <a:t>3</a:t>
            </a:r>
            <a:r>
              <a:rPr lang="en-US" sz="3200" dirty="0">
                <a:latin typeface="Avenir Book" panose="02000503020000020003" pitchFamily="2" charset="0"/>
              </a:rPr>
              <a:t>–H Late-stage functionalization (LSF)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EB5DCD-B4CB-7D7C-8F81-1A7AF57AE4FD}"/>
              </a:ext>
            </a:extLst>
          </p:cNvPr>
          <p:cNvSpPr/>
          <p:nvPr/>
        </p:nvSpPr>
        <p:spPr>
          <a:xfrm>
            <a:off x="1720474" y="1424700"/>
            <a:ext cx="461818" cy="46515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2DF9802-551E-699A-2F27-B405574B37AD}"/>
              </a:ext>
            </a:extLst>
          </p:cNvPr>
          <p:cNvSpPr/>
          <p:nvPr/>
        </p:nvSpPr>
        <p:spPr>
          <a:xfrm>
            <a:off x="1720474" y="2792445"/>
            <a:ext cx="461818" cy="46515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4E965A-A7E6-5235-5480-C4E93E3085EB}"/>
              </a:ext>
            </a:extLst>
          </p:cNvPr>
          <p:cNvGrpSpPr/>
          <p:nvPr/>
        </p:nvGrpSpPr>
        <p:grpSpPr>
          <a:xfrm>
            <a:off x="1180340" y="4160190"/>
            <a:ext cx="1521594" cy="465152"/>
            <a:chOff x="6427771" y="4331593"/>
            <a:chExt cx="1521594" cy="465152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BAC57B0-6A84-94EC-AB9B-933724A9CAE5}"/>
                </a:ext>
              </a:extLst>
            </p:cNvPr>
            <p:cNvSpPr/>
            <p:nvPr/>
          </p:nvSpPr>
          <p:spPr>
            <a:xfrm>
              <a:off x="6427771" y="4331593"/>
              <a:ext cx="461818" cy="465152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venir Book" panose="02000503020000020003" pitchFamily="2" charset="0"/>
                </a:rPr>
                <a:t>$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FAD814A-5ED7-F966-2448-10A5627A3A98}"/>
                </a:ext>
              </a:extLst>
            </p:cNvPr>
            <p:cNvSpPr/>
            <p:nvPr/>
          </p:nvSpPr>
          <p:spPr>
            <a:xfrm>
              <a:off x="7487547" y="4331593"/>
              <a:ext cx="461818" cy="46515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9CFA785E-50FE-2855-6AD1-959D50FE5E0B}"/>
              </a:ext>
            </a:extLst>
          </p:cNvPr>
          <p:cNvSpPr/>
          <p:nvPr/>
        </p:nvSpPr>
        <p:spPr>
          <a:xfrm>
            <a:off x="1707999" y="5534067"/>
            <a:ext cx="461818" cy="4651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F120506-8DBC-808F-0C4E-F44FE08F06E7}"/>
              </a:ext>
            </a:extLst>
          </p:cNvPr>
          <p:cNvSpPr/>
          <p:nvPr/>
        </p:nvSpPr>
        <p:spPr>
          <a:xfrm>
            <a:off x="2768801" y="5531720"/>
            <a:ext cx="461818" cy="4651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85008D9-96D6-7813-5ED6-720D751F7280}"/>
              </a:ext>
            </a:extLst>
          </p:cNvPr>
          <p:cNvCxnSpPr>
            <a:cxnSpLocks/>
            <a:stCxn id="22" idx="0"/>
            <a:endCxn id="21" idx="4"/>
          </p:cNvCxnSpPr>
          <p:nvPr/>
        </p:nvCxnSpPr>
        <p:spPr>
          <a:xfrm flipV="1">
            <a:off x="1951383" y="1889852"/>
            <a:ext cx="0" cy="90259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24B068F-A060-D5F0-E17B-38593A133576}"/>
              </a:ext>
            </a:extLst>
          </p:cNvPr>
          <p:cNvCxnSpPr>
            <a:cxnSpLocks/>
          </p:cNvCxnSpPr>
          <p:nvPr/>
        </p:nvCxnSpPr>
        <p:spPr>
          <a:xfrm flipV="1">
            <a:off x="1941217" y="3257597"/>
            <a:ext cx="0" cy="4779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CBBB6B3-B420-CAF5-1649-93DF1862EF3D}"/>
              </a:ext>
            </a:extLst>
          </p:cNvPr>
          <p:cNvCxnSpPr>
            <a:cxnSpLocks/>
          </p:cNvCxnSpPr>
          <p:nvPr/>
        </p:nvCxnSpPr>
        <p:spPr>
          <a:xfrm flipV="1">
            <a:off x="2463072" y="3735579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D240934-A11C-8498-ECD0-D7B41BF0EC5B}"/>
              </a:ext>
            </a:extLst>
          </p:cNvPr>
          <p:cNvCxnSpPr>
            <a:cxnSpLocks/>
          </p:cNvCxnSpPr>
          <p:nvPr/>
        </p:nvCxnSpPr>
        <p:spPr>
          <a:xfrm flipV="1">
            <a:off x="1414745" y="3735579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376D5FB-5DFC-447F-DF63-B82EBFB653FE}"/>
              </a:ext>
            </a:extLst>
          </p:cNvPr>
          <p:cNvCxnSpPr>
            <a:cxnSpLocks/>
          </p:cNvCxnSpPr>
          <p:nvPr/>
        </p:nvCxnSpPr>
        <p:spPr>
          <a:xfrm>
            <a:off x="1414745" y="3735579"/>
            <a:ext cx="10483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BD660FE-1C3F-32FA-DE0C-0963F0DB7D62}"/>
              </a:ext>
            </a:extLst>
          </p:cNvPr>
          <p:cNvCxnSpPr>
            <a:cxnSpLocks/>
          </p:cNvCxnSpPr>
          <p:nvPr/>
        </p:nvCxnSpPr>
        <p:spPr>
          <a:xfrm flipV="1">
            <a:off x="2477855" y="4627588"/>
            <a:ext cx="0" cy="4779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F6C40C4-C018-B6FF-BCBD-05B1474689F2}"/>
              </a:ext>
            </a:extLst>
          </p:cNvPr>
          <p:cNvCxnSpPr>
            <a:cxnSpLocks/>
          </p:cNvCxnSpPr>
          <p:nvPr/>
        </p:nvCxnSpPr>
        <p:spPr>
          <a:xfrm flipV="1">
            <a:off x="2999710" y="5105570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8663880-1164-DD0A-3531-2F775091C56A}"/>
              </a:ext>
            </a:extLst>
          </p:cNvPr>
          <p:cNvCxnSpPr>
            <a:cxnSpLocks/>
          </p:cNvCxnSpPr>
          <p:nvPr/>
        </p:nvCxnSpPr>
        <p:spPr>
          <a:xfrm flipV="1">
            <a:off x="1951383" y="5105570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485E426-B3A8-F41F-34A9-95FF2B15D253}"/>
              </a:ext>
            </a:extLst>
          </p:cNvPr>
          <p:cNvCxnSpPr>
            <a:cxnSpLocks/>
          </p:cNvCxnSpPr>
          <p:nvPr/>
        </p:nvCxnSpPr>
        <p:spPr>
          <a:xfrm>
            <a:off x="1951383" y="5105570"/>
            <a:ext cx="10483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4DAAC6A0-306D-BFC0-8DD5-E178D74C9213}"/>
              </a:ext>
            </a:extLst>
          </p:cNvPr>
          <p:cNvSpPr/>
          <p:nvPr/>
        </p:nvSpPr>
        <p:spPr>
          <a:xfrm>
            <a:off x="1737945" y="2159518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BA91443-CDDC-8775-3333-EEDE8B64EFD3}"/>
              </a:ext>
            </a:extLst>
          </p:cNvPr>
          <p:cNvSpPr/>
          <p:nvPr/>
        </p:nvSpPr>
        <p:spPr>
          <a:xfrm>
            <a:off x="1725913" y="3514925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D3BA580-4134-2A71-F2B4-8C36ABE06F1B}"/>
              </a:ext>
            </a:extLst>
          </p:cNvPr>
          <p:cNvSpPr/>
          <p:nvPr/>
        </p:nvSpPr>
        <p:spPr>
          <a:xfrm>
            <a:off x="2257291" y="4886885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94CD23-4A97-6940-5588-0AA0A237B42E}"/>
              </a:ext>
            </a:extLst>
          </p:cNvPr>
          <p:cNvSpPr txBox="1"/>
          <p:nvPr/>
        </p:nvSpPr>
        <p:spPr>
          <a:xfrm>
            <a:off x="3538731" y="2189335"/>
            <a:ext cx="3519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LSF: introduction of functionality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8ABC36-84D8-7B3E-1137-8B408AC2EB02}"/>
              </a:ext>
            </a:extLst>
          </p:cNvPr>
          <p:cNvSpPr txBox="1"/>
          <p:nvPr/>
        </p:nvSpPr>
        <p:spPr>
          <a:xfrm>
            <a:off x="3588528" y="3547142"/>
            <a:ext cx="3771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no interference of functional group</a:t>
            </a:r>
          </a:p>
        </p:txBody>
      </p:sp>
      <p:cxnSp>
        <p:nvCxnSpPr>
          <p:cNvPr id="7171" name="Straight Arrow Connector 7170">
            <a:extLst>
              <a:ext uri="{FF2B5EF4-FFF2-40B4-BE49-F238E27FC236}">
                <a16:creationId xmlns:a16="http://schemas.microsoft.com/office/drawing/2014/main" id="{98421C74-A4C9-F9DD-C43E-EADD1858C74A}"/>
              </a:ext>
            </a:extLst>
          </p:cNvPr>
          <p:cNvCxnSpPr>
            <a:cxnSpLocks/>
            <a:stCxn id="60" idx="1"/>
          </p:cNvCxnSpPr>
          <p:nvPr/>
        </p:nvCxnSpPr>
        <p:spPr>
          <a:xfrm flipH="1" flipV="1">
            <a:off x="2240116" y="2373999"/>
            <a:ext cx="1298615" cy="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3" name="Straight Arrow Connector 7172">
            <a:extLst>
              <a:ext uri="{FF2B5EF4-FFF2-40B4-BE49-F238E27FC236}">
                <a16:creationId xmlns:a16="http://schemas.microsoft.com/office/drawing/2014/main" id="{1546B404-63B7-E6BC-6043-BADDE284711E}"/>
              </a:ext>
            </a:extLst>
          </p:cNvPr>
          <p:cNvCxnSpPr>
            <a:cxnSpLocks/>
          </p:cNvCxnSpPr>
          <p:nvPr/>
        </p:nvCxnSpPr>
        <p:spPr>
          <a:xfrm flipH="1">
            <a:off x="2615200" y="3739059"/>
            <a:ext cx="973328" cy="145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76" name="Down Arrow 7175">
            <a:extLst>
              <a:ext uri="{FF2B5EF4-FFF2-40B4-BE49-F238E27FC236}">
                <a16:creationId xmlns:a16="http://schemas.microsoft.com/office/drawing/2014/main" id="{35DF877B-EF58-753F-60D7-3267D1FF8EA4}"/>
              </a:ext>
            </a:extLst>
          </p:cNvPr>
          <p:cNvSpPr/>
          <p:nvPr/>
        </p:nvSpPr>
        <p:spPr>
          <a:xfrm>
            <a:off x="5002924" y="2690126"/>
            <a:ext cx="298174" cy="725557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80" name="Group 7179">
            <a:extLst>
              <a:ext uri="{FF2B5EF4-FFF2-40B4-BE49-F238E27FC236}">
                <a16:creationId xmlns:a16="http://schemas.microsoft.com/office/drawing/2014/main" id="{953D7A1D-F40B-4CCF-B463-D4461C700E13}"/>
              </a:ext>
            </a:extLst>
          </p:cNvPr>
          <p:cNvGrpSpPr/>
          <p:nvPr/>
        </p:nvGrpSpPr>
        <p:grpSpPr>
          <a:xfrm>
            <a:off x="6985835" y="1772598"/>
            <a:ext cx="4699270" cy="1202802"/>
            <a:chOff x="6916261" y="1772598"/>
            <a:chExt cx="4699270" cy="1202802"/>
          </a:xfrm>
        </p:grpSpPr>
        <p:pic>
          <p:nvPicPr>
            <p:cNvPr id="7177" name="Picture 7176">
              <a:extLst>
                <a:ext uri="{FF2B5EF4-FFF2-40B4-BE49-F238E27FC236}">
                  <a16:creationId xmlns:a16="http://schemas.microsoft.com/office/drawing/2014/main" id="{6799D673-8171-FA91-102B-12FCEED18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6261" y="1772598"/>
              <a:ext cx="2696606" cy="1202802"/>
            </a:xfrm>
            <a:prstGeom prst="rect">
              <a:avLst/>
            </a:prstGeom>
          </p:spPr>
        </p:pic>
        <p:sp>
          <p:nvSpPr>
            <p:cNvPr id="7178" name="TextBox 7177">
              <a:extLst>
                <a:ext uri="{FF2B5EF4-FFF2-40B4-BE49-F238E27FC236}">
                  <a16:creationId xmlns:a16="http://schemas.microsoft.com/office/drawing/2014/main" id="{EF8204A0-45D5-169B-8667-A7F28E3CFBD4}"/>
                </a:ext>
              </a:extLst>
            </p:cNvPr>
            <p:cNvSpPr txBox="1"/>
            <p:nvPr/>
          </p:nvSpPr>
          <p:spPr>
            <a:xfrm>
              <a:off x="9552151" y="2146114"/>
              <a:ext cx="20633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venir Book" panose="02000503020000020003" pitchFamily="2" charset="0"/>
                </a:rPr>
                <a:t>site selectivity challenge</a:t>
              </a:r>
            </a:p>
          </p:txBody>
        </p:sp>
      </p:grpSp>
      <p:pic>
        <p:nvPicPr>
          <p:cNvPr id="7181" name="Picture 2" descr="Premium Vector | Check mark and cross circles">
            <a:extLst>
              <a:ext uri="{FF2B5EF4-FFF2-40B4-BE49-F238E27FC236}">
                <a16:creationId xmlns:a16="http://schemas.microsoft.com/office/drawing/2014/main" id="{282BE36C-342E-98EA-D4B1-3FAE3F1E2D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" t="8194" r="51558" b="50857"/>
          <a:stretch/>
        </p:blipFill>
        <p:spPr bwMode="auto">
          <a:xfrm>
            <a:off x="7360394" y="3547142"/>
            <a:ext cx="355196" cy="36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4" name="Picture 2" descr="Wrong cross Vectors - Download Free High-Quality Vectors from Freepik |  Freepik">
            <a:extLst>
              <a:ext uri="{FF2B5EF4-FFF2-40B4-BE49-F238E27FC236}">
                <a16:creationId xmlns:a16="http://schemas.microsoft.com/office/drawing/2014/main" id="{A0E799E3-2C7C-8F6B-3BE8-2B9DFC7112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69" t="51695" r="9061" b="9419"/>
          <a:stretch>
            <a:fillRect/>
          </a:stretch>
        </p:blipFill>
        <p:spPr bwMode="auto">
          <a:xfrm>
            <a:off x="11514273" y="2276678"/>
            <a:ext cx="366016" cy="36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BB31DF1-E2CF-40F1-E208-30CD36704B6E}"/>
              </a:ext>
            </a:extLst>
          </p:cNvPr>
          <p:cNvGrpSpPr/>
          <p:nvPr/>
        </p:nvGrpSpPr>
        <p:grpSpPr>
          <a:xfrm>
            <a:off x="146901" y="884176"/>
            <a:ext cx="11898198" cy="5683723"/>
            <a:chOff x="146901" y="884176"/>
            <a:chExt cx="11898198" cy="568372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435A83-229A-4F59-9AAE-F5535A692228}"/>
                </a:ext>
              </a:extLst>
            </p:cNvPr>
            <p:cNvSpPr/>
            <p:nvPr/>
          </p:nvSpPr>
          <p:spPr>
            <a:xfrm>
              <a:off x="146901" y="884176"/>
              <a:ext cx="11898198" cy="5683723"/>
            </a:xfrm>
            <a:prstGeom prst="rect">
              <a:avLst/>
            </a:prstGeom>
            <a:solidFill>
              <a:srgbClr val="FFFFFF">
                <a:alpha val="7341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238C870-F41C-CD3B-5565-FF6CE88AA1DF}"/>
                </a:ext>
              </a:extLst>
            </p:cNvPr>
            <p:cNvGrpSpPr/>
            <p:nvPr/>
          </p:nvGrpSpPr>
          <p:grpSpPr>
            <a:xfrm>
              <a:off x="872911" y="2483934"/>
              <a:ext cx="10376446" cy="2484209"/>
              <a:chOff x="872911" y="2483934"/>
              <a:chExt cx="10376446" cy="2484209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48EAC52-F246-7286-07AD-E325442BA701}"/>
                  </a:ext>
                </a:extLst>
              </p:cNvPr>
              <p:cNvSpPr/>
              <p:nvPr/>
            </p:nvSpPr>
            <p:spPr>
              <a:xfrm>
                <a:off x="872911" y="2483934"/>
                <a:ext cx="10376446" cy="248420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0276804-3CC6-201C-6EA2-4AEEE37D9CC2}"/>
                  </a:ext>
                </a:extLst>
              </p:cNvPr>
              <p:cNvGrpSpPr/>
              <p:nvPr/>
            </p:nvGrpSpPr>
            <p:grpSpPr>
              <a:xfrm>
                <a:off x="6688918" y="2510371"/>
                <a:ext cx="3666403" cy="1649819"/>
                <a:chOff x="5186241" y="4392766"/>
                <a:chExt cx="3666403" cy="1649819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E77280B1-3E30-1A07-FE53-456ECD15A8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68144" y="4886885"/>
                  <a:ext cx="2984500" cy="1155700"/>
                </a:xfrm>
                <a:prstGeom prst="rect">
                  <a:avLst/>
                </a:prstGeom>
              </p:spPr>
            </p:pic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E2AD828-2266-4262-439F-F50BDDF9B1EE}"/>
                    </a:ext>
                  </a:extLst>
                </p:cNvPr>
                <p:cNvSpPr txBox="1"/>
                <p:nvPr/>
              </p:nvSpPr>
              <p:spPr>
                <a:xfrm>
                  <a:off x="5186241" y="4392766"/>
                  <a:ext cx="1847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b="1" dirty="0">
                    <a:latin typeface="Avenir Book" panose="02000503020000020003" pitchFamily="2" charset="0"/>
                  </a:endParaRPr>
                </a:p>
              </p:txBody>
            </p:sp>
          </p:grpSp>
          <p:pic>
            <p:nvPicPr>
              <p:cNvPr id="9" name="Picture 2" descr="Abstract Image">
                <a:extLst>
                  <a:ext uri="{FF2B5EF4-FFF2-40B4-BE49-F238E27FC236}">
                    <a16:creationId xmlns:a16="http://schemas.microsoft.com/office/drawing/2014/main" id="{152453AE-B77E-BF98-DD23-4791E3B876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2643" y="2536186"/>
                <a:ext cx="5666179" cy="24137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5266EA-0AAB-70E2-44B1-BA1A8D5B4763}"/>
                  </a:ext>
                </a:extLst>
              </p:cNvPr>
              <p:cNvSpPr txBox="1"/>
              <p:nvPr/>
            </p:nvSpPr>
            <p:spPr>
              <a:xfrm>
                <a:off x="7850483" y="4256010"/>
                <a:ext cx="22926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venir Book" panose="02000503020000020003" pitchFamily="2" charset="0"/>
                  </a:rPr>
                  <a:t>Dioxirane oxidations</a:t>
                </a: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57151E7-009B-A931-422F-19338175BCAC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3" name="Picture 2" descr="logo.png">
            <a:extLst>
              <a:ext uri="{FF2B5EF4-FFF2-40B4-BE49-F238E27FC236}">
                <a16:creationId xmlns:a16="http://schemas.microsoft.com/office/drawing/2014/main" id="{4BC0CA9A-3DFB-EEC6-1B11-CD6D5B4298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7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3E26F-FDEA-F11D-4A62-4DBB09676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3FE579-AC5B-03E1-5ECA-981C35BC5895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517ED-647A-7047-74AE-09F847CC1311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Predicting site-selectivity: previous work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75C4E82-F7F4-9E10-AB11-1F3A63C0B1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134"/>
          <a:stretch/>
        </p:blipFill>
        <p:spPr>
          <a:xfrm>
            <a:off x="5378972" y="2464413"/>
            <a:ext cx="1587500" cy="71739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2AE7C26-938E-67EF-A311-D0845622C5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716"/>
          <a:stretch/>
        </p:blipFill>
        <p:spPr>
          <a:xfrm>
            <a:off x="7601675" y="3543787"/>
            <a:ext cx="1638300" cy="63288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8980821-5844-11BD-FFBE-6E76E0C704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731"/>
          <a:stretch/>
        </p:blipFill>
        <p:spPr>
          <a:xfrm>
            <a:off x="9778925" y="4733523"/>
            <a:ext cx="1778000" cy="678700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D5708C87-A62F-DD02-C6D0-8A5498B8D319}"/>
              </a:ext>
            </a:extLst>
          </p:cNvPr>
          <p:cNvGrpSpPr/>
          <p:nvPr/>
        </p:nvGrpSpPr>
        <p:grpSpPr>
          <a:xfrm>
            <a:off x="644790" y="2785298"/>
            <a:ext cx="987401" cy="1030506"/>
            <a:chOff x="757391" y="2751981"/>
            <a:chExt cx="987401" cy="1030506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6D24B3F-9465-0075-76B2-1D37D7E43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7391" y="2751981"/>
              <a:ext cx="987401" cy="761709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D56248D-1B87-C12E-E7D6-E523D4E9AA73}"/>
                </a:ext>
              </a:extLst>
            </p:cNvPr>
            <p:cNvSpPr txBox="1"/>
            <p:nvPr/>
          </p:nvSpPr>
          <p:spPr>
            <a:xfrm>
              <a:off x="757391" y="3474710"/>
              <a:ext cx="987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Book" panose="02000503020000020003" pitchFamily="2" charset="0"/>
                  <a:cs typeface="Segoe UI" panose="020B0502040204020203" pitchFamily="34" charset="0"/>
                </a:rPr>
                <a:t>Graphs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1C58232-256B-F0B5-07EC-3D6F8B01D3D6}"/>
              </a:ext>
            </a:extLst>
          </p:cNvPr>
          <p:cNvGrpSpPr/>
          <p:nvPr/>
        </p:nvGrpSpPr>
        <p:grpSpPr>
          <a:xfrm>
            <a:off x="638275" y="3939607"/>
            <a:ext cx="1000431" cy="1066305"/>
            <a:chOff x="744361" y="3925230"/>
            <a:chExt cx="1000431" cy="1066305"/>
          </a:xfrm>
        </p:grpSpPr>
        <p:pic>
          <p:nvPicPr>
            <p:cNvPr id="59" name="Picture 8" descr="Detailed Input — xtb doc 2023 documentation">
              <a:extLst>
                <a:ext uri="{FF2B5EF4-FFF2-40B4-BE49-F238E27FC236}">
                  <a16:creationId xmlns:a16="http://schemas.microsoft.com/office/drawing/2014/main" id="{C7957595-CD8A-F22C-C377-946F0F2D80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361" y="3925230"/>
              <a:ext cx="990928" cy="761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85176C1-3084-6E6E-E789-0006CA44B743}"/>
                </a:ext>
              </a:extLst>
            </p:cNvPr>
            <p:cNvSpPr txBox="1"/>
            <p:nvPr/>
          </p:nvSpPr>
          <p:spPr>
            <a:xfrm>
              <a:off x="757391" y="4683758"/>
              <a:ext cx="987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Book" panose="02000503020000020003" pitchFamily="2" charset="0"/>
                  <a:cs typeface="Segoe UI" panose="020B0502040204020203" pitchFamily="34" charset="0"/>
                </a:rPr>
                <a:t>xTB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D267D5D-94EC-48A3-152B-C217C9C587B7}"/>
              </a:ext>
            </a:extLst>
          </p:cNvPr>
          <p:cNvGrpSpPr/>
          <p:nvPr/>
        </p:nvGrpSpPr>
        <p:grpSpPr>
          <a:xfrm>
            <a:off x="267778" y="5021736"/>
            <a:ext cx="1778000" cy="999658"/>
            <a:chOff x="369711" y="5051985"/>
            <a:chExt cx="1778000" cy="999658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739417F4-C9C4-FC24-6151-65F72A7CC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3726" y="5051985"/>
              <a:ext cx="1409970" cy="761708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6395E99-0F12-0046-E41D-763F1A3D8964}"/>
                </a:ext>
              </a:extLst>
            </p:cNvPr>
            <p:cNvSpPr txBox="1"/>
            <p:nvPr/>
          </p:nvSpPr>
          <p:spPr>
            <a:xfrm>
              <a:off x="369711" y="5743866"/>
              <a:ext cx="177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Book" panose="02000503020000020003" pitchFamily="2" charset="0"/>
                  <a:cs typeface="Segoe UI" panose="020B0502040204020203" pitchFamily="34" charset="0"/>
                </a:rPr>
                <a:t>Transition States</a:t>
              </a:r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F3D02119-67F7-C40A-2614-25DF2E50D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3351" y="953679"/>
            <a:ext cx="566270" cy="56627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E56F383-EC9A-59A9-7630-508C0238C627}"/>
              </a:ext>
            </a:extLst>
          </p:cNvPr>
          <p:cNvSpPr txBox="1"/>
          <p:nvPr/>
        </p:nvSpPr>
        <p:spPr>
          <a:xfrm>
            <a:off x="5382736" y="708042"/>
            <a:ext cx="158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Neural Network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9F8757D-9D0C-06BC-710F-3AFF9281AE16}"/>
              </a:ext>
            </a:extLst>
          </p:cNvPr>
          <p:cNvGrpSpPr/>
          <p:nvPr/>
        </p:nvGrpSpPr>
        <p:grpSpPr>
          <a:xfrm>
            <a:off x="8230471" y="969200"/>
            <a:ext cx="566270" cy="461751"/>
            <a:chOff x="6352023" y="1231032"/>
            <a:chExt cx="835317" cy="691045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AED60B8-D78F-5F18-7120-6BBB99043E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833" y="1584800"/>
              <a:ext cx="105076" cy="274539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3209C61-1997-F6F5-3D74-0021D3F91BEA}"/>
                </a:ext>
              </a:extLst>
            </p:cNvPr>
            <p:cNvCxnSpPr>
              <a:cxnSpLocks/>
            </p:cNvCxnSpPr>
            <p:nvPr/>
          </p:nvCxnSpPr>
          <p:spPr>
            <a:xfrm>
              <a:off x="6527743" y="1584800"/>
              <a:ext cx="105076" cy="274539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2590060-6802-8508-7319-63F7D0F018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81595" y="1600824"/>
              <a:ext cx="105076" cy="274539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9093A6C-3243-63AA-A760-F5259EB331D3}"/>
                </a:ext>
              </a:extLst>
            </p:cNvPr>
            <p:cNvCxnSpPr>
              <a:cxnSpLocks/>
            </p:cNvCxnSpPr>
            <p:nvPr/>
          </p:nvCxnSpPr>
          <p:spPr>
            <a:xfrm>
              <a:off x="6986505" y="1600824"/>
              <a:ext cx="105076" cy="274539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0D49D6C-07B2-C2A9-7531-A09832104E43}"/>
                </a:ext>
              </a:extLst>
            </p:cNvPr>
            <p:cNvCxnSpPr>
              <a:cxnSpLocks/>
            </p:cNvCxnSpPr>
            <p:nvPr/>
          </p:nvCxnSpPr>
          <p:spPr>
            <a:xfrm>
              <a:off x="6770754" y="1363641"/>
              <a:ext cx="210380" cy="237353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E8D7CAAD-2417-B24F-39E7-1286735F89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5839" y="1356634"/>
              <a:ext cx="210380" cy="237353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D0108B1-FD5D-9D53-54CC-2A88E43142B1}"/>
                </a:ext>
              </a:extLst>
            </p:cNvPr>
            <p:cNvSpPr/>
            <p:nvPr/>
          </p:nvSpPr>
          <p:spPr>
            <a:xfrm>
              <a:off x="6646046" y="1231032"/>
              <a:ext cx="200149" cy="20817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B8125E3-2F69-480D-6EEF-CFF4626F5F85}"/>
                </a:ext>
              </a:extLst>
            </p:cNvPr>
            <p:cNvSpPr/>
            <p:nvPr/>
          </p:nvSpPr>
          <p:spPr>
            <a:xfrm>
              <a:off x="6452460" y="1519792"/>
              <a:ext cx="150565" cy="136121"/>
            </a:xfrm>
            <a:prstGeom prst="ellipse">
              <a:avLst/>
            </a:prstGeom>
            <a:solidFill>
              <a:srgbClr val="91CC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9E859D8-7476-BBB2-D230-6E0BDFAE2BC6}"/>
                </a:ext>
              </a:extLst>
            </p:cNvPr>
            <p:cNvSpPr/>
            <p:nvPr/>
          </p:nvSpPr>
          <p:spPr>
            <a:xfrm>
              <a:off x="6559258" y="1785956"/>
              <a:ext cx="150564" cy="136121"/>
            </a:xfrm>
            <a:prstGeom prst="ellipse">
              <a:avLst/>
            </a:prstGeom>
            <a:solidFill>
              <a:srgbClr val="4E9B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B4FC9E7-AF50-8E9A-D919-781755FA0139}"/>
                </a:ext>
              </a:extLst>
            </p:cNvPr>
            <p:cNvSpPr/>
            <p:nvPr/>
          </p:nvSpPr>
          <p:spPr>
            <a:xfrm>
              <a:off x="6352023" y="1781762"/>
              <a:ext cx="146269" cy="13612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80" name="Triangle 79">
              <a:extLst>
                <a:ext uri="{FF2B5EF4-FFF2-40B4-BE49-F238E27FC236}">
                  <a16:creationId xmlns:a16="http://schemas.microsoft.com/office/drawing/2014/main" id="{C68943DF-2767-705D-E52A-C626FE22758A}"/>
                </a:ext>
              </a:extLst>
            </p:cNvPr>
            <p:cNvSpPr/>
            <p:nvPr/>
          </p:nvSpPr>
          <p:spPr>
            <a:xfrm>
              <a:off x="6882358" y="1520276"/>
              <a:ext cx="210379" cy="131851"/>
            </a:xfrm>
            <a:prstGeom prst="triangle">
              <a:avLst>
                <a:gd name="adj" fmla="val 50000"/>
              </a:avLst>
            </a:prstGeom>
            <a:solidFill>
              <a:srgbClr val="FFD0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81" name="5-point Star 44">
              <a:extLst>
                <a:ext uri="{FF2B5EF4-FFF2-40B4-BE49-F238E27FC236}">
                  <a16:creationId xmlns:a16="http://schemas.microsoft.com/office/drawing/2014/main" id="{6F0FA30B-F4DD-6DBB-782C-341D0C15FEE9}"/>
                </a:ext>
              </a:extLst>
            </p:cNvPr>
            <p:cNvSpPr/>
            <p:nvPr/>
          </p:nvSpPr>
          <p:spPr>
            <a:xfrm>
              <a:off x="6794898" y="1754328"/>
              <a:ext cx="192468" cy="165865"/>
            </a:xfrm>
            <a:prstGeom prst="star5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32215F0-A0C3-53DA-8509-AEC0D2694022}"/>
                </a:ext>
              </a:extLst>
            </p:cNvPr>
            <p:cNvSpPr/>
            <p:nvPr/>
          </p:nvSpPr>
          <p:spPr>
            <a:xfrm>
              <a:off x="7025021" y="1773374"/>
              <a:ext cx="162319" cy="13612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5A53F6CC-CBC9-B512-F002-0A7E63022C89}"/>
              </a:ext>
            </a:extLst>
          </p:cNvPr>
          <p:cNvSpPr txBox="1"/>
          <p:nvPr/>
        </p:nvSpPr>
        <p:spPr>
          <a:xfrm>
            <a:off x="7766950" y="708042"/>
            <a:ext cx="158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Decision Tree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FE59D2B-16D1-C954-7CB7-496CCED9E9F6}"/>
              </a:ext>
            </a:extLst>
          </p:cNvPr>
          <p:cNvGrpSpPr/>
          <p:nvPr/>
        </p:nvGrpSpPr>
        <p:grpSpPr>
          <a:xfrm>
            <a:off x="10582574" y="1006052"/>
            <a:ext cx="400113" cy="437679"/>
            <a:chOff x="5595870" y="5936096"/>
            <a:chExt cx="820663" cy="650120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8C606E4F-C4EF-6C7E-8E62-1D67269B7D73}"/>
                </a:ext>
              </a:extLst>
            </p:cNvPr>
            <p:cNvCxnSpPr/>
            <p:nvPr/>
          </p:nvCxnSpPr>
          <p:spPr>
            <a:xfrm flipV="1">
              <a:off x="5595870" y="5936096"/>
              <a:ext cx="773864" cy="602816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8C9BF2F-1195-9636-B018-D5A96B3A1836}"/>
                </a:ext>
              </a:extLst>
            </p:cNvPr>
            <p:cNvSpPr/>
            <p:nvPr/>
          </p:nvSpPr>
          <p:spPr>
            <a:xfrm>
              <a:off x="5686246" y="6299821"/>
              <a:ext cx="93597" cy="87170"/>
            </a:xfrm>
            <a:prstGeom prst="ellipse">
              <a:avLst/>
            </a:prstGeom>
            <a:solidFill>
              <a:srgbClr val="ED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E83BE727-C40E-0AD5-FCFE-8EC7B5E3C05C}"/>
                </a:ext>
              </a:extLst>
            </p:cNvPr>
            <p:cNvSpPr/>
            <p:nvPr/>
          </p:nvSpPr>
          <p:spPr>
            <a:xfrm>
              <a:off x="5770932" y="6402991"/>
              <a:ext cx="93597" cy="87170"/>
            </a:xfrm>
            <a:prstGeom prst="ellipse">
              <a:avLst/>
            </a:prstGeom>
            <a:solidFill>
              <a:srgbClr val="ED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EC0529D-F1AE-9191-0266-A623B0C1DCB2}"/>
                </a:ext>
              </a:extLst>
            </p:cNvPr>
            <p:cNvSpPr/>
            <p:nvPr/>
          </p:nvSpPr>
          <p:spPr>
            <a:xfrm>
              <a:off x="5939143" y="6192811"/>
              <a:ext cx="93597" cy="87170"/>
            </a:xfrm>
            <a:prstGeom prst="ellipse">
              <a:avLst/>
            </a:prstGeom>
            <a:solidFill>
              <a:srgbClr val="ED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264B0AF-65DF-64E1-612E-FD20040C88A5}"/>
                </a:ext>
              </a:extLst>
            </p:cNvPr>
            <p:cNvSpPr/>
            <p:nvPr/>
          </p:nvSpPr>
          <p:spPr>
            <a:xfrm>
              <a:off x="5885219" y="6288581"/>
              <a:ext cx="93597" cy="87170"/>
            </a:xfrm>
            <a:prstGeom prst="ellipse">
              <a:avLst/>
            </a:prstGeom>
            <a:solidFill>
              <a:srgbClr val="ED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B3014E1-AFF3-374A-43A4-71B99E060812}"/>
                </a:ext>
              </a:extLst>
            </p:cNvPr>
            <p:cNvSpPr/>
            <p:nvPr/>
          </p:nvSpPr>
          <p:spPr>
            <a:xfrm>
              <a:off x="6034196" y="6086616"/>
              <a:ext cx="93597" cy="87170"/>
            </a:xfrm>
            <a:prstGeom prst="ellipse">
              <a:avLst/>
            </a:prstGeom>
            <a:solidFill>
              <a:srgbClr val="ED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F45E87DB-7317-8A83-63D7-4D12C1CE6A71}"/>
                </a:ext>
              </a:extLst>
            </p:cNvPr>
            <p:cNvSpPr/>
            <p:nvPr/>
          </p:nvSpPr>
          <p:spPr>
            <a:xfrm>
              <a:off x="6207330" y="6112098"/>
              <a:ext cx="93597" cy="87170"/>
            </a:xfrm>
            <a:prstGeom prst="ellipse">
              <a:avLst/>
            </a:prstGeom>
            <a:solidFill>
              <a:srgbClr val="ED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7561EAA-EF55-344C-1A42-8987A0C2111B}"/>
                </a:ext>
              </a:extLst>
            </p:cNvPr>
            <p:cNvSpPr/>
            <p:nvPr/>
          </p:nvSpPr>
          <p:spPr>
            <a:xfrm>
              <a:off x="6144754" y="5936096"/>
              <a:ext cx="93597" cy="87170"/>
            </a:xfrm>
            <a:prstGeom prst="ellipse">
              <a:avLst/>
            </a:prstGeom>
            <a:solidFill>
              <a:srgbClr val="ED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91CBB79-E06D-1381-586A-703082DE1EB0}"/>
                </a:ext>
              </a:extLst>
            </p:cNvPr>
            <p:cNvSpPr/>
            <p:nvPr/>
          </p:nvSpPr>
          <p:spPr>
            <a:xfrm>
              <a:off x="6322936" y="5956389"/>
              <a:ext cx="93597" cy="87170"/>
            </a:xfrm>
            <a:prstGeom prst="ellipse">
              <a:avLst/>
            </a:prstGeom>
            <a:solidFill>
              <a:srgbClr val="ED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6EC9B2D-E593-4079-7822-1F31F7CC1DC6}"/>
                </a:ext>
              </a:extLst>
            </p:cNvPr>
            <p:cNvSpPr/>
            <p:nvPr/>
          </p:nvSpPr>
          <p:spPr>
            <a:xfrm>
              <a:off x="6097117" y="6197162"/>
              <a:ext cx="93597" cy="87170"/>
            </a:xfrm>
            <a:prstGeom prst="ellipse">
              <a:avLst/>
            </a:prstGeom>
            <a:solidFill>
              <a:srgbClr val="ED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220C358-B320-7F99-72A4-EF6C1F1155C7}"/>
                </a:ext>
              </a:extLst>
            </p:cNvPr>
            <p:cNvSpPr/>
            <p:nvPr/>
          </p:nvSpPr>
          <p:spPr>
            <a:xfrm>
              <a:off x="5800608" y="6184756"/>
              <a:ext cx="93597" cy="87170"/>
            </a:xfrm>
            <a:prstGeom prst="ellipse">
              <a:avLst/>
            </a:prstGeom>
            <a:solidFill>
              <a:srgbClr val="ED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C5C7F37-5E37-0A7E-E77E-CFF592333F1B}"/>
                </a:ext>
              </a:extLst>
            </p:cNvPr>
            <p:cNvSpPr/>
            <p:nvPr/>
          </p:nvSpPr>
          <p:spPr>
            <a:xfrm>
              <a:off x="5645469" y="6499046"/>
              <a:ext cx="93597" cy="87170"/>
            </a:xfrm>
            <a:prstGeom prst="ellipse">
              <a:avLst/>
            </a:prstGeom>
            <a:solidFill>
              <a:srgbClr val="ED65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27EED990-3946-CA3B-79A4-D34CF9BA7619}"/>
              </a:ext>
            </a:extLst>
          </p:cNvPr>
          <p:cNvSpPr txBox="1"/>
          <p:nvPr/>
        </p:nvSpPr>
        <p:spPr>
          <a:xfrm>
            <a:off x="10039368" y="708042"/>
            <a:ext cx="158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Linear Regression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F4E11EF-159D-AFFF-5D03-4C8ED5A0AF59}"/>
              </a:ext>
            </a:extLst>
          </p:cNvPr>
          <p:cNvGrpSpPr/>
          <p:nvPr/>
        </p:nvGrpSpPr>
        <p:grpSpPr>
          <a:xfrm>
            <a:off x="3431109" y="978534"/>
            <a:ext cx="611513" cy="571793"/>
            <a:chOff x="3853873" y="1024713"/>
            <a:chExt cx="1003001" cy="799440"/>
          </a:xfrm>
        </p:grpSpPr>
        <p:sp>
          <p:nvSpPr>
            <p:cNvPr id="101" name="Right Arrow 100">
              <a:extLst>
                <a:ext uri="{FF2B5EF4-FFF2-40B4-BE49-F238E27FC236}">
                  <a16:creationId xmlns:a16="http://schemas.microsoft.com/office/drawing/2014/main" id="{48626F7F-E895-80E0-82E2-C6911D4CADE0}"/>
                </a:ext>
              </a:extLst>
            </p:cNvPr>
            <p:cNvSpPr/>
            <p:nvPr/>
          </p:nvSpPr>
          <p:spPr>
            <a:xfrm>
              <a:off x="3884210" y="1128440"/>
              <a:ext cx="501839" cy="187272"/>
            </a:xfrm>
            <a:prstGeom prst="rightArrow">
              <a:avLst/>
            </a:prstGeom>
            <a:solidFill>
              <a:srgbClr val="4D9B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venir Book" panose="02000503020000020003" pitchFamily="2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0903175-1CFF-CDEC-E87A-6498BC143560}"/>
                </a:ext>
              </a:extLst>
            </p:cNvPr>
            <p:cNvSpPr/>
            <p:nvPr/>
          </p:nvSpPr>
          <p:spPr>
            <a:xfrm>
              <a:off x="3853873" y="1024713"/>
              <a:ext cx="284153" cy="424420"/>
            </a:xfrm>
            <a:prstGeom prst="rect">
              <a:avLst/>
            </a:prstGeom>
            <a:solidFill>
              <a:srgbClr val="4D9B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venir Book" panose="02000503020000020003" pitchFamily="2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A67F157-1563-C6A9-8BB8-AFD908D9CD9A}"/>
                </a:ext>
              </a:extLst>
            </p:cNvPr>
            <p:cNvSpPr/>
            <p:nvPr/>
          </p:nvSpPr>
          <p:spPr>
            <a:xfrm>
              <a:off x="3969589" y="1179587"/>
              <a:ext cx="282796" cy="42442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venir Book" panose="02000503020000020003" pitchFamily="2" charset="0"/>
              </a:endParaRPr>
            </a:p>
          </p:txBody>
        </p:sp>
        <p:sp>
          <p:nvSpPr>
            <p:cNvPr id="104" name="Right Arrow 103">
              <a:extLst>
                <a:ext uri="{FF2B5EF4-FFF2-40B4-BE49-F238E27FC236}">
                  <a16:creationId xmlns:a16="http://schemas.microsoft.com/office/drawing/2014/main" id="{7AFC5D2B-03B8-96CC-2EC7-CBA65E75E082}"/>
                </a:ext>
              </a:extLst>
            </p:cNvPr>
            <p:cNvSpPr/>
            <p:nvPr/>
          </p:nvSpPr>
          <p:spPr>
            <a:xfrm>
              <a:off x="3999926" y="1297380"/>
              <a:ext cx="475197" cy="187272"/>
            </a:xfrm>
            <a:prstGeom prst="rightArrow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venir Book" panose="02000503020000020003" pitchFamily="2" charset="0"/>
              </a:endParaRPr>
            </a:p>
          </p:txBody>
        </p:sp>
        <p:sp>
          <p:nvSpPr>
            <p:cNvPr id="105" name="Right Arrow 104">
              <a:extLst>
                <a:ext uri="{FF2B5EF4-FFF2-40B4-BE49-F238E27FC236}">
                  <a16:creationId xmlns:a16="http://schemas.microsoft.com/office/drawing/2014/main" id="{A5449797-364C-3BC7-9144-DA973103E392}"/>
                </a:ext>
              </a:extLst>
            </p:cNvPr>
            <p:cNvSpPr/>
            <p:nvPr/>
          </p:nvSpPr>
          <p:spPr>
            <a:xfrm>
              <a:off x="4196808" y="1529288"/>
              <a:ext cx="392229" cy="187272"/>
            </a:xfrm>
            <a:prstGeom prst="rightArrow">
              <a:avLst/>
            </a:prstGeom>
            <a:solidFill>
              <a:srgbClr val="F695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venir Book" panose="02000503020000020003" pitchFamily="2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EA042BC-492C-489B-FA9F-8AD7B0CF04A5}"/>
                </a:ext>
              </a:extLst>
            </p:cNvPr>
            <p:cNvSpPr/>
            <p:nvPr/>
          </p:nvSpPr>
          <p:spPr>
            <a:xfrm>
              <a:off x="4100684" y="1399733"/>
              <a:ext cx="277647" cy="424420"/>
            </a:xfrm>
            <a:prstGeom prst="rect">
              <a:avLst/>
            </a:prstGeom>
            <a:solidFill>
              <a:srgbClr val="F695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venir Book" panose="02000503020000020003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D92EFC88-391B-DC20-E583-8C3218948613}"/>
                </a:ext>
              </a:extLst>
            </p:cNvPr>
            <p:cNvSpPr/>
            <p:nvPr/>
          </p:nvSpPr>
          <p:spPr>
            <a:xfrm>
              <a:off x="4430942" y="1097204"/>
              <a:ext cx="207526" cy="21051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281A0F1-9108-6221-B5C3-0BFA9B5B68D4}"/>
                </a:ext>
              </a:extLst>
            </p:cNvPr>
            <p:cNvSpPr/>
            <p:nvPr/>
          </p:nvSpPr>
          <p:spPr>
            <a:xfrm>
              <a:off x="4512639" y="1246183"/>
              <a:ext cx="207526" cy="21051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4628B30-FD67-DC48-7029-8A2AD9915AC3}"/>
                </a:ext>
              </a:extLst>
            </p:cNvPr>
            <p:cNvSpPr/>
            <p:nvPr/>
          </p:nvSpPr>
          <p:spPr>
            <a:xfrm>
              <a:off x="4586868" y="1383577"/>
              <a:ext cx="207526" cy="21051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FF0629F6-9E10-B933-DCA2-DA18EC2699AB}"/>
                </a:ext>
              </a:extLst>
            </p:cNvPr>
            <p:cNvSpPr/>
            <p:nvPr/>
          </p:nvSpPr>
          <p:spPr>
            <a:xfrm>
              <a:off x="4649348" y="1509664"/>
              <a:ext cx="207526" cy="210513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latin typeface="Avenir Book" panose="02000503020000020003" pitchFamily="2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85F17714-943E-600E-DF8A-09B0DA74A5F3}"/>
              </a:ext>
            </a:extLst>
          </p:cNvPr>
          <p:cNvSpPr txBox="1"/>
          <p:nvPr/>
        </p:nvSpPr>
        <p:spPr>
          <a:xfrm>
            <a:off x="2962039" y="708042"/>
            <a:ext cx="1587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Transformer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773FA97-55FB-1556-DD7C-85A437CEDBEA}"/>
              </a:ext>
            </a:extLst>
          </p:cNvPr>
          <p:cNvGrpSpPr/>
          <p:nvPr/>
        </p:nvGrpSpPr>
        <p:grpSpPr>
          <a:xfrm>
            <a:off x="49208" y="1914836"/>
            <a:ext cx="2178564" cy="585308"/>
            <a:chOff x="143799" y="2113064"/>
            <a:chExt cx="2178564" cy="585308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495CED3-E202-1614-9177-CDB879227E31}"/>
                </a:ext>
              </a:extLst>
            </p:cNvPr>
            <p:cNvSpPr txBox="1"/>
            <p:nvPr/>
          </p:nvSpPr>
          <p:spPr>
            <a:xfrm>
              <a:off x="143799" y="2113064"/>
              <a:ext cx="2178564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1600" dirty="0">
                  <a:solidFill>
                    <a:srgbClr val="000000"/>
                  </a:solidFill>
                  <a:effectLst/>
                  <a:latin typeface="Avenir Book" panose="02000503020000020003" pitchFamily="2" charset="0"/>
                </a:rPr>
                <a:t>C2=CC=C(Br)C=C2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1ABC671-39FF-B2CE-FE2C-D888A057CD78}"/>
                </a:ext>
              </a:extLst>
            </p:cNvPr>
            <p:cNvSpPr txBox="1"/>
            <p:nvPr/>
          </p:nvSpPr>
          <p:spPr>
            <a:xfrm>
              <a:off x="662025" y="2390595"/>
              <a:ext cx="987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venir Book" panose="02000503020000020003" pitchFamily="2" charset="0"/>
                  <a:cs typeface="Segoe UI" panose="020B0502040204020203" pitchFamily="34" charset="0"/>
                </a:rPr>
                <a:t>SMILES</a:t>
              </a:r>
            </a:p>
          </p:txBody>
        </p:sp>
      </p:grp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D7F6EAF-A9AC-AAE4-FA62-4052E4F7568B}"/>
              </a:ext>
            </a:extLst>
          </p:cNvPr>
          <p:cNvCxnSpPr>
            <a:cxnSpLocks/>
          </p:cNvCxnSpPr>
          <p:nvPr/>
        </p:nvCxnSpPr>
        <p:spPr>
          <a:xfrm>
            <a:off x="2614594" y="1611725"/>
            <a:ext cx="898240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0918B10A-50C8-2862-ED7C-4E340F800305}"/>
              </a:ext>
            </a:extLst>
          </p:cNvPr>
          <p:cNvSpPr txBox="1"/>
          <p:nvPr/>
        </p:nvSpPr>
        <p:spPr>
          <a:xfrm>
            <a:off x="4740280" y="1636079"/>
            <a:ext cx="4153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venir Book" panose="02000503020000020003" pitchFamily="2" charset="0"/>
                <a:cs typeface="Segoe UI" panose="020B0502040204020203" pitchFamily="34" charset="0"/>
              </a:rPr>
              <a:t>Decreasing model complexity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3BF1F0A-D9F1-4EF1-9C76-1DE6E39986FA}"/>
              </a:ext>
            </a:extLst>
          </p:cNvPr>
          <p:cNvCxnSpPr>
            <a:cxnSpLocks/>
          </p:cNvCxnSpPr>
          <p:nvPr/>
        </p:nvCxnSpPr>
        <p:spPr>
          <a:xfrm flipH="1">
            <a:off x="2614594" y="1591539"/>
            <a:ext cx="7022" cy="424516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564DDE92-512D-EFE3-FC91-154ADB6438BE}"/>
              </a:ext>
            </a:extLst>
          </p:cNvPr>
          <p:cNvSpPr txBox="1"/>
          <p:nvPr/>
        </p:nvSpPr>
        <p:spPr>
          <a:xfrm rot="16200000">
            <a:off x="181023" y="3569960"/>
            <a:ext cx="4349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venir Book" panose="02000503020000020003" pitchFamily="2" charset="0"/>
                <a:cs typeface="Segoe UI" panose="020B0502040204020203" pitchFamily="34" charset="0"/>
              </a:rPr>
              <a:t>Increasing representation complexity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1063851-AF6E-62EF-87CE-786FD91F0214}"/>
              </a:ext>
            </a:extLst>
          </p:cNvPr>
          <p:cNvSpPr txBox="1"/>
          <p:nvPr/>
        </p:nvSpPr>
        <p:spPr>
          <a:xfrm>
            <a:off x="2672884" y="1752551"/>
            <a:ext cx="23664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General reaction outcome prediction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Accuracy: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~83% for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brominations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Avenir Book" panose="02000503020000020003" pitchFamily="2" charset="0"/>
              <a:cs typeface="Segoe UI" panose="020B0502040204020203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6A7149C-EC83-E04E-EC5A-D709E0B9F85B}"/>
              </a:ext>
            </a:extLst>
          </p:cNvPr>
          <p:cNvSpPr txBox="1"/>
          <p:nvPr/>
        </p:nvSpPr>
        <p:spPr>
          <a:xfrm>
            <a:off x="4784083" y="3205951"/>
            <a:ext cx="25611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Arene borylation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Accuracy: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~90% in sample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~70% out of sample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A3674C2-257D-079C-6A2B-293036A66BB8}"/>
              </a:ext>
            </a:extLst>
          </p:cNvPr>
          <p:cNvSpPr txBox="1"/>
          <p:nvPr/>
        </p:nvSpPr>
        <p:spPr>
          <a:xfrm>
            <a:off x="7008039" y="4202465"/>
            <a:ext cx="26717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EAS</a:t>
            </a:r>
            <a:endParaRPr kumimoji="0" lang="en-US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00503020000020003" pitchFamily="2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Accuracy: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~93% in sample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~90% out of sample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536B808-1E85-909C-41BE-E0A0C3BA0EF5}"/>
              </a:ext>
            </a:extLst>
          </p:cNvPr>
          <p:cNvSpPr txBox="1"/>
          <p:nvPr/>
        </p:nvSpPr>
        <p:spPr>
          <a:xfrm>
            <a:off x="9379996" y="5414557"/>
            <a:ext cx="2608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Ir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-cat. </a:t>
            </a:r>
            <a:r>
              <a:rPr lang="en-US" sz="1600" dirty="0">
                <a:solidFill>
                  <a:prstClr val="black"/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a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rene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 borylation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Accuracy: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~92%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5C020D4-3B3A-299E-993F-814668DFDF4F}"/>
              </a:ext>
            </a:extLst>
          </p:cNvPr>
          <p:cNvSpPr txBox="1"/>
          <p:nvPr/>
        </p:nvSpPr>
        <p:spPr>
          <a:xfrm>
            <a:off x="49208" y="5899290"/>
            <a:ext cx="11995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Ree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 N. 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et al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. 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Digital Discovery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2022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 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 108.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Nippa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 D. F. 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et al. </a:t>
            </a:r>
            <a:r>
              <a:rPr kumimoji="0" lang="en-GB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Chemrxiv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2023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 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Nippa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 D. F. 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et al., </a:t>
            </a:r>
            <a:r>
              <a:rPr kumimoji="0" lang="en-GB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Chemrxiv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2022</a:t>
            </a:r>
            <a:r>
              <a:rPr lang="en-GB" sz="1200" dirty="0">
                <a:solidFill>
                  <a:prstClr val="black"/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.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Caldeweyher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 E. 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et al., JACS, 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2023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 145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 17367–17376.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Schwaller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 P., 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et al.,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 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ACS Cent. Sci.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2019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,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 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5,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1572.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Book" panose="02000503020000020003" pitchFamily="2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6738CF-BA41-378F-C63F-61B7FEB831A8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7" name="Picture 6" descr="logo.png">
            <a:extLst>
              <a:ext uri="{FF2B5EF4-FFF2-40B4-BE49-F238E27FC236}">
                <a16:creationId xmlns:a16="http://schemas.microsoft.com/office/drawing/2014/main" id="{4EBE8B1C-30E4-A85C-BA8B-076E892075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02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79F99B8-430C-9B07-E63F-599A34BDDEDD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BD1BDF-4904-3592-48C8-FB28A085E4DF}"/>
              </a:ext>
            </a:extLst>
          </p:cNvPr>
          <p:cNvSpPr txBox="1"/>
          <p:nvPr/>
        </p:nvSpPr>
        <p:spPr>
          <a:xfrm>
            <a:off x="2957705" y="958959"/>
            <a:ext cx="2226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Complex molecules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4C1D8E2-9B80-0B90-2067-30FF966F6F6D}"/>
              </a:ext>
            </a:extLst>
          </p:cNvPr>
          <p:cNvGrpSpPr/>
          <p:nvPr/>
        </p:nvGrpSpPr>
        <p:grpSpPr>
          <a:xfrm>
            <a:off x="9134375" y="959758"/>
            <a:ext cx="2650726" cy="4081050"/>
            <a:chOff x="8152242" y="959758"/>
            <a:chExt cx="2650726" cy="408105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0765BD-2495-AE37-0D31-75D2F2F7372B}"/>
                </a:ext>
              </a:extLst>
            </p:cNvPr>
            <p:cNvSpPr txBox="1"/>
            <p:nvPr/>
          </p:nvSpPr>
          <p:spPr>
            <a:xfrm>
              <a:off x="8152242" y="4117478"/>
              <a:ext cx="265072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venir Book" panose="02000503020000020003" pitchFamily="2" charset="0"/>
                </a:rPr>
                <a:t>- commercially available</a:t>
              </a:r>
            </a:p>
            <a:p>
              <a:r>
                <a:rPr lang="en-US" dirty="0">
                  <a:latin typeface="Avenir Book" panose="02000503020000020003" pitchFamily="2" charset="0"/>
                </a:rPr>
                <a:t>- easy to characterize</a:t>
              </a:r>
            </a:p>
            <a:p>
              <a:r>
                <a:rPr lang="en-US" dirty="0">
                  <a:latin typeface="Avenir Book" panose="02000503020000020003" pitchFamily="2" charset="0"/>
                </a:rPr>
                <a:t>- prediction: low value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F8CAC-49AF-BD12-9671-66E30FA49643}"/>
                </a:ext>
              </a:extLst>
            </p:cNvPr>
            <p:cNvSpPr txBox="1"/>
            <p:nvPr/>
          </p:nvSpPr>
          <p:spPr>
            <a:xfrm>
              <a:off x="8510033" y="959758"/>
              <a:ext cx="18485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venir Book" panose="02000503020000020003" pitchFamily="2" charset="0"/>
                </a:rPr>
                <a:t>Small molecules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C1A0D2D-1EB0-A4F8-7F3F-CBC8177C2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41005" y="1804772"/>
              <a:ext cx="1473200" cy="19304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E2F4184-065F-3A8C-C903-E97C315AA787}"/>
              </a:ext>
            </a:extLst>
          </p:cNvPr>
          <p:cNvGrpSpPr/>
          <p:nvPr/>
        </p:nvGrpSpPr>
        <p:grpSpPr>
          <a:xfrm>
            <a:off x="-457201" y="2296049"/>
            <a:ext cx="13106401" cy="4037597"/>
            <a:chOff x="-2208912" y="2116017"/>
            <a:chExt cx="13106401" cy="4037597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9678A0A7-EECE-AB46-BBE9-5DF7A734C1A0}"/>
                </a:ext>
              </a:extLst>
            </p:cNvPr>
            <p:cNvSpPr/>
            <p:nvPr/>
          </p:nvSpPr>
          <p:spPr>
            <a:xfrm rot="10800000">
              <a:off x="3670239" y="2116017"/>
              <a:ext cx="4212237" cy="1275253"/>
            </a:xfrm>
            <a:prstGeom prst="rightArrow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tx2">
                    <a:lumMod val="75000"/>
                    <a:lumOff val="25000"/>
                  </a:schemeClr>
                </a:gs>
                <a:gs pos="65000">
                  <a:schemeClr val="accent1">
                    <a:lumMod val="45000"/>
                    <a:lumOff val="55000"/>
                  </a:schemeClr>
                </a:gs>
                <a:gs pos="100000">
                  <a:schemeClr val="tx2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47044A-E030-28EF-0BB8-991DD6E10E40}"/>
                </a:ext>
              </a:extLst>
            </p:cNvPr>
            <p:cNvSpPr txBox="1"/>
            <p:nvPr/>
          </p:nvSpPr>
          <p:spPr>
            <a:xfrm>
              <a:off x="-106374" y="5753504"/>
              <a:ext cx="88144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latin typeface="Avenir Book" panose="02000503020000020003" pitchFamily="2" charset="0"/>
                </a:rPr>
                <a:t>How can we be sure that a model will predict well on a target of interest?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DF5A88D-9096-9C77-06D1-4AAC29297FBA}"/>
                </a:ext>
              </a:extLst>
            </p:cNvPr>
            <p:cNvSpPr/>
            <p:nvPr/>
          </p:nvSpPr>
          <p:spPr>
            <a:xfrm>
              <a:off x="-2208912" y="5468955"/>
              <a:ext cx="13106401" cy="971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65FD2B7-501C-554D-8A7F-9F6F8B5CB9EA}"/>
                </a:ext>
              </a:extLst>
            </p:cNvPr>
            <p:cNvSpPr/>
            <p:nvPr/>
          </p:nvSpPr>
          <p:spPr>
            <a:xfrm>
              <a:off x="4958430" y="2188151"/>
              <a:ext cx="1137570" cy="117653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1770A51-8B19-01F2-3793-A99189FD13BB}"/>
                </a:ext>
              </a:extLst>
            </p:cNvPr>
            <p:cNvGrpSpPr/>
            <p:nvPr/>
          </p:nvGrpSpPr>
          <p:grpSpPr>
            <a:xfrm>
              <a:off x="5158929" y="2433215"/>
              <a:ext cx="776527" cy="610665"/>
              <a:chOff x="6352023" y="1231032"/>
              <a:chExt cx="835317" cy="691045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376EDF2-A615-7906-33AE-C838E36E05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22833" y="1584800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1F26BC8-7B02-3892-4E13-3079F7900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743" y="1584800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8924D9D-682C-0626-CA1E-70BAF66FF9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81595" y="1600824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0C73BD5-1EF8-A72E-2F3E-EB0BAF143C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6505" y="1600824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96912AB-65FE-9B73-36E6-C7F8CFC10C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0754" y="1363641"/>
                <a:ext cx="210380" cy="237353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2209F58-574D-E004-3911-8A25377824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25839" y="1356634"/>
                <a:ext cx="210380" cy="237353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9F528EF-0BA2-488B-1A51-AAA67263998A}"/>
                  </a:ext>
                </a:extLst>
              </p:cNvPr>
              <p:cNvSpPr/>
              <p:nvPr/>
            </p:nvSpPr>
            <p:spPr>
              <a:xfrm>
                <a:off x="6646046" y="1231032"/>
                <a:ext cx="200149" cy="2081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745FB5E-66B5-2E92-3FBC-262707247E65}"/>
                  </a:ext>
                </a:extLst>
              </p:cNvPr>
              <p:cNvSpPr/>
              <p:nvPr/>
            </p:nvSpPr>
            <p:spPr>
              <a:xfrm>
                <a:off x="6452460" y="1519792"/>
                <a:ext cx="150565" cy="136121"/>
              </a:xfrm>
              <a:prstGeom prst="ellipse">
                <a:avLst/>
              </a:prstGeom>
              <a:solidFill>
                <a:srgbClr val="91CC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1017F29-9CDD-11C8-8B15-53FE61AC42D4}"/>
                  </a:ext>
                </a:extLst>
              </p:cNvPr>
              <p:cNvSpPr/>
              <p:nvPr/>
            </p:nvSpPr>
            <p:spPr>
              <a:xfrm>
                <a:off x="6559258" y="1785956"/>
                <a:ext cx="150564" cy="136121"/>
              </a:xfrm>
              <a:prstGeom prst="ellipse">
                <a:avLst/>
              </a:prstGeom>
              <a:solidFill>
                <a:srgbClr val="4E9BB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D63A8BDE-FC67-DD30-702B-A7F95A3B8B08}"/>
                  </a:ext>
                </a:extLst>
              </p:cNvPr>
              <p:cNvSpPr/>
              <p:nvPr/>
            </p:nvSpPr>
            <p:spPr>
              <a:xfrm>
                <a:off x="6352023" y="1781762"/>
                <a:ext cx="146269" cy="13612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30" name="Triangle 29">
                <a:extLst>
                  <a:ext uri="{FF2B5EF4-FFF2-40B4-BE49-F238E27FC236}">
                    <a16:creationId xmlns:a16="http://schemas.microsoft.com/office/drawing/2014/main" id="{7F5D27AC-65BA-C237-76A9-A5F46D61F2D1}"/>
                  </a:ext>
                </a:extLst>
              </p:cNvPr>
              <p:cNvSpPr/>
              <p:nvPr/>
            </p:nvSpPr>
            <p:spPr>
              <a:xfrm>
                <a:off x="6882358" y="1520276"/>
                <a:ext cx="210379" cy="131851"/>
              </a:xfrm>
              <a:prstGeom prst="triangle">
                <a:avLst>
                  <a:gd name="adj" fmla="val 50000"/>
                </a:avLst>
              </a:prstGeom>
              <a:solidFill>
                <a:srgbClr val="FFD0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31" name="5-point Star 30">
                <a:extLst>
                  <a:ext uri="{FF2B5EF4-FFF2-40B4-BE49-F238E27FC236}">
                    <a16:creationId xmlns:a16="http://schemas.microsoft.com/office/drawing/2014/main" id="{35E9959D-54A9-57D2-0E1D-77955AB215B9}"/>
                  </a:ext>
                </a:extLst>
              </p:cNvPr>
              <p:cNvSpPr/>
              <p:nvPr/>
            </p:nvSpPr>
            <p:spPr>
              <a:xfrm>
                <a:off x="6794898" y="1754328"/>
                <a:ext cx="192468" cy="165865"/>
              </a:xfrm>
              <a:prstGeom prst="star5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3C36D23-7B16-F530-EC63-8AF3971F0DD4}"/>
                  </a:ext>
                </a:extLst>
              </p:cNvPr>
              <p:cNvSpPr/>
              <p:nvPr/>
            </p:nvSpPr>
            <p:spPr>
              <a:xfrm>
                <a:off x="7025021" y="1773374"/>
                <a:ext cx="162319" cy="13612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</p:grpSp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6756F7F2-888D-1AB6-F1C4-F0FA09CBB6B8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Predicting site-selectivity on complex molecules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F82CD6-055F-8AA1-DA3E-E2735E0E3270}"/>
              </a:ext>
            </a:extLst>
          </p:cNvPr>
          <p:cNvSpPr/>
          <p:nvPr/>
        </p:nvSpPr>
        <p:spPr>
          <a:xfrm>
            <a:off x="1196327" y="986679"/>
            <a:ext cx="461818" cy="46515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20C5EB-449B-4AC0-EAC3-3B26CAC2F1EA}"/>
              </a:ext>
            </a:extLst>
          </p:cNvPr>
          <p:cNvSpPr/>
          <p:nvPr/>
        </p:nvSpPr>
        <p:spPr>
          <a:xfrm>
            <a:off x="1196327" y="2354424"/>
            <a:ext cx="461818" cy="46515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D15DE3F-8AAE-3816-7265-4AE542E7DC14}"/>
              </a:ext>
            </a:extLst>
          </p:cNvPr>
          <p:cNvGrpSpPr/>
          <p:nvPr/>
        </p:nvGrpSpPr>
        <p:grpSpPr>
          <a:xfrm>
            <a:off x="656193" y="3722169"/>
            <a:ext cx="1521594" cy="465152"/>
            <a:chOff x="6427771" y="4331593"/>
            <a:chExt cx="1521594" cy="46515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280B7C6-CDDC-8933-C6E3-BB3C121F6F36}"/>
                </a:ext>
              </a:extLst>
            </p:cNvPr>
            <p:cNvSpPr/>
            <p:nvPr/>
          </p:nvSpPr>
          <p:spPr>
            <a:xfrm>
              <a:off x="6427771" y="4331593"/>
              <a:ext cx="461818" cy="465152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venir Book" panose="02000503020000020003" pitchFamily="2" charset="0"/>
                </a:rPr>
                <a:t>$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360643F-5B1C-62FF-1E80-4B39DAE67454}"/>
                </a:ext>
              </a:extLst>
            </p:cNvPr>
            <p:cNvSpPr/>
            <p:nvPr/>
          </p:nvSpPr>
          <p:spPr>
            <a:xfrm>
              <a:off x="7487547" y="4331593"/>
              <a:ext cx="461818" cy="46515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9E421053-9ABB-B44C-69B5-0F0FDBC74DA7}"/>
              </a:ext>
            </a:extLst>
          </p:cNvPr>
          <p:cNvSpPr/>
          <p:nvPr/>
        </p:nvSpPr>
        <p:spPr>
          <a:xfrm>
            <a:off x="1183852" y="5096046"/>
            <a:ext cx="461818" cy="4651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248D50C-8666-5434-5881-0BEEB013373D}"/>
              </a:ext>
            </a:extLst>
          </p:cNvPr>
          <p:cNvSpPr/>
          <p:nvPr/>
        </p:nvSpPr>
        <p:spPr>
          <a:xfrm>
            <a:off x="2244654" y="5093699"/>
            <a:ext cx="461818" cy="4651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9D0B9F1-3689-F5B0-52CF-FD2352D64985}"/>
              </a:ext>
            </a:extLst>
          </p:cNvPr>
          <p:cNvCxnSpPr>
            <a:cxnSpLocks/>
            <a:stCxn id="15" idx="0"/>
            <a:endCxn id="3" idx="4"/>
          </p:cNvCxnSpPr>
          <p:nvPr/>
        </p:nvCxnSpPr>
        <p:spPr>
          <a:xfrm flipV="1">
            <a:off x="1427236" y="1451831"/>
            <a:ext cx="0" cy="90259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EF27BEF-D484-5259-54FF-F0E63E628CF3}"/>
              </a:ext>
            </a:extLst>
          </p:cNvPr>
          <p:cNvCxnSpPr>
            <a:cxnSpLocks/>
          </p:cNvCxnSpPr>
          <p:nvPr/>
        </p:nvCxnSpPr>
        <p:spPr>
          <a:xfrm flipV="1">
            <a:off x="1417070" y="2819576"/>
            <a:ext cx="0" cy="4779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06E7BF2-C45E-DCEC-CC01-AC1773423E1E}"/>
              </a:ext>
            </a:extLst>
          </p:cNvPr>
          <p:cNvCxnSpPr>
            <a:cxnSpLocks/>
          </p:cNvCxnSpPr>
          <p:nvPr/>
        </p:nvCxnSpPr>
        <p:spPr>
          <a:xfrm flipV="1">
            <a:off x="1938925" y="3297558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5545A66-9FBC-3D72-87E9-25FF6308E4F2}"/>
              </a:ext>
            </a:extLst>
          </p:cNvPr>
          <p:cNvCxnSpPr>
            <a:cxnSpLocks/>
          </p:cNvCxnSpPr>
          <p:nvPr/>
        </p:nvCxnSpPr>
        <p:spPr>
          <a:xfrm flipV="1">
            <a:off x="890598" y="3297558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0F9E57E-524B-AF67-F1C6-B17282785250}"/>
              </a:ext>
            </a:extLst>
          </p:cNvPr>
          <p:cNvCxnSpPr>
            <a:cxnSpLocks/>
          </p:cNvCxnSpPr>
          <p:nvPr/>
        </p:nvCxnSpPr>
        <p:spPr>
          <a:xfrm>
            <a:off x="890598" y="3297558"/>
            <a:ext cx="10483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7CF59DE-FB64-CC53-9342-9ECF680C288C}"/>
              </a:ext>
            </a:extLst>
          </p:cNvPr>
          <p:cNvCxnSpPr>
            <a:cxnSpLocks/>
          </p:cNvCxnSpPr>
          <p:nvPr/>
        </p:nvCxnSpPr>
        <p:spPr>
          <a:xfrm flipV="1">
            <a:off x="1953708" y="4189567"/>
            <a:ext cx="0" cy="4779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8BED135-4135-17F6-5EFB-5DD29932A0FE}"/>
              </a:ext>
            </a:extLst>
          </p:cNvPr>
          <p:cNvCxnSpPr>
            <a:cxnSpLocks/>
          </p:cNvCxnSpPr>
          <p:nvPr/>
        </p:nvCxnSpPr>
        <p:spPr>
          <a:xfrm flipV="1">
            <a:off x="2475563" y="4667549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091C4DD-73AC-43BD-F077-1429F73236F5}"/>
              </a:ext>
            </a:extLst>
          </p:cNvPr>
          <p:cNvCxnSpPr>
            <a:cxnSpLocks/>
          </p:cNvCxnSpPr>
          <p:nvPr/>
        </p:nvCxnSpPr>
        <p:spPr>
          <a:xfrm flipV="1">
            <a:off x="1427236" y="4667549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08D73D-AB42-74B5-EF2E-99129BF4442F}"/>
              </a:ext>
            </a:extLst>
          </p:cNvPr>
          <p:cNvCxnSpPr>
            <a:cxnSpLocks/>
          </p:cNvCxnSpPr>
          <p:nvPr/>
        </p:nvCxnSpPr>
        <p:spPr>
          <a:xfrm>
            <a:off x="1427236" y="4667549"/>
            <a:ext cx="10483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EA580CE5-00B3-FED9-32FF-E784449141C4}"/>
              </a:ext>
            </a:extLst>
          </p:cNvPr>
          <p:cNvSpPr/>
          <p:nvPr/>
        </p:nvSpPr>
        <p:spPr>
          <a:xfrm>
            <a:off x="1213798" y="1721497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BD97F73-696A-332B-F5D9-16261A71A489}"/>
              </a:ext>
            </a:extLst>
          </p:cNvPr>
          <p:cNvSpPr/>
          <p:nvPr/>
        </p:nvSpPr>
        <p:spPr>
          <a:xfrm>
            <a:off x="1201766" y="3076904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51B5497-359D-6536-6DB5-F2A01B963AF9}"/>
              </a:ext>
            </a:extLst>
          </p:cNvPr>
          <p:cNvSpPr/>
          <p:nvPr/>
        </p:nvSpPr>
        <p:spPr>
          <a:xfrm>
            <a:off x="1733144" y="4448864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53" name="Up Arrow 52">
            <a:extLst>
              <a:ext uri="{FF2B5EF4-FFF2-40B4-BE49-F238E27FC236}">
                <a16:creationId xmlns:a16="http://schemas.microsoft.com/office/drawing/2014/main" id="{20591A69-2198-34C4-6F78-CA4EC194F331}"/>
              </a:ext>
            </a:extLst>
          </p:cNvPr>
          <p:cNvSpPr/>
          <p:nvPr/>
        </p:nvSpPr>
        <p:spPr>
          <a:xfrm>
            <a:off x="31198" y="975113"/>
            <a:ext cx="669074" cy="4583731"/>
          </a:xfrm>
          <a:prstGeom prst="upArrow">
            <a:avLst/>
          </a:prstGeom>
          <a:gradFill>
            <a:gsLst>
              <a:gs pos="82000">
                <a:schemeClr val="tx2">
                  <a:lumMod val="75000"/>
                  <a:lumOff val="25000"/>
                </a:schemeClr>
              </a:gs>
              <a:gs pos="29000">
                <a:schemeClr val="accent2"/>
              </a:gs>
              <a:gs pos="0">
                <a:srgbClr val="C00000"/>
              </a:gs>
              <a:gs pos="53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E2E3A04-60FC-C00D-3B75-0961D68A02BE}"/>
              </a:ext>
            </a:extLst>
          </p:cNvPr>
          <p:cNvSpPr txBox="1"/>
          <p:nvPr/>
        </p:nvSpPr>
        <p:spPr>
          <a:xfrm rot="16200000">
            <a:off x="-869424" y="3109121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Molecular Complexity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E0DF341-0494-861A-48D1-0CAAC3462361}"/>
              </a:ext>
            </a:extLst>
          </p:cNvPr>
          <p:cNvSpPr/>
          <p:nvPr/>
        </p:nvSpPr>
        <p:spPr>
          <a:xfrm>
            <a:off x="-762926" y="815551"/>
            <a:ext cx="3760782" cy="4779869"/>
          </a:xfrm>
          <a:prstGeom prst="rect">
            <a:avLst/>
          </a:prstGeom>
          <a:solidFill>
            <a:schemeClr val="bg1">
              <a:alpha val="7786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8991494-FC03-C50A-2D2B-0996F5D63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586" y="1663887"/>
            <a:ext cx="2984500" cy="215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3FF455-E831-12A0-4534-F3FBA75D9583}"/>
              </a:ext>
            </a:extLst>
          </p:cNvPr>
          <p:cNvSpPr txBox="1"/>
          <p:nvPr/>
        </p:nvSpPr>
        <p:spPr>
          <a:xfrm>
            <a:off x="2778649" y="4117478"/>
            <a:ext cx="26571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- difficult to access</a:t>
            </a:r>
          </a:p>
          <a:p>
            <a:r>
              <a:rPr lang="en-US" dirty="0">
                <a:latin typeface="Avenir Book" panose="02000503020000020003" pitchFamily="2" charset="0"/>
              </a:rPr>
              <a:t>- hard to characterize</a:t>
            </a:r>
          </a:p>
          <a:p>
            <a:r>
              <a:rPr lang="en-US" dirty="0">
                <a:latin typeface="Avenir Book" panose="02000503020000020003" pitchFamily="2" charset="0"/>
              </a:rPr>
              <a:t>- prediction: high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B836CF-2A3B-D6E6-6881-423F5DC4D15F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5" name="Picture 4" descr="logo.png">
            <a:extLst>
              <a:ext uri="{FF2B5EF4-FFF2-40B4-BE49-F238E27FC236}">
                <a16:creationId xmlns:a16="http://schemas.microsoft.com/office/drawing/2014/main" id="{932EC745-1761-2427-CFA0-B102E43CD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8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88DFF-D65C-ECEC-6BAC-149BB20C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127277B-7F50-A6B1-D685-1D87643AA936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7208DEA-0D2B-CB3F-3CF2-93A5FD9C4161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11546AF-F0ED-8329-1932-FCD3DFCA7482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7FF111-BC56-A182-A3B4-98FC06EAF8EE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Perspective for de-risking synthetic planning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94D46D-F344-1A88-98D8-6B81C73D3728}"/>
              </a:ext>
            </a:extLst>
          </p:cNvPr>
          <p:cNvSpPr txBox="1"/>
          <p:nvPr/>
        </p:nvSpPr>
        <p:spPr>
          <a:xfrm>
            <a:off x="161507" y="953508"/>
            <a:ext cx="2100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Synthesis planning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704404-05AC-CA20-D6EC-F836D554DCE1}"/>
              </a:ext>
            </a:extLst>
          </p:cNvPr>
          <p:cNvSpPr/>
          <p:nvPr/>
        </p:nvSpPr>
        <p:spPr>
          <a:xfrm>
            <a:off x="977214" y="1678021"/>
            <a:ext cx="461818" cy="46515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F17DDB-586E-CC39-B8FA-FBFD4A0FB641}"/>
              </a:ext>
            </a:extLst>
          </p:cNvPr>
          <p:cNvSpPr/>
          <p:nvPr/>
        </p:nvSpPr>
        <p:spPr>
          <a:xfrm>
            <a:off x="977214" y="3045766"/>
            <a:ext cx="461818" cy="46515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07837F-D0DE-3894-2303-57BDB0A07B36}"/>
              </a:ext>
            </a:extLst>
          </p:cNvPr>
          <p:cNvGrpSpPr/>
          <p:nvPr/>
        </p:nvGrpSpPr>
        <p:grpSpPr>
          <a:xfrm>
            <a:off x="437080" y="4413511"/>
            <a:ext cx="1521594" cy="465152"/>
            <a:chOff x="6427771" y="4331593"/>
            <a:chExt cx="1521594" cy="46515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192E657-0556-F623-AEDE-E0F7E24535BC}"/>
                </a:ext>
              </a:extLst>
            </p:cNvPr>
            <p:cNvSpPr/>
            <p:nvPr/>
          </p:nvSpPr>
          <p:spPr>
            <a:xfrm>
              <a:off x="6427771" y="4331593"/>
              <a:ext cx="461818" cy="465152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venir Book" panose="02000503020000020003" pitchFamily="2" charset="0"/>
                </a:rPr>
                <a:t>$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2EF7ED0-BD69-E80B-E232-C8A196491BD1}"/>
                </a:ext>
              </a:extLst>
            </p:cNvPr>
            <p:cNvSpPr/>
            <p:nvPr/>
          </p:nvSpPr>
          <p:spPr>
            <a:xfrm>
              <a:off x="7487547" y="4331593"/>
              <a:ext cx="461818" cy="46515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C0214A09-D4C7-FD9D-8FCB-46E136C2AD85}"/>
              </a:ext>
            </a:extLst>
          </p:cNvPr>
          <p:cNvSpPr/>
          <p:nvPr/>
        </p:nvSpPr>
        <p:spPr>
          <a:xfrm>
            <a:off x="964739" y="5787388"/>
            <a:ext cx="461818" cy="4651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63197A-E278-B357-A3DA-92023A82CD8B}"/>
              </a:ext>
            </a:extLst>
          </p:cNvPr>
          <p:cNvSpPr/>
          <p:nvPr/>
        </p:nvSpPr>
        <p:spPr>
          <a:xfrm>
            <a:off x="2025541" y="5785041"/>
            <a:ext cx="461818" cy="4651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C19B96-6298-83A0-0A88-9E5380AEE1A4}"/>
              </a:ext>
            </a:extLst>
          </p:cNvPr>
          <p:cNvCxnSpPr>
            <a:cxnSpLocks/>
            <a:stCxn id="13" idx="0"/>
            <a:endCxn id="12" idx="4"/>
          </p:cNvCxnSpPr>
          <p:nvPr/>
        </p:nvCxnSpPr>
        <p:spPr>
          <a:xfrm flipV="1">
            <a:off x="1208123" y="2143173"/>
            <a:ext cx="0" cy="90259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AD6F70-93CF-AE48-902E-AFEB757A4D14}"/>
              </a:ext>
            </a:extLst>
          </p:cNvPr>
          <p:cNvCxnSpPr>
            <a:cxnSpLocks/>
          </p:cNvCxnSpPr>
          <p:nvPr/>
        </p:nvCxnSpPr>
        <p:spPr>
          <a:xfrm flipV="1">
            <a:off x="1197957" y="3510918"/>
            <a:ext cx="0" cy="4779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7F4F70-059F-1646-0FD2-99CDBCD22B9E}"/>
              </a:ext>
            </a:extLst>
          </p:cNvPr>
          <p:cNvCxnSpPr>
            <a:cxnSpLocks/>
          </p:cNvCxnSpPr>
          <p:nvPr/>
        </p:nvCxnSpPr>
        <p:spPr>
          <a:xfrm flipV="1">
            <a:off x="1719812" y="3988900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D5CCDF-DAF4-A181-0B01-E193C6929FCC}"/>
              </a:ext>
            </a:extLst>
          </p:cNvPr>
          <p:cNvCxnSpPr>
            <a:cxnSpLocks/>
          </p:cNvCxnSpPr>
          <p:nvPr/>
        </p:nvCxnSpPr>
        <p:spPr>
          <a:xfrm flipV="1">
            <a:off x="671485" y="3988900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3AC2A16-C263-A727-55E4-22A57FA58301}"/>
              </a:ext>
            </a:extLst>
          </p:cNvPr>
          <p:cNvCxnSpPr>
            <a:cxnSpLocks/>
          </p:cNvCxnSpPr>
          <p:nvPr/>
        </p:nvCxnSpPr>
        <p:spPr>
          <a:xfrm>
            <a:off x="671485" y="3988900"/>
            <a:ext cx="10483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9660908-BA36-438F-7A23-06C5B88A1894}"/>
              </a:ext>
            </a:extLst>
          </p:cNvPr>
          <p:cNvCxnSpPr>
            <a:cxnSpLocks/>
          </p:cNvCxnSpPr>
          <p:nvPr/>
        </p:nvCxnSpPr>
        <p:spPr>
          <a:xfrm flipV="1">
            <a:off x="1734595" y="4880909"/>
            <a:ext cx="0" cy="4779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3B4AE9-DA03-A1DD-C362-276301B17037}"/>
              </a:ext>
            </a:extLst>
          </p:cNvPr>
          <p:cNvCxnSpPr>
            <a:cxnSpLocks/>
          </p:cNvCxnSpPr>
          <p:nvPr/>
        </p:nvCxnSpPr>
        <p:spPr>
          <a:xfrm flipV="1">
            <a:off x="2256450" y="5358891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2AB2A5-21BD-EE5C-CA01-1FC203FACDF2}"/>
              </a:ext>
            </a:extLst>
          </p:cNvPr>
          <p:cNvCxnSpPr>
            <a:cxnSpLocks/>
          </p:cNvCxnSpPr>
          <p:nvPr/>
        </p:nvCxnSpPr>
        <p:spPr>
          <a:xfrm flipV="1">
            <a:off x="1208123" y="5358891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1E8339-BC08-1A27-FC3B-9A5178EC613C}"/>
              </a:ext>
            </a:extLst>
          </p:cNvPr>
          <p:cNvCxnSpPr>
            <a:cxnSpLocks/>
          </p:cNvCxnSpPr>
          <p:nvPr/>
        </p:nvCxnSpPr>
        <p:spPr>
          <a:xfrm>
            <a:off x="1208123" y="5358891"/>
            <a:ext cx="10483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22B5EC1-CC1A-9E21-F35B-347578BC2712}"/>
              </a:ext>
            </a:extLst>
          </p:cNvPr>
          <p:cNvSpPr/>
          <p:nvPr/>
        </p:nvSpPr>
        <p:spPr>
          <a:xfrm>
            <a:off x="994685" y="2412839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02701F-5DAE-AFAA-56C9-9D9E629A6A1F}"/>
              </a:ext>
            </a:extLst>
          </p:cNvPr>
          <p:cNvSpPr/>
          <p:nvPr/>
        </p:nvSpPr>
        <p:spPr>
          <a:xfrm>
            <a:off x="982653" y="3768246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00A9A8-C87A-22B1-AD1A-D52D3FB926DB}"/>
              </a:ext>
            </a:extLst>
          </p:cNvPr>
          <p:cNvSpPr/>
          <p:nvPr/>
        </p:nvSpPr>
        <p:spPr>
          <a:xfrm>
            <a:off x="1514031" y="5140206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D7008E-098E-7494-2309-6A22B386A8AD}"/>
              </a:ext>
            </a:extLst>
          </p:cNvPr>
          <p:cNvSpPr txBox="1"/>
          <p:nvPr/>
        </p:nvSpPr>
        <p:spPr>
          <a:xfrm>
            <a:off x="1712580" y="1717225"/>
            <a:ext cx="1572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Single step evaluation ? </a:t>
            </a:r>
          </a:p>
        </p:txBody>
      </p:sp>
      <p:sp>
        <p:nvSpPr>
          <p:cNvPr id="33" name="Up Arrow 32">
            <a:extLst>
              <a:ext uri="{FF2B5EF4-FFF2-40B4-BE49-F238E27FC236}">
                <a16:creationId xmlns:a16="http://schemas.microsoft.com/office/drawing/2014/main" id="{3CD0B32F-C031-026A-647E-25DB7C20907C}"/>
              </a:ext>
            </a:extLst>
          </p:cNvPr>
          <p:cNvSpPr/>
          <p:nvPr/>
        </p:nvSpPr>
        <p:spPr>
          <a:xfrm rot="16200000">
            <a:off x="2172532" y="1828953"/>
            <a:ext cx="530490" cy="1572595"/>
          </a:xfrm>
          <a:prstGeom prst="upArrow">
            <a:avLst/>
          </a:prstGeom>
          <a:gradFill>
            <a:gsLst>
              <a:gs pos="93000">
                <a:schemeClr val="bg1"/>
              </a:gs>
              <a:gs pos="58000">
                <a:schemeClr val="tx2">
                  <a:lumMod val="50000"/>
                  <a:lumOff val="50000"/>
                </a:schemeClr>
              </a:gs>
              <a:gs pos="13000">
                <a:schemeClr val="tx2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0393B6-5413-B866-B4A4-64DD080ACCF1}"/>
              </a:ext>
            </a:extLst>
          </p:cNvPr>
          <p:cNvSpPr txBox="1"/>
          <p:nvPr/>
        </p:nvSpPr>
        <p:spPr>
          <a:xfrm>
            <a:off x="9169490" y="3407727"/>
            <a:ext cx="401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spcAft>
                <a:spcPts val="450"/>
              </a:spcAft>
              <a:defRPr/>
            </a:pP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059269A-1E19-3595-715B-10669BBF3A1A}"/>
              </a:ext>
            </a:extLst>
          </p:cNvPr>
          <p:cNvGrpSpPr/>
          <p:nvPr/>
        </p:nvGrpSpPr>
        <p:grpSpPr>
          <a:xfrm>
            <a:off x="4362559" y="1381961"/>
            <a:ext cx="5761120" cy="5082272"/>
            <a:chOff x="4362559" y="1381961"/>
            <a:chExt cx="5761120" cy="5082272"/>
          </a:xfrm>
        </p:grpSpPr>
        <p:sp>
          <p:nvSpPr>
            <p:cNvPr id="36" name="Coins">
              <a:extLst>
                <a:ext uri="{FF2B5EF4-FFF2-40B4-BE49-F238E27FC236}">
                  <a16:creationId xmlns:a16="http://schemas.microsoft.com/office/drawing/2014/main" id="{CD482955-97CB-AC32-2A07-47C417035FDC}"/>
                </a:ext>
              </a:extLst>
            </p:cNvPr>
            <p:cNvSpPr/>
            <p:nvPr/>
          </p:nvSpPr>
          <p:spPr>
            <a:xfrm flipH="1">
              <a:off x="5039343" y="4623200"/>
              <a:ext cx="432571" cy="445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1" y="0"/>
                  </a:moveTo>
                  <a:cubicBezTo>
                    <a:pt x="7949" y="0"/>
                    <a:pt x="5266" y="392"/>
                    <a:pt x="3255" y="1111"/>
                  </a:cubicBezTo>
                  <a:cubicBezTo>
                    <a:pt x="1360" y="1787"/>
                    <a:pt x="273" y="2685"/>
                    <a:pt x="273" y="3572"/>
                  </a:cubicBezTo>
                  <a:cubicBezTo>
                    <a:pt x="273" y="4460"/>
                    <a:pt x="1360" y="5360"/>
                    <a:pt x="3255" y="6035"/>
                  </a:cubicBezTo>
                  <a:cubicBezTo>
                    <a:pt x="5266" y="6749"/>
                    <a:pt x="7949" y="7147"/>
                    <a:pt x="10801" y="7147"/>
                  </a:cubicBezTo>
                  <a:cubicBezTo>
                    <a:pt x="13652" y="7147"/>
                    <a:pt x="16334" y="6754"/>
                    <a:pt x="18345" y="6035"/>
                  </a:cubicBezTo>
                  <a:cubicBezTo>
                    <a:pt x="20240" y="5360"/>
                    <a:pt x="21327" y="4460"/>
                    <a:pt x="21327" y="3572"/>
                  </a:cubicBezTo>
                  <a:cubicBezTo>
                    <a:pt x="21327" y="2685"/>
                    <a:pt x="20240" y="1787"/>
                    <a:pt x="18345" y="1111"/>
                  </a:cubicBezTo>
                  <a:cubicBezTo>
                    <a:pt x="16334" y="398"/>
                    <a:pt x="13652" y="0"/>
                    <a:pt x="10801" y="0"/>
                  </a:cubicBezTo>
                  <a:close/>
                  <a:moveTo>
                    <a:pt x="12" y="4505"/>
                  </a:moveTo>
                  <a:lnTo>
                    <a:pt x="12" y="5914"/>
                  </a:lnTo>
                  <a:cubicBezTo>
                    <a:pt x="12" y="8033"/>
                    <a:pt x="4846" y="9754"/>
                    <a:pt x="10811" y="9754"/>
                  </a:cubicBezTo>
                  <a:cubicBezTo>
                    <a:pt x="16776" y="9754"/>
                    <a:pt x="21600" y="8039"/>
                    <a:pt x="21600" y="5914"/>
                  </a:cubicBezTo>
                  <a:lnTo>
                    <a:pt x="21600" y="4505"/>
                  </a:lnTo>
                  <a:cubicBezTo>
                    <a:pt x="21136" y="5284"/>
                    <a:pt x="20088" y="5991"/>
                    <a:pt x="18531" y="6541"/>
                  </a:cubicBezTo>
                  <a:cubicBezTo>
                    <a:pt x="16460" y="7276"/>
                    <a:pt x="13718" y="7679"/>
                    <a:pt x="10806" y="7679"/>
                  </a:cubicBezTo>
                  <a:cubicBezTo>
                    <a:pt x="7894" y="7679"/>
                    <a:pt x="5146" y="7276"/>
                    <a:pt x="3081" y="6541"/>
                  </a:cubicBezTo>
                  <a:cubicBezTo>
                    <a:pt x="1524" y="5985"/>
                    <a:pt x="476" y="5284"/>
                    <a:pt x="12" y="4505"/>
                  </a:cubicBezTo>
                  <a:close/>
                  <a:moveTo>
                    <a:pt x="0" y="7320"/>
                  </a:moveTo>
                  <a:lnTo>
                    <a:pt x="0" y="8284"/>
                  </a:lnTo>
                  <a:cubicBezTo>
                    <a:pt x="0" y="10402"/>
                    <a:pt x="4836" y="12123"/>
                    <a:pt x="10801" y="12123"/>
                  </a:cubicBezTo>
                  <a:cubicBezTo>
                    <a:pt x="16766" y="12123"/>
                    <a:pt x="21600" y="10408"/>
                    <a:pt x="21600" y="8284"/>
                  </a:cubicBezTo>
                  <a:lnTo>
                    <a:pt x="21600" y="7320"/>
                  </a:lnTo>
                  <a:cubicBezTo>
                    <a:pt x="21458" y="7495"/>
                    <a:pt x="21295" y="7664"/>
                    <a:pt x="21098" y="7827"/>
                  </a:cubicBezTo>
                  <a:cubicBezTo>
                    <a:pt x="20508" y="8329"/>
                    <a:pt x="19672" y="8769"/>
                    <a:pt x="18618" y="9145"/>
                  </a:cubicBezTo>
                  <a:cubicBezTo>
                    <a:pt x="16520" y="9891"/>
                    <a:pt x="13745" y="10299"/>
                    <a:pt x="10801" y="10299"/>
                  </a:cubicBezTo>
                  <a:cubicBezTo>
                    <a:pt x="7856" y="10299"/>
                    <a:pt x="5080" y="9891"/>
                    <a:pt x="2982" y="9145"/>
                  </a:cubicBezTo>
                  <a:cubicBezTo>
                    <a:pt x="1928" y="8769"/>
                    <a:pt x="1099" y="8329"/>
                    <a:pt x="504" y="7827"/>
                  </a:cubicBezTo>
                  <a:cubicBezTo>
                    <a:pt x="307" y="7664"/>
                    <a:pt x="142" y="7495"/>
                    <a:pt x="0" y="7320"/>
                  </a:cubicBezTo>
                  <a:close/>
                  <a:moveTo>
                    <a:pt x="0" y="9689"/>
                  </a:moveTo>
                  <a:lnTo>
                    <a:pt x="0" y="10653"/>
                  </a:lnTo>
                  <a:cubicBezTo>
                    <a:pt x="0" y="12771"/>
                    <a:pt x="4836" y="14492"/>
                    <a:pt x="10801" y="14492"/>
                  </a:cubicBezTo>
                  <a:cubicBezTo>
                    <a:pt x="16766" y="14492"/>
                    <a:pt x="21600" y="12777"/>
                    <a:pt x="21600" y="10653"/>
                  </a:cubicBezTo>
                  <a:lnTo>
                    <a:pt x="21600" y="9689"/>
                  </a:lnTo>
                  <a:cubicBezTo>
                    <a:pt x="21458" y="9864"/>
                    <a:pt x="21295" y="10033"/>
                    <a:pt x="21098" y="10197"/>
                  </a:cubicBezTo>
                  <a:cubicBezTo>
                    <a:pt x="20508" y="10698"/>
                    <a:pt x="19672" y="11138"/>
                    <a:pt x="18618" y="11514"/>
                  </a:cubicBezTo>
                  <a:cubicBezTo>
                    <a:pt x="16520" y="12260"/>
                    <a:pt x="13745" y="12668"/>
                    <a:pt x="10801" y="12668"/>
                  </a:cubicBezTo>
                  <a:cubicBezTo>
                    <a:pt x="7856" y="12668"/>
                    <a:pt x="5080" y="12260"/>
                    <a:pt x="2982" y="11514"/>
                  </a:cubicBezTo>
                  <a:cubicBezTo>
                    <a:pt x="1928" y="11138"/>
                    <a:pt x="1099" y="10698"/>
                    <a:pt x="504" y="10197"/>
                  </a:cubicBezTo>
                  <a:cubicBezTo>
                    <a:pt x="307" y="10033"/>
                    <a:pt x="142" y="9864"/>
                    <a:pt x="0" y="9689"/>
                  </a:cubicBezTo>
                  <a:close/>
                  <a:moveTo>
                    <a:pt x="0" y="12059"/>
                  </a:moveTo>
                  <a:lnTo>
                    <a:pt x="0" y="13022"/>
                  </a:lnTo>
                  <a:cubicBezTo>
                    <a:pt x="0" y="15141"/>
                    <a:pt x="4836" y="16862"/>
                    <a:pt x="10801" y="16862"/>
                  </a:cubicBezTo>
                  <a:cubicBezTo>
                    <a:pt x="16766" y="16862"/>
                    <a:pt x="21600" y="15146"/>
                    <a:pt x="21600" y="13022"/>
                  </a:cubicBezTo>
                  <a:lnTo>
                    <a:pt x="21600" y="12059"/>
                  </a:lnTo>
                  <a:cubicBezTo>
                    <a:pt x="21458" y="12233"/>
                    <a:pt x="21295" y="12402"/>
                    <a:pt x="21098" y="12566"/>
                  </a:cubicBezTo>
                  <a:cubicBezTo>
                    <a:pt x="20508" y="13067"/>
                    <a:pt x="19672" y="13507"/>
                    <a:pt x="18618" y="13883"/>
                  </a:cubicBezTo>
                  <a:cubicBezTo>
                    <a:pt x="16520" y="14629"/>
                    <a:pt x="13745" y="15037"/>
                    <a:pt x="10801" y="15037"/>
                  </a:cubicBezTo>
                  <a:cubicBezTo>
                    <a:pt x="7856" y="15037"/>
                    <a:pt x="5080" y="14629"/>
                    <a:pt x="2982" y="13883"/>
                  </a:cubicBezTo>
                  <a:cubicBezTo>
                    <a:pt x="1928" y="13507"/>
                    <a:pt x="1099" y="13067"/>
                    <a:pt x="504" y="12566"/>
                  </a:cubicBezTo>
                  <a:cubicBezTo>
                    <a:pt x="307" y="12402"/>
                    <a:pt x="142" y="12233"/>
                    <a:pt x="0" y="12059"/>
                  </a:cubicBezTo>
                  <a:close/>
                  <a:moveTo>
                    <a:pt x="0" y="14428"/>
                  </a:moveTo>
                  <a:lnTo>
                    <a:pt x="0" y="15391"/>
                  </a:lnTo>
                  <a:cubicBezTo>
                    <a:pt x="0" y="17510"/>
                    <a:pt x="4836" y="19231"/>
                    <a:pt x="10801" y="19231"/>
                  </a:cubicBezTo>
                  <a:cubicBezTo>
                    <a:pt x="16766" y="19231"/>
                    <a:pt x="21600" y="17515"/>
                    <a:pt x="21600" y="15391"/>
                  </a:cubicBezTo>
                  <a:lnTo>
                    <a:pt x="21600" y="14428"/>
                  </a:lnTo>
                  <a:cubicBezTo>
                    <a:pt x="21458" y="14602"/>
                    <a:pt x="21295" y="14772"/>
                    <a:pt x="21098" y="14935"/>
                  </a:cubicBezTo>
                  <a:cubicBezTo>
                    <a:pt x="20508" y="15436"/>
                    <a:pt x="19672" y="15877"/>
                    <a:pt x="18618" y="16252"/>
                  </a:cubicBezTo>
                  <a:cubicBezTo>
                    <a:pt x="16520" y="16998"/>
                    <a:pt x="13745" y="17406"/>
                    <a:pt x="10801" y="17406"/>
                  </a:cubicBezTo>
                  <a:cubicBezTo>
                    <a:pt x="7856" y="17406"/>
                    <a:pt x="5080" y="16998"/>
                    <a:pt x="2982" y="16252"/>
                  </a:cubicBezTo>
                  <a:cubicBezTo>
                    <a:pt x="1928" y="15877"/>
                    <a:pt x="1099" y="15436"/>
                    <a:pt x="504" y="14935"/>
                  </a:cubicBezTo>
                  <a:cubicBezTo>
                    <a:pt x="307" y="14772"/>
                    <a:pt x="142" y="14602"/>
                    <a:pt x="0" y="14428"/>
                  </a:cubicBezTo>
                  <a:close/>
                  <a:moveTo>
                    <a:pt x="0" y="16797"/>
                  </a:moveTo>
                  <a:lnTo>
                    <a:pt x="0" y="17760"/>
                  </a:lnTo>
                  <a:cubicBezTo>
                    <a:pt x="0" y="19879"/>
                    <a:pt x="4836" y="21600"/>
                    <a:pt x="10801" y="21600"/>
                  </a:cubicBezTo>
                  <a:cubicBezTo>
                    <a:pt x="16766" y="21600"/>
                    <a:pt x="21600" y="19879"/>
                    <a:pt x="21600" y="17760"/>
                  </a:cubicBezTo>
                  <a:lnTo>
                    <a:pt x="21600" y="16797"/>
                  </a:lnTo>
                  <a:cubicBezTo>
                    <a:pt x="21458" y="16971"/>
                    <a:pt x="21295" y="17141"/>
                    <a:pt x="21098" y="17304"/>
                  </a:cubicBezTo>
                  <a:cubicBezTo>
                    <a:pt x="20508" y="17805"/>
                    <a:pt x="19672" y="18246"/>
                    <a:pt x="18618" y="18622"/>
                  </a:cubicBezTo>
                  <a:cubicBezTo>
                    <a:pt x="16520" y="19368"/>
                    <a:pt x="13745" y="19775"/>
                    <a:pt x="10801" y="19775"/>
                  </a:cubicBezTo>
                  <a:cubicBezTo>
                    <a:pt x="7856" y="19775"/>
                    <a:pt x="5080" y="19368"/>
                    <a:pt x="2982" y="18622"/>
                  </a:cubicBezTo>
                  <a:cubicBezTo>
                    <a:pt x="1928" y="18246"/>
                    <a:pt x="1099" y="17805"/>
                    <a:pt x="504" y="17304"/>
                  </a:cubicBezTo>
                  <a:cubicBezTo>
                    <a:pt x="307" y="17141"/>
                    <a:pt x="142" y="16971"/>
                    <a:pt x="0" y="16797"/>
                  </a:cubicBezTo>
                  <a:close/>
                </a:path>
              </a:pathLst>
            </a:custGeom>
            <a:solidFill>
              <a:srgbClr val="E0DDBF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Avenir Book" panose="02000503020000020003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D567DF7-2DFF-4A55-D0E9-3201857773C9}"/>
                </a:ext>
              </a:extLst>
            </p:cNvPr>
            <p:cNvSpPr txBox="1"/>
            <p:nvPr/>
          </p:nvSpPr>
          <p:spPr>
            <a:xfrm>
              <a:off x="8127431" y="5540903"/>
              <a:ext cx="19962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Use acquisition function to select new molecules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7DDDE77-2ABA-8857-E02C-66E7E7A9B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7370" y="5582558"/>
              <a:ext cx="977118" cy="853432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D8EB1D7-7E6F-2E23-F271-042F648CA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31478" y="5299304"/>
              <a:ext cx="864808" cy="85343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E96BF24-A763-B4C5-EF58-7CE949E12B0C}"/>
                </a:ext>
              </a:extLst>
            </p:cNvPr>
            <p:cNvSpPr txBox="1"/>
            <p:nvPr/>
          </p:nvSpPr>
          <p:spPr>
            <a:xfrm>
              <a:off x="4666353" y="4153645"/>
              <a:ext cx="2226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add to training set </a:t>
              </a:r>
            </a:p>
          </p:txBody>
        </p:sp>
        <p:sp>
          <p:nvSpPr>
            <p:cNvPr id="60" name="Circular Arrow 59">
              <a:extLst>
                <a:ext uri="{FF2B5EF4-FFF2-40B4-BE49-F238E27FC236}">
                  <a16:creationId xmlns:a16="http://schemas.microsoft.com/office/drawing/2014/main" id="{B268C5E9-5A5F-4290-0824-84AEF92D289D}"/>
                </a:ext>
              </a:extLst>
            </p:cNvPr>
            <p:cNvSpPr>
              <a:spLocks/>
            </p:cNvSpPr>
            <p:nvPr/>
          </p:nvSpPr>
          <p:spPr>
            <a:xfrm rot="10800000">
              <a:off x="4362559" y="1381961"/>
              <a:ext cx="4816764" cy="4816764"/>
            </a:xfrm>
            <a:prstGeom prst="circularArrow">
              <a:avLst>
                <a:gd name="adj1" fmla="val 1674"/>
                <a:gd name="adj2" fmla="val 507254"/>
                <a:gd name="adj3" fmla="val 20490491"/>
                <a:gd name="adj4" fmla="val 18954718"/>
                <a:gd name="adj5" fmla="val 227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Circular Arrow 61">
              <a:extLst>
                <a:ext uri="{FF2B5EF4-FFF2-40B4-BE49-F238E27FC236}">
                  <a16:creationId xmlns:a16="http://schemas.microsoft.com/office/drawing/2014/main" id="{CBB45D11-4F2A-ED52-A929-0337A5C60B6E}"/>
                </a:ext>
              </a:extLst>
            </p:cNvPr>
            <p:cNvSpPr>
              <a:spLocks/>
            </p:cNvSpPr>
            <p:nvPr/>
          </p:nvSpPr>
          <p:spPr>
            <a:xfrm rot="6497848">
              <a:off x="4388120" y="1408630"/>
              <a:ext cx="4816764" cy="4816765"/>
            </a:xfrm>
            <a:prstGeom prst="circularArrow">
              <a:avLst>
                <a:gd name="adj1" fmla="val 1674"/>
                <a:gd name="adj2" fmla="val 507254"/>
                <a:gd name="adj3" fmla="val 20490491"/>
                <a:gd name="adj4" fmla="val 17241553"/>
                <a:gd name="adj5" fmla="val 227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55B254-FFF4-65F5-6756-4B1F4578E11E}"/>
                </a:ext>
              </a:extLst>
            </p:cNvPr>
            <p:cNvSpPr txBox="1"/>
            <p:nvPr/>
          </p:nvSpPr>
          <p:spPr>
            <a:xfrm>
              <a:off x="5507011" y="4633731"/>
              <a:ext cx="397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venir Book" panose="02000503020000020003" pitchFamily="2" charset="0"/>
                </a:rPr>
                <a:t>or</a:t>
              </a:r>
            </a:p>
          </p:txBody>
        </p:sp>
        <p:pic>
          <p:nvPicPr>
            <p:cNvPr id="64" name="chimiste_fou.png" descr="chimiste_fou.png">
              <a:extLst>
                <a:ext uri="{FF2B5EF4-FFF2-40B4-BE49-F238E27FC236}">
                  <a16:creationId xmlns:a16="http://schemas.microsoft.com/office/drawing/2014/main" id="{3A2E6286-0FEE-0F9E-6B1F-4ADAE10225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-3940"/>
            <a:stretch>
              <a:fillRect/>
            </a:stretch>
          </p:blipFill>
          <p:spPr>
            <a:xfrm>
              <a:off x="5963882" y="4507414"/>
              <a:ext cx="547392" cy="568958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472ED50-6BF9-421B-53B6-87E963B7BF5C}"/>
              </a:ext>
            </a:extLst>
          </p:cNvPr>
          <p:cNvGrpSpPr/>
          <p:nvPr/>
        </p:nvGrpSpPr>
        <p:grpSpPr>
          <a:xfrm>
            <a:off x="4375702" y="742442"/>
            <a:ext cx="4997364" cy="5456284"/>
            <a:chOff x="4375702" y="742442"/>
            <a:chExt cx="4997364" cy="545628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9C35E2C-3C26-2303-8892-0398A15FA9C5}"/>
                </a:ext>
              </a:extLst>
            </p:cNvPr>
            <p:cNvSpPr txBox="1"/>
            <p:nvPr/>
          </p:nvSpPr>
          <p:spPr>
            <a:xfrm>
              <a:off x="5594694" y="742442"/>
              <a:ext cx="22260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Predict selectivity/reactivity</a:t>
              </a: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F698835A-7263-B399-2453-2274D7FA9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20744" y="1242492"/>
              <a:ext cx="1552322" cy="1203485"/>
            </a:xfrm>
            <a:prstGeom prst="rect">
              <a:avLst/>
            </a:prstGeom>
          </p:spPr>
        </p:pic>
        <p:sp>
          <p:nvSpPr>
            <p:cNvPr id="57" name="Circular Arrow 56">
              <a:extLst>
                <a:ext uri="{FF2B5EF4-FFF2-40B4-BE49-F238E27FC236}">
                  <a16:creationId xmlns:a16="http://schemas.microsoft.com/office/drawing/2014/main" id="{AC1E6EC9-47B8-23A6-238B-300EEE9C4B0B}"/>
                </a:ext>
              </a:extLst>
            </p:cNvPr>
            <p:cNvSpPr/>
            <p:nvPr/>
          </p:nvSpPr>
          <p:spPr>
            <a:xfrm rot="18136806">
              <a:off x="4375701" y="1381962"/>
              <a:ext cx="4816765" cy="4816764"/>
            </a:xfrm>
            <a:prstGeom prst="circularArrow">
              <a:avLst>
                <a:gd name="adj1" fmla="val 1674"/>
                <a:gd name="adj2" fmla="val 507254"/>
                <a:gd name="adj3" fmla="val 20490491"/>
                <a:gd name="adj4" fmla="val 18635452"/>
                <a:gd name="adj5" fmla="val 227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5" name="computer_ml.png" descr="computer_ml.png">
              <a:extLst>
                <a:ext uri="{FF2B5EF4-FFF2-40B4-BE49-F238E27FC236}">
                  <a16:creationId xmlns:a16="http://schemas.microsoft.com/office/drawing/2014/main" id="{F5BD4E07-29E7-E153-7709-FA3284AA9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77812" y="1702802"/>
              <a:ext cx="718609" cy="587289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BEED165-09AD-375F-3BEA-A1AB25A89054}"/>
              </a:ext>
            </a:extLst>
          </p:cNvPr>
          <p:cNvGrpSpPr/>
          <p:nvPr/>
        </p:nvGrpSpPr>
        <p:grpSpPr>
          <a:xfrm>
            <a:off x="4384310" y="-858008"/>
            <a:ext cx="8781770" cy="7056733"/>
            <a:chOff x="4384310" y="-858008"/>
            <a:chExt cx="8781770" cy="705673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66DF06-120B-52AE-58A2-CD6916709898}"/>
                </a:ext>
              </a:extLst>
            </p:cNvPr>
            <p:cNvSpPr txBox="1"/>
            <p:nvPr/>
          </p:nvSpPr>
          <p:spPr>
            <a:xfrm>
              <a:off x="8995818" y="2501654"/>
              <a:ext cx="25118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Determine whether prediction is satisfactory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40434A2-8575-186D-B927-47FFEA0FCA30}"/>
                </a:ext>
              </a:extLst>
            </p:cNvPr>
            <p:cNvSpPr txBox="1"/>
            <p:nvPr/>
          </p:nvSpPr>
          <p:spPr>
            <a:xfrm>
              <a:off x="10625154" y="3667254"/>
              <a:ext cx="910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Yes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A21B8D7-4679-C6A4-ED21-553B9F7B46F8}"/>
                </a:ext>
              </a:extLst>
            </p:cNvPr>
            <p:cNvSpPr txBox="1"/>
            <p:nvPr/>
          </p:nvSpPr>
          <p:spPr>
            <a:xfrm>
              <a:off x="8437010" y="4654146"/>
              <a:ext cx="910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No</a:t>
              </a:r>
            </a:p>
          </p:txBody>
        </p:sp>
        <p:sp>
          <p:nvSpPr>
            <p:cNvPr id="58" name="Circular Arrow 57">
              <a:extLst>
                <a:ext uri="{FF2B5EF4-FFF2-40B4-BE49-F238E27FC236}">
                  <a16:creationId xmlns:a16="http://schemas.microsoft.com/office/drawing/2014/main" id="{4B1EBD9E-D590-A329-B4F1-BCB3A834E927}"/>
                </a:ext>
              </a:extLst>
            </p:cNvPr>
            <p:cNvSpPr>
              <a:spLocks/>
            </p:cNvSpPr>
            <p:nvPr/>
          </p:nvSpPr>
          <p:spPr>
            <a:xfrm rot="1683815">
              <a:off x="4384310" y="1381960"/>
              <a:ext cx="4816764" cy="4816765"/>
            </a:xfrm>
            <a:prstGeom prst="circularArrow">
              <a:avLst>
                <a:gd name="adj1" fmla="val 1674"/>
                <a:gd name="adj2" fmla="val 507254"/>
                <a:gd name="adj3" fmla="val 20490491"/>
                <a:gd name="adj4" fmla="val 18100243"/>
                <a:gd name="adj5" fmla="val 227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9" name="Circular Arrow 58">
              <a:extLst>
                <a:ext uri="{FF2B5EF4-FFF2-40B4-BE49-F238E27FC236}">
                  <a16:creationId xmlns:a16="http://schemas.microsoft.com/office/drawing/2014/main" id="{FA8CB5F5-3F5A-96C8-74DF-6BECB81BAE89}"/>
                </a:ext>
              </a:extLst>
            </p:cNvPr>
            <p:cNvSpPr>
              <a:spLocks/>
            </p:cNvSpPr>
            <p:nvPr/>
          </p:nvSpPr>
          <p:spPr>
            <a:xfrm rot="5061826" flipV="1">
              <a:off x="8374065" y="-833257"/>
              <a:ext cx="4816765" cy="4767264"/>
            </a:xfrm>
            <a:prstGeom prst="circularArrow">
              <a:avLst>
                <a:gd name="adj1" fmla="val 1674"/>
                <a:gd name="adj2" fmla="val 507254"/>
                <a:gd name="adj3" fmla="val 20490491"/>
                <a:gd name="adj4" fmla="val 17698024"/>
                <a:gd name="adj5" fmla="val 227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6" name="computer_ml.png" descr="computer_ml.png">
              <a:extLst>
                <a:ext uri="{FF2B5EF4-FFF2-40B4-BE49-F238E27FC236}">
                  <a16:creationId xmlns:a16="http://schemas.microsoft.com/office/drawing/2014/main" id="{2E17A325-EA0A-656B-8AFC-6F87ECC1D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73526" y="3113607"/>
              <a:ext cx="718609" cy="587289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86FBA282-8EFC-EA0F-E8B0-E136C646B9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1438" y="1365962"/>
            <a:ext cx="2530006" cy="2716646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B40694F4-F52F-CC25-AC8D-38AFDA09C0BD}"/>
              </a:ext>
            </a:extLst>
          </p:cNvPr>
          <p:cNvGrpSpPr/>
          <p:nvPr/>
        </p:nvGrpSpPr>
        <p:grpSpPr>
          <a:xfrm>
            <a:off x="10244320" y="4074374"/>
            <a:ext cx="1698774" cy="2391880"/>
            <a:chOff x="10244320" y="4074374"/>
            <a:chExt cx="1698774" cy="2391880"/>
          </a:xfrm>
        </p:grpSpPr>
        <p:sp>
          <p:nvSpPr>
            <p:cNvPr id="71" name="Up Arrow 70">
              <a:extLst>
                <a:ext uri="{FF2B5EF4-FFF2-40B4-BE49-F238E27FC236}">
                  <a16:creationId xmlns:a16="http://schemas.microsoft.com/office/drawing/2014/main" id="{65398D79-2BB5-7FB3-D45D-02AE9F6D83FC}"/>
                </a:ext>
              </a:extLst>
            </p:cNvPr>
            <p:cNvSpPr/>
            <p:nvPr/>
          </p:nvSpPr>
          <p:spPr>
            <a:xfrm rot="10800000">
              <a:off x="10833464" y="4074374"/>
              <a:ext cx="530490" cy="1001998"/>
            </a:xfrm>
            <a:prstGeom prst="upArrow">
              <a:avLst/>
            </a:prstGeom>
            <a:gradFill>
              <a:gsLst>
                <a:gs pos="93000">
                  <a:schemeClr val="bg1"/>
                </a:gs>
                <a:gs pos="58000">
                  <a:schemeClr val="tx2">
                    <a:lumMod val="50000"/>
                    <a:lumOff val="50000"/>
                  </a:schemeClr>
                </a:gs>
                <a:gs pos="13000">
                  <a:schemeClr val="tx2">
                    <a:lumMod val="75000"/>
                    <a:lumOff val="2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FA32EE0-194C-FB59-F94D-F8EAD67F3452}"/>
                </a:ext>
              </a:extLst>
            </p:cNvPr>
            <p:cNvSpPr txBox="1"/>
            <p:nvPr/>
          </p:nvSpPr>
          <p:spPr>
            <a:xfrm>
              <a:off x="10244320" y="5542924"/>
              <a:ext cx="169877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venir Book" panose="02000503020000020003" pitchFamily="2" charset="0"/>
                </a:rPr>
                <a:t>Validate or discard synthetic plan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81934B3-7C92-0EB7-CF21-9B4554E4C4D9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4" name="Picture 3" descr="logo.png">
            <a:extLst>
              <a:ext uri="{FF2B5EF4-FFF2-40B4-BE49-F238E27FC236}">
                <a16:creationId xmlns:a16="http://schemas.microsoft.com/office/drawing/2014/main" id="{C052947C-5465-544E-75C4-61CB03F25B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4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C929B-1196-F415-4D1E-EDE5631DF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2BDCD82-6837-0A53-01C7-81146D00FDE8}"/>
              </a:ext>
            </a:extLst>
          </p:cNvPr>
          <p:cNvSpPr/>
          <p:nvPr/>
        </p:nvSpPr>
        <p:spPr>
          <a:xfrm>
            <a:off x="3978965" y="3960219"/>
            <a:ext cx="7516349" cy="26967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454A24-9E3C-BE21-8D52-799417D6BBB6}"/>
              </a:ext>
            </a:extLst>
          </p:cNvPr>
          <p:cNvSpPr/>
          <p:nvPr/>
        </p:nvSpPr>
        <p:spPr>
          <a:xfrm>
            <a:off x="3978965" y="1122011"/>
            <a:ext cx="7516349" cy="26967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AC25FB-9805-1996-5DBA-781D99C0C1D1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0798DB-58FD-67DD-C9DC-34A002A4D0E8}"/>
              </a:ext>
            </a:extLst>
          </p:cNvPr>
          <p:cNvSpPr/>
          <p:nvPr/>
        </p:nvSpPr>
        <p:spPr>
          <a:xfrm>
            <a:off x="2346399" y="726641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DA16359-A2C5-4FD2-E00A-F5BD97E6F512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Avenir Book" panose="02000503020000020003" pitchFamily="2" charset="0"/>
              </a:rPr>
              <a:t>“Direct” prediction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8160E-4E10-791D-178B-835B7339399D}"/>
              </a:ext>
            </a:extLst>
          </p:cNvPr>
          <p:cNvSpPr txBox="1"/>
          <p:nvPr/>
        </p:nvSpPr>
        <p:spPr>
          <a:xfrm>
            <a:off x="4128328" y="4134723"/>
            <a:ext cx="500233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Use general model?</a:t>
            </a:r>
          </a:p>
          <a:p>
            <a:endParaRPr lang="en-US" dirty="0">
              <a:latin typeface="Avenir Book" panose="02000503020000020003" pitchFamily="2" charset="0"/>
            </a:endParaRPr>
          </a:p>
          <a:p>
            <a:endParaRPr lang="en-US" dirty="0">
              <a:latin typeface="Avenir Book" panose="02000503020000020003" pitchFamily="2" charset="0"/>
            </a:endParaRPr>
          </a:p>
          <a:p>
            <a:endParaRPr lang="en-US" dirty="0">
              <a:latin typeface="Avenir Book" panose="02000503020000020003" pitchFamily="2" charset="0"/>
            </a:endParaRPr>
          </a:p>
          <a:p>
            <a:endParaRPr lang="en-US" dirty="0">
              <a:latin typeface="Avenir Book" panose="02000503020000020003" pitchFamily="2" charset="0"/>
            </a:endParaRPr>
          </a:p>
          <a:p>
            <a:endParaRPr lang="en-US" dirty="0">
              <a:latin typeface="Avenir Book" panose="02000503020000020003" pitchFamily="2" charset="0"/>
            </a:endParaRPr>
          </a:p>
          <a:p>
            <a:endParaRPr lang="en-US" dirty="0">
              <a:latin typeface="Avenir Book" panose="02000503020000020003" pitchFamily="2" charset="0"/>
            </a:endParaRPr>
          </a:p>
          <a:p>
            <a:r>
              <a:rPr lang="en-US" dirty="0">
                <a:latin typeface="Avenir Book" panose="02000503020000020003" pitchFamily="2" charset="0"/>
              </a:rPr>
              <a:t>struggles with regioselectivity (IBM-RXN 2020)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3C5BD0-2CA3-CFBF-699D-1527504376CD}"/>
              </a:ext>
            </a:extLst>
          </p:cNvPr>
          <p:cNvSpPr txBox="1"/>
          <p:nvPr/>
        </p:nvSpPr>
        <p:spPr>
          <a:xfrm>
            <a:off x="4076787" y="1253603"/>
            <a:ext cx="48045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Calculate transition states for all C–H bonds?</a:t>
            </a:r>
          </a:p>
          <a:p>
            <a:endParaRPr lang="en-US" dirty="0">
              <a:latin typeface="Avenir Book" panose="02000503020000020003" pitchFamily="2" charset="0"/>
            </a:endParaRPr>
          </a:p>
          <a:p>
            <a:endParaRPr lang="en-US" dirty="0">
              <a:latin typeface="Avenir Book" panose="02000503020000020003" pitchFamily="2" charset="0"/>
            </a:endParaRPr>
          </a:p>
          <a:p>
            <a:endParaRPr lang="en-US" dirty="0">
              <a:latin typeface="Avenir Book" panose="02000503020000020003" pitchFamily="2" charset="0"/>
            </a:endParaRPr>
          </a:p>
          <a:p>
            <a:endParaRPr lang="en-US" dirty="0">
              <a:latin typeface="Avenir Book" panose="02000503020000020003" pitchFamily="2" charset="0"/>
            </a:endParaRPr>
          </a:p>
          <a:p>
            <a:endParaRPr lang="en-US" dirty="0">
              <a:latin typeface="Avenir Book" panose="02000503020000020003" pitchFamily="2" charset="0"/>
            </a:endParaRPr>
          </a:p>
          <a:p>
            <a:endParaRPr lang="en-US" dirty="0">
              <a:latin typeface="Avenir Book" panose="02000503020000020003" pitchFamily="2" charset="0"/>
            </a:endParaRPr>
          </a:p>
          <a:p>
            <a:r>
              <a:rPr lang="en-US" dirty="0">
                <a:latin typeface="Avenir Book" panose="02000503020000020003" pitchFamily="2" charset="0"/>
              </a:rPr>
              <a:t>Failure to identify tertiary TSs.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25A9DB-6404-9057-47C1-DAF930A8C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889" y="1617802"/>
            <a:ext cx="6032500" cy="187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B36076-3FCE-4186-3DB2-E3C4AAE97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726" y="4712391"/>
            <a:ext cx="4432300" cy="876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21155F-12A5-C876-1608-10C617AE9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10" y="2417902"/>
            <a:ext cx="2984500" cy="2159000"/>
          </a:xfrm>
          <a:prstGeom prst="rect">
            <a:avLst/>
          </a:prstGeom>
        </p:spPr>
      </p:pic>
      <p:pic>
        <p:nvPicPr>
          <p:cNvPr id="2" name="Picture 2" descr="Wrong cross Vectors - Download Free High-Quality Vectors from Freepik |  Freepik">
            <a:extLst>
              <a:ext uri="{FF2B5EF4-FFF2-40B4-BE49-F238E27FC236}">
                <a16:creationId xmlns:a16="http://schemas.microsoft.com/office/drawing/2014/main" id="{8B1155D1-E4F6-53A1-88A3-36CC52B32B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69" t="51695" r="9061" b="9419"/>
          <a:stretch>
            <a:fillRect/>
          </a:stretch>
        </p:blipFill>
        <p:spPr bwMode="auto">
          <a:xfrm>
            <a:off x="3538268" y="5108580"/>
            <a:ext cx="366016" cy="36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6A3927C-52B1-C76A-73EA-537855B0851F}"/>
              </a:ext>
            </a:extLst>
          </p:cNvPr>
          <p:cNvSpPr/>
          <p:nvPr/>
        </p:nvSpPr>
        <p:spPr>
          <a:xfrm>
            <a:off x="3930434" y="3861600"/>
            <a:ext cx="7967764" cy="2996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 descr="Wrong cross Vectors - Download Free High-Quality Vectors from Freepik |  Freepik">
            <a:extLst>
              <a:ext uri="{FF2B5EF4-FFF2-40B4-BE49-F238E27FC236}">
                <a16:creationId xmlns:a16="http://schemas.microsoft.com/office/drawing/2014/main" id="{88268E1A-FC49-23F4-8F2E-7F15E91DD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69" t="51695" r="9061" b="9419"/>
          <a:stretch>
            <a:fillRect/>
          </a:stretch>
        </p:blipFill>
        <p:spPr bwMode="auto">
          <a:xfrm>
            <a:off x="3478852" y="2196993"/>
            <a:ext cx="366016" cy="36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6FFD520-92C6-FA5B-D0B0-BD3502B20A3D}"/>
              </a:ext>
            </a:extLst>
          </p:cNvPr>
          <p:cNvSpPr/>
          <p:nvPr/>
        </p:nvSpPr>
        <p:spPr>
          <a:xfrm>
            <a:off x="4076787" y="3045731"/>
            <a:ext cx="3608378" cy="6768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5B2003-A985-1599-CCF6-028C4365E375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17" name="Picture 16" descr="logo.png">
            <a:extLst>
              <a:ext uri="{FF2B5EF4-FFF2-40B4-BE49-F238E27FC236}">
                <a16:creationId xmlns:a16="http://schemas.microsoft.com/office/drawing/2014/main" id="{DD13E240-3F33-AB9D-F37B-116C6D11CD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5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443EC-7885-D1D7-F5C7-96CAEEB23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B88797-55FF-6070-998D-E81812388414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542A94-9604-FA95-5F57-73E0DB031DA4}"/>
              </a:ext>
            </a:extLst>
          </p:cNvPr>
          <p:cNvSpPr/>
          <p:nvPr/>
        </p:nvSpPr>
        <p:spPr>
          <a:xfrm>
            <a:off x="2346399" y="726641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2FAF11-B6E8-AE31-5403-A3629AC5F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73034" y="1041827"/>
            <a:ext cx="1087738" cy="958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A54D70-5311-2C13-2742-186BC8AE76CA}"/>
              </a:ext>
            </a:extLst>
          </p:cNvPr>
          <p:cNvSpPr txBox="1"/>
          <p:nvPr/>
        </p:nvSpPr>
        <p:spPr>
          <a:xfrm>
            <a:off x="6436927" y="1026121"/>
            <a:ext cx="44573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Literature database - dioxirane oxidations</a:t>
            </a:r>
          </a:p>
          <a:p>
            <a:r>
              <a:rPr lang="en-US" dirty="0">
                <a:latin typeface="Avenir Book" panose="02000503020000020003" pitchFamily="2" charset="0"/>
              </a:rPr>
              <a:t>~130 small molecules</a:t>
            </a:r>
          </a:p>
          <a:p>
            <a:r>
              <a:rPr lang="en-US" dirty="0">
                <a:latin typeface="Avenir Book" panose="02000503020000020003" pitchFamily="2" charset="0"/>
              </a:rPr>
              <a:t>~50 complex molecules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6A5F0A3-ADFF-6084-BAA9-098DBB5D648D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Avenir Book" panose="02000503020000020003" pitchFamily="2" charset="0"/>
              </a:rPr>
              <a:t>C–H bond oxidation database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8FACB3-162D-433F-D45D-08647D5EF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549" y="3057053"/>
            <a:ext cx="2146300" cy="330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076255-FB56-CF51-5BD5-F1F5BF064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398" y="3132688"/>
            <a:ext cx="2082800" cy="1384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68732E-0FBF-9A6A-9201-AEF78327F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5582" y="4200053"/>
            <a:ext cx="2984500" cy="2159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74D516D-DFB8-84D5-78EF-21D38F109618}"/>
              </a:ext>
            </a:extLst>
          </p:cNvPr>
          <p:cNvSpPr txBox="1"/>
          <p:nvPr/>
        </p:nvSpPr>
        <p:spPr>
          <a:xfrm>
            <a:off x="8246699" y="2625163"/>
            <a:ext cx="3137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Complex molecules &gt;= 15 C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4F5C3BB-D1F1-93B8-2DDD-15636C1A6F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381" y="3311463"/>
            <a:ext cx="6265335" cy="24110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551B32-FE1C-7119-05B2-7C6C35E8EC10}"/>
              </a:ext>
            </a:extLst>
          </p:cNvPr>
          <p:cNvSpPr txBox="1"/>
          <p:nvPr/>
        </p:nvSpPr>
        <p:spPr>
          <a:xfrm>
            <a:off x="2136043" y="2625163"/>
            <a:ext cx="261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Small molecules &lt; 15 C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10C2318-2338-8039-36B1-D3A92437C8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5840" y="855215"/>
            <a:ext cx="2984500" cy="11557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A344E6F-929B-67FC-CFC4-D9D850ED6B8A}"/>
              </a:ext>
            </a:extLst>
          </p:cNvPr>
          <p:cNvSpPr/>
          <p:nvPr/>
        </p:nvSpPr>
        <p:spPr>
          <a:xfrm>
            <a:off x="0" y="2184971"/>
            <a:ext cx="12192000" cy="2375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2ECDF0-B8AE-9498-39F7-C6CFC7CB790C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5" name="Picture 4" descr="logo.png">
            <a:extLst>
              <a:ext uri="{FF2B5EF4-FFF2-40B4-BE49-F238E27FC236}">
                <a16:creationId xmlns:a16="http://schemas.microsoft.com/office/drawing/2014/main" id="{0B997F74-8B19-3FA2-E9BB-3AC5C40779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10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2A6DA-2CDD-72AC-3003-8562856F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F49CB3-D394-9B79-C6EE-B7C537B45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213" y="1072540"/>
            <a:ext cx="4371216" cy="569534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54536F1-0064-B407-B9EB-17C8017EBE2D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7BCCE-86C9-6227-41FC-1CF6CD67BB8E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Predicting site-selectivity validation?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D621E-8E49-81EB-A3EC-E00C0BC3DFFE}"/>
              </a:ext>
            </a:extLst>
          </p:cNvPr>
          <p:cNvSpPr txBox="1"/>
          <p:nvPr/>
        </p:nvSpPr>
        <p:spPr>
          <a:xfrm>
            <a:off x="1661999" y="790292"/>
            <a:ext cx="287867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Top-1 model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89F66-48FE-CB4F-8319-88EFABF69FC5}"/>
              </a:ext>
            </a:extLst>
          </p:cNvPr>
          <p:cNvSpPr txBox="1"/>
          <p:nvPr/>
        </p:nvSpPr>
        <p:spPr>
          <a:xfrm>
            <a:off x="5686376" y="1695666"/>
            <a:ext cx="5388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• Textbook baseline: </a:t>
            </a:r>
          </a:p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Benzylic &gt; tertiary &gt; secondary &gt; primary</a:t>
            </a:r>
          </a:p>
          <a:p>
            <a:endParaRPr lang="en-US" dirty="0">
              <a:latin typeface="Avenir Book" panose="02000503020000020003" pitchFamily="2" charset="0"/>
              <a:cs typeface="Segoe UI" panose="020B0502040204020203" pitchFamily="34" charset="0"/>
            </a:endParaRPr>
          </a:p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Validations:</a:t>
            </a:r>
          </a:p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•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Leave one out (LOO) </a:t>
            </a:r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for 185 molecules.</a:t>
            </a:r>
          </a:p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• 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Complex-target validation</a:t>
            </a:r>
            <a:r>
              <a:rPr lang="en-US" b="1" dirty="0">
                <a:latin typeface="Avenir Book" panose="02000503020000020003" pitchFamily="2" charset="0"/>
                <a:cs typeface="Segoe UI" panose="020B0502040204020203" pitchFamily="34" charset="0"/>
              </a:rPr>
              <a:t>:</a:t>
            </a:r>
          </a:p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Train on small molecules (135 molecules) and predict on complex molecules (50 molecules)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86F38-470F-A42F-44DE-6CBA510B39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66" b="36503"/>
          <a:stretch>
            <a:fillRect/>
          </a:stretch>
        </p:blipFill>
        <p:spPr>
          <a:xfrm>
            <a:off x="1240680" y="1078213"/>
            <a:ext cx="4031749" cy="36163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E5BE9F-87FB-243D-92B5-8A1D87D6EA0C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8" name="Picture 7" descr="logo.png">
            <a:extLst>
              <a:ext uri="{FF2B5EF4-FFF2-40B4-BE49-F238E27FC236}">
                <a16:creationId xmlns:a16="http://schemas.microsoft.com/office/drawing/2014/main" id="{CF22C97C-0F51-F510-EFD9-B33CEDFA8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33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0DDE-4C02-C0DB-09AC-6F2B1CB64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44DFF3-854E-7DB1-5134-808446E313F4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CB56F47-8AC9-7C5F-3348-473C65AD8866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BA19C05-2557-5AC9-4127-31A51489606D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49C2907-4691-21F9-B7EE-B10708A4BD09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Avenir Book" panose="02000503020000020003" pitchFamily="2" charset="0"/>
              </a:rPr>
              <a:t>C–H chemical space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578CC-7402-F5A3-BBD7-CA94BE132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635" y="972178"/>
            <a:ext cx="5630721" cy="5630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AD26DE-D568-9D9C-9EA9-1BF640385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227" y="1231387"/>
            <a:ext cx="2984500" cy="2159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8B7FCF-E051-271A-5ED3-178136DD40D7}"/>
              </a:ext>
            </a:extLst>
          </p:cNvPr>
          <p:cNvSpPr txBox="1"/>
          <p:nvPr/>
        </p:nvSpPr>
        <p:spPr>
          <a:xfrm>
            <a:off x="9420648" y="3535365"/>
            <a:ext cx="1836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Target molecule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2BE562-8BF2-4130-62B3-7B54FCAD66DA}"/>
              </a:ext>
            </a:extLst>
          </p:cNvPr>
          <p:cNvSpPr/>
          <p:nvPr/>
        </p:nvSpPr>
        <p:spPr>
          <a:xfrm>
            <a:off x="11239630" y="1431953"/>
            <a:ext cx="196770" cy="19677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48809B-F0E6-531C-FB75-CB41625D5F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411" y="1245654"/>
            <a:ext cx="646023" cy="5693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56529EA-2231-7685-536B-5355933BDC76}"/>
              </a:ext>
            </a:extLst>
          </p:cNvPr>
          <p:cNvSpPr txBox="1"/>
          <p:nvPr/>
        </p:nvSpPr>
        <p:spPr>
          <a:xfrm>
            <a:off x="165765" y="1969735"/>
            <a:ext cx="25557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Stereo-electronic representation:</a:t>
            </a:r>
          </a:p>
          <a:p>
            <a:r>
              <a:rPr lang="en-US" dirty="0">
                <a:latin typeface="Avenir Book" panose="02000503020000020003" pitchFamily="2" charset="0"/>
              </a:rPr>
              <a:t>• BDE</a:t>
            </a:r>
          </a:p>
          <a:p>
            <a:r>
              <a:rPr lang="en-US" dirty="0">
                <a:latin typeface="Avenir Book" panose="02000503020000020003" pitchFamily="2" charset="0"/>
              </a:rPr>
              <a:t>• C-H charges</a:t>
            </a:r>
          </a:p>
          <a:p>
            <a:r>
              <a:rPr lang="en-US" dirty="0">
                <a:latin typeface="Avenir Book" panose="02000503020000020003" pitchFamily="2" charset="0"/>
              </a:rPr>
              <a:t>• %</a:t>
            </a:r>
            <a:r>
              <a:rPr lang="en-US" dirty="0" err="1">
                <a:latin typeface="Avenir Book" panose="02000503020000020003" pitchFamily="2" charset="0"/>
              </a:rPr>
              <a:t>Vbur</a:t>
            </a:r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4D26BA-3230-1821-DB40-913FA9BD72DB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3" name="Picture 2" descr="logo.png">
            <a:extLst>
              <a:ext uri="{FF2B5EF4-FFF2-40B4-BE49-F238E27FC236}">
                <a16:creationId xmlns:a16="http://schemas.microsoft.com/office/drawing/2014/main" id="{DBA5562B-2D3C-9372-0050-C48B843EF7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02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79F99B8-430C-9B07-E63F-599A34BDDEDD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15E9426-E823-56FF-C0F1-D58547E2E581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A2CEBA-E37A-E910-9473-DDDD265C1984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A17F95-FCAD-7CF7-DBE0-FA923EB92C7C}"/>
              </a:ext>
            </a:extLst>
          </p:cNvPr>
          <p:cNvSpPr txBox="1"/>
          <p:nvPr/>
        </p:nvSpPr>
        <p:spPr>
          <a:xfrm>
            <a:off x="144681" y="815521"/>
            <a:ext cx="3213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1. Large foundational model</a:t>
            </a:r>
          </a:p>
          <a:p>
            <a:r>
              <a:rPr lang="en-US" dirty="0">
                <a:latin typeface="Avenir Book" panose="02000503020000020003" pitchFamily="2" charset="0"/>
              </a:rPr>
              <a:t>- Data expensive</a:t>
            </a:r>
          </a:p>
          <a:p>
            <a:r>
              <a:rPr lang="en-US" dirty="0">
                <a:latin typeface="Avenir Book" panose="02000503020000020003" pitchFamily="2" charset="0"/>
              </a:rPr>
              <a:t>- Modeling Challenges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5D3B86-FED6-97CC-98D3-6A0D356AE2F2}"/>
              </a:ext>
            </a:extLst>
          </p:cNvPr>
          <p:cNvSpPr txBox="1"/>
          <p:nvPr/>
        </p:nvSpPr>
        <p:spPr>
          <a:xfrm>
            <a:off x="4226782" y="832585"/>
            <a:ext cx="701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2. Target oriented dataset design:</a:t>
            </a:r>
          </a:p>
          <a:p>
            <a:r>
              <a:rPr lang="en-US" dirty="0">
                <a:latin typeface="Avenir Book" panose="02000503020000020003" pitchFamily="2" charset="0"/>
              </a:rPr>
              <a:t>- Small training set representative of the target reactivity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1A85B4-9CE4-721E-6C66-3179DF9D583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40000" contrast="40000"/>
          </a:blip>
          <a:stretch>
            <a:fillRect/>
          </a:stretch>
        </p:blipFill>
        <p:spPr>
          <a:xfrm>
            <a:off x="496097" y="2212915"/>
            <a:ext cx="2324100" cy="21463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409313-F436-C2A0-9746-49BBB2C157AC}"/>
              </a:ext>
            </a:extLst>
          </p:cNvPr>
          <p:cNvSpPr txBox="1"/>
          <p:nvPr/>
        </p:nvSpPr>
        <p:spPr>
          <a:xfrm>
            <a:off x="1213689" y="4725574"/>
            <a:ext cx="1829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venir Book" panose="02000503020000020003" pitchFamily="2" charset="0"/>
              </a:rPr>
              <a:t>Applicability domain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EC37F1-F6CE-7EF9-DD0B-E7F23D9FD846}"/>
              </a:ext>
            </a:extLst>
          </p:cNvPr>
          <p:cNvSpPr txBox="1"/>
          <p:nvPr/>
        </p:nvSpPr>
        <p:spPr>
          <a:xfrm>
            <a:off x="1213689" y="5007989"/>
            <a:ext cx="1221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venir Book" panose="02000503020000020003" pitchFamily="2" charset="0"/>
              </a:rPr>
              <a:t>Training data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7EED72-ED52-6FB6-16CF-5DCD38679B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40000" contrast="40000"/>
          </a:blip>
          <a:srcRect l="7118" t="55579" r="87369" b="36137"/>
          <a:stretch/>
        </p:blipFill>
        <p:spPr>
          <a:xfrm>
            <a:off x="916175" y="4973049"/>
            <a:ext cx="221801" cy="307778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52C86C46-C289-E130-0935-1E6580B93C25}"/>
              </a:ext>
            </a:extLst>
          </p:cNvPr>
          <p:cNvSpPr/>
          <p:nvPr/>
        </p:nvSpPr>
        <p:spPr>
          <a:xfrm>
            <a:off x="870061" y="4733259"/>
            <a:ext cx="343628" cy="272654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28C0C6-B4D2-8DB7-B7DB-2914D9C3DE7D}"/>
              </a:ext>
            </a:extLst>
          </p:cNvPr>
          <p:cNvGrpSpPr/>
          <p:nvPr/>
        </p:nvGrpSpPr>
        <p:grpSpPr>
          <a:xfrm>
            <a:off x="4037174" y="2303525"/>
            <a:ext cx="2509174" cy="3354482"/>
            <a:chOff x="9366299" y="2661756"/>
            <a:chExt cx="2509174" cy="3354482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9805B7C-B151-5705-1502-FD79D533D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-40000" contrast="40000"/>
            </a:blip>
            <a:stretch>
              <a:fillRect/>
            </a:stretch>
          </p:blipFill>
          <p:spPr>
            <a:xfrm>
              <a:off x="9366299" y="2661756"/>
              <a:ext cx="2324100" cy="21336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E071FA0-9A46-3357-D25B-C3D30A91DD0C}"/>
                </a:ext>
              </a:extLst>
            </p:cNvPr>
            <p:cNvSpPr txBox="1"/>
            <p:nvPr/>
          </p:nvSpPr>
          <p:spPr>
            <a:xfrm>
              <a:off x="10046126" y="5095300"/>
              <a:ext cx="18293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venir Book" panose="02000503020000020003" pitchFamily="2" charset="0"/>
                </a:rPr>
                <a:t>Applicability domain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4A50C1-D35E-D715-C97F-92DC1145B9B0}"/>
                </a:ext>
              </a:extLst>
            </p:cNvPr>
            <p:cNvSpPr txBox="1"/>
            <p:nvPr/>
          </p:nvSpPr>
          <p:spPr>
            <a:xfrm>
              <a:off x="10046126" y="5405425"/>
              <a:ext cx="12212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venir Book" panose="02000503020000020003" pitchFamily="2" charset="0"/>
                </a:rPr>
                <a:t>Training data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FB9103E-6E69-6688-78DD-61636C4430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lum bright="-40000" contrast="40000"/>
            </a:blip>
            <a:srcRect l="7118" t="55579" r="87369" b="36137"/>
            <a:stretch/>
          </p:blipFill>
          <p:spPr>
            <a:xfrm>
              <a:off x="9748612" y="5370485"/>
              <a:ext cx="221801" cy="307778"/>
            </a:xfrm>
            <a:prstGeom prst="rect">
              <a:avLst/>
            </a:prstGeom>
          </p:spPr>
        </p:pic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DDD857-9619-9C71-9F46-0CDA614A02BB}"/>
                </a:ext>
              </a:extLst>
            </p:cNvPr>
            <p:cNvSpPr/>
            <p:nvPr/>
          </p:nvSpPr>
          <p:spPr>
            <a:xfrm>
              <a:off x="9688643" y="5102985"/>
              <a:ext cx="343628" cy="272654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9AE9FC-45C6-077A-E33A-8E7326E1BCD9}"/>
                </a:ext>
              </a:extLst>
            </p:cNvPr>
            <p:cNvSpPr txBox="1"/>
            <p:nvPr/>
          </p:nvSpPr>
          <p:spPr>
            <a:xfrm>
              <a:off x="10046126" y="5708461"/>
              <a:ext cx="68409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venir Book" panose="02000503020000020003" pitchFamily="2" charset="0"/>
                </a:rPr>
                <a:t>Target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AB9EFE50-3B09-3560-4509-B96D3FC2AA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lum bright="-100000" contrast="-100000"/>
            </a:blip>
            <a:srcRect l="7118" t="55579" r="87369" b="36137"/>
            <a:stretch/>
          </p:blipFill>
          <p:spPr>
            <a:xfrm>
              <a:off x="9748612" y="5673521"/>
              <a:ext cx="221801" cy="307778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A3A1F8E-C230-2A37-5193-FF0A9BCD66CE}"/>
              </a:ext>
            </a:extLst>
          </p:cNvPr>
          <p:cNvSpPr txBox="1"/>
          <p:nvPr/>
        </p:nvSpPr>
        <p:spPr>
          <a:xfrm>
            <a:off x="1213689" y="5288328"/>
            <a:ext cx="761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venir Book" panose="02000503020000020003" pitchFamily="2" charset="0"/>
              </a:rPr>
              <a:t>Targets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B531FF-DCFA-8B3A-B211-4AED330F31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100000" contrast="-100000"/>
          </a:blip>
          <a:srcRect l="7118" t="55579" r="87369" b="36137"/>
          <a:stretch/>
        </p:blipFill>
        <p:spPr>
          <a:xfrm>
            <a:off x="916175" y="5253388"/>
            <a:ext cx="221801" cy="307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DA1C3-8E9C-3E3A-6E89-8DA227FE5B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100000" contrast="-100000"/>
          </a:blip>
          <a:srcRect l="7118" t="55579" r="87369" b="36137"/>
          <a:stretch/>
        </p:blipFill>
        <p:spPr>
          <a:xfrm>
            <a:off x="1067853" y="2943475"/>
            <a:ext cx="169344" cy="234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3180D7-0CEC-41B3-D334-295C12B3F9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100000" contrast="-100000"/>
          </a:blip>
          <a:srcRect l="7118" t="55579" r="87369" b="36137"/>
          <a:stretch/>
        </p:blipFill>
        <p:spPr>
          <a:xfrm>
            <a:off x="1555548" y="2537776"/>
            <a:ext cx="169344" cy="2349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DFD576-7F30-BF3A-258F-1AEEB38E97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100000" contrast="-100000"/>
          </a:blip>
          <a:srcRect l="7118" t="55579" r="87369" b="36137"/>
          <a:stretch/>
        </p:blipFill>
        <p:spPr>
          <a:xfrm>
            <a:off x="2032900" y="2943475"/>
            <a:ext cx="169344" cy="2349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50210BC-F5A5-BA99-E778-3B4957180A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100000" contrast="-100000"/>
          </a:blip>
          <a:srcRect l="7118" t="55579" r="87369" b="36137"/>
          <a:stretch/>
        </p:blipFill>
        <p:spPr>
          <a:xfrm>
            <a:off x="1128766" y="3565754"/>
            <a:ext cx="169344" cy="2349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9DA9CC9-13ED-244B-46CC-90635B352F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100000" contrast="-100000"/>
          </a:blip>
          <a:srcRect l="7118" t="55579" r="87369" b="36137"/>
          <a:stretch/>
        </p:blipFill>
        <p:spPr>
          <a:xfrm>
            <a:off x="1640220" y="3194013"/>
            <a:ext cx="169344" cy="23498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F792AFF-1121-78E7-D6E9-334CFB124E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100000" contrast="-100000"/>
          </a:blip>
          <a:srcRect l="7118" t="55579" r="87369" b="36137"/>
          <a:stretch/>
        </p:blipFill>
        <p:spPr>
          <a:xfrm>
            <a:off x="2056200" y="3774434"/>
            <a:ext cx="169344" cy="234987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E2464355-0B28-4D91-9D0E-E519041C64DB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Predicting site-selectivity on complex molecules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DB26A3B-B082-160C-6FA6-439D0A951DAE}"/>
              </a:ext>
            </a:extLst>
          </p:cNvPr>
          <p:cNvGrpSpPr/>
          <p:nvPr/>
        </p:nvGrpSpPr>
        <p:grpSpPr>
          <a:xfrm>
            <a:off x="6797373" y="1596267"/>
            <a:ext cx="4511193" cy="3967765"/>
            <a:chOff x="6797373" y="1596267"/>
            <a:chExt cx="4511193" cy="396776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EF74802-6B99-ADF5-267B-BE27B4686DAE}"/>
                </a:ext>
              </a:extLst>
            </p:cNvPr>
            <p:cNvGrpSpPr/>
            <p:nvPr/>
          </p:nvGrpSpPr>
          <p:grpSpPr>
            <a:xfrm>
              <a:off x="6797373" y="2952796"/>
              <a:ext cx="4511193" cy="2611236"/>
              <a:chOff x="6797373" y="2952796"/>
              <a:chExt cx="4511193" cy="2611236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495C8B8-5B1C-6417-F3D9-A95850C40D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17851" t="52633" r="26762"/>
              <a:stretch/>
            </p:blipFill>
            <p:spPr>
              <a:xfrm>
                <a:off x="7063486" y="4629266"/>
                <a:ext cx="4245080" cy="934766"/>
              </a:xfrm>
              <a:prstGeom prst="rect">
                <a:avLst/>
              </a:prstGeom>
            </p:spPr>
          </p:pic>
          <p:sp>
            <p:nvSpPr>
              <p:cNvPr id="12" name="Right Arrow 11">
                <a:extLst>
                  <a:ext uri="{FF2B5EF4-FFF2-40B4-BE49-F238E27FC236}">
                    <a16:creationId xmlns:a16="http://schemas.microsoft.com/office/drawing/2014/main" id="{7A439948-6196-4E8C-5E26-096223935357}"/>
                  </a:ext>
                </a:extLst>
              </p:cNvPr>
              <p:cNvSpPr/>
              <p:nvPr/>
            </p:nvSpPr>
            <p:spPr>
              <a:xfrm flipH="1">
                <a:off x="6797373" y="3270179"/>
                <a:ext cx="4355971" cy="1036899"/>
              </a:xfrm>
              <a:prstGeom prst="rightArrow">
                <a:avLst/>
              </a:prstGeom>
              <a:gradFill>
                <a:gsLst>
                  <a:gs pos="0">
                    <a:schemeClr val="bg1"/>
                  </a:gs>
                  <a:gs pos="100000">
                    <a:schemeClr val="tx2">
                      <a:lumMod val="75000"/>
                      <a:lumOff val="25000"/>
                    </a:schemeClr>
                  </a:gs>
                  <a:gs pos="65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tx2">
                      <a:lumMod val="75000"/>
                      <a:lumOff val="25000"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Avenir Book" panose="02000503020000020003" pitchFamily="2" charset="0"/>
                    <a:cs typeface="Segoe UI" panose="020B0502040204020203" pitchFamily="34" charset="0"/>
                  </a:rPr>
                  <a:t>Acquisition function</a:t>
                </a:r>
              </a:p>
            </p:txBody>
          </p: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A79C0E16-7541-9A31-D85F-E51A6A0C37A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lum bright="-40000" contrast="40000"/>
              </a:blip>
              <a:srcRect l="7118" t="55579" r="87369" b="36137"/>
              <a:stretch/>
            </p:blipFill>
            <p:spPr>
              <a:xfrm>
                <a:off x="7537663" y="4231433"/>
                <a:ext cx="221801" cy="307778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9602996C-8696-8E73-00D6-441A064C0A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lum bright="-40000" contrast="40000"/>
              </a:blip>
              <a:srcRect l="7118" t="55579" r="87369" b="36137"/>
              <a:stretch/>
            </p:blipFill>
            <p:spPr>
              <a:xfrm>
                <a:off x="9006133" y="4237696"/>
                <a:ext cx="221801" cy="307778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3A88433D-86A3-3137-7734-D17F2A6963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lum bright="-40000" contrast="40000"/>
              </a:blip>
              <a:srcRect l="7118" t="55579" r="87369" b="36137"/>
              <a:stretch/>
            </p:blipFill>
            <p:spPr>
              <a:xfrm>
                <a:off x="10509011" y="4231433"/>
                <a:ext cx="221801" cy="307778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9ED77ED4-B61E-1198-261D-A266DFC673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lum bright="-100000" contrast="-100000"/>
              </a:blip>
              <a:srcRect l="7118" t="55579" r="87369" b="36137"/>
              <a:stretch/>
            </p:blipFill>
            <p:spPr>
              <a:xfrm>
                <a:off x="8965199" y="2952796"/>
                <a:ext cx="221801" cy="307778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D69350-CF5E-C663-01FE-CBEDCEAF0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02603" y="1596267"/>
              <a:ext cx="2179784" cy="157686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DADDC60-52CF-993E-8400-3B2EC56A4E19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23" name="Picture 22" descr="logo.png">
            <a:extLst>
              <a:ext uri="{FF2B5EF4-FFF2-40B4-BE49-F238E27FC236}">
                <a16:creationId xmlns:a16="http://schemas.microsoft.com/office/drawing/2014/main" id="{1A287578-1334-748F-C365-B9D4D52FAF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9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D17E9-F005-3D31-CE0D-101F2DFA4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6D4F98F-51A9-4984-6E4B-43135C43FE36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4DDF9A-80D4-B104-E430-B764704F9185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DB1BA46B-678C-E150-9308-066522D561D7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Active learning baselines: similarity 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3D717B-973E-601C-AA4F-55FB21D40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471" y="1015536"/>
            <a:ext cx="9364577" cy="2002082"/>
          </a:xfrm>
          <a:prstGeom prst="rect">
            <a:avLst/>
          </a:prstGeom>
        </p:spPr>
      </p:pic>
      <p:sp>
        <p:nvSpPr>
          <p:cNvPr id="23" name="Right Arrow 22">
            <a:extLst>
              <a:ext uri="{FF2B5EF4-FFF2-40B4-BE49-F238E27FC236}">
                <a16:creationId xmlns:a16="http://schemas.microsoft.com/office/drawing/2014/main" id="{7D4BDE11-8185-1E2D-EF45-802AD8D0F81B}"/>
              </a:ext>
            </a:extLst>
          </p:cNvPr>
          <p:cNvSpPr/>
          <p:nvPr/>
        </p:nvSpPr>
        <p:spPr>
          <a:xfrm>
            <a:off x="8129522" y="1372123"/>
            <a:ext cx="1029858" cy="64792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  <a:gs pos="61000">
                <a:schemeClr val="accent5">
                  <a:lumMod val="20000"/>
                  <a:lumOff val="80000"/>
                </a:schemeClr>
              </a:gs>
              <a:gs pos="97000">
                <a:schemeClr val="accent5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C5E938E-F322-8B17-5F4C-F32DF98C206A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B0473A3-50E6-4BAA-72FD-C6D3E5D845A0}"/>
              </a:ext>
            </a:extLst>
          </p:cNvPr>
          <p:cNvSpPr/>
          <p:nvPr/>
        </p:nvSpPr>
        <p:spPr>
          <a:xfrm>
            <a:off x="3859494" y="292781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C4A3AB1-8596-CFD0-93A0-9FD81B64044C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65">
            <a:extLst>
              <a:ext uri="{FF2B5EF4-FFF2-40B4-BE49-F238E27FC236}">
                <a16:creationId xmlns:a16="http://schemas.microsoft.com/office/drawing/2014/main" id="{398A0777-7141-76B6-BCE9-076A8C071F6E}"/>
              </a:ext>
            </a:extLst>
          </p:cNvPr>
          <p:cNvSpPr txBox="1"/>
          <p:nvPr/>
        </p:nvSpPr>
        <p:spPr>
          <a:xfrm>
            <a:off x="20000" y="730156"/>
            <a:ext cx="1185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Avenir Book" panose="02000503020000020003" pitchFamily="2" charset="0"/>
                <a:cs typeface="Segoe UI" panose="020B0502040204020203" pitchFamily="34" charset="0"/>
              </a:rPr>
              <a:t>What makes a training molecule “good” for prediction on a target? </a:t>
            </a:r>
          </a:p>
        </p:txBody>
      </p:sp>
      <p:sp>
        <p:nvSpPr>
          <p:cNvPr id="43" name="TextBox 65">
            <a:extLst>
              <a:ext uri="{FF2B5EF4-FFF2-40B4-BE49-F238E27FC236}">
                <a16:creationId xmlns:a16="http://schemas.microsoft.com/office/drawing/2014/main" id="{90EFF2BD-E162-AC5C-4958-E584C2460ADC}"/>
              </a:ext>
            </a:extLst>
          </p:cNvPr>
          <p:cNvSpPr txBox="1"/>
          <p:nvPr/>
        </p:nvSpPr>
        <p:spPr>
          <a:xfrm>
            <a:off x="1444372" y="1420259"/>
            <a:ext cx="402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Scaffold similarity</a:t>
            </a:r>
          </a:p>
        </p:txBody>
      </p:sp>
      <p:sp>
        <p:nvSpPr>
          <p:cNvPr id="44" name="TextBox 65">
            <a:extLst>
              <a:ext uri="{FF2B5EF4-FFF2-40B4-BE49-F238E27FC236}">
                <a16:creationId xmlns:a16="http://schemas.microsoft.com/office/drawing/2014/main" id="{DE15F4E2-6560-AC05-6BD8-74DDB9383BDC}"/>
              </a:ext>
            </a:extLst>
          </p:cNvPr>
          <p:cNvSpPr txBox="1"/>
          <p:nvPr/>
        </p:nvSpPr>
        <p:spPr>
          <a:xfrm>
            <a:off x="6657688" y="2248166"/>
            <a:ext cx="402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b="1" i="0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C–H</a:t>
            </a:r>
            <a:r>
              <a:rPr lang="en-US" b="1" dirty="0">
                <a:solidFill>
                  <a:schemeClr val="accent5"/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 site similarity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22D589C-ED37-38FE-F9CA-3C3A6BFAA761}"/>
              </a:ext>
            </a:extLst>
          </p:cNvPr>
          <p:cNvSpPr/>
          <p:nvPr/>
        </p:nvSpPr>
        <p:spPr>
          <a:xfrm>
            <a:off x="4843155" y="3907015"/>
            <a:ext cx="307731" cy="3071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0316904F-55DF-02FF-8BFE-D29A808AFE6E}"/>
              </a:ext>
            </a:extLst>
          </p:cNvPr>
          <p:cNvSpPr/>
          <p:nvPr/>
        </p:nvSpPr>
        <p:spPr>
          <a:xfrm rot="10800000">
            <a:off x="2631173" y="1966487"/>
            <a:ext cx="1228321" cy="64792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64FB6C"/>
              </a:gs>
              <a:gs pos="65000">
                <a:schemeClr val="accent6">
                  <a:lumMod val="40000"/>
                  <a:lumOff val="60000"/>
                </a:schemeClr>
              </a:gs>
              <a:gs pos="92000">
                <a:srgbClr val="64FB6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AL_anim_scaffold">
            <a:hlinkClick r:id="" action="ppaction://media"/>
            <a:extLst>
              <a:ext uri="{FF2B5EF4-FFF2-40B4-BE49-F238E27FC236}">
                <a16:creationId xmlns:a16="http://schemas.microsoft.com/office/drawing/2014/main" id="{F7B2E775-1362-77DF-9DC5-A929326F612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5264" y="2975058"/>
            <a:ext cx="10604310" cy="3534770"/>
          </a:xfrm>
          <a:prstGeom prst="rect">
            <a:avLst/>
          </a:prstGeom>
        </p:spPr>
      </p:pic>
      <p:sp>
        <p:nvSpPr>
          <p:cNvPr id="52" name="Freeform 51">
            <a:extLst>
              <a:ext uri="{FF2B5EF4-FFF2-40B4-BE49-F238E27FC236}">
                <a16:creationId xmlns:a16="http://schemas.microsoft.com/office/drawing/2014/main" id="{F1A3BCBF-4E0B-3B17-E631-A12297DF4026}"/>
              </a:ext>
            </a:extLst>
          </p:cNvPr>
          <p:cNvSpPr/>
          <p:nvPr/>
        </p:nvSpPr>
        <p:spPr>
          <a:xfrm>
            <a:off x="7496988" y="1068967"/>
            <a:ext cx="3343702" cy="1514902"/>
          </a:xfrm>
          <a:custGeom>
            <a:avLst/>
            <a:gdLst>
              <a:gd name="csX0" fmla="*/ 368490 w 3343702"/>
              <a:gd name="csY0" fmla="*/ 109183 h 1514902"/>
              <a:gd name="csX1" fmla="*/ 600502 w 3343702"/>
              <a:gd name="csY1" fmla="*/ 464024 h 1514902"/>
              <a:gd name="csX2" fmla="*/ 573206 w 3343702"/>
              <a:gd name="csY2" fmla="*/ 859809 h 1514902"/>
              <a:gd name="csX3" fmla="*/ 0 w 3343702"/>
              <a:gd name="csY3" fmla="*/ 1514902 h 1514902"/>
              <a:gd name="csX4" fmla="*/ 3343702 w 3343702"/>
              <a:gd name="csY4" fmla="*/ 1514902 h 1514902"/>
              <a:gd name="csX5" fmla="*/ 3343702 w 3343702"/>
              <a:gd name="csY5" fmla="*/ 0 h 1514902"/>
              <a:gd name="csX6" fmla="*/ 368490 w 3343702"/>
              <a:gd name="csY6" fmla="*/ 109183 h 1514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43702" h="1514902">
                <a:moveTo>
                  <a:pt x="368490" y="109183"/>
                </a:moveTo>
                <a:lnTo>
                  <a:pt x="600502" y="464024"/>
                </a:lnTo>
                <a:lnTo>
                  <a:pt x="573206" y="859809"/>
                </a:lnTo>
                <a:lnTo>
                  <a:pt x="0" y="1514902"/>
                </a:lnTo>
                <a:lnTo>
                  <a:pt x="3343702" y="1514902"/>
                </a:lnTo>
                <a:lnTo>
                  <a:pt x="3343702" y="0"/>
                </a:lnTo>
                <a:lnTo>
                  <a:pt x="368490" y="109183"/>
                </a:lnTo>
                <a:close/>
              </a:path>
            </a:pathLst>
          </a:custGeom>
          <a:solidFill>
            <a:schemeClr val="bg1">
              <a:alpha val="7857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BB04FD-CE9E-DD2D-BB6F-A43B58D5084E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3" name="Picture 2" descr="logo.png">
            <a:extLst>
              <a:ext uri="{FF2B5EF4-FFF2-40B4-BE49-F238E27FC236}">
                <a16:creationId xmlns:a16="http://schemas.microsoft.com/office/drawing/2014/main" id="{754D590F-76BA-AE3D-86FF-9CE0917C86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0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8000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49"/>
                </p:tgtEl>
              </p:cMediaNode>
            </p:video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  <p:bldLst>
      <p:bldP spid="52" grpId="0" animBg="1"/>
    </p:bldLst>
  </p:timing>
  <p:extLst>
    <p:ext uri="{6950BFC3-D8DA-4A85-94F7-54DA5524770B}">
      <p188:commentRel xmlns:p188="http://schemas.microsoft.com/office/powerpoint/2018/8/main" r:id="rId4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46F36-E5F7-C288-94E9-3847659CD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4A577DF-A072-4CA8-8617-7B358FCF662D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6A9EF84-5C95-CF55-C16B-C0B3B3D3ED26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Active learning baselines: similarity 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B4AD9E-7A89-1832-6134-FDCFE1F3E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047" y="777792"/>
            <a:ext cx="9364577" cy="2002082"/>
          </a:xfrm>
          <a:prstGeom prst="rect">
            <a:avLst/>
          </a:prstGeom>
        </p:spPr>
      </p:pic>
      <p:sp>
        <p:nvSpPr>
          <p:cNvPr id="23" name="Right Arrow 22">
            <a:extLst>
              <a:ext uri="{FF2B5EF4-FFF2-40B4-BE49-F238E27FC236}">
                <a16:creationId xmlns:a16="http://schemas.microsoft.com/office/drawing/2014/main" id="{17D2485D-7729-0815-5C33-9FEE48FF934D}"/>
              </a:ext>
            </a:extLst>
          </p:cNvPr>
          <p:cNvSpPr/>
          <p:nvPr/>
        </p:nvSpPr>
        <p:spPr>
          <a:xfrm>
            <a:off x="8166098" y="1134379"/>
            <a:ext cx="1029858" cy="64792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  <a:gs pos="61000">
                <a:schemeClr val="accent5">
                  <a:lumMod val="20000"/>
                  <a:lumOff val="80000"/>
                </a:schemeClr>
              </a:gs>
              <a:gs pos="97000">
                <a:schemeClr val="accent5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545BC2F-E922-D7E3-5080-15B9F36BC8D9}"/>
              </a:ext>
            </a:extLst>
          </p:cNvPr>
          <p:cNvSpPr/>
          <p:nvPr/>
        </p:nvSpPr>
        <p:spPr>
          <a:xfrm>
            <a:off x="3896070" y="2690069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65">
            <a:extLst>
              <a:ext uri="{FF2B5EF4-FFF2-40B4-BE49-F238E27FC236}">
                <a16:creationId xmlns:a16="http://schemas.microsoft.com/office/drawing/2014/main" id="{0FC3C5C3-B960-21DC-4413-5BE96A77551A}"/>
              </a:ext>
            </a:extLst>
          </p:cNvPr>
          <p:cNvSpPr txBox="1"/>
          <p:nvPr/>
        </p:nvSpPr>
        <p:spPr>
          <a:xfrm>
            <a:off x="1480948" y="1182515"/>
            <a:ext cx="402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Scaffold similarity</a:t>
            </a:r>
          </a:p>
        </p:txBody>
      </p:sp>
      <p:sp>
        <p:nvSpPr>
          <p:cNvPr id="44" name="TextBox 65">
            <a:extLst>
              <a:ext uri="{FF2B5EF4-FFF2-40B4-BE49-F238E27FC236}">
                <a16:creationId xmlns:a16="http://schemas.microsoft.com/office/drawing/2014/main" id="{A186334D-01A4-37AA-9D6D-175526694C0B}"/>
              </a:ext>
            </a:extLst>
          </p:cNvPr>
          <p:cNvSpPr txBox="1"/>
          <p:nvPr/>
        </p:nvSpPr>
        <p:spPr>
          <a:xfrm>
            <a:off x="6694264" y="2010422"/>
            <a:ext cx="402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b="1" i="0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C–H</a:t>
            </a:r>
            <a:r>
              <a:rPr lang="en-US" b="1" dirty="0">
                <a:solidFill>
                  <a:schemeClr val="accent5"/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 site similarity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EE06314-A6A3-E784-C250-9E071553EBB9}"/>
              </a:ext>
            </a:extLst>
          </p:cNvPr>
          <p:cNvSpPr/>
          <p:nvPr/>
        </p:nvSpPr>
        <p:spPr>
          <a:xfrm>
            <a:off x="4879731" y="3669271"/>
            <a:ext cx="307731" cy="3071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FE7E317D-E411-9550-9F14-4E8F4D08ACF5}"/>
              </a:ext>
            </a:extLst>
          </p:cNvPr>
          <p:cNvSpPr/>
          <p:nvPr/>
        </p:nvSpPr>
        <p:spPr>
          <a:xfrm rot="10800000">
            <a:off x="2667749" y="1728743"/>
            <a:ext cx="1228321" cy="64792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64FB6C"/>
              </a:gs>
              <a:gs pos="65000">
                <a:schemeClr val="accent6">
                  <a:lumMod val="40000"/>
                  <a:lumOff val="60000"/>
                </a:schemeClr>
              </a:gs>
              <a:gs pos="92000">
                <a:srgbClr val="64FB6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4ACEBDE-CF85-5062-9A13-827D587498A7}"/>
              </a:ext>
            </a:extLst>
          </p:cNvPr>
          <p:cNvSpPr/>
          <p:nvPr/>
        </p:nvSpPr>
        <p:spPr>
          <a:xfrm>
            <a:off x="3896070" y="2690069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3E9A7C0-F72A-BFAC-1039-DF735499CF6A}"/>
              </a:ext>
            </a:extLst>
          </p:cNvPr>
          <p:cNvSpPr/>
          <p:nvPr/>
        </p:nvSpPr>
        <p:spPr>
          <a:xfrm>
            <a:off x="4879731" y="3669271"/>
            <a:ext cx="307731" cy="3071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L_anim_site">
            <a:hlinkClick r:id="" action="ppaction://media"/>
            <a:extLst>
              <a:ext uri="{FF2B5EF4-FFF2-40B4-BE49-F238E27FC236}">
                <a16:creationId xmlns:a16="http://schemas.microsoft.com/office/drawing/2014/main" id="{836669C2-AB50-D913-D2D4-34752DB3AB1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5265" y="2893901"/>
            <a:ext cx="10604309" cy="3534770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C46FD103-51C4-7422-CD91-7E45D1F635A4}"/>
              </a:ext>
            </a:extLst>
          </p:cNvPr>
          <p:cNvSpPr/>
          <p:nvPr/>
        </p:nvSpPr>
        <p:spPr>
          <a:xfrm>
            <a:off x="1221276" y="1080521"/>
            <a:ext cx="3528146" cy="1651380"/>
          </a:xfrm>
          <a:custGeom>
            <a:avLst/>
            <a:gdLst>
              <a:gd name="csX0" fmla="*/ 368490 w 3343702"/>
              <a:gd name="csY0" fmla="*/ 109183 h 1514902"/>
              <a:gd name="csX1" fmla="*/ 600502 w 3343702"/>
              <a:gd name="csY1" fmla="*/ 464024 h 1514902"/>
              <a:gd name="csX2" fmla="*/ 573206 w 3343702"/>
              <a:gd name="csY2" fmla="*/ 859809 h 1514902"/>
              <a:gd name="csX3" fmla="*/ 0 w 3343702"/>
              <a:gd name="csY3" fmla="*/ 1514902 h 1514902"/>
              <a:gd name="csX4" fmla="*/ 3343702 w 3343702"/>
              <a:gd name="csY4" fmla="*/ 1514902 h 1514902"/>
              <a:gd name="csX5" fmla="*/ 3343702 w 3343702"/>
              <a:gd name="csY5" fmla="*/ 0 h 1514902"/>
              <a:gd name="csX6" fmla="*/ 368490 w 3343702"/>
              <a:gd name="csY6" fmla="*/ 109183 h 1514902"/>
              <a:gd name="csX0" fmla="*/ 368490 w 3343702"/>
              <a:gd name="csY0" fmla="*/ 0 h 1405719"/>
              <a:gd name="csX1" fmla="*/ 600502 w 3343702"/>
              <a:gd name="csY1" fmla="*/ 354841 h 1405719"/>
              <a:gd name="csX2" fmla="*/ 573206 w 3343702"/>
              <a:gd name="csY2" fmla="*/ 750626 h 1405719"/>
              <a:gd name="csX3" fmla="*/ 0 w 3343702"/>
              <a:gd name="csY3" fmla="*/ 1405719 h 1405719"/>
              <a:gd name="csX4" fmla="*/ 3343702 w 3343702"/>
              <a:gd name="csY4" fmla="*/ 1405719 h 1405719"/>
              <a:gd name="csX5" fmla="*/ 1037230 w 3343702"/>
              <a:gd name="csY5" fmla="*/ 40942 h 1405719"/>
              <a:gd name="csX6" fmla="*/ 368490 w 3343702"/>
              <a:gd name="csY6" fmla="*/ 0 h 1405719"/>
              <a:gd name="csX0" fmla="*/ 368490 w 1037230"/>
              <a:gd name="csY0" fmla="*/ 0 h 1405719"/>
              <a:gd name="csX1" fmla="*/ 600502 w 1037230"/>
              <a:gd name="csY1" fmla="*/ 354841 h 1405719"/>
              <a:gd name="csX2" fmla="*/ 573206 w 1037230"/>
              <a:gd name="csY2" fmla="*/ 750626 h 1405719"/>
              <a:gd name="csX3" fmla="*/ 0 w 1037230"/>
              <a:gd name="csY3" fmla="*/ 1405719 h 1405719"/>
              <a:gd name="csX4" fmla="*/ 873457 w 1037230"/>
              <a:gd name="csY4" fmla="*/ 1323832 h 1405719"/>
              <a:gd name="csX5" fmla="*/ 1037230 w 1037230"/>
              <a:gd name="csY5" fmla="*/ 40942 h 1405719"/>
              <a:gd name="csX6" fmla="*/ 368490 w 1037230"/>
              <a:gd name="csY6" fmla="*/ 0 h 1405719"/>
              <a:gd name="csX0" fmla="*/ 0 w 2879677"/>
              <a:gd name="csY0" fmla="*/ 0 h 1323833"/>
              <a:gd name="csX1" fmla="*/ 232012 w 2879677"/>
              <a:gd name="csY1" fmla="*/ 354841 h 1323833"/>
              <a:gd name="csX2" fmla="*/ 204716 w 2879677"/>
              <a:gd name="csY2" fmla="*/ 750626 h 1323833"/>
              <a:gd name="csX3" fmla="*/ 2879677 w 2879677"/>
              <a:gd name="csY3" fmla="*/ 1323833 h 1323833"/>
              <a:gd name="csX4" fmla="*/ 504967 w 2879677"/>
              <a:gd name="csY4" fmla="*/ 1323832 h 1323833"/>
              <a:gd name="csX5" fmla="*/ 668740 w 2879677"/>
              <a:gd name="csY5" fmla="*/ 40942 h 1323833"/>
              <a:gd name="csX6" fmla="*/ 0 w 2879677"/>
              <a:gd name="csY6" fmla="*/ 0 h 1323833"/>
              <a:gd name="csX0" fmla="*/ 0 w 2961564"/>
              <a:gd name="csY0" fmla="*/ 0 h 1323833"/>
              <a:gd name="csX1" fmla="*/ 232012 w 2961564"/>
              <a:gd name="csY1" fmla="*/ 354841 h 1323833"/>
              <a:gd name="csX2" fmla="*/ 2961564 w 2961564"/>
              <a:gd name="csY2" fmla="*/ 1050877 h 1323833"/>
              <a:gd name="csX3" fmla="*/ 2879677 w 2961564"/>
              <a:gd name="csY3" fmla="*/ 1323833 h 1323833"/>
              <a:gd name="csX4" fmla="*/ 504967 w 2961564"/>
              <a:gd name="csY4" fmla="*/ 1323832 h 1323833"/>
              <a:gd name="csX5" fmla="*/ 668740 w 2961564"/>
              <a:gd name="csY5" fmla="*/ 40942 h 1323833"/>
              <a:gd name="csX6" fmla="*/ 0 w 2961564"/>
              <a:gd name="csY6" fmla="*/ 0 h 1323833"/>
              <a:gd name="csX0" fmla="*/ 0 w 3343701"/>
              <a:gd name="csY0" fmla="*/ 0 h 1323833"/>
              <a:gd name="csX1" fmla="*/ 3343701 w 3343701"/>
              <a:gd name="csY1" fmla="*/ 941694 h 1323833"/>
              <a:gd name="csX2" fmla="*/ 2961564 w 3343701"/>
              <a:gd name="csY2" fmla="*/ 1050877 h 1323833"/>
              <a:gd name="csX3" fmla="*/ 2879677 w 3343701"/>
              <a:gd name="csY3" fmla="*/ 1323833 h 1323833"/>
              <a:gd name="csX4" fmla="*/ 504967 w 3343701"/>
              <a:gd name="csY4" fmla="*/ 1323832 h 1323833"/>
              <a:gd name="csX5" fmla="*/ 668740 w 3343701"/>
              <a:gd name="csY5" fmla="*/ 40942 h 1323833"/>
              <a:gd name="csX6" fmla="*/ 0 w 3343701"/>
              <a:gd name="csY6" fmla="*/ 0 h 1323833"/>
              <a:gd name="csX0" fmla="*/ 2906973 w 2906973"/>
              <a:gd name="csY0" fmla="*/ 368491 h 1282891"/>
              <a:gd name="csX1" fmla="*/ 2838734 w 2906973"/>
              <a:gd name="csY1" fmla="*/ 900752 h 1282891"/>
              <a:gd name="csX2" fmla="*/ 2456597 w 2906973"/>
              <a:gd name="csY2" fmla="*/ 1009935 h 1282891"/>
              <a:gd name="csX3" fmla="*/ 2374710 w 2906973"/>
              <a:gd name="csY3" fmla="*/ 1282891 h 1282891"/>
              <a:gd name="csX4" fmla="*/ 0 w 2906973"/>
              <a:gd name="csY4" fmla="*/ 1282890 h 1282891"/>
              <a:gd name="csX5" fmla="*/ 163773 w 2906973"/>
              <a:gd name="csY5" fmla="*/ 0 h 1282891"/>
              <a:gd name="csX6" fmla="*/ 2906973 w 2906973"/>
              <a:gd name="csY6" fmla="*/ 368491 h 1282891"/>
              <a:gd name="csX0" fmla="*/ 2906973 w 3528146"/>
              <a:gd name="csY0" fmla="*/ 481820 h 1396220"/>
              <a:gd name="csX1" fmla="*/ 2838734 w 3528146"/>
              <a:gd name="csY1" fmla="*/ 1014081 h 1396220"/>
              <a:gd name="csX2" fmla="*/ 2456597 w 3528146"/>
              <a:gd name="csY2" fmla="*/ 1123264 h 1396220"/>
              <a:gd name="csX3" fmla="*/ 2374710 w 3528146"/>
              <a:gd name="csY3" fmla="*/ 1396220 h 1396220"/>
              <a:gd name="csX4" fmla="*/ 0 w 3528146"/>
              <a:gd name="csY4" fmla="*/ 1396219 h 1396220"/>
              <a:gd name="csX5" fmla="*/ 163773 w 3528146"/>
              <a:gd name="csY5" fmla="*/ 113329 h 1396220"/>
              <a:gd name="csX6" fmla="*/ 3528146 w 3528146"/>
              <a:gd name="csY6" fmla="*/ 13263 h 1396220"/>
              <a:gd name="csX7" fmla="*/ 2906973 w 3528146"/>
              <a:gd name="csY7" fmla="*/ 481820 h 1396220"/>
              <a:gd name="csX0" fmla="*/ 2906973 w 3528146"/>
              <a:gd name="csY0" fmla="*/ 532264 h 1446664"/>
              <a:gd name="csX1" fmla="*/ 2838734 w 3528146"/>
              <a:gd name="csY1" fmla="*/ 1064525 h 1446664"/>
              <a:gd name="csX2" fmla="*/ 2456597 w 3528146"/>
              <a:gd name="csY2" fmla="*/ 1173708 h 1446664"/>
              <a:gd name="csX3" fmla="*/ 2374710 w 3528146"/>
              <a:gd name="csY3" fmla="*/ 1446664 h 1446664"/>
              <a:gd name="csX4" fmla="*/ 0 w 3528146"/>
              <a:gd name="csY4" fmla="*/ 1446663 h 1446664"/>
              <a:gd name="csX5" fmla="*/ 54591 w 3528146"/>
              <a:gd name="csY5" fmla="*/ 0 h 1446664"/>
              <a:gd name="csX6" fmla="*/ 3528146 w 3528146"/>
              <a:gd name="csY6" fmla="*/ 63707 h 1446664"/>
              <a:gd name="csX7" fmla="*/ 2906973 w 3528146"/>
              <a:gd name="csY7" fmla="*/ 532264 h 1446664"/>
              <a:gd name="csX0" fmla="*/ 2906973 w 3528146"/>
              <a:gd name="csY0" fmla="*/ 532264 h 1651380"/>
              <a:gd name="csX1" fmla="*/ 2838734 w 3528146"/>
              <a:gd name="csY1" fmla="*/ 1064525 h 1651380"/>
              <a:gd name="csX2" fmla="*/ 2456597 w 3528146"/>
              <a:gd name="csY2" fmla="*/ 1173708 h 1651380"/>
              <a:gd name="csX3" fmla="*/ 2374710 w 3528146"/>
              <a:gd name="csY3" fmla="*/ 1446664 h 1651380"/>
              <a:gd name="csX4" fmla="*/ 0 w 3528146"/>
              <a:gd name="csY4" fmla="*/ 1651380 h 1651380"/>
              <a:gd name="csX5" fmla="*/ 54591 w 3528146"/>
              <a:gd name="csY5" fmla="*/ 0 h 1651380"/>
              <a:gd name="csX6" fmla="*/ 3528146 w 3528146"/>
              <a:gd name="csY6" fmla="*/ 63707 h 1651380"/>
              <a:gd name="csX7" fmla="*/ 2906973 w 3528146"/>
              <a:gd name="csY7" fmla="*/ 532264 h 1651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528146" h="1651380">
                <a:moveTo>
                  <a:pt x="2906973" y="532264"/>
                </a:moveTo>
                <a:lnTo>
                  <a:pt x="2838734" y="1064525"/>
                </a:lnTo>
                <a:lnTo>
                  <a:pt x="2456597" y="1173708"/>
                </a:lnTo>
                <a:lnTo>
                  <a:pt x="2374710" y="1446664"/>
                </a:lnTo>
                <a:lnTo>
                  <a:pt x="0" y="1651380"/>
                </a:lnTo>
                <a:lnTo>
                  <a:pt x="54591" y="0"/>
                </a:lnTo>
                <a:cubicBezTo>
                  <a:pt x="580096" y="71278"/>
                  <a:pt x="3002641" y="-7571"/>
                  <a:pt x="3528146" y="63707"/>
                </a:cubicBezTo>
                <a:lnTo>
                  <a:pt x="2906973" y="532264"/>
                </a:lnTo>
                <a:close/>
              </a:path>
            </a:pathLst>
          </a:custGeom>
          <a:solidFill>
            <a:schemeClr val="bg1">
              <a:alpha val="7857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39F1C-2CBB-7932-CBB0-776686D0B5ED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6" name="Picture 5" descr="logo.png">
            <a:extLst>
              <a:ext uri="{FF2B5EF4-FFF2-40B4-BE49-F238E27FC236}">
                <a16:creationId xmlns:a16="http://schemas.microsoft.com/office/drawing/2014/main" id="{4D484862-D867-1E37-A857-87D04E16F2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5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  <p:extLst>
    <p:ext uri="{6950BFC3-D8DA-4A85-94F7-54DA5524770B}">
      <p188:commentRel xmlns:p188="http://schemas.microsoft.com/office/powerpoint/2018/8/main" r:id="rId4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1DA5F-1DD2-F154-E1D4-98B95BDBC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312801-47E0-B505-CCE7-B2AD6E5E84EF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884A72A-116B-1CF6-29F5-308C1243B5EF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D6FEE116-5E04-F1B0-B156-0E8BD5E62424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Active learning baselines: similarity 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085FB4-4A36-4CBE-13F0-F5C4E8A23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047" y="777792"/>
            <a:ext cx="9364577" cy="2002082"/>
          </a:xfrm>
          <a:prstGeom prst="rect">
            <a:avLst/>
          </a:prstGeom>
        </p:spPr>
      </p:pic>
      <p:sp>
        <p:nvSpPr>
          <p:cNvPr id="23" name="Right Arrow 22">
            <a:extLst>
              <a:ext uri="{FF2B5EF4-FFF2-40B4-BE49-F238E27FC236}">
                <a16:creationId xmlns:a16="http://schemas.microsoft.com/office/drawing/2014/main" id="{5F6AAAB6-FC8B-E317-5813-929CCD3322BB}"/>
              </a:ext>
            </a:extLst>
          </p:cNvPr>
          <p:cNvSpPr/>
          <p:nvPr/>
        </p:nvSpPr>
        <p:spPr>
          <a:xfrm>
            <a:off x="8166098" y="1134379"/>
            <a:ext cx="1029858" cy="64792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  <a:gs pos="61000">
                <a:schemeClr val="accent5">
                  <a:lumMod val="20000"/>
                  <a:lumOff val="80000"/>
                </a:schemeClr>
              </a:gs>
              <a:gs pos="97000">
                <a:schemeClr val="accent5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3FC868D-4536-0826-F8BB-BADA685E834B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56E05C4-7992-A3B8-BAFD-14489F209762}"/>
              </a:ext>
            </a:extLst>
          </p:cNvPr>
          <p:cNvSpPr/>
          <p:nvPr/>
        </p:nvSpPr>
        <p:spPr>
          <a:xfrm>
            <a:off x="3896070" y="30741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F62C4FE-2247-9B8C-07E9-27E73D1459B0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65">
            <a:extLst>
              <a:ext uri="{FF2B5EF4-FFF2-40B4-BE49-F238E27FC236}">
                <a16:creationId xmlns:a16="http://schemas.microsoft.com/office/drawing/2014/main" id="{5FF044D7-9E38-5D9D-038C-3AE2AB312DF5}"/>
              </a:ext>
            </a:extLst>
          </p:cNvPr>
          <p:cNvSpPr txBox="1"/>
          <p:nvPr/>
        </p:nvSpPr>
        <p:spPr>
          <a:xfrm>
            <a:off x="1480948" y="1182515"/>
            <a:ext cx="402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Scaffold similarity</a:t>
            </a:r>
          </a:p>
        </p:txBody>
      </p:sp>
      <p:sp>
        <p:nvSpPr>
          <p:cNvPr id="44" name="TextBox 65">
            <a:extLst>
              <a:ext uri="{FF2B5EF4-FFF2-40B4-BE49-F238E27FC236}">
                <a16:creationId xmlns:a16="http://schemas.microsoft.com/office/drawing/2014/main" id="{1AF4052A-5CA7-A448-D876-4AA4E2AC1991}"/>
              </a:ext>
            </a:extLst>
          </p:cNvPr>
          <p:cNvSpPr txBox="1"/>
          <p:nvPr/>
        </p:nvSpPr>
        <p:spPr>
          <a:xfrm>
            <a:off x="6694264" y="2010422"/>
            <a:ext cx="402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b="1" i="0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C–H</a:t>
            </a:r>
            <a:r>
              <a:rPr lang="en-US" b="1" dirty="0">
                <a:solidFill>
                  <a:schemeClr val="accent5"/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 site similarity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E64BA2A-B882-9BE1-49E4-13791A50CF9E}"/>
              </a:ext>
            </a:extLst>
          </p:cNvPr>
          <p:cNvSpPr/>
          <p:nvPr/>
        </p:nvSpPr>
        <p:spPr>
          <a:xfrm>
            <a:off x="4879731" y="4053319"/>
            <a:ext cx="307731" cy="3071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B40EB583-9DFA-1AF2-A053-11FB8241ED64}"/>
              </a:ext>
            </a:extLst>
          </p:cNvPr>
          <p:cNvSpPr/>
          <p:nvPr/>
        </p:nvSpPr>
        <p:spPr>
          <a:xfrm rot="10800000">
            <a:off x="2667749" y="1728743"/>
            <a:ext cx="1228321" cy="64792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64FB6C"/>
              </a:gs>
              <a:gs pos="65000">
                <a:schemeClr val="accent6">
                  <a:lumMod val="40000"/>
                  <a:lumOff val="60000"/>
                </a:schemeClr>
              </a:gs>
              <a:gs pos="92000">
                <a:srgbClr val="64FB6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03E7D5C-99E8-9C30-7A79-77673E9AE0CF}"/>
              </a:ext>
            </a:extLst>
          </p:cNvPr>
          <p:cNvSpPr/>
          <p:nvPr/>
        </p:nvSpPr>
        <p:spPr>
          <a:xfrm>
            <a:off x="3896070" y="30741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B19161-DAC2-58F6-8075-EA1BC981F9AE}"/>
              </a:ext>
            </a:extLst>
          </p:cNvPr>
          <p:cNvSpPr/>
          <p:nvPr/>
        </p:nvSpPr>
        <p:spPr>
          <a:xfrm>
            <a:off x="4879731" y="4053319"/>
            <a:ext cx="307731" cy="3071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35144-D57A-C0E7-907D-750710D65A16}"/>
              </a:ext>
            </a:extLst>
          </p:cNvPr>
          <p:cNvSpPr txBox="1"/>
          <p:nvPr/>
        </p:nvSpPr>
        <p:spPr>
          <a:xfrm>
            <a:off x="1353047" y="5743796"/>
            <a:ext cx="9949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Pro: 	</a:t>
            </a:r>
            <a:r>
              <a:rPr lang="en-US" dirty="0">
                <a:latin typeface="Avenir Book" panose="02000503020000020003" pitchFamily="2" charset="0"/>
              </a:rPr>
              <a:t>Easy to implement, very intuitive</a:t>
            </a:r>
          </a:p>
          <a:p>
            <a:r>
              <a:rPr lang="en-US" b="1" dirty="0">
                <a:latin typeface="Avenir Book" panose="02000503020000020003" pitchFamily="2" charset="0"/>
              </a:rPr>
              <a:t>Cons: 	</a:t>
            </a:r>
            <a:r>
              <a:rPr lang="en-US" dirty="0">
                <a:latin typeface="Avenir Book" panose="02000503020000020003" pitchFamily="2" charset="0"/>
              </a:rPr>
              <a:t>Redundancy of the information, not taking into of what the model learned previously  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4BA976-8906-95C9-0324-8101368624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4676"/>
          <a:stretch>
            <a:fillRect/>
          </a:stretch>
        </p:blipFill>
        <p:spPr>
          <a:xfrm>
            <a:off x="2758837" y="3085439"/>
            <a:ext cx="2745471" cy="259080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5EEBA1-60AA-53E6-07F5-E9DF476ACD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4676"/>
          <a:stretch>
            <a:fillRect/>
          </a:stretch>
        </p:blipFill>
        <p:spPr>
          <a:xfrm>
            <a:off x="106586" y="3085439"/>
            <a:ext cx="2745471" cy="2590800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1F28C3-D085-A148-19F1-6EBCAA4506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061" r="32405"/>
          <a:stretch>
            <a:fillRect/>
          </a:stretch>
        </p:blipFill>
        <p:spPr>
          <a:xfrm>
            <a:off x="6369686" y="3119218"/>
            <a:ext cx="2450970" cy="2590800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1248BC-C0C4-0246-814A-ECCCD83D61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242" r="29434"/>
          <a:stretch>
            <a:fillRect/>
          </a:stretch>
        </p:blipFill>
        <p:spPr>
          <a:xfrm>
            <a:off x="9037038" y="3119218"/>
            <a:ext cx="2745471" cy="25908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216C0C66-7FF7-AB1A-5611-624D0F7D4168}"/>
              </a:ext>
            </a:extLst>
          </p:cNvPr>
          <p:cNvSpPr/>
          <p:nvPr/>
        </p:nvSpPr>
        <p:spPr>
          <a:xfrm>
            <a:off x="6369686" y="3496188"/>
            <a:ext cx="225552" cy="224994"/>
          </a:xfrm>
          <a:prstGeom prst="ellipse">
            <a:avLst/>
          </a:prstGeom>
          <a:solidFill>
            <a:srgbClr val="65FB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40CCB27-C12A-EA94-CDA0-A8A99AF58723}"/>
              </a:ext>
            </a:extLst>
          </p:cNvPr>
          <p:cNvSpPr/>
          <p:nvPr/>
        </p:nvSpPr>
        <p:spPr>
          <a:xfrm>
            <a:off x="9149814" y="3494425"/>
            <a:ext cx="225552" cy="224994"/>
          </a:xfrm>
          <a:prstGeom prst="ellipse">
            <a:avLst/>
          </a:prstGeom>
          <a:solidFill>
            <a:srgbClr val="E8AB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39D725-95F2-98CE-85C3-163586A46879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6" name="Picture 5" descr="logo.png">
            <a:extLst>
              <a:ext uri="{FF2B5EF4-FFF2-40B4-BE49-F238E27FC236}">
                <a16:creationId xmlns:a16="http://schemas.microsoft.com/office/drawing/2014/main" id="{B55982A0-CC02-723B-1762-94ECF34B08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804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89090-B7F8-BAD5-B8B3-72EDC8C9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719C48B-190E-E716-8DF5-1F65C43FC64B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0A304AD-8021-2394-4489-754B23B77B2A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E1328865-7962-C55A-E823-00C5FE684EB0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Active learning: leveraging uncertainty and predictions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0099668-BE6D-2F74-557A-F0B802358F06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00B305C-DE6A-2765-04BE-3940A18206B3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DC06F-FEBD-B104-151C-81D19043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047" y="1161840"/>
            <a:ext cx="9364577" cy="2002082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A92C9698-841B-56FC-9B80-A6E206AB10A8}"/>
              </a:ext>
            </a:extLst>
          </p:cNvPr>
          <p:cNvSpPr/>
          <p:nvPr/>
        </p:nvSpPr>
        <p:spPr>
          <a:xfrm>
            <a:off x="8166098" y="1518427"/>
            <a:ext cx="1029858" cy="64792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  <a:gs pos="61000">
                <a:schemeClr val="accent5">
                  <a:lumMod val="20000"/>
                  <a:lumOff val="80000"/>
                </a:schemeClr>
              </a:gs>
              <a:gs pos="97000">
                <a:schemeClr val="accent5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AA9A05E-BB72-8F10-C4A9-D038CFB85EBE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E766EA-B513-995E-9E0E-5C401B0F4BAA}"/>
              </a:ext>
            </a:extLst>
          </p:cNvPr>
          <p:cNvSpPr/>
          <p:nvPr/>
        </p:nvSpPr>
        <p:spPr>
          <a:xfrm>
            <a:off x="3896070" y="30741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60FD2A2-E57E-DDD0-9EFD-56F2A560A8E0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65">
            <a:extLst>
              <a:ext uri="{FF2B5EF4-FFF2-40B4-BE49-F238E27FC236}">
                <a16:creationId xmlns:a16="http://schemas.microsoft.com/office/drawing/2014/main" id="{25EB7031-7539-30ED-9B12-87E96DA3F96D}"/>
              </a:ext>
            </a:extLst>
          </p:cNvPr>
          <p:cNvSpPr txBox="1"/>
          <p:nvPr/>
        </p:nvSpPr>
        <p:spPr>
          <a:xfrm>
            <a:off x="20000" y="730156"/>
            <a:ext cx="1185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Avenir Book" panose="02000503020000020003" pitchFamily="2" charset="0"/>
                <a:cs typeface="Segoe UI" panose="020B0502040204020203" pitchFamily="34" charset="0"/>
              </a:rPr>
              <a:t>What makes a training molecule “good” for prediction on a target? </a:t>
            </a:r>
          </a:p>
        </p:txBody>
      </p:sp>
      <p:sp>
        <p:nvSpPr>
          <p:cNvPr id="12" name="TextBox 65">
            <a:extLst>
              <a:ext uri="{FF2B5EF4-FFF2-40B4-BE49-F238E27FC236}">
                <a16:creationId xmlns:a16="http://schemas.microsoft.com/office/drawing/2014/main" id="{88FA31F6-D3FB-A51C-6A14-E853D2DD7BF6}"/>
              </a:ext>
            </a:extLst>
          </p:cNvPr>
          <p:cNvSpPr txBox="1"/>
          <p:nvPr/>
        </p:nvSpPr>
        <p:spPr>
          <a:xfrm>
            <a:off x="1480948" y="1566563"/>
            <a:ext cx="402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Scaffold similarity</a:t>
            </a:r>
          </a:p>
        </p:txBody>
      </p:sp>
      <p:sp>
        <p:nvSpPr>
          <p:cNvPr id="15" name="TextBox 65">
            <a:extLst>
              <a:ext uri="{FF2B5EF4-FFF2-40B4-BE49-F238E27FC236}">
                <a16:creationId xmlns:a16="http://schemas.microsoft.com/office/drawing/2014/main" id="{D1143BF0-FDB9-35E9-66F5-9AD1B7D9FC5B}"/>
              </a:ext>
            </a:extLst>
          </p:cNvPr>
          <p:cNvSpPr txBox="1"/>
          <p:nvPr/>
        </p:nvSpPr>
        <p:spPr>
          <a:xfrm>
            <a:off x="6694264" y="2394470"/>
            <a:ext cx="402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b="1" i="0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venir Book" panose="02000503020000020003" pitchFamily="2" charset="0"/>
                <a:cs typeface="Segoe UI" panose="020B0502040204020203" pitchFamily="34" charset="0"/>
              </a:rPr>
              <a:t>C–H</a:t>
            </a:r>
            <a:r>
              <a:rPr lang="en-US" b="1" dirty="0">
                <a:solidFill>
                  <a:schemeClr val="accent5"/>
                </a:solidFill>
                <a:latin typeface="Avenir Book" panose="02000503020000020003" pitchFamily="2" charset="0"/>
                <a:cs typeface="Segoe UI" panose="020B0502040204020203" pitchFamily="34" charset="0"/>
              </a:rPr>
              <a:t> site similarity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EBBCC03-7A59-240B-2F9E-902B062A226C}"/>
              </a:ext>
            </a:extLst>
          </p:cNvPr>
          <p:cNvSpPr/>
          <p:nvPr/>
        </p:nvSpPr>
        <p:spPr>
          <a:xfrm>
            <a:off x="4879731" y="4053319"/>
            <a:ext cx="307731" cy="3071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98B4471E-43CE-AD3F-9A38-317A476FCEB3}"/>
              </a:ext>
            </a:extLst>
          </p:cNvPr>
          <p:cNvSpPr/>
          <p:nvPr/>
        </p:nvSpPr>
        <p:spPr>
          <a:xfrm rot="10800000">
            <a:off x="2667749" y="2112791"/>
            <a:ext cx="1228321" cy="64792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64FB6C"/>
              </a:gs>
              <a:gs pos="65000">
                <a:schemeClr val="accent6">
                  <a:lumMod val="40000"/>
                  <a:lumOff val="60000"/>
                </a:schemeClr>
              </a:gs>
              <a:gs pos="92000">
                <a:srgbClr val="64FB6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F686F1-6525-C668-0617-383F72CF97D6}"/>
              </a:ext>
            </a:extLst>
          </p:cNvPr>
          <p:cNvGrpSpPr/>
          <p:nvPr/>
        </p:nvGrpSpPr>
        <p:grpSpPr>
          <a:xfrm>
            <a:off x="385170" y="3209649"/>
            <a:ext cx="11082075" cy="2934096"/>
            <a:chOff x="385170" y="3209649"/>
            <a:chExt cx="11082075" cy="2934096"/>
          </a:xfrm>
        </p:grpSpPr>
        <p:sp>
          <p:nvSpPr>
            <p:cNvPr id="19" name="TextBox 65">
              <a:extLst>
                <a:ext uri="{FF2B5EF4-FFF2-40B4-BE49-F238E27FC236}">
                  <a16:creationId xmlns:a16="http://schemas.microsoft.com/office/drawing/2014/main" id="{C6B8937D-8B25-6398-5C69-E029E8D7C450}"/>
                </a:ext>
              </a:extLst>
            </p:cNvPr>
            <p:cNvSpPr txBox="1"/>
            <p:nvPr/>
          </p:nvSpPr>
          <p:spPr>
            <a:xfrm>
              <a:off x="1512801" y="4246661"/>
              <a:ext cx="4405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>
                  <a:solidFill>
                    <a:srgbClr val="005493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Active learning</a:t>
              </a:r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055D9A76-6399-B541-D979-1FAAAF4AA288}"/>
                </a:ext>
              </a:extLst>
            </p:cNvPr>
            <p:cNvSpPr/>
            <p:nvPr/>
          </p:nvSpPr>
          <p:spPr>
            <a:xfrm rot="5400000">
              <a:off x="5256970" y="3400618"/>
              <a:ext cx="1029858" cy="647920"/>
            </a:xfrm>
            <a:prstGeom prst="rightArrow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tx2">
                    <a:lumMod val="75000"/>
                    <a:lumOff val="25000"/>
                  </a:schemeClr>
                </a:gs>
                <a:gs pos="65000">
                  <a:schemeClr val="accent1">
                    <a:lumMod val="45000"/>
                    <a:lumOff val="55000"/>
                  </a:schemeClr>
                </a:gs>
                <a:gs pos="100000">
                  <a:schemeClr val="tx2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51F874E4-B3D5-1D9D-B7AD-7DE165D7D9AA}"/>
                </a:ext>
              </a:extLst>
            </p:cNvPr>
            <p:cNvSpPr/>
            <p:nvPr/>
          </p:nvSpPr>
          <p:spPr>
            <a:xfrm rot="10800000">
              <a:off x="2414138" y="5112678"/>
              <a:ext cx="1029858" cy="647920"/>
            </a:xfrm>
            <a:prstGeom prst="rightArrow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tx2">
                    <a:lumMod val="75000"/>
                    <a:lumOff val="25000"/>
                  </a:schemeClr>
                </a:gs>
                <a:gs pos="65000">
                  <a:schemeClr val="accent1">
                    <a:lumMod val="45000"/>
                    <a:lumOff val="55000"/>
                  </a:schemeClr>
                </a:gs>
                <a:gs pos="100000">
                  <a:schemeClr val="tx2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947180-107C-1873-3F23-F559C18BA124}"/>
                </a:ext>
              </a:extLst>
            </p:cNvPr>
            <p:cNvSpPr txBox="1"/>
            <p:nvPr/>
          </p:nvSpPr>
          <p:spPr>
            <a:xfrm>
              <a:off x="9422005" y="4938146"/>
              <a:ext cx="20452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venir Book" panose="02000503020000020003" pitchFamily="2" charset="0"/>
                </a:rPr>
                <a:t>Reactivity prediction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18AB9D-496A-E180-7249-44BD0126C1D9}"/>
                </a:ext>
              </a:extLst>
            </p:cNvPr>
            <p:cNvSpPr txBox="1"/>
            <p:nvPr/>
          </p:nvSpPr>
          <p:spPr>
            <a:xfrm>
              <a:off x="9419006" y="5336173"/>
              <a:ext cx="18469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venir Book" panose="02000503020000020003" pitchFamily="2" charset="0"/>
                </a:rPr>
                <a:t>Model uncertainty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F957AC6-DC19-E1A9-65FB-1EB9E7C8C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41474" y="4112900"/>
              <a:ext cx="4553023" cy="2030845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263284A-2B56-08C0-BEDC-BA0111367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5170" y="5029770"/>
              <a:ext cx="1756252" cy="844352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1DCD0A0-E794-41AB-E24C-6571A55DC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42674" y="4887988"/>
              <a:ext cx="379331" cy="806078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A37BD17-26B4-A098-F4D9-5B311C4C2288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3" name="Picture 2" descr="logo.png">
            <a:extLst>
              <a:ext uri="{FF2B5EF4-FFF2-40B4-BE49-F238E27FC236}">
                <a16:creationId xmlns:a16="http://schemas.microsoft.com/office/drawing/2014/main" id="{F9BC46E6-111A-690C-5931-3CE1680B92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9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FA30-0391-EE53-0305-C42414BCD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EC9E8A-FAD7-D864-3534-55A730AC16E5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A03C4B-5731-EA6E-1782-734537F2A4FB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794D797C-0748-544E-CC38-7B9A6A54C2E6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Active learning: leveraging uncertainty and predictions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F243FF0-80FC-81ED-6686-9B23E70EF6CC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CDBCD7B-30E0-8CBA-0C77-FD62CCAEB035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B596E-B564-FCBF-32B1-B427014C3B0F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99BEF41-F3F7-2568-BEA3-E010AA875892}"/>
              </a:ext>
            </a:extLst>
          </p:cNvPr>
          <p:cNvSpPr/>
          <p:nvPr/>
        </p:nvSpPr>
        <p:spPr>
          <a:xfrm>
            <a:off x="3896070" y="30741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0FB12C3-6835-2842-E0ED-C4B49B6C9B1B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056D7DF-4B79-9654-2E7F-77B1D09E885F}"/>
              </a:ext>
            </a:extLst>
          </p:cNvPr>
          <p:cNvSpPr/>
          <p:nvPr/>
        </p:nvSpPr>
        <p:spPr>
          <a:xfrm>
            <a:off x="5010360" y="1337248"/>
            <a:ext cx="307731" cy="30719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8DC1CAA-4166-0A0A-14DE-CBE28B97F64B}"/>
              </a:ext>
            </a:extLst>
          </p:cNvPr>
          <p:cNvGrpSpPr/>
          <p:nvPr/>
        </p:nvGrpSpPr>
        <p:grpSpPr>
          <a:xfrm>
            <a:off x="515799" y="1096573"/>
            <a:ext cx="11082075" cy="2030845"/>
            <a:chOff x="385170" y="4112900"/>
            <a:chExt cx="11082075" cy="2030845"/>
          </a:xfrm>
        </p:grpSpPr>
        <p:sp>
          <p:nvSpPr>
            <p:cNvPr id="30" name="TextBox 65">
              <a:extLst>
                <a:ext uri="{FF2B5EF4-FFF2-40B4-BE49-F238E27FC236}">
                  <a16:creationId xmlns:a16="http://schemas.microsoft.com/office/drawing/2014/main" id="{B333644B-D38D-7768-B50F-42ECA96CAAA1}"/>
                </a:ext>
              </a:extLst>
            </p:cNvPr>
            <p:cNvSpPr txBox="1"/>
            <p:nvPr/>
          </p:nvSpPr>
          <p:spPr>
            <a:xfrm>
              <a:off x="1512801" y="4246661"/>
              <a:ext cx="4405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>
                  <a:solidFill>
                    <a:srgbClr val="005493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Active learning</a:t>
              </a:r>
            </a:p>
          </p:txBody>
        </p:sp>
        <p:sp>
          <p:nvSpPr>
            <p:cNvPr id="31" name="Right Arrow 30">
              <a:extLst>
                <a:ext uri="{FF2B5EF4-FFF2-40B4-BE49-F238E27FC236}">
                  <a16:creationId xmlns:a16="http://schemas.microsoft.com/office/drawing/2014/main" id="{9A5022ED-E9DE-169D-4EAB-8175CD112069}"/>
                </a:ext>
              </a:extLst>
            </p:cNvPr>
            <p:cNvSpPr/>
            <p:nvPr/>
          </p:nvSpPr>
          <p:spPr>
            <a:xfrm rot="10800000">
              <a:off x="2414138" y="5112678"/>
              <a:ext cx="1029858" cy="647920"/>
            </a:xfrm>
            <a:prstGeom prst="rightArrow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tx2">
                    <a:lumMod val="75000"/>
                    <a:lumOff val="25000"/>
                  </a:schemeClr>
                </a:gs>
                <a:gs pos="65000">
                  <a:schemeClr val="accent1">
                    <a:lumMod val="45000"/>
                    <a:lumOff val="55000"/>
                  </a:schemeClr>
                </a:gs>
                <a:gs pos="100000">
                  <a:schemeClr val="tx2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2DE0F8D-B130-0B74-7AB2-1FD6654E2AF7}"/>
                </a:ext>
              </a:extLst>
            </p:cNvPr>
            <p:cNvSpPr txBox="1"/>
            <p:nvPr/>
          </p:nvSpPr>
          <p:spPr>
            <a:xfrm>
              <a:off x="9422005" y="4938146"/>
              <a:ext cx="20452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venir Book" panose="02000503020000020003" pitchFamily="2" charset="0"/>
                </a:rPr>
                <a:t>Reactivity prediction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667AF9-99BB-E803-8F09-80EA284A8BEF}"/>
                </a:ext>
              </a:extLst>
            </p:cNvPr>
            <p:cNvSpPr txBox="1"/>
            <p:nvPr/>
          </p:nvSpPr>
          <p:spPr>
            <a:xfrm>
              <a:off x="9419006" y="5336173"/>
              <a:ext cx="18469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venir Book" panose="02000503020000020003" pitchFamily="2" charset="0"/>
                </a:rPr>
                <a:t>Model uncertainty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ED57778-AE00-A954-2455-76341BAEC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1474" y="4112900"/>
              <a:ext cx="4553023" cy="203084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F1F0326-D61D-4FB8-5FAB-291048839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170" y="5029770"/>
              <a:ext cx="1756252" cy="844352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E5A7ABF-FDBB-2F18-1291-9068F8D25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42674" y="4887988"/>
              <a:ext cx="379331" cy="806078"/>
            </a:xfrm>
            <a:prstGeom prst="rect">
              <a:avLst/>
            </a:prstGeom>
          </p:spPr>
        </p:pic>
      </p:grpSp>
      <p:pic>
        <p:nvPicPr>
          <p:cNvPr id="38" name="AL_anim_uncertainty">
            <a:hlinkClick r:id="" action="ppaction://media"/>
            <a:extLst>
              <a:ext uri="{FF2B5EF4-FFF2-40B4-BE49-F238E27FC236}">
                <a16:creationId xmlns:a16="http://schemas.microsoft.com/office/drawing/2014/main" id="{E34F928A-7C01-D9A8-5511-1344D72202E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347747" y="3271572"/>
            <a:ext cx="9086426" cy="30288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B468F9-6E82-DD92-6AC3-BF49746B9C60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6" name="Picture 5" descr="logo.png">
            <a:extLst>
              <a:ext uri="{FF2B5EF4-FFF2-40B4-BE49-F238E27FC236}">
                <a16:creationId xmlns:a16="http://schemas.microsoft.com/office/drawing/2014/main" id="{4071DCC2-3B1C-166B-2B27-0E7C56BD14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0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</p:childTnLst>
        </p:cTn>
      </p:par>
    </p:tnLst>
  </p:timing>
  <p:extLst>
    <p:ext uri="{6950BFC3-D8DA-4A85-94F7-54DA5524770B}">
      <p188:commentRel xmlns:p188="http://schemas.microsoft.com/office/powerpoint/2018/8/main" r:id="rId4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b="0" i="0" dirty="0">
                <a:solidFill>
                  <a:srgbClr val="123830"/>
                </a:solidFill>
                <a:latin typeface="Avenir Book"/>
              </a:rPr>
              <a:t>Analyzing Acquisition Function Selections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L1c_molecule_selection" descr="fig_L1c_molecule_selection.png"/>
          <p:cNvPicPr>
            <a:picLocks noChangeAspect="1"/>
          </p:cNvPicPr>
          <p:nvPr/>
        </p:nvPicPr>
        <p:blipFill>
          <a:blip r:embed="rId4"/>
          <a:srcRect t="6040"/>
          <a:stretch>
            <a:fillRect/>
          </a:stretch>
        </p:blipFill>
        <p:spPr>
          <a:xfrm>
            <a:off x="784167" y="2154162"/>
            <a:ext cx="10623665" cy="305004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showing a number of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DB905F17-033E-8240-AEAE-A2B4500DB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396" y="960788"/>
            <a:ext cx="6770295" cy="5077721"/>
          </a:xfrm>
          <a:prstGeom prst="rect">
            <a:avLst/>
          </a:prstGeom>
        </p:spPr>
      </p:pic>
      <p:pic>
        <p:nvPicPr>
          <p:cNvPr id="12" name="Picture 11" descr="A graph of scaffold and scaffold&#10;&#10;Description automatically generated">
            <a:extLst>
              <a:ext uri="{FF2B5EF4-FFF2-40B4-BE49-F238E27FC236}">
                <a16:creationId xmlns:a16="http://schemas.microsoft.com/office/drawing/2014/main" id="{28B0A676-4F83-4A8D-A6FD-9C5FD607C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396" y="960788"/>
            <a:ext cx="6770295" cy="5077721"/>
          </a:xfrm>
          <a:prstGeom prst="rect">
            <a:avLst/>
          </a:prstGeom>
        </p:spPr>
      </p:pic>
      <p:pic>
        <p:nvPicPr>
          <p:cNvPr id="10" name="Picture 9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85A20E18-B976-7C33-CAF3-4510A21BC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396" y="960788"/>
            <a:ext cx="6770295" cy="507772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9F99B8-430C-9B07-E63F-599A34BDDEDD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15E9426-E823-56FF-C0F1-D58547E2E581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A2CEBA-E37A-E910-9473-DDDD265C1984}"/>
              </a:ext>
            </a:extLst>
          </p:cNvPr>
          <p:cNvSpPr/>
          <p:nvPr/>
        </p:nvSpPr>
        <p:spPr>
          <a:xfrm>
            <a:off x="4993443" y="82021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4" name="TextBox 65">
            <a:extLst>
              <a:ext uri="{FF2B5EF4-FFF2-40B4-BE49-F238E27FC236}">
                <a16:creationId xmlns:a16="http://schemas.microsoft.com/office/drawing/2014/main" id="{15A85FBB-4645-9B19-FFA2-722552D4D154}"/>
              </a:ext>
            </a:extLst>
          </p:cNvPr>
          <p:cNvSpPr txBox="1"/>
          <p:nvPr/>
        </p:nvSpPr>
        <p:spPr>
          <a:xfrm>
            <a:off x="169023" y="865211"/>
            <a:ext cx="1185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Learning curves: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FB3370-833F-F1E4-1192-3718A17D92E7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Designing target-specific datasets with acquisition functions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14CB78-AD06-CC9C-7114-7AFA06CA52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3691" y="2558851"/>
            <a:ext cx="3901637" cy="17402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26CFF3-9982-193E-9A65-EB21A7A2BD4E}"/>
              </a:ext>
            </a:extLst>
          </p:cNvPr>
          <p:cNvSpPr txBox="1"/>
          <p:nvPr/>
        </p:nvSpPr>
        <p:spPr>
          <a:xfrm>
            <a:off x="9358077" y="4554705"/>
            <a:ext cx="1483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ground truth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9671B34-7CA9-BD8E-38A3-82A4C0BC37C6}"/>
              </a:ext>
            </a:extLst>
          </p:cNvPr>
          <p:cNvGrpSpPr/>
          <p:nvPr/>
        </p:nvGrpSpPr>
        <p:grpSpPr>
          <a:xfrm>
            <a:off x="2743180" y="2558851"/>
            <a:ext cx="2801277" cy="1737381"/>
            <a:chOff x="2743180" y="2915478"/>
            <a:chExt cx="2801277" cy="1380754"/>
          </a:xfrm>
        </p:grpSpPr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7A78CEA3-B6DC-4E1B-8F3D-D148B0AC6EEB}"/>
                </a:ext>
              </a:extLst>
            </p:cNvPr>
            <p:cNvSpPr/>
            <p:nvPr/>
          </p:nvSpPr>
          <p:spPr>
            <a:xfrm rot="5400000">
              <a:off x="4325640" y="3077416"/>
              <a:ext cx="369329" cy="2068304"/>
            </a:xfrm>
            <a:prstGeom prst="down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-58</a:t>
              </a:r>
            </a:p>
          </p:txBody>
        </p:sp>
        <p:sp>
          <p:nvSpPr>
            <p:cNvPr id="11" name="Down Arrow 10">
              <a:extLst>
                <a:ext uri="{FF2B5EF4-FFF2-40B4-BE49-F238E27FC236}">
                  <a16:creationId xmlns:a16="http://schemas.microsoft.com/office/drawing/2014/main" id="{AEB92E6F-EAF6-AE8D-BF70-B56B2DD78F76}"/>
                </a:ext>
              </a:extLst>
            </p:cNvPr>
            <p:cNvSpPr/>
            <p:nvPr/>
          </p:nvSpPr>
          <p:spPr>
            <a:xfrm rot="5400000">
              <a:off x="3988181" y="2254191"/>
              <a:ext cx="369331" cy="2743219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-78</a:t>
              </a:r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7AE13D64-3AE8-6944-4F1B-9E5861A52D40}"/>
                </a:ext>
              </a:extLst>
            </p:cNvPr>
            <p:cNvSpPr/>
            <p:nvPr/>
          </p:nvSpPr>
          <p:spPr>
            <a:xfrm rot="5400000">
              <a:off x="3959153" y="1699505"/>
              <a:ext cx="369330" cy="2801276"/>
            </a:xfrm>
            <a:prstGeom prst="downArrow">
              <a:avLst/>
            </a:prstGeom>
            <a:solidFill>
              <a:srgbClr val="E8ABE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-80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B66D16D-254B-F1B7-44C5-C0D8E8F62A27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17" name="Picture 16" descr="logo.png">
            <a:extLst>
              <a:ext uri="{FF2B5EF4-FFF2-40B4-BE49-F238E27FC236}">
                <a16:creationId xmlns:a16="http://schemas.microsoft.com/office/drawing/2014/main" id="{2F5B9F66-10FB-A118-F82E-01795BB711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C538-33B3-6708-3242-817E338CA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6FD6465-DACF-EAEE-5362-4CCE54A803C1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AB27CF3-4960-22EB-2570-FBC3463CC806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24E257-979B-1174-FFF2-39D4448E650F}"/>
              </a:ext>
            </a:extLst>
          </p:cNvPr>
          <p:cNvSpPr/>
          <p:nvPr/>
        </p:nvSpPr>
        <p:spPr>
          <a:xfrm>
            <a:off x="4993443" y="82021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BC6C66C-B609-B1ED-595B-FEB68C3F34B7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Statistical significance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C6FC3-3C5A-A302-F0FB-C623521D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0" t="6290" r="2289" b="43866"/>
          <a:stretch/>
        </p:blipFill>
        <p:spPr>
          <a:xfrm>
            <a:off x="293802" y="1745697"/>
            <a:ext cx="7632713" cy="44472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9CD7F7-2430-31FE-FA3E-3D168057FE35}"/>
              </a:ext>
            </a:extLst>
          </p:cNvPr>
          <p:cNvSpPr txBox="1"/>
          <p:nvPr/>
        </p:nvSpPr>
        <p:spPr>
          <a:xfrm>
            <a:off x="8303240" y="2995995"/>
            <a:ext cx="3740431" cy="1946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900"/>
              </a:spcAft>
              <a:buClr>
                <a:srgbClr val="005493"/>
              </a:buClr>
              <a:buFont typeface="Apple SD Gothic Neo Thin" panose="02000300000000000000" pitchFamily="2" charset="-127"/>
              <a:buChar char="■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indent="0">
              <a:spcAft>
                <a:spcPts val="15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• Good performance on 5 complex molecules tested experimentally</a:t>
            </a:r>
          </a:p>
          <a:p>
            <a:pPr marL="0" indent="0">
              <a:spcAft>
                <a:spcPts val="15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• Good performance for predicting radical arene borylation using another literature dataset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9186FE-B081-6E21-FB40-9ABE5CAAF170}"/>
              </a:ext>
            </a:extLst>
          </p:cNvPr>
          <p:cNvSpPr txBox="1"/>
          <p:nvPr/>
        </p:nvSpPr>
        <p:spPr>
          <a:xfrm>
            <a:off x="293802" y="1046721"/>
            <a:ext cx="5382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900"/>
              </a:spcAft>
              <a:buClr>
                <a:srgbClr val="005493"/>
              </a:buClr>
              <a:buFont typeface="Apple SD Gothic Neo Thin" panose="02000300000000000000" pitchFamily="2" charset="-127"/>
              <a:buChar char="■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Avenir Book" panose="02000503020000020003" pitchFamily="2" charset="0"/>
              </a:rPr>
              <a:t>Dataset size difference between AFs and random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EA1EF4-FEBF-0944-4C71-42253CB6FCB8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4" name="Picture 3" descr="logo.png">
            <a:extLst>
              <a:ext uri="{FF2B5EF4-FFF2-40B4-BE49-F238E27FC236}">
                <a16:creationId xmlns:a16="http://schemas.microsoft.com/office/drawing/2014/main" id="{40490809-95F4-F0F4-9553-E0F7A5A7B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577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BD1B9-7A9E-4EED-DE4E-50D91FE6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ACA4630-19B5-6377-4805-A75575853231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76519FD-932C-4BD3-E7F5-F3C3C2415C95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F7F06F-DD41-D52B-C925-6D858D118862}"/>
              </a:ext>
            </a:extLst>
          </p:cNvPr>
          <p:cNvSpPr/>
          <p:nvPr/>
        </p:nvSpPr>
        <p:spPr>
          <a:xfrm>
            <a:off x="4993443" y="82021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271B8D-CCE5-0E70-B9AB-8629B5887CB8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Improvement of top-1 accuracy 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82E8D-D878-E86C-28E7-883EFE87D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8" t="9780" r="2667" b="2507"/>
          <a:stretch/>
        </p:blipFill>
        <p:spPr>
          <a:xfrm>
            <a:off x="1821440" y="1895499"/>
            <a:ext cx="7883670" cy="3487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1EC21B-2F07-2422-271B-ED51ED53692E}"/>
              </a:ext>
            </a:extLst>
          </p:cNvPr>
          <p:cNvSpPr txBox="1"/>
          <p:nvPr/>
        </p:nvSpPr>
        <p:spPr>
          <a:xfrm>
            <a:off x="293802" y="986749"/>
            <a:ext cx="642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900"/>
              </a:spcAft>
              <a:buClr>
                <a:srgbClr val="005493"/>
              </a:buClr>
              <a:buFont typeface="Apple SD Gothic Neo Thin" panose="02000300000000000000" pitchFamily="2" charset="-127"/>
              <a:buChar char="■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venir Book" panose="02000503020000020003" pitchFamily="2" charset="0"/>
              </a:rPr>
              <a:t>Comparison of random and active learning AFs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F8ADF2-4A45-1B55-F425-15DF13133F66}"/>
              </a:ext>
            </a:extLst>
          </p:cNvPr>
          <p:cNvSpPr txBox="1"/>
          <p:nvPr/>
        </p:nvSpPr>
        <p:spPr>
          <a:xfrm>
            <a:off x="293802" y="5751820"/>
            <a:ext cx="11302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900"/>
              </a:spcAft>
              <a:buClr>
                <a:srgbClr val="005493"/>
              </a:buClr>
              <a:buFont typeface="Apple SD Gothic Neo Thin" panose="02000300000000000000" pitchFamily="2" charset="-127"/>
              <a:buChar char="■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indent="0">
              <a:spcAft>
                <a:spcPts val="1500"/>
              </a:spcAft>
              <a:buNone/>
            </a:pPr>
            <a:r>
              <a:rPr lang="en-US" b="1" dirty="0">
                <a:solidFill>
                  <a:schemeClr val="tx1"/>
                </a:solidFill>
                <a:latin typeface="Avenir Book" panose="02000503020000020003" pitchFamily="2" charset="0"/>
              </a:rPr>
              <a:t>More data is not always better: 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smaller datasets that cover only the relevant region of chemical space outperform larger datasets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CC0AB2-B94A-F3BC-946C-E73B3825E710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4" name="Picture 3" descr="logo.png">
            <a:extLst>
              <a:ext uri="{FF2B5EF4-FFF2-40B4-BE49-F238E27FC236}">
                <a16:creationId xmlns:a16="http://schemas.microsoft.com/office/drawing/2014/main" id="{8C4AFC1A-19FE-A81C-99DA-891F7A12B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077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79F99B8-430C-9B07-E63F-599A34BDDEDD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15E9426-E823-56FF-C0F1-D58547E2E581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A2CEBA-E37A-E910-9473-DDDD265C1984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6" name="TextBox 65">
            <a:extLst>
              <a:ext uri="{FF2B5EF4-FFF2-40B4-BE49-F238E27FC236}">
                <a16:creationId xmlns:a16="http://schemas.microsoft.com/office/drawing/2014/main" id="{A66C62C3-A9EB-2BEF-C740-632BCD70273F}"/>
              </a:ext>
            </a:extLst>
          </p:cNvPr>
          <p:cNvSpPr txBox="1"/>
          <p:nvPr/>
        </p:nvSpPr>
        <p:spPr>
          <a:xfrm>
            <a:off x="574126" y="1169863"/>
            <a:ext cx="107364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Avenir Book" panose="02000503020000020003" pitchFamily="2" charset="0"/>
                <a:cs typeface="Segoe UI" panose="020B0502040204020203" pitchFamily="34" charset="0"/>
              </a:rPr>
              <a:t>• STATISTICALLY SIGNIFICANT:</a:t>
            </a:r>
          </a:p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	- Active Learning reduces ~40 datapoints</a:t>
            </a:r>
          </a:p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	- Active Learning design specific datasets successful where random can’t</a:t>
            </a:r>
          </a:p>
          <a:p>
            <a:r>
              <a:rPr lang="en-US" b="1" dirty="0">
                <a:latin typeface="Avenir Book" panose="02000503020000020003" pitchFamily="2" charset="0"/>
                <a:cs typeface="Segoe UI" panose="020B0502040204020203" pitchFamily="34" charset="0"/>
              </a:rPr>
              <a:t> </a:t>
            </a:r>
          </a:p>
          <a:p>
            <a:r>
              <a:rPr lang="en-US" b="1" dirty="0">
                <a:latin typeface="Avenir Book" panose="02000503020000020003" pitchFamily="2" charset="0"/>
                <a:cs typeface="Segoe UI" panose="020B0502040204020203" pitchFamily="34" charset="0"/>
              </a:rPr>
              <a:t>• TRANSPOSABLE TO DIFFERENT C–H FUNCTIONALIZATION:</a:t>
            </a:r>
          </a:p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	- C(sp</a:t>
            </a:r>
            <a:r>
              <a:rPr lang="en-US" baseline="30000" dirty="0">
                <a:latin typeface="Avenir Book" panose="02000503020000020003" pitchFamily="2" charset="0"/>
                <a:cs typeface="Segoe UI" panose="020B0502040204020203" pitchFamily="34" charset="0"/>
              </a:rPr>
              <a:t>3</a:t>
            </a:r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)–H Dioxirane oxidations</a:t>
            </a:r>
          </a:p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	- C(sp</a:t>
            </a:r>
            <a:r>
              <a:rPr lang="en-US" baseline="30000" dirty="0">
                <a:latin typeface="Avenir Book" panose="02000503020000020003" pitchFamily="2" charset="0"/>
                <a:cs typeface="Segoe UI" panose="020B0502040204020203" pitchFamily="34" charset="0"/>
              </a:rPr>
              <a:t>2</a:t>
            </a:r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)–H borylations</a:t>
            </a:r>
          </a:p>
          <a:p>
            <a:endParaRPr lang="en-US" b="1" dirty="0">
              <a:latin typeface="Avenir Book" panose="02000503020000020003" pitchFamily="2" charset="0"/>
              <a:cs typeface="Segoe UI" panose="020B0502040204020203" pitchFamily="34" charset="0"/>
            </a:endParaRPr>
          </a:p>
          <a:p>
            <a:r>
              <a:rPr lang="en-US" b="1" dirty="0">
                <a:latin typeface="Avenir Book" panose="02000503020000020003" pitchFamily="2" charset="0"/>
                <a:cs typeface="Segoe UI" panose="020B0502040204020203" pitchFamily="34" charset="0"/>
              </a:rPr>
              <a:t>• EXPERIMENTAL VALIDATION:</a:t>
            </a:r>
          </a:p>
          <a:p>
            <a:r>
              <a:rPr lang="en-US" dirty="0">
                <a:latin typeface="Avenir Book" panose="02000503020000020003" pitchFamily="2" charset="0"/>
                <a:cs typeface="Segoe UI" panose="020B0502040204020203" pitchFamily="34" charset="0"/>
              </a:rPr>
              <a:t>	5 targets successfully predicted with this method</a:t>
            </a:r>
          </a:p>
          <a:p>
            <a:endParaRPr lang="en-US" b="1" dirty="0">
              <a:latin typeface="Avenir Book" panose="02000503020000020003" pitchFamily="2" charset="0"/>
              <a:cs typeface="Segoe UI" panose="020B0502040204020203" pitchFamily="34" charset="0"/>
            </a:endParaRPr>
          </a:p>
          <a:p>
            <a:endParaRPr lang="en-US" b="1" dirty="0">
              <a:latin typeface="Avenir Book" panose="02000503020000020003" pitchFamily="2" charset="0"/>
              <a:cs typeface="Segoe UI" panose="020B0502040204020203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7E0C37-86C3-0B59-EA92-19E773BD3C98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Designing target-specific datasets with acquisition functions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pic>
        <p:nvPicPr>
          <p:cNvPr id="2" name="Picture 2" descr="Premium Vector | Check mark and cross circles">
            <a:extLst>
              <a:ext uri="{FF2B5EF4-FFF2-40B4-BE49-F238E27FC236}">
                <a16:creationId xmlns:a16="http://schemas.microsoft.com/office/drawing/2014/main" id="{D8E89EAA-EEB8-B5DA-BAEE-764C693B13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" t="8194" r="51558" b="50857"/>
          <a:stretch/>
        </p:blipFill>
        <p:spPr bwMode="auto">
          <a:xfrm>
            <a:off x="459651" y="1161022"/>
            <a:ext cx="355196" cy="36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Premium Vector | Check mark and cross circles">
            <a:extLst>
              <a:ext uri="{FF2B5EF4-FFF2-40B4-BE49-F238E27FC236}">
                <a16:creationId xmlns:a16="http://schemas.microsoft.com/office/drawing/2014/main" id="{5EFD9411-6573-88B9-3CDE-CDC964B1C8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" t="8194" r="51558" b="50857"/>
          <a:stretch/>
        </p:blipFill>
        <p:spPr bwMode="auto">
          <a:xfrm>
            <a:off x="459651" y="2244028"/>
            <a:ext cx="355196" cy="36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Premium Vector | Check mark and cross circles">
            <a:extLst>
              <a:ext uri="{FF2B5EF4-FFF2-40B4-BE49-F238E27FC236}">
                <a16:creationId xmlns:a16="http://schemas.microsoft.com/office/drawing/2014/main" id="{621DE223-B137-FE28-494F-3468089E8F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" t="8194" r="51558" b="50857"/>
          <a:stretch/>
        </p:blipFill>
        <p:spPr bwMode="auto">
          <a:xfrm>
            <a:off x="459651" y="3358404"/>
            <a:ext cx="355196" cy="36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D609348-8A57-A42A-FEBB-7761F41C032F}"/>
              </a:ext>
            </a:extLst>
          </p:cNvPr>
          <p:cNvGrpSpPr/>
          <p:nvPr/>
        </p:nvGrpSpPr>
        <p:grpSpPr>
          <a:xfrm>
            <a:off x="1025048" y="3605452"/>
            <a:ext cx="10611487" cy="2780911"/>
            <a:chOff x="1025048" y="3932022"/>
            <a:chExt cx="10611487" cy="27809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BE12D5B-6935-D9E5-16C1-F903B9779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5048" y="5410923"/>
              <a:ext cx="1562100" cy="9906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BC17DF-63A4-9F02-54DD-1E7B53F51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09679" y="4465940"/>
              <a:ext cx="2857500" cy="19812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1D1B68-B330-6C71-99B8-10A1BFC5C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89711" y="5160035"/>
              <a:ext cx="1244600" cy="11938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B4C1010-25CE-82B6-1AD6-ABB2ABF3C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56843" y="5176233"/>
              <a:ext cx="18034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74CC712-B090-C8CB-5185-F594B938D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201435" y="3932022"/>
              <a:ext cx="1435100" cy="2451100"/>
            </a:xfrm>
            <a:prstGeom prst="rect">
              <a:avLst/>
            </a:prstGeom>
          </p:spPr>
        </p:pic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6837873-C082-66C8-0D53-B8DC6FD6B659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17" name="Picture 16" descr="logo.png">
            <a:extLst>
              <a:ext uri="{FF2B5EF4-FFF2-40B4-BE49-F238E27FC236}">
                <a16:creationId xmlns:a16="http://schemas.microsoft.com/office/drawing/2014/main" id="{EAB1DE88-F0EF-DF55-083F-954FF2122B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9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35B0-55B4-2575-A523-56C7BEEC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showing a number of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E3A51FEA-54F3-68AE-4007-D5BDFA969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396" y="960788"/>
            <a:ext cx="6770295" cy="5077721"/>
          </a:xfrm>
          <a:prstGeom prst="rect">
            <a:avLst/>
          </a:prstGeom>
        </p:spPr>
      </p:pic>
      <p:pic>
        <p:nvPicPr>
          <p:cNvPr id="12" name="Picture 11" descr="A graph of scaffold and scaffold&#10;&#10;Description automatically generated">
            <a:extLst>
              <a:ext uri="{FF2B5EF4-FFF2-40B4-BE49-F238E27FC236}">
                <a16:creationId xmlns:a16="http://schemas.microsoft.com/office/drawing/2014/main" id="{091B8E76-7F98-E50A-EDBC-1467CE991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396" y="960788"/>
            <a:ext cx="6770295" cy="5077721"/>
          </a:xfrm>
          <a:prstGeom prst="rect">
            <a:avLst/>
          </a:prstGeom>
        </p:spPr>
      </p:pic>
      <p:pic>
        <p:nvPicPr>
          <p:cNvPr id="10" name="Picture 9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FD57ECC-CF49-99A6-31F2-3EE62817F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396" y="960788"/>
            <a:ext cx="6770295" cy="507772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936824A-60CA-60AB-6055-8A74497CA8E0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66AE18-76AA-1C14-274F-EF79E899E4AA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72134E-439E-0F62-F6CE-D8431A549E65}"/>
              </a:ext>
            </a:extLst>
          </p:cNvPr>
          <p:cNvSpPr/>
          <p:nvPr/>
        </p:nvSpPr>
        <p:spPr>
          <a:xfrm>
            <a:off x="4993443" y="82021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EEE46A-C2E2-7C0E-2FEC-16872699763A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Future work: prospective use needs stopping criterion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659F0A-F9BF-1BB2-20D3-ECE78EEA8A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3691" y="2558851"/>
            <a:ext cx="3901637" cy="17402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78FE5E-2736-599E-7578-A1A9F74CA0CB}"/>
              </a:ext>
            </a:extLst>
          </p:cNvPr>
          <p:cNvSpPr txBox="1"/>
          <p:nvPr/>
        </p:nvSpPr>
        <p:spPr>
          <a:xfrm>
            <a:off x="9358077" y="4554705"/>
            <a:ext cx="1483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ground truth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472D9-F245-41B0-2577-0732A879A64C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5" name="Picture 4" descr="logo.png">
            <a:extLst>
              <a:ext uri="{FF2B5EF4-FFF2-40B4-BE49-F238E27FC236}">
                <a16:creationId xmlns:a16="http://schemas.microsoft.com/office/drawing/2014/main" id="{132ED531-32BF-8402-DE9E-2F88B5250A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0389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56351-1A79-98DC-1C8E-284D1DFD7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1230A79-FA65-0DF3-2F5A-533D4B5F42EA}"/>
              </a:ext>
            </a:extLst>
          </p:cNvPr>
          <p:cNvSpPr/>
          <p:nvPr/>
        </p:nvSpPr>
        <p:spPr>
          <a:xfrm>
            <a:off x="0" y="-12700"/>
            <a:ext cx="12192000" cy="720936"/>
          </a:xfrm>
          <a:prstGeom prst="rect">
            <a:avLst/>
          </a:prstGeom>
          <a:solidFill>
            <a:srgbClr val="FB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6E60C10-FF99-B3A8-6C3F-EE93486D5AC9}"/>
              </a:ext>
            </a:extLst>
          </p:cNvPr>
          <p:cNvSpPr/>
          <p:nvPr/>
        </p:nvSpPr>
        <p:spPr>
          <a:xfrm>
            <a:off x="756138" y="836017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CC28A4-F5A2-6F3D-670C-9FAAA3FA81F0}"/>
              </a:ext>
            </a:extLst>
          </p:cNvPr>
          <p:cNvSpPr/>
          <p:nvPr/>
        </p:nvSpPr>
        <p:spPr>
          <a:xfrm>
            <a:off x="6380283" y="774493"/>
            <a:ext cx="193433" cy="395370"/>
          </a:xfrm>
          <a:prstGeom prst="roundRect">
            <a:avLst>
              <a:gd name="adj" fmla="val 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3348E6-F8B3-4AC1-87C9-DD38ED906F07}"/>
              </a:ext>
            </a:extLst>
          </p:cNvPr>
          <p:cNvSpPr txBox="1">
            <a:spLocks/>
          </p:cNvSpPr>
          <p:nvPr/>
        </p:nvSpPr>
        <p:spPr>
          <a:xfrm>
            <a:off x="293802" y="16973"/>
            <a:ext cx="11604396" cy="70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>
                <a:solidFill>
                  <a:srgbClr val="1D1D1D"/>
                </a:solidFill>
                <a:latin typeface="Avenir Book" panose="02000503020000020003" pitchFamily="2" charset="0"/>
              </a:rPr>
              <a:t>Perspective for de-risking synthetic planning</a:t>
            </a:r>
            <a:endParaRPr lang="en-US" sz="3200" dirty="0">
              <a:latin typeface="Avenir Book" panose="02000503020000020003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3EDE5F-5652-1DC5-AD42-C0486A20F50B}"/>
              </a:ext>
            </a:extLst>
          </p:cNvPr>
          <p:cNvSpPr txBox="1"/>
          <p:nvPr/>
        </p:nvSpPr>
        <p:spPr>
          <a:xfrm>
            <a:off x="161507" y="953508"/>
            <a:ext cx="2100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Synthesis planning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AA1A41-56D9-6400-1235-62DB6C24625B}"/>
              </a:ext>
            </a:extLst>
          </p:cNvPr>
          <p:cNvSpPr/>
          <p:nvPr/>
        </p:nvSpPr>
        <p:spPr>
          <a:xfrm>
            <a:off x="977214" y="1678021"/>
            <a:ext cx="461818" cy="46515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AE6614E-9F8D-14D7-DA49-2E65EA50B032}"/>
              </a:ext>
            </a:extLst>
          </p:cNvPr>
          <p:cNvSpPr/>
          <p:nvPr/>
        </p:nvSpPr>
        <p:spPr>
          <a:xfrm>
            <a:off x="977214" y="3045766"/>
            <a:ext cx="461818" cy="465152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25922F4-81B4-58D5-6574-73583AF43A9B}"/>
              </a:ext>
            </a:extLst>
          </p:cNvPr>
          <p:cNvGrpSpPr/>
          <p:nvPr/>
        </p:nvGrpSpPr>
        <p:grpSpPr>
          <a:xfrm>
            <a:off x="437080" y="4413511"/>
            <a:ext cx="1521594" cy="465152"/>
            <a:chOff x="6427771" y="4331593"/>
            <a:chExt cx="1521594" cy="465152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E891E14-41D4-BA33-472C-205E262A790E}"/>
                </a:ext>
              </a:extLst>
            </p:cNvPr>
            <p:cNvSpPr/>
            <p:nvPr/>
          </p:nvSpPr>
          <p:spPr>
            <a:xfrm>
              <a:off x="6427771" y="4331593"/>
              <a:ext cx="461818" cy="465152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venir Book" panose="02000503020000020003" pitchFamily="2" charset="0"/>
                </a:rPr>
                <a:t>$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F0DFE38-8463-1F0E-1CD4-2C9D48DAE118}"/>
                </a:ext>
              </a:extLst>
            </p:cNvPr>
            <p:cNvSpPr/>
            <p:nvPr/>
          </p:nvSpPr>
          <p:spPr>
            <a:xfrm>
              <a:off x="7487547" y="4331593"/>
              <a:ext cx="461818" cy="465152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0EDB50CA-EF92-C102-1C0D-6562BEE0BC51}"/>
              </a:ext>
            </a:extLst>
          </p:cNvPr>
          <p:cNvSpPr/>
          <p:nvPr/>
        </p:nvSpPr>
        <p:spPr>
          <a:xfrm>
            <a:off x="964739" y="5787388"/>
            <a:ext cx="461818" cy="4651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ADCB7BE-15D2-655C-907E-D6890BD53149}"/>
              </a:ext>
            </a:extLst>
          </p:cNvPr>
          <p:cNvSpPr/>
          <p:nvPr/>
        </p:nvSpPr>
        <p:spPr>
          <a:xfrm>
            <a:off x="2025541" y="5785041"/>
            <a:ext cx="461818" cy="465152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$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022383-6C13-6029-17BA-04D5E538DA44}"/>
              </a:ext>
            </a:extLst>
          </p:cNvPr>
          <p:cNvCxnSpPr>
            <a:cxnSpLocks/>
            <a:stCxn id="13" idx="0"/>
            <a:endCxn id="12" idx="4"/>
          </p:cNvCxnSpPr>
          <p:nvPr/>
        </p:nvCxnSpPr>
        <p:spPr>
          <a:xfrm flipV="1">
            <a:off x="1208123" y="2143173"/>
            <a:ext cx="0" cy="90259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4239BB-7551-671A-91DC-BD80173F12E8}"/>
              </a:ext>
            </a:extLst>
          </p:cNvPr>
          <p:cNvCxnSpPr>
            <a:cxnSpLocks/>
          </p:cNvCxnSpPr>
          <p:nvPr/>
        </p:nvCxnSpPr>
        <p:spPr>
          <a:xfrm flipV="1">
            <a:off x="1197957" y="3510918"/>
            <a:ext cx="0" cy="4779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C4A14F-3AD9-F843-36B9-D7C88222E4D4}"/>
              </a:ext>
            </a:extLst>
          </p:cNvPr>
          <p:cNvCxnSpPr>
            <a:cxnSpLocks/>
          </p:cNvCxnSpPr>
          <p:nvPr/>
        </p:nvCxnSpPr>
        <p:spPr>
          <a:xfrm flipV="1">
            <a:off x="1719812" y="3988900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B259A8-A9C5-A6D2-5F92-64F1C8995140}"/>
              </a:ext>
            </a:extLst>
          </p:cNvPr>
          <p:cNvCxnSpPr>
            <a:cxnSpLocks/>
          </p:cNvCxnSpPr>
          <p:nvPr/>
        </p:nvCxnSpPr>
        <p:spPr>
          <a:xfrm flipV="1">
            <a:off x="671485" y="3988900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500F41-4954-4BE6-1DF9-E3FDA19D73D3}"/>
              </a:ext>
            </a:extLst>
          </p:cNvPr>
          <p:cNvCxnSpPr>
            <a:cxnSpLocks/>
          </p:cNvCxnSpPr>
          <p:nvPr/>
        </p:nvCxnSpPr>
        <p:spPr>
          <a:xfrm>
            <a:off x="671485" y="3988900"/>
            <a:ext cx="10483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BA5D895-61DD-4498-9CD7-F8F672B53FA7}"/>
              </a:ext>
            </a:extLst>
          </p:cNvPr>
          <p:cNvCxnSpPr>
            <a:cxnSpLocks/>
          </p:cNvCxnSpPr>
          <p:nvPr/>
        </p:nvCxnSpPr>
        <p:spPr>
          <a:xfrm flipV="1">
            <a:off x="1734595" y="4880909"/>
            <a:ext cx="0" cy="47798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C7FF910-F4D1-4809-098B-066125B279F0}"/>
              </a:ext>
            </a:extLst>
          </p:cNvPr>
          <p:cNvCxnSpPr>
            <a:cxnSpLocks/>
          </p:cNvCxnSpPr>
          <p:nvPr/>
        </p:nvCxnSpPr>
        <p:spPr>
          <a:xfrm flipV="1">
            <a:off x="2256450" y="5358891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0D9B20-CF44-02EC-A2F6-B64EEFFFD1D4}"/>
              </a:ext>
            </a:extLst>
          </p:cNvPr>
          <p:cNvCxnSpPr>
            <a:cxnSpLocks/>
          </p:cNvCxnSpPr>
          <p:nvPr/>
        </p:nvCxnSpPr>
        <p:spPr>
          <a:xfrm flipV="1">
            <a:off x="1208123" y="5358891"/>
            <a:ext cx="0" cy="42461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2E3A1E-5A37-0E3B-2948-F95221B5FC54}"/>
              </a:ext>
            </a:extLst>
          </p:cNvPr>
          <p:cNvCxnSpPr>
            <a:cxnSpLocks/>
          </p:cNvCxnSpPr>
          <p:nvPr/>
        </p:nvCxnSpPr>
        <p:spPr>
          <a:xfrm>
            <a:off x="1208123" y="5358891"/>
            <a:ext cx="104832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F723CA8-A870-A693-AC5C-7D0D0C595533}"/>
              </a:ext>
            </a:extLst>
          </p:cNvPr>
          <p:cNvSpPr/>
          <p:nvPr/>
        </p:nvSpPr>
        <p:spPr>
          <a:xfrm>
            <a:off x="994685" y="2412839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1835DE-F3BA-2EFA-4EB8-1C868CF72292}"/>
              </a:ext>
            </a:extLst>
          </p:cNvPr>
          <p:cNvSpPr/>
          <p:nvPr/>
        </p:nvSpPr>
        <p:spPr>
          <a:xfrm>
            <a:off x="982653" y="3768246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2F3BAC-9EB0-28E7-1BAC-AFCE73FE1113}"/>
              </a:ext>
            </a:extLst>
          </p:cNvPr>
          <p:cNvSpPr/>
          <p:nvPr/>
        </p:nvSpPr>
        <p:spPr>
          <a:xfrm>
            <a:off x="1514031" y="5140206"/>
            <a:ext cx="425885" cy="4337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93914E-D591-9660-0D63-1E0811D14508}"/>
              </a:ext>
            </a:extLst>
          </p:cNvPr>
          <p:cNvSpPr txBox="1"/>
          <p:nvPr/>
        </p:nvSpPr>
        <p:spPr>
          <a:xfrm>
            <a:off x="1712580" y="1717225"/>
            <a:ext cx="1572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Single step evaluation ? </a:t>
            </a:r>
          </a:p>
        </p:txBody>
      </p:sp>
      <p:sp>
        <p:nvSpPr>
          <p:cNvPr id="33" name="Up Arrow 32">
            <a:extLst>
              <a:ext uri="{FF2B5EF4-FFF2-40B4-BE49-F238E27FC236}">
                <a16:creationId xmlns:a16="http://schemas.microsoft.com/office/drawing/2014/main" id="{86BF115C-9025-540B-CC64-4CEDE5BA8410}"/>
              </a:ext>
            </a:extLst>
          </p:cNvPr>
          <p:cNvSpPr/>
          <p:nvPr/>
        </p:nvSpPr>
        <p:spPr>
          <a:xfrm rot="16200000">
            <a:off x="2172532" y="1828953"/>
            <a:ext cx="530490" cy="1572595"/>
          </a:xfrm>
          <a:prstGeom prst="upArrow">
            <a:avLst/>
          </a:prstGeom>
          <a:gradFill>
            <a:gsLst>
              <a:gs pos="93000">
                <a:schemeClr val="bg1"/>
              </a:gs>
              <a:gs pos="58000">
                <a:schemeClr val="tx2">
                  <a:lumMod val="50000"/>
                  <a:lumOff val="50000"/>
                </a:schemeClr>
              </a:gs>
              <a:gs pos="13000">
                <a:schemeClr val="tx2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DCB6D1-2E4C-8006-5C7A-60681815BD21}"/>
              </a:ext>
            </a:extLst>
          </p:cNvPr>
          <p:cNvSpPr txBox="1"/>
          <p:nvPr/>
        </p:nvSpPr>
        <p:spPr>
          <a:xfrm>
            <a:off x="9169490" y="3407727"/>
            <a:ext cx="401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spcAft>
                <a:spcPts val="450"/>
              </a:spcAft>
              <a:defRPr/>
            </a:pPr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91CBBBA-3C57-BA51-B014-C179C9C354A8}"/>
              </a:ext>
            </a:extLst>
          </p:cNvPr>
          <p:cNvGrpSpPr/>
          <p:nvPr/>
        </p:nvGrpSpPr>
        <p:grpSpPr>
          <a:xfrm>
            <a:off x="4362559" y="1381961"/>
            <a:ext cx="5741252" cy="5054029"/>
            <a:chOff x="4362559" y="1381961"/>
            <a:chExt cx="5741252" cy="5054029"/>
          </a:xfrm>
        </p:grpSpPr>
        <p:sp>
          <p:nvSpPr>
            <p:cNvPr id="36" name="Coins">
              <a:extLst>
                <a:ext uri="{FF2B5EF4-FFF2-40B4-BE49-F238E27FC236}">
                  <a16:creationId xmlns:a16="http://schemas.microsoft.com/office/drawing/2014/main" id="{EF7D3B56-6490-85E4-8C38-70918A6A5744}"/>
                </a:ext>
              </a:extLst>
            </p:cNvPr>
            <p:cNvSpPr/>
            <p:nvPr/>
          </p:nvSpPr>
          <p:spPr>
            <a:xfrm flipH="1">
              <a:off x="5039343" y="4623200"/>
              <a:ext cx="432571" cy="445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1" y="0"/>
                  </a:moveTo>
                  <a:cubicBezTo>
                    <a:pt x="7949" y="0"/>
                    <a:pt x="5266" y="392"/>
                    <a:pt x="3255" y="1111"/>
                  </a:cubicBezTo>
                  <a:cubicBezTo>
                    <a:pt x="1360" y="1787"/>
                    <a:pt x="273" y="2685"/>
                    <a:pt x="273" y="3572"/>
                  </a:cubicBezTo>
                  <a:cubicBezTo>
                    <a:pt x="273" y="4460"/>
                    <a:pt x="1360" y="5360"/>
                    <a:pt x="3255" y="6035"/>
                  </a:cubicBezTo>
                  <a:cubicBezTo>
                    <a:pt x="5266" y="6749"/>
                    <a:pt x="7949" y="7147"/>
                    <a:pt x="10801" y="7147"/>
                  </a:cubicBezTo>
                  <a:cubicBezTo>
                    <a:pt x="13652" y="7147"/>
                    <a:pt x="16334" y="6754"/>
                    <a:pt x="18345" y="6035"/>
                  </a:cubicBezTo>
                  <a:cubicBezTo>
                    <a:pt x="20240" y="5360"/>
                    <a:pt x="21327" y="4460"/>
                    <a:pt x="21327" y="3572"/>
                  </a:cubicBezTo>
                  <a:cubicBezTo>
                    <a:pt x="21327" y="2685"/>
                    <a:pt x="20240" y="1787"/>
                    <a:pt x="18345" y="1111"/>
                  </a:cubicBezTo>
                  <a:cubicBezTo>
                    <a:pt x="16334" y="398"/>
                    <a:pt x="13652" y="0"/>
                    <a:pt x="10801" y="0"/>
                  </a:cubicBezTo>
                  <a:close/>
                  <a:moveTo>
                    <a:pt x="12" y="4505"/>
                  </a:moveTo>
                  <a:lnTo>
                    <a:pt x="12" y="5914"/>
                  </a:lnTo>
                  <a:cubicBezTo>
                    <a:pt x="12" y="8033"/>
                    <a:pt x="4846" y="9754"/>
                    <a:pt x="10811" y="9754"/>
                  </a:cubicBezTo>
                  <a:cubicBezTo>
                    <a:pt x="16776" y="9754"/>
                    <a:pt x="21600" y="8039"/>
                    <a:pt x="21600" y="5914"/>
                  </a:cubicBezTo>
                  <a:lnTo>
                    <a:pt x="21600" y="4505"/>
                  </a:lnTo>
                  <a:cubicBezTo>
                    <a:pt x="21136" y="5284"/>
                    <a:pt x="20088" y="5991"/>
                    <a:pt x="18531" y="6541"/>
                  </a:cubicBezTo>
                  <a:cubicBezTo>
                    <a:pt x="16460" y="7276"/>
                    <a:pt x="13718" y="7679"/>
                    <a:pt x="10806" y="7679"/>
                  </a:cubicBezTo>
                  <a:cubicBezTo>
                    <a:pt x="7894" y="7679"/>
                    <a:pt x="5146" y="7276"/>
                    <a:pt x="3081" y="6541"/>
                  </a:cubicBezTo>
                  <a:cubicBezTo>
                    <a:pt x="1524" y="5985"/>
                    <a:pt x="476" y="5284"/>
                    <a:pt x="12" y="4505"/>
                  </a:cubicBezTo>
                  <a:close/>
                  <a:moveTo>
                    <a:pt x="0" y="7320"/>
                  </a:moveTo>
                  <a:lnTo>
                    <a:pt x="0" y="8284"/>
                  </a:lnTo>
                  <a:cubicBezTo>
                    <a:pt x="0" y="10402"/>
                    <a:pt x="4836" y="12123"/>
                    <a:pt x="10801" y="12123"/>
                  </a:cubicBezTo>
                  <a:cubicBezTo>
                    <a:pt x="16766" y="12123"/>
                    <a:pt x="21600" y="10408"/>
                    <a:pt x="21600" y="8284"/>
                  </a:cubicBezTo>
                  <a:lnTo>
                    <a:pt x="21600" y="7320"/>
                  </a:lnTo>
                  <a:cubicBezTo>
                    <a:pt x="21458" y="7495"/>
                    <a:pt x="21295" y="7664"/>
                    <a:pt x="21098" y="7827"/>
                  </a:cubicBezTo>
                  <a:cubicBezTo>
                    <a:pt x="20508" y="8329"/>
                    <a:pt x="19672" y="8769"/>
                    <a:pt x="18618" y="9145"/>
                  </a:cubicBezTo>
                  <a:cubicBezTo>
                    <a:pt x="16520" y="9891"/>
                    <a:pt x="13745" y="10299"/>
                    <a:pt x="10801" y="10299"/>
                  </a:cubicBezTo>
                  <a:cubicBezTo>
                    <a:pt x="7856" y="10299"/>
                    <a:pt x="5080" y="9891"/>
                    <a:pt x="2982" y="9145"/>
                  </a:cubicBezTo>
                  <a:cubicBezTo>
                    <a:pt x="1928" y="8769"/>
                    <a:pt x="1099" y="8329"/>
                    <a:pt x="504" y="7827"/>
                  </a:cubicBezTo>
                  <a:cubicBezTo>
                    <a:pt x="307" y="7664"/>
                    <a:pt x="142" y="7495"/>
                    <a:pt x="0" y="7320"/>
                  </a:cubicBezTo>
                  <a:close/>
                  <a:moveTo>
                    <a:pt x="0" y="9689"/>
                  </a:moveTo>
                  <a:lnTo>
                    <a:pt x="0" y="10653"/>
                  </a:lnTo>
                  <a:cubicBezTo>
                    <a:pt x="0" y="12771"/>
                    <a:pt x="4836" y="14492"/>
                    <a:pt x="10801" y="14492"/>
                  </a:cubicBezTo>
                  <a:cubicBezTo>
                    <a:pt x="16766" y="14492"/>
                    <a:pt x="21600" y="12777"/>
                    <a:pt x="21600" y="10653"/>
                  </a:cubicBezTo>
                  <a:lnTo>
                    <a:pt x="21600" y="9689"/>
                  </a:lnTo>
                  <a:cubicBezTo>
                    <a:pt x="21458" y="9864"/>
                    <a:pt x="21295" y="10033"/>
                    <a:pt x="21098" y="10197"/>
                  </a:cubicBezTo>
                  <a:cubicBezTo>
                    <a:pt x="20508" y="10698"/>
                    <a:pt x="19672" y="11138"/>
                    <a:pt x="18618" y="11514"/>
                  </a:cubicBezTo>
                  <a:cubicBezTo>
                    <a:pt x="16520" y="12260"/>
                    <a:pt x="13745" y="12668"/>
                    <a:pt x="10801" y="12668"/>
                  </a:cubicBezTo>
                  <a:cubicBezTo>
                    <a:pt x="7856" y="12668"/>
                    <a:pt x="5080" y="12260"/>
                    <a:pt x="2982" y="11514"/>
                  </a:cubicBezTo>
                  <a:cubicBezTo>
                    <a:pt x="1928" y="11138"/>
                    <a:pt x="1099" y="10698"/>
                    <a:pt x="504" y="10197"/>
                  </a:cubicBezTo>
                  <a:cubicBezTo>
                    <a:pt x="307" y="10033"/>
                    <a:pt x="142" y="9864"/>
                    <a:pt x="0" y="9689"/>
                  </a:cubicBezTo>
                  <a:close/>
                  <a:moveTo>
                    <a:pt x="0" y="12059"/>
                  </a:moveTo>
                  <a:lnTo>
                    <a:pt x="0" y="13022"/>
                  </a:lnTo>
                  <a:cubicBezTo>
                    <a:pt x="0" y="15141"/>
                    <a:pt x="4836" y="16862"/>
                    <a:pt x="10801" y="16862"/>
                  </a:cubicBezTo>
                  <a:cubicBezTo>
                    <a:pt x="16766" y="16862"/>
                    <a:pt x="21600" y="15146"/>
                    <a:pt x="21600" y="13022"/>
                  </a:cubicBezTo>
                  <a:lnTo>
                    <a:pt x="21600" y="12059"/>
                  </a:lnTo>
                  <a:cubicBezTo>
                    <a:pt x="21458" y="12233"/>
                    <a:pt x="21295" y="12402"/>
                    <a:pt x="21098" y="12566"/>
                  </a:cubicBezTo>
                  <a:cubicBezTo>
                    <a:pt x="20508" y="13067"/>
                    <a:pt x="19672" y="13507"/>
                    <a:pt x="18618" y="13883"/>
                  </a:cubicBezTo>
                  <a:cubicBezTo>
                    <a:pt x="16520" y="14629"/>
                    <a:pt x="13745" y="15037"/>
                    <a:pt x="10801" y="15037"/>
                  </a:cubicBezTo>
                  <a:cubicBezTo>
                    <a:pt x="7856" y="15037"/>
                    <a:pt x="5080" y="14629"/>
                    <a:pt x="2982" y="13883"/>
                  </a:cubicBezTo>
                  <a:cubicBezTo>
                    <a:pt x="1928" y="13507"/>
                    <a:pt x="1099" y="13067"/>
                    <a:pt x="504" y="12566"/>
                  </a:cubicBezTo>
                  <a:cubicBezTo>
                    <a:pt x="307" y="12402"/>
                    <a:pt x="142" y="12233"/>
                    <a:pt x="0" y="12059"/>
                  </a:cubicBezTo>
                  <a:close/>
                  <a:moveTo>
                    <a:pt x="0" y="14428"/>
                  </a:moveTo>
                  <a:lnTo>
                    <a:pt x="0" y="15391"/>
                  </a:lnTo>
                  <a:cubicBezTo>
                    <a:pt x="0" y="17510"/>
                    <a:pt x="4836" y="19231"/>
                    <a:pt x="10801" y="19231"/>
                  </a:cubicBezTo>
                  <a:cubicBezTo>
                    <a:pt x="16766" y="19231"/>
                    <a:pt x="21600" y="17515"/>
                    <a:pt x="21600" y="15391"/>
                  </a:cubicBezTo>
                  <a:lnTo>
                    <a:pt x="21600" y="14428"/>
                  </a:lnTo>
                  <a:cubicBezTo>
                    <a:pt x="21458" y="14602"/>
                    <a:pt x="21295" y="14772"/>
                    <a:pt x="21098" y="14935"/>
                  </a:cubicBezTo>
                  <a:cubicBezTo>
                    <a:pt x="20508" y="15436"/>
                    <a:pt x="19672" y="15877"/>
                    <a:pt x="18618" y="16252"/>
                  </a:cubicBezTo>
                  <a:cubicBezTo>
                    <a:pt x="16520" y="16998"/>
                    <a:pt x="13745" y="17406"/>
                    <a:pt x="10801" y="17406"/>
                  </a:cubicBezTo>
                  <a:cubicBezTo>
                    <a:pt x="7856" y="17406"/>
                    <a:pt x="5080" y="16998"/>
                    <a:pt x="2982" y="16252"/>
                  </a:cubicBezTo>
                  <a:cubicBezTo>
                    <a:pt x="1928" y="15877"/>
                    <a:pt x="1099" y="15436"/>
                    <a:pt x="504" y="14935"/>
                  </a:cubicBezTo>
                  <a:cubicBezTo>
                    <a:pt x="307" y="14772"/>
                    <a:pt x="142" y="14602"/>
                    <a:pt x="0" y="14428"/>
                  </a:cubicBezTo>
                  <a:close/>
                  <a:moveTo>
                    <a:pt x="0" y="16797"/>
                  </a:moveTo>
                  <a:lnTo>
                    <a:pt x="0" y="17760"/>
                  </a:lnTo>
                  <a:cubicBezTo>
                    <a:pt x="0" y="19879"/>
                    <a:pt x="4836" y="21600"/>
                    <a:pt x="10801" y="21600"/>
                  </a:cubicBezTo>
                  <a:cubicBezTo>
                    <a:pt x="16766" y="21600"/>
                    <a:pt x="21600" y="19879"/>
                    <a:pt x="21600" y="17760"/>
                  </a:cubicBezTo>
                  <a:lnTo>
                    <a:pt x="21600" y="16797"/>
                  </a:lnTo>
                  <a:cubicBezTo>
                    <a:pt x="21458" y="16971"/>
                    <a:pt x="21295" y="17141"/>
                    <a:pt x="21098" y="17304"/>
                  </a:cubicBezTo>
                  <a:cubicBezTo>
                    <a:pt x="20508" y="17805"/>
                    <a:pt x="19672" y="18246"/>
                    <a:pt x="18618" y="18622"/>
                  </a:cubicBezTo>
                  <a:cubicBezTo>
                    <a:pt x="16520" y="19368"/>
                    <a:pt x="13745" y="19775"/>
                    <a:pt x="10801" y="19775"/>
                  </a:cubicBezTo>
                  <a:cubicBezTo>
                    <a:pt x="7856" y="19775"/>
                    <a:pt x="5080" y="19368"/>
                    <a:pt x="2982" y="18622"/>
                  </a:cubicBezTo>
                  <a:cubicBezTo>
                    <a:pt x="1928" y="18246"/>
                    <a:pt x="1099" y="17805"/>
                    <a:pt x="504" y="17304"/>
                  </a:cubicBezTo>
                  <a:cubicBezTo>
                    <a:pt x="307" y="17141"/>
                    <a:pt x="142" y="16971"/>
                    <a:pt x="0" y="16797"/>
                  </a:cubicBezTo>
                  <a:close/>
                </a:path>
              </a:pathLst>
            </a:custGeom>
            <a:solidFill>
              <a:srgbClr val="E0DDBF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endParaRPr dirty="0">
                <a:latin typeface="Avenir Book" panose="02000503020000020003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4F3D784-BE2C-3D75-CD14-5B0794FB8F08}"/>
                </a:ext>
              </a:extLst>
            </p:cNvPr>
            <p:cNvSpPr txBox="1"/>
            <p:nvPr/>
          </p:nvSpPr>
          <p:spPr>
            <a:xfrm>
              <a:off x="8107563" y="5451622"/>
              <a:ext cx="19962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Use acquisition function to select new molecules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2372EB9-B979-75D1-596C-78E9F388C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7370" y="5582558"/>
              <a:ext cx="977118" cy="853432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EC8B50F-C703-3604-B5F1-D2177A4BD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31478" y="5299304"/>
              <a:ext cx="864808" cy="853431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31A5CCD-5FC2-31D1-A052-1F7CC9DD3BF2}"/>
                </a:ext>
              </a:extLst>
            </p:cNvPr>
            <p:cNvSpPr txBox="1"/>
            <p:nvPr/>
          </p:nvSpPr>
          <p:spPr>
            <a:xfrm>
              <a:off x="4666353" y="4153645"/>
              <a:ext cx="2226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add to training set </a:t>
              </a:r>
            </a:p>
          </p:txBody>
        </p:sp>
        <p:sp>
          <p:nvSpPr>
            <p:cNvPr id="60" name="Circular Arrow 59">
              <a:extLst>
                <a:ext uri="{FF2B5EF4-FFF2-40B4-BE49-F238E27FC236}">
                  <a16:creationId xmlns:a16="http://schemas.microsoft.com/office/drawing/2014/main" id="{C1C3B5C9-C3F2-45CF-3BB8-2C8F771A7A65}"/>
                </a:ext>
              </a:extLst>
            </p:cNvPr>
            <p:cNvSpPr>
              <a:spLocks/>
            </p:cNvSpPr>
            <p:nvPr/>
          </p:nvSpPr>
          <p:spPr>
            <a:xfrm rot="10800000">
              <a:off x="4362559" y="1381961"/>
              <a:ext cx="4816764" cy="4816764"/>
            </a:xfrm>
            <a:prstGeom prst="circularArrow">
              <a:avLst>
                <a:gd name="adj1" fmla="val 1674"/>
                <a:gd name="adj2" fmla="val 507254"/>
                <a:gd name="adj3" fmla="val 20490491"/>
                <a:gd name="adj4" fmla="val 18954718"/>
                <a:gd name="adj5" fmla="val 227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Circular Arrow 61">
              <a:extLst>
                <a:ext uri="{FF2B5EF4-FFF2-40B4-BE49-F238E27FC236}">
                  <a16:creationId xmlns:a16="http://schemas.microsoft.com/office/drawing/2014/main" id="{4D4638F0-89FA-89EF-A417-4F7D1B16DB3F}"/>
                </a:ext>
              </a:extLst>
            </p:cNvPr>
            <p:cNvSpPr>
              <a:spLocks/>
            </p:cNvSpPr>
            <p:nvPr/>
          </p:nvSpPr>
          <p:spPr>
            <a:xfrm rot="6497848">
              <a:off x="4388120" y="1408630"/>
              <a:ext cx="4816764" cy="4816765"/>
            </a:xfrm>
            <a:prstGeom prst="circularArrow">
              <a:avLst>
                <a:gd name="adj1" fmla="val 1674"/>
                <a:gd name="adj2" fmla="val 507254"/>
                <a:gd name="adj3" fmla="val 20490491"/>
                <a:gd name="adj4" fmla="val 17241553"/>
                <a:gd name="adj5" fmla="val 227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F64AD9E-0B93-79F9-255F-AAC084C9F00A}"/>
                </a:ext>
              </a:extLst>
            </p:cNvPr>
            <p:cNvSpPr txBox="1"/>
            <p:nvPr/>
          </p:nvSpPr>
          <p:spPr>
            <a:xfrm>
              <a:off x="5507011" y="4633731"/>
              <a:ext cx="397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venir Book" panose="02000503020000020003" pitchFamily="2" charset="0"/>
                </a:rPr>
                <a:t>or</a:t>
              </a:r>
            </a:p>
          </p:txBody>
        </p:sp>
        <p:pic>
          <p:nvPicPr>
            <p:cNvPr id="64" name="chimiste_fou.png" descr="chimiste_fou.png">
              <a:extLst>
                <a:ext uri="{FF2B5EF4-FFF2-40B4-BE49-F238E27FC236}">
                  <a16:creationId xmlns:a16="http://schemas.microsoft.com/office/drawing/2014/main" id="{17F7E290-A4E1-3747-6D13-BE494492B1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-3940"/>
            <a:stretch>
              <a:fillRect/>
            </a:stretch>
          </p:blipFill>
          <p:spPr>
            <a:xfrm>
              <a:off x="5963882" y="4507414"/>
              <a:ext cx="547392" cy="568958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9D941C6-A93B-E33C-CBFB-7FDD1E6EC7AC}"/>
              </a:ext>
            </a:extLst>
          </p:cNvPr>
          <p:cNvGrpSpPr/>
          <p:nvPr/>
        </p:nvGrpSpPr>
        <p:grpSpPr>
          <a:xfrm>
            <a:off x="4375702" y="742442"/>
            <a:ext cx="4997364" cy="5456284"/>
            <a:chOff x="4375702" y="742442"/>
            <a:chExt cx="4997364" cy="545628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A538F3B-773F-D82A-F473-95D35CB4036B}"/>
                </a:ext>
              </a:extLst>
            </p:cNvPr>
            <p:cNvSpPr txBox="1"/>
            <p:nvPr/>
          </p:nvSpPr>
          <p:spPr>
            <a:xfrm>
              <a:off x="5594694" y="742442"/>
              <a:ext cx="22260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Predict selectivity/reactivity</a:t>
              </a: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767C0D29-0225-A9CC-3F24-661420477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20744" y="1242492"/>
              <a:ext cx="1552322" cy="1203485"/>
            </a:xfrm>
            <a:prstGeom prst="rect">
              <a:avLst/>
            </a:prstGeom>
          </p:spPr>
        </p:pic>
        <p:sp>
          <p:nvSpPr>
            <p:cNvPr id="57" name="Circular Arrow 56">
              <a:extLst>
                <a:ext uri="{FF2B5EF4-FFF2-40B4-BE49-F238E27FC236}">
                  <a16:creationId xmlns:a16="http://schemas.microsoft.com/office/drawing/2014/main" id="{598AFE4F-016A-AD9A-C19A-83E24FCB6799}"/>
                </a:ext>
              </a:extLst>
            </p:cNvPr>
            <p:cNvSpPr/>
            <p:nvPr/>
          </p:nvSpPr>
          <p:spPr>
            <a:xfrm rot="18136806">
              <a:off x="4375701" y="1381962"/>
              <a:ext cx="4816765" cy="4816764"/>
            </a:xfrm>
            <a:prstGeom prst="circularArrow">
              <a:avLst>
                <a:gd name="adj1" fmla="val 1674"/>
                <a:gd name="adj2" fmla="val 507254"/>
                <a:gd name="adj3" fmla="val 20490491"/>
                <a:gd name="adj4" fmla="val 18635452"/>
                <a:gd name="adj5" fmla="val 227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5" name="computer_ml.png" descr="computer_ml.png">
              <a:extLst>
                <a:ext uri="{FF2B5EF4-FFF2-40B4-BE49-F238E27FC236}">
                  <a16:creationId xmlns:a16="http://schemas.microsoft.com/office/drawing/2014/main" id="{FA147999-DB0C-008B-9EFF-137022241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77812" y="1702802"/>
              <a:ext cx="718609" cy="587289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12CC702-84A5-FAC1-A73F-0F54D1597E99}"/>
              </a:ext>
            </a:extLst>
          </p:cNvPr>
          <p:cNvGrpSpPr/>
          <p:nvPr/>
        </p:nvGrpSpPr>
        <p:grpSpPr>
          <a:xfrm>
            <a:off x="4384310" y="-858008"/>
            <a:ext cx="8781770" cy="7056733"/>
            <a:chOff x="4384310" y="-858008"/>
            <a:chExt cx="8781770" cy="705673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DA521F9-D390-3817-BDBA-C3E38910138D}"/>
                </a:ext>
              </a:extLst>
            </p:cNvPr>
            <p:cNvSpPr txBox="1"/>
            <p:nvPr/>
          </p:nvSpPr>
          <p:spPr>
            <a:xfrm>
              <a:off x="8995818" y="2501654"/>
              <a:ext cx="251181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Determine whether prediction is satisfactory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D6D43E5-24C5-8811-470A-7B6B8164DCF6}"/>
                </a:ext>
              </a:extLst>
            </p:cNvPr>
            <p:cNvSpPr txBox="1"/>
            <p:nvPr/>
          </p:nvSpPr>
          <p:spPr>
            <a:xfrm>
              <a:off x="10625154" y="3667254"/>
              <a:ext cx="910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Yes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5ABC2DF-066A-A036-4EAE-0AC4FAF37B47}"/>
                </a:ext>
              </a:extLst>
            </p:cNvPr>
            <p:cNvSpPr txBox="1"/>
            <p:nvPr/>
          </p:nvSpPr>
          <p:spPr>
            <a:xfrm>
              <a:off x="8437010" y="4654146"/>
              <a:ext cx="9102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42900">
                <a:spcAft>
                  <a:spcPts val="45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Avenir Book" panose="02000503020000020003" pitchFamily="2" charset="0"/>
                  <a:cs typeface="Segoe UI" panose="020B0502040204020203" pitchFamily="34" charset="0"/>
                </a:rPr>
                <a:t>No</a:t>
              </a:r>
            </a:p>
          </p:txBody>
        </p:sp>
        <p:sp>
          <p:nvSpPr>
            <p:cNvPr id="58" name="Circular Arrow 57">
              <a:extLst>
                <a:ext uri="{FF2B5EF4-FFF2-40B4-BE49-F238E27FC236}">
                  <a16:creationId xmlns:a16="http://schemas.microsoft.com/office/drawing/2014/main" id="{C69A962A-323D-73EE-632E-67FA4733398F}"/>
                </a:ext>
              </a:extLst>
            </p:cNvPr>
            <p:cNvSpPr>
              <a:spLocks/>
            </p:cNvSpPr>
            <p:nvPr/>
          </p:nvSpPr>
          <p:spPr>
            <a:xfrm rot="1683815">
              <a:off x="4384310" y="1381960"/>
              <a:ext cx="4816764" cy="4816765"/>
            </a:xfrm>
            <a:prstGeom prst="circularArrow">
              <a:avLst>
                <a:gd name="adj1" fmla="val 1674"/>
                <a:gd name="adj2" fmla="val 507254"/>
                <a:gd name="adj3" fmla="val 20490491"/>
                <a:gd name="adj4" fmla="val 18100243"/>
                <a:gd name="adj5" fmla="val 227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9" name="Circular Arrow 58">
              <a:extLst>
                <a:ext uri="{FF2B5EF4-FFF2-40B4-BE49-F238E27FC236}">
                  <a16:creationId xmlns:a16="http://schemas.microsoft.com/office/drawing/2014/main" id="{99768099-5148-D871-5564-7EEBD31E8827}"/>
                </a:ext>
              </a:extLst>
            </p:cNvPr>
            <p:cNvSpPr>
              <a:spLocks/>
            </p:cNvSpPr>
            <p:nvPr/>
          </p:nvSpPr>
          <p:spPr>
            <a:xfrm rot="5061826" flipV="1">
              <a:off x="8374065" y="-833257"/>
              <a:ext cx="4816765" cy="4767264"/>
            </a:xfrm>
            <a:prstGeom prst="circularArrow">
              <a:avLst>
                <a:gd name="adj1" fmla="val 1674"/>
                <a:gd name="adj2" fmla="val 507254"/>
                <a:gd name="adj3" fmla="val 20490491"/>
                <a:gd name="adj4" fmla="val 17698024"/>
                <a:gd name="adj5" fmla="val 227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6" name="computer_ml.png" descr="computer_ml.png">
              <a:extLst>
                <a:ext uri="{FF2B5EF4-FFF2-40B4-BE49-F238E27FC236}">
                  <a16:creationId xmlns:a16="http://schemas.microsoft.com/office/drawing/2014/main" id="{BB9DA983-E03A-C2A7-B98B-3C4727D0A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73526" y="3113607"/>
              <a:ext cx="718609" cy="587289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67" name="Picture 66">
            <a:extLst>
              <a:ext uri="{FF2B5EF4-FFF2-40B4-BE49-F238E27FC236}">
                <a16:creationId xmlns:a16="http://schemas.microsoft.com/office/drawing/2014/main" id="{7BD0F8AA-E2F0-31A3-0DE2-53CE13FCF1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1438" y="1365962"/>
            <a:ext cx="2530006" cy="2716646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AE7D0BC-0BED-AEC1-D1D1-03E006C9CBAC}"/>
              </a:ext>
            </a:extLst>
          </p:cNvPr>
          <p:cNvGrpSpPr/>
          <p:nvPr/>
        </p:nvGrpSpPr>
        <p:grpSpPr>
          <a:xfrm>
            <a:off x="10244332" y="4074373"/>
            <a:ext cx="1698774" cy="2252450"/>
            <a:chOff x="10244332" y="4074373"/>
            <a:chExt cx="1698774" cy="2252450"/>
          </a:xfrm>
        </p:grpSpPr>
        <p:sp>
          <p:nvSpPr>
            <p:cNvPr id="71" name="Up Arrow 70">
              <a:extLst>
                <a:ext uri="{FF2B5EF4-FFF2-40B4-BE49-F238E27FC236}">
                  <a16:creationId xmlns:a16="http://schemas.microsoft.com/office/drawing/2014/main" id="{6012FFFF-E033-FCD4-0A5E-6C1DBF588037}"/>
                </a:ext>
              </a:extLst>
            </p:cNvPr>
            <p:cNvSpPr/>
            <p:nvPr/>
          </p:nvSpPr>
          <p:spPr>
            <a:xfrm rot="10800000">
              <a:off x="10833463" y="4074373"/>
              <a:ext cx="607087" cy="1170267"/>
            </a:xfrm>
            <a:prstGeom prst="upArrow">
              <a:avLst/>
            </a:prstGeom>
            <a:gradFill>
              <a:gsLst>
                <a:gs pos="93000">
                  <a:schemeClr val="bg1"/>
                </a:gs>
                <a:gs pos="58000">
                  <a:schemeClr val="tx2">
                    <a:lumMod val="50000"/>
                    <a:lumOff val="50000"/>
                  </a:schemeClr>
                </a:gs>
                <a:gs pos="13000">
                  <a:schemeClr val="tx2">
                    <a:lumMod val="75000"/>
                    <a:lumOff val="2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50A60F9-C62C-5434-6777-319ACA44B6F0}"/>
                </a:ext>
              </a:extLst>
            </p:cNvPr>
            <p:cNvSpPr txBox="1"/>
            <p:nvPr/>
          </p:nvSpPr>
          <p:spPr>
            <a:xfrm>
              <a:off x="10244332" y="5403493"/>
              <a:ext cx="169877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venir Book" panose="02000503020000020003" pitchFamily="2" charset="0"/>
                </a:rPr>
                <a:t>Validate or discard synthetic plan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8EA05CF-C52D-108A-0546-48318B53B459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 dirty="0">
                <a:solidFill>
                  <a:srgbClr val="123830"/>
                </a:solidFill>
                <a:latin typeface="Avenir Book"/>
              </a:rPr>
              <a:t>AI4ChemicalSciences </a:t>
            </a:r>
            <a:r>
              <a:rPr sz="1800" b="0" i="0" dirty="0" err="1">
                <a:solidFill>
                  <a:srgbClr val="123830"/>
                </a:solidFill>
                <a:latin typeface="Avenir Book"/>
              </a:rPr>
              <a:t>BootCamp</a:t>
            </a:r>
            <a:r>
              <a:rPr sz="1800" b="0" i="0" dirty="0">
                <a:solidFill>
                  <a:srgbClr val="123830"/>
                </a:solidFill>
                <a:latin typeface="Avenir Book"/>
              </a:rPr>
              <a:t> 2026</a:t>
            </a:r>
          </a:p>
        </p:txBody>
      </p:sp>
      <p:pic>
        <p:nvPicPr>
          <p:cNvPr id="4" name="Picture 3" descr="logo.png">
            <a:extLst>
              <a:ext uri="{FF2B5EF4-FFF2-40B4-BE49-F238E27FC236}">
                <a16:creationId xmlns:a16="http://schemas.microsoft.com/office/drawing/2014/main" id="{2EC92C52-6889-D998-0257-DE4AFD8AFA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6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D0C429-4353-5026-CEE4-0AFB74AFECAB}"/>
              </a:ext>
            </a:extLst>
          </p:cNvPr>
          <p:cNvSpPr txBox="1"/>
          <p:nvPr/>
        </p:nvSpPr>
        <p:spPr>
          <a:xfrm>
            <a:off x="1432560" y="2085798"/>
            <a:ext cx="932688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1 · The </a:t>
            </a:r>
            <a:r>
              <a:rPr lang="en-US" i="0" dirty="0">
                <a:latin typeface="Avenir Book"/>
              </a:rPr>
              <a:t>BO/AL </a:t>
            </a:r>
            <a:r>
              <a:rPr i="0" dirty="0">
                <a:latin typeface="Avenir Book"/>
              </a:rPr>
              <a:t>loop</a:t>
            </a:r>
          </a:p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2 · </a:t>
            </a:r>
            <a:r>
              <a:rPr lang="en-US" i="0" dirty="0">
                <a:latin typeface="Avenir Book"/>
              </a:rPr>
              <a:t>Objective = </a:t>
            </a:r>
            <a:r>
              <a:rPr i="0" dirty="0">
                <a:latin typeface="Avenir Book"/>
              </a:rPr>
              <a:t>model </a:t>
            </a:r>
            <a:r>
              <a:rPr lang="en-US" i="0" dirty="0">
                <a:latin typeface="Avenir Book"/>
              </a:rPr>
              <a:t>improvement</a:t>
            </a:r>
            <a:endParaRPr i="0" dirty="0">
              <a:latin typeface="Avenir Book"/>
            </a:endParaRPr>
          </a:p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3 · What changes in the acquisition function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4 · A worked example: regioselectivity</a:t>
            </a:r>
          </a:p>
          <a:p>
            <a:pPr>
              <a:spcAft>
                <a:spcPts val="900"/>
              </a:spcAft>
            </a:pPr>
            <a:r>
              <a:rPr b="1" i="0" dirty="0">
                <a:latin typeface="Avenir Book"/>
              </a:rPr>
              <a:t>5 · Which uncertainty is worth buying?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6 · Practical issues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7 · Active learning in the wild — and what is not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8 · Conclusion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dirty="0">
                <a:solidFill>
                  <a:srgbClr val="123830"/>
                </a:solidFill>
                <a:latin typeface="Avenir Book"/>
              </a:rPr>
              <a:t>What are the sources of uncertainty?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01060"/>
            <a:ext cx="5394960" cy="932688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i="0">
                <a:solidFill>
                  <a:srgbClr val="2E6FBA"/>
                </a:solidFill>
                <a:latin typeface="Avenir Book"/>
              </a:rPr>
              <a:t>Compound A</a:t>
            </a:r>
          </a:p>
          <a:p>
            <a:pPr algn="l"/>
            <a:r>
              <a:rPr sz="1500" b="0" i="0">
                <a:solidFill>
                  <a:srgbClr val="123830"/>
                </a:solidFill>
                <a:latin typeface="Avenir Book"/>
              </a:rPr>
              <a:t>A scaffold the model has never seen. Wide error bars.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01060"/>
            <a:ext cx="5394960" cy="932688"/>
          </a:xfrm>
          <a:prstGeom prst="roundRect">
            <a:avLst>
              <a:gd name="adj" fmla="val 6000"/>
            </a:avLst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i="0">
                <a:solidFill>
                  <a:srgbClr val="C00000"/>
                </a:solidFill>
                <a:latin typeface="Avenir Book"/>
              </a:rPr>
              <a:t>Compound B</a:t>
            </a:r>
          </a:p>
          <a:p>
            <a:pPr algn="l"/>
            <a:r>
              <a:rPr sz="1500" b="0" i="0">
                <a:solidFill>
                  <a:srgbClr val="123830"/>
                </a:solidFill>
                <a:latin typeface="Avenir Book"/>
              </a:rPr>
              <a:t>A well-understood scaffold, but the assay is filthy. Replicates scatter by 30%.</a:t>
            </a:r>
          </a:p>
        </p:txBody>
      </p:sp>
      <p:pic>
        <p:nvPicPr>
          <p:cNvPr id="7" name="fig_06_epistemic_aleatoric_bars" descr="fig_06_epistemic_aleatoric_b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750" y="2598893"/>
            <a:ext cx="8696339" cy="32657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AB9A50-92DE-9751-7550-3362A9498030}"/>
              </a:ext>
            </a:extLst>
          </p:cNvPr>
          <p:cNvSpPr/>
          <p:nvPr/>
        </p:nvSpPr>
        <p:spPr>
          <a:xfrm>
            <a:off x="2438400" y="2598893"/>
            <a:ext cx="5207000" cy="576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 dirty="0">
                <a:solidFill>
                  <a:srgbClr val="123830"/>
                </a:solidFill>
                <a:latin typeface="Avenir Book"/>
              </a:rPr>
              <a:t>Not all uncertainty is worth </a:t>
            </a:r>
            <a:r>
              <a:rPr lang="en-US" sz="2800" b="0" i="0" dirty="0">
                <a:solidFill>
                  <a:srgbClr val="123830"/>
                </a:solidFill>
                <a:latin typeface="Avenir Book"/>
              </a:rPr>
              <a:t>sampling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2138977"/>
            <a:ext cx="11109960" cy="105156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 i="0" dirty="0">
                <a:solidFill>
                  <a:srgbClr val="123830"/>
                </a:solidFill>
                <a:latin typeface="Avenir Book"/>
              </a:rPr>
              <a:t>H[ y | x, 𝒟 ] </a:t>
            </a:r>
            <a:r>
              <a:rPr lang="en-US" sz="2300" b="1" i="0" dirty="0">
                <a:solidFill>
                  <a:srgbClr val="123830"/>
                </a:solidFill>
                <a:latin typeface="Avenir Book"/>
              </a:rPr>
              <a:t>   </a:t>
            </a:r>
            <a:r>
              <a:rPr sz="2300" b="1" i="0" dirty="0">
                <a:solidFill>
                  <a:srgbClr val="123830"/>
                </a:solidFill>
                <a:latin typeface="Avenir Book"/>
              </a:rPr>
              <a:t>  =</a:t>
            </a:r>
            <a:r>
              <a:rPr lang="en-US" sz="2300" b="1" dirty="0">
                <a:solidFill>
                  <a:srgbClr val="123830"/>
                </a:solidFill>
                <a:latin typeface="Avenir Book"/>
              </a:rPr>
              <a:t> </a:t>
            </a:r>
            <a:r>
              <a:rPr lang="en-US" sz="2300" b="1" i="0" dirty="0">
                <a:solidFill>
                  <a:srgbClr val="123830"/>
                </a:solidFill>
                <a:latin typeface="Avenir Book"/>
              </a:rPr>
              <a:t>  </a:t>
            </a:r>
            <a:r>
              <a:rPr sz="2300" b="1" i="0" dirty="0">
                <a:solidFill>
                  <a:srgbClr val="123830"/>
                </a:solidFill>
                <a:latin typeface="Avenir Book"/>
              </a:rPr>
              <a:t>   </a:t>
            </a:r>
            <a:r>
              <a:rPr sz="2300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Avenir Book"/>
              </a:rPr>
              <a:t>𝕀[ y ; </a:t>
            </a:r>
            <a:r>
              <a:rPr sz="2300" b="1" i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venir Book"/>
              </a:rPr>
              <a:t>ω</a:t>
            </a:r>
            <a:r>
              <a:rPr sz="2300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Avenir Book"/>
              </a:rPr>
              <a:t> | x, 𝒟 ] </a:t>
            </a:r>
            <a:r>
              <a:rPr sz="2300" b="1" i="0" dirty="0">
                <a:solidFill>
                  <a:srgbClr val="123830"/>
                </a:solidFill>
                <a:latin typeface="Avenir Book"/>
              </a:rPr>
              <a:t>  </a:t>
            </a:r>
            <a:r>
              <a:rPr lang="en-US" sz="2300" b="1" i="0" dirty="0">
                <a:solidFill>
                  <a:srgbClr val="123830"/>
                </a:solidFill>
                <a:latin typeface="Avenir Book"/>
              </a:rPr>
              <a:t>    </a:t>
            </a:r>
            <a:r>
              <a:rPr sz="2300" b="1" i="0" dirty="0">
                <a:solidFill>
                  <a:srgbClr val="123830"/>
                </a:solidFill>
                <a:latin typeface="Avenir Book"/>
              </a:rPr>
              <a:t>+ </a:t>
            </a:r>
            <a:r>
              <a:rPr lang="en-US" sz="2300" b="1" i="0" dirty="0">
                <a:solidFill>
                  <a:srgbClr val="123830"/>
                </a:solidFill>
                <a:latin typeface="Avenir Book"/>
              </a:rPr>
              <a:t>    </a:t>
            </a:r>
            <a:r>
              <a:rPr sz="2300" b="1" i="0" dirty="0">
                <a:solidFill>
                  <a:srgbClr val="123830"/>
                </a:solidFill>
                <a:latin typeface="Avenir Book"/>
              </a:rPr>
              <a:t>  </a:t>
            </a:r>
            <a:r>
              <a:rPr sz="2300" b="1" i="0" dirty="0">
                <a:solidFill>
                  <a:srgbClr val="C00000"/>
                </a:solidFill>
                <a:latin typeface="Avenir Book"/>
              </a:rPr>
              <a:t>𝔼</a:t>
            </a:r>
            <a:r>
              <a:rPr sz="2300" b="1" i="0" dirty="0" err="1">
                <a:solidFill>
                  <a:srgbClr val="C00000"/>
                </a:solidFill>
                <a:latin typeface="Avenir Book"/>
              </a:rPr>
              <a:t>ω</a:t>
            </a:r>
            <a:r>
              <a:rPr sz="2300" b="1" i="0" dirty="0">
                <a:solidFill>
                  <a:srgbClr val="C00000"/>
                </a:solidFill>
                <a:latin typeface="Avenir Book"/>
              </a:rPr>
              <a:t> [ H[ y | x, </a:t>
            </a:r>
            <a:r>
              <a:rPr sz="2300" b="1" i="0" dirty="0" err="1">
                <a:solidFill>
                  <a:srgbClr val="C00000"/>
                </a:solidFill>
                <a:latin typeface="Avenir Book"/>
              </a:rPr>
              <a:t>ω</a:t>
            </a:r>
            <a:r>
              <a:rPr sz="2300" b="1" i="0" dirty="0">
                <a:solidFill>
                  <a:srgbClr val="C00000"/>
                </a:solidFill>
                <a:latin typeface="Avenir Book"/>
              </a:rPr>
              <a:t> ]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2561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777777"/>
                </a:solidFill>
                <a:latin typeface="Avenir Book"/>
              </a:rPr>
              <a:t>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66609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 i="1">
                <a:solidFill>
                  <a:srgbClr val="123830"/>
                </a:solidFill>
                <a:latin typeface="Avenir Book"/>
              </a:rPr>
              <a:t>“I don't know.”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9422" y="3382561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2E6FBA"/>
                </a:solidFill>
                <a:latin typeface="Avenir Book"/>
              </a:rPr>
              <a:t>EPISTEMIC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9422" y="3766609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 i="1" dirty="0">
                <a:solidFill>
                  <a:srgbClr val="123830"/>
                </a:solidFill>
                <a:latin typeface="Avenir Book"/>
              </a:rPr>
              <a:t>“I don't know YET — an experiment fixes this.”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5278" y="3382561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 dirty="0">
                <a:solidFill>
                  <a:srgbClr val="C00000"/>
                </a:solidFill>
                <a:latin typeface="Avenir Book"/>
              </a:rPr>
              <a:t>ALEATORIC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5278" y="3766609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 i="1">
                <a:solidFill>
                  <a:srgbClr val="123830"/>
                </a:solidFill>
                <a:latin typeface="Avenir Book"/>
              </a:rPr>
              <a:t>“Nobody knows. Running it again will not help.”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5633" y="4534705"/>
            <a:ext cx="32004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500" b="1" i="0" dirty="0">
                <a:solidFill>
                  <a:srgbClr val="2E6FBA"/>
                </a:solidFill>
                <a:latin typeface="Avenir Book"/>
              </a:rPr>
              <a:t>Sample x!</a:t>
            </a:r>
            <a:endParaRPr sz="1500" b="1" i="0" dirty="0">
              <a:solidFill>
                <a:srgbClr val="2E6FBA"/>
              </a:solidFill>
              <a:latin typeface="Avenir Book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1489" y="4534705"/>
            <a:ext cx="32004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500" b="1" i="0" dirty="0">
                <a:solidFill>
                  <a:srgbClr val="C00000"/>
                </a:solidFill>
                <a:latin typeface="Avenir Book"/>
              </a:rPr>
              <a:t>Don’t sample x!</a:t>
            </a:r>
            <a:endParaRPr sz="1500" b="1" i="0" dirty="0">
              <a:solidFill>
                <a:srgbClr val="C00000"/>
              </a:solidFill>
              <a:latin typeface="Avenir Book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0" y="6183138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 dirty="0">
                <a:solidFill>
                  <a:srgbClr val="777777"/>
                </a:solidFill>
                <a:latin typeface="Avenir Book"/>
              </a:rPr>
              <a:t>Identity: </a:t>
            </a:r>
            <a:r>
              <a:rPr sz="900" b="0" i="0" dirty="0" err="1">
                <a:solidFill>
                  <a:srgbClr val="777777"/>
                </a:solidFill>
                <a:latin typeface="Avenir Book"/>
              </a:rPr>
              <a:t>Houlsby</a:t>
            </a:r>
            <a:r>
              <a:rPr sz="900" b="0" i="0" dirty="0">
                <a:solidFill>
                  <a:srgbClr val="777777"/>
                </a:solidFill>
                <a:latin typeface="Avenir Book"/>
              </a:rPr>
              <a:t>, Huszár, Ghahramani &amp; Lengyel, arXiv:1112.5745, 2011 · vocabulary: </a:t>
            </a:r>
            <a:r>
              <a:rPr sz="900" b="0" i="0" dirty="0" err="1">
                <a:solidFill>
                  <a:srgbClr val="777777"/>
                </a:solidFill>
                <a:latin typeface="Avenir Book"/>
              </a:rPr>
              <a:t>Hüllermeier</a:t>
            </a:r>
            <a:r>
              <a:rPr sz="900" b="0" i="0" dirty="0">
                <a:solidFill>
                  <a:srgbClr val="777777"/>
                </a:solidFill>
                <a:latin typeface="Avenir Book"/>
              </a:rPr>
              <a:t> &amp; </a:t>
            </a:r>
            <a:r>
              <a:rPr sz="900" b="0" i="0" dirty="0" err="1">
                <a:solidFill>
                  <a:srgbClr val="777777"/>
                </a:solidFill>
                <a:latin typeface="Avenir Book"/>
              </a:rPr>
              <a:t>Waegeman</a:t>
            </a:r>
            <a:r>
              <a:rPr sz="900" b="0" i="0" dirty="0">
                <a:solidFill>
                  <a:srgbClr val="777777"/>
                </a:solidFill>
                <a:latin typeface="Avenir Book"/>
              </a:rPr>
              <a:t>, Mach. Learn. 2021, 110, 457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b="0" i="0" dirty="0">
                <a:solidFill>
                  <a:srgbClr val="123830"/>
                </a:solidFill>
                <a:latin typeface="Avenir Book"/>
              </a:rPr>
              <a:t>Bayesian Active Learning by Disagreement (BALD)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DAF020-3739-C59A-59C1-F8FE9A0BC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087" y="1772629"/>
            <a:ext cx="859114" cy="8591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779F04-B955-1341-B971-56E7B3BD8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087" y="2757248"/>
            <a:ext cx="859114" cy="8591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405D88-58DA-2781-3ED5-8C48874BA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287" y="3741867"/>
            <a:ext cx="859114" cy="8591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E8FA61-472F-B184-D4B0-D8399899A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287" y="4726487"/>
            <a:ext cx="859114" cy="8591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EA53A4D-EC37-BA73-200C-6E021122C020}"/>
              </a:ext>
            </a:extLst>
          </p:cNvPr>
          <p:cNvSpPr txBox="1"/>
          <p:nvPr/>
        </p:nvSpPr>
        <p:spPr>
          <a:xfrm>
            <a:off x="2707343" y="19925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0" i="1" dirty="0">
                <a:solidFill>
                  <a:srgbClr val="123830"/>
                </a:solidFill>
                <a:latin typeface="Aptos" panose="020B0004020202020204" pitchFamily="34" charset="0"/>
              </a:rPr>
              <a:t>μ(</a:t>
            </a:r>
            <a:r>
              <a:rPr lang="en-US" sz="2400" b="0" i="1" dirty="0">
                <a:solidFill>
                  <a:srgbClr val="123830"/>
                </a:solidFill>
                <a:latin typeface="Aptos" panose="020B0004020202020204" pitchFamily="34" charset="0"/>
              </a:rPr>
              <a:t>x)       </a:t>
            </a:r>
            <a:r>
              <a:rPr lang="el-GR" sz="2400" b="0" i="1" dirty="0">
                <a:solidFill>
                  <a:srgbClr val="123830"/>
                </a:solidFill>
                <a:latin typeface="Aptos" panose="020B0004020202020204" pitchFamily="34" charset="0"/>
              </a:rPr>
              <a:t>σ²(</a:t>
            </a:r>
            <a:r>
              <a:rPr lang="en-US" sz="2400" b="0" i="1" dirty="0">
                <a:solidFill>
                  <a:srgbClr val="123830"/>
                </a:solidFill>
                <a:latin typeface="Aptos" panose="020B0004020202020204" pitchFamily="34" charset="0"/>
              </a:rPr>
              <a:t>x)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1CEFFE-113E-754F-C6A3-FDD512B11339}"/>
              </a:ext>
            </a:extLst>
          </p:cNvPr>
          <p:cNvSpPr txBox="1"/>
          <p:nvPr/>
        </p:nvSpPr>
        <p:spPr>
          <a:xfrm>
            <a:off x="2707343" y="294947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0" i="1" dirty="0">
                <a:solidFill>
                  <a:srgbClr val="C00000"/>
                </a:solidFill>
                <a:latin typeface="Aptos" panose="020B0004020202020204" pitchFamily="34" charset="0"/>
              </a:rPr>
              <a:t>μ(</a:t>
            </a:r>
            <a:r>
              <a:rPr lang="en-US" sz="2400" b="0" i="1" dirty="0">
                <a:solidFill>
                  <a:srgbClr val="C00000"/>
                </a:solidFill>
                <a:latin typeface="Aptos" panose="020B0004020202020204" pitchFamily="34" charset="0"/>
              </a:rPr>
              <a:t>x)       </a:t>
            </a:r>
            <a:r>
              <a:rPr lang="el-GR" sz="2400" b="0" i="1" dirty="0">
                <a:solidFill>
                  <a:srgbClr val="C00000"/>
                </a:solidFill>
                <a:latin typeface="Aptos" panose="020B0004020202020204" pitchFamily="34" charset="0"/>
              </a:rPr>
              <a:t>σ²(</a:t>
            </a:r>
            <a:r>
              <a:rPr lang="en-US" sz="2400" b="0" i="1" dirty="0">
                <a:solidFill>
                  <a:srgbClr val="C00000"/>
                </a:solidFill>
                <a:latin typeface="Aptos" panose="020B0004020202020204" pitchFamily="34" charset="0"/>
              </a:rPr>
              <a:t>x)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81325D-43B5-F12E-DCAA-CD41F3419CEE}"/>
              </a:ext>
            </a:extLst>
          </p:cNvPr>
          <p:cNvSpPr txBox="1"/>
          <p:nvPr/>
        </p:nvSpPr>
        <p:spPr>
          <a:xfrm>
            <a:off x="2707343" y="39056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0" i="1" dirty="0">
                <a:solidFill>
                  <a:srgbClr val="002060"/>
                </a:solidFill>
                <a:latin typeface="Aptos" panose="020B0004020202020204" pitchFamily="34" charset="0"/>
              </a:rPr>
              <a:t>μ(</a:t>
            </a:r>
            <a:r>
              <a:rPr lang="en-US" sz="2400" b="0" i="1" dirty="0">
                <a:solidFill>
                  <a:srgbClr val="002060"/>
                </a:solidFill>
                <a:latin typeface="Aptos" panose="020B0004020202020204" pitchFamily="34" charset="0"/>
              </a:rPr>
              <a:t>x)       </a:t>
            </a:r>
            <a:r>
              <a:rPr lang="el-GR" sz="2400" b="0" i="1" dirty="0">
                <a:solidFill>
                  <a:srgbClr val="002060"/>
                </a:solidFill>
                <a:latin typeface="Aptos" panose="020B0004020202020204" pitchFamily="34" charset="0"/>
              </a:rPr>
              <a:t>σ²(</a:t>
            </a:r>
            <a:r>
              <a:rPr lang="en-US" sz="2400" b="0" i="1" dirty="0">
                <a:solidFill>
                  <a:srgbClr val="002060"/>
                </a:solidFill>
                <a:latin typeface="Aptos" panose="020B0004020202020204" pitchFamily="34" charset="0"/>
              </a:rPr>
              <a:t>x) 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5DF34B-7F36-6549-9189-C639166D33DB}"/>
              </a:ext>
            </a:extLst>
          </p:cNvPr>
          <p:cNvSpPr txBox="1"/>
          <p:nvPr/>
        </p:nvSpPr>
        <p:spPr>
          <a:xfrm>
            <a:off x="2707343" y="486186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0" i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μ(</a:t>
            </a:r>
            <a:r>
              <a:rPr lang="en-US" sz="2400" b="0" i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x)       </a:t>
            </a:r>
            <a:r>
              <a:rPr lang="el-GR" sz="2400" b="0" i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σ²(</a:t>
            </a:r>
            <a:r>
              <a:rPr lang="en-US" sz="2400" b="0" i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x) 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B3074F-AFA0-6048-7572-71CBE0F7C428}"/>
              </a:ext>
            </a:extLst>
          </p:cNvPr>
          <p:cNvSpPr txBox="1"/>
          <p:nvPr/>
        </p:nvSpPr>
        <p:spPr>
          <a:xfrm>
            <a:off x="5755343" y="2264539"/>
            <a:ext cx="6096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i="1" dirty="0">
                <a:solidFill>
                  <a:srgbClr val="123830"/>
                </a:solidFill>
                <a:latin typeface="Aptos" panose="020B0004020202020204" pitchFamily="34" charset="0"/>
              </a:rPr>
              <a:t>Average </a:t>
            </a:r>
            <a:r>
              <a:rPr lang="el-GR" sz="2400" b="0" i="1" dirty="0">
                <a:solidFill>
                  <a:srgbClr val="123830"/>
                </a:solidFill>
                <a:latin typeface="Aptos" panose="020B0004020202020204" pitchFamily="34" charset="0"/>
              </a:rPr>
              <a:t>σ²(</a:t>
            </a:r>
            <a:r>
              <a:rPr lang="en-US" sz="2400" b="0" i="1" dirty="0">
                <a:solidFill>
                  <a:srgbClr val="123830"/>
                </a:solidFill>
                <a:latin typeface="Aptos" panose="020B0004020202020204" pitchFamily="34" charset="0"/>
              </a:rPr>
              <a:t>x) is high and Standard Deviation of </a:t>
            </a:r>
            <a:r>
              <a:rPr lang="el-GR" sz="2400" i="1" dirty="0">
                <a:solidFill>
                  <a:srgbClr val="123830"/>
                </a:solidFill>
                <a:latin typeface="Aptos" panose="020B0004020202020204" pitchFamily="34" charset="0"/>
              </a:rPr>
              <a:t>μ(</a:t>
            </a:r>
            <a:r>
              <a:rPr lang="en-US" sz="2400" i="1" dirty="0">
                <a:solidFill>
                  <a:srgbClr val="123830"/>
                </a:solidFill>
                <a:latin typeface="Aptos" panose="020B0004020202020204" pitchFamily="34" charset="0"/>
              </a:rPr>
              <a:t>x) is low: aleatoric uncertainty</a:t>
            </a:r>
          </a:p>
          <a:p>
            <a:pPr marL="457200" indent="-457200">
              <a:buAutoNum type="arabicPeriod"/>
            </a:pPr>
            <a:endParaRPr lang="en-US" sz="2400" i="1" dirty="0">
              <a:solidFill>
                <a:srgbClr val="123830"/>
              </a:solidFill>
              <a:latin typeface="Aptos" panose="020B0004020202020204" pitchFamily="34" charset="0"/>
            </a:endParaRPr>
          </a:p>
          <a:p>
            <a:pPr marL="457200" indent="-457200">
              <a:buFontTx/>
              <a:buAutoNum type="arabicPeriod"/>
            </a:pPr>
            <a:r>
              <a:rPr lang="en-US" sz="2400" i="1" dirty="0">
                <a:solidFill>
                  <a:srgbClr val="123830"/>
                </a:solidFill>
                <a:latin typeface="Aptos" panose="020B0004020202020204" pitchFamily="34" charset="0"/>
              </a:rPr>
              <a:t>Average </a:t>
            </a:r>
            <a:r>
              <a:rPr lang="el-GR" sz="2400" i="1" dirty="0">
                <a:solidFill>
                  <a:srgbClr val="123830"/>
                </a:solidFill>
                <a:latin typeface="Aptos" panose="020B0004020202020204" pitchFamily="34" charset="0"/>
              </a:rPr>
              <a:t>σ²(</a:t>
            </a:r>
            <a:r>
              <a:rPr lang="en-US" sz="2400" i="1" dirty="0">
                <a:solidFill>
                  <a:srgbClr val="123830"/>
                </a:solidFill>
                <a:latin typeface="Aptos" panose="020B0004020202020204" pitchFamily="34" charset="0"/>
              </a:rPr>
              <a:t>x) is low and Standard Deviation of </a:t>
            </a:r>
            <a:r>
              <a:rPr lang="el-GR" sz="2400" i="1" dirty="0">
                <a:solidFill>
                  <a:srgbClr val="123830"/>
                </a:solidFill>
                <a:latin typeface="Aptos" panose="020B0004020202020204" pitchFamily="34" charset="0"/>
              </a:rPr>
              <a:t>μ(</a:t>
            </a:r>
            <a:r>
              <a:rPr lang="en-US" sz="2400" i="1" dirty="0">
                <a:solidFill>
                  <a:srgbClr val="123830"/>
                </a:solidFill>
                <a:latin typeface="Aptos" panose="020B0004020202020204" pitchFamily="34" charset="0"/>
              </a:rPr>
              <a:t>x) is high: epistemic uncertainty</a:t>
            </a:r>
          </a:p>
          <a:p>
            <a:pPr marL="457200" indent="-457200">
              <a:buFontTx/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1EEE6-8830-3DF1-7896-57B40D09F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46E338-3124-B750-BD7D-1F9C22515F11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b="0" i="0" dirty="0">
                <a:solidFill>
                  <a:srgbClr val="123830"/>
                </a:solidFill>
                <a:latin typeface="Avenir Book"/>
              </a:rPr>
              <a:t>Example on classification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3F6133-CBE7-C1CC-78B0-18AE3B7B2BC9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>
            <a:extLst>
              <a:ext uri="{FF2B5EF4-FFF2-40B4-BE49-F238E27FC236}">
                <a16:creationId xmlns:a16="http://schemas.microsoft.com/office/drawing/2014/main" id="{045B92AD-2A1D-136F-9251-5833FC826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08_bald_disagreement" descr="fig_08_bald_disagreement.png">
            <a:extLst>
              <a:ext uri="{FF2B5EF4-FFF2-40B4-BE49-F238E27FC236}">
                <a16:creationId xmlns:a16="http://schemas.microsoft.com/office/drawing/2014/main" id="{131C3E1A-D432-4AC6-5B49-894338B992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71" b="8483"/>
          <a:stretch>
            <a:fillRect/>
          </a:stretch>
        </p:blipFill>
        <p:spPr>
          <a:xfrm>
            <a:off x="1437300" y="1469225"/>
            <a:ext cx="9317400" cy="41368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51F124-7A6C-55BA-01A3-95B170787FEF}"/>
              </a:ext>
            </a:extLst>
          </p:cNvPr>
          <p:cNvSpPr txBox="1"/>
          <p:nvPr/>
        </p:nvSpPr>
        <p:spPr>
          <a:xfrm>
            <a:off x="0" y="6139390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venir Book"/>
              </a:rPr>
              <a:t>BALD — Houlsby et al., arXiv:1112.5745, 2011 · H and BALD computed on the figure</a:t>
            </a:r>
          </a:p>
        </p:txBody>
      </p:sp>
    </p:spTree>
    <p:extLst>
      <p:ext uri="{BB962C8B-B14F-4D97-AF65-F5344CB8AC3E}">
        <p14:creationId xmlns:p14="http://schemas.microsoft.com/office/powerpoint/2010/main" val="29761397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In practice: query by committee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09_qbc_ensemble" descr="fig_09_qbc_ensem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628" y="1737360"/>
            <a:ext cx="6918744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lang="en-US" sz="2800" b="0" i="0" dirty="0">
                <a:solidFill>
                  <a:srgbClr val="123830"/>
                </a:solidFill>
                <a:latin typeface="Avenir Book"/>
              </a:rPr>
              <a:t>Batching</a:t>
            </a:r>
            <a:endParaRPr sz="2800" b="0" i="0" dirty="0">
              <a:solidFill>
                <a:srgbClr val="123830"/>
              </a:solidFill>
              <a:latin typeface="Avenir Book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10_topk_redundancy" descr="fig_10_topk_redundancy.png"/>
          <p:cNvPicPr>
            <a:picLocks noChangeAspect="1"/>
          </p:cNvPicPr>
          <p:nvPr/>
        </p:nvPicPr>
        <p:blipFill>
          <a:blip r:embed="rId4"/>
          <a:srcRect r="37155"/>
          <a:stretch>
            <a:fillRect/>
          </a:stretch>
        </p:blipFill>
        <p:spPr>
          <a:xfrm>
            <a:off x="2819400" y="1365971"/>
            <a:ext cx="6019800" cy="462628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B4BA4-0E71-9425-73D0-9FE2878D77DD}"/>
              </a:ext>
            </a:extLst>
          </p:cNvPr>
          <p:cNvSpPr txBox="1"/>
          <p:nvPr/>
        </p:nvSpPr>
        <p:spPr>
          <a:xfrm>
            <a:off x="1432560" y="2085798"/>
            <a:ext cx="932688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1 · The </a:t>
            </a:r>
            <a:r>
              <a:rPr lang="en-US" i="0" dirty="0">
                <a:latin typeface="Avenir Book"/>
              </a:rPr>
              <a:t>BO/AL </a:t>
            </a:r>
            <a:r>
              <a:rPr i="0" dirty="0">
                <a:latin typeface="Avenir Book"/>
              </a:rPr>
              <a:t>loop</a:t>
            </a:r>
          </a:p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2 · </a:t>
            </a:r>
            <a:r>
              <a:rPr lang="en-US" i="0" dirty="0">
                <a:latin typeface="Avenir Book"/>
              </a:rPr>
              <a:t>Objective = </a:t>
            </a:r>
            <a:r>
              <a:rPr i="0" dirty="0">
                <a:latin typeface="Avenir Book"/>
              </a:rPr>
              <a:t>model </a:t>
            </a:r>
            <a:r>
              <a:rPr lang="en-US" i="0" dirty="0">
                <a:latin typeface="Avenir Book"/>
              </a:rPr>
              <a:t>improvement</a:t>
            </a:r>
            <a:endParaRPr i="0" dirty="0">
              <a:latin typeface="Avenir Book"/>
            </a:endParaRPr>
          </a:p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3 · What changes in the acquisition function</a:t>
            </a:r>
          </a:p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4 · A worked example: regioselectivity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5 · Which uncertainty is worth buying?</a:t>
            </a:r>
          </a:p>
          <a:p>
            <a:pPr>
              <a:spcAft>
                <a:spcPts val="900"/>
              </a:spcAft>
            </a:pPr>
            <a:r>
              <a:rPr b="1" i="0" dirty="0">
                <a:latin typeface="Avenir Book"/>
              </a:rPr>
              <a:t>6 · Practical issues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7 · Active learning in the wild — and what is not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8 · Conclusion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1 · Unconstrained, it will buy the useless corner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18_ligand_trap" descr="fig_18_ligand_trap.png"/>
          <p:cNvPicPr>
            <a:picLocks noChangeAspect="1"/>
          </p:cNvPicPr>
          <p:nvPr/>
        </p:nvPicPr>
        <p:blipFill>
          <a:blip r:embed="rId4"/>
          <a:srcRect t="6563" b="10417"/>
          <a:stretch>
            <a:fillRect/>
          </a:stretch>
        </p:blipFill>
        <p:spPr>
          <a:xfrm>
            <a:off x="345681" y="1883664"/>
            <a:ext cx="6035040" cy="30609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35993" y="1875493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A"/>
                </a:solidFill>
                <a:latin typeface="Avenir Book"/>
              </a:rPr>
              <a:t>Weight by density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8800" y="1875493"/>
            <a:ext cx="3136391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23830"/>
                </a:solidFill>
                <a:latin typeface="Avenir Book"/>
              </a:rPr>
              <a:t>σ(x) · density(x)ᵝ — reward points that are typical as well as uncertain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5993" y="2835613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A"/>
                </a:solidFill>
                <a:latin typeface="Avenir Book"/>
              </a:rPr>
              <a:t>Constrain the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8800" y="2835613"/>
            <a:ext cx="3136391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23830"/>
                </a:solidFill>
                <a:latin typeface="Avenir Book"/>
              </a:rPr>
              <a:t>filter for synthesizability, cost, characterisability BEFORE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5993" y="3795733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A"/>
                </a:solidFill>
                <a:latin typeface="Avenir Book"/>
              </a:rPr>
              <a:t>Bias deliberately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8800" y="3795733"/>
            <a:ext cx="3136391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23830"/>
                </a:solidFill>
                <a:latin typeface="Avenir Book"/>
              </a:rPr>
              <a:t>AF_AL toward small molecules took 27 targets to 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35993" y="4728421"/>
            <a:ext cx="5029200" cy="384048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 i="0">
                <a:solidFill>
                  <a:srgbClr val="123830"/>
                </a:solidFill>
                <a:latin typeface="Avenir Book"/>
              </a:rPr>
              <a:t>Constrain the pool, not just the score.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2 · Your data is now a biased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5214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23830"/>
                </a:solidFill>
                <a:latin typeface="Avenir Book"/>
              </a:rPr>
              <a:t>Error estimation assumes xᵢ ~ p(x), i.i.d. Under active learning xᵢ ~ qᵢ(x) — an adaptive, model-dependent proposal. Your training set over-samples hard points, so it over-states difficulty.</a:t>
            </a:r>
          </a:p>
        </p:txBody>
      </p:sp>
      <p:pic>
        <p:nvPicPr>
          <p:cNvPr id="6" name="fig_16_biased_test_set" descr="fig_16_biased_test_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948" y="2011680"/>
            <a:ext cx="4741503" cy="3017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2084831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2E6FBA"/>
                </a:solidFill>
                <a:latin typeface="Avenir Book"/>
              </a:rPr>
              <a:t>Hold out a random test set at round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450591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23830"/>
                </a:solidFill>
                <a:latin typeface="Avenir Book"/>
              </a:rPr>
              <a:t>Never touch it. Never evaluate on the actively-acquired pool.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291839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2E6FBA"/>
                </a:solidFill>
                <a:latin typeface="Avenir Book"/>
              </a:rPr>
              <a:t>The successor-model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657599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23830"/>
                </a:solidFill>
                <a:latin typeface="Avenir Book"/>
              </a:rPr>
              <a:t>Data selected by model A can be WORSE than random for model B. If you will ever swap your surrogate — and in molecular ML you always do — an AL-curated data set is a liability.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49884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2E6FBA"/>
                </a:solidFill>
                <a:latin typeface="Avenir Book"/>
              </a:rPr>
              <a:t>The bias is not always bad.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864608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23830"/>
                </a:solidFill>
                <a:latin typeface="Avenir Book"/>
              </a:rPr>
              <a:t>For overparameterised models it acts like hard-example mining. De-bias your EVALUATION always; de-bias your TRAINING only sometimes.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97296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venir Book"/>
              </a:rPr>
              <a:t>Lowell, Lipton &amp; Wallace, EMNLP-IJCNLP 2019 · Farquhar, Gal &amp; Rainforth, ICLR 2021, arXiv:2101.11665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3 · When do you stop?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243584"/>
            <a:ext cx="22219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A"/>
                </a:solidFill>
                <a:latin typeface="Avenir Book"/>
              </a:rPr>
              <a:t>Criterion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4912" y="1243584"/>
            <a:ext cx="444398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A"/>
                </a:solidFill>
                <a:latin typeface="Avenir Book"/>
              </a:rPr>
              <a:t>The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8896" y="1243584"/>
            <a:ext cx="444398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A"/>
                </a:solidFill>
                <a:latin typeface="Avenir Book"/>
              </a:rPr>
              <a:t>Where it breaks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56816"/>
            <a:ext cx="11109960" cy="9525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22219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Budget / economic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1993392"/>
            <a:ext cx="444398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stop when the money or the plates run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1993392"/>
            <a:ext cx="444398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honest, and what actually happens — but it is not a criterion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22219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Max 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2743200"/>
            <a:ext cx="444398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stop when max a(x) over the pool falls below 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8896" y="2743200"/>
            <a:ext cx="444398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overconfident models trip it far too 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93008"/>
            <a:ext cx="22219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Learning-curve plateau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3493008"/>
            <a:ext cx="444398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stop when the validation metric flattens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3493008"/>
            <a:ext cx="444398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INVALID if the validation set was actively acquired — see the last slide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42816"/>
            <a:ext cx="22219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Residual fail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4242816"/>
            <a:ext cx="444398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stop when &lt; 5% of the remaining pool still fails your error tolerance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896" y="4242816"/>
            <a:ext cx="4443984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23830"/>
                </a:solidFill>
                <a:latin typeface="Avenir Book"/>
              </a:rPr>
              <a:t>needs a tolerance in physical units, fixed in advance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80560"/>
            <a:ext cx="11109960" cy="73152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E6FBA"/>
                </a:solidFill>
                <a:latin typeface="Avenir Book"/>
              </a:rPr>
              <a:t>Smith et al. used the last one, and it worked — because they wrote down 0.04 kcal/mol before they started.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358384"/>
            <a:ext cx="111099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C00000"/>
                </a:solidFill>
                <a:latin typeface="Avenir Book"/>
              </a:rPr>
              <a:t>So the question to take away: what is your 0.04 kcal/mol?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4 · And random is a much better baseline than you expect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15_cold_start" descr="fig_15_cold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18" y="1170432"/>
            <a:ext cx="6161842" cy="39776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298448"/>
            <a:ext cx="4434840" cy="1207008"/>
          </a:xfrm>
          <a:prstGeom prst="roundRect">
            <a:avLst>
              <a:gd name="adj" fmla="val 6000"/>
            </a:avLst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123830"/>
                </a:solidFill>
                <a:latin typeface="Avenir Book"/>
              </a:rPr>
              <a:t>A model trained on almost nothing produces biased queries.</a:t>
            </a:r>
          </a:p>
          <a:p>
            <a:pPr algn="ctr"/>
            <a:r>
              <a:rPr sz="1400" b="1" i="0">
                <a:solidFill>
                  <a:srgbClr val="C00000"/>
                </a:solidFill>
                <a:latin typeface="Avenir Book"/>
              </a:rPr>
              <a:t>It does not yet know enough to know what it does not know.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706624"/>
            <a:ext cx="4434840" cy="141732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50" b="1" i="0">
                <a:solidFill>
                  <a:srgbClr val="2E6FBA"/>
                </a:solidFill>
                <a:latin typeface="Avenir Book"/>
              </a:rPr>
              <a:t>Always plot the random baseline on the same axes.</a:t>
            </a:r>
          </a:p>
          <a:p>
            <a:pPr algn="ctr"/>
            <a:r>
              <a:rPr sz="1250" b="0" i="0">
                <a:solidFill>
                  <a:srgbClr val="123830"/>
                </a:solidFill>
                <a:latin typeface="Avenir Book"/>
              </a:rPr>
              <a:t>In batch mode, Sener &amp; Savarese found that oracle-quality uncertainty still lost to random.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315968"/>
            <a:ext cx="4434840" cy="12435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 i="0">
                <a:solidFill>
                  <a:srgbClr val="123830"/>
                </a:solidFill>
                <a:latin typeface="Avenir Book"/>
              </a:rPr>
              <a:t>A large fraction of published active-learning gains disappear the moment you draw that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285232"/>
            <a:ext cx="667512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 i="0">
                <a:solidFill>
                  <a:srgbClr val="C00000"/>
                </a:solidFill>
                <a:latin typeface="Avenir Book"/>
              </a:rPr>
              <a:t>Worse than random at n = 6, 9, 12, 15. Crosses over at 18.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1325880"/>
            <a:ext cx="9326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50" b="0" i="0">
                <a:solidFill>
                  <a:srgbClr val="777777"/>
                </a:solidFill>
                <a:latin typeface="Avenir Book"/>
              </a:rPr>
              <a:t>1 · The loop you saw yesterday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777777"/>
                </a:solidFill>
                <a:latin typeface="Avenir Book"/>
              </a:rPr>
              <a:t>2 · The model is the deliverable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777777"/>
                </a:solidFill>
                <a:latin typeface="Avenir Book"/>
              </a:rPr>
              <a:t>3 · What changes in the acquisition function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777777"/>
                </a:solidFill>
                <a:latin typeface="Avenir Book"/>
              </a:rPr>
              <a:t>4 · A worked example: regioselectivity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777777"/>
                </a:solidFill>
                <a:latin typeface="Avenir Book"/>
              </a:rPr>
              <a:t>5 · Which uncertainty is worth buying?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777777"/>
                </a:solidFill>
                <a:latin typeface="Avenir Book"/>
              </a:rPr>
              <a:t>6 · Practical issues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123830"/>
                </a:solidFill>
                <a:latin typeface="Avenir Book"/>
              </a:rPr>
              <a:t>7 · Active learning in the wild — and what is not</a:t>
            </a:r>
          </a:p>
          <a:p>
            <a:pPr>
              <a:spcAft>
                <a:spcPts val="900"/>
              </a:spcAft>
            </a:pPr>
            <a:r>
              <a:rPr sz="1750" b="0" i="0">
                <a:solidFill>
                  <a:srgbClr val="777777"/>
                </a:solidFill>
                <a:latin typeface="Avenir Book"/>
              </a:rPr>
              <a:t>8 · Conclusion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“Less is more” — active learning for a universal potential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L3_smith_workflow" descr="fig_L3_smith_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34" y="1042415"/>
            <a:ext cx="7990771" cy="3611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75488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123830"/>
                </a:solidFill>
                <a:latin typeface="Avenir Book"/>
              </a:rPr>
              <a:t>ρᵢ  =  σ(Eᵢ) / √N        add if  ρᵢ &gt; ρ̂</a:t>
            </a:r>
          </a:p>
          <a:p>
            <a:pPr algn="ctr"/>
            <a:r>
              <a:rPr sz="1100" b="0" i="0">
                <a:solidFill>
                  <a:srgbClr val="777777"/>
                </a:solidFill>
                <a:latin typeface="Avenir Book"/>
              </a:rPr>
              <a:t>ρ̂ = 0.23 kcal/mol — 98% of errors above 1.5 kcal/mol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4754880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Avenir Book"/>
              </a:rPr>
              <a:t>beats random-sampled ANI-1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5029200"/>
            <a:ext cx="19659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i="0">
                <a:solidFill>
                  <a:srgbClr val="C00000"/>
                </a:solidFill>
                <a:latin typeface="Avenir Book"/>
              </a:rPr>
              <a:t>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546811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Avenir Book"/>
              </a:rPr>
              <a:t>of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754880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Avenir Book"/>
              </a:rPr>
              <a:t>and vastly beats it 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029200"/>
            <a:ext cx="19659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i="0">
                <a:solidFill>
                  <a:srgbClr val="C00000"/>
                </a:solidFill>
                <a:latin typeface="Avenir Book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46811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29800" y="4754880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Avenir Book"/>
              </a:rPr>
              <a:t>stops below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5029200"/>
            <a:ext cx="19659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i="0">
                <a:solidFill>
                  <a:srgbClr val="C00000"/>
                </a:solidFill>
                <a:latin typeface="Avenir Book"/>
              </a:rPr>
              <a:t>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546811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77777"/>
                </a:solidFill>
                <a:latin typeface="Avenir Book"/>
              </a:rPr>
              <a:t>fail cases remaining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57374" y="6184572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 dirty="0">
                <a:solidFill>
                  <a:srgbClr val="777777"/>
                </a:solidFill>
                <a:latin typeface="Avenir Book"/>
              </a:rPr>
              <a:t>Smith, Nebgen, Lubbers, Isayev &amp; </a:t>
            </a:r>
            <a:r>
              <a:rPr sz="900" b="0" i="0" dirty="0" err="1">
                <a:solidFill>
                  <a:srgbClr val="777777"/>
                </a:solidFill>
                <a:latin typeface="Avenir Book"/>
              </a:rPr>
              <a:t>Roitberg</a:t>
            </a:r>
            <a:r>
              <a:rPr sz="900" b="0" i="0" dirty="0">
                <a:solidFill>
                  <a:srgbClr val="777777"/>
                </a:solidFill>
                <a:latin typeface="Avenir Book"/>
              </a:rPr>
              <a:t>, J. Chem. Phys. 2018, 148, 241733 · DOI 10.1063/1.5023802 · Fig. 2, reproduced for non-commercial teaching use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On the fly: the model asks for DFT when it gets lost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pic>
        <p:nvPicPr>
          <p:cNvPr id="5" name="fig_L2_flare_onthefly" descr="fig_L2_flare_onthef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66852"/>
            <a:ext cx="7452360" cy="25824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31673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A"/>
                </a:solidFill>
                <a:latin typeface="Avenir Book"/>
              </a:rPr>
              <a:t>Candidates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55480" y="1316736"/>
            <a:ext cx="2148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3830"/>
                </a:solidFill>
                <a:latin typeface="Avenir Book"/>
              </a:rPr>
              <a:t>the configurations the MD is visiting right now — they arrive, they are not enumerated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432304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A"/>
                </a:solidFill>
                <a:latin typeface="Avenir Book"/>
              </a:rPr>
              <a:t>Oracle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2432304"/>
            <a:ext cx="2148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3830"/>
                </a:solidFill>
                <a:latin typeface="Avenir Book"/>
              </a:rPr>
              <a:t>DFT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547872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A"/>
                </a:solidFill>
                <a:latin typeface="Avenir Book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3547872"/>
            <a:ext cx="2148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3830"/>
                </a:solidFill>
                <a:latin typeface="Avenir Book"/>
              </a:rPr>
              <a:t>sparse-GP epistemic variance on the forces exceeds the model's own noise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663440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A"/>
                </a:solidFill>
                <a:latin typeface="Avenir Book"/>
              </a:rPr>
              <a:t>Bought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4663440"/>
            <a:ext cx="2148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3830"/>
                </a:solidFill>
                <a:latin typeface="Avenir Book"/>
              </a:rPr>
              <a:t>no further DFT after ~400 ps of vacancy diffusion; &gt;300× faster than AIMD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919472"/>
            <a:ext cx="7452360" cy="804672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123830"/>
                </a:solidFill>
                <a:latin typeface="Avenir Book"/>
              </a:rPr>
              <a:t>Aluminium, 10 ps. It melts at t = 5 ps — and the DFT calls and the fitted noise both jump at exactly that moment.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174889"/>
            <a:ext cx="10972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Avenir Book"/>
              </a:rPr>
              <a:t>Vandermause et al., npj Comput. Mater. 2020, 6, 20 · DOI 10.1038/s41524-020-0283-z · Fig. 3a,b, CC BY 4.0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Most of what is called active learning is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33856"/>
            <a:ext cx="11109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3830"/>
                </a:solidFill>
                <a:latin typeface="Avenir Book"/>
              </a:rPr>
              <a:t>Three famous, excellent papers. All three use the machinery from this lecture. None of them wants a globally good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51435"/>
            <a:ext cx="3566160" cy="3246120"/>
          </a:xfrm>
          <a:prstGeom prst="roundRect">
            <a:avLst>
              <a:gd name="adj" fmla="val 5000"/>
            </a:avLst>
          </a:prstGeom>
          <a:solidFill>
            <a:srgbClr val="FCFCFC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42875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venir Book"/>
              </a:rPr>
              <a:t>Molecular pool-based 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98907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123830"/>
                </a:solidFill>
                <a:latin typeface="Avenir Book"/>
              </a:rPr>
              <a:t>MolPAL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56107"/>
            <a:ext cx="3246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3830"/>
                </a:solidFill>
                <a:latin typeface="Avenir Book"/>
              </a:rPr>
              <a:t>100 M docking candidates, D-MPNN surrogate, UCB or greedy. Recovers 94.8% of the top-50,000 after docking 2.4% of the 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999691"/>
            <a:ext cx="3246120" cy="1115568"/>
          </a:xfrm>
          <a:prstGeom prst="roundRect">
            <a:avLst>
              <a:gd name="adj" fmla="val 6000"/>
            </a:avLst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C00000"/>
                </a:solidFill>
                <a:latin typeface="Avenir Book"/>
              </a:rPr>
              <a:t>It wants the TOP OF THE RANKING. Error in the boring 97% is irrelevant.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43275"/>
            <a:ext cx="34290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1">
                <a:solidFill>
                  <a:srgbClr val="777777"/>
                </a:solidFill>
                <a:latin typeface="Avenir Book"/>
              </a:rPr>
              <a:t>Graff, Shakhnovich &amp; Coley, Chem. Sci. 2021, 12, 7866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51435"/>
            <a:ext cx="3566160" cy="3246120"/>
          </a:xfrm>
          <a:prstGeom prst="roundRect">
            <a:avLst>
              <a:gd name="adj" fmla="val 5000"/>
            </a:avLst>
          </a:prstGeom>
          <a:solidFill>
            <a:srgbClr val="FCFCFC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2042875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venir Book"/>
              </a:rPr>
              <a:t>Autonomous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298907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123830"/>
                </a:solidFill>
                <a:latin typeface="Avenir Book"/>
              </a:rPr>
              <a:t>A-Lab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756107"/>
            <a:ext cx="3246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3830"/>
                </a:solidFill>
                <a:latin typeface="Avenir Book"/>
              </a:rPr>
              <a:t>Recipes proposed from the literature, robotic synthesis, automated XRD, recipes updated after failures. 41 compounds from 58 targets in 17 days.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999691"/>
            <a:ext cx="3246120" cy="1115568"/>
          </a:xfrm>
          <a:prstGeom prst="roundRect">
            <a:avLst>
              <a:gd name="adj" fmla="val 6000"/>
            </a:avLst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C00000"/>
                </a:solidFill>
                <a:latin typeface="Avenir Book"/>
              </a:rPr>
              <a:t>It wants NEW COMPOUNDS. A model of everything it did not make is worthless to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5243275"/>
            <a:ext cx="34290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1">
                <a:solidFill>
                  <a:srgbClr val="777777"/>
                </a:solidFill>
                <a:latin typeface="Avenir Book"/>
              </a:rPr>
              <a:t>Szymanski et al., Nature 2023, 624, 86 · see Author Correction, Nature 2026, 650, E1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951435"/>
            <a:ext cx="3566160" cy="3246120"/>
          </a:xfrm>
          <a:prstGeom prst="roundRect">
            <a:avLst>
              <a:gd name="adj" fmla="val 5000"/>
            </a:avLst>
          </a:prstGeom>
          <a:solidFill>
            <a:srgbClr val="FCFCFC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2042875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Avenir Book"/>
              </a:rPr>
              <a:t>Pareto active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298907"/>
            <a:ext cx="3246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123830"/>
                </a:solidFill>
                <a:latin typeface="Avenir Book"/>
              </a:rPr>
              <a:t>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756107"/>
            <a:ext cx="3246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23830"/>
                </a:solidFill>
                <a:latin typeface="Avenir Book"/>
              </a:rPr>
              <a:t>Uses the Pareto-dominance relation directly, so no scalarisation and no imposed weighting. Recovers the front with &gt;98% fewer evaluations than random.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47888" y="3999691"/>
            <a:ext cx="3246120" cy="1115568"/>
          </a:xfrm>
          <a:prstGeom prst="roundRect">
            <a:avLst>
              <a:gd name="adj" fmla="val 6000"/>
            </a:avLst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 i="0">
                <a:solidFill>
                  <a:srgbClr val="C00000"/>
                </a:solidFill>
                <a:latin typeface="Avenir Book"/>
              </a:rPr>
              <a:t>Its own first sentence: “the holy grail of material science is to find the OPTIMAL material.”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5243275"/>
            <a:ext cx="34290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1">
                <a:solidFill>
                  <a:srgbClr val="777777"/>
                </a:solidFill>
                <a:latin typeface="Avenir Book"/>
              </a:rPr>
              <a:t>Jablonka et al., Nat. Commun. 2021, 12, 2312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5FF53D-B926-DD47-48A2-DAC99C7B8181}"/>
              </a:ext>
            </a:extLst>
          </p:cNvPr>
          <p:cNvSpPr txBox="1"/>
          <p:nvPr/>
        </p:nvSpPr>
        <p:spPr>
          <a:xfrm>
            <a:off x="1432560" y="2085798"/>
            <a:ext cx="9326880" cy="320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1 · The </a:t>
            </a:r>
            <a:r>
              <a:rPr lang="en-US" i="0" dirty="0">
                <a:latin typeface="Avenir Book"/>
              </a:rPr>
              <a:t>BO/AL </a:t>
            </a:r>
            <a:r>
              <a:rPr i="0" dirty="0">
                <a:latin typeface="Avenir Book"/>
              </a:rPr>
              <a:t>loop</a:t>
            </a:r>
          </a:p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2 · </a:t>
            </a:r>
            <a:r>
              <a:rPr lang="en-US" i="0" dirty="0">
                <a:latin typeface="Avenir Book"/>
              </a:rPr>
              <a:t>Objective = </a:t>
            </a:r>
            <a:r>
              <a:rPr i="0" dirty="0">
                <a:latin typeface="Avenir Book"/>
              </a:rPr>
              <a:t>model </a:t>
            </a:r>
            <a:r>
              <a:rPr lang="en-US" i="0" dirty="0">
                <a:latin typeface="Avenir Book"/>
              </a:rPr>
              <a:t>improvement</a:t>
            </a:r>
            <a:endParaRPr i="0" dirty="0">
              <a:latin typeface="Avenir Book"/>
            </a:endParaRPr>
          </a:p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3 · What changes in the acquisition function</a:t>
            </a:r>
          </a:p>
          <a:p>
            <a:pPr>
              <a:spcAft>
                <a:spcPts val="900"/>
              </a:spcAft>
            </a:pPr>
            <a:r>
              <a:rPr i="0" dirty="0">
                <a:latin typeface="Avenir Book"/>
              </a:rPr>
              <a:t>4 · A worked example: regioselectivity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5 · Which uncertainty is worth buying?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6 · Practical issues</a:t>
            </a:r>
          </a:p>
          <a:p>
            <a:pPr>
              <a:spcAft>
                <a:spcPts val="900"/>
              </a:spcAft>
            </a:pPr>
            <a:r>
              <a:rPr b="0" i="0" dirty="0">
                <a:latin typeface="Avenir Book"/>
              </a:rPr>
              <a:t>7 · Active learning in the wild — and what is not</a:t>
            </a:r>
          </a:p>
          <a:p>
            <a:pPr>
              <a:spcAft>
                <a:spcPts val="900"/>
              </a:spcAft>
            </a:pPr>
            <a:r>
              <a:rPr b="1" i="0" dirty="0">
                <a:latin typeface="Avenir Book"/>
              </a:rPr>
              <a:t>8 · Conclusion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What to take 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5331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 dirty="0">
                <a:solidFill>
                  <a:srgbClr val="2E6FBA"/>
                </a:solidFill>
                <a:latin typeface="Avenir Book"/>
              </a:rPr>
              <a:t>The objective decides the acquisition function.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6070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 dirty="0">
                <a:solidFill>
                  <a:srgbClr val="123830"/>
                </a:solidFill>
                <a:latin typeface="Avenir Book"/>
              </a:rPr>
              <a:t>A value across a library → uncertainty, weighted by representativeness. A class or a ranking → margin. Ask what you are scoring before you ask which formula.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7063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 dirty="0">
                <a:solidFill>
                  <a:srgbClr val="C00000"/>
                </a:solidFill>
                <a:latin typeface="Avenir Book"/>
              </a:rPr>
              <a:t>Not all uncertainty is worth </a:t>
            </a:r>
            <a:r>
              <a:rPr lang="en-US" sz="1900" b="1" i="0" dirty="0">
                <a:solidFill>
                  <a:srgbClr val="C00000"/>
                </a:solidFill>
                <a:latin typeface="Avenir Book"/>
              </a:rPr>
              <a:t>sampling</a:t>
            </a:r>
            <a:r>
              <a:rPr sz="1900" b="1" i="0" dirty="0">
                <a:solidFill>
                  <a:srgbClr val="C00000"/>
                </a:solidFill>
                <a:latin typeface="Avenir Book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27832"/>
            <a:ext cx="106070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123830"/>
                </a:solidFill>
                <a:latin typeface="Avenir Book"/>
              </a:rPr>
              <a:t>Epistemic shrinks when you spend money. Aleatoric does not. If your noise model does not depend on x, you cannot tell them apart.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87952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E6FBA"/>
                </a:solidFill>
                <a:latin typeface="Avenir Book"/>
              </a:rPr>
              <a:t>Measure yourself honestly.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45152"/>
            <a:ext cx="106070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 dirty="0">
                <a:solidFill>
                  <a:srgbClr val="123830"/>
                </a:solidFill>
                <a:latin typeface="Avenir Book"/>
              </a:rPr>
              <a:t>A random test set held out at round zero, a random baseline on the same axes, and an error tolerance written down before you start.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References — theory and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430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★ Smith, J. S.; Nebgen, B.; Lubbers, N.; Isayev, O.; Roitberg, A. E. Less is more: sampling chemical space with active learning. J. Chem. Phys. 2018, 148, 241733.  DOI 10.1063/1.5023802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★ Schleinitz, J.; Carretero-Cerdán, A.; Gurajapu, A.; et al. Designing Target-specific Data Sets for Regioselectivity Predictions on Complex Substrates. J. Am. Chem. Soc. 2025, 147, 7476–7484.  DOI 10.1021/jacs.4c15902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Settles, B. Active Learning Literature Survey. Comp. Sci. Tech. Report 1648, Univ. Wisconsin–Madison, 2009.  minds.wisconsin.edu/handle/1793/60660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Houlsby, N.; Huszár, F.; Ghahramani, Z.; Lengyel, M. Bayesian Active Learning for Classification and Preference Learning. arXiv:1112.5745, 2011.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Hüllermeier, E.; Waegeman, W. Aleatoric and epistemic uncertainty in machine learning. Mach. Learn. 2021, 110, 457–506.  DOI 10.1007/s10994-021-05946-3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Seung, H. S.; Opper, M.; Sompolinsky, H. Query by committee. COLT '92, 287–294.  DOI 10.1145/130385.130417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Kirsch, A.; van Amersfoort, J.; Gal, Y. BatchBALD. NeurIPS 32, 2019.  arXiv:1906.08158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Sener, O.; Savarese, S. Active Learning for CNNs: A Core-Set Approach. ICLR 2018.  arXiv:1708.00489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Settles, B.; Craven, M. An analysis of active learning strategies for sequence labeling tasks. EMNLP 2008, 1070–1079.  aclanthology.org/D08-1112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Baum, E. B.; Lang, K. J. Query learning can work poorly when a human oracle is used. IJCNN 1992, Beijing.  (no DOI)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800" b="0" i="0">
                <a:solidFill>
                  <a:srgbClr val="123830"/>
                </a:solidFill>
                <a:latin typeface="Avenir Book"/>
              </a:rPr>
              <a:t>References — chemistry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228600" rtlCol="0" anchor="ctr"/>
          <a:lstStyle/>
          <a:p>
            <a:pPr algn="r"/>
            <a:r>
              <a:rPr sz="1800" b="0" i="0">
                <a:solidFill>
                  <a:srgbClr val="123830"/>
                </a:solidFill>
                <a:latin typeface="Avenir Book"/>
              </a:rPr>
              <a:t>AI4ChemicalSciences BootCamp 2026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6461760"/>
            <a:ext cx="1554480" cy="37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430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Vandermause, J.; et al. On-the-fly active learning of interpretable Bayesian force fields for atomistic rare events. npj Comput. Mater. 2020, 6, 20.  DOI 10.1038/s41524-020-0283-z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Nippa, D. F.; Atz, K.; Hohler, R.; et al. Enabling late-stage drug diversification by high-throughput experimentation with geometric deep learning. Nat. Chem. 2024, 16, 239–248.  DOI 10.1038/s41557-023-01360-5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Graff, D. E.; Shakhnovich, E. I.; Coley, C. W. Accelerating high-throughput virtual screening through molecular pool-based active learning. Chem. Sci. 2021, 12, 7866.  DOI 10.1039/D0SC06805E   — optimization, not model-building (slide 43)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Jablonka, K. M.; et al. Bias free multiobjective active learning for materials design and discovery. Nat. Commun. 2021, 12, 2312.  DOI 10.1038/s41467-021-22437-0   — Pareto-front optimization (slide 43)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Szymanski, N. J.; et al. An autonomous laboratory for the accelerated synthesis of inorganic materials. Nature 2023, 624, 86–91.  DOI 10.1038/s41586-023-06734-w  — see Author Correction: Nature 2026, 650, E1.  DOI 10.1038/s41586-025-09992-y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Reker, D.; Schneider, G. Active-learning strategies in computer-assisted drug discovery. Drug Discov. Today 2015, 20, 458–465.  DOI 10.1016/j.drudis.2014.12.004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Podryabinkin, E. V.; Shapeev, A. V. Active learning of linearly parametrized interatomic potentials. Comput. Mater. Sci. 2017, 140, 171–180.  DOI 10.1016/j.commatsci.2017.08.031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Lowell, D.; Lipton, Z. C.; Wallace, B. C. Practical Obstacles to Deploying Active Learning. EMNLP-IJCNLP 2019, 21–30.  aclanthology.org/D19-1003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Farquhar, S.; Gal, Y.; Rainforth, T. On Statistical Bias In Active Learning: How and When To Fix It. ICLR 2021.  arXiv:2101.11665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123830"/>
                </a:solidFill>
                <a:latin typeface="Avenir Book"/>
              </a:rPr>
              <a:t>Gorantla, R.; et al. Benchmarking Active Learning Protocols for Ligand-Binding Affinity Prediction. J. Chem. Inf. Model. 2024, 64, 1955–1965.  DOI 10.1021/acs.jcim.4c00220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19049</TotalTime>
  <Words>8673</Words>
  <Application>Microsoft Macintosh PowerPoint</Application>
  <PresentationFormat>Widescreen</PresentationFormat>
  <Paragraphs>912</Paragraphs>
  <Slides>57</Slides>
  <Notes>39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Aptos</vt:lpstr>
      <vt:lpstr>Aptos Display</vt:lpstr>
      <vt:lpstr>Arial</vt:lpstr>
      <vt:lpstr>Avenir Book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Schleinitz, Jules</dc:creator>
  <cp:lastModifiedBy>Schleinitz, Jules</cp:lastModifiedBy>
  <cp:revision>93</cp:revision>
  <dcterms:created xsi:type="dcterms:W3CDTF">2026-07-17T19:13:41Z</dcterms:created>
  <dcterms:modified xsi:type="dcterms:W3CDTF">2026-08-19T15:57:12Z</dcterms:modified>
</cp:coreProperties>
</file>